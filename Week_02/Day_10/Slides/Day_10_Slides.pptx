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42978611b047b4" /><Relationship Type="http://schemas.openxmlformats.org/officeDocument/2006/relationships/extended-properties" Target="/docProps/app.xml" Id="R31f0c8b15dc94eba" /><Relationship Type="http://schemas.openxmlformats.org/officeDocument/2006/relationships/officeDocument" Target="/ppt/presentation.xml" Id="R1edfd8f6356f449f" /></Relationships>
</file>

<file path=ppt/presentation.xml><?xml version="1.0" encoding="utf-8"?>
<p:presentation xmlns:p="http://schemas.openxmlformats.org/presentationml/2006/main">
  <p:sldMasterIdLst>
    <p:sldMasterId xmlns:r="http://schemas.openxmlformats.org/officeDocument/2006/relationships" id="2147483648" r:id="R5c3f9b0697f44bc5"/>
  </p:sldMasterIdLst>
  <p:notesMasterIdLst>
    <p:notesMasterId xmlns:r="http://schemas.openxmlformats.org/officeDocument/2006/relationships" r:id="Rd4909fa0dc14417d"/>
  </p:notesMasterIdLst>
  <p:sldIdLst>
    <p:sldId xmlns:r="http://schemas.openxmlformats.org/officeDocument/2006/relationships" id="256" r:id="R2cc7eb51e6d5430e"/>
    <p:sldId xmlns:r="http://schemas.openxmlformats.org/officeDocument/2006/relationships" id="257" r:id="R0959c29db6ee4ee2"/>
    <p:sldId xmlns:r="http://schemas.openxmlformats.org/officeDocument/2006/relationships" id="258" r:id="R3afe7f4759b646fa"/>
    <p:sldId xmlns:r="http://schemas.openxmlformats.org/officeDocument/2006/relationships" id="259" r:id="R1d7d9a0514224379"/>
    <p:sldId xmlns:r="http://schemas.openxmlformats.org/officeDocument/2006/relationships" id="260" r:id="R2f2d38d82f1e44f2"/>
    <p:sldId xmlns:r="http://schemas.openxmlformats.org/officeDocument/2006/relationships" id="261" r:id="Rf3e3dc25bfee446e"/>
    <p:sldId xmlns:r="http://schemas.openxmlformats.org/officeDocument/2006/relationships" id="262" r:id="R1fd1f4f81d1c4280"/>
    <p:sldId xmlns:r="http://schemas.openxmlformats.org/officeDocument/2006/relationships" id="263" r:id="Ra134105fd29e44cd"/>
    <p:sldId xmlns:r="http://schemas.openxmlformats.org/officeDocument/2006/relationships" id="264" r:id="Ra3ff84f2051c4911"/>
    <p:sldId xmlns:r="http://schemas.openxmlformats.org/officeDocument/2006/relationships" id="265" r:id="R326ea54dd7eb4bc0"/>
    <p:sldId xmlns:r="http://schemas.openxmlformats.org/officeDocument/2006/relationships" id="266" r:id="Refb75d2ff0e94ca3"/>
    <p:sldId xmlns:r="http://schemas.openxmlformats.org/officeDocument/2006/relationships" id="267" r:id="R2a215ed1e0c94d9c"/>
    <p:sldId xmlns:r="http://schemas.openxmlformats.org/officeDocument/2006/relationships" id="268" r:id="R3ac4264b930848ef"/>
    <p:sldId xmlns:r="http://schemas.openxmlformats.org/officeDocument/2006/relationships" id="269" r:id="R60010746c77d4339"/>
    <p:sldId xmlns:r="http://schemas.openxmlformats.org/officeDocument/2006/relationships" id="270" r:id="R4198f9658be94356"/>
    <p:sldId xmlns:r="http://schemas.openxmlformats.org/officeDocument/2006/relationships" id="271" r:id="R64e312985c7a4677"/>
    <p:sldId xmlns:r="http://schemas.openxmlformats.org/officeDocument/2006/relationships" id="272" r:id="R66e06743e3a640c8"/>
    <p:sldId xmlns:r="http://schemas.openxmlformats.org/officeDocument/2006/relationships" id="273" r:id="Rfbbf3fcaf1b449d4"/>
    <p:sldId xmlns:r="http://schemas.openxmlformats.org/officeDocument/2006/relationships" id="274" r:id="R995608ec8f1344c4"/>
    <p:sldId xmlns:r="http://schemas.openxmlformats.org/officeDocument/2006/relationships" id="275" r:id="Rdc99b3ecb2c8406b"/>
    <p:sldId xmlns:r="http://schemas.openxmlformats.org/officeDocument/2006/relationships" id="276" r:id="Rdf8a65fc69b54a90"/>
    <p:sldId xmlns:r="http://schemas.openxmlformats.org/officeDocument/2006/relationships" id="277" r:id="R5b4c15a3d4a14777"/>
    <p:sldId xmlns:r="http://schemas.openxmlformats.org/officeDocument/2006/relationships" id="278" r:id="R881f8610a2674562"/>
    <p:sldId xmlns:r="http://schemas.openxmlformats.org/officeDocument/2006/relationships" id="279" r:id="R712bf9b7f4004c5d"/>
    <p:sldId xmlns:r="http://schemas.openxmlformats.org/officeDocument/2006/relationships" id="280" r:id="R25ca53a84a1243a4"/>
    <p:sldId xmlns:r="http://schemas.openxmlformats.org/officeDocument/2006/relationships" id="281" r:id="Rfef84aed145d4469"/>
    <p:sldId xmlns:r="http://schemas.openxmlformats.org/officeDocument/2006/relationships" id="282" r:id="R3d9678796aa444f0"/>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c3f9b0697f44bc5" /><Relationship Type="http://schemas.openxmlformats.org/officeDocument/2006/relationships/theme" Target="/ppt/theme/theme1.xml" Id="R1d4ed4e9e4c540d4" /><Relationship Type="http://schemas.openxmlformats.org/officeDocument/2006/relationships/notesMaster" Target="/ppt/notesMasters/notesMaster1.xml" Id="Rd4909fa0dc14417d" /><Relationship Type="http://schemas.openxmlformats.org/officeDocument/2006/relationships/presProps" Target="/ppt/presProps.xml" Id="R4060e6885fc04142" /><Relationship Type="http://schemas.openxmlformats.org/officeDocument/2006/relationships/viewProps" Target="/ppt/viewProps.xml" Id="R95232d1e0629410b" /><Relationship Type="http://schemas.openxmlformats.org/officeDocument/2006/relationships/tableStyles" Target="/ppt/tableStyles.xml" Id="Re8d390a246454a3d" /><Relationship Type="http://schemas.openxmlformats.org/officeDocument/2006/relationships/slide" Target="/ppt/slides/slide1.xml" Id="R2cc7eb51e6d5430e" /><Relationship Type="http://schemas.openxmlformats.org/officeDocument/2006/relationships/slide" Target="/ppt/slides/slide2.xml" Id="R0959c29db6ee4ee2" /><Relationship Type="http://schemas.openxmlformats.org/officeDocument/2006/relationships/slide" Target="/ppt/slides/slide3.xml" Id="R3afe7f4759b646fa" /><Relationship Type="http://schemas.openxmlformats.org/officeDocument/2006/relationships/slide" Target="/ppt/slides/slide4.xml" Id="R1d7d9a0514224379" /><Relationship Type="http://schemas.openxmlformats.org/officeDocument/2006/relationships/slide" Target="/ppt/slides/slide5.xml" Id="R2f2d38d82f1e44f2" /><Relationship Type="http://schemas.openxmlformats.org/officeDocument/2006/relationships/slide" Target="/ppt/slides/slide6.xml" Id="Rf3e3dc25bfee446e" /><Relationship Type="http://schemas.openxmlformats.org/officeDocument/2006/relationships/slide" Target="/ppt/slides/slide7.xml" Id="R1fd1f4f81d1c4280" /><Relationship Type="http://schemas.openxmlformats.org/officeDocument/2006/relationships/slide" Target="/ppt/slides/slide8.xml" Id="Ra134105fd29e44cd" /><Relationship Type="http://schemas.openxmlformats.org/officeDocument/2006/relationships/slide" Target="/ppt/slides/slide9.xml" Id="Ra3ff84f2051c4911" /><Relationship Type="http://schemas.openxmlformats.org/officeDocument/2006/relationships/slide" Target="/ppt/slides/slide10.xml" Id="R326ea54dd7eb4bc0" /><Relationship Type="http://schemas.openxmlformats.org/officeDocument/2006/relationships/slide" Target="/ppt/slides/slide11.xml" Id="Refb75d2ff0e94ca3" /><Relationship Type="http://schemas.openxmlformats.org/officeDocument/2006/relationships/slide" Target="/ppt/slides/slide12.xml" Id="R2a215ed1e0c94d9c" /><Relationship Type="http://schemas.openxmlformats.org/officeDocument/2006/relationships/slide" Target="/ppt/slides/slide13.xml" Id="R3ac4264b930848ef" /><Relationship Type="http://schemas.openxmlformats.org/officeDocument/2006/relationships/slide" Target="/ppt/slides/slide14.xml" Id="R60010746c77d4339" /><Relationship Type="http://schemas.openxmlformats.org/officeDocument/2006/relationships/slide" Target="/ppt/slides/slide15.xml" Id="R4198f9658be94356" /><Relationship Type="http://schemas.openxmlformats.org/officeDocument/2006/relationships/slide" Target="/ppt/slides/slide16.xml" Id="R64e312985c7a4677" /><Relationship Type="http://schemas.openxmlformats.org/officeDocument/2006/relationships/slide" Target="/ppt/slides/slide17.xml" Id="R66e06743e3a640c8" /><Relationship Type="http://schemas.openxmlformats.org/officeDocument/2006/relationships/slide" Target="/ppt/slides/slide18.xml" Id="Rfbbf3fcaf1b449d4" /><Relationship Type="http://schemas.openxmlformats.org/officeDocument/2006/relationships/slide" Target="/ppt/slides/slide19.xml" Id="R995608ec8f1344c4" /><Relationship Type="http://schemas.openxmlformats.org/officeDocument/2006/relationships/slide" Target="/ppt/slides/slide20.xml" Id="Rdc99b3ecb2c8406b" /><Relationship Type="http://schemas.openxmlformats.org/officeDocument/2006/relationships/slide" Target="/ppt/slides/slide21.xml" Id="Rdf8a65fc69b54a90" /><Relationship Type="http://schemas.openxmlformats.org/officeDocument/2006/relationships/slide" Target="/ppt/slides/slide22.xml" Id="R5b4c15a3d4a14777" /><Relationship Type="http://schemas.openxmlformats.org/officeDocument/2006/relationships/slide" Target="/ppt/slides/slide23.xml" Id="R881f8610a2674562" /><Relationship Type="http://schemas.openxmlformats.org/officeDocument/2006/relationships/slide" Target="/ppt/slides/slide24.xml" Id="R712bf9b7f4004c5d" /><Relationship Type="http://schemas.openxmlformats.org/officeDocument/2006/relationships/slide" Target="/ppt/slides/slide25.xml" Id="R25ca53a84a1243a4" /><Relationship Type="http://schemas.openxmlformats.org/officeDocument/2006/relationships/slide" Target="/ppt/slides/slide26.xml" Id="Rfef84aed145d4469" /><Relationship Type="http://schemas.openxmlformats.org/officeDocument/2006/relationships/slide" Target="/ppt/slides/slide27.xml" Id="R3d9678796aa444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592a2cbaf0b46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f0ea26fa0c4548" /><Relationship Type="http://schemas.openxmlformats.org/officeDocument/2006/relationships/notesMaster" Target="/ppt/notesMasters/notesMaster1.xml" Id="R358a49a5b1d746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214a7a388d438c" /><Relationship Type="http://schemas.openxmlformats.org/officeDocument/2006/relationships/notesMaster" Target="/ppt/notesMasters/notesMaster1.xml" Id="Reeedec14a68b4a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a4fd3be67c4166" /><Relationship Type="http://schemas.openxmlformats.org/officeDocument/2006/relationships/notesMaster" Target="/ppt/notesMasters/notesMaster1.xml" Id="Rcef1adf3b5654b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ba8137e52e4f6f" /><Relationship Type="http://schemas.openxmlformats.org/officeDocument/2006/relationships/notesMaster" Target="/ppt/notesMasters/notesMaster1.xml" Id="R618aed9d66c144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d04b0e0eaf4f48" /><Relationship Type="http://schemas.openxmlformats.org/officeDocument/2006/relationships/notesMaster" Target="/ppt/notesMasters/notesMaster1.xml" Id="R4fa5b08fa2094b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205e1121534f08" /><Relationship Type="http://schemas.openxmlformats.org/officeDocument/2006/relationships/notesMaster" Target="/ppt/notesMasters/notesMaster1.xml" Id="Rdf8de0e8a12047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725e85a2fa4c9b" /><Relationship Type="http://schemas.openxmlformats.org/officeDocument/2006/relationships/notesMaster" Target="/ppt/notesMasters/notesMaster1.xml" Id="Rfd1efb29347e49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1c934e4a5e446b" /><Relationship Type="http://schemas.openxmlformats.org/officeDocument/2006/relationships/notesMaster" Target="/ppt/notesMasters/notesMaster1.xml" Id="R149b41869c854b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5c4fdec0964606" /><Relationship Type="http://schemas.openxmlformats.org/officeDocument/2006/relationships/notesMaster" Target="/ppt/notesMasters/notesMaster1.xml" Id="R70a7647e6cad4f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fb5dfb4d8a42ce" /><Relationship Type="http://schemas.openxmlformats.org/officeDocument/2006/relationships/notesMaster" Target="/ppt/notesMasters/notesMaster1.xml" Id="Rabd1bb1a0f2d4e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610164a5b6413e" /><Relationship Type="http://schemas.openxmlformats.org/officeDocument/2006/relationships/notesMaster" Target="/ppt/notesMasters/notesMaster1.xml" Id="Rfcdce38acdb24f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bd891022234bcd" /><Relationship Type="http://schemas.openxmlformats.org/officeDocument/2006/relationships/notesMaster" Target="/ppt/notesMasters/notesMaster1.xml" Id="R5344dc76106045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03ba2ab92144e6" /><Relationship Type="http://schemas.openxmlformats.org/officeDocument/2006/relationships/notesMaster" Target="/ppt/notesMasters/notesMaster1.xml" Id="Rd450252ea0af48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89d4f5ad89436c" /><Relationship Type="http://schemas.openxmlformats.org/officeDocument/2006/relationships/notesMaster" Target="/ppt/notesMasters/notesMaster1.xml" Id="R0226409687ed48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4ffd9314ff49e3" /><Relationship Type="http://schemas.openxmlformats.org/officeDocument/2006/relationships/notesMaster" Target="/ppt/notesMasters/notesMaster1.xml" Id="R614f40e6b3ef48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fa1e63b3264f0f" /><Relationship Type="http://schemas.openxmlformats.org/officeDocument/2006/relationships/notesMaster" Target="/ppt/notesMasters/notesMaster1.xml" Id="R347a0bc3811149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e34e475b394f49" /><Relationship Type="http://schemas.openxmlformats.org/officeDocument/2006/relationships/notesMaster" Target="/ppt/notesMasters/notesMaster1.xml" Id="R81909263acd848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45e611fa574278" /><Relationship Type="http://schemas.openxmlformats.org/officeDocument/2006/relationships/notesMaster" Target="/ppt/notesMasters/notesMaster1.xml" Id="Rec978b9b854747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89fa5ae9d043b3" /><Relationship Type="http://schemas.openxmlformats.org/officeDocument/2006/relationships/notesMaster" Target="/ppt/notesMasters/notesMaster1.xml" Id="R492296d25fb644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0cbc52467b4c36" /><Relationship Type="http://schemas.openxmlformats.org/officeDocument/2006/relationships/notesMaster" Target="/ppt/notesMasters/notesMaster1.xml" Id="Rfdce2e7be2af417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6eeb2a7a5e4ea1" /><Relationship Type="http://schemas.openxmlformats.org/officeDocument/2006/relationships/notesMaster" Target="/ppt/notesMasters/notesMaster1.xml" Id="Refa366e9f266452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5bae3b1b8047ca" /><Relationship Type="http://schemas.openxmlformats.org/officeDocument/2006/relationships/notesMaster" Target="/ppt/notesMasters/notesMaster1.xml" Id="Rd3d5a5ab346040b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d5bb7d3df144c8" /><Relationship Type="http://schemas.openxmlformats.org/officeDocument/2006/relationships/notesMaster" Target="/ppt/notesMasters/notesMaster1.xml" Id="R24ab72d80e554da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1782c2d7c94b71" /><Relationship Type="http://schemas.openxmlformats.org/officeDocument/2006/relationships/notesMaster" Target="/ppt/notesMasters/notesMaster1.xml" Id="R521319b46e8b463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5fa3cbafef24945" /><Relationship Type="http://schemas.openxmlformats.org/officeDocument/2006/relationships/notesMaster" Target="/ppt/notesMasters/notesMaster1.xml" Id="Rde963fb05741445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032712f303f4b98" /><Relationship Type="http://schemas.openxmlformats.org/officeDocument/2006/relationships/notesMaster" Target="/ppt/notesMasters/notesMaster1.xml" Id="R01e7f0d276834b1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a22a00be673448c" /><Relationship Type="http://schemas.openxmlformats.org/officeDocument/2006/relationships/notesMaster" Target="/ppt/notesMasters/notesMaster1.xml" Id="R97cf49da45174d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f460ed516743bb" /></Relationships>
</file>

<file path=ppt/slideLayouts/slideLayout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2cb9045f2e44d2a" /><Relationship Type="http://schemas.openxmlformats.org/officeDocument/2006/relationships/slideLayout" Target="/ppt/slideLayouts/slideLayout2.xml" Id="Ra46e661d87df483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6e661d87df483d"/>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2279e368ae014f3d" /><Relationship Type="http://schemas.openxmlformats.org/officeDocument/2006/relationships/notesSlide" Target="/ppt/notesSlides/notesSlide1.xml" Id="R7d056b48119143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e6a59aa3fc74a8f" /><Relationship Type="http://schemas.openxmlformats.org/officeDocument/2006/relationships/image" Target="/ppt/media/image.png" Id="Rc3c11f97423c4a53" /><Relationship Type="http://schemas.openxmlformats.org/officeDocument/2006/relationships/image" Target="/ppt/media/image2.png" Id="Rd705824c2e87449e" /><Relationship Type="http://schemas.openxmlformats.org/officeDocument/2006/relationships/image" Target="/ppt/media/image3.png" Id="R75c0866586384138" /><Relationship Type="http://schemas.openxmlformats.org/officeDocument/2006/relationships/image" Target="/ppt/media/image4.png" Id="R21e54139632d4408" /><Relationship Type="http://schemas.openxmlformats.org/officeDocument/2006/relationships/image" Target="/ppt/media/image5.png" Id="R594e81dd61094e74" /><Relationship Type="http://schemas.openxmlformats.org/officeDocument/2006/relationships/image" Target="/ppt/media/image6.png" Id="R2130dfc9c697474e" /><Relationship Type="http://schemas.openxmlformats.org/officeDocument/2006/relationships/image" Target="/ppt/media/image7.png" Id="Rb115d481516341a9" /><Relationship Type="http://schemas.openxmlformats.org/officeDocument/2006/relationships/image" Target="/ppt/media/image8.png" Id="R739410e11ceb4158" /><Relationship Type="http://schemas.openxmlformats.org/officeDocument/2006/relationships/hyperlink" Target="&#12304;264677521234698&#8224;L16-L31&#12305;" TargetMode="External" Id="Rc4ac12b7adef4f64" /><Relationship Type="http://schemas.openxmlformats.org/officeDocument/2006/relationships/hyperlink" Target="&#12304;914129425933635&#8224;L69-L87&#12305;" TargetMode="External" Id="Re5a1a936216849fd" /><Relationship Type="http://schemas.openxmlformats.org/officeDocument/2006/relationships/hyperlink" Target="&#12304;832184536137635&#8224;L50-L71&#12305;" TargetMode="External" Id="Ra42c1903b6a44143" /><Relationship Type="http://schemas.openxmlformats.org/officeDocument/2006/relationships/notesSlide" Target="/ppt/notesSlides/notesSlide2.xml" Id="R9a04e69616964d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2014478b9764120" /><Relationship Type="http://schemas.openxmlformats.org/officeDocument/2006/relationships/image" Target="/ppt/media/image9.png" Id="Rbb3ae27dbcac4b13" /><Relationship Type="http://schemas.openxmlformats.org/officeDocument/2006/relationships/image" Target="/ppt/media/image2.png" Id="R8250e138fba44a7d" /><Relationship Type="http://schemas.openxmlformats.org/officeDocument/2006/relationships/image" Target="/ppt/media/image10.png" Id="R017cfd0a87a340fb" /><Relationship Type="http://schemas.openxmlformats.org/officeDocument/2006/relationships/image" Target="/ppt/media/image11.png" Id="R3003299064774d3e" /><Relationship Type="http://schemas.openxmlformats.org/officeDocument/2006/relationships/image" Target="/ppt/media/image7.png" Id="R98a966bb5519418a" /><Relationship Type="http://schemas.openxmlformats.org/officeDocument/2006/relationships/image" Target="/ppt/media/image12.png" Id="R8ffbbe6c9d6a42d8" /><Relationship Type="http://schemas.openxmlformats.org/officeDocument/2006/relationships/image" Target="/ppt/media/image8.png" Id="R1b3c5d5794ff454b" /><Relationship Type="http://schemas.openxmlformats.org/officeDocument/2006/relationships/image" Target="/ppt/media/image13.png" Id="Rcf0c9a8a22224e85" /><Relationship Type="http://schemas.openxmlformats.org/officeDocument/2006/relationships/hyperlink" Target="&#12304;914129425933635&#8224;L107-L141&#12305;" TargetMode="External" Id="Rc5c4982be6854d64" /><Relationship Type="http://schemas.openxmlformats.org/officeDocument/2006/relationships/hyperlink" Target="&#12304;757855153343287&#8224;L133-L150&#12305;" TargetMode="External" Id="R0b3d0c05f71448a7" /><Relationship Type="http://schemas.openxmlformats.org/officeDocument/2006/relationships/notesSlide" Target="/ppt/notesSlides/notesSlide3.xml" Id="R837c5ea3d2f247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5de53d1a53e4e39" /><Relationship Type="http://schemas.openxmlformats.org/officeDocument/2006/relationships/hyperlink" Target="&#12304;764676770703156&#8224;L185-L196&#12305;" TargetMode="External" Id="R57c1fba92c1941f0" /><Relationship Type="http://schemas.openxmlformats.org/officeDocument/2006/relationships/hyperlink" Target="&#12304;161651347344140&#8224;L248-L255&#12305;" TargetMode="External" Id="R8eadce26e54d4e76" /><Relationship Type="http://schemas.openxmlformats.org/officeDocument/2006/relationships/hyperlink" Target="&#12304;76655757129239&#8224;L164-L176&#12305;" TargetMode="External" Id="Rb3a212b2ef8d438d" /><Relationship Type="http://schemas.openxmlformats.org/officeDocument/2006/relationships/notesSlide" Target="/ppt/notesSlides/notesSlide4.xml" Id="R91c24c420d6149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2aec7fd48a544fb" /><Relationship Type="http://schemas.openxmlformats.org/officeDocument/2006/relationships/image" Target="/ppt/media/image3.png" Id="Rbb3888c262344c82" /><Relationship Type="http://schemas.openxmlformats.org/officeDocument/2006/relationships/image" Target="/ppt/media/image6.png" Id="Rb56f2cad83c047bb" /><Relationship Type="http://schemas.openxmlformats.org/officeDocument/2006/relationships/image" Target="/ppt/media/image14.png" Id="Rd0a8fc2bf37e459b" /><Relationship Type="http://schemas.openxmlformats.org/officeDocument/2006/relationships/hyperlink" Target="&#12304;832184536137635&#8224;L24-L46&#12305;" TargetMode="External" Id="R17f7382300114f5e" /><Relationship Type="http://schemas.openxmlformats.org/officeDocument/2006/relationships/hyperlink" Target="&#12304;161651347344140&#8224;L210-L222&#12305;" TargetMode="External" Id="Rbc0d31cfd19f4670" /><Relationship Type="http://schemas.openxmlformats.org/officeDocument/2006/relationships/notesSlide" Target="/ppt/notesSlides/notesSlide5.xml" Id="R8a47430191064f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0454f0dee904304" /><Relationship Type="http://schemas.openxmlformats.org/officeDocument/2006/relationships/hyperlink" Target="&#12304;764676770703156&#8224;L297-L321&#12305;" TargetMode="External" Id="Ra0a05e5defe74f6a" /><Relationship Type="http://schemas.openxmlformats.org/officeDocument/2006/relationships/hyperlink" Target="&#12304;240411915442221&#8224;L571-L594&#12305;" TargetMode="External" Id="R5a589a07bd8b4b71" /><Relationship Type="http://schemas.openxmlformats.org/officeDocument/2006/relationships/hyperlink" Target="&#12304;76655757129239&#8224;L187-L207&#12305;" TargetMode="External" Id="R09a5ef7ee2d84183" /><Relationship Type="http://schemas.openxmlformats.org/officeDocument/2006/relationships/notesSlide" Target="/ppt/notesSlides/notesSlide6.xml" Id="R7849c7e2c00f45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68470bcd98743c5" /><Relationship Type="http://schemas.openxmlformats.org/officeDocument/2006/relationships/hyperlink" Target="&#12304;264677521234698&#8224;L16-L31&#12305;" TargetMode="External" Id="R76f800abad3f48ea" /><Relationship Type="http://schemas.openxmlformats.org/officeDocument/2006/relationships/hyperlink" Target="&#12304;73443659327933&#8224;L127-L148&#12305;" TargetMode="External" Id="R67e7ed8d4b4848fc" /><Relationship Type="http://schemas.openxmlformats.org/officeDocument/2006/relationships/hyperlink" Target="&#12304;764676770703156&#8224;L234-L248&#12305;" TargetMode="External" Id="R75f9505ddb9343d2" /><Relationship Type="http://schemas.openxmlformats.org/officeDocument/2006/relationships/notesSlide" Target="/ppt/notesSlides/notesSlide7.xml" Id="Rdd695c2d49b545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81012b4ad3f4515" /><Relationship Type="http://schemas.openxmlformats.org/officeDocument/2006/relationships/hyperlink" Target="&#12304;645518690862239&#8224;L139-L173&#12305;" TargetMode="External" Id="R38aeba56ac234685" /><Relationship Type="http://schemas.openxmlformats.org/officeDocument/2006/relationships/hyperlink" Target="&#12304;645518690862239&#8224;L284-L296&#12305;" TargetMode="External" Id="Rd53b76310471457f" /><Relationship Type="http://schemas.openxmlformats.org/officeDocument/2006/relationships/notesSlide" Target="/ppt/notesSlides/notesSlide8.xml" Id="R1b07a54397b24e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190a86b5ebc40f5" /><Relationship Type="http://schemas.openxmlformats.org/officeDocument/2006/relationships/hyperlink" Target="&#12304;738270415585089&#8224;L571-L594&#12305;" TargetMode="External" Id="Rf17e5480d18a478d" /><Relationship Type="http://schemas.openxmlformats.org/officeDocument/2006/relationships/hyperlink" Target="&#12304;161651347344140&#8224;L248-L255&#12305;" TargetMode="External" Id="Rc8fde988432d4ba6" /><Relationship Type="http://schemas.openxmlformats.org/officeDocument/2006/relationships/hyperlink" Target="&#12304;161651347344140&#8224;L259-L279&#12305;" TargetMode="External" Id="Rfcd179aa675646d3" /><Relationship Type="http://schemas.openxmlformats.org/officeDocument/2006/relationships/hyperlink" Target="&#12304;161651347344140&#8224;L288-L298&#12305;" TargetMode="External" Id="R61e2967fd4514f25" /><Relationship Type="http://schemas.openxmlformats.org/officeDocument/2006/relationships/notesSlide" Target="/ppt/notesSlides/notesSlide9.xml" Id="R062f35de249a43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715b4a9e64e41f0" /><Relationship Type="http://schemas.openxmlformats.org/officeDocument/2006/relationships/hyperlink" Target="&#12304;76655757129239&#8224;L187-L207&#12305;" TargetMode="External" Id="R540f5aff8f1941bb" /><Relationship Type="http://schemas.openxmlformats.org/officeDocument/2006/relationships/hyperlink" Target="&#12304;298368715109598&#8224;L154-L180&#12305;" TargetMode="External" Id="R04ab0613bcf84e3e" /><Relationship Type="http://schemas.openxmlformats.org/officeDocument/2006/relationships/notesSlide" Target="/ppt/notesSlides/notesSlide10.xml" Id="R9cae4dfdf45b4c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92d386116f74e2f" /><Relationship Type="http://schemas.openxmlformats.org/officeDocument/2006/relationships/hyperlink" Target="&#12304;914129425933635&#8224;L107-L141&#12305;" TargetMode="External" Id="R9b5f93fd9e7d4bdd" /><Relationship Type="http://schemas.openxmlformats.org/officeDocument/2006/relationships/hyperlink" Target="&#12304;757855153343287&#8224;L133-L150&#12305;" TargetMode="External" Id="Rbaa7d71d0e9549ca" /><Relationship Type="http://schemas.openxmlformats.org/officeDocument/2006/relationships/hyperlink" Target="&#12304;831215892819426&#8224;L136-L154&#12305;" TargetMode="External" Id="R18864debeaf848c4" /><Relationship Type="http://schemas.openxmlformats.org/officeDocument/2006/relationships/notesSlide" Target="/ppt/notesSlides/notesSlide11.xml" Id="Rca3b85c3378e45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0e549302f0d4161" /><Relationship Type="http://schemas.openxmlformats.org/officeDocument/2006/relationships/hyperlink" Target="&#12304;764676770703156&#8224;L327-L329&#12305;" TargetMode="External" Id="Rab8f00c721054e3e" /><Relationship Type="http://schemas.openxmlformats.org/officeDocument/2006/relationships/hyperlink" Target="&#12304;240411915442221&#8224;L571-L594&#12305;" TargetMode="External" Id="Raf203b0c449441d7" /><Relationship Type="http://schemas.openxmlformats.org/officeDocument/2006/relationships/hyperlink" Target="&#12304;298368715109598&#8224;L154-L180&#12305;" TargetMode="External" Id="R8e611a5cd7e54183" /><Relationship Type="http://schemas.openxmlformats.org/officeDocument/2006/relationships/notesSlide" Target="/ppt/notesSlides/notesSlide12.xml" Id="Re76521ec53b34f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649c32bbdd24ec8" /><Relationship Type="http://schemas.openxmlformats.org/officeDocument/2006/relationships/hyperlink" Target="&#12304;702206152357481&#8224;L180-L209&#12305;" TargetMode="External" Id="R2ac4343b157243af" /><Relationship Type="http://schemas.openxmlformats.org/officeDocument/2006/relationships/hyperlink" Target="&#12304;645518690862239&#8224;L257-L269&#12305;" TargetMode="External" Id="R536958f4dd004236" /><Relationship Type="http://schemas.openxmlformats.org/officeDocument/2006/relationships/notesSlide" Target="/ppt/notesSlides/notesSlide13.xml" Id="Rc05f767424fe44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783b84fb7ea4f0d" /><Relationship Type="http://schemas.openxmlformats.org/officeDocument/2006/relationships/hyperlink" Target="&#12304;702206152357481&#8224;L131-L153&#12305;" TargetMode="External" Id="R8c0c4b158d714116" /><Relationship Type="http://schemas.openxmlformats.org/officeDocument/2006/relationships/notesSlide" Target="/ppt/notesSlides/notesSlide14.xml" Id="R4a549fbea70b49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367a0769d554c71" /><Relationship Type="http://schemas.openxmlformats.org/officeDocument/2006/relationships/hyperlink" Target="&#12304;73443659327933&#8224;L127-L148&#12305;" TargetMode="External" Id="Rda8afb8d179640fc" /><Relationship Type="http://schemas.openxmlformats.org/officeDocument/2006/relationships/hyperlink" Target="&#12304;764676770703156&#8224;L185-L196&#12305;" TargetMode="External" Id="R986b07dfb5a04e92" /><Relationship Type="http://schemas.openxmlformats.org/officeDocument/2006/relationships/notesSlide" Target="/ppt/notesSlides/notesSlide15.xml" Id="R9905ede5551d4b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8049417e7a424213" /><Relationship Type="http://schemas.openxmlformats.org/officeDocument/2006/relationships/hyperlink" Target="&#12304;645518690862239&#8224;L213-L232&#12305;" TargetMode="External" Id="R1b522db7ef384ea1" /><Relationship Type="http://schemas.openxmlformats.org/officeDocument/2006/relationships/hyperlink" Target="&#12304;645518690862239&#8224;L284-L296&#12305;" TargetMode="External" Id="Rd6b8b9ac7c96421b" /><Relationship Type="http://schemas.openxmlformats.org/officeDocument/2006/relationships/notesSlide" Target="/ppt/notesSlides/notesSlide16.xml" Id="Rc3a43889e74c44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f34dba235754664" /><Relationship Type="http://schemas.openxmlformats.org/officeDocument/2006/relationships/hyperlink" Target="&#12304;709367339829282&#8224;L361-L401&#12305;" TargetMode="External" Id="Rcc0867086c304364" /><Relationship Type="http://schemas.openxmlformats.org/officeDocument/2006/relationships/hyperlink" Target="&#12304;161651347344140&#8224;L259-L279&#12305;" TargetMode="External" Id="Rd3af53b6d1094de7" /><Relationship Type="http://schemas.openxmlformats.org/officeDocument/2006/relationships/hyperlink" Target="&#12304;161651347344140&#8224;L288-L298&#12305;" TargetMode="External" Id="Re257b8fd4e9b41ad" /><Relationship Type="http://schemas.openxmlformats.org/officeDocument/2006/relationships/notesSlide" Target="/ppt/notesSlides/notesSlide17.xml" Id="Rfc0649d2a81145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556ef73996924138" /><Relationship Type="http://schemas.openxmlformats.org/officeDocument/2006/relationships/hyperlink" Target="&#12304;76655757129239&#8224;L217-L224&#12305;" TargetMode="External" Id="R4c852d483fb04ccd" /><Relationship Type="http://schemas.openxmlformats.org/officeDocument/2006/relationships/hyperlink" Target="&#12304;161651347344140&#8224;L310-L316&#12305;" TargetMode="External" Id="R2b32a4f8f60044fd" /><Relationship Type="http://schemas.openxmlformats.org/officeDocument/2006/relationships/notesSlide" Target="/ppt/notesSlides/notesSlide18.xml" Id="R4c2f8d4e8a7f49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e84acfa13c54d82" /><Relationship Type="http://schemas.openxmlformats.org/officeDocument/2006/relationships/hyperlink" Target="&#12304;831215892819426&#8224;L165-L179&#12305;" TargetMode="External" Id="Rb9ac11bc2d3d46bd" /><Relationship Type="http://schemas.openxmlformats.org/officeDocument/2006/relationships/hyperlink" Target="&#12304;11958451080285&#8224;L326-L347&#12305;" TargetMode="External" Id="R6eb21f5a2e884cff" /><Relationship Type="http://schemas.openxmlformats.org/officeDocument/2006/relationships/notesSlide" Target="/ppt/notesSlides/notesSlide19.xml" Id="R97dc2b2ec5464c9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a2eb66921b34b3a" /><Relationship Type="http://schemas.openxmlformats.org/officeDocument/2006/relationships/notesSlide" Target="/ppt/notesSlides/notesSlide20.xml" Id="R508e8818efa446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3c6b68fda434760" /><Relationship Type="http://schemas.openxmlformats.org/officeDocument/2006/relationships/notesSlide" Target="/ppt/notesSlides/notesSlide21.xml" Id="Rba6518a098f541d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97933a08bf94c0e" /><Relationship Type="http://schemas.openxmlformats.org/officeDocument/2006/relationships/notesSlide" Target="/ppt/notesSlides/notesSlide22.xml" Id="R5d619fb6e92e4e1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446f07830ac4f69" /><Relationship Type="http://schemas.openxmlformats.org/officeDocument/2006/relationships/notesSlide" Target="/ppt/notesSlides/notesSlide23.xml" Id="Rb2ad8f338f7e454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49f3530648444e65" /><Relationship Type="http://schemas.openxmlformats.org/officeDocument/2006/relationships/notesSlide" Target="/ppt/notesSlides/notesSlide24.xml" Id="R0e2840a8fd8c4a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327bb625250466a" /><Relationship Type="http://schemas.openxmlformats.org/officeDocument/2006/relationships/notesSlide" Target="/ppt/notesSlides/notesSlide25.xml" Id="R5c990a13f30445d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bd66a36453a4d74" /><Relationship Type="http://schemas.openxmlformats.org/officeDocument/2006/relationships/image" Target="/ppt/media/image13.png" Id="R274ef28377a542d0" /><Relationship Type="http://schemas.openxmlformats.org/officeDocument/2006/relationships/notesSlide" Target="/ppt/notesSlides/notesSlide26.xml" Id="R56ab09bfa4d14b8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91040258fd1e4aad" /><Relationship Type="http://schemas.openxmlformats.org/officeDocument/2006/relationships/hyperlink" Target="&#12304;831215892819426&#8224;L213-L219&#12305;" TargetMode="External" Id="Re37be75fb8d14e06" /><Relationship Type="http://schemas.openxmlformats.org/officeDocument/2006/relationships/hyperlink" Target="&#12304;11958451080285&#8224;L451-L459&#12305;" TargetMode="External" Id="Ra8a14cab00e04f0e" /><Relationship Type="http://schemas.openxmlformats.org/officeDocument/2006/relationships/notesSlide" Target="/ppt/notesSlides/notesSlide27.xml" Id="R8fff8d4c92724d78" /></Relationships>
</file>

<file path=ppt/slides/slide1.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AB89300-D5E8-48BB-A714-9124BB03AFCF}"/>
              </a:ext>
            </a:extLst>
          </p:cNvPr>
          <p:cNvSpPr>
            <a:spLocks xmlns:a="http://schemas.openxmlformats.org/drawingml/2006/main" noGrp="1"/>
          </p:cNvSpPr>
          <p:nvPr/>
        </p:nvSpPr>
        <p:spPr>
          <a:xfrm xmlns:a="http://schemas.openxmlformats.org/drawingml/2006/main">
            <a:off x="0" y="0"/>
            <a:ext cx="9144000" cy="54864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22CD242F-7F96-4E35-A29A-1510209090CE}"/>
              </a:ext>
            </a:extLst>
          </p:cNvPr>
          <p:cNvSpPr>
            <a:spLocks xmlns:a="http://schemas.openxmlformats.org/drawingml/2006/main" noGrp="1"/>
          </p:cNvSpPr>
          <p:nvPr/>
        </p:nvSpPr>
        <p:spPr>
          <a:xfrm xmlns:a="http://schemas.openxmlformats.org/drawingml/2006/main">
            <a:off x="457200" y="9144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FFFFFF"/>
                </a:solidFill>
              </a:rPr>
              <a:t>Day 10</a:t>
            </a:r>
            <a:r>
              <a:rPr sz="1600">
                <a:solidFill>
                  <a:srgbClr val="FFFFFF"/>
                </a:solidFill>
              </a:rPr>
              <a:t>  Final Project: Unified Streaming Data Platform</a:t>
            </a:r>
          </a:p>
        </p:txBody>
      </p:sp>
      <p:sp>
        <p:nvSpPr>
          <p:cNvPr id="4" name="Text 2">
            <a:extLst xmlns:a="http://schemas.openxmlformats.org/drawingml/2006/main">
              <a:ext uri="{FF2B5EF4-FFF2-40B4-BE49-F238E27FC236}">
                <a16:creationId xmlns:a16="http://schemas.microsoft.com/office/drawing/2014/main" id="{F9824CF1-67D4-4002-95E1-33166630115A}"/>
              </a:ext>
            </a:extLst>
          </p:cNvPr>
          <p:cNvSpPr>
            <a:spLocks xmlns:a="http://schemas.openxmlformats.org/drawingml/2006/main" noGrp="1"/>
          </p:cNvSpPr>
          <p:nvPr/>
        </p:nvSpPr>
        <p:spPr>
          <a:xfrm xmlns:a="http://schemas.openxmlformats.org/drawingml/2006/main">
            <a:off x="457200" y="914400"/>
            <a:ext cx="777240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i="1">
                <a:solidFill>
                  <a:srgbClr val="003C54"/>
                </a:solidFill>
              </a:rPr>
              <a:t>Bringing it all together: from CDC to serving</a:t>
            </a:r>
          </a:p>
        </p:txBody>
      </p:sp>
      <p:sp>
        <p:nvSpPr>
          <p:cNvPr id="5" name="Shape 3">
            <a:extLst xmlns:a="http://schemas.openxmlformats.org/drawingml/2006/main">
              <a:ext uri="{FF2B5EF4-FFF2-40B4-BE49-F238E27FC236}">
                <a16:creationId xmlns:a16="http://schemas.microsoft.com/office/drawing/2014/main" id="{55941E72-E54C-4DFA-A40A-B9A7908EBBD8}"/>
              </a:ext>
            </a:extLst>
          </p:cNvPr>
          <p:cNvSpPr>
            <a:spLocks xmlns:a="http://schemas.openxmlformats.org/drawingml/2006/main" noGrp="1"/>
          </p:cNvSpPr>
          <p:nvPr/>
        </p:nvSpPr>
        <p:spPr>
          <a:xfrm xmlns:a="http://schemas.openxmlformats.org/drawingml/2006/main">
            <a:off x="457200" y="1965960"/>
            <a:ext cx="640080" cy="365760"/>
          </a:xfrm>
          <a:prstGeom xmlns:a="http://schemas.openxmlformats.org/drawingml/2006/main" prst="roundRect">
            <a:avLst>
              <a:gd name="adj" fmla="val 25000"/>
            </a:avLst>
          </a:prstGeom>
          <a:solidFill xmlns:a="http://schemas.openxmlformats.org/drawingml/2006/main">
            <a:srgbClr val="0077CC"/>
          </a:solidFill>
          <a:ln xmlns:a="http://schemas.openxmlformats.org/drawingml/2006/main" w="12700">
            <a:solidFill>
              <a:srgbClr val="0077CC"/>
            </a:solidFill>
            <a:prstDash val="solid"/>
          </a:ln>
        </p:spPr>
      </p:sp>
      <p:sp>
        <p:nvSpPr>
          <p:cNvPr id="6" name="Shape 4">
            <a:extLst xmlns:a="http://schemas.openxmlformats.org/drawingml/2006/main">
              <a:ext uri="{FF2B5EF4-FFF2-40B4-BE49-F238E27FC236}">
                <a16:creationId xmlns:a16="http://schemas.microsoft.com/office/drawing/2014/main" id="{11FDA91E-8670-45E0-A64D-906E77B50AF9}"/>
              </a:ext>
            </a:extLst>
          </p:cNvPr>
          <p:cNvSpPr>
            <a:spLocks xmlns:a="http://schemas.openxmlformats.org/drawingml/2006/main" noGrp="1"/>
          </p:cNvSpPr>
          <p:nvPr/>
        </p:nvSpPr>
        <p:spPr>
          <a:xfrm xmlns:a="http://schemas.openxmlformats.org/drawingml/2006/main">
            <a:off x="1280160" y="1917467"/>
            <a:ext cx="640080" cy="462747"/>
          </a:xfrm>
          <a:prstGeom xmlns:a="http://schemas.openxmlformats.org/drawingml/2006/main" prst="roundRect">
            <a:avLst>
              <a:gd name="adj" fmla="val 19760"/>
            </a:avLst>
          </a:prstGeom>
          <a:solidFill xmlns:a="http://schemas.openxmlformats.org/drawingml/2006/main">
            <a:srgbClr val="0077CC"/>
          </a:solidFill>
          <a:ln xmlns:a="http://schemas.openxmlformats.org/drawingml/2006/main" w="12700">
            <a:solidFill>
              <a:srgbClr val="0077CC"/>
            </a:solidFill>
            <a:prstDash val="solid"/>
          </a:ln>
        </p:spPr>
      </p:sp>
      <p:sp>
        <p:nvSpPr>
          <p:cNvPr id="7" name="Shape 5">
            <a:extLst xmlns:a="http://schemas.openxmlformats.org/drawingml/2006/main">
              <a:ext uri="{FF2B5EF4-FFF2-40B4-BE49-F238E27FC236}">
                <a16:creationId xmlns:a16="http://schemas.microsoft.com/office/drawing/2014/main" id="{2E80AA7B-DDA4-46FF-A6A9-725CE7341DE3}"/>
              </a:ext>
            </a:extLst>
          </p:cNvPr>
          <p:cNvSpPr>
            <a:spLocks xmlns:a="http://schemas.openxmlformats.org/drawingml/2006/main" noGrp="1"/>
          </p:cNvSpPr>
          <p:nvPr/>
        </p:nvSpPr>
        <p:spPr>
          <a:xfrm xmlns:a="http://schemas.openxmlformats.org/drawingml/2006/main">
            <a:off x="2103120" y="1897380"/>
            <a:ext cx="640080" cy="502920"/>
          </a:xfrm>
          <a:prstGeom xmlns:a="http://schemas.openxmlformats.org/drawingml/2006/main" prst="roundRect">
            <a:avLst>
              <a:gd name="adj" fmla="val 18182"/>
            </a:avLst>
          </a:prstGeom>
          <a:solidFill xmlns:a="http://schemas.openxmlformats.org/drawingml/2006/main">
            <a:srgbClr val="0077CC"/>
          </a:solidFill>
          <a:ln xmlns:a="http://schemas.openxmlformats.org/drawingml/2006/main" w="12700">
            <a:solidFill>
              <a:srgbClr val="0077CC"/>
            </a:solidFill>
            <a:prstDash val="solid"/>
          </a:ln>
        </p:spPr>
      </p:sp>
      <p:sp>
        <p:nvSpPr>
          <p:cNvPr id="8" name="Shape 6">
            <a:extLst xmlns:a="http://schemas.openxmlformats.org/drawingml/2006/main">
              <a:ext uri="{FF2B5EF4-FFF2-40B4-BE49-F238E27FC236}">
                <a16:creationId xmlns:a16="http://schemas.microsoft.com/office/drawing/2014/main" id="{4619A5B7-AD6F-4764-8741-3C87D710CFF9}"/>
              </a:ext>
            </a:extLst>
          </p:cNvPr>
          <p:cNvSpPr>
            <a:spLocks xmlns:a="http://schemas.openxmlformats.org/drawingml/2006/main" noGrp="1"/>
          </p:cNvSpPr>
          <p:nvPr/>
        </p:nvSpPr>
        <p:spPr>
          <a:xfrm xmlns:a="http://schemas.openxmlformats.org/drawingml/2006/main">
            <a:off x="2926080" y="1917467"/>
            <a:ext cx="640080" cy="462747"/>
          </a:xfrm>
          <a:prstGeom xmlns:a="http://schemas.openxmlformats.org/drawingml/2006/main" prst="roundRect">
            <a:avLst>
              <a:gd name="adj" fmla="val 19760"/>
            </a:avLst>
          </a:prstGeom>
          <a:solidFill xmlns:a="http://schemas.openxmlformats.org/drawingml/2006/main">
            <a:srgbClr val="0077CC"/>
          </a:solidFill>
          <a:ln xmlns:a="http://schemas.openxmlformats.org/drawingml/2006/main" w="12700">
            <a:solidFill>
              <a:srgbClr val="0077CC"/>
            </a:solidFill>
            <a:prstDash val="solid"/>
          </a:ln>
        </p:spPr>
      </p:sp>
      <p:sp>
        <p:nvSpPr>
          <p:cNvPr id="9" name="Shape 7">
            <a:extLst xmlns:a="http://schemas.openxmlformats.org/drawingml/2006/main">
              <a:ext uri="{FF2B5EF4-FFF2-40B4-BE49-F238E27FC236}">
                <a16:creationId xmlns:a16="http://schemas.microsoft.com/office/drawing/2014/main" id="{79821F09-F71B-456B-A8D0-FA9E4192CA0C}"/>
              </a:ext>
            </a:extLst>
          </p:cNvPr>
          <p:cNvSpPr>
            <a:spLocks xmlns:a="http://schemas.openxmlformats.org/drawingml/2006/main" noGrp="1"/>
          </p:cNvSpPr>
          <p:nvPr/>
        </p:nvSpPr>
        <p:spPr>
          <a:xfrm xmlns:a="http://schemas.openxmlformats.org/drawingml/2006/main">
            <a:off x="3749040" y="1965960"/>
            <a:ext cx="640080" cy="365760"/>
          </a:xfrm>
          <a:prstGeom xmlns:a="http://schemas.openxmlformats.org/drawingml/2006/main" prst="roundRect">
            <a:avLst>
              <a:gd name="adj" fmla="val 25000"/>
            </a:avLst>
          </a:prstGeom>
          <a:solidFill xmlns:a="http://schemas.openxmlformats.org/drawingml/2006/main">
            <a:srgbClr val="0077CC"/>
          </a:solidFill>
          <a:ln xmlns:a="http://schemas.openxmlformats.org/drawingml/2006/main" w="12700">
            <a:solidFill>
              <a:srgbClr val="0077CC"/>
            </a:solidFill>
            <a:prstDash val="solid"/>
          </a:ln>
        </p:spPr>
      </p:sp>
      <p:sp>
        <p:nvSpPr>
          <p:cNvPr id="10" name="Shape 8">
            <a:extLst xmlns:a="http://schemas.openxmlformats.org/drawingml/2006/main">
              <a:ext uri="{FF2B5EF4-FFF2-40B4-BE49-F238E27FC236}">
                <a16:creationId xmlns:a16="http://schemas.microsoft.com/office/drawing/2014/main" id="{CD365362-B812-4446-9580-80AFFE9A426E}"/>
              </a:ext>
            </a:extLst>
          </p:cNvPr>
          <p:cNvSpPr>
            <a:spLocks xmlns:a="http://schemas.openxmlformats.org/drawingml/2006/main" noGrp="1"/>
          </p:cNvSpPr>
          <p:nvPr/>
        </p:nvSpPr>
        <p:spPr>
          <a:xfrm xmlns:a="http://schemas.openxmlformats.org/drawingml/2006/main">
            <a:off x="4572000" y="2014453"/>
            <a:ext cx="640080" cy="268773"/>
          </a:xfrm>
          <a:prstGeom xmlns:a="http://schemas.openxmlformats.org/drawingml/2006/main" prst="roundRect">
            <a:avLst>
              <a:gd name="adj" fmla="val 34021"/>
            </a:avLst>
          </a:prstGeom>
          <a:solidFill xmlns:a="http://schemas.openxmlformats.org/drawingml/2006/main">
            <a:srgbClr val="0077CC"/>
          </a:solidFill>
          <a:ln xmlns:a="http://schemas.openxmlformats.org/drawingml/2006/main" w="12700">
            <a:solidFill>
              <a:srgbClr val="0077CC"/>
            </a:solidFill>
            <a:prstDash val="solid"/>
          </a:ln>
        </p:spPr>
      </p:sp>
      <p:sp>
        <p:nvSpPr>
          <p:cNvPr id="11" name="Shape 9">
            <a:extLst xmlns:a="http://schemas.openxmlformats.org/drawingml/2006/main">
              <a:ext uri="{FF2B5EF4-FFF2-40B4-BE49-F238E27FC236}">
                <a16:creationId xmlns:a16="http://schemas.microsoft.com/office/drawing/2014/main" id="{26261EAB-A0DC-406F-BC22-B590875FB6DC}"/>
              </a:ext>
            </a:extLst>
          </p:cNvPr>
          <p:cNvSpPr>
            <a:spLocks xmlns:a="http://schemas.openxmlformats.org/drawingml/2006/main" noGrp="1"/>
          </p:cNvSpPr>
          <p:nvPr/>
        </p:nvSpPr>
        <p:spPr>
          <a:xfrm xmlns:a="http://schemas.openxmlformats.org/drawingml/2006/main">
            <a:off x="5394960" y="2034540"/>
            <a:ext cx="640080" cy="228600"/>
          </a:xfrm>
          <a:prstGeom xmlns:a="http://schemas.openxmlformats.org/drawingml/2006/main" prst="roundRect">
            <a:avLst>
              <a:gd name="adj" fmla="val 40000"/>
            </a:avLst>
          </a:prstGeom>
          <a:solidFill xmlns:a="http://schemas.openxmlformats.org/drawingml/2006/main">
            <a:srgbClr val="0077CC"/>
          </a:solidFill>
          <a:ln xmlns:a="http://schemas.openxmlformats.org/drawingml/2006/main" w="12700">
            <a:solidFill>
              <a:srgbClr val="0077CC"/>
            </a:solidFill>
            <a:prstDash val="solid"/>
          </a:ln>
        </p:spPr>
      </p:sp>
      <p:sp>
        <p:nvSpPr>
          <p:cNvPr id="12" name="Shape 10">
            <a:extLst xmlns:a="http://schemas.openxmlformats.org/drawingml/2006/main">
              <a:ext uri="{FF2B5EF4-FFF2-40B4-BE49-F238E27FC236}">
                <a16:creationId xmlns:a16="http://schemas.microsoft.com/office/drawing/2014/main" id="{B7B0DF0C-46C9-47BC-A8B1-9E508E20EC2B}"/>
              </a:ext>
            </a:extLst>
          </p:cNvPr>
          <p:cNvSpPr>
            <a:spLocks xmlns:a="http://schemas.openxmlformats.org/drawingml/2006/main" noGrp="1"/>
          </p:cNvSpPr>
          <p:nvPr/>
        </p:nvSpPr>
        <p:spPr>
          <a:xfrm xmlns:a="http://schemas.openxmlformats.org/drawingml/2006/main">
            <a:off x="6217920" y="2014453"/>
            <a:ext cx="640080" cy="268773"/>
          </a:xfrm>
          <a:prstGeom xmlns:a="http://schemas.openxmlformats.org/drawingml/2006/main" prst="roundRect">
            <a:avLst>
              <a:gd name="adj" fmla="val 34021"/>
            </a:avLst>
          </a:prstGeom>
          <a:solidFill xmlns:a="http://schemas.openxmlformats.org/drawingml/2006/main">
            <a:srgbClr val="0077CC"/>
          </a:solidFill>
          <a:ln xmlns:a="http://schemas.openxmlformats.org/drawingml/2006/main" w="12700">
            <a:solidFill>
              <a:srgbClr val="0077CC"/>
            </a:solidFill>
            <a:prstDash val="solid"/>
          </a:ln>
        </p:spPr>
      </p:sp>
      <p:sp>
        <p:nvSpPr>
          <p:cNvPr id="13" name="Shape 11">
            <a:extLst xmlns:a="http://schemas.openxmlformats.org/drawingml/2006/main">
              <a:ext uri="{FF2B5EF4-FFF2-40B4-BE49-F238E27FC236}">
                <a16:creationId xmlns:a16="http://schemas.microsoft.com/office/drawing/2014/main" id="{47CD95CC-0529-409A-91B7-6CEC1CC9A14E}"/>
              </a:ext>
            </a:extLst>
          </p:cNvPr>
          <p:cNvSpPr>
            <a:spLocks xmlns:a="http://schemas.openxmlformats.org/drawingml/2006/main" noGrp="1"/>
          </p:cNvSpPr>
          <p:nvPr/>
        </p:nvSpPr>
        <p:spPr>
          <a:xfrm xmlns:a="http://schemas.openxmlformats.org/drawingml/2006/main">
            <a:off x="7040880" y="1965960"/>
            <a:ext cx="640080" cy="365760"/>
          </a:xfrm>
          <a:prstGeom xmlns:a="http://schemas.openxmlformats.org/drawingml/2006/main" prst="roundRect">
            <a:avLst>
              <a:gd name="adj" fmla="val 25000"/>
            </a:avLst>
          </a:prstGeom>
          <a:solidFill xmlns:a="http://schemas.openxmlformats.org/drawingml/2006/main">
            <a:srgbClr val="0077CC"/>
          </a:solidFill>
          <a:ln xmlns:a="http://schemas.openxmlformats.org/drawingml/2006/main" w="12700">
            <a:solidFill>
              <a:srgbClr val="0077CC"/>
            </a:solidFill>
            <a:prstDash val="solid"/>
          </a:ln>
        </p:spPr>
      </p:sp>
      <p:sp>
        <p:nvSpPr>
          <p:cNvPr id="14" name="Text 12">
            <a:extLst xmlns:a="http://schemas.openxmlformats.org/drawingml/2006/main">
              <a:ext uri="{FF2B5EF4-FFF2-40B4-BE49-F238E27FC236}">
                <a16:creationId xmlns:a16="http://schemas.microsoft.com/office/drawing/2014/main" id="{9F09A0D0-D9FF-40E0-81B2-7AF1AB73D1E5}"/>
              </a:ext>
            </a:extLst>
          </p:cNvPr>
          <p:cNvSpPr>
            <a:spLocks xmlns:a="http://schemas.openxmlformats.org/drawingml/2006/main" noGrp="1"/>
          </p:cNvSpPr>
          <p:nvPr/>
        </p:nvSpPr>
        <p:spPr>
          <a:xfrm xmlns:a="http://schemas.openxmlformats.org/drawingml/2006/main">
            <a:off x="7315200" y="91440"/>
            <a:ext cx="1371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FFFFFF"/>
                </a:solidFill>
              </a:rPr>
              <a:t>May 25, 2026</a:t>
            </a:r>
          </a:p>
        </p:txBody>
      </p:sp>
    </p:spTree>
    <p:extLst>
      <p:ext uri="{BB962C8B-B14F-4D97-AF65-F5344CB8AC3E}">
        <p14:creationId xmlns:p14="http://schemas.microsoft.com/office/powerpoint/2010/main" val="1403194486"/>
      </p:ext>
    </p:extLst>
  </p:cSld>
</p:sld>
</file>

<file path=ppt/slides/slide2.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4E57CB3-0817-4BA5-B4D1-3F88BFF35D93}"/>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83600FEA-9630-470B-B3FC-61AA62B6C364}"/>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Learning Objectives</a:t>
            </a:r>
          </a:p>
        </p:txBody>
      </p:sp>
      <p:pic>
        <p:nvPicPr>
          <p:cNvPr id="4" name="Image 0"/>
          <p:cNvPicPr>
            <a:picLocks xmlns:a="http://schemas.openxmlformats.org/drawingml/2006/main" noChangeAspect="1"/>
          </p:cNvPicPr>
          <p:nvPr/>
        </p:nvPicPr>
        <p:blipFill>
          <a:blip xmlns:r="http://schemas.openxmlformats.org/officeDocument/2006/relationships" xmlns:a="http://schemas.openxmlformats.org/drawingml/2006/main" r:embed="Rc3c11f97423c4a53"/>
          <a:stretch xmlns:a="http://schemas.openxmlformats.org/drawingml/2006/main">
            <a:fillRect l="0" t="0" r="0" b="0"/>
          </a:stretch>
        </p:blipFill>
        <p:spPr>
          <a:xfrm xmlns:a="http://schemas.openxmlformats.org/drawingml/2006/main">
            <a:off x="457200" y="640080"/>
            <a:ext cx="228600" cy="22860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85A32A24-09BC-47A9-889A-B51FD369D183}"/>
              </a:ext>
            </a:extLst>
          </p:cNvPr>
          <p:cNvSpPr>
            <a:spLocks xmlns:a="http://schemas.openxmlformats.org/drawingml/2006/main" noGrp="1"/>
          </p:cNvSpPr>
          <p:nvPr/>
        </p:nvSpPr>
        <p:spPr>
          <a:xfrm xmlns:a="http://schemas.openxmlformats.org/drawingml/2006/main">
            <a:off x="777240" y="685800"/>
            <a:ext cx="7772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003C54"/>
                </a:solidFill>
              </a:rPr>
              <a:t>Articulate the business problem and map data sources</a:t>
            </a:r>
          </a:p>
        </p:txBody>
      </p:sp>
      <p:pic>
        <p:nvPicPr>
          <p:cNvPr id="6" name="Image 1"/>
          <p:cNvPicPr>
            <a:picLocks xmlns:a="http://schemas.openxmlformats.org/drawingml/2006/main" noChangeAspect="1"/>
          </p:cNvPicPr>
          <p:nvPr/>
        </p:nvPicPr>
        <p:blipFill>
          <a:blip xmlns:r="http://schemas.openxmlformats.org/officeDocument/2006/relationships" xmlns:a="http://schemas.openxmlformats.org/drawingml/2006/main" r:embed="Rd705824c2e87449e"/>
          <a:stretch xmlns:a="http://schemas.openxmlformats.org/drawingml/2006/main">
            <a:fillRect l="0" t="0" r="0" b="0"/>
          </a:stretch>
        </p:blipFill>
        <p:spPr>
          <a:xfrm xmlns:a="http://schemas.openxmlformats.org/drawingml/2006/main">
            <a:off x="457200" y="960120"/>
            <a:ext cx="228600" cy="228600"/>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287272C9-0B97-4ABA-AE8E-1875334C2554}"/>
              </a:ext>
            </a:extLst>
          </p:cNvPr>
          <p:cNvSpPr>
            <a:spLocks xmlns:a="http://schemas.openxmlformats.org/drawingml/2006/main" noGrp="1"/>
          </p:cNvSpPr>
          <p:nvPr/>
        </p:nvSpPr>
        <p:spPr>
          <a:xfrm xmlns:a="http://schemas.openxmlformats.org/drawingml/2006/main">
            <a:off x="777240" y="1005840"/>
            <a:ext cx="7772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003C54"/>
                </a:solidFill>
              </a:rPr>
              <a:t>Design an end‑to‑end streaming data architecture</a:t>
            </a:r>
          </a:p>
        </p:txBody>
      </p:sp>
      <p:pic>
        <p:nvPicPr>
          <p:cNvPr id="8" name="Image 2"/>
          <p:cNvPicPr>
            <a:picLocks xmlns:a="http://schemas.openxmlformats.org/drawingml/2006/main" noChangeAspect="1"/>
          </p:cNvPicPr>
          <p:nvPr/>
        </p:nvPicPr>
        <p:blipFill>
          <a:blip xmlns:r="http://schemas.openxmlformats.org/officeDocument/2006/relationships" xmlns:a="http://schemas.openxmlformats.org/drawingml/2006/main" r:embed="R75c0866586384138"/>
          <a:stretch xmlns:a="http://schemas.openxmlformats.org/drawingml/2006/main">
            <a:fillRect l="0" t="0" r="0" b="0"/>
          </a:stretch>
        </p:blipFill>
        <p:spPr>
          <a:xfrm xmlns:a="http://schemas.openxmlformats.org/drawingml/2006/main">
            <a:off x="457200" y="1280160"/>
            <a:ext cx="228600" cy="228600"/>
          </a:xfrm>
          <a:prstGeom xmlns:a="http://schemas.openxmlformats.org/drawingml/2006/main" prst="rect">
            <a:avLst/>
          </a:prstGeom>
        </p:spPr>
      </p:pic>
      <p:sp>
        <p:nvSpPr>
          <p:cNvPr id="9" name="Text 4">
            <a:extLst xmlns:a="http://schemas.openxmlformats.org/drawingml/2006/main">
              <a:ext uri="{FF2B5EF4-FFF2-40B4-BE49-F238E27FC236}">
                <a16:creationId xmlns:a16="http://schemas.microsoft.com/office/drawing/2014/main" id="{981774B0-3426-42FD-815F-22B97D61AB0C}"/>
              </a:ext>
            </a:extLst>
          </p:cNvPr>
          <p:cNvSpPr>
            <a:spLocks xmlns:a="http://schemas.openxmlformats.org/drawingml/2006/main" noGrp="1"/>
          </p:cNvSpPr>
          <p:nvPr/>
        </p:nvSpPr>
        <p:spPr>
          <a:xfrm xmlns:a="http://schemas.openxmlformats.org/drawingml/2006/main">
            <a:off x="777240" y="1325880"/>
            <a:ext cx="7772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003C54"/>
                </a:solidFill>
              </a:rPr>
              <a:t>Capture changes with Debezium and manage schemas</a:t>
            </a:r>
          </a:p>
        </p:txBody>
      </p:sp>
      <p:pic>
        <p:nvPicPr>
          <p:cNvPr id="10" name="Image 3"/>
          <p:cNvPicPr>
            <a:picLocks xmlns:a="http://schemas.openxmlformats.org/drawingml/2006/main" noChangeAspect="1"/>
          </p:cNvPicPr>
          <p:nvPr/>
        </p:nvPicPr>
        <p:blipFill>
          <a:blip xmlns:r="http://schemas.openxmlformats.org/officeDocument/2006/relationships" xmlns:a="http://schemas.openxmlformats.org/drawingml/2006/main" r:embed="R21e54139632d4408"/>
          <a:stretch xmlns:a="http://schemas.openxmlformats.org/drawingml/2006/main">
            <a:fillRect l="0" t="0" r="0" b="0"/>
          </a:stretch>
        </p:blipFill>
        <p:spPr>
          <a:xfrm xmlns:a="http://schemas.openxmlformats.org/drawingml/2006/main">
            <a:off x="457200" y="1600200"/>
            <a:ext cx="228600" cy="228600"/>
          </a:xfrm>
          <a:prstGeom xmlns:a="http://schemas.openxmlformats.org/drawingml/2006/main" prst="rect">
            <a:avLst/>
          </a:prstGeom>
        </p:spPr>
      </p:pic>
      <p:sp>
        <p:nvSpPr>
          <p:cNvPr id="11" name="Text 5">
            <a:extLst xmlns:a="http://schemas.openxmlformats.org/drawingml/2006/main">
              <a:ext uri="{FF2B5EF4-FFF2-40B4-BE49-F238E27FC236}">
                <a16:creationId xmlns:a16="http://schemas.microsoft.com/office/drawing/2014/main" id="{55A4AAED-B24C-4306-B742-7C7CCBB1D15E}"/>
              </a:ext>
            </a:extLst>
          </p:cNvPr>
          <p:cNvSpPr>
            <a:spLocks xmlns:a="http://schemas.openxmlformats.org/drawingml/2006/main" noGrp="1"/>
          </p:cNvSpPr>
          <p:nvPr/>
        </p:nvSpPr>
        <p:spPr>
          <a:xfrm xmlns:a="http://schemas.openxmlformats.org/drawingml/2006/main">
            <a:off x="777240" y="1645920"/>
            <a:ext cx="7772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003C54"/>
                </a:solidFill>
              </a:rPr>
              <a:t>Map transformation and medallion-storage extensions from earlier days</a:t>
            </a:r>
          </a:p>
        </p:txBody>
      </p:sp>
      <p:pic>
        <p:nvPicPr>
          <p:cNvPr id="12" name="Image 4"/>
          <p:cNvPicPr>
            <a:picLocks xmlns:a="http://schemas.openxmlformats.org/drawingml/2006/main" noChangeAspect="1"/>
          </p:cNvPicPr>
          <p:nvPr/>
        </p:nvPicPr>
        <p:blipFill>
          <a:blip xmlns:r="http://schemas.openxmlformats.org/officeDocument/2006/relationships" xmlns:a="http://schemas.openxmlformats.org/drawingml/2006/main" r:embed="R594e81dd61094e74"/>
          <a:stretch xmlns:a="http://schemas.openxmlformats.org/drawingml/2006/main">
            <a:fillRect l="0" t="0" r="0" b="0"/>
          </a:stretch>
        </p:blipFill>
        <p:spPr>
          <a:xfrm xmlns:a="http://schemas.openxmlformats.org/drawingml/2006/main">
            <a:off x="457200" y="1920240"/>
            <a:ext cx="228600" cy="228600"/>
          </a:xfrm>
          <a:prstGeom xmlns:a="http://schemas.openxmlformats.org/drawingml/2006/main" prst="rect">
            <a:avLst/>
          </a:prstGeom>
        </p:spPr>
      </p:pic>
      <p:sp>
        <p:nvSpPr>
          <p:cNvPr id="13" name="Text 6">
            <a:extLst xmlns:a="http://schemas.openxmlformats.org/drawingml/2006/main">
              <a:ext uri="{FF2B5EF4-FFF2-40B4-BE49-F238E27FC236}">
                <a16:creationId xmlns:a16="http://schemas.microsoft.com/office/drawing/2014/main" id="{82F3D704-6326-46DD-AF02-6B6CC1C4DAB3}"/>
              </a:ext>
            </a:extLst>
          </p:cNvPr>
          <p:cNvSpPr>
            <a:spLocks xmlns:a="http://schemas.openxmlformats.org/drawingml/2006/main" noGrp="1"/>
          </p:cNvSpPr>
          <p:nvPr/>
        </p:nvSpPr>
        <p:spPr>
          <a:xfrm xmlns:a="http://schemas.openxmlformats.org/drawingml/2006/main">
            <a:off x="777240" y="1965960"/>
            <a:ext cx="7772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003C54"/>
                </a:solidFill>
              </a:rPr>
              <a:t>Explain where Airflow orchestration would coordinate bounded jobs</a:t>
            </a:r>
          </a:p>
        </p:txBody>
      </p:sp>
      <p:pic>
        <p:nvPicPr>
          <p:cNvPr id="14" name="Image 5"/>
          <p:cNvPicPr>
            <a:picLocks xmlns:a="http://schemas.openxmlformats.org/drawingml/2006/main" noChangeAspect="1"/>
          </p:cNvPicPr>
          <p:nvPr/>
        </p:nvPicPr>
        <p:blipFill>
          <a:blip xmlns:r="http://schemas.openxmlformats.org/officeDocument/2006/relationships" xmlns:a="http://schemas.openxmlformats.org/drawingml/2006/main" r:embed="R2130dfc9c697474e"/>
          <a:stretch xmlns:a="http://schemas.openxmlformats.org/drawingml/2006/main">
            <a:fillRect l="0" t="0" r="0" b="0"/>
          </a:stretch>
        </p:blipFill>
        <p:spPr>
          <a:xfrm xmlns:a="http://schemas.openxmlformats.org/drawingml/2006/main">
            <a:off x="457200" y="2240280"/>
            <a:ext cx="228600" cy="228600"/>
          </a:xfrm>
          <a:prstGeom xmlns:a="http://schemas.openxmlformats.org/drawingml/2006/main" prst="rect">
            <a:avLst/>
          </a:prstGeom>
        </p:spPr>
      </p:pic>
      <p:sp>
        <p:nvSpPr>
          <p:cNvPr id="15" name="Text 7">
            <a:extLst xmlns:a="http://schemas.openxmlformats.org/drawingml/2006/main">
              <a:ext uri="{FF2B5EF4-FFF2-40B4-BE49-F238E27FC236}">
                <a16:creationId xmlns:a16="http://schemas.microsoft.com/office/drawing/2014/main" id="{E62B0A28-1C1B-4370-821A-77204D6EA110}"/>
              </a:ext>
            </a:extLst>
          </p:cNvPr>
          <p:cNvSpPr>
            <a:spLocks xmlns:a="http://schemas.openxmlformats.org/drawingml/2006/main" noGrp="1"/>
          </p:cNvSpPr>
          <p:nvPr/>
        </p:nvSpPr>
        <p:spPr>
          <a:xfrm xmlns:a="http://schemas.openxmlformats.org/drawingml/2006/main">
            <a:off x="777240" y="2286000"/>
            <a:ext cx="7772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003C54"/>
                </a:solidFill>
              </a:rPr>
              <a:t>Query &amp; serve data in real time with ksqlDB and Kafka Streams</a:t>
            </a:r>
          </a:p>
        </p:txBody>
      </p:sp>
      <p:pic>
        <p:nvPicPr>
          <p:cNvPr id="16" name="Image 6"/>
          <p:cNvPicPr>
            <a:picLocks xmlns:a="http://schemas.openxmlformats.org/drawingml/2006/main" noChangeAspect="1"/>
          </p:cNvPicPr>
          <p:nvPr/>
        </p:nvPicPr>
        <p:blipFill>
          <a:blip xmlns:r="http://schemas.openxmlformats.org/officeDocument/2006/relationships" xmlns:a="http://schemas.openxmlformats.org/drawingml/2006/main" r:embed="Rb115d481516341a9"/>
          <a:stretch xmlns:a="http://schemas.openxmlformats.org/drawingml/2006/main">
            <a:fillRect l="0" t="0" r="0" b="0"/>
          </a:stretch>
        </p:blipFill>
        <p:spPr>
          <a:xfrm xmlns:a="http://schemas.openxmlformats.org/drawingml/2006/main">
            <a:off x="457200" y="2560320"/>
            <a:ext cx="228600" cy="228600"/>
          </a:xfrm>
          <a:prstGeom xmlns:a="http://schemas.openxmlformats.org/drawingml/2006/main" prst="rect">
            <a:avLst/>
          </a:prstGeom>
        </p:spPr>
      </p:pic>
      <p:sp>
        <p:nvSpPr>
          <p:cNvPr id="17" name="Text 8">
            <a:extLst xmlns:a="http://schemas.openxmlformats.org/drawingml/2006/main">
              <a:ext uri="{FF2B5EF4-FFF2-40B4-BE49-F238E27FC236}">
                <a16:creationId xmlns:a16="http://schemas.microsoft.com/office/drawing/2014/main" id="{B12CA5B5-9D28-458D-A8C3-A0078298DDA0}"/>
              </a:ext>
            </a:extLst>
          </p:cNvPr>
          <p:cNvSpPr>
            <a:spLocks xmlns:a="http://schemas.openxmlformats.org/drawingml/2006/main" noGrp="1"/>
          </p:cNvSpPr>
          <p:nvPr/>
        </p:nvSpPr>
        <p:spPr>
          <a:xfrm xmlns:a="http://schemas.openxmlformats.org/drawingml/2006/main">
            <a:off x="777240" y="2606040"/>
            <a:ext cx="7772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003C54"/>
                </a:solidFill>
              </a:rPr>
              <a:t>Implement the supplied CDC-to-ksqlDB capstone and diagnose issues</a:t>
            </a:r>
          </a:p>
        </p:txBody>
      </p:sp>
      <p:pic>
        <p:nvPicPr>
          <p:cNvPr id="18" name="Image 7"/>
          <p:cNvPicPr>
            <a:picLocks xmlns:a="http://schemas.openxmlformats.org/drawingml/2006/main" noChangeAspect="1"/>
          </p:cNvPicPr>
          <p:nvPr/>
        </p:nvPicPr>
        <p:blipFill>
          <a:blip xmlns:r="http://schemas.openxmlformats.org/officeDocument/2006/relationships" xmlns:a="http://schemas.openxmlformats.org/drawingml/2006/main" r:embed="R739410e11ceb4158"/>
          <a:stretch xmlns:a="http://schemas.openxmlformats.org/drawingml/2006/main">
            <a:fillRect l="0" t="0" r="0" b="0"/>
          </a:stretch>
        </p:blipFill>
        <p:spPr>
          <a:xfrm xmlns:a="http://schemas.openxmlformats.org/drawingml/2006/main">
            <a:off x="457200" y="2880360"/>
            <a:ext cx="228600" cy="228600"/>
          </a:xfrm>
          <a:prstGeom xmlns:a="http://schemas.openxmlformats.org/drawingml/2006/main" prst="rect">
            <a:avLst/>
          </a:prstGeom>
        </p:spPr>
      </p:pic>
      <p:sp>
        <p:nvSpPr>
          <p:cNvPr id="19" name="Text 9">
            <a:extLst xmlns:a="http://schemas.openxmlformats.org/drawingml/2006/main">
              <a:ext uri="{FF2B5EF4-FFF2-40B4-BE49-F238E27FC236}">
                <a16:creationId xmlns:a16="http://schemas.microsoft.com/office/drawing/2014/main" id="{C97487E2-922B-4168-89CB-63BF67031D1E}"/>
              </a:ext>
            </a:extLst>
          </p:cNvPr>
          <p:cNvSpPr>
            <a:spLocks xmlns:a="http://schemas.openxmlformats.org/drawingml/2006/main" noGrp="1"/>
          </p:cNvSpPr>
          <p:nvPr/>
        </p:nvSpPr>
        <p:spPr>
          <a:xfrm xmlns:a="http://schemas.openxmlformats.org/drawingml/2006/main">
            <a:off x="777240" y="2926080"/>
            <a:ext cx="7772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003C54"/>
                </a:solidFill>
              </a:rPr>
              <a:t>Submit architecture, evidence, Gold metric and BI dashboard artifact</a:t>
            </a:r>
          </a:p>
        </p:txBody>
      </p:sp>
      <p:sp>
        <p:nvSpPr>
          <p:cNvPr id="20" name="Text 10">
            <a:extLst xmlns:a="http://schemas.openxmlformats.org/drawingml/2006/main">
              <a:ext uri="{FF2B5EF4-FFF2-40B4-BE49-F238E27FC236}">
                <a16:creationId xmlns:a16="http://schemas.microsoft.com/office/drawing/2014/main" id="{51E27A87-4501-49C7-A11E-A6EA633BAEAA}"/>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c4ac12b7adef4f64"/>
              </a:rPr>
              <a:t>[1]</a:t>
            </a:r>
            <a:r>
              <a:rPr sz="600">
                <a:solidFill>
                  <a:srgbClr val="000000"/>
                </a:solidFill>
              </a:rPr>
              <a:t>  </a:t>
            </a:r>
            <a:r>
              <a:rPr sz="600" u="sng">
                <a:solidFill>
                  <a:srgbClr val="0066CC"/>
                </a:solidFill>
                <a:hlinkClick xmlns:r="http://schemas.openxmlformats.org/officeDocument/2006/relationships" r:id="Re5a1a936216849fd"/>
              </a:rPr>
              <a:t>[2]</a:t>
            </a:r>
            <a:r>
              <a:rPr sz="600">
                <a:solidFill>
                  <a:srgbClr val="000000"/>
                </a:solidFill>
              </a:rPr>
              <a:t>  </a:t>
            </a:r>
            <a:r>
              <a:rPr sz="600" u="sng">
                <a:solidFill>
                  <a:srgbClr val="0066CC"/>
                </a:solidFill>
                <a:hlinkClick xmlns:r="http://schemas.openxmlformats.org/officeDocument/2006/relationships" r:id="Ra42c1903b6a44143"/>
              </a:rPr>
              <a:t>[3]</a:t>
            </a:r>
          </a:p>
        </p:txBody>
      </p:sp>
    </p:spTree>
    <p:extLst>
      <p:ext uri="{BB962C8B-B14F-4D97-AF65-F5344CB8AC3E}">
        <p14:creationId xmlns:p14="http://schemas.microsoft.com/office/powerpoint/2010/main" val="1774510864"/>
      </p:ext>
    </p:extLst>
  </p:cSld>
</p:sld>
</file>

<file path=ppt/slides/slide3.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462C3E3-EB6D-4E4C-8361-5DF8BF8EF171}"/>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9B00B3EF-20E1-423E-9E71-3F225BD56596}"/>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Agenda</a:t>
            </a:r>
          </a:p>
        </p:txBody>
      </p:sp>
      <p:sp>
        <p:nvSpPr>
          <p:cNvPr id="4" name="Shape 2">
            <a:extLst xmlns:a="http://schemas.openxmlformats.org/drawingml/2006/main">
              <a:ext uri="{FF2B5EF4-FFF2-40B4-BE49-F238E27FC236}">
                <a16:creationId xmlns:a16="http://schemas.microsoft.com/office/drawing/2014/main" id="{580E0109-2861-4BE7-8D34-846EBF2CB56B}"/>
              </a:ext>
            </a:extLst>
          </p:cNvPr>
          <p:cNvSpPr>
            <a:spLocks xmlns:a="http://schemas.openxmlformats.org/drawingml/2006/main" noGrp="1"/>
          </p:cNvSpPr>
          <p:nvPr/>
        </p:nvSpPr>
        <p:spPr>
          <a:xfrm xmlns:a="http://schemas.openxmlformats.org/drawingml/2006/main">
            <a:off x="962406" y="1097280"/>
            <a:ext cx="18288" cy="91440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prstDash val="solid"/>
          </a:ln>
        </p:spPr>
      </p:sp>
      <p:sp>
        <p:nvSpPr>
          <p:cNvPr id="5" name="Shape 3">
            <a:extLst xmlns:a="http://schemas.openxmlformats.org/drawingml/2006/main">
              <a:ext uri="{FF2B5EF4-FFF2-40B4-BE49-F238E27FC236}">
                <a16:creationId xmlns:a16="http://schemas.microsoft.com/office/drawing/2014/main" id="{67094110-65F5-44E3-8A20-DE1689D56AF9}"/>
              </a:ext>
            </a:extLst>
          </p:cNvPr>
          <p:cNvSpPr>
            <a:spLocks xmlns:a="http://schemas.openxmlformats.org/drawingml/2006/main" noGrp="1"/>
          </p:cNvSpPr>
          <p:nvPr/>
        </p:nvSpPr>
        <p:spPr>
          <a:xfrm xmlns:a="http://schemas.openxmlformats.org/drawingml/2006/main">
            <a:off x="861822" y="1005840"/>
            <a:ext cx="219456" cy="219456"/>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bb3ae27dbcac4b13"/>
          <a:stretch xmlns:a="http://schemas.openxmlformats.org/drawingml/2006/main">
            <a:fillRect l="0" t="0" r="0" b="0"/>
          </a:stretch>
        </p:blipFill>
        <p:spPr>
          <a:xfrm xmlns:a="http://schemas.openxmlformats.org/drawingml/2006/main">
            <a:off x="880110" y="1024128"/>
            <a:ext cx="182880" cy="18288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2AC1CDD9-4F09-4CC6-81F0-9A135BCD9F49}"/>
              </a:ext>
            </a:extLst>
          </p:cNvPr>
          <p:cNvSpPr>
            <a:spLocks xmlns:a="http://schemas.openxmlformats.org/drawingml/2006/main" noGrp="1"/>
          </p:cNvSpPr>
          <p:nvPr/>
        </p:nvSpPr>
        <p:spPr>
          <a:xfrm xmlns:a="http://schemas.openxmlformats.org/drawingml/2006/main">
            <a:off x="274320" y="1234440"/>
            <a:ext cx="139446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003C54"/>
                </a:solidFill>
              </a:rPr>
              <a:t>9:00</a:t>
            </a:r>
          </a:p>
        </p:txBody>
      </p:sp>
      <p:sp>
        <p:nvSpPr>
          <p:cNvPr id="8" name="Text 5">
            <a:extLst xmlns:a="http://schemas.openxmlformats.org/drawingml/2006/main">
              <a:ext uri="{FF2B5EF4-FFF2-40B4-BE49-F238E27FC236}">
                <a16:creationId xmlns:a16="http://schemas.microsoft.com/office/drawing/2014/main" id="{08D97306-D7D8-4543-8EA6-F40A1696AD74}"/>
              </a:ext>
            </a:extLst>
          </p:cNvPr>
          <p:cNvSpPr>
            <a:spLocks xmlns:a="http://schemas.openxmlformats.org/drawingml/2006/main" noGrp="1"/>
          </p:cNvSpPr>
          <p:nvPr/>
        </p:nvSpPr>
        <p:spPr>
          <a:xfrm xmlns:a="http://schemas.openxmlformats.org/drawingml/2006/main">
            <a:off x="91440" y="1417320"/>
            <a:ext cx="17602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003C54"/>
                </a:solidFill>
              </a:rPr>
              <a:t>Recap &amp; Problem Definition</a:t>
            </a:r>
          </a:p>
        </p:txBody>
      </p:sp>
      <p:sp>
        <p:nvSpPr>
          <p:cNvPr id="9" name="Shape 6">
            <a:extLst xmlns:a="http://schemas.openxmlformats.org/drawingml/2006/main">
              <a:ext uri="{FF2B5EF4-FFF2-40B4-BE49-F238E27FC236}">
                <a16:creationId xmlns:a16="http://schemas.microsoft.com/office/drawing/2014/main" id="{A02A866D-E618-44C7-8AFD-2643D5B7E81E}"/>
              </a:ext>
            </a:extLst>
          </p:cNvPr>
          <p:cNvSpPr>
            <a:spLocks xmlns:a="http://schemas.openxmlformats.org/drawingml/2006/main" noGrp="1"/>
          </p:cNvSpPr>
          <p:nvPr/>
        </p:nvSpPr>
        <p:spPr>
          <a:xfrm xmlns:a="http://schemas.openxmlformats.org/drawingml/2006/main">
            <a:off x="1991106" y="1097280"/>
            <a:ext cx="18288" cy="91440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prstDash val="solid"/>
          </a:ln>
        </p:spPr>
      </p:sp>
      <p:sp>
        <p:nvSpPr>
          <p:cNvPr id="10" name="Shape 7">
            <a:extLst xmlns:a="http://schemas.openxmlformats.org/drawingml/2006/main">
              <a:ext uri="{FF2B5EF4-FFF2-40B4-BE49-F238E27FC236}">
                <a16:creationId xmlns:a16="http://schemas.microsoft.com/office/drawing/2014/main" id="{89A26553-1894-45A3-8493-D2E7306A02DE}"/>
              </a:ext>
            </a:extLst>
          </p:cNvPr>
          <p:cNvSpPr>
            <a:spLocks xmlns:a="http://schemas.openxmlformats.org/drawingml/2006/main" noGrp="1"/>
          </p:cNvSpPr>
          <p:nvPr/>
        </p:nvSpPr>
        <p:spPr>
          <a:xfrm xmlns:a="http://schemas.openxmlformats.org/drawingml/2006/main">
            <a:off x="1890522" y="1005840"/>
            <a:ext cx="219456" cy="219456"/>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pic>
        <p:nvPicPr>
          <p:cNvPr id="11" name="Image 1"/>
          <p:cNvPicPr>
            <a:picLocks xmlns:a="http://schemas.openxmlformats.org/drawingml/2006/main" noChangeAspect="1"/>
          </p:cNvPicPr>
          <p:nvPr/>
        </p:nvPicPr>
        <p:blipFill>
          <a:blip xmlns:r="http://schemas.openxmlformats.org/officeDocument/2006/relationships" xmlns:a="http://schemas.openxmlformats.org/drawingml/2006/main" r:embed="R8250e138fba44a7d"/>
          <a:stretch xmlns:a="http://schemas.openxmlformats.org/drawingml/2006/main">
            <a:fillRect l="0" t="0" r="0" b="0"/>
          </a:stretch>
        </p:blipFill>
        <p:spPr>
          <a:xfrm xmlns:a="http://schemas.openxmlformats.org/drawingml/2006/main">
            <a:off x="1908810" y="1024128"/>
            <a:ext cx="182880" cy="182880"/>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C9A6F6AF-94DF-4B5F-8092-3D3AAEBED2D1}"/>
              </a:ext>
            </a:extLst>
          </p:cNvPr>
          <p:cNvSpPr>
            <a:spLocks xmlns:a="http://schemas.openxmlformats.org/drawingml/2006/main" noGrp="1"/>
          </p:cNvSpPr>
          <p:nvPr/>
        </p:nvSpPr>
        <p:spPr>
          <a:xfrm xmlns:a="http://schemas.openxmlformats.org/drawingml/2006/main">
            <a:off x="1303020" y="1234440"/>
            <a:ext cx="139446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003C54"/>
                </a:solidFill>
              </a:rPr>
              <a:t>9:30</a:t>
            </a:r>
          </a:p>
        </p:txBody>
      </p:sp>
      <p:sp>
        <p:nvSpPr>
          <p:cNvPr id="13" name="Text 9">
            <a:extLst xmlns:a="http://schemas.openxmlformats.org/drawingml/2006/main">
              <a:ext uri="{FF2B5EF4-FFF2-40B4-BE49-F238E27FC236}">
                <a16:creationId xmlns:a16="http://schemas.microsoft.com/office/drawing/2014/main" id="{CB3AF15B-7879-4A92-A4C5-58C26930C844}"/>
              </a:ext>
            </a:extLst>
          </p:cNvPr>
          <p:cNvSpPr>
            <a:spLocks xmlns:a="http://schemas.openxmlformats.org/drawingml/2006/main" noGrp="1"/>
          </p:cNvSpPr>
          <p:nvPr/>
        </p:nvSpPr>
        <p:spPr>
          <a:xfrm xmlns:a="http://schemas.openxmlformats.org/drawingml/2006/main">
            <a:off x="1120140" y="1417320"/>
            <a:ext cx="17602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003C54"/>
                </a:solidFill>
              </a:rPr>
              <a:t>Architecture Design</a:t>
            </a:r>
          </a:p>
        </p:txBody>
      </p:sp>
      <p:sp>
        <p:nvSpPr>
          <p:cNvPr id="14" name="Shape 10">
            <a:extLst xmlns:a="http://schemas.openxmlformats.org/drawingml/2006/main">
              <a:ext uri="{FF2B5EF4-FFF2-40B4-BE49-F238E27FC236}">
                <a16:creationId xmlns:a16="http://schemas.microsoft.com/office/drawing/2014/main" id="{B417A34A-F912-4435-886A-5CA3BABDC8C8}"/>
              </a:ext>
            </a:extLst>
          </p:cNvPr>
          <p:cNvSpPr>
            <a:spLocks xmlns:a="http://schemas.openxmlformats.org/drawingml/2006/main" noGrp="1"/>
          </p:cNvSpPr>
          <p:nvPr/>
        </p:nvSpPr>
        <p:spPr>
          <a:xfrm xmlns:a="http://schemas.openxmlformats.org/drawingml/2006/main">
            <a:off x="3019806" y="1097280"/>
            <a:ext cx="18288" cy="91440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prstDash val="solid"/>
          </a:ln>
        </p:spPr>
      </p:sp>
      <p:sp>
        <p:nvSpPr>
          <p:cNvPr id="15" name="Shape 11">
            <a:extLst xmlns:a="http://schemas.openxmlformats.org/drawingml/2006/main">
              <a:ext uri="{FF2B5EF4-FFF2-40B4-BE49-F238E27FC236}">
                <a16:creationId xmlns:a16="http://schemas.microsoft.com/office/drawing/2014/main" id="{A6E1A89E-EB05-4EF6-A778-C852AA149B46}"/>
              </a:ext>
            </a:extLst>
          </p:cNvPr>
          <p:cNvSpPr>
            <a:spLocks xmlns:a="http://schemas.openxmlformats.org/drawingml/2006/main" noGrp="1"/>
          </p:cNvSpPr>
          <p:nvPr/>
        </p:nvSpPr>
        <p:spPr>
          <a:xfrm xmlns:a="http://schemas.openxmlformats.org/drawingml/2006/main">
            <a:off x="2919222" y="1005840"/>
            <a:ext cx="219456" cy="219456"/>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pic>
        <p:nvPicPr>
          <p:cNvPr id="16" name="Image 2"/>
          <p:cNvPicPr>
            <a:picLocks xmlns:a="http://schemas.openxmlformats.org/drawingml/2006/main" noChangeAspect="1"/>
          </p:cNvPicPr>
          <p:nvPr/>
        </p:nvPicPr>
        <p:blipFill>
          <a:blip xmlns:r="http://schemas.openxmlformats.org/officeDocument/2006/relationships" xmlns:a="http://schemas.openxmlformats.org/drawingml/2006/main" r:embed="R017cfd0a87a340fb"/>
          <a:stretch xmlns:a="http://schemas.openxmlformats.org/drawingml/2006/main">
            <a:fillRect l="0" t="0" r="0" b="0"/>
          </a:stretch>
        </p:blipFill>
        <p:spPr>
          <a:xfrm xmlns:a="http://schemas.openxmlformats.org/drawingml/2006/main">
            <a:off x="2937510" y="1024128"/>
            <a:ext cx="182880" cy="18288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5EAD9A9E-463A-4E51-9E6D-7733175981C1}"/>
              </a:ext>
            </a:extLst>
          </p:cNvPr>
          <p:cNvSpPr>
            <a:spLocks xmlns:a="http://schemas.openxmlformats.org/drawingml/2006/main" noGrp="1"/>
          </p:cNvSpPr>
          <p:nvPr/>
        </p:nvSpPr>
        <p:spPr>
          <a:xfrm xmlns:a="http://schemas.openxmlformats.org/drawingml/2006/main">
            <a:off x="2331720" y="1234440"/>
            <a:ext cx="139446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003C54"/>
                </a:solidFill>
              </a:rPr>
              <a:t>10:15</a:t>
            </a:r>
          </a:p>
        </p:txBody>
      </p:sp>
      <p:sp>
        <p:nvSpPr>
          <p:cNvPr id="18" name="Text 13">
            <a:extLst xmlns:a="http://schemas.openxmlformats.org/drawingml/2006/main">
              <a:ext uri="{FF2B5EF4-FFF2-40B4-BE49-F238E27FC236}">
                <a16:creationId xmlns:a16="http://schemas.microsoft.com/office/drawing/2014/main" id="{A3277BC7-64F6-4864-AA10-BE003D676166}"/>
              </a:ext>
            </a:extLst>
          </p:cNvPr>
          <p:cNvSpPr>
            <a:spLocks xmlns:a="http://schemas.openxmlformats.org/drawingml/2006/main" noGrp="1"/>
          </p:cNvSpPr>
          <p:nvPr/>
        </p:nvSpPr>
        <p:spPr>
          <a:xfrm xmlns:a="http://schemas.openxmlformats.org/drawingml/2006/main">
            <a:off x="2148840" y="1417320"/>
            <a:ext cx="17602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003C54"/>
                </a:solidFill>
              </a:rPr>
              <a:t>Components Deep Dive</a:t>
            </a:r>
          </a:p>
        </p:txBody>
      </p:sp>
      <p:sp>
        <p:nvSpPr>
          <p:cNvPr id="19" name="Shape 14">
            <a:extLst xmlns:a="http://schemas.openxmlformats.org/drawingml/2006/main">
              <a:ext uri="{FF2B5EF4-FFF2-40B4-BE49-F238E27FC236}">
                <a16:creationId xmlns:a16="http://schemas.microsoft.com/office/drawing/2014/main" id="{E42C9F41-A08B-4808-B300-1ED229091F55}"/>
              </a:ext>
            </a:extLst>
          </p:cNvPr>
          <p:cNvSpPr>
            <a:spLocks xmlns:a="http://schemas.openxmlformats.org/drawingml/2006/main" noGrp="1"/>
          </p:cNvSpPr>
          <p:nvPr/>
        </p:nvSpPr>
        <p:spPr>
          <a:xfrm xmlns:a="http://schemas.openxmlformats.org/drawingml/2006/main">
            <a:off x="4048506" y="1097280"/>
            <a:ext cx="18288" cy="91440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prstDash val="solid"/>
          </a:ln>
        </p:spPr>
      </p:sp>
      <p:sp>
        <p:nvSpPr>
          <p:cNvPr id="20" name="Shape 15">
            <a:extLst xmlns:a="http://schemas.openxmlformats.org/drawingml/2006/main">
              <a:ext uri="{FF2B5EF4-FFF2-40B4-BE49-F238E27FC236}">
                <a16:creationId xmlns:a16="http://schemas.microsoft.com/office/drawing/2014/main" id="{191D8C31-BB20-4208-87F1-1B7D564533AD}"/>
              </a:ext>
            </a:extLst>
          </p:cNvPr>
          <p:cNvSpPr>
            <a:spLocks xmlns:a="http://schemas.openxmlformats.org/drawingml/2006/main" noGrp="1"/>
          </p:cNvSpPr>
          <p:nvPr/>
        </p:nvSpPr>
        <p:spPr>
          <a:xfrm xmlns:a="http://schemas.openxmlformats.org/drawingml/2006/main">
            <a:off x="3947922" y="1005840"/>
            <a:ext cx="219456" cy="219456"/>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pic>
        <p:nvPicPr>
          <p:cNvPr id="21" name="Image 3"/>
          <p:cNvPicPr>
            <a:picLocks xmlns:a="http://schemas.openxmlformats.org/drawingml/2006/main" noChangeAspect="1"/>
          </p:cNvPicPr>
          <p:nvPr/>
        </p:nvPicPr>
        <p:blipFill>
          <a:blip xmlns:r="http://schemas.openxmlformats.org/officeDocument/2006/relationships" xmlns:a="http://schemas.openxmlformats.org/drawingml/2006/main" r:embed="R3003299064774d3e"/>
          <a:stretch xmlns:a="http://schemas.openxmlformats.org/drawingml/2006/main">
            <a:fillRect l="0" t="0" r="0" b="0"/>
          </a:stretch>
        </p:blipFill>
        <p:spPr>
          <a:xfrm xmlns:a="http://schemas.openxmlformats.org/drawingml/2006/main">
            <a:off x="3966210" y="1024128"/>
            <a:ext cx="182880" cy="182880"/>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AE4ECFB0-7BBB-4D2A-9136-5DE6120F0AD7}"/>
              </a:ext>
            </a:extLst>
          </p:cNvPr>
          <p:cNvSpPr>
            <a:spLocks xmlns:a="http://schemas.openxmlformats.org/drawingml/2006/main" noGrp="1"/>
          </p:cNvSpPr>
          <p:nvPr/>
        </p:nvSpPr>
        <p:spPr>
          <a:xfrm xmlns:a="http://schemas.openxmlformats.org/drawingml/2006/main">
            <a:off x="3360420" y="1234440"/>
            <a:ext cx="139446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003C54"/>
                </a:solidFill>
              </a:rPr>
              <a:t>12:00</a:t>
            </a:r>
          </a:p>
        </p:txBody>
      </p:sp>
      <p:sp>
        <p:nvSpPr>
          <p:cNvPr id="23" name="Text 17">
            <a:extLst xmlns:a="http://schemas.openxmlformats.org/drawingml/2006/main">
              <a:ext uri="{FF2B5EF4-FFF2-40B4-BE49-F238E27FC236}">
                <a16:creationId xmlns:a16="http://schemas.microsoft.com/office/drawing/2014/main" id="{5C3C8979-2B7A-4E74-BA4E-FED1413F9546}"/>
              </a:ext>
            </a:extLst>
          </p:cNvPr>
          <p:cNvSpPr>
            <a:spLocks xmlns:a="http://schemas.openxmlformats.org/drawingml/2006/main" noGrp="1"/>
          </p:cNvSpPr>
          <p:nvPr/>
        </p:nvSpPr>
        <p:spPr>
          <a:xfrm xmlns:a="http://schemas.openxmlformats.org/drawingml/2006/main">
            <a:off x="3177540" y="1417320"/>
            <a:ext cx="17602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003C54"/>
                </a:solidFill>
              </a:rPr>
              <a:t>Lunch Break</a:t>
            </a:r>
          </a:p>
        </p:txBody>
      </p:sp>
      <p:sp>
        <p:nvSpPr>
          <p:cNvPr id="24" name="Shape 18">
            <a:extLst xmlns:a="http://schemas.openxmlformats.org/drawingml/2006/main">
              <a:ext uri="{FF2B5EF4-FFF2-40B4-BE49-F238E27FC236}">
                <a16:creationId xmlns:a16="http://schemas.microsoft.com/office/drawing/2014/main" id="{98794AED-3076-40A8-8885-51C1D026D791}"/>
              </a:ext>
            </a:extLst>
          </p:cNvPr>
          <p:cNvSpPr>
            <a:spLocks xmlns:a="http://schemas.openxmlformats.org/drawingml/2006/main" noGrp="1"/>
          </p:cNvSpPr>
          <p:nvPr/>
        </p:nvSpPr>
        <p:spPr>
          <a:xfrm xmlns:a="http://schemas.openxmlformats.org/drawingml/2006/main">
            <a:off x="5077206" y="1097280"/>
            <a:ext cx="18288" cy="91440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prstDash val="solid"/>
          </a:ln>
        </p:spPr>
      </p:sp>
      <p:sp>
        <p:nvSpPr>
          <p:cNvPr id="25" name="Shape 19">
            <a:extLst xmlns:a="http://schemas.openxmlformats.org/drawingml/2006/main">
              <a:ext uri="{FF2B5EF4-FFF2-40B4-BE49-F238E27FC236}">
                <a16:creationId xmlns:a16="http://schemas.microsoft.com/office/drawing/2014/main" id="{65785D46-0F93-4B3E-A9A7-657292C210FB}"/>
              </a:ext>
            </a:extLst>
          </p:cNvPr>
          <p:cNvSpPr>
            <a:spLocks xmlns:a="http://schemas.openxmlformats.org/drawingml/2006/main" noGrp="1"/>
          </p:cNvSpPr>
          <p:nvPr/>
        </p:nvSpPr>
        <p:spPr>
          <a:xfrm xmlns:a="http://schemas.openxmlformats.org/drawingml/2006/main">
            <a:off x="4976622" y="1005840"/>
            <a:ext cx="219456" cy="219456"/>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pic>
        <p:nvPicPr>
          <p:cNvPr id="26" name="Image 4"/>
          <p:cNvPicPr>
            <a:picLocks xmlns:a="http://schemas.openxmlformats.org/drawingml/2006/main" noChangeAspect="1"/>
          </p:cNvPicPr>
          <p:nvPr/>
        </p:nvPicPr>
        <p:blipFill>
          <a:blip xmlns:r="http://schemas.openxmlformats.org/officeDocument/2006/relationships" xmlns:a="http://schemas.openxmlformats.org/drawingml/2006/main" r:embed="R98a966bb5519418a"/>
          <a:stretch xmlns:a="http://schemas.openxmlformats.org/drawingml/2006/main">
            <a:fillRect l="0" t="0" r="0" b="0"/>
          </a:stretch>
        </p:blipFill>
        <p:spPr>
          <a:xfrm xmlns:a="http://schemas.openxmlformats.org/drawingml/2006/main">
            <a:off x="4994910" y="1024128"/>
            <a:ext cx="182880" cy="182880"/>
          </a:xfrm>
          <a:prstGeom xmlns:a="http://schemas.openxmlformats.org/drawingml/2006/main" prst="rect">
            <a:avLst/>
          </a:prstGeom>
        </p:spPr>
      </p:pic>
      <p:sp>
        <p:nvSpPr>
          <p:cNvPr id="27" name="Text 20">
            <a:extLst xmlns:a="http://schemas.openxmlformats.org/drawingml/2006/main">
              <a:ext uri="{FF2B5EF4-FFF2-40B4-BE49-F238E27FC236}">
                <a16:creationId xmlns:a16="http://schemas.microsoft.com/office/drawing/2014/main" id="{C02709EA-39EA-435C-B10F-B69E3ADB039A}"/>
              </a:ext>
            </a:extLst>
          </p:cNvPr>
          <p:cNvSpPr>
            <a:spLocks xmlns:a="http://schemas.openxmlformats.org/drawingml/2006/main" noGrp="1"/>
          </p:cNvSpPr>
          <p:nvPr/>
        </p:nvSpPr>
        <p:spPr>
          <a:xfrm xmlns:a="http://schemas.openxmlformats.org/drawingml/2006/main">
            <a:off x="4389120" y="1234440"/>
            <a:ext cx="139446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003C54"/>
                </a:solidFill>
              </a:rPr>
              <a:t>13:00</a:t>
            </a:r>
          </a:p>
        </p:txBody>
      </p:sp>
      <p:sp>
        <p:nvSpPr>
          <p:cNvPr id="28" name="Text 21">
            <a:extLst xmlns:a="http://schemas.openxmlformats.org/drawingml/2006/main">
              <a:ext uri="{FF2B5EF4-FFF2-40B4-BE49-F238E27FC236}">
                <a16:creationId xmlns:a16="http://schemas.microsoft.com/office/drawing/2014/main" id="{F60A3BF9-7891-4737-B73E-2F5B5A5721BC}"/>
              </a:ext>
            </a:extLst>
          </p:cNvPr>
          <p:cNvSpPr>
            <a:spLocks xmlns:a="http://schemas.openxmlformats.org/drawingml/2006/main" noGrp="1"/>
          </p:cNvSpPr>
          <p:nvPr/>
        </p:nvSpPr>
        <p:spPr>
          <a:xfrm xmlns:a="http://schemas.openxmlformats.org/drawingml/2006/main">
            <a:off x="4206240" y="1417320"/>
            <a:ext cx="17602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003C54"/>
                </a:solidFill>
              </a:rPr>
              <a:t>Implementation Plan &amp; Lab</a:t>
            </a:r>
          </a:p>
        </p:txBody>
      </p:sp>
      <p:sp>
        <p:nvSpPr>
          <p:cNvPr id="29" name="Shape 22">
            <a:extLst xmlns:a="http://schemas.openxmlformats.org/drawingml/2006/main">
              <a:ext uri="{FF2B5EF4-FFF2-40B4-BE49-F238E27FC236}">
                <a16:creationId xmlns:a16="http://schemas.microsoft.com/office/drawing/2014/main" id="{1F12C1D6-40A1-4BDF-A933-90B2C2AE7F5B}"/>
              </a:ext>
            </a:extLst>
          </p:cNvPr>
          <p:cNvSpPr>
            <a:spLocks xmlns:a="http://schemas.openxmlformats.org/drawingml/2006/main" noGrp="1"/>
          </p:cNvSpPr>
          <p:nvPr/>
        </p:nvSpPr>
        <p:spPr>
          <a:xfrm xmlns:a="http://schemas.openxmlformats.org/drawingml/2006/main">
            <a:off x="6105906" y="1097280"/>
            <a:ext cx="18288" cy="91440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prstDash val="solid"/>
          </a:ln>
        </p:spPr>
      </p:sp>
      <p:sp>
        <p:nvSpPr>
          <p:cNvPr id="30" name="Shape 23">
            <a:extLst xmlns:a="http://schemas.openxmlformats.org/drawingml/2006/main">
              <a:ext uri="{FF2B5EF4-FFF2-40B4-BE49-F238E27FC236}">
                <a16:creationId xmlns:a16="http://schemas.microsoft.com/office/drawing/2014/main" id="{271D3CB7-94D1-4661-B65D-C167425980B2}"/>
              </a:ext>
            </a:extLst>
          </p:cNvPr>
          <p:cNvSpPr>
            <a:spLocks xmlns:a="http://schemas.openxmlformats.org/drawingml/2006/main" noGrp="1"/>
          </p:cNvSpPr>
          <p:nvPr/>
        </p:nvSpPr>
        <p:spPr>
          <a:xfrm xmlns:a="http://schemas.openxmlformats.org/drawingml/2006/main">
            <a:off x="6005322" y="1005840"/>
            <a:ext cx="219456" cy="219456"/>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pic>
        <p:nvPicPr>
          <p:cNvPr id="31" name="Image 5"/>
          <p:cNvPicPr>
            <a:picLocks xmlns:a="http://schemas.openxmlformats.org/drawingml/2006/main" noChangeAspect="1"/>
          </p:cNvPicPr>
          <p:nvPr/>
        </p:nvPicPr>
        <p:blipFill>
          <a:blip xmlns:r="http://schemas.openxmlformats.org/officeDocument/2006/relationships" xmlns:a="http://schemas.openxmlformats.org/drawingml/2006/main" r:embed="R8ffbbe6c9d6a42d8"/>
          <a:stretch xmlns:a="http://schemas.openxmlformats.org/drawingml/2006/main">
            <a:fillRect l="0" t="0" r="0" b="0"/>
          </a:stretch>
        </p:blipFill>
        <p:spPr>
          <a:xfrm xmlns:a="http://schemas.openxmlformats.org/drawingml/2006/main">
            <a:off x="6023610" y="1024128"/>
            <a:ext cx="182880" cy="182880"/>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975DAE1E-7B4D-4030-9AFD-15BD6DB7DE87}"/>
              </a:ext>
            </a:extLst>
          </p:cNvPr>
          <p:cNvSpPr>
            <a:spLocks xmlns:a="http://schemas.openxmlformats.org/drawingml/2006/main" noGrp="1"/>
          </p:cNvSpPr>
          <p:nvPr/>
        </p:nvSpPr>
        <p:spPr>
          <a:xfrm xmlns:a="http://schemas.openxmlformats.org/drawingml/2006/main">
            <a:off x="5417820" y="1234440"/>
            <a:ext cx="139446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003C54"/>
                </a:solidFill>
              </a:rPr>
              <a:t>14:30</a:t>
            </a:r>
          </a:p>
        </p:txBody>
      </p:sp>
      <p:sp>
        <p:nvSpPr>
          <p:cNvPr id="33" name="Text 25">
            <a:extLst xmlns:a="http://schemas.openxmlformats.org/drawingml/2006/main">
              <a:ext uri="{FF2B5EF4-FFF2-40B4-BE49-F238E27FC236}">
                <a16:creationId xmlns:a16="http://schemas.microsoft.com/office/drawing/2014/main" id="{B63461FE-155D-4F3C-8499-35256F343032}"/>
              </a:ext>
            </a:extLst>
          </p:cNvPr>
          <p:cNvSpPr>
            <a:spLocks xmlns:a="http://schemas.openxmlformats.org/drawingml/2006/main" noGrp="1"/>
          </p:cNvSpPr>
          <p:nvPr/>
        </p:nvSpPr>
        <p:spPr>
          <a:xfrm xmlns:a="http://schemas.openxmlformats.org/drawingml/2006/main">
            <a:off x="5234940" y="1417320"/>
            <a:ext cx="17602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003C54"/>
                </a:solidFill>
              </a:rPr>
              <a:t>Mini Exercises &amp; Quiz</a:t>
            </a:r>
          </a:p>
        </p:txBody>
      </p:sp>
      <p:sp>
        <p:nvSpPr>
          <p:cNvPr id="34" name="Shape 26">
            <a:extLst xmlns:a="http://schemas.openxmlformats.org/drawingml/2006/main">
              <a:ext uri="{FF2B5EF4-FFF2-40B4-BE49-F238E27FC236}">
                <a16:creationId xmlns:a16="http://schemas.microsoft.com/office/drawing/2014/main" id="{8583D41F-ED65-4DE9-9D97-A343F6740EA3}"/>
              </a:ext>
            </a:extLst>
          </p:cNvPr>
          <p:cNvSpPr>
            <a:spLocks xmlns:a="http://schemas.openxmlformats.org/drawingml/2006/main" noGrp="1"/>
          </p:cNvSpPr>
          <p:nvPr/>
        </p:nvSpPr>
        <p:spPr>
          <a:xfrm xmlns:a="http://schemas.openxmlformats.org/drawingml/2006/main">
            <a:off x="7134606" y="1097280"/>
            <a:ext cx="18288" cy="91440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prstDash val="solid"/>
          </a:ln>
        </p:spPr>
      </p:sp>
      <p:sp>
        <p:nvSpPr>
          <p:cNvPr id="35" name="Shape 27">
            <a:extLst xmlns:a="http://schemas.openxmlformats.org/drawingml/2006/main">
              <a:ext uri="{FF2B5EF4-FFF2-40B4-BE49-F238E27FC236}">
                <a16:creationId xmlns:a16="http://schemas.microsoft.com/office/drawing/2014/main" id="{8032FE98-0E57-4B79-8E0A-FBA4ACBE4EB5}"/>
              </a:ext>
            </a:extLst>
          </p:cNvPr>
          <p:cNvSpPr>
            <a:spLocks xmlns:a="http://schemas.openxmlformats.org/drawingml/2006/main" noGrp="1"/>
          </p:cNvSpPr>
          <p:nvPr/>
        </p:nvSpPr>
        <p:spPr>
          <a:xfrm xmlns:a="http://schemas.openxmlformats.org/drawingml/2006/main">
            <a:off x="7034022" y="1005840"/>
            <a:ext cx="219456" cy="219456"/>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pic>
        <p:nvPicPr>
          <p:cNvPr id="36" name="Image 6"/>
          <p:cNvPicPr>
            <a:picLocks xmlns:a="http://schemas.openxmlformats.org/drawingml/2006/main" noChangeAspect="1"/>
          </p:cNvPicPr>
          <p:nvPr/>
        </p:nvPicPr>
        <p:blipFill>
          <a:blip xmlns:r="http://schemas.openxmlformats.org/officeDocument/2006/relationships" xmlns:a="http://schemas.openxmlformats.org/drawingml/2006/main" r:embed="R1b3c5d5794ff454b"/>
          <a:stretch xmlns:a="http://schemas.openxmlformats.org/drawingml/2006/main">
            <a:fillRect l="0" t="0" r="0" b="0"/>
          </a:stretch>
        </p:blipFill>
        <p:spPr>
          <a:xfrm xmlns:a="http://schemas.openxmlformats.org/drawingml/2006/main">
            <a:off x="7052310" y="1024128"/>
            <a:ext cx="182880" cy="182880"/>
          </a:xfrm>
          <a:prstGeom xmlns:a="http://schemas.openxmlformats.org/drawingml/2006/main" prst="rect">
            <a:avLst/>
          </a:prstGeom>
        </p:spPr>
      </p:pic>
      <p:sp>
        <p:nvSpPr>
          <p:cNvPr id="37" name="Text 28">
            <a:extLst xmlns:a="http://schemas.openxmlformats.org/drawingml/2006/main">
              <a:ext uri="{FF2B5EF4-FFF2-40B4-BE49-F238E27FC236}">
                <a16:creationId xmlns:a16="http://schemas.microsoft.com/office/drawing/2014/main" id="{0319410C-5457-4E67-836B-6D46F0050DA8}"/>
              </a:ext>
            </a:extLst>
          </p:cNvPr>
          <p:cNvSpPr>
            <a:spLocks xmlns:a="http://schemas.openxmlformats.org/drawingml/2006/main" noGrp="1"/>
          </p:cNvSpPr>
          <p:nvPr/>
        </p:nvSpPr>
        <p:spPr>
          <a:xfrm xmlns:a="http://schemas.openxmlformats.org/drawingml/2006/main">
            <a:off x="6446520" y="1234440"/>
            <a:ext cx="139446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003C54"/>
                </a:solidFill>
              </a:rPr>
              <a:t>15:30</a:t>
            </a:r>
          </a:p>
        </p:txBody>
      </p:sp>
      <p:sp>
        <p:nvSpPr>
          <p:cNvPr id="38" name="Text 29">
            <a:extLst xmlns:a="http://schemas.openxmlformats.org/drawingml/2006/main">
              <a:ext uri="{FF2B5EF4-FFF2-40B4-BE49-F238E27FC236}">
                <a16:creationId xmlns:a16="http://schemas.microsoft.com/office/drawing/2014/main" id="{BCDD4DE1-2C55-46C1-AC77-6AE5045BF507}"/>
              </a:ext>
            </a:extLst>
          </p:cNvPr>
          <p:cNvSpPr>
            <a:spLocks xmlns:a="http://schemas.openxmlformats.org/drawingml/2006/main" noGrp="1"/>
          </p:cNvSpPr>
          <p:nvPr/>
        </p:nvSpPr>
        <p:spPr>
          <a:xfrm xmlns:a="http://schemas.openxmlformats.org/drawingml/2006/main">
            <a:off x="6263640" y="1417320"/>
            <a:ext cx="17602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003C54"/>
                </a:solidFill>
              </a:rPr>
              <a:t>Project Walkthrough</a:t>
            </a:r>
          </a:p>
        </p:txBody>
      </p:sp>
      <p:sp>
        <p:nvSpPr>
          <p:cNvPr id="39" name="Shape 30">
            <a:extLst xmlns:a="http://schemas.openxmlformats.org/drawingml/2006/main">
              <a:ext uri="{FF2B5EF4-FFF2-40B4-BE49-F238E27FC236}">
                <a16:creationId xmlns:a16="http://schemas.microsoft.com/office/drawing/2014/main" id="{0CF05D5C-5D40-4FDB-8D7F-748E8E5F8DCA}"/>
              </a:ext>
            </a:extLst>
          </p:cNvPr>
          <p:cNvSpPr>
            <a:spLocks xmlns:a="http://schemas.openxmlformats.org/drawingml/2006/main" noGrp="1"/>
          </p:cNvSpPr>
          <p:nvPr/>
        </p:nvSpPr>
        <p:spPr>
          <a:xfrm xmlns:a="http://schemas.openxmlformats.org/drawingml/2006/main">
            <a:off x="8163306" y="1097280"/>
            <a:ext cx="18288" cy="914400"/>
          </a:xfrm>
          <a:prstGeom xmlns:a="http://schemas.openxmlformats.org/drawingml/2006/main" prst="rect">
            <a:avLst/>
          </a:prstGeom>
          <a:solidFill xmlns:a="http://schemas.openxmlformats.org/drawingml/2006/main">
            <a:srgbClr val="6A6A6A"/>
          </a:solidFill>
          <a:ln xmlns:a="http://schemas.openxmlformats.org/drawingml/2006/main" w="12700">
            <a:solidFill>
              <a:srgbClr val="6A6A6A"/>
            </a:solidFill>
            <a:prstDash val="solid"/>
          </a:ln>
        </p:spPr>
      </p:sp>
      <p:sp>
        <p:nvSpPr>
          <p:cNvPr id="40" name="Shape 31">
            <a:extLst xmlns:a="http://schemas.openxmlformats.org/drawingml/2006/main">
              <a:ext uri="{FF2B5EF4-FFF2-40B4-BE49-F238E27FC236}">
                <a16:creationId xmlns:a16="http://schemas.microsoft.com/office/drawing/2014/main" id="{E733F45B-E45C-4DAC-9E95-E446E7C46427}"/>
              </a:ext>
            </a:extLst>
          </p:cNvPr>
          <p:cNvSpPr>
            <a:spLocks xmlns:a="http://schemas.openxmlformats.org/drawingml/2006/main" noGrp="1"/>
          </p:cNvSpPr>
          <p:nvPr/>
        </p:nvSpPr>
        <p:spPr>
          <a:xfrm xmlns:a="http://schemas.openxmlformats.org/drawingml/2006/main">
            <a:off x="8062722" y="1005840"/>
            <a:ext cx="219456" cy="219456"/>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pic>
        <p:nvPicPr>
          <p:cNvPr id="41" name="Image 7"/>
          <p:cNvPicPr>
            <a:picLocks xmlns:a="http://schemas.openxmlformats.org/drawingml/2006/main" noChangeAspect="1"/>
          </p:cNvPicPr>
          <p:nvPr/>
        </p:nvPicPr>
        <p:blipFill>
          <a:blip xmlns:r="http://schemas.openxmlformats.org/officeDocument/2006/relationships" xmlns:a="http://schemas.openxmlformats.org/drawingml/2006/main" r:embed="Rcf0c9a8a22224e85"/>
          <a:stretch xmlns:a="http://schemas.openxmlformats.org/drawingml/2006/main">
            <a:fillRect l="0" t="0" r="0" b="0"/>
          </a:stretch>
        </p:blipFill>
        <p:spPr>
          <a:xfrm xmlns:a="http://schemas.openxmlformats.org/drawingml/2006/main">
            <a:off x="8081010" y="1024128"/>
            <a:ext cx="182880" cy="182880"/>
          </a:xfrm>
          <a:prstGeom xmlns:a="http://schemas.openxmlformats.org/drawingml/2006/main" prst="rect">
            <a:avLst/>
          </a:prstGeom>
        </p:spPr>
      </p:pic>
      <p:sp>
        <p:nvSpPr>
          <p:cNvPr id="42" name="Text 32">
            <a:extLst xmlns:a="http://schemas.openxmlformats.org/drawingml/2006/main">
              <a:ext uri="{FF2B5EF4-FFF2-40B4-BE49-F238E27FC236}">
                <a16:creationId xmlns:a16="http://schemas.microsoft.com/office/drawing/2014/main" id="{D9EF0B99-D88C-4733-BD6B-D83E549332FE}"/>
              </a:ext>
            </a:extLst>
          </p:cNvPr>
          <p:cNvSpPr>
            <a:spLocks xmlns:a="http://schemas.openxmlformats.org/drawingml/2006/main" noGrp="1"/>
          </p:cNvSpPr>
          <p:nvPr/>
        </p:nvSpPr>
        <p:spPr>
          <a:xfrm xmlns:a="http://schemas.openxmlformats.org/drawingml/2006/main">
            <a:off x="7475220" y="1234440"/>
            <a:ext cx="139446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003C54"/>
                </a:solidFill>
              </a:rPr>
              <a:t>16:30</a:t>
            </a:r>
          </a:p>
        </p:txBody>
      </p:sp>
      <p:sp>
        <p:nvSpPr>
          <p:cNvPr id="43" name="Text 33">
            <a:extLst xmlns:a="http://schemas.openxmlformats.org/drawingml/2006/main">
              <a:ext uri="{FF2B5EF4-FFF2-40B4-BE49-F238E27FC236}">
                <a16:creationId xmlns:a16="http://schemas.microsoft.com/office/drawing/2014/main" id="{690A44F2-E883-46D7-A46C-526326452F19}"/>
              </a:ext>
            </a:extLst>
          </p:cNvPr>
          <p:cNvSpPr>
            <a:spLocks xmlns:a="http://schemas.openxmlformats.org/drawingml/2006/main" noGrp="1"/>
          </p:cNvSpPr>
          <p:nvPr/>
        </p:nvSpPr>
        <p:spPr>
          <a:xfrm xmlns:a="http://schemas.openxmlformats.org/drawingml/2006/main">
            <a:off x="7292340" y="1417320"/>
            <a:ext cx="17602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003C54"/>
                </a:solidFill>
              </a:rPr>
              <a:t>Wrap‑Up &amp; Next Steps</a:t>
            </a:r>
          </a:p>
        </p:txBody>
      </p:sp>
      <p:sp>
        <p:nvSpPr>
          <p:cNvPr id="44" name="Text 34">
            <a:extLst xmlns:a="http://schemas.openxmlformats.org/drawingml/2006/main">
              <a:ext uri="{FF2B5EF4-FFF2-40B4-BE49-F238E27FC236}">
                <a16:creationId xmlns:a16="http://schemas.microsoft.com/office/drawing/2014/main" id="{CA61C68D-4C39-451F-9D09-B5DEE21C2F8F}"/>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c5c4982be6854d64"/>
              </a:rPr>
              <a:t>[1]</a:t>
            </a:r>
            <a:r>
              <a:rPr sz="600">
                <a:solidFill>
                  <a:srgbClr val="000000"/>
                </a:solidFill>
              </a:rPr>
              <a:t>  </a:t>
            </a:r>
            <a:r>
              <a:rPr sz="600" u="sng">
                <a:solidFill>
                  <a:srgbClr val="0066CC"/>
                </a:solidFill>
                <a:hlinkClick xmlns:r="http://schemas.openxmlformats.org/officeDocument/2006/relationships" r:id="R0b3d0c05f71448a7"/>
              </a:rPr>
              <a:t>[2]</a:t>
            </a:r>
          </a:p>
        </p:txBody>
      </p:sp>
    </p:spTree>
    <p:extLst>
      <p:ext uri="{BB962C8B-B14F-4D97-AF65-F5344CB8AC3E}">
        <p14:creationId xmlns:p14="http://schemas.microsoft.com/office/powerpoint/2010/main" val="1610542282"/>
      </p:ext>
    </p:extLst>
  </p:cSld>
</p:sld>
</file>

<file path=ppt/slides/slide4.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3D1F6F0-6BD5-4D8B-A946-66AAE8B8B639}"/>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2F67DB68-9358-4C68-AC8A-D6759C82E0F3}"/>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Recap &amp; Problem Definition</a:t>
            </a:r>
          </a:p>
        </p:txBody>
      </p:sp>
      <p:sp>
        <p:nvSpPr>
          <p:cNvPr id="4" name="Text 2">
            <a:extLst xmlns:a="http://schemas.openxmlformats.org/drawingml/2006/main">
              <a:ext uri="{FF2B5EF4-FFF2-40B4-BE49-F238E27FC236}">
                <a16:creationId xmlns:a16="http://schemas.microsoft.com/office/drawing/2014/main" id="{687C9C2A-D576-483F-A3F6-8CB90C364B52}"/>
              </a:ext>
            </a:extLst>
          </p:cNvPr>
          <p:cNvSpPr>
            <a:spLocks xmlns:a="http://schemas.openxmlformats.org/drawingml/2006/main" noGrp="1"/>
          </p:cNvSpPr>
          <p:nvPr/>
        </p:nvSpPr>
        <p:spPr>
          <a:xfrm xmlns:a="http://schemas.openxmlformats.org/drawingml/2006/main">
            <a:off x="457200" y="731520"/>
            <a:ext cx="8229600" cy="2743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3C54"/>
                </a:solidFill>
              </a:rPr>
              <a:t>What have we built so far?</a:t>
            </a:r>
          </a:p>
          <a:p xmlns:a="http://schemas.openxmlformats.org/drawingml/2006/main">
            <a:pPr marL="0" indent="0">
              <a:buNone/>
            </a:pPr>
            <a:r>
              <a:rPr sz="1400" b="1">
                <a:solidFill>
                  <a:srgbClr val="003C54"/>
                </a:solidFill>
              </a:rPr>
              <a:t>- Captured and validated event changes with Kafka and Debezium concepts.</a:t>
            </a:r>
          </a:p>
          <a:p xmlns:a="http://schemas.openxmlformats.org/drawingml/2006/main">
            <a:pPr marL="0" indent="0">
              <a:buNone/>
            </a:pPr>
            <a:r>
              <a:rPr sz="1400" b="1">
                <a:solidFill>
                  <a:srgbClr val="003C54"/>
                </a:solidFill>
              </a:rPr>
              <a:t>- Designed Bronze/Silver/Gold transformation and storage responsibilities.</a:t>
            </a:r>
          </a:p>
          <a:p xmlns:a="http://schemas.openxmlformats.org/drawingml/2006/main">
            <a:pPr marL="0" indent="0">
              <a:buNone/>
            </a:pPr>
            <a:r>
              <a:rPr sz="1400" b="1">
                <a:solidFill>
                  <a:srgbClr val="003C54"/>
                </a:solidFill>
              </a:rPr>
              <a:t>- Scheduled bounded pipeline tasks with Airflow and documented operational evidence.</a:t>
            </a:r>
          </a:p>
          <a:p xmlns:a="http://schemas.openxmlformats.org/drawingml/2006/main">
            <a:pPr marL="0" indent="0">
              <a:buNone/>
            </a:pPr>
            <a:r>
              <a:rPr sz="1400" b="1">
                <a:solidFill>
                  <a:srgbClr val="003C54"/>
                </a:solidFill>
              </a:rPr>
              <a:t>- Established monitoring and recovery thinking.</a:t>
            </a:r>
          </a:p>
          <a:p xmlns:a="http://schemas.openxmlformats.org/drawingml/2006/main">
            <a:pPr marL="0" indent="0">
              <a:buNone/>
            </a:pPr>
            <a:r>
              <a:rPr sz="1400" b="1">
                <a:solidFill>
                  <a:srgbClr val="003C54"/>
                </a:solidFill>
              </a:rPr>
              <a:t/>
            </a:r>
          </a:p>
          <a:p xmlns:a="http://schemas.openxmlformats.org/drawingml/2006/main">
            <a:pPr marL="0" indent="0">
              <a:buNone/>
            </a:pPr>
            <a:r>
              <a:rPr sz="1400" b="1">
                <a:solidFill>
                  <a:srgbClr val="003C54"/>
                </a:solidFill>
              </a:rPr>
              <a:t>Today the supplied runnable stack implements CDC, Schema Registry and ksqlDB; Hop, Airflow, lakehouse storage and BI are integration deliverables or extensions.</a:t>
            </a:r>
          </a:p>
        </p:txBody>
      </p:sp>
      <p:sp>
        <p:nvSpPr>
          <p:cNvPr id="5" name="Text 3">
            <a:extLst xmlns:a="http://schemas.openxmlformats.org/drawingml/2006/main">
              <a:ext uri="{FF2B5EF4-FFF2-40B4-BE49-F238E27FC236}">
                <a16:creationId xmlns:a16="http://schemas.microsoft.com/office/drawing/2014/main" id="{9548BAB9-E481-4AA1-AF6E-FE8EA7FBB298}"/>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57c1fba92c1941f0"/>
              </a:rPr>
              <a:t>[1]</a:t>
            </a:r>
            <a:r>
              <a:rPr sz="600">
                <a:solidFill>
                  <a:srgbClr val="000000"/>
                </a:solidFill>
              </a:rPr>
              <a:t>  </a:t>
            </a:r>
            <a:r>
              <a:rPr sz="600" u="sng">
                <a:solidFill>
                  <a:srgbClr val="0066CC"/>
                </a:solidFill>
                <a:hlinkClick xmlns:r="http://schemas.openxmlformats.org/officeDocument/2006/relationships" r:id="R8eadce26e54d4e76"/>
              </a:rPr>
              <a:t>[2]</a:t>
            </a:r>
            <a:r>
              <a:rPr sz="600">
                <a:solidFill>
                  <a:srgbClr val="000000"/>
                </a:solidFill>
              </a:rPr>
              <a:t>  </a:t>
            </a:r>
            <a:r>
              <a:rPr sz="600" u="sng">
                <a:solidFill>
                  <a:srgbClr val="0066CC"/>
                </a:solidFill>
                <a:hlinkClick xmlns:r="http://schemas.openxmlformats.org/officeDocument/2006/relationships" r:id="Rb3a212b2ef8d438d"/>
              </a:rPr>
              <a:t>[3]</a:t>
            </a:r>
          </a:p>
        </p:txBody>
      </p:sp>
    </p:spTree>
    <p:extLst>
      <p:ext uri="{BB962C8B-B14F-4D97-AF65-F5344CB8AC3E}">
        <p14:creationId xmlns:p14="http://schemas.microsoft.com/office/powerpoint/2010/main" val="283842637"/>
      </p:ext>
    </p:extLst>
  </p:cSld>
</p:sld>
</file>

<file path=ppt/slides/slide5.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7FD3775-D713-493D-9A09-B8C5EE0B5419}"/>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E3D43CBE-6386-43FE-B8F9-A94F91E0353D}"/>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Use Case &amp; Data Sources</a:t>
            </a:r>
          </a:p>
        </p:txBody>
      </p:sp>
      <p:sp>
        <p:nvSpPr>
          <p:cNvPr id="4" name="Text 2">
            <a:extLst xmlns:a="http://schemas.openxmlformats.org/drawingml/2006/main">
              <a:ext uri="{FF2B5EF4-FFF2-40B4-BE49-F238E27FC236}">
                <a16:creationId xmlns:a16="http://schemas.microsoft.com/office/drawing/2014/main" id="{F3775F42-A0FF-4764-9F59-A22D68B7EB34}"/>
              </a:ext>
            </a:extLst>
          </p:cNvPr>
          <p:cNvSpPr>
            <a:spLocks xmlns:a="http://schemas.openxmlformats.org/drawingml/2006/main" noGrp="1"/>
          </p:cNvSpPr>
          <p:nvPr/>
        </p:nvSpPr>
        <p:spPr>
          <a:xfrm xmlns:a="http://schemas.openxmlformats.org/drawingml/2006/main">
            <a:off x="457200" y="731520"/>
            <a:ext cx="4572000" cy="2743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3C54"/>
                </a:solidFill>
              </a:rPr>
              <a:t>Scenario:
</a:t>
            </a:r>
            <a:r>
              <a:rPr sz="1000">
                <a:solidFill>
                  <a:srgbClr val="6A6A6A"/>
                </a:solidFill>
              </a:rPr>
              <a:t>Northstar Retail wants to build a real‑time dashboard and alerting system for its e‑commerce platform. Orders, inventory updates, product catalogue changes and user clickstream events must be ingested, transformed and served within seconds.
</a:t>
            </a:r>
            <a:r>
              <a:rPr sz="1200" b="1">
                <a:solidFill>
                  <a:srgbClr val="003C54"/>
                </a:solidFill>
              </a:rPr>
              <a:t>Data Sources: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bb3888c262344c82"/>
          <a:stretch xmlns:a="http://schemas.openxmlformats.org/drawingml/2006/main">
            <a:fillRect l="0" t="0" r="0" b="0"/>
          </a:stretch>
        </p:blipFill>
        <p:spPr>
          <a:xfrm xmlns:a="http://schemas.openxmlformats.org/drawingml/2006/main">
            <a:off x="5577840" y="1828800"/>
            <a:ext cx="228600" cy="2286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F9BCAA1-7C52-4ED0-B8B9-5340C73874A6}"/>
              </a:ext>
            </a:extLst>
          </p:cNvPr>
          <p:cNvSpPr>
            <a:spLocks xmlns:a="http://schemas.openxmlformats.org/drawingml/2006/main" noGrp="1"/>
          </p:cNvSpPr>
          <p:nvPr/>
        </p:nvSpPr>
        <p:spPr>
          <a:xfrm xmlns:a="http://schemas.openxmlformats.org/drawingml/2006/main">
            <a:off x="5852160" y="1847088"/>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3C54"/>
                </a:solidFill>
              </a:rPr>
              <a:t>Orders DB</a:t>
            </a:r>
          </a:p>
        </p:txBody>
      </p:sp>
      <p:sp>
        <p:nvSpPr>
          <p:cNvPr id="7" name="Text 4">
            <a:extLst xmlns:a="http://schemas.openxmlformats.org/drawingml/2006/main">
              <a:ext uri="{FF2B5EF4-FFF2-40B4-BE49-F238E27FC236}">
                <a16:creationId xmlns:a16="http://schemas.microsoft.com/office/drawing/2014/main" id="{B56D283F-B598-492E-8452-DB592AEA4ECF}"/>
              </a:ext>
            </a:extLst>
          </p:cNvPr>
          <p:cNvSpPr>
            <a:spLocks xmlns:a="http://schemas.openxmlformats.org/drawingml/2006/main" noGrp="1"/>
          </p:cNvSpPr>
          <p:nvPr/>
        </p:nvSpPr>
        <p:spPr>
          <a:xfrm xmlns:a="http://schemas.openxmlformats.org/drawingml/2006/main">
            <a:off x="5852160" y="1993392"/>
            <a:ext cx="32918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6A6A6A"/>
                </a:solidFill>
              </a:rPr>
              <a:t>PostgreSQL table capturing new orders</a:t>
            </a:r>
          </a:p>
        </p:txBody>
      </p:sp>
      <p:pic>
        <p:nvPicPr>
          <p:cNvPr id="8" name="Image 1"/>
          <p:cNvPicPr>
            <a:picLocks xmlns:a="http://schemas.openxmlformats.org/drawingml/2006/main" noChangeAspect="1"/>
          </p:cNvPicPr>
          <p:nvPr/>
        </p:nvPicPr>
        <p:blipFill>
          <a:blip xmlns:r="http://schemas.openxmlformats.org/officeDocument/2006/relationships" xmlns:a="http://schemas.openxmlformats.org/drawingml/2006/main" r:embed="Rbb3888c262344c82"/>
          <a:stretch xmlns:a="http://schemas.openxmlformats.org/drawingml/2006/main">
            <a:fillRect l="0" t="0" r="0" b="0"/>
          </a:stretch>
        </p:blipFill>
        <p:spPr>
          <a:xfrm xmlns:a="http://schemas.openxmlformats.org/drawingml/2006/main">
            <a:off x="5577840" y="2331720"/>
            <a:ext cx="228600" cy="228600"/>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18246DBE-3748-4BA0-A412-022FA7386DE0}"/>
              </a:ext>
            </a:extLst>
          </p:cNvPr>
          <p:cNvSpPr>
            <a:spLocks xmlns:a="http://schemas.openxmlformats.org/drawingml/2006/main" noGrp="1"/>
          </p:cNvSpPr>
          <p:nvPr/>
        </p:nvSpPr>
        <p:spPr>
          <a:xfrm xmlns:a="http://schemas.openxmlformats.org/drawingml/2006/main">
            <a:off x="5852160" y="2350008"/>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3C54"/>
                </a:solidFill>
              </a:rPr>
              <a:t>Inventory DB</a:t>
            </a:r>
          </a:p>
        </p:txBody>
      </p:sp>
      <p:sp>
        <p:nvSpPr>
          <p:cNvPr id="10" name="Text 6">
            <a:extLst xmlns:a="http://schemas.openxmlformats.org/drawingml/2006/main">
              <a:ext uri="{FF2B5EF4-FFF2-40B4-BE49-F238E27FC236}">
                <a16:creationId xmlns:a16="http://schemas.microsoft.com/office/drawing/2014/main" id="{B506949C-9405-4C7F-919B-AEBC46CA0707}"/>
              </a:ext>
            </a:extLst>
          </p:cNvPr>
          <p:cNvSpPr>
            <a:spLocks xmlns:a="http://schemas.openxmlformats.org/drawingml/2006/main" noGrp="1"/>
          </p:cNvSpPr>
          <p:nvPr/>
        </p:nvSpPr>
        <p:spPr>
          <a:xfrm xmlns:a="http://schemas.openxmlformats.org/drawingml/2006/main">
            <a:off x="5852160" y="2496312"/>
            <a:ext cx="32918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6A6A6A"/>
                </a:solidFill>
              </a:rPr>
              <a:t>MySQL table tracking stock levels</a:t>
            </a:r>
          </a:p>
        </p:txBody>
      </p:sp>
      <p:pic>
        <p:nvPicPr>
          <p:cNvPr id="11" name="Image 2"/>
          <p:cNvPicPr>
            <a:picLocks xmlns:a="http://schemas.openxmlformats.org/drawingml/2006/main" noChangeAspect="1"/>
          </p:cNvPicPr>
          <p:nvPr/>
        </p:nvPicPr>
        <p:blipFill>
          <a:blip xmlns:r="http://schemas.openxmlformats.org/officeDocument/2006/relationships" xmlns:a="http://schemas.openxmlformats.org/drawingml/2006/main" r:embed="Rb56f2cad83c047bb"/>
          <a:stretch xmlns:a="http://schemas.openxmlformats.org/drawingml/2006/main">
            <a:fillRect l="0" t="0" r="0" b="0"/>
          </a:stretch>
        </p:blipFill>
        <p:spPr>
          <a:xfrm xmlns:a="http://schemas.openxmlformats.org/drawingml/2006/main">
            <a:off x="5577840" y="2834640"/>
            <a:ext cx="228600" cy="2286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615F60FE-CC02-40A8-91CE-886E85D3F9EA}"/>
              </a:ext>
            </a:extLst>
          </p:cNvPr>
          <p:cNvSpPr>
            <a:spLocks xmlns:a="http://schemas.openxmlformats.org/drawingml/2006/main" noGrp="1"/>
          </p:cNvSpPr>
          <p:nvPr/>
        </p:nvSpPr>
        <p:spPr>
          <a:xfrm xmlns:a="http://schemas.openxmlformats.org/drawingml/2006/main">
            <a:off x="5852160" y="2852928"/>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3C54"/>
                </a:solidFill>
              </a:rPr>
              <a:t>Clickstream</a:t>
            </a:r>
          </a:p>
        </p:txBody>
      </p:sp>
      <p:sp>
        <p:nvSpPr>
          <p:cNvPr id="13" name="Text 8">
            <a:extLst xmlns:a="http://schemas.openxmlformats.org/drawingml/2006/main">
              <a:ext uri="{FF2B5EF4-FFF2-40B4-BE49-F238E27FC236}">
                <a16:creationId xmlns:a16="http://schemas.microsoft.com/office/drawing/2014/main" id="{2F8951CC-EB58-462F-96FE-65F56D8AAD01}"/>
              </a:ext>
            </a:extLst>
          </p:cNvPr>
          <p:cNvSpPr>
            <a:spLocks xmlns:a="http://schemas.openxmlformats.org/drawingml/2006/main" noGrp="1"/>
          </p:cNvSpPr>
          <p:nvPr/>
        </p:nvSpPr>
        <p:spPr>
          <a:xfrm xmlns:a="http://schemas.openxmlformats.org/drawingml/2006/main">
            <a:off x="5852160" y="2999232"/>
            <a:ext cx="32918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6A6A6A"/>
                </a:solidFill>
              </a:rPr>
              <a:t>Kafka topic capturing web events</a:t>
            </a:r>
          </a:p>
        </p:txBody>
      </p:sp>
      <p:pic>
        <p:nvPicPr>
          <p:cNvPr id="14" name="Image 3"/>
          <p:cNvPicPr>
            <a:picLocks xmlns:a="http://schemas.openxmlformats.org/drawingml/2006/main" noChangeAspect="1"/>
          </p:cNvPicPr>
          <p:nvPr/>
        </p:nvPicPr>
        <p:blipFill>
          <a:blip xmlns:r="http://schemas.openxmlformats.org/officeDocument/2006/relationships" xmlns:a="http://schemas.openxmlformats.org/drawingml/2006/main" r:embed="Rd0a8fc2bf37e459b"/>
          <a:stretch xmlns:a="http://schemas.openxmlformats.org/drawingml/2006/main">
            <a:fillRect l="0" t="0" r="0" b="0"/>
          </a:stretch>
        </p:blipFill>
        <p:spPr>
          <a:xfrm xmlns:a="http://schemas.openxmlformats.org/drawingml/2006/main">
            <a:off x="5577840" y="3337560"/>
            <a:ext cx="228600" cy="22860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1361E81B-E9D0-48A6-A68E-F5E0DA5A1066}"/>
              </a:ext>
            </a:extLst>
          </p:cNvPr>
          <p:cNvSpPr>
            <a:spLocks xmlns:a="http://schemas.openxmlformats.org/drawingml/2006/main" noGrp="1"/>
          </p:cNvSpPr>
          <p:nvPr/>
        </p:nvSpPr>
        <p:spPr>
          <a:xfrm xmlns:a="http://schemas.openxmlformats.org/drawingml/2006/main">
            <a:off x="5852160" y="3355848"/>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3C54"/>
                </a:solidFill>
              </a:rPr>
              <a:t>Products CSV</a:t>
            </a:r>
          </a:p>
        </p:txBody>
      </p:sp>
      <p:sp>
        <p:nvSpPr>
          <p:cNvPr id="16" name="Text 10">
            <a:extLst xmlns:a="http://schemas.openxmlformats.org/drawingml/2006/main">
              <a:ext uri="{FF2B5EF4-FFF2-40B4-BE49-F238E27FC236}">
                <a16:creationId xmlns:a16="http://schemas.microsoft.com/office/drawing/2014/main" id="{7E5B85EA-F193-4C93-9292-E517F020C1D4}"/>
              </a:ext>
            </a:extLst>
          </p:cNvPr>
          <p:cNvSpPr>
            <a:spLocks xmlns:a="http://schemas.openxmlformats.org/drawingml/2006/main" noGrp="1"/>
          </p:cNvSpPr>
          <p:nvPr/>
        </p:nvSpPr>
        <p:spPr>
          <a:xfrm xmlns:a="http://schemas.openxmlformats.org/drawingml/2006/main">
            <a:off x="5852160" y="3502152"/>
            <a:ext cx="32918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6A6A6A"/>
                </a:solidFill>
              </a:rPr>
              <a:t>Batch file with product attributes</a:t>
            </a:r>
          </a:p>
        </p:txBody>
      </p:sp>
      <p:sp>
        <p:nvSpPr>
          <p:cNvPr id="17" name="Text 11">
            <a:extLst xmlns:a="http://schemas.openxmlformats.org/drawingml/2006/main">
              <a:ext uri="{FF2B5EF4-FFF2-40B4-BE49-F238E27FC236}">
                <a16:creationId xmlns:a16="http://schemas.microsoft.com/office/drawing/2014/main" id="{C3D192BC-37FD-4117-B3A1-A05022BAC3C3}"/>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17f7382300114f5e"/>
              </a:rPr>
              <a:t>[1]</a:t>
            </a:r>
            <a:r>
              <a:rPr sz="600">
                <a:solidFill>
                  <a:srgbClr val="000000"/>
                </a:solidFill>
              </a:rPr>
              <a:t>  </a:t>
            </a:r>
            <a:r>
              <a:rPr sz="600" u="sng">
                <a:solidFill>
                  <a:srgbClr val="0066CC"/>
                </a:solidFill>
                <a:hlinkClick xmlns:r="http://schemas.openxmlformats.org/officeDocument/2006/relationships" r:id="Rbc0d31cfd19f4670"/>
              </a:rPr>
              <a:t>[2]</a:t>
            </a:r>
          </a:p>
        </p:txBody>
      </p:sp>
    </p:spTree>
    <p:extLst>
      <p:ext uri="{BB962C8B-B14F-4D97-AF65-F5344CB8AC3E}">
        <p14:creationId xmlns:p14="http://schemas.microsoft.com/office/powerpoint/2010/main" val="1270218760"/>
      </p:ext>
    </p:extLst>
  </p:cSld>
</p:sld>
</file>

<file path=ppt/slides/slide6.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3D68126-7294-41EB-A64A-BE4041AF0DF4}"/>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EB227B56-1EC1-445A-B7BB-44C7DB9D79EC}"/>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End‑to‑End Architecture</a:t>
            </a:r>
          </a:p>
        </p:txBody>
      </p:sp>
      <p:sp>
        <p:nvSpPr>
          <p:cNvPr id="4" name="Shape 2">
            <a:extLst xmlns:a="http://schemas.openxmlformats.org/drawingml/2006/main">
              <a:ext uri="{FF2B5EF4-FFF2-40B4-BE49-F238E27FC236}">
                <a16:creationId xmlns:a16="http://schemas.microsoft.com/office/drawing/2014/main" id="{F0231488-0B68-4F62-ABB2-D5407B5D0D5E}"/>
              </a:ext>
            </a:extLst>
          </p:cNvPr>
          <p:cNvSpPr>
            <a:spLocks xmlns:a="http://schemas.openxmlformats.org/drawingml/2006/main" noGrp="1"/>
          </p:cNvSpPr>
          <p:nvPr/>
        </p:nvSpPr>
        <p:spPr>
          <a:xfrm xmlns:a="http://schemas.openxmlformats.org/drawingml/2006/main">
            <a:off x="457200" y="1828800"/>
            <a:ext cx="1280160" cy="548640"/>
          </a:xfrm>
          <a:prstGeom xmlns:a="http://schemas.openxmlformats.org/drawingml/2006/main" prst="roundRect">
            <a:avLst>
              <a:gd name="adj" fmla="val 16667"/>
            </a:avLst>
          </a:prstGeom>
          <a:solidFill xmlns:a="http://schemas.openxmlformats.org/drawingml/2006/main">
            <a:srgbClr val="00A86B"/>
          </a:solidFill>
          <a:ln xmlns:a="http://schemas.openxmlformats.org/drawingml/2006/main" w="12700">
            <a:solidFill>
              <a:srgbClr val="00A86B"/>
            </a:solidFill>
            <a:prstDash val="solid"/>
          </a:ln>
        </p:spPr>
      </p:sp>
      <p:sp>
        <p:nvSpPr>
          <p:cNvPr id="5" name="Text 3">
            <a:extLst xmlns:a="http://schemas.openxmlformats.org/drawingml/2006/main">
              <a:ext uri="{FF2B5EF4-FFF2-40B4-BE49-F238E27FC236}">
                <a16:creationId xmlns:a16="http://schemas.microsoft.com/office/drawing/2014/main" id="{81796F30-C922-4FC6-8C5E-035F071C3C38}"/>
              </a:ext>
            </a:extLst>
          </p:cNvPr>
          <p:cNvSpPr>
            <a:spLocks xmlns:a="http://schemas.openxmlformats.org/drawingml/2006/main" noGrp="1"/>
          </p:cNvSpPr>
          <p:nvPr/>
        </p:nvSpPr>
        <p:spPr>
          <a:xfrm xmlns:a="http://schemas.openxmlformats.org/drawingml/2006/main">
            <a:off x="502920" y="1874520"/>
            <a:ext cx="1188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
                <a:solidFill>
                  <a:srgbClr val="FFFFFF"/>
                </a:solidFill>
              </a:rPr>
              <a:t>Sources</a:t>
            </a:r>
          </a:p>
        </p:txBody>
      </p:sp>
      <p:sp>
        <p:nvSpPr>
          <p:cNvPr id="6" name="Shape 4">
            <a:extLst xmlns:a="http://schemas.openxmlformats.org/drawingml/2006/main">
              <a:ext uri="{FF2B5EF4-FFF2-40B4-BE49-F238E27FC236}">
                <a16:creationId xmlns:a16="http://schemas.microsoft.com/office/drawing/2014/main" id="{7CFA9B16-4976-462D-99BD-055B1F7B1B38}"/>
              </a:ext>
            </a:extLst>
          </p:cNvPr>
          <p:cNvSpPr>
            <a:spLocks xmlns:a="http://schemas.openxmlformats.org/drawingml/2006/main" noGrp="1"/>
          </p:cNvSpPr>
          <p:nvPr/>
        </p:nvSpPr>
        <p:spPr>
          <a:xfrm xmlns:a="http://schemas.openxmlformats.org/drawingml/2006/main">
            <a:off x="1737360" y="196596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7" name="Shape 5">
            <a:extLst xmlns:a="http://schemas.openxmlformats.org/drawingml/2006/main">
              <a:ext uri="{FF2B5EF4-FFF2-40B4-BE49-F238E27FC236}">
                <a16:creationId xmlns:a16="http://schemas.microsoft.com/office/drawing/2014/main" id="{8C2E463F-F891-4D20-936F-F5C65BBE03B5}"/>
              </a:ext>
            </a:extLst>
          </p:cNvPr>
          <p:cNvSpPr>
            <a:spLocks xmlns:a="http://schemas.openxmlformats.org/drawingml/2006/main" noGrp="1"/>
          </p:cNvSpPr>
          <p:nvPr/>
        </p:nvSpPr>
        <p:spPr>
          <a:xfrm xmlns:a="http://schemas.openxmlformats.org/drawingml/2006/main">
            <a:off x="1920240" y="1828800"/>
            <a:ext cx="1280160" cy="548640"/>
          </a:xfrm>
          <a:prstGeom xmlns:a="http://schemas.openxmlformats.org/drawingml/2006/main" prst="roundRect">
            <a:avLst>
              <a:gd name="adj" fmla="val 16667"/>
            </a:avLst>
          </a:prstGeom>
          <a:solidFill xmlns:a="http://schemas.openxmlformats.org/drawingml/2006/main">
            <a:srgbClr val="0077CC"/>
          </a:solidFill>
          <a:ln xmlns:a="http://schemas.openxmlformats.org/drawingml/2006/main" w="12700">
            <a:solidFill>
              <a:srgbClr val="0077CC"/>
            </a:solidFill>
            <a:prstDash val="solid"/>
          </a:ln>
        </p:spPr>
      </p:sp>
      <p:sp>
        <p:nvSpPr>
          <p:cNvPr id="8" name="Text 6">
            <a:extLst xmlns:a="http://schemas.openxmlformats.org/drawingml/2006/main">
              <a:ext uri="{FF2B5EF4-FFF2-40B4-BE49-F238E27FC236}">
                <a16:creationId xmlns:a16="http://schemas.microsoft.com/office/drawing/2014/main" id="{A1FF324F-ED5F-457A-BC83-814FFB1F4775}"/>
              </a:ext>
            </a:extLst>
          </p:cNvPr>
          <p:cNvSpPr>
            <a:spLocks xmlns:a="http://schemas.openxmlformats.org/drawingml/2006/main" noGrp="1"/>
          </p:cNvSpPr>
          <p:nvPr/>
        </p:nvSpPr>
        <p:spPr>
          <a:xfrm xmlns:a="http://schemas.openxmlformats.org/drawingml/2006/main">
            <a:off x="1965960" y="1874520"/>
            <a:ext cx="1188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
                <a:solidFill>
                  <a:srgbClr val="FFFFFF"/>
                </a:solidFill>
              </a:rPr>
              <a:t>CDC (Debezium)</a:t>
            </a:r>
          </a:p>
        </p:txBody>
      </p:sp>
      <p:sp>
        <p:nvSpPr>
          <p:cNvPr id="9" name="Shape 7">
            <a:extLst xmlns:a="http://schemas.openxmlformats.org/drawingml/2006/main">
              <a:ext uri="{FF2B5EF4-FFF2-40B4-BE49-F238E27FC236}">
                <a16:creationId xmlns:a16="http://schemas.microsoft.com/office/drawing/2014/main" id="{E66084DE-A524-466D-9BF8-191FAE56EDFE}"/>
              </a:ext>
            </a:extLst>
          </p:cNvPr>
          <p:cNvSpPr>
            <a:spLocks xmlns:a="http://schemas.openxmlformats.org/drawingml/2006/main" noGrp="1"/>
          </p:cNvSpPr>
          <p:nvPr/>
        </p:nvSpPr>
        <p:spPr>
          <a:xfrm xmlns:a="http://schemas.openxmlformats.org/drawingml/2006/main">
            <a:off x="3200400" y="196596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0" name="Shape 8">
            <a:extLst xmlns:a="http://schemas.openxmlformats.org/drawingml/2006/main">
              <a:ext uri="{FF2B5EF4-FFF2-40B4-BE49-F238E27FC236}">
                <a16:creationId xmlns:a16="http://schemas.microsoft.com/office/drawing/2014/main" id="{5C3FD198-5C87-467A-8F97-1233D6F110EF}"/>
              </a:ext>
            </a:extLst>
          </p:cNvPr>
          <p:cNvSpPr>
            <a:spLocks xmlns:a="http://schemas.openxmlformats.org/drawingml/2006/main" noGrp="1"/>
          </p:cNvSpPr>
          <p:nvPr/>
        </p:nvSpPr>
        <p:spPr>
          <a:xfrm xmlns:a="http://schemas.openxmlformats.org/drawingml/2006/main">
            <a:off x="3383280" y="1828800"/>
            <a:ext cx="1280160" cy="548640"/>
          </a:xfrm>
          <a:prstGeom xmlns:a="http://schemas.openxmlformats.org/drawingml/2006/main" prst="roundRect">
            <a:avLst>
              <a:gd name="adj" fmla="val 16667"/>
            </a:avLst>
          </a:prstGeom>
          <a:solidFill xmlns:a="http://schemas.openxmlformats.org/drawingml/2006/main">
            <a:srgbClr val="00A86B"/>
          </a:solidFill>
          <a:ln xmlns:a="http://schemas.openxmlformats.org/drawingml/2006/main" w="12700">
            <a:solidFill>
              <a:srgbClr val="00A86B"/>
            </a:solidFill>
            <a:prstDash val="solid"/>
          </a:ln>
        </p:spPr>
      </p:sp>
      <p:sp>
        <p:nvSpPr>
          <p:cNvPr id="11" name="Text 9">
            <a:extLst xmlns:a="http://schemas.openxmlformats.org/drawingml/2006/main">
              <a:ext uri="{FF2B5EF4-FFF2-40B4-BE49-F238E27FC236}">
                <a16:creationId xmlns:a16="http://schemas.microsoft.com/office/drawing/2014/main" id="{7CA424FF-90F7-4D1E-85EC-E5D0851E0BD7}"/>
              </a:ext>
            </a:extLst>
          </p:cNvPr>
          <p:cNvSpPr>
            <a:spLocks xmlns:a="http://schemas.openxmlformats.org/drawingml/2006/main" noGrp="1"/>
          </p:cNvSpPr>
          <p:nvPr/>
        </p:nvSpPr>
        <p:spPr>
          <a:xfrm xmlns:a="http://schemas.openxmlformats.org/drawingml/2006/main">
            <a:off x="3429000" y="1874520"/>
            <a:ext cx="1188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
                <a:solidFill>
                  <a:srgbClr val="FFFFFF"/>
                </a:solidFill>
              </a:rPr>
              <a:t>Kafka Topics</a:t>
            </a:r>
          </a:p>
        </p:txBody>
      </p:sp>
      <p:sp>
        <p:nvSpPr>
          <p:cNvPr id="12" name="Shape 10">
            <a:extLst xmlns:a="http://schemas.openxmlformats.org/drawingml/2006/main">
              <a:ext uri="{FF2B5EF4-FFF2-40B4-BE49-F238E27FC236}">
                <a16:creationId xmlns:a16="http://schemas.microsoft.com/office/drawing/2014/main" id="{691282DF-899B-4405-9D4E-C637C98A65CE}"/>
              </a:ext>
            </a:extLst>
          </p:cNvPr>
          <p:cNvSpPr>
            <a:spLocks xmlns:a="http://schemas.openxmlformats.org/drawingml/2006/main" noGrp="1"/>
          </p:cNvSpPr>
          <p:nvPr/>
        </p:nvSpPr>
        <p:spPr>
          <a:xfrm xmlns:a="http://schemas.openxmlformats.org/drawingml/2006/main">
            <a:off x="4663440" y="196596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3" name="Shape 11">
            <a:extLst xmlns:a="http://schemas.openxmlformats.org/drawingml/2006/main">
              <a:ext uri="{FF2B5EF4-FFF2-40B4-BE49-F238E27FC236}">
                <a16:creationId xmlns:a16="http://schemas.microsoft.com/office/drawing/2014/main" id="{AD822E8B-B1BD-48C4-8DB6-D31EC6095C2F}"/>
              </a:ext>
            </a:extLst>
          </p:cNvPr>
          <p:cNvSpPr>
            <a:spLocks xmlns:a="http://schemas.openxmlformats.org/drawingml/2006/main" noGrp="1"/>
          </p:cNvSpPr>
          <p:nvPr/>
        </p:nvSpPr>
        <p:spPr>
          <a:xfrm xmlns:a="http://schemas.openxmlformats.org/drawingml/2006/main">
            <a:off x="4846320" y="1828800"/>
            <a:ext cx="1280160" cy="548640"/>
          </a:xfrm>
          <a:prstGeom xmlns:a="http://schemas.openxmlformats.org/drawingml/2006/main" prst="roundRect">
            <a:avLst>
              <a:gd name="adj" fmla="val 16667"/>
            </a:avLst>
          </a:prstGeom>
          <a:solidFill xmlns:a="http://schemas.openxmlformats.org/drawingml/2006/main">
            <a:srgbClr val="E68200"/>
          </a:solidFill>
          <a:ln xmlns:a="http://schemas.openxmlformats.org/drawingml/2006/main" w="12700">
            <a:solidFill>
              <a:srgbClr val="E68200"/>
            </a:solidFill>
            <a:prstDash val="solid"/>
          </a:ln>
        </p:spPr>
      </p:sp>
      <p:sp>
        <p:nvSpPr>
          <p:cNvPr id="14" name="Text 12">
            <a:extLst xmlns:a="http://schemas.openxmlformats.org/drawingml/2006/main">
              <a:ext uri="{FF2B5EF4-FFF2-40B4-BE49-F238E27FC236}">
                <a16:creationId xmlns:a16="http://schemas.microsoft.com/office/drawing/2014/main" id="{2EFFF648-E352-4E4D-819B-1E04F1EAACE9}"/>
              </a:ext>
            </a:extLst>
          </p:cNvPr>
          <p:cNvSpPr>
            <a:spLocks xmlns:a="http://schemas.openxmlformats.org/drawingml/2006/main" noGrp="1"/>
          </p:cNvSpPr>
          <p:nvPr/>
        </p:nvSpPr>
        <p:spPr>
          <a:xfrm xmlns:a="http://schemas.openxmlformats.org/drawingml/2006/main">
            <a:off x="4892040" y="1874520"/>
            <a:ext cx="1188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
                <a:solidFill>
                  <a:srgbClr val="FFFFFF"/>
                </a:solidFill>
              </a:rPr>
              <a:t>Schema &amp; Validation</a:t>
            </a:r>
          </a:p>
        </p:txBody>
      </p:sp>
      <p:sp>
        <p:nvSpPr>
          <p:cNvPr id="15" name="Shape 13">
            <a:extLst xmlns:a="http://schemas.openxmlformats.org/drawingml/2006/main">
              <a:ext uri="{FF2B5EF4-FFF2-40B4-BE49-F238E27FC236}">
                <a16:creationId xmlns:a16="http://schemas.microsoft.com/office/drawing/2014/main" id="{EE84D6A2-45BE-4C4E-9B11-3E24892264FD}"/>
              </a:ext>
            </a:extLst>
          </p:cNvPr>
          <p:cNvSpPr>
            <a:spLocks xmlns:a="http://schemas.openxmlformats.org/drawingml/2006/main" noGrp="1"/>
          </p:cNvSpPr>
          <p:nvPr/>
        </p:nvSpPr>
        <p:spPr>
          <a:xfrm xmlns:a="http://schemas.openxmlformats.org/drawingml/2006/main">
            <a:off x="6126480" y="196596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6" name="Shape 14">
            <a:extLst xmlns:a="http://schemas.openxmlformats.org/drawingml/2006/main">
              <a:ext uri="{FF2B5EF4-FFF2-40B4-BE49-F238E27FC236}">
                <a16:creationId xmlns:a16="http://schemas.microsoft.com/office/drawing/2014/main" id="{BB7948FB-04B1-4BDA-A70B-51AAD7ED5F66}"/>
              </a:ext>
            </a:extLst>
          </p:cNvPr>
          <p:cNvSpPr>
            <a:spLocks xmlns:a="http://schemas.openxmlformats.org/drawingml/2006/main" noGrp="1"/>
          </p:cNvSpPr>
          <p:nvPr/>
        </p:nvSpPr>
        <p:spPr>
          <a:xfrm xmlns:a="http://schemas.openxmlformats.org/drawingml/2006/main">
            <a:off x="6309360" y="1828800"/>
            <a:ext cx="1280160" cy="548640"/>
          </a:xfrm>
          <a:prstGeom xmlns:a="http://schemas.openxmlformats.org/drawingml/2006/main" prst="roundRect">
            <a:avLst>
              <a:gd name="adj" fmla="val 16667"/>
            </a:avLst>
          </a:prstGeom>
          <a:solidFill xmlns:a="http://schemas.openxmlformats.org/drawingml/2006/main">
            <a:srgbClr val="00A86B"/>
          </a:solidFill>
          <a:ln xmlns:a="http://schemas.openxmlformats.org/drawingml/2006/main" w="12700">
            <a:solidFill>
              <a:srgbClr val="00A86B"/>
            </a:solidFill>
            <a:prstDash val="solid"/>
          </a:ln>
        </p:spPr>
      </p:sp>
      <p:sp>
        <p:nvSpPr>
          <p:cNvPr id="17" name="Text 15">
            <a:extLst xmlns:a="http://schemas.openxmlformats.org/drawingml/2006/main">
              <a:ext uri="{FF2B5EF4-FFF2-40B4-BE49-F238E27FC236}">
                <a16:creationId xmlns:a16="http://schemas.microsoft.com/office/drawing/2014/main" id="{C9BE0A32-0C8E-432C-BFAD-424673F9DD04}"/>
              </a:ext>
            </a:extLst>
          </p:cNvPr>
          <p:cNvSpPr>
            <a:spLocks xmlns:a="http://schemas.openxmlformats.org/drawingml/2006/main" noGrp="1"/>
          </p:cNvSpPr>
          <p:nvPr/>
        </p:nvSpPr>
        <p:spPr>
          <a:xfrm xmlns:a="http://schemas.openxmlformats.org/drawingml/2006/main">
            <a:off x="6355080" y="1874520"/>
            <a:ext cx="1188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
                <a:solidFill>
                  <a:srgbClr val="FFFFFF"/>
                </a:solidFill>
              </a:rPr>
              <a:t>Transformation (Hop)</a:t>
            </a:r>
          </a:p>
        </p:txBody>
      </p:sp>
      <p:sp>
        <p:nvSpPr>
          <p:cNvPr id="18" name="Shape 16">
            <a:extLst xmlns:a="http://schemas.openxmlformats.org/drawingml/2006/main">
              <a:ext uri="{FF2B5EF4-FFF2-40B4-BE49-F238E27FC236}">
                <a16:creationId xmlns:a16="http://schemas.microsoft.com/office/drawing/2014/main" id="{27973613-8BD8-4AF5-AF55-88218D4F7CBA}"/>
              </a:ext>
            </a:extLst>
          </p:cNvPr>
          <p:cNvSpPr>
            <a:spLocks xmlns:a="http://schemas.openxmlformats.org/drawingml/2006/main" noGrp="1"/>
          </p:cNvSpPr>
          <p:nvPr/>
        </p:nvSpPr>
        <p:spPr>
          <a:xfrm xmlns:a="http://schemas.openxmlformats.org/drawingml/2006/main">
            <a:off x="7589520" y="196596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9" name="Shape 17">
            <a:extLst xmlns:a="http://schemas.openxmlformats.org/drawingml/2006/main">
              <a:ext uri="{FF2B5EF4-FFF2-40B4-BE49-F238E27FC236}">
                <a16:creationId xmlns:a16="http://schemas.microsoft.com/office/drawing/2014/main" id="{C123FB7D-C9E9-4054-884D-F4AB632A02C3}"/>
              </a:ext>
            </a:extLst>
          </p:cNvPr>
          <p:cNvSpPr>
            <a:spLocks xmlns:a="http://schemas.openxmlformats.org/drawingml/2006/main" noGrp="1"/>
          </p:cNvSpPr>
          <p:nvPr/>
        </p:nvSpPr>
        <p:spPr>
          <a:xfrm xmlns:a="http://schemas.openxmlformats.org/drawingml/2006/main">
            <a:off x="7772400" y="1828800"/>
            <a:ext cx="1280160" cy="548640"/>
          </a:xfrm>
          <a:prstGeom xmlns:a="http://schemas.openxmlformats.org/drawingml/2006/main" prst="roundRect">
            <a:avLst>
              <a:gd name="adj" fmla="val 16667"/>
            </a:avLst>
          </a:prstGeom>
          <a:solidFill xmlns:a="http://schemas.openxmlformats.org/drawingml/2006/main">
            <a:srgbClr val="0077CC"/>
          </a:solidFill>
          <a:ln xmlns:a="http://schemas.openxmlformats.org/drawingml/2006/main" w="12700">
            <a:solidFill>
              <a:srgbClr val="0077CC"/>
            </a:solidFill>
            <a:prstDash val="solid"/>
          </a:ln>
        </p:spPr>
      </p:sp>
      <p:sp>
        <p:nvSpPr>
          <p:cNvPr id="20" name="Text 18">
            <a:extLst xmlns:a="http://schemas.openxmlformats.org/drawingml/2006/main">
              <a:ext uri="{FF2B5EF4-FFF2-40B4-BE49-F238E27FC236}">
                <a16:creationId xmlns:a16="http://schemas.microsoft.com/office/drawing/2014/main" id="{C309C03E-5F77-41E1-B138-40386DF5AE02}"/>
              </a:ext>
            </a:extLst>
          </p:cNvPr>
          <p:cNvSpPr>
            <a:spLocks xmlns:a="http://schemas.openxmlformats.org/drawingml/2006/main" noGrp="1"/>
          </p:cNvSpPr>
          <p:nvPr/>
        </p:nvSpPr>
        <p:spPr>
          <a:xfrm xmlns:a="http://schemas.openxmlformats.org/drawingml/2006/main">
            <a:off x="7818120" y="1874520"/>
            <a:ext cx="1188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
                <a:solidFill>
                  <a:srgbClr val="FFFFFF"/>
                </a:solidFill>
              </a:rPr>
              <a:t>Storage (Bronze/Silver/Gold)</a:t>
            </a:r>
          </a:p>
        </p:txBody>
      </p:sp>
      <p:sp>
        <p:nvSpPr>
          <p:cNvPr id="21" name="Shape 19">
            <a:extLst xmlns:a="http://schemas.openxmlformats.org/drawingml/2006/main">
              <a:ext uri="{FF2B5EF4-FFF2-40B4-BE49-F238E27FC236}">
                <a16:creationId xmlns:a16="http://schemas.microsoft.com/office/drawing/2014/main" id="{189E81B9-81F0-49EF-B5C6-D694A411942B}"/>
              </a:ext>
            </a:extLst>
          </p:cNvPr>
          <p:cNvSpPr>
            <a:spLocks xmlns:a="http://schemas.openxmlformats.org/drawingml/2006/main" noGrp="1"/>
          </p:cNvSpPr>
          <p:nvPr/>
        </p:nvSpPr>
        <p:spPr>
          <a:xfrm xmlns:a="http://schemas.openxmlformats.org/drawingml/2006/main">
            <a:off x="9052560" y="196596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22" name="Shape 20">
            <a:extLst xmlns:a="http://schemas.openxmlformats.org/drawingml/2006/main">
              <a:ext uri="{FF2B5EF4-FFF2-40B4-BE49-F238E27FC236}">
                <a16:creationId xmlns:a16="http://schemas.microsoft.com/office/drawing/2014/main" id="{DB013B7D-797F-4787-9F8F-C3068BBB906F}"/>
              </a:ext>
            </a:extLst>
          </p:cNvPr>
          <p:cNvSpPr>
            <a:spLocks xmlns:a="http://schemas.openxmlformats.org/drawingml/2006/main" noGrp="1"/>
          </p:cNvSpPr>
          <p:nvPr/>
        </p:nvSpPr>
        <p:spPr>
          <a:xfrm xmlns:a="http://schemas.openxmlformats.org/drawingml/2006/main">
            <a:off x="9235440" y="1828800"/>
            <a:ext cx="1280160" cy="548640"/>
          </a:xfrm>
          <a:prstGeom xmlns:a="http://schemas.openxmlformats.org/drawingml/2006/main" prst="roundRect">
            <a:avLst>
              <a:gd name="adj" fmla="val 16667"/>
            </a:avLst>
          </a:prstGeom>
          <a:solidFill xmlns:a="http://schemas.openxmlformats.org/drawingml/2006/main">
            <a:srgbClr val="E68200"/>
          </a:solidFill>
          <a:ln xmlns:a="http://schemas.openxmlformats.org/drawingml/2006/main" w="12700">
            <a:solidFill>
              <a:srgbClr val="E68200"/>
            </a:solidFill>
            <a:prstDash val="solid"/>
          </a:ln>
        </p:spPr>
      </p:sp>
      <p:sp>
        <p:nvSpPr>
          <p:cNvPr id="23" name="Text 21">
            <a:extLst xmlns:a="http://schemas.openxmlformats.org/drawingml/2006/main">
              <a:ext uri="{FF2B5EF4-FFF2-40B4-BE49-F238E27FC236}">
                <a16:creationId xmlns:a16="http://schemas.microsoft.com/office/drawing/2014/main" id="{09BE9670-383E-405C-80E3-01CE1D471EA5}"/>
              </a:ext>
            </a:extLst>
          </p:cNvPr>
          <p:cNvSpPr>
            <a:spLocks xmlns:a="http://schemas.openxmlformats.org/drawingml/2006/main" noGrp="1"/>
          </p:cNvSpPr>
          <p:nvPr/>
        </p:nvSpPr>
        <p:spPr>
          <a:xfrm xmlns:a="http://schemas.openxmlformats.org/drawingml/2006/main">
            <a:off x="9281160" y="1874520"/>
            <a:ext cx="1188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
                <a:solidFill>
                  <a:srgbClr val="FFFFFF"/>
                </a:solidFill>
              </a:rPr>
              <a:t>Orchestration (Airflow)</a:t>
            </a:r>
          </a:p>
        </p:txBody>
      </p:sp>
      <p:sp>
        <p:nvSpPr>
          <p:cNvPr id="24" name="Shape 22">
            <a:extLst xmlns:a="http://schemas.openxmlformats.org/drawingml/2006/main">
              <a:ext uri="{FF2B5EF4-FFF2-40B4-BE49-F238E27FC236}">
                <a16:creationId xmlns:a16="http://schemas.microsoft.com/office/drawing/2014/main" id="{10734E36-FEBB-43BC-BB67-21CC242FDA57}"/>
              </a:ext>
            </a:extLst>
          </p:cNvPr>
          <p:cNvSpPr>
            <a:spLocks xmlns:a="http://schemas.openxmlformats.org/drawingml/2006/main" noGrp="1"/>
          </p:cNvSpPr>
          <p:nvPr/>
        </p:nvSpPr>
        <p:spPr>
          <a:xfrm xmlns:a="http://schemas.openxmlformats.org/drawingml/2006/main">
            <a:off x="10515600" y="196596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25" name="Shape 23">
            <a:extLst xmlns:a="http://schemas.openxmlformats.org/drawingml/2006/main">
              <a:ext uri="{FF2B5EF4-FFF2-40B4-BE49-F238E27FC236}">
                <a16:creationId xmlns:a16="http://schemas.microsoft.com/office/drawing/2014/main" id="{7D127DFA-B962-45A7-A787-C956DB6BA49E}"/>
              </a:ext>
            </a:extLst>
          </p:cNvPr>
          <p:cNvSpPr>
            <a:spLocks xmlns:a="http://schemas.openxmlformats.org/drawingml/2006/main" noGrp="1"/>
          </p:cNvSpPr>
          <p:nvPr/>
        </p:nvSpPr>
        <p:spPr>
          <a:xfrm xmlns:a="http://schemas.openxmlformats.org/drawingml/2006/main">
            <a:off x="10698480" y="1828800"/>
            <a:ext cx="1280160" cy="548640"/>
          </a:xfrm>
          <a:prstGeom xmlns:a="http://schemas.openxmlformats.org/drawingml/2006/main" prst="roundRect">
            <a:avLst>
              <a:gd name="adj" fmla="val 16667"/>
            </a:avLst>
          </a:prstGeom>
          <a:solidFill xmlns:a="http://schemas.openxmlformats.org/drawingml/2006/main">
            <a:srgbClr val="00A86B"/>
          </a:solidFill>
          <a:ln xmlns:a="http://schemas.openxmlformats.org/drawingml/2006/main" w="12700">
            <a:solidFill>
              <a:srgbClr val="00A86B"/>
            </a:solidFill>
            <a:prstDash val="solid"/>
          </a:ln>
        </p:spPr>
      </p:sp>
      <p:sp>
        <p:nvSpPr>
          <p:cNvPr id="26" name="Text 24">
            <a:extLst xmlns:a="http://schemas.openxmlformats.org/drawingml/2006/main">
              <a:ext uri="{FF2B5EF4-FFF2-40B4-BE49-F238E27FC236}">
                <a16:creationId xmlns:a16="http://schemas.microsoft.com/office/drawing/2014/main" id="{283AD730-7B72-4364-AD91-56F75DFED695}"/>
              </a:ext>
            </a:extLst>
          </p:cNvPr>
          <p:cNvSpPr>
            <a:spLocks xmlns:a="http://schemas.openxmlformats.org/drawingml/2006/main" noGrp="1"/>
          </p:cNvSpPr>
          <p:nvPr/>
        </p:nvSpPr>
        <p:spPr>
          <a:xfrm xmlns:a="http://schemas.openxmlformats.org/drawingml/2006/main">
            <a:off x="10744200" y="1874520"/>
            <a:ext cx="1188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
                <a:solidFill>
                  <a:srgbClr val="FFFFFF"/>
                </a:solidFill>
              </a:rPr>
              <a:t>Analytics &amp; Serving</a:t>
            </a:r>
          </a:p>
        </p:txBody>
      </p:sp>
      <p:sp>
        <p:nvSpPr>
          <p:cNvPr id="27" name="Text 25">
            <a:extLst xmlns:a="http://schemas.openxmlformats.org/drawingml/2006/main">
              <a:ext uri="{FF2B5EF4-FFF2-40B4-BE49-F238E27FC236}">
                <a16:creationId xmlns:a16="http://schemas.microsoft.com/office/drawing/2014/main" id="{F4297337-6965-46FB-97C6-0326794F3586}"/>
              </a:ext>
            </a:extLst>
          </p:cNvPr>
          <p:cNvSpPr>
            <a:spLocks xmlns:a="http://schemas.openxmlformats.org/drawingml/2006/main" noGrp="1"/>
          </p:cNvSpPr>
          <p:nvPr/>
        </p:nvSpPr>
        <p:spPr>
          <a:xfrm xmlns:a="http://schemas.openxmlformats.org/drawingml/2006/main">
            <a:off x="457200" y="2743200"/>
            <a:ext cx="86868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A6A6A"/>
                </a:solidFill>
              </a:rPr>
              <a:t>Unified pipeline spans capture, ingest, transform, store, orchestrate, query and serve.</a:t>
            </a:r>
          </a:p>
        </p:txBody>
      </p:sp>
      <p:sp>
        <p:nvSpPr>
          <p:cNvPr id="28" name="Text 26">
            <a:extLst xmlns:a="http://schemas.openxmlformats.org/drawingml/2006/main">
              <a:ext uri="{FF2B5EF4-FFF2-40B4-BE49-F238E27FC236}">
                <a16:creationId xmlns:a16="http://schemas.microsoft.com/office/drawing/2014/main" id="{91C0726D-FA35-4DB3-88FC-E806E871F92A}"/>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a0a05e5defe74f6a"/>
              </a:rPr>
              <a:t>[1]</a:t>
            </a:r>
            <a:r>
              <a:rPr sz="600">
                <a:solidFill>
                  <a:srgbClr val="000000"/>
                </a:solidFill>
              </a:rPr>
              <a:t>  </a:t>
            </a:r>
            <a:r>
              <a:rPr sz="600" u="sng">
                <a:solidFill>
                  <a:srgbClr val="0066CC"/>
                </a:solidFill>
                <a:hlinkClick xmlns:r="http://schemas.openxmlformats.org/officeDocument/2006/relationships" r:id="R5a589a07bd8b4b71"/>
              </a:rPr>
              <a:t>[2]</a:t>
            </a:r>
            <a:r>
              <a:rPr sz="600">
                <a:solidFill>
                  <a:srgbClr val="000000"/>
                </a:solidFill>
              </a:rPr>
              <a:t>  </a:t>
            </a:r>
            <a:r>
              <a:rPr sz="600" u="sng">
                <a:solidFill>
                  <a:srgbClr val="0066CC"/>
                </a:solidFill>
                <a:hlinkClick xmlns:r="http://schemas.openxmlformats.org/officeDocument/2006/relationships" r:id="R09a5ef7ee2d84183"/>
              </a:rPr>
              <a:t>[3]</a:t>
            </a:r>
          </a:p>
        </p:txBody>
      </p:sp>
    </p:spTree>
    <p:extLst>
      <p:ext uri="{BB962C8B-B14F-4D97-AF65-F5344CB8AC3E}">
        <p14:creationId xmlns:p14="http://schemas.microsoft.com/office/powerpoint/2010/main" val="2076423232"/>
      </p:ext>
    </p:extLst>
  </p:cSld>
</p:sld>
</file>

<file path=ppt/slides/slide7.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41A26BC-A86C-4776-917C-B920B8DA2854}"/>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D60ADE8C-573B-4308-9E6A-9BABC50787EE}"/>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Capture &amp; Change Data Capture</a:t>
            </a:r>
          </a:p>
        </p:txBody>
      </p:sp>
      <p:sp>
        <p:nvSpPr>
          <p:cNvPr id="4" name="Text 2">
            <a:extLst xmlns:a="http://schemas.openxmlformats.org/drawingml/2006/main">
              <a:ext uri="{FF2B5EF4-FFF2-40B4-BE49-F238E27FC236}">
                <a16:creationId xmlns:a16="http://schemas.microsoft.com/office/drawing/2014/main" id="{388A77E9-6E00-4E6F-815C-87166F885ECB}"/>
              </a:ext>
            </a:extLst>
          </p:cNvPr>
          <p:cNvSpPr>
            <a:spLocks xmlns:a="http://schemas.openxmlformats.org/drawingml/2006/main" noGrp="1"/>
          </p:cNvSpPr>
          <p:nvPr/>
        </p:nvSpPr>
        <p:spPr>
          <a:xfrm xmlns:a="http://schemas.openxmlformats.org/drawingml/2006/main">
            <a:off x="457200" y="731520"/>
            <a:ext cx="502920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3C54"/>
                </a:solidFill>
              </a:rPr>
              <a:t>Debezium converts database changes into event streams
</a:t>
            </a:r>
            <a:r>
              <a:rPr sz="1000">
                <a:solidFill>
                  <a:srgbClr val="6A6A6A"/>
                </a:solidFill>
              </a:rPr>
              <a:t>• Monitors transaction logs (binlog/WAL) and captures inserts, updates &amp; deletes
• Sends change events to Kafka Connect which writes to topics (one per table)
• Ensures order, durability and fault tolerance; resumes from last offset
• Supports snapshot, streaming &amp; incremental snapshot modes</a:t>
            </a:r>
          </a:p>
        </p:txBody>
      </p:sp>
      <p:sp>
        <p:nvSpPr>
          <p:cNvPr id="5" name="Shape 3">
            <a:extLst xmlns:a="http://schemas.openxmlformats.org/drawingml/2006/main">
              <a:ext uri="{FF2B5EF4-FFF2-40B4-BE49-F238E27FC236}">
                <a16:creationId xmlns:a16="http://schemas.microsoft.com/office/drawing/2014/main" id="{9DABBE0C-FD03-4D3F-9A57-B133766A4FCD}"/>
              </a:ext>
            </a:extLst>
          </p:cNvPr>
          <p:cNvSpPr>
            <a:spLocks xmlns:a="http://schemas.openxmlformats.org/drawingml/2006/main" noGrp="1"/>
          </p:cNvSpPr>
          <p:nvPr/>
        </p:nvSpPr>
        <p:spPr>
          <a:xfrm xmlns:a="http://schemas.openxmlformats.org/drawingml/2006/main">
            <a:off x="5943600" y="914400"/>
            <a:ext cx="1005840" cy="411480"/>
          </a:xfrm>
          <a:prstGeom xmlns:a="http://schemas.openxmlformats.org/drawingml/2006/main" prst="roundRect">
            <a:avLst>
              <a:gd name="adj" fmla="val 22222"/>
            </a:avLst>
          </a:prstGeom>
          <a:solidFill xmlns:a="http://schemas.openxmlformats.org/drawingml/2006/main">
            <a:srgbClr val="00A86B"/>
          </a:solidFill>
          <a:ln xmlns:a="http://schemas.openxmlformats.org/drawingml/2006/main" w="12700">
            <a:solidFill>
              <a:srgbClr val="00A86B"/>
            </a:solidFill>
            <a:prstDash val="solid"/>
          </a:ln>
        </p:spPr>
      </p:sp>
      <p:sp>
        <p:nvSpPr>
          <p:cNvPr id="6" name="Text 4">
            <a:extLst xmlns:a="http://schemas.openxmlformats.org/drawingml/2006/main">
              <a:ext uri="{FF2B5EF4-FFF2-40B4-BE49-F238E27FC236}">
                <a16:creationId xmlns:a16="http://schemas.microsoft.com/office/drawing/2014/main" id="{946CEC1C-5EEB-4465-8DE2-AD75D29E479A}"/>
              </a:ext>
            </a:extLst>
          </p:cNvPr>
          <p:cNvSpPr>
            <a:spLocks xmlns:a="http://schemas.openxmlformats.org/drawingml/2006/main" noGrp="1"/>
          </p:cNvSpPr>
          <p:nvPr/>
        </p:nvSpPr>
        <p:spPr>
          <a:xfrm xmlns:a="http://schemas.openxmlformats.org/drawingml/2006/main">
            <a:off x="5943600" y="914400"/>
            <a:ext cx="100584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Database</a:t>
            </a:r>
          </a:p>
        </p:txBody>
      </p:sp>
      <p:sp>
        <p:nvSpPr>
          <p:cNvPr id="7" name="Shape 5">
            <a:extLst xmlns:a="http://schemas.openxmlformats.org/drawingml/2006/main">
              <a:ext uri="{FF2B5EF4-FFF2-40B4-BE49-F238E27FC236}">
                <a16:creationId xmlns:a16="http://schemas.microsoft.com/office/drawing/2014/main" id="{1C7D7519-7B88-4B4C-8445-37928C178ED1}"/>
              </a:ext>
            </a:extLst>
          </p:cNvPr>
          <p:cNvSpPr>
            <a:spLocks xmlns:a="http://schemas.openxmlformats.org/drawingml/2006/main" noGrp="1"/>
          </p:cNvSpPr>
          <p:nvPr/>
        </p:nvSpPr>
        <p:spPr>
          <a:xfrm xmlns:a="http://schemas.openxmlformats.org/drawingml/2006/main">
            <a:off x="6949440" y="1078992"/>
            <a:ext cx="228600" cy="91440"/>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8" name="Shape 6">
            <a:extLst xmlns:a="http://schemas.openxmlformats.org/drawingml/2006/main">
              <a:ext uri="{FF2B5EF4-FFF2-40B4-BE49-F238E27FC236}">
                <a16:creationId xmlns:a16="http://schemas.microsoft.com/office/drawing/2014/main" id="{A914AE31-1F16-4179-A202-2C22B032765C}"/>
              </a:ext>
            </a:extLst>
          </p:cNvPr>
          <p:cNvSpPr>
            <a:spLocks xmlns:a="http://schemas.openxmlformats.org/drawingml/2006/main" noGrp="1"/>
          </p:cNvSpPr>
          <p:nvPr/>
        </p:nvSpPr>
        <p:spPr>
          <a:xfrm xmlns:a="http://schemas.openxmlformats.org/drawingml/2006/main">
            <a:off x="7223760" y="914400"/>
            <a:ext cx="1005840" cy="411480"/>
          </a:xfrm>
          <a:prstGeom xmlns:a="http://schemas.openxmlformats.org/drawingml/2006/main" prst="roundRect">
            <a:avLst>
              <a:gd name="adj" fmla="val 22222"/>
            </a:avLst>
          </a:prstGeom>
          <a:solidFill xmlns:a="http://schemas.openxmlformats.org/drawingml/2006/main">
            <a:srgbClr val="0077CC"/>
          </a:solidFill>
          <a:ln xmlns:a="http://schemas.openxmlformats.org/drawingml/2006/main" w="12700">
            <a:solidFill>
              <a:srgbClr val="0077CC"/>
            </a:solidFill>
            <a:prstDash val="solid"/>
          </a:ln>
        </p:spPr>
      </p:sp>
      <p:sp>
        <p:nvSpPr>
          <p:cNvPr id="9" name="Text 7">
            <a:extLst xmlns:a="http://schemas.openxmlformats.org/drawingml/2006/main">
              <a:ext uri="{FF2B5EF4-FFF2-40B4-BE49-F238E27FC236}">
                <a16:creationId xmlns:a16="http://schemas.microsoft.com/office/drawing/2014/main" id="{99B83317-EDFF-4ADA-BD40-29C1525B5DAA}"/>
              </a:ext>
            </a:extLst>
          </p:cNvPr>
          <p:cNvSpPr>
            <a:spLocks xmlns:a="http://schemas.openxmlformats.org/drawingml/2006/main" noGrp="1"/>
          </p:cNvSpPr>
          <p:nvPr/>
        </p:nvSpPr>
        <p:spPr>
          <a:xfrm xmlns:a="http://schemas.openxmlformats.org/drawingml/2006/main">
            <a:off x="7223760" y="914400"/>
            <a:ext cx="100584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Debezium</a:t>
            </a:r>
          </a:p>
        </p:txBody>
      </p:sp>
      <p:sp>
        <p:nvSpPr>
          <p:cNvPr id="10" name="Shape 8">
            <a:extLst xmlns:a="http://schemas.openxmlformats.org/drawingml/2006/main">
              <a:ext uri="{FF2B5EF4-FFF2-40B4-BE49-F238E27FC236}">
                <a16:creationId xmlns:a16="http://schemas.microsoft.com/office/drawing/2014/main" id="{B5F3E844-C874-4C43-AD50-D096AECFB08A}"/>
              </a:ext>
            </a:extLst>
          </p:cNvPr>
          <p:cNvSpPr>
            <a:spLocks xmlns:a="http://schemas.openxmlformats.org/drawingml/2006/main" noGrp="1"/>
          </p:cNvSpPr>
          <p:nvPr/>
        </p:nvSpPr>
        <p:spPr>
          <a:xfrm xmlns:a="http://schemas.openxmlformats.org/drawingml/2006/main">
            <a:off x="8229600" y="1078992"/>
            <a:ext cx="228600" cy="91440"/>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11" name="Shape 9">
            <a:extLst xmlns:a="http://schemas.openxmlformats.org/drawingml/2006/main">
              <a:ext uri="{FF2B5EF4-FFF2-40B4-BE49-F238E27FC236}">
                <a16:creationId xmlns:a16="http://schemas.microsoft.com/office/drawing/2014/main" id="{B873E3BB-66AC-41B0-8CA1-240A6C9C7788}"/>
              </a:ext>
            </a:extLst>
          </p:cNvPr>
          <p:cNvSpPr>
            <a:spLocks xmlns:a="http://schemas.openxmlformats.org/drawingml/2006/main" noGrp="1"/>
          </p:cNvSpPr>
          <p:nvPr/>
        </p:nvSpPr>
        <p:spPr>
          <a:xfrm xmlns:a="http://schemas.openxmlformats.org/drawingml/2006/main">
            <a:off x="8458200" y="914400"/>
            <a:ext cx="640080" cy="411480"/>
          </a:xfrm>
          <a:prstGeom xmlns:a="http://schemas.openxmlformats.org/drawingml/2006/main" prst="roundRect">
            <a:avLst>
              <a:gd name="adj" fmla="val 22222"/>
            </a:avLst>
          </a:prstGeom>
          <a:solidFill xmlns:a="http://schemas.openxmlformats.org/drawingml/2006/main">
            <a:srgbClr val="00A86B"/>
          </a:solidFill>
          <a:ln xmlns:a="http://schemas.openxmlformats.org/drawingml/2006/main" w="12700">
            <a:solidFill>
              <a:srgbClr val="00A86B"/>
            </a:solidFill>
            <a:prstDash val="solid"/>
          </a:ln>
        </p:spPr>
      </p:sp>
      <p:sp>
        <p:nvSpPr>
          <p:cNvPr id="12" name="Text 10">
            <a:extLst xmlns:a="http://schemas.openxmlformats.org/drawingml/2006/main">
              <a:ext uri="{FF2B5EF4-FFF2-40B4-BE49-F238E27FC236}">
                <a16:creationId xmlns:a16="http://schemas.microsoft.com/office/drawing/2014/main" id="{062D8EA1-446A-434A-A810-42CA20BAEB67}"/>
              </a:ext>
            </a:extLst>
          </p:cNvPr>
          <p:cNvSpPr>
            <a:spLocks xmlns:a="http://schemas.openxmlformats.org/drawingml/2006/main" noGrp="1"/>
          </p:cNvSpPr>
          <p:nvPr/>
        </p:nvSpPr>
        <p:spPr>
          <a:xfrm xmlns:a="http://schemas.openxmlformats.org/drawingml/2006/main">
            <a:off x="8458200" y="914400"/>
            <a:ext cx="64008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Topic</a:t>
            </a:r>
          </a:p>
        </p:txBody>
      </p:sp>
      <p:sp>
        <p:nvSpPr>
          <p:cNvPr id="13" name="Text 11">
            <a:extLst xmlns:a="http://schemas.openxmlformats.org/drawingml/2006/main">
              <a:ext uri="{FF2B5EF4-FFF2-40B4-BE49-F238E27FC236}">
                <a16:creationId xmlns:a16="http://schemas.microsoft.com/office/drawing/2014/main" id="{91D844B6-869B-4F1D-9093-F841402C5C07}"/>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76f800abad3f48ea"/>
              </a:rPr>
              <a:t>[1]</a:t>
            </a:r>
            <a:r>
              <a:rPr sz="600">
                <a:solidFill>
                  <a:srgbClr val="000000"/>
                </a:solidFill>
              </a:rPr>
              <a:t>  </a:t>
            </a:r>
            <a:r>
              <a:rPr sz="600" u="sng">
                <a:solidFill>
                  <a:srgbClr val="0066CC"/>
                </a:solidFill>
                <a:hlinkClick xmlns:r="http://schemas.openxmlformats.org/officeDocument/2006/relationships" r:id="R67e7ed8d4b4848fc"/>
              </a:rPr>
              <a:t>[2]</a:t>
            </a:r>
            <a:r>
              <a:rPr sz="600">
                <a:solidFill>
                  <a:srgbClr val="000000"/>
                </a:solidFill>
              </a:rPr>
              <a:t>  </a:t>
            </a:r>
            <a:r>
              <a:rPr sz="600" u="sng">
                <a:solidFill>
                  <a:srgbClr val="0066CC"/>
                </a:solidFill>
                <a:hlinkClick xmlns:r="http://schemas.openxmlformats.org/officeDocument/2006/relationships" r:id="R75f9505ddb9343d2"/>
              </a:rPr>
              <a:t>[3]</a:t>
            </a:r>
          </a:p>
        </p:txBody>
      </p:sp>
    </p:spTree>
    <p:extLst>
      <p:ext uri="{BB962C8B-B14F-4D97-AF65-F5344CB8AC3E}">
        <p14:creationId xmlns:p14="http://schemas.microsoft.com/office/powerpoint/2010/main" val="361894731"/>
      </p:ext>
    </p:extLst>
  </p:cSld>
</p:sld>
</file>

<file path=ppt/slides/slide8.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FB82D3-6E1B-420C-8CBB-D68A25F2E94A}"/>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4AFFB7EC-853F-4D31-BC38-313A3B5EEB55}"/>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Ingestion &amp; Schema Management</a:t>
            </a:r>
          </a:p>
        </p:txBody>
      </p:sp>
      <p:sp>
        <p:nvSpPr>
          <p:cNvPr id="4" name="Text 2">
            <a:extLst xmlns:a="http://schemas.openxmlformats.org/drawingml/2006/main">
              <a:ext uri="{FF2B5EF4-FFF2-40B4-BE49-F238E27FC236}">
                <a16:creationId xmlns:a16="http://schemas.microsoft.com/office/drawing/2014/main" id="{96C96A09-8A80-4B5C-8E86-3BEFD17B952B}"/>
              </a:ext>
            </a:extLst>
          </p:cNvPr>
          <p:cNvSpPr>
            <a:spLocks xmlns:a="http://schemas.openxmlformats.org/drawingml/2006/main" noGrp="1"/>
          </p:cNvSpPr>
          <p:nvPr/>
        </p:nvSpPr>
        <p:spPr>
          <a:xfrm xmlns:a="http://schemas.openxmlformats.org/drawingml/2006/main">
            <a:off x="457200" y="731520"/>
            <a:ext cx="502920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3C54"/>
                </a:solidFill>
              </a:rPr>
              <a:t>Event schemas act as contracts
</a:t>
            </a:r>
            <a:r>
              <a:rPr sz="1000">
                <a:solidFill>
                  <a:srgbClr val="6A6A6A"/>
                </a:solidFill>
              </a:rPr>
              <a:t>• Avro, JSON Schema &amp; Protobuf define the structure of each record
• Schema Registry stores versions and enforces compatibility
• Producers validate events; consumers evolve independently
• DLQ patterns handle malformed records and poison messages</a:t>
            </a:r>
          </a:p>
        </p:txBody>
      </p:sp>
      <p:sp>
        <p:nvSpPr>
          <p:cNvPr id="5" name="Shape 3">
            <a:extLst xmlns:a="http://schemas.openxmlformats.org/drawingml/2006/main">
              <a:ext uri="{FF2B5EF4-FFF2-40B4-BE49-F238E27FC236}">
                <a16:creationId xmlns:a16="http://schemas.microsoft.com/office/drawing/2014/main" id="{3A7A54D5-1A1A-4CCA-85C7-B4C41A1D9A0E}"/>
              </a:ext>
            </a:extLst>
          </p:cNvPr>
          <p:cNvSpPr>
            <a:spLocks xmlns:a="http://schemas.openxmlformats.org/drawingml/2006/main" noGrp="1"/>
          </p:cNvSpPr>
          <p:nvPr/>
        </p:nvSpPr>
        <p:spPr>
          <a:xfrm xmlns:a="http://schemas.openxmlformats.org/drawingml/2006/main">
            <a:off x="5760720" y="914400"/>
            <a:ext cx="1097280" cy="411480"/>
          </a:xfrm>
          <a:prstGeom xmlns:a="http://schemas.openxmlformats.org/drawingml/2006/main" prst="roundRect">
            <a:avLst>
              <a:gd name="adj" fmla="val 22222"/>
            </a:avLst>
          </a:prstGeom>
          <a:solidFill xmlns:a="http://schemas.openxmlformats.org/drawingml/2006/main">
            <a:srgbClr val="00A86B"/>
          </a:solidFill>
          <a:ln xmlns:a="http://schemas.openxmlformats.org/drawingml/2006/main" w="12700">
            <a:solidFill>
              <a:srgbClr val="00A86B"/>
            </a:solidFill>
            <a:prstDash val="solid"/>
          </a:ln>
        </p:spPr>
      </p:sp>
      <p:sp>
        <p:nvSpPr>
          <p:cNvPr id="6" name="Text 4">
            <a:extLst xmlns:a="http://schemas.openxmlformats.org/drawingml/2006/main">
              <a:ext uri="{FF2B5EF4-FFF2-40B4-BE49-F238E27FC236}">
                <a16:creationId xmlns:a16="http://schemas.microsoft.com/office/drawing/2014/main" id="{029D4D0C-407D-4002-B0A6-F87819FC0750}"/>
              </a:ext>
            </a:extLst>
          </p:cNvPr>
          <p:cNvSpPr>
            <a:spLocks xmlns:a="http://schemas.openxmlformats.org/drawingml/2006/main" noGrp="1"/>
          </p:cNvSpPr>
          <p:nvPr/>
        </p:nvSpPr>
        <p:spPr>
          <a:xfrm xmlns:a="http://schemas.openxmlformats.org/drawingml/2006/main">
            <a:off x="5760720" y="914400"/>
            <a:ext cx="109728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Producer</a:t>
            </a:r>
          </a:p>
        </p:txBody>
      </p:sp>
      <p:sp>
        <p:nvSpPr>
          <p:cNvPr id="7" name="Shape 5">
            <a:extLst xmlns:a="http://schemas.openxmlformats.org/drawingml/2006/main">
              <a:ext uri="{FF2B5EF4-FFF2-40B4-BE49-F238E27FC236}">
                <a16:creationId xmlns:a16="http://schemas.microsoft.com/office/drawing/2014/main" id="{67F7FC2F-E8BF-46A1-9203-CEEEC117E392}"/>
              </a:ext>
            </a:extLst>
          </p:cNvPr>
          <p:cNvSpPr>
            <a:spLocks xmlns:a="http://schemas.openxmlformats.org/drawingml/2006/main" noGrp="1"/>
          </p:cNvSpPr>
          <p:nvPr/>
        </p:nvSpPr>
        <p:spPr>
          <a:xfrm xmlns:a="http://schemas.openxmlformats.org/drawingml/2006/main">
            <a:off x="6858000" y="1078992"/>
            <a:ext cx="228600" cy="91440"/>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8" name="Shape 6">
            <a:extLst xmlns:a="http://schemas.openxmlformats.org/drawingml/2006/main">
              <a:ext uri="{FF2B5EF4-FFF2-40B4-BE49-F238E27FC236}">
                <a16:creationId xmlns:a16="http://schemas.microsoft.com/office/drawing/2014/main" id="{8DF25314-9A1F-49C7-8D1F-492B9BD63E72}"/>
              </a:ext>
            </a:extLst>
          </p:cNvPr>
          <p:cNvSpPr>
            <a:spLocks xmlns:a="http://schemas.openxmlformats.org/drawingml/2006/main" noGrp="1"/>
          </p:cNvSpPr>
          <p:nvPr/>
        </p:nvSpPr>
        <p:spPr>
          <a:xfrm xmlns:a="http://schemas.openxmlformats.org/drawingml/2006/main">
            <a:off x="7132320" y="914400"/>
            <a:ext cx="1097280" cy="411480"/>
          </a:xfrm>
          <a:prstGeom xmlns:a="http://schemas.openxmlformats.org/drawingml/2006/main" prst="roundRect">
            <a:avLst>
              <a:gd name="adj" fmla="val 22222"/>
            </a:avLst>
          </a:prstGeom>
          <a:solidFill xmlns:a="http://schemas.openxmlformats.org/drawingml/2006/main">
            <a:srgbClr val="E68200"/>
          </a:solidFill>
          <a:ln xmlns:a="http://schemas.openxmlformats.org/drawingml/2006/main" w="12700">
            <a:solidFill>
              <a:srgbClr val="E68200"/>
            </a:solidFill>
            <a:prstDash val="solid"/>
          </a:ln>
        </p:spPr>
      </p:sp>
      <p:sp>
        <p:nvSpPr>
          <p:cNvPr id="9" name="Text 7">
            <a:extLst xmlns:a="http://schemas.openxmlformats.org/drawingml/2006/main">
              <a:ext uri="{FF2B5EF4-FFF2-40B4-BE49-F238E27FC236}">
                <a16:creationId xmlns:a16="http://schemas.microsoft.com/office/drawing/2014/main" id="{8CBBCB44-FB2D-4EE5-838E-7D606B34B99B}"/>
              </a:ext>
            </a:extLst>
          </p:cNvPr>
          <p:cNvSpPr>
            <a:spLocks xmlns:a="http://schemas.openxmlformats.org/drawingml/2006/main" noGrp="1"/>
          </p:cNvSpPr>
          <p:nvPr/>
        </p:nvSpPr>
        <p:spPr>
          <a:xfrm xmlns:a="http://schemas.openxmlformats.org/drawingml/2006/main">
            <a:off x="7132320" y="914400"/>
            <a:ext cx="109728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Schema Registry</a:t>
            </a:r>
          </a:p>
        </p:txBody>
      </p:sp>
      <p:sp>
        <p:nvSpPr>
          <p:cNvPr id="10" name="Shape 8">
            <a:extLst xmlns:a="http://schemas.openxmlformats.org/drawingml/2006/main">
              <a:ext uri="{FF2B5EF4-FFF2-40B4-BE49-F238E27FC236}">
                <a16:creationId xmlns:a16="http://schemas.microsoft.com/office/drawing/2014/main" id="{C41B45AD-E30D-4233-805B-F0CC2BE0370E}"/>
              </a:ext>
            </a:extLst>
          </p:cNvPr>
          <p:cNvSpPr>
            <a:spLocks xmlns:a="http://schemas.openxmlformats.org/drawingml/2006/main" noGrp="1"/>
          </p:cNvSpPr>
          <p:nvPr/>
        </p:nvSpPr>
        <p:spPr>
          <a:xfrm xmlns:a="http://schemas.openxmlformats.org/drawingml/2006/main">
            <a:off x="8229600" y="1078992"/>
            <a:ext cx="228600" cy="91440"/>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11" name="Shape 9">
            <a:extLst xmlns:a="http://schemas.openxmlformats.org/drawingml/2006/main">
              <a:ext uri="{FF2B5EF4-FFF2-40B4-BE49-F238E27FC236}">
                <a16:creationId xmlns:a16="http://schemas.microsoft.com/office/drawing/2014/main" id="{6C3B8202-F38E-4F9A-B05D-2211DA0788A6}"/>
              </a:ext>
            </a:extLst>
          </p:cNvPr>
          <p:cNvSpPr>
            <a:spLocks xmlns:a="http://schemas.openxmlformats.org/drawingml/2006/main" noGrp="1"/>
          </p:cNvSpPr>
          <p:nvPr/>
        </p:nvSpPr>
        <p:spPr>
          <a:xfrm xmlns:a="http://schemas.openxmlformats.org/drawingml/2006/main">
            <a:off x="8458200" y="914400"/>
            <a:ext cx="640080" cy="411480"/>
          </a:xfrm>
          <a:prstGeom xmlns:a="http://schemas.openxmlformats.org/drawingml/2006/main" prst="roundRect">
            <a:avLst>
              <a:gd name="adj" fmla="val 22222"/>
            </a:avLst>
          </a:prstGeom>
          <a:solidFill xmlns:a="http://schemas.openxmlformats.org/drawingml/2006/main">
            <a:srgbClr val="00A86B"/>
          </a:solidFill>
          <a:ln xmlns:a="http://schemas.openxmlformats.org/drawingml/2006/main" w="12700">
            <a:solidFill>
              <a:srgbClr val="00A86B"/>
            </a:solidFill>
            <a:prstDash val="solid"/>
          </a:ln>
        </p:spPr>
      </p:sp>
      <p:sp>
        <p:nvSpPr>
          <p:cNvPr id="12" name="Text 10">
            <a:extLst xmlns:a="http://schemas.openxmlformats.org/drawingml/2006/main">
              <a:ext uri="{FF2B5EF4-FFF2-40B4-BE49-F238E27FC236}">
                <a16:creationId xmlns:a16="http://schemas.microsoft.com/office/drawing/2014/main" id="{5A3FF1B8-776C-4620-80BC-0634FDD816C5}"/>
              </a:ext>
            </a:extLst>
          </p:cNvPr>
          <p:cNvSpPr>
            <a:spLocks xmlns:a="http://schemas.openxmlformats.org/drawingml/2006/main" noGrp="1"/>
          </p:cNvSpPr>
          <p:nvPr/>
        </p:nvSpPr>
        <p:spPr>
          <a:xfrm xmlns:a="http://schemas.openxmlformats.org/drawingml/2006/main">
            <a:off x="8458200" y="914400"/>
            <a:ext cx="64008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Topic</a:t>
            </a:r>
          </a:p>
        </p:txBody>
      </p:sp>
      <p:sp>
        <p:nvSpPr>
          <p:cNvPr id="13" name="Text 11">
            <a:extLst xmlns:a="http://schemas.openxmlformats.org/drawingml/2006/main">
              <a:ext uri="{FF2B5EF4-FFF2-40B4-BE49-F238E27FC236}">
                <a16:creationId xmlns:a16="http://schemas.microsoft.com/office/drawing/2014/main" id="{6219FE55-DA77-436B-8FFE-AFE0A8D35550}"/>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38aeba56ac234685"/>
              </a:rPr>
              <a:t>[1]</a:t>
            </a:r>
            <a:r>
              <a:rPr sz="600">
                <a:solidFill>
                  <a:srgbClr val="000000"/>
                </a:solidFill>
              </a:rPr>
              <a:t>  </a:t>
            </a:r>
            <a:r>
              <a:rPr sz="600" u="sng">
                <a:solidFill>
                  <a:srgbClr val="0066CC"/>
                </a:solidFill>
                <a:hlinkClick xmlns:r="http://schemas.openxmlformats.org/officeDocument/2006/relationships" r:id="Rd53b76310471457f"/>
              </a:rPr>
              <a:t>[2]</a:t>
            </a:r>
          </a:p>
        </p:txBody>
      </p:sp>
    </p:spTree>
    <p:extLst>
      <p:ext uri="{BB962C8B-B14F-4D97-AF65-F5344CB8AC3E}">
        <p14:creationId xmlns:p14="http://schemas.microsoft.com/office/powerpoint/2010/main" val="1837180166"/>
      </p:ext>
    </p:extLst>
  </p:cSld>
</p:sld>
</file>

<file path=ppt/slides/slide9.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04AF69-A2E6-458F-BBD6-8823D974128D}"/>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B8804A85-0F2B-4E6C-8260-6EC49FA296DA}"/>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Transformation &amp; Storage</a:t>
            </a:r>
          </a:p>
        </p:txBody>
      </p:sp>
      <p:sp>
        <p:nvSpPr>
          <p:cNvPr id="4" name="Text 2">
            <a:extLst xmlns:a="http://schemas.openxmlformats.org/drawingml/2006/main">
              <a:ext uri="{FF2B5EF4-FFF2-40B4-BE49-F238E27FC236}">
                <a16:creationId xmlns:a16="http://schemas.microsoft.com/office/drawing/2014/main" id="{23650E14-6412-4C60-A235-057D4E0A0BFA}"/>
              </a:ext>
            </a:extLst>
          </p:cNvPr>
          <p:cNvSpPr>
            <a:spLocks xmlns:a="http://schemas.openxmlformats.org/drawingml/2006/main" noGrp="1"/>
          </p:cNvSpPr>
          <p:nvPr/>
        </p:nvSpPr>
        <p:spPr>
          <a:xfrm xmlns:a="http://schemas.openxmlformats.org/drawingml/2006/main">
            <a:off x="457200" y="731520"/>
            <a:ext cx="502920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3C54"/>
                </a:solidFill>
              </a:rPr>
              <a:t>Transformation and Storage Extension</a:t>
            </a:r>
          </a:p>
          <a:p xmlns:a="http://schemas.openxmlformats.org/drawingml/2006/main">
            <a:pPr marL="0" indent="0">
              <a:buNone/>
            </a:pPr>
            <a:r>
              <a:rPr sz="1200" b="1">
                <a:solidFill>
                  <a:srgbClr val="003C54"/>
                </a:solidFill>
              </a:rPr>
              <a:t>- Earlier-day Hop/Spark work defines cleaning, deduplication and enrichment rules.</a:t>
            </a:r>
          </a:p>
          <a:p xmlns:a="http://schemas.openxmlformats.org/drawingml/2006/main">
            <a:pPr marL="0" indent="0">
              <a:buNone/>
            </a:pPr>
            <a:r>
              <a:rPr sz="1200" b="1">
                <a:solidFill>
                  <a:srgbClr val="003C54"/>
                </a:solidFill>
              </a:rPr>
              <a:t>- Map raw CDC to Bronze, accepted records to Silver and metrics to Gold.</a:t>
            </a:r>
          </a:p>
          <a:p xmlns:a="http://schemas.openxmlformats.org/drawingml/2006/main">
            <a:pPr marL="0" indent="0">
              <a:buNone/>
            </a:pPr>
            <a:r>
              <a:rPr sz="1200" b="1">
                <a:solidFill>
                  <a:srgbClr val="003C54"/>
                </a:solidFill>
              </a:rPr>
              <a:t>- The supplied Day 10 stack does not ship a running Hop/Spark lakehouse job; include the extension design or evidence from prior labs.</a:t>
            </a:r>
          </a:p>
        </p:txBody>
      </p:sp>
      <p:sp>
        <p:nvSpPr>
          <p:cNvPr id="5" name="Shape 3">
            <a:extLst xmlns:a="http://schemas.openxmlformats.org/drawingml/2006/main">
              <a:ext uri="{FF2B5EF4-FFF2-40B4-BE49-F238E27FC236}">
                <a16:creationId xmlns:a16="http://schemas.microsoft.com/office/drawing/2014/main" id="{50B0CED8-CC60-4DE4-A80E-F2F43BB04F29}"/>
              </a:ext>
            </a:extLst>
          </p:cNvPr>
          <p:cNvSpPr>
            <a:spLocks xmlns:a="http://schemas.openxmlformats.org/drawingml/2006/main" noGrp="1"/>
          </p:cNvSpPr>
          <p:nvPr/>
        </p:nvSpPr>
        <p:spPr>
          <a:xfrm xmlns:a="http://schemas.openxmlformats.org/drawingml/2006/main">
            <a:off x="5669280" y="1645920"/>
            <a:ext cx="1828800" cy="36576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prstDash val="solid"/>
          </a:ln>
        </p:spPr>
      </p:sp>
      <p:sp>
        <p:nvSpPr>
          <p:cNvPr id="6" name="Text 4">
            <a:extLst xmlns:a="http://schemas.openxmlformats.org/drawingml/2006/main">
              <a:ext uri="{FF2B5EF4-FFF2-40B4-BE49-F238E27FC236}">
                <a16:creationId xmlns:a16="http://schemas.microsoft.com/office/drawing/2014/main" id="{DEA6E6E9-444F-478E-BC95-8BF3FAD26687}"/>
              </a:ext>
            </a:extLst>
          </p:cNvPr>
          <p:cNvSpPr>
            <a:spLocks xmlns:a="http://schemas.openxmlformats.org/drawingml/2006/main" noGrp="1"/>
          </p:cNvSpPr>
          <p:nvPr/>
        </p:nvSpPr>
        <p:spPr>
          <a:xfrm xmlns:a="http://schemas.openxmlformats.org/drawingml/2006/main">
            <a:off x="5669280" y="1645920"/>
            <a:ext cx="1828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a:solidFill>
                  <a:srgbClr val="FFFFFF"/>
                </a:solidFill>
              </a:rPr>
              <a:t>Bronze</a:t>
            </a:r>
          </a:p>
        </p:txBody>
      </p:sp>
      <p:sp>
        <p:nvSpPr>
          <p:cNvPr id="7" name="Shape 5">
            <a:extLst xmlns:a="http://schemas.openxmlformats.org/drawingml/2006/main">
              <a:ext uri="{FF2B5EF4-FFF2-40B4-BE49-F238E27FC236}">
                <a16:creationId xmlns:a16="http://schemas.microsoft.com/office/drawing/2014/main" id="{04EBCF3E-9D5B-44A5-8314-48362B4068CF}"/>
              </a:ext>
            </a:extLst>
          </p:cNvPr>
          <p:cNvSpPr>
            <a:spLocks xmlns:a="http://schemas.openxmlformats.org/drawingml/2006/main" noGrp="1"/>
          </p:cNvSpPr>
          <p:nvPr/>
        </p:nvSpPr>
        <p:spPr>
          <a:xfrm xmlns:a="http://schemas.openxmlformats.org/drawingml/2006/main">
            <a:off x="5669280" y="1280160"/>
            <a:ext cx="1828800" cy="365760"/>
          </a:xfrm>
          <a:prstGeom xmlns:a="http://schemas.openxmlformats.org/drawingml/2006/main" prst="rect">
            <a:avLst/>
          </a:prstGeom>
          <a:solidFill xmlns:a="http://schemas.openxmlformats.org/drawingml/2006/main">
            <a:srgbClr val="00A86B"/>
          </a:solidFill>
          <a:ln xmlns:a="http://schemas.openxmlformats.org/drawingml/2006/main" w="12700">
            <a:solidFill>
              <a:srgbClr val="00A86B"/>
            </a:solidFill>
            <a:prstDash val="solid"/>
          </a:ln>
        </p:spPr>
      </p:sp>
      <p:sp>
        <p:nvSpPr>
          <p:cNvPr id="8" name="Text 6">
            <a:extLst xmlns:a="http://schemas.openxmlformats.org/drawingml/2006/main">
              <a:ext uri="{FF2B5EF4-FFF2-40B4-BE49-F238E27FC236}">
                <a16:creationId xmlns:a16="http://schemas.microsoft.com/office/drawing/2014/main" id="{2D29B5B4-1D8A-4031-B9EC-B296E2CB0694}"/>
              </a:ext>
            </a:extLst>
          </p:cNvPr>
          <p:cNvSpPr>
            <a:spLocks xmlns:a="http://schemas.openxmlformats.org/drawingml/2006/main" noGrp="1"/>
          </p:cNvSpPr>
          <p:nvPr/>
        </p:nvSpPr>
        <p:spPr>
          <a:xfrm xmlns:a="http://schemas.openxmlformats.org/drawingml/2006/main">
            <a:off x="5669280" y="1280160"/>
            <a:ext cx="1828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a:solidFill>
                  <a:srgbClr val="FFFFFF"/>
                </a:solidFill>
              </a:rPr>
              <a:t>Silver</a:t>
            </a:r>
          </a:p>
        </p:txBody>
      </p:sp>
      <p:sp>
        <p:nvSpPr>
          <p:cNvPr id="9" name="Shape 7">
            <a:extLst xmlns:a="http://schemas.openxmlformats.org/drawingml/2006/main">
              <a:ext uri="{FF2B5EF4-FFF2-40B4-BE49-F238E27FC236}">
                <a16:creationId xmlns:a16="http://schemas.microsoft.com/office/drawing/2014/main" id="{FD8E3BB9-1019-4C46-B333-25E14996C799}"/>
              </a:ext>
            </a:extLst>
          </p:cNvPr>
          <p:cNvSpPr>
            <a:spLocks xmlns:a="http://schemas.openxmlformats.org/drawingml/2006/main" noGrp="1"/>
          </p:cNvSpPr>
          <p:nvPr/>
        </p:nvSpPr>
        <p:spPr>
          <a:xfrm xmlns:a="http://schemas.openxmlformats.org/drawingml/2006/main">
            <a:off x="5669280" y="914400"/>
            <a:ext cx="1828800" cy="36576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prstDash val="solid"/>
          </a:ln>
        </p:spPr>
      </p:sp>
      <p:sp>
        <p:nvSpPr>
          <p:cNvPr id="10" name="Text 8">
            <a:extLst xmlns:a="http://schemas.openxmlformats.org/drawingml/2006/main">
              <a:ext uri="{FF2B5EF4-FFF2-40B4-BE49-F238E27FC236}">
                <a16:creationId xmlns:a16="http://schemas.microsoft.com/office/drawing/2014/main" id="{02DD28B9-F3A7-4904-AEA1-895D6EA9192E}"/>
              </a:ext>
            </a:extLst>
          </p:cNvPr>
          <p:cNvSpPr>
            <a:spLocks xmlns:a="http://schemas.openxmlformats.org/drawingml/2006/main" noGrp="1"/>
          </p:cNvSpPr>
          <p:nvPr/>
        </p:nvSpPr>
        <p:spPr>
          <a:xfrm xmlns:a="http://schemas.openxmlformats.org/drawingml/2006/main">
            <a:off x="5669280" y="914400"/>
            <a:ext cx="1828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00">
                <a:solidFill>
                  <a:srgbClr val="FFFFFF"/>
                </a:solidFill>
              </a:rPr>
              <a:t>Gold</a:t>
            </a:r>
          </a:p>
        </p:txBody>
      </p:sp>
      <p:sp>
        <p:nvSpPr>
          <p:cNvPr id="11" name="Text 9">
            <a:extLst xmlns:a="http://schemas.openxmlformats.org/drawingml/2006/main">
              <a:ext uri="{FF2B5EF4-FFF2-40B4-BE49-F238E27FC236}">
                <a16:creationId xmlns:a16="http://schemas.microsoft.com/office/drawing/2014/main" id="{9368DCD0-521A-4CC9-A4B8-B88064783BAE}"/>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f17e5480d18a478d"/>
              </a:rPr>
              <a:t>[1]</a:t>
            </a:r>
            <a:r>
              <a:rPr sz="600">
                <a:solidFill>
                  <a:srgbClr val="000000"/>
                </a:solidFill>
              </a:rPr>
              <a:t>  </a:t>
            </a:r>
            <a:r>
              <a:rPr sz="600" u="sng">
                <a:solidFill>
                  <a:srgbClr val="0066CC"/>
                </a:solidFill>
                <a:hlinkClick xmlns:r="http://schemas.openxmlformats.org/officeDocument/2006/relationships" r:id="Rc8fde988432d4ba6"/>
              </a:rPr>
              <a:t>[2]</a:t>
            </a:r>
            <a:r>
              <a:rPr sz="600">
                <a:solidFill>
                  <a:srgbClr val="000000"/>
                </a:solidFill>
              </a:rPr>
              <a:t>  </a:t>
            </a:r>
            <a:r>
              <a:rPr sz="600" u="sng">
                <a:solidFill>
                  <a:srgbClr val="0066CC"/>
                </a:solidFill>
                <a:hlinkClick xmlns:r="http://schemas.openxmlformats.org/officeDocument/2006/relationships" r:id="Rfcd179aa675646d3"/>
              </a:rPr>
              <a:t>[3]</a:t>
            </a:r>
            <a:r>
              <a:rPr sz="600">
                <a:solidFill>
                  <a:srgbClr val="000000"/>
                </a:solidFill>
              </a:rPr>
              <a:t>  </a:t>
            </a:r>
            <a:r>
              <a:rPr sz="600" u="sng">
                <a:solidFill>
                  <a:srgbClr val="0066CC"/>
                </a:solidFill>
                <a:hlinkClick xmlns:r="http://schemas.openxmlformats.org/officeDocument/2006/relationships" r:id="R61e2967fd4514f25"/>
              </a:rPr>
              <a:t>[4]</a:t>
            </a:r>
          </a:p>
        </p:txBody>
      </p:sp>
    </p:spTree>
    <p:extLst>
      <p:ext uri="{BB962C8B-B14F-4D97-AF65-F5344CB8AC3E}">
        <p14:creationId xmlns:p14="http://schemas.microsoft.com/office/powerpoint/2010/main" val="1442100059"/>
      </p:ext>
    </p:extLst>
  </p:cSld>
</p:sld>
</file>

<file path=ppt/slides/slide10.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6D848D-299B-49D9-A01C-C89DCEB8C683}"/>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2010D506-DC35-4E6E-BE04-437EE809F79C}"/>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Orchestration &amp; Scheduling</a:t>
            </a:r>
          </a:p>
        </p:txBody>
      </p:sp>
      <p:sp>
        <p:nvSpPr>
          <p:cNvPr id="4" name="Text 2">
            <a:extLst xmlns:a="http://schemas.openxmlformats.org/drawingml/2006/main">
              <a:ext uri="{FF2B5EF4-FFF2-40B4-BE49-F238E27FC236}">
                <a16:creationId xmlns:a16="http://schemas.microsoft.com/office/drawing/2014/main" id="{CA289D87-0904-414E-8CE2-40CD99C1A16B}"/>
              </a:ext>
            </a:extLst>
          </p:cNvPr>
          <p:cNvSpPr>
            <a:spLocks xmlns:a="http://schemas.openxmlformats.org/drawingml/2006/main" noGrp="1"/>
          </p:cNvSpPr>
          <p:nvPr/>
        </p:nvSpPr>
        <p:spPr>
          <a:xfrm xmlns:a="http://schemas.openxmlformats.org/drawingml/2006/main">
            <a:off x="457200" y="731520"/>
            <a:ext cx="502920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3C54"/>
                </a:solidFill>
              </a:rPr>
              <a:t>Orchestration Extension</a:t>
            </a:r>
          </a:p>
          <a:p xmlns:a="http://schemas.openxmlformats.org/drawingml/2006/main">
            <a:pPr marL="0" indent="0">
              <a:buNone/>
            </a:pPr>
            <a:r>
              <a:rPr sz="1200" b="1">
                <a:solidFill>
                  <a:srgbClr val="003C54"/>
                </a:solidFill>
              </a:rPr>
              <a:t>- Airflow coordinates bounded checks and transformation jobs; it does not replace continuous CDC capture.</a:t>
            </a:r>
          </a:p>
          <a:p xmlns:a="http://schemas.openxmlformats.org/drawingml/2006/main">
            <a:pPr marL="0" indent="0">
              <a:buNone/>
            </a:pPr>
            <a:r>
              <a:rPr sz="1200" b="1">
                <a:solidFill>
                  <a:srgbClr val="003C54"/>
                </a:solidFill>
              </a:rPr>
              <a:t>- The supplied Day 10 Compose stack does not include Airflow.</a:t>
            </a:r>
          </a:p>
          <a:p xmlns:a="http://schemas.openxmlformats.org/drawingml/2006/main">
            <a:pPr marL="0" indent="0">
              <a:buNone/>
            </a:pPr>
            <a:r>
              <a:rPr sz="1200" b="1">
                <a:solidFill>
                  <a:srgbClr val="003C54"/>
                </a:solidFill>
              </a:rPr>
              <a:t>- In your design, show the validation or Gold-refresh DAG, retry policy and idempotent outcome evidence.</a:t>
            </a:r>
          </a:p>
        </p:txBody>
      </p:sp>
      <p:sp>
        <p:nvSpPr>
          <p:cNvPr id="5" name="Shape 3">
            <a:extLst xmlns:a="http://schemas.openxmlformats.org/drawingml/2006/main">
              <a:ext uri="{FF2B5EF4-FFF2-40B4-BE49-F238E27FC236}">
                <a16:creationId xmlns:a16="http://schemas.microsoft.com/office/drawing/2014/main" id="{42627D22-310D-489B-A76B-F1A88CFFB85A}"/>
              </a:ext>
            </a:extLst>
          </p:cNvPr>
          <p:cNvSpPr>
            <a:spLocks xmlns:a="http://schemas.openxmlformats.org/drawingml/2006/main" noGrp="1"/>
          </p:cNvSpPr>
          <p:nvPr/>
        </p:nvSpPr>
        <p:spPr>
          <a:xfrm xmlns:a="http://schemas.openxmlformats.org/drawingml/2006/main">
            <a:off x="5760720" y="914400"/>
            <a:ext cx="548640" cy="548640"/>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sp>
        <p:nvSpPr>
          <p:cNvPr id="6" name="Text 4">
            <a:extLst xmlns:a="http://schemas.openxmlformats.org/drawingml/2006/main">
              <a:ext uri="{FF2B5EF4-FFF2-40B4-BE49-F238E27FC236}">
                <a16:creationId xmlns:a16="http://schemas.microsoft.com/office/drawing/2014/main" id="{A0442B74-3295-4C9F-875B-65F6AC0AF01C}"/>
              </a:ext>
            </a:extLst>
          </p:cNvPr>
          <p:cNvSpPr>
            <a:spLocks xmlns:a="http://schemas.openxmlformats.org/drawingml/2006/main" noGrp="1"/>
          </p:cNvSpPr>
          <p:nvPr/>
        </p:nvSpPr>
        <p:spPr>
          <a:xfrm xmlns:a="http://schemas.openxmlformats.org/drawingml/2006/main">
            <a:off x="5760720" y="914400"/>
            <a:ext cx="548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Ingest</a:t>
            </a:r>
          </a:p>
        </p:txBody>
      </p:sp>
      <p:sp>
        <p:nvSpPr>
          <p:cNvPr id="7" name="Shape 5">
            <a:extLst xmlns:a="http://schemas.openxmlformats.org/drawingml/2006/main">
              <a:ext uri="{FF2B5EF4-FFF2-40B4-BE49-F238E27FC236}">
                <a16:creationId xmlns:a16="http://schemas.microsoft.com/office/drawing/2014/main" id="{7746120B-7F92-4DA1-A8FF-D4420BF747FB}"/>
              </a:ext>
            </a:extLst>
          </p:cNvPr>
          <p:cNvSpPr>
            <a:spLocks xmlns:a="http://schemas.openxmlformats.org/drawingml/2006/main" noGrp="1"/>
          </p:cNvSpPr>
          <p:nvPr/>
        </p:nvSpPr>
        <p:spPr>
          <a:xfrm xmlns:a="http://schemas.openxmlformats.org/drawingml/2006/main">
            <a:off x="6766560" y="914400"/>
            <a:ext cx="548640" cy="548640"/>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sp>
        <p:nvSpPr>
          <p:cNvPr id="8" name="Text 6">
            <a:extLst xmlns:a="http://schemas.openxmlformats.org/drawingml/2006/main">
              <a:ext uri="{FF2B5EF4-FFF2-40B4-BE49-F238E27FC236}">
                <a16:creationId xmlns:a16="http://schemas.microsoft.com/office/drawing/2014/main" id="{5A188EE3-4EFE-4355-8F6B-DF2B48B0E3FC}"/>
              </a:ext>
            </a:extLst>
          </p:cNvPr>
          <p:cNvSpPr>
            <a:spLocks xmlns:a="http://schemas.openxmlformats.org/drawingml/2006/main" noGrp="1"/>
          </p:cNvSpPr>
          <p:nvPr/>
        </p:nvSpPr>
        <p:spPr>
          <a:xfrm xmlns:a="http://schemas.openxmlformats.org/drawingml/2006/main">
            <a:off x="6766560" y="914400"/>
            <a:ext cx="548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Transform</a:t>
            </a:r>
          </a:p>
        </p:txBody>
      </p:sp>
      <p:sp>
        <p:nvSpPr>
          <p:cNvPr id="9" name="Shape 7">
            <a:extLst xmlns:a="http://schemas.openxmlformats.org/drawingml/2006/main">
              <a:ext uri="{FF2B5EF4-FFF2-40B4-BE49-F238E27FC236}">
                <a16:creationId xmlns:a16="http://schemas.microsoft.com/office/drawing/2014/main" id="{B2E8A92B-AB2C-4354-AAFF-BC0BEED56104}"/>
              </a:ext>
            </a:extLst>
          </p:cNvPr>
          <p:cNvSpPr>
            <a:spLocks xmlns:a="http://schemas.openxmlformats.org/drawingml/2006/main" noGrp="1"/>
          </p:cNvSpPr>
          <p:nvPr/>
        </p:nvSpPr>
        <p:spPr>
          <a:xfrm xmlns:a="http://schemas.openxmlformats.org/drawingml/2006/main">
            <a:off x="7772400" y="914400"/>
            <a:ext cx="548640" cy="548640"/>
          </a:xfrm>
          <a:prstGeom xmlns:a="http://schemas.openxmlformats.org/drawingml/2006/main" prst="ellipse">
            <a:avLst/>
          </a:prstGeom>
          <a:solidFill xmlns:a="http://schemas.openxmlformats.org/drawingml/2006/main">
            <a:srgbClr val="00A86B"/>
          </a:solidFill>
          <a:ln xmlns:a="http://schemas.openxmlformats.org/drawingml/2006/main" w="12700">
            <a:solidFill>
              <a:srgbClr val="00A86B"/>
            </a:solidFill>
            <a:prstDash val="solid"/>
          </a:ln>
        </p:spPr>
      </p:sp>
      <p:sp>
        <p:nvSpPr>
          <p:cNvPr id="10" name="Text 8">
            <a:extLst xmlns:a="http://schemas.openxmlformats.org/drawingml/2006/main">
              <a:ext uri="{FF2B5EF4-FFF2-40B4-BE49-F238E27FC236}">
                <a16:creationId xmlns:a16="http://schemas.microsoft.com/office/drawing/2014/main" id="{D1948E6A-D87E-4F2C-825F-7BB8D2F75C0E}"/>
              </a:ext>
            </a:extLst>
          </p:cNvPr>
          <p:cNvSpPr>
            <a:spLocks xmlns:a="http://schemas.openxmlformats.org/drawingml/2006/main" noGrp="1"/>
          </p:cNvSpPr>
          <p:nvPr/>
        </p:nvSpPr>
        <p:spPr>
          <a:xfrm xmlns:a="http://schemas.openxmlformats.org/drawingml/2006/main">
            <a:off x="7772400" y="914400"/>
            <a:ext cx="548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Serve</a:t>
            </a:r>
          </a:p>
        </p:txBody>
      </p:sp>
      <p:sp>
        <p:nvSpPr>
          <p:cNvPr id="11" name="Shape 9">
            <a:extLst xmlns:a="http://schemas.openxmlformats.org/drawingml/2006/main">
              <a:ext uri="{FF2B5EF4-FFF2-40B4-BE49-F238E27FC236}">
                <a16:creationId xmlns:a16="http://schemas.microsoft.com/office/drawing/2014/main" id="{71D123B8-976A-466F-911B-0743A0927078}"/>
              </a:ext>
            </a:extLst>
          </p:cNvPr>
          <p:cNvSpPr>
            <a:spLocks xmlns:a="http://schemas.openxmlformats.org/drawingml/2006/main" noGrp="1"/>
          </p:cNvSpPr>
          <p:nvPr/>
        </p:nvSpPr>
        <p:spPr>
          <a:xfrm xmlns:a="http://schemas.openxmlformats.org/drawingml/2006/main">
            <a:off x="6309360" y="1143000"/>
            <a:ext cx="457200" cy="91440"/>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12" name="Shape 10">
            <a:extLst xmlns:a="http://schemas.openxmlformats.org/drawingml/2006/main">
              <a:ext uri="{FF2B5EF4-FFF2-40B4-BE49-F238E27FC236}">
                <a16:creationId xmlns:a16="http://schemas.microsoft.com/office/drawing/2014/main" id="{5F55C9E0-4CAC-486D-8607-12969167C25B}"/>
              </a:ext>
            </a:extLst>
          </p:cNvPr>
          <p:cNvSpPr>
            <a:spLocks xmlns:a="http://schemas.openxmlformats.org/drawingml/2006/main" noGrp="1"/>
          </p:cNvSpPr>
          <p:nvPr/>
        </p:nvSpPr>
        <p:spPr>
          <a:xfrm xmlns:a="http://schemas.openxmlformats.org/drawingml/2006/main">
            <a:off x="7315200" y="1143000"/>
            <a:ext cx="457200" cy="91440"/>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13" name="Text 11">
            <a:extLst xmlns:a="http://schemas.openxmlformats.org/drawingml/2006/main">
              <a:ext uri="{FF2B5EF4-FFF2-40B4-BE49-F238E27FC236}">
                <a16:creationId xmlns:a16="http://schemas.microsoft.com/office/drawing/2014/main" id="{CA9819B1-8B7E-44B2-9BE0-1F0367DBB1E4}"/>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540f5aff8f1941bb"/>
              </a:rPr>
              <a:t>[1]</a:t>
            </a:r>
            <a:r>
              <a:rPr sz="600">
                <a:solidFill>
                  <a:srgbClr val="000000"/>
                </a:solidFill>
              </a:rPr>
              <a:t>  </a:t>
            </a:r>
            <a:r>
              <a:rPr sz="600" u="sng">
                <a:solidFill>
                  <a:srgbClr val="0066CC"/>
                </a:solidFill>
                <a:hlinkClick xmlns:r="http://schemas.openxmlformats.org/officeDocument/2006/relationships" r:id="R04ab0613bcf84e3e"/>
              </a:rPr>
              <a:t>[2]</a:t>
            </a:r>
          </a:p>
        </p:txBody>
      </p:sp>
    </p:spTree>
    <p:extLst>
      <p:ext uri="{BB962C8B-B14F-4D97-AF65-F5344CB8AC3E}">
        <p14:creationId xmlns:p14="http://schemas.microsoft.com/office/powerpoint/2010/main" val="1547570375"/>
      </p:ext>
    </p:extLst>
  </p:cSld>
</p:sld>
</file>

<file path=ppt/slides/slide11.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C4A515A-42F3-426E-ABAF-4D4307AB0CD8}"/>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19EC23B6-7E5B-4235-A804-F24B999E0EDB}"/>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Real‑Time Analytics &amp; Serving</a:t>
            </a:r>
          </a:p>
        </p:txBody>
      </p:sp>
      <p:sp>
        <p:nvSpPr>
          <p:cNvPr id="4" name="Text 2">
            <a:extLst xmlns:a="http://schemas.openxmlformats.org/drawingml/2006/main">
              <a:ext uri="{FF2B5EF4-FFF2-40B4-BE49-F238E27FC236}">
                <a16:creationId xmlns:a16="http://schemas.microsoft.com/office/drawing/2014/main" id="{317ABC91-F394-4024-A0F1-6DDD3BD5AF52}"/>
              </a:ext>
            </a:extLst>
          </p:cNvPr>
          <p:cNvSpPr>
            <a:spLocks xmlns:a="http://schemas.openxmlformats.org/drawingml/2006/main" noGrp="1"/>
          </p:cNvSpPr>
          <p:nvPr/>
        </p:nvSpPr>
        <p:spPr>
          <a:xfrm xmlns:a="http://schemas.openxmlformats.org/drawingml/2006/main">
            <a:off x="457200" y="731520"/>
            <a:ext cx="502920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3C54"/>
                </a:solidFill>
              </a:rPr>
              <a:t>Consumption and BI Proof</a:t>
            </a:r>
          </a:p>
          <a:p xmlns:a="http://schemas.openxmlformats.org/drawingml/2006/main">
            <a:pPr marL="0" indent="0">
              <a:buNone/>
            </a:pPr>
            <a:r>
              <a:rPr sz="1200" b="1">
                <a:solidFill>
                  <a:srgbClr val="003C54"/>
                </a:solidFill>
              </a:rPr>
              <a:t>- The runnable capstone uses ksqlDB derived tables/topics as the analytics output.</a:t>
            </a:r>
          </a:p>
          <a:p xmlns:a="http://schemas.openxmlformats.org/drawingml/2006/main">
            <a:pPr marL="0" indent="0">
              <a:buNone/>
            </a:pPr>
            <a:r>
              <a:rPr sz="1200" b="1">
                <a:solidFill>
                  <a:srgbClr val="003C54"/>
                </a:solidFill>
              </a:rPr>
              <a:t>- Export or connect a Gold-style result to a BI tool such as Apache Superset or Metabase.</a:t>
            </a:r>
          </a:p>
          <a:p xmlns:a="http://schemas.openxmlformats.org/drawingml/2006/main">
            <a:pPr marL="0" indent="0">
              <a:buNone/>
            </a:pPr>
            <a:r>
              <a:rPr sz="1200" b="1">
                <a:solidFill>
                  <a:srgbClr val="003C54"/>
                </a:solidFill>
              </a:rPr>
              <a:t>- Required dashboard evidence: one KPI plus two charts, with metric grain and refresh/freshness note.</a:t>
            </a:r>
          </a:p>
          <a:p xmlns:a="http://schemas.openxmlformats.org/drawingml/2006/main">
            <a:pPr marL="0" indent="0">
              <a:buNone/>
            </a:pPr>
            <a:r>
              <a:rPr sz="1200" b="1">
                <a:solidFill>
                  <a:srgbClr val="003C54"/>
                </a:solidFill>
              </a:rPr>
              <a:t>- A microservice is optional, not a replacement for the dashboard proof.</a:t>
            </a:r>
          </a:p>
        </p:txBody>
      </p:sp>
      <p:sp>
        <p:nvSpPr>
          <p:cNvPr id="5" name="Shape 3">
            <a:extLst xmlns:a="http://schemas.openxmlformats.org/drawingml/2006/main">
              <a:ext uri="{FF2B5EF4-FFF2-40B4-BE49-F238E27FC236}">
                <a16:creationId xmlns:a16="http://schemas.microsoft.com/office/drawing/2014/main" id="{EBFEB726-8B7B-46BA-895B-1B81779733C5}"/>
              </a:ext>
            </a:extLst>
          </p:cNvPr>
          <p:cNvSpPr>
            <a:spLocks xmlns:a="http://schemas.openxmlformats.org/drawingml/2006/main" noGrp="1"/>
          </p:cNvSpPr>
          <p:nvPr/>
        </p:nvSpPr>
        <p:spPr>
          <a:xfrm xmlns:a="http://schemas.openxmlformats.org/drawingml/2006/main">
            <a:off x="5669280" y="914400"/>
            <a:ext cx="1371600" cy="457200"/>
          </a:xfrm>
          <a:prstGeom xmlns:a="http://schemas.openxmlformats.org/drawingml/2006/main" prst="roundRect">
            <a:avLst>
              <a:gd name="adj" fmla="val 20000"/>
            </a:avLst>
          </a:prstGeom>
          <a:solidFill xmlns:a="http://schemas.openxmlformats.org/drawingml/2006/main">
            <a:srgbClr val="0077CC"/>
          </a:solidFill>
          <a:ln xmlns:a="http://schemas.openxmlformats.org/drawingml/2006/main" w="12700">
            <a:solidFill>
              <a:srgbClr val="0077CC"/>
            </a:solidFill>
            <a:prstDash val="solid"/>
          </a:ln>
        </p:spPr>
      </p:sp>
      <p:sp>
        <p:nvSpPr>
          <p:cNvPr id="6" name="Text 4">
            <a:extLst xmlns:a="http://schemas.openxmlformats.org/drawingml/2006/main">
              <a:ext uri="{FF2B5EF4-FFF2-40B4-BE49-F238E27FC236}">
                <a16:creationId xmlns:a16="http://schemas.microsoft.com/office/drawing/2014/main" id="{5A7BDE89-D0D5-452A-9C67-E41607E8C921}"/>
              </a:ext>
            </a:extLst>
          </p:cNvPr>
          <p:cNvSpPr>
            <a:spLocks xmlns:a="http://schemas.openxmlformats.org/drawingml/2006/main" noGrp="1"/>
          </p:cNvSpPr>
          <p:nvPr/>
        </p:nvSpPr>
        <p:spPr>
          <a:xfrm xmlns:a="http://schemas.openxmlformats.org/drawingml/2006/main">
            <a:off x="5669280" y="914400"/>
            <a:ext cx="13716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Derived Topic</a:t>
            </a:r>
          </a:p>
        </p:txBody>
      </p:sp>
      <p:sp>
        <p:nvSpPr>
          <p:cNvPr id="7" name="Shape 5">
            <a:extLst xmlns:a="http://schemas.openxmlformats.org/drawingml/2006/main">
              <a:ext uri="{FF2B5EF4-FFF2-40B4-BE49-F238E27FC236}">
                <a16:creationId xmlns:a16="http://schemas.microsoft.com/office/drawing/2014/main" id="{5D3E9A37-21AB-46A3-B36C-B657FF33636E}"/>
              </a:ext>
            </a:extLst>
          </p:cNvPr>
          <p:cNvSpPr>
            <a:spLocks xmlns:a="http://schemas.openxmlformats.org/drawingml/2006/main" noGrp="1"/>
          </p:cNvSpPr>
          <p:nvPr/>
        </p:nvSpPr>
        <p:spPr>
          <a:xfrm xmlns:a="http://schemas.openxmlformats.org/drawingml/2006/main">
            <a:off x="7040880" y="1755648"/>
            <a:ext cx="274320" cy="73152"/>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8" name="Shape 6">
            <a:extLst xmlns:a="http://schemas.openxmlformats.org/drawingml/2006/main">
              <a:ext uri="{FF2B5EF4-FFF2-40B4-BE49-F238E27FC236}">
                <a16:creationId xmlns:a16="http://schemas.microsoft.com/office/drawing/2014/main" id="{AF1D9242-B609-4CA9-9582-98DAFF66858A}"/>
              </a:ext>
            </a:extLst>
          </p:cNvPr>
          <p:cNvSpPr>
            <a:spLocks xmlns:a="http://schemas.openxmlformats.org/drawingml/2006/main" noGrp="1"/>
          </p:cNvSpPr>
          <p:nvPr/>
        </p:nvSpPr>
        <p:spPr>
          <a:xfrm xmlns:a="http://schemas.openxmlformats.org/drawingml/2006/main">
            <a:off x="7315200" y="1645920"/>
            <a:ext cx="1371600" cy="320040"/>
          </a:xfrm>
          <a:prstGeom xmlns:a="http://schemas.openxmlformats.org/drawingml/2006/main" prst="roundRect">
            <a:avLst>
              <a:gd name="adj" fmla="val 14286"/>
            </a:avLst>
          </a:prstGeom>
          <a:solidFill xmlns:a="http://schemas.openxmlformats.org/drawingml/2006/main">
            <a:srgbClr val="00A86B"/>
          </a:solidFill>
          <a:ln xmlns:a="http://schemas.openxmlformats.org/drawingml/2006/main" w="12700">
            <a:solidFill>
              <a:srgbClr val="00A86B"/>
            </a:solidFill>
            <a:prstDash val="solid"/>
          </a:ln>
        </p:spPr>
      </p:sp>
      <p:sp>
        <p:nvSpPr>
          <p:cNvPr id="9" name="Text 7">
            <a:extLst xmlns:a="http://schemas.openxmlformats.org/drawingml/2006/main">
              <a:ext uri="{FF2B5EF4-FFF2-40B4-BE49-F238E27FC236}">
                <a16:creationId xmlns:a16="http://schemas.microsoft.com/office/drawing/2014/main" id="{8F4D38E4-BC57-48D1-B936-79557BAE9918}"/>
              </a:ext>
            </a:extLst>
          </p:cNvPr>
          <p:cNvSpPr>
            <a:spLocks xmlns:a="http://schemas.openxmlformats.org/drawingml/2006/main" noGrp="1"/>
          </p:cNvSpPr>
          <p:nvPr/>
        </p:nvSpPr>
        <p:spPr>
          <a:xfrm xmlns:a="http://schemas.openxmlformats.org/drawingml/2006/main">
            <a:off x="7315200" y="1645920"/>
            <a:ext cx="1371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Dashboard</a:t>
            </a:r>
          </a:p>
        </p:txBody>
      </p:sp>
      <p:sp>
        <p:nvSpPr>
          <p:cNvPr id="10" name="Shape 8">
            <a:extLst xmlns:a="http://schemas.openxmlformats.org/drawingml/2006/main">
              <a:ext uri="{FF2B5EF4-FFF2-40B4-BE49-F238E27FC236}">
                <a16:creationId xmlns:a16="http://schemas.microsoft.com/office/drawing/2014/main" id="{A16ADA10-93E7-4092-80AA-94C05DE65086}"/>
              </a:ext>
            </a:extLst>
          </p:cNvPr>
          <p:cNvSpPr>
            <a:spLocks xmlns:a="http://schemas.openxmlformats.org/drawingml/2006/main" noGrp="1"/>
          </p:cNvSpPr>
          <p:nvPr/>
        </p:nvSpPr>
        <p:spPr>
          <a:xfrm xmlns:a="http://schemas.openxmlformats.org/drawingml/2006/main">
            <a:off x="7040880" y="2212848"/>
            <a:ext cx="274320" cy="73152"/>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11" name="Shape 9">
            <a:extLst xmlns:a="http://schemas.openxmlformats.org/drawingml/2006/main">
              <a:ext uri="{FF2B5EF4-FFF2-40B4-BE49-F238E27FC236}">
                <a16:creationId xmlns:a16="http://schemas.microsoft.com/office/drawing/2014/main" id="{1A034A60-77A3-4BEC-96C9-40C4FBCE434D}"/>
              </a:ext>
            </a:extLst>
          </p:cNvPr>
          <p:cNvSpPr>
            <a:spLocks xmlns:a="http://schemas.openxmlformats.org/drawingml/2006/main" noGrp="1"/>
          </p:cNvSpPr>
          <p:nvPr/>
        </p:nvSpPr>
        <p:spPr>
          <a:xfrm xmlns:a="http://schemas.openxmlformats.org/drawingml/2006/main">
            <a:off x="7315200" y="2103120"/>
            <a:ext cx="1371600" cy="320040"/>
          </a:xfrm>
          <a:prstGeom xmlns:a="http://schemas.openxmlformats.org/drawingml/2006/main" prst="roundRect">
            <a:avLst>
              <a:gd name="adj" fmla="val 14286"/>
            </a:avLst>
          </a:prstGeom>
          <a:solidFill xmlns:a="http://schemas.openxmlformats.org/drawingml/2006/main">
            <a:srgbClr val="00A86B"/>
          </a:solidFill>
          <a:ln xmlns:a="http://schemas.openxmlformats.org/drawingml/2006/main" w="12700">
            <a:solidFill>
              <a:srgbClr val="00A86B"/>
            </a:solidFill>
            <a:prstDash val="solid"/>
          </a:ln>
        </p:spPr>
      </p:sp>
      <p:sp>
        <p:nvSpPr>
          <p:cNvPr id="12" name="Text 10">
            <a:extLst xmlns:a="http://schemas.openxmlformats.org/drawingml/2006/main">
              <a:ext uri="{FF2B5EF4-FFF2-40B4-BE49-F238E27FC236}">
                <a16:creationId xmlns:a16="http://schemas.microsoft.com/office/drawing/2014/main" id="{2F680592-5E5C-40CD-AED3-8B06A83FAEA3}"/>
              </a:ext>
            </a:extLst>
          </p:cNvPr>
          <p:cNvSpPr>
            <a:spLocks xmlns:a="http://schemas.openxmlformats.org/drawingml/2006/main" noGrp="1"/>
          </p:cNvSpPr>
          <p:nvPr/>
        </p:nvSpPr>
        <p:spPr>
          <a:xfrm xmlns:a="http://schemas.openxmlformats.org/drawingml/2006/main">
            <a:off x="7315200" y="2103120"/>
            <a:ext cx="1371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API</a:t>
            </a:r>
          </a:p>
        </p:txBody>
      </p:sp>
      <p:sp>
        <p:nvSpPr>
          <p:cNvPr id="13" name="Shape 11">
            <a:extLst xmlns:a="http://schemas.openxmlformats.org/drawingml/2006/main">
              <a:ext uri="{FF2B5EF4-FFF2-40B4-BE49-F238E27FC236}">
                <a16:creationId xmlns:a16="http://schemas.microsoft.com/office/drawing/2014/main" id="{56724729-350F-4155-A1D9-28108FCD9BB7}"/>
              </a:ext>
            </a:extLst>
          </p:cNvPr>
          <p:cNvSpPr>
            <a:spLocks xmlns:a="http://schemas.openxmlformats.org/drawingml/2006/main" noGrp="1"/>
          </p:cNvSpPr>
          <p:nvPr/>
        </p:nvSpPr>
        <p:spPr>
          <a:xfrm xmlns:a="http://schemas.openxmlformats.org/drawingml/2006/main">
            <a:off x="7040880" y="2670048"/>
            <a:ext cx="274320" cy="73152"/>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14" name="Shape 12">
            <a:extLst xmlns:a="http://schemas.openxmlformats.org/drawingml/2006/main">
              <a:ext uri="{FF2B5EF4-FFF2-40B4-BE49-F238E27FC236}">
                <a16:creationId xmlns:a16="http://schemas.microsoft.com/office/drawing/2014/main" id="{3EC4F0A1-67C3-4AFD-AACA-CAA738F11BF7}"/>
              </a:ext>
            </a:extLst>
          </p:cNvPr>
          <p:cNvSpPr>
            <a:spLocks xmlns:a="http://schemas.openxmlformats.org/drawingml/2006/main" noGrp="1"/>
          </p:cNvSpPr>
          <p:nvPr/>
        </p:nvSpPr>
        <p:spPr>
          <a:xfrm xmlns:a="http://schemas.openxmlformats.org/drawingml/2006/main">
            <a:off x="7315200" y="2560320"/>
            <a:ext cx="1371600" cy="320040"/>
          </a:xfrm>
          <a:prstGeom xmlns:a="http://schemas.openxmlformats.org/drawingml/2006/main" prst="roundRect">
            <a:avLst>
              <a:gd name="adj" fmla="val 14286"/>
            </a:avLst>
          </a:prstGeom>
          <a:solidFill xmlns:a="http://schemas.openxmlformats.org/drawingml/2006/main">
            <a:srgbClr val="00A86B"/>
          </a:solidFill>
          <a:ln xmlns:a="http://schemas.openxmlformats.org/drawingml/2006/main" w="12700">
            <a:solidFill>
              <a:srgbClr val="00A86B"/>
            </a:solidFill>
            <a:prstDash val="solid"/>
          </a:ln>
        </p:spPr>
      </p:sp>
      <p:sp>
        <p:nvSpPr>
          <p:cNvPr id="15" name="Text 13">
            <a:extLst xmlns:a="http://schemas.openxmlformats.org/drawingml/2006/main">
              <a:ext uri="{FF2B5EF4-FFF2-40B4-BE49-F238E27FC236}">
                <a16:creationId xmlns:a16="http://schemas.microsoft.com/office/drawing/2014/main" id="{5E380B92-7AE9-42BB-B7E8-91044D955781}"/>
              </a:ext>
            </a:extLst>
          </p:cNvPr>
          <p:cNvSpPr>
            <a:spLocks xmlns:a="http://schemas.openxmlformats.org/drawingml/2006/main" noGrp="1"/>
          </p:cNvSpPr>
          <p:nvPr/>
        </p:nvSpPr>
        <p:spPr>
          <a:xfrm xmlns:a="http://schemas.openxmlformats.org/drawingml/2006/main">
            <a:off x="7315200" y="2560320"/>
            <a:ext cx="1371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Microservice</a:t>
            </a:r>
          </a:p>
        </p:txBody>
      </p:sp>
      <p:sp>
        <p:nvSpPr>
          <p:cNvPr id="16" name="Shape 14">
            <a:extLst xmlns:a="http://schemas.openxmlformats.org/drawingml/2006/main">
              <a:ext uri="{FF2B5EF4-FFF2-40B4-BE49-F238E27FC236}">
                <a16:creationId xmlns:a16="http://schemas.microsoft.com/office/drawing/2014/main" id="{4B0987B0-BE3E-443F-A6CF-8A28DB5336EF}"/>
              </a:ext>
            </a:extLst>
          </p:cNvPr>
          <p:cNvSpPr>
            <a:spLocks xmlns:a="http://schemas.openxmlformats.org/drawingml/2006/main" noGrp="1"/>
          </p:cNvSpPr>
          <p:nvPr/>
        </p:nvSpPr>
        <p:spPr>
          <a:xfrm xmlns:a="http://schemas.openxmlformats.org/drawingml/2006/main">
            <a:off x="7040880" y="3127248"/>
            <a:ext cx="274320" cy="73152"/>
          </a:xfrm>
          <a:prstGeom xmlns:a="http://schemas.openxmlformats.org/drawingml/2006/main" prst="rightArrow">
            <a:avLst/>
          </a:prstGeom>
          <a:solidFill xmlns:a="http://schemas.openxmlformats.org/drawingml/2006/main">
            <a:srgbClr val="0077CC"/>
          </a:solidFill>
          <a:ln xmlns:a="http://schemas.openxmlformats.org/drawingml/2006/main" w="12700">
            <a:solidFill>
              <a:srgbClr val="0077CC"/>
            </a:solidFill>
            <a:prstDash val="solid"/>
          </a:ln>
        </p:spPr>
      </p:sp>
      <p:sp>
        <p:nvSpPr>
          <p:cNvPr id="17" name="Shape 15">
            <a:extLst xmlns:a="http://schemas.openxmlformats.org/drawingml/2006/main">
              <a:ext uri="{FF2B5EF4-FFF2-40B4-BE49-F238E27FC236}">
                <a16:creationId xmlns:a16="http://schemas.microsoft.com/office/drawing/2014/main" id="{9BD05A82-210E-4C93-A085-F9ED80D586A9}"/>
              </a:ext>
            </a:extLst>
          </p:cNvPr>
          <p:cNvSpPr>
            <a:spLocks xmlns:a="http://schemas.openxmlformats.org/drawingml/2006/main" noGrp="1"/>
          </p:cNvSpPr>
          <p:nvPr/>
        </p:nvSpPr>
        <p:spPr>
          <a:xfrm xmlns:a="http://schemas.openxmlformats.org/drawingml/2006/main">
            <a:off x="7315200" y="3017520"/>
            <a:ext cx="1371600" cy="320040"/>
          </a:xfrm>
          <a:prstGeom xmlns:a="http://schemas.openxmlformats.org/drawingml/2006/main" prst="roundRect">
            <a:avLst>
              <a:gd name="adj" fmla="val 14286"/>
            </a:avLst>
          </a:prstGeom>
          <a:solidFill xmlns:a="http://schemas.openxmlformats.org/drawingml/2006/main">
            <a:srgbClr val="00A86B"/>
          </a:solidFill>
          <a:ln xmlns:a="http://schemas.openxmlformats.org/drawingml/2006/main" w="12700">
            <a:solidFill>
              <a:srgbClr val="00A86B"/>
            </a:solidFill>
            <a:prstDash val="solid"/>
          </a:ln>
        </p:spPr>
      </p:sp>
      <p:sp>
        <p:nvSpPr>
          <p:cNvPr id="18" name="Text 16">
            <a:extLst xmlns:a="http://schemas.openxmlformats.org/drawingml/2006/main">
              <a:ext uri="{FF2B5EF4-FFF2-40B4-BE49-F238E27FC236}">
                <a16:creationId xmlns:a16="http://schemas.microsoft.com/office/drawing/2014/main" id="{2362CCCD-4C3A-4D54-BF3F-7928A3035F96}"/>
              </a:ext>
            </a:extLst>
          </p:cNvPr>
          <p:cNvSpPr>
            <a:spLocks xmlns:a="http://schemas.openxmlformats.org/drawingml/2006/main" noGrp="1"/>
          </p:cNvSpPr>
          <p:nvPr/>
        </p:nvSpPr>
        <p:spPr>
          <a:xfrm xmlns:a="http://schemas.openxmlformats.org/drawingml/2006/main">
            <a:off x="7315200" y="3017520"/>
            <a:ext cx="1371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ML Model</a:t>
            </a:r>
          </a:p>
        </p:txBody>
      </p:sp>
      <p:sp>
        <p:nvSpPr>
          <p:cNvPr id="19" name="Text 17">
            <a:extLst xmlns:a="http://schemas.openxmlformats.org/drawingml/2006/main">
              <a:ext uri="{FF2B5EF4-FFF2-40B4-BE49-F238E27FC236}">
                <a16:creationId xmlns:a16="http://schemas.microsoft.com/office/drawing/2014/main" id="{4BFB73E6-18B0-49A6-B3DB-CC2B7637C345}"/>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9b5f93fd9e7d4bdd"/>
              </a:rPr>
              <a:t>[1]</a:t>
            </a:r>
            <a:r>
              <a:rPr sz="600">
                <a:solidFill>
                  <a:srgbClr val="000000"/>
                </a:solidFill>
              </a:rPr>
              <a:t>  </a:t>
            </a:r>
            <a:r>
              <a:rPr sz="600" u="sng">
                <a:solidFill>
                  <a:srgbClr val="0066CC"/>
                </a:solidFill>
                <a:hlinkClick xmlns:r="http://schemas.openxmlformats.org/officeDocument/2006/relationships" r:id="Rbaa7d71d0e9549ca"/>
              </a:rPr>
              <a:t>[2]</a:t>
            </a:r>
            <a:r>
              <a:rPr sz="600">
                <a:solidFill>
                  <a:srgbClr val="000000"/>
                </a:solidFill>
              </a:rPr>
              <a:t>  </a:t>
            </a:r>
            <a:r>
              <a:rPr sz="600" u="sng">
                <a:solidFill>
                  <a:srgbClr val="0066CC"/>
                </a:solidFill>
                <a:hlinkClick xmlns:r="http://schemas.openxmlformats.org/officeDocument/2006/relationships" r:id="R18864debeaf848c4"/>
              </a:rPr>
              <a:t>[3]</a:t>
            </a:r>
          </a:p>
        </p:txBody>
      </p:sp>
    </p:spTree>
    <p:extLst>
      <p:ext uri="{BB962C8B-B14F-4D97-AF65-F5344CB8AC3E}">
        <p14:creationId xmlns:p14="http://schemas.microsoft.com/office/powerpoint/2010/main" val="193854724"/>
      </p:ext>
    </p:extLst>
  </p:cSld>
</p:sld>
</file>

<file path=ppt/slides/slide12.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D9F4E72-2F34-4331-818C-4835767D0C0E}"/>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E5084D8C-92B0-459C-938B-B0754ED6E6B5}"/>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Event Life Cycle</a:t>
            </a:r>
          </a:p>
        </p:txBody>
      </p:sp>
      <p:sp>
        <p:nvSpPr>
          <p:cNvPr id="4" name="Shape 2">
            <a:extLst xmlns:a="http://schemas.openxmlformats.org/drawingml/2006/main">
              <a:ext uri="{FF2B5EF4-FFF2-40B4-BE49-F238E27FC236}">
                <a16:creationId xmlns:a16="http://schemas.microsoft.com/office/drawing/2014/main" id="{626FB720-5A7F-40C9-8BC8-4991E9B4F969}"/>
              </a:ext>
            </a:extLst>
          </p:cNvPr>
          <p:cNvSpPr>
            <a:spLocks xmlns:a="http://schemas.openxmlformats.org/drawingml/2006/main" noGrp="1"/>
          </p:cNvSpPr>
          <p:nvPr/>
        </p:nvSpPr>
        <p:spPr>
          <a:xfrm xmlns:a="http://schemas.openxmlformats.org/drawingml/2006/main">
            <a:off x="457200" y="1828800"/>
            <a:ext cx="914400" cy="457200"/>
          </a:xfrm>
          <a:prstGeom xmlns:a="http://schemas.openxmlformats.org/drawingml/2006/main" prst="roundRect">
            <a:avLst>
              <a:gd name="adj" fmla="val 20000"/>
            </a:avLst>
          </a:prstGeom>
          <a:solidFill xmlns:a="http://schemas.openxmlformats.org/drawingml/2006/main">
            <a:srgbClr val="0077CC"/>
          </a:solidFill>
          <a:ln xmlns:a="http://schemas.openxmlformats.org/drawingml/2006/main" w="12700">
            <a:solidFill>
              <a:srgbClr val="0077CC"/>
            </a:solidFill>
            <a:prstDash val="solid"/>
          </a:ln>
        </p:spPr>
      </p:sp>
      <p:sp>
        <p:nvSpPr>
          <p:cNvPr id="5" name="Text 3">
            <a:extLst xmlns:a="http://schemas.openxmlformats.org/drawingml/2006/main">
              <a:ext uri="{FF2B5EF4-FFF2-40B4-BE49-F238E27FC236}">
                <a16:creationId xmlns:a16="http://schemas.microsoft.com/office/drawing/2014/main" id="{9C9AABE5-054C-4C80-8CCF-ED04BE7F9142}"/>
              </a:ext>
            </a:extLst>
          </p:cNvPr>
          <p:cNvSpPr>
            <a:spLocks xmlns:a="http://schemas.openxmlformats.org/drawingml/2006/main" noGrp="1"/>
          </p:cNvSpPr>
          <p:nvPr/>
        </p:nvSpPr>
        <p:spPr>
          <a:xfrm xmlns:a="http://schemas.openxmlformats.org/drawingml/2006/main">
            <a:off x="457200" y="1828800"/>
            <a:ext cx="914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Capture</a:t>
            </a:r>
          </a:p>
        </p:txBody>
      </p:sp>
      <p:sp>
        <p:nvSpPr>
          <p:cNvPr id="6" name="Shape 4">
            <a:extLst xmlns:a="http://schemas.openxmlformats.org/drawingml/2006/main">
              <a:ext uri="{FF2B5EF4-FFF2-40B4-BE49-F238E27FC236}">
                <a16:creationId xmlns:a16="http://schemas.microsoft.com/office/drawing/2014/main" id="{56F5C8D6-6E42-4468-902D-1BEE5707B18F}"/>
              </a:ext>
            </a:extLst>
          </p:cNvPr>
          <p:cNvSpPr>
            <a:spLocks xmlns:a="http://schemas.openxmlformats.org/drawingml/2006/main" noGrp="1"/>
          </p:cNvSpPr>
          <p:nvPr/>
        </p:nvSpPr>
        <p:spPr>
          <a:xfrm xmlns:a="http://schemas.openxmlformats.org/drawingml/2006/main">
            <a:off x="1371600" y="201168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7" name="Shape 5">
            <a:extLst xmlns:a="http://schemas.openxmlformats.org/drawingml/2006/main">
              <a:ext uri="{FF2B5EF4-FFF2-40B4-BE49-F238E27FC236}">
                <a16:creationId xmlns:a16="http://schemas.microsoft.com/office/drawing/2014/main" id="{46BFAE7F-7ABA-4C18-BF85-E6B03B508D8F}"/>
              </a:ext>
            </a:extLst>
          </p:cNvPr>
          <p:cNvSpPr>
            <a:spLocks xmlns:a="http://schemas.openxmlformats.org/drawingml/2006/main" noGrp="1"/>
          </p:cNvSpPr>
          <p:nvPr/>
        </p:nvSpPr>
        <p:spPr>
          <a:xfrm xmlns:a="http://schemas.openxmlformats.org/drawingml/2006/main">
            <a:off x="1554480" y="1828800"/>
            <a:ext cx="914400" cy="457200"/>
          </a:xfrm>
          <a:prstGeom xmlns:a="http://schemas.openxmlformats.org/drawingml/2006/main" prst="roundRect">
            <a:avLst>
              <a:gd name="adj" fmla="val 20000"/>
            </a:avLst>
          </a:prstGeom>
          <a:solidFill xmlns:a="http://schemas.openxmlformats.org/drawingml/2006/main">
            <a:srgbClr val="00A86B"/>
          </a:solidFill>
          <a:ln xmlns:a="http://schemas.openxmlformats.org/drawingml/2006/main" w="12700">
            <a:solidFill>
              <a:srgbClr val="00A86B"/>
            </a:solidFill>
            <a:prstDash val="solid"/>
          </a:ln>
        </p:spPr>
      </p:sp>
      <p:sp>
        <p:nvSpPr>
          <p:cNvPr id="8" name="Text 6">
            <a:extLst xmlns:a="http://schemas.openxmlformats.org/drawingml/2006/main">
              <a:ext uri="{FF2B5EF4-FFF2-40B4-BE49-F238E27FC236}">
                <a16:creationId xmlns:a16="http://schemas.microsoft.com/office/drawing/2014/main" id="{2B24D096-2F24-438F-A3C7-1D6B5676DD80}"/>
              </a:ext>
            </a:extLst>
          </p:cNvPr>
          <p:cNvSpPr>
            <a:spLocks xmlns:a="http://schemas.openxmlformats.org/drawingml/2006/main" noGrp="1"/>
          </p:cNvSpPr>
          <p:nvPr/>
        </p:nvSpPr>
        <p:spPr>
          <a:xfrm xmlns:a="http://schemas.openxmlformats.org/drawingml/2006/main">
            <a:off x="1554480" y="1828800"/>
            <a:ext cx="914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Ingest</a:t>
            </a:r>
          </a:p>
        </p:txBody>
      </p:sp>
      <p:sp>
        <p:nvSpPr>
          <p:cNvPr id="9" name="Shape 7">
            <a:extLst xmlns:a="http://schemas.openxmlformats.org/drawingml/2006/main">
              <a:ext uri="{FF2B5EF4-FFF2-40B4-BE49-F238E27FC236}">
                <a16:creationId xmlns:a16="http://schemas.microsoft.com/office/drawing/2014/main" id="{EDFA1797-3EFB-4A25-9850-8B199E6552A4}"/>
              </a:ext>
            </a:extLst>
          </p:cNvPr>
          <p:cNvSpPr>
            <a:spLocks xmlns:a="http://schemas.openxmlformats.org/drawingml/2006/main" noGrp="1"/>
          </p:cNvSpPr>
          <p:nvPr/>
        </p:nvSpPr>
        <p:spPr>
          <a:xfrm xmlns:a="http://schemas.openxmlformats.org/drawingml/2006/main">
            <a:off x="2468880" y="201168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0" name="Shape 8">
            <a:extLst xmlns:a="http://schemas.openxmlformats.org/drawingml/2006/main">
              <a:ext uri="{FF2B5EF4-FFF2-40B4-BE49-F238E27FC236}">
                <a16:creationId xmlns:a16="http://schemas.microsoft.com/office/drawing/2014/main" id="{A374E73C-9574-4431-88FD-757D5E4AB788}"/>
              </a:ext>
            </a:extLst>
          </p:cNvPr>
          <p:cNvSpPr>
            <a:spLocks xmlns:a="http://schemas.openxmlformats.org/drawingml/2006/main" noGrp="1"/>
          </p:cNvSpPr>
          <p:nvPr/>
        </p:nvSpPr>
        <p:spPr>
          <a:xfrm xmlns:a="http://schemas.openxmlformats.org/drawingml/2006/main">
            <a:off x="2651760" y="1828800"/>
            <a:ext cx="914400" cy="457200"/>
          </a:xfrm>
          <a:prstGeom xmlns:a="http://schemas.openxmlformats.org/drawingml/2006/main" prst="roundRect">
            <a:avLst>
              <a:gd name="adj" fmla="val 20000"/>
            </a:avLst>
          </a:prstGeom>
          <a:solidFill xmlns:a="http://schemas.openxmlformats.org/drawingml/2006/main">
            <a:srgbClr val="E68200"/>
          </a:solidFill>
          <a:ln xmlns:a="http://schemas.openxmlformats.org/drawingml/2006/main" w="12700">
            <a:solidFill>
              <a:srgbClr val="E68200"/>
            </a:solidFill>
            <a:prstDash val="solid"/>
          </a:ln>
        </p:spPr>
      </p:sp>
      <p:sp>
        <p:nvSpPr>
          <p:cNvPr id="11" name="Text 9">
            <a:extLst xmlns:a="http://schemas.openxmlformats.org/drawingml/2006/main">
              <a:ext uri="{FF2B5EF4-FFF2-40B4-BE49-F238E27FC236}">
                <a16:creationId xmlns:a16="http://schemas.microsoft.com/office/drawing/2014/main" id="{B755C58D-31F2-42EB-B28F-C9516A33DE20}"/>
              </a:ext>
            </a:extLst>
          </p:cNvPr>
          <p:cNvSpPr>
            <a:spLocks xmlns:a="http://schemas.openxmlformats.org/drawingml/2006/main" noGrp="1"/>
          </p:cNvSpPr>
          <p:nvPr/>
        </p:nvSpPr>
        <p:spPr>
          <a:xfrm xmlns:a="http://schemas.openxmlformats.org/drawingml/2006/main">
            <a:off x="2651760" y="1828800"/>
            <a:ext cx="914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Transform</a:t>
            </a:r>
          </a:p>
        </p:txBody>
      </p:sp>
      <p:sp>
        <p:nvSpPr>
          <p:cNvPr id="12" name="Shape 10">
            <a:extLst xmlns:a="http://schemas.openxmlformats.org/drawingml/2006/main">
              <a:ext uri="{FF2B5EF4-FFF2-40B4-BE49-F238E27FC236}">
                <a16:creationId xmlns:a16="http://schemas.microsoft.com/office/drawing/2014/main" id="{414B70B6-F215-4AD2-9A89-04DDBB158CD4}"/>
              </a:ext>
            </a:extLst>
          </p:cNvPr>
          <p:cNvSpPr>
            <a:spLocks xmlns:a="http://schemas.openxmlformats.org/drawingml/2006/main" noGrp="1"/>
          </p:cNvSpPr>
          <p:nvPr/>
        </p:nvSpPr>
        <p:spPr>
          <a:xfrm xmlns:a="http://schemas.openxmlformats.org/drawingml/2006/main">
            <a:off x="3566160" y="201168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3" name="Shape 11">
            <a:extLst xmlns:a="http://schemas.openxmlformats.org/drawingml/2006/main">
              <a:ext uri="{FF2B5EF4-FFF2-40B4-BE49-F238E27FC236}">
                <a16:creationId xmlns:a16="http://schemas.microsoft.com/office/drawing/2014/main" id="{5B98EE92-73F7-4CF7-993E-C89FA2D101FD}"/>
              </a:ext>
            </a:extLst>
          </p:cNvPr>
          <p:cNvSpPr>
            <a:spLocks xmlns:a="http://schemas.openxmlformats.org/drawingml/2006/main" noGrp="1"/>
          </p:cNvSpPr>
          <p:nvPr/>
        </p:nvSpPr>
        <p:spPr>
          <a:xfrm xmlns:a="http://schemas.openxmlformats.org/drawingml/2006/main">
            <a:off x="3749040" y="1828800"/>
            <a:ext cx="914400" cy="457200"/>
          </a:xfrm>
          <a:prstGeom xmlns:a="http://schemas.openxmlformats.org/drawingml/2006/main" prst="roundRect">
            <a:avLst>
              <a:gd name="adj" fmla="val 20000"/>
            </a:avLst>
          </a:prstGeom>
          <a:solidFill xmlns:a="http://schemas.openxmlformats.org/drawingml/2006/main">
            <a:srgbClr val="0077CC"/>
          </a:solidFill>
          <a:ln xmlns:a="http://schemas.openxmlformats.org/drawingml/2006/main" w="12700">
            <a:solidFill>
              <a:srgbClr val="0077CC"/>
            </a:solidFill>
            <a:prstDash val="solid"/>
          </a:ln>
        </p:spPr>
      </p:sp>
      <p:sp>
        <p:nvSpPr>
          <p:cNvPr id="14" name="Text 12">
            <a:extLst xmlns:a="http://schemas.openxmlformats.org/drawingml/2006/main">
              <a:ext uri="{FF2B5EF4-FFF2-40B4-BE49-F238E27FC236}">
                <a16:creationId xmlns:a16="http://schemas.microsoft.com/office/drawing/2014/main" id="{FA6BBF6D-CF13-45D8-BD2B-4055C3803C2B}"/>
              </a:ext>
            </a:extLst>
          </p:cNvPr>
          <p:cNvSpPr>
            <a:spLocks xmlns:a="http://schemas.openxmlformats.org/drawingml/2006/main" noGrp="1"/>
          </p:cNvSpPr>
          <p:nvPr/>
        </p:nvSpPr>
        <p:spPr>
          <a:xfrm xmlns:a="http://schemas.openxmlformats.org/drawingml/2006/main">
            <a:off x="3749040" y="1828800"/>
            <a:ext cx="914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Store</a:t>
            </a:r>
          </a:p>
        </p:txBody>
      </p:sp>
      <p:sp>
        <p:nvSpPr>
          <p:cNvPr id="15" name="Shape 13">
            <a:extLst xmlns:a="http://schemas.openxmlformats.org/drawingml/2006/main">
              <a:ext uri="{FF2B5EF4-FFF2-40B4-BE49-F238E27FC236}">
                <a16:creationId xmlns:a16="http://schemas.microsoft.com/office/drawing/2014/main" id="{59862A4D-FEE6-4FEF-BD30-376ADD50BA06}"/>
              </a:ext>
            </a:extLst>
          </p:cNvPr>
          <p:cNvSpPr>
            <a:spLocks xmlns:a="http://schemas.openxmlformats.org/drawingml/2006/main" noGrp="1"/>
          </p:cNvSpPr>
          <p:nvPr/>
        </p:nvSpPr>
        <p:spPr>
          <a:xfrm xmlns:a="http://schemas.openxmlformats.org/drawingml/2006/main">
            <a:off x="4663440" y="201168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6" name="Shape 14">
            <a:extLst xmlns:a="http://schemas.openxmlformats.org/drawingml/2006/main">
              <a:ext uri="{FF2B5EF4-FFF2-40B4-BE49-F238E27FC236}">
                <a16:creationId xmlns:a16="http://schemas.microsoft.com/office/drawing/2014/main" id="{16C70203-7464-4888-B60F-471AB9F161D1}"/>
              </a:ext>
            </a:extLst>
          </p:cNvPr>
          <p:cNvSpPr>
            <a:spLocks xmlns:a="http://schemas.openxmlformats.org/drawingml/2006/main" noGrp="1"/>
          </p:cNvSpPr>
          <p:nvPr/>
        </p:nvSpPr>
        <p:spPr>
          <a:xfrm xmlns:a="http://schemas.openxmlformats.org/drawingml/2006/main">
            <a:off x="4846320" y="1828800"/>
            <a:ext cx="914400" cy="457200"/>
          </a:xfrm>
          <a:prstGeom xmlns:a="http://schemas.openxmlformats.org/drawingml/2006/main" prst="roundRect">
            <a:avLst>
              <a:gd name="adj" fmla="val 20000"/>
            </a:avLst>
          </a:prstGeom>
          <a:solidFill xmlns:a="http://schemas.openxmlformats.org/drawingml/2006/main">
            <a:srgbClr val="00A86B"/>
          </a:solidFill>
          <a:ln xmlns:a="http://schemas.openxmlformats.org/drawingml/2006/main" w="12700">
            <a:solidFill>
              <a:srgbClr val="00A86B"/>
            </a:solidFill>
            <a:prstDash val="solid"/>
          </a:ln>
        </p:spPr>
      </p:sp>
      <p:sp>
        <p:nvSpPr>
          <p:cNvPr id="17" name="Text 15">
            <a:extLst xmlns:a="http://schemas.openxmlformats.org/drawingml/2006/main">
              <a:ext uri="{FF2B5EF4-FFF2-40B4-BE49-F238E27FC236}">
                <a16:creationId xmlns:a16="http://schemas.microsoft.com/office/drawing/2014/main" id="{48011DD7-6CDD-4020-BE3E-D7B53D723859}"/>
              </a:ext>
            </a:extLst>
          </p:cNvPr>
          <p:cNvSpPr>
            <a:spLocks xmlns:a="http://schemas.openxmlformats.org/drawingml/2006/main" noGrp="1"/>
          </p:cNvSpPr>
          <p:nvPr/>
        </p:nvSpPr>
        <p:spPr>
          <a:xfrm xmlns:a="http://schemas.openxmlformats.org/drawingml/2006/main">
            <a:off x="4846320" y="1828800"/>
            <a:ext cx="914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Orchestrate</a:t>
            </a:r>
          </a:p>
        </p:txBody>
      </p:sp>
      <p:sp>
        <p:nvSpPr>
          <p:cNvPr id="18" name="Shape 16">
            <a:extLst xmlns:a="http://schemas.openxmlformats.org/drawingml/2006/main">
              <a:ext uri="{FF2B5EF4-FFF2-40B4-BE49-F238E27FC236}">
                <a16:creationId xmlns:a16="http://schemas.microsoft.com/office/drawing/2014/main" id="{F2658209-3CE4-4BB5-9ACA-815E1D84D8DA}"/>
              </a:ext>
            </a:extLst>
          </p:cNvPr>
          <p:cNvSpPr>
            <a:spLocks xmlns:a="http://schemas.openxmlformats.org/drawingml/2006/main" noGrp="1"/>
          </p:cNvSpPr>
          <p:nvPr/>
        </p:nvSpPr>
        <p:spPr>
          <a:xfrm xmlns:a="http://schemas.openxmlformats.org/drawingml/2006/main">
            <a:off x="5760720" y="201168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9" name="Shape 17">
            <a:extLst xmlns:a="http://schemas.openxmlformats.org/drawingml/2006/main">
              <a:ext uri="{FF2B5EF4-FFF2-40B4-BE49-F238E27FC236}">
                <a16:creationId xmlns:a16="http://schemas.microsoft.com/office/drawing/2014/main" id="{7B31BE02-A710-43ED-B4A9-10496FE05016}"/>
              </a:ext>
            </a:extLst>
          </p:cNvPr>
          <p:cNvSpPr>
            <a:spLocks xmlns:a="http://schemas.openxmlformats.org/drawingml/2006/main" noGrp="1"/>
          </p:cNvSpPr>
          <p:nvPr/>
        </p:nvSpPr>
        <p:spPr>
          <a:xfrm xmlns:a="http://schemas.openxmlformats.org/drawingml/2006/main">
            <a:off x="5943600" y="1828800"/>
            <a:ext cx="914400" cy="457200"/>
          </a:xfrm>
          <a:prstGeom xmlns:a="http://schemas.openxmlformats.org/drawingml/2006/main" prst="roundRect">
            <a:avLst>
              <a:gd name="adj" fmla="val 20000"/>
            </a:avLst>
          </a:prstGeom>
          <a:solidFill xmlns:a="http://schemas.openxmlformats.org/drawingml/2006/main">
            <a:srgbClr val="E68200"/>
          </a:solidFill>
          <a:ln xmlns:a="http://schemas.openxmlformats.org/drawingml/2006/main" w="12700">
            <a:solidFill>
              <a:srgbClr val="E68200"/>
            </a:solidFill>
            <a:prstDash val="solid"/>
          </a:ln>
        </p:spPr>
      </p:sp>
      <p:sp>
        <p:nvSpPr>
          <p:cNvPr id="20" name="Text 18">
            <a:extLst xmlns:a="http://schemas.openxmlformats.org/drawingml/2006/main">
              <a:ext uri="{FF2B5EF4-FFF2-40B4-BE49-F238E27FC236}">
                <a16:creationId xmlns:a16="http://schemas.microsoft.com/office/drawing/2014/main" id="{66CE0F92-A105-44E9-9CAA-E06DCCE8BBEC}"/>
              </a:ext>
            </a:extLst>
          </p:cNvPr>
          <p:cNvSpPr>
            <a:spLocks xmlns:a="http://schemas.openxmlformats.org/drawingml/2006/main" noGrp="1"/>
          </p:cNvSpPr>
          <p:nvPr/>
        </p:nvSpPr>
        <p:spPr>
          <a:xfrm xmlns:a="http://schemas.openxmlformats.org/drawingml/2006/main">
            <a:off x="5943600" y="1828800"/>
            <a:ext cx="914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Analyse</a:t>
            </a:r>
          </a:p>
        </p:txBody>
      </p:sp>
      <p:sp>
        <p:nvSpPr>
          <p:cNvPr id="21" name="Shape 19">
            <a:extLst xmlns:a="http://schemas.openxmlformats.org/drawingml/2006/main">
              <a:ext uri="{FF2B5EF4-FFF2-40B4-BE49-F238E27FC236}">
                <a16:creationId xmlns:a16="http://schemas.microsoft.com/office/drawing/2014/main" id="{212FB0F1-E08E-40AA-99C2-FBDDA6FDB0D8}"/>
              </a:ext>
            </a:extLst>
          </p:cNvPr>
          <p:cNvSpPr>
            <a:spLocks xmlns:a="http://schemas.openxmlformats.org/drawingml/2006/main" noGrp="1"/>
          </p:cNvSpPr>
          <p:nvPr/>
        </p:nvSpPr>
        <p:spPr>
          <a:xfrm xmlns:a="http://schemas.openxmlformats.org/drawingml/2006/main">
            <a:off x="6858000" y="2011680"/>
            <a:ext cx="182880" cy="91440"/>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22" name="Shape 20">
            <a:extLst xmlns:a="http://schemas.openxmlformats.org/drawingml/2006/main">
              <a:ext uri="{FF2B5EF4-FFF2-40B4-BE49-F238E27FC236}">
                <a16:creationId xmlns:a16="http://schemas.microsoft.com/office/drawing/2014/main" id="{40C162CA-1FF2-4555-8238-6C7B3A67373A}"/>
              </a:ext>
            </a:extLst>
          </p:cNvPr>
          <p:cNvSpPr>
            <a:spLocks xmlns:a="http://schemas.openxmlformats.org/drawingml/2006/main" noGrp="1"/>
          </p:cNvSpPr>
          <p:nvPr/>
        </p:nvSpPr>
        <p:spPr>
          <a:xfrm xmlns:a="http://schemas.openxmlformats.org/drawingml/2006/main">
            <a:off x="7040880" y="1828800"/>
            <a:ext cx="914400" cy="457200"/>
          </a:xfrm>
          <a:prstGeom xmlns:a="http://schemas.openxmlformats.org/drawingml/2006/main" prst="roundRect">
            <a:avLst>
              <a:gd name="adj" fmla="val 20000"/>
            </a:avLst>
          </a:prstGeom>
          <a:solidFill xmlns:a="http://schemas.openxmlformats.org/drawingml/2006/main">
            <a:srgbClr val="0077CC"/>
          </a:solidFill>
          <a:ln xmlns:a="http://schemas.openxmlformats.org/drawingml/2006/main" w="12700">
            <a:solidFill>
              <a:srgbClr val="0077CC"/>
            </a:solidFill>
            <a:prstDash val="solid"/>
          </a:ln>
        </p:spPr>
      </p:sp>
      <p:sp>
        <p:nvSpPr>
          <p:cNvPr id="23" name="Text 21">
            <a:extLst xmlns:a="http://schemas.openxmlformats.org/drawingml/2006/main">
              <a:ext uri="{FF2B5EF4-FFF2-40B4-BE49-F238E27FC236}">
                <a16:creationId xmlns:a16="http://schemas.microsoft.com/office/drawing/2014/main" id="{4025EBDF-D105-447E-8ABA-F33B60721BDC}"/>
              </a:ext>
            </a:extLst>
          </p:cNvPr>
          <p:cNvSpPr>
            <a:spLocks xmlns:a="http://schemas.openxmlformats.org/drawingml/2006/main" noGrp="1"/>
          </p:cNvSpPr>
          <p:nvPr/>
        </p:nvSpPr>
        <p:spPr>
          <a:xfrm xmlns:a="http://schemas.openxmlformats.org/drawingml/2006/main">
            <a:off x="7040880" y="1828800"/>
            <a:ext cx="914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00">
                <a:solidFill>
                  <a:srgbClr val="FFFFFF"/>
                </a:solidFill>
              </a:rPr>
              <a:t>Serve</a:t>
            </a:r>
          </a:p>
        </p:txBody>
      </p:sp>
      <p:sp>
        <p:nvSpPr>
          <p:cNvPr id="24" name="Text 22">
            <a:extLst xmlns:a="http://schemas.openxmlformats.org/drawingml/2006/main">
              <a:ext uri="{FF2B5EF4-FFF2-40B4-BE49-F238E27FC236}">
                <a16:creationId xmlns:a16="http://schemas.microsoft.com/office/drawing/2014/main" id="{ED47B358-64AE-4B38-B4E8-5763C1318CAB}"/>
              </a:ext>
            </a:extLst>
          </p:cNvPr>
          <p:cNvSpPr>
            <a:spLocks xmlns:a="http://schemas.openxmlformats.org/drawingml/2006/main" noGrp="1"/>
          </p:cNvSpPr>
          <p:nvPr/>
        </p:nvSpPr>
        <p:spPr>
          <a:xfrm xmlns:a="http://schemas.openxmlformats.org/drawingml/2006/main">
            <a:off x="457200" y="2926080"/>
            <a:ext cx="868680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A6A6A"/>
                </a:solidFill>
              </a:rPr>
              <a:t>Each event flows through the pipeline, being validated, enriched, stored and consumed at each stage.</a:t>
            </a:r>
          </a:p>
        </p:txBody>
      </p:sp>
      <p:sp>
        <p:nvSpPr>
          <p:cNvPr id="25" name="Text 23">
            <a:extLst xmlns:a="http://schemas.openxmlformats.org/drawingml/2006/main">
              <a:ext uri="{FF2B5EF4-FFF2-40B4-BE49-F238E27FC236}">
                <a16:creationId xmlns:a16="http://schemas.microsoft.com/office/drawing/2014/main" id="{4B820302-17E5-4ACA-8010-3ED385BCD203}"/>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ab8f00c721054e3e"/>
              </a:rPr>
              <a:t>[1]</a:t>
            </a:r>
            <a:r>
              <a:rPr sz="600">
                <a:solidFill>
                  <a:srgbClr val="000000"/>
                </a:solidFill>
              </a:rPr>
              <a:t>  </a:t>
            </a:r>
            <a:r>
              <a:rPr sz="600" u="sng">
                <a:solidFill>
                  <a:srgbClr val="0066CC"/>
                </a:solidFill>
                <a:hlinkClick xmlns:r="http://schemas.openxmlformats.org/officeDocument/2006/relationships" r:id="Raf203b0c449441d7"/>
              </a:rPr>
              <a:t>[2]</a:t>
            </a:r>
            <a:r>
              <a:rPr sz="600">
                <a:solidFill>
                  <a:srgbClr val="000000"/>
                </a:solidFill>
              </a:rPr>
              <a:t>  </a:t>
            </a:r>
            <a:r>
              <a:rPr sz="600" u="sng">
                <a:solidFill>
                  <a:srgbClr val="0066CC"/>
                </a:solidFill>
                <a:hlinkClick xmlns:r="http://schemas.openxmlformats.org/officeDocument/2006/relationships" r:id="R8e611a5cd7e54183"/>
              </a:rPr>
              <a:t>[3]</a:t>
            </a:r>
          </a:p>
        </p:txBody>
      </p:sp>
    </p:spTree>
    <p:extLst>
      <p:ext uri="{BB962C8B-B14F-4D97-AF65-F5344CB8AC3E}">
        <p14:creationId xmlns:p14="http://schemas.microsoft.com/office/powerpoint/2010/main" val="32276652"/>
      </p:ext>
    </p:extLst>
  </p:cSld>
</p:sld>
</file>

<file path=ppt/slides/slide13.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4BE65A0-1D11-4AB2-B07A-F73CC2BBC153}"/>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56A3F1C0-A833-43FD-9B87-2267953B3B2C}"/>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Implementation Plan</a:t>
            </a:r>
          </a:p>
        </p:txBody>
      </p:sp>
      <p:sp>
        <p:nvSpPr>
          <p:cNvPr id="4" name="Text 2">
            <a:extLst xmlns:a="http://schemas.openxmlformats.org/drawingml/2006/main">
              <a:ext uri="{FF2B5EF4-FFF2-40B4-BE49-F238E27FC236}">
                <a16:creationId xmlns:a16="http://schemas.microsoft.com/office/drawing/2014/main" id="{382A2DA3-65BE-4645-AA84-7B510CBBFC51}"/>
              </a:ext>
            </a:extLst>
          </p:cNvPr>
          <p:cNvSpPr>
            <a:spLocks xmlns:a="http://schemas.openxmlformats.org/drawingml/2006/main" noGrp="1"/>
          </p:cNvSpPr>
          <p:nvPr/>
        </p:nvSpPr>
        <p:spPr>
          <a:xfrm xmlns:a="http://schemas.openxmlformats.org/drawingml/2006/main">
            <a:off x="457200" y="731520"/>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1. Run supplied stack: Kafka, Schema Registry, Kafka Connect, Postgres, ksqlDB and Kafka UI.</a:t>
            </a:r>
          </a:p>
        </p:txBody>
      </p:sp>
      <p:sp>
        <p:nvSpPr>
          <p:cNvPr id="5" name="Text 3">
            <a:extLst xmlns:a="http://schemas.openxmlformats.org/drawingml/2006/main">
              <a:ext uri="{FF2B5EF4-FFF2-40B4-BE49-F238E27FC236}">
                <a16:creationId xmlns:a16="http://schemas.microsoft.com/office/drawing/2014/main" id="{4181A380-7598-486A-97FA-1190F7A9618C}"/>
              </a:ext>
            </a:extLst>
          </p:cNvPr>
          <p:cNvSpPr>
            <a:spLocks xmlns:a="http://schemas.openxmlformats.org/drawingml/2006/main" noGrp="1"/>
          </p:cNvSpPr>
          <p:nvPr/>
        </p:nvSpPr>
        <p:spPr>
          <a:xfrm xmlns:a="http://schemas.openxmlformats.org/drawingml/2006/main">
            <a:off x="457200" y="987552"/>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2. Verify seeded source tables and logical replication-ready databases.</a:t>
            </a:r>
          </a:p>
        </p:txBody>
      </p:sp>
      <p:sp>
        <p:nvSpPr>
          <p:cNvPr id="6" name="Text 4">
            <a:extLst xmlns:a="http://schemas.openxmlformats.org/drawingml/2006/main">
              <a:ext uri="{FF2B5EF4-FFF2-40B4-BE49-F238E27FC236}">
                <a16:creationId xmlns:a16="http://schemas.microsoft.com/office/drawing/2014/main" id="{32AEE7E6-AC74-4DD2-BC1F-64A018A07DE5}"/>
              </a:ext>
            </a:extLst>
          </p:cNvPr>
          <p:cNvSpPr>
            <a:spLocks xmlns:a="http://schemas.openxmlformats.org/drawingml/2006/main" noGrp="1"/>
          </p:cNvSpPr>
          <p:nvPr/>
        </p:nvSpPr>
        <p:spPr>
          <a:xfrm xmlns:a="http://schemas.openxmlformats.org/drawingml/2006/main">
            <a:off x="457200" y="1243584"/>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3. Register supplied Debezium connector configurations and verify CDC topics.</a:t>
            </a:r>
          </a:p>
        </p:txBody>
      </p:sp>
      <p:sp>
        <p:nvSpPr>
          <p:cNvPr id="7" name="Text 5">
            <a:extLst xmlns:a="http://schemas.openxmlformats.org/drawingml/2006/main">
              <a:ext uri="{FF2B5EF4-FFF2-40B4-BE49-F238E27FC236}">
                <a16:creationId xmlns:a16="http://schemas.microsoft.com/office/drawing/2014/main" id="{C1E2D2ED-286C-4C38-98B4-115EC16DAEF7}"/>
              </a:ext>
            </a:extLst>
          </p:cNvPr>
          <p:cNvSpPr>
            <a:spLocks xmlns:a="http://schemas.openxmlformats.org/drawingml/2006/main" noGrp="1"/>
          </p:cNvSpPr>
          <p:nvPr/>
        </p:nvSpPr>
        <p:spPr>
          <a:xfrm xmlns:a="http://schemas.openxmlformats.org/drawingml/2006/main">
            <a:off x="457200" y="1499616"/>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4. Observe schemas and record event/delete handling assumptions.</a:t>
            </a:r>
          </a:p>
        </p:txBody>
      </p:sp>
      <p:sp>
        <p:nvSpPr>
          <p:cNvPr id="8" name="Text 6">
            <a:extLst xmlns:a="http://schemas.openxmlformats.org/drawingml/2006/main">
              <a:ext uri="{FF2B5EF4-FFF2-40B4-BE49-F238E27FC236}">
                <a16:creationId xmlns:a16="http://schemas.microsoft.com/office/drawing/2014/main" id="{2C6ADDEA-C876-4029-8586-2A4AED6FA330}"/>
              </a:ext>
            </a:extLst>
          </p:cNvPr>
          <p:cNvSpPr>
            <a:spLocks xmlns:a="http://schemas.openxmlformats.org/drawingml/2006/main" noGrp="1"/>
          </p:cNvSpPr>
          <p:nvPr/>
        </p:nvSpPr>
        <p:spPr>
          <a:xfrm xmlns:a="http://schemas.openxmlformats.org/drawingml/2006/main">
            <a:off x="457200" y="175564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5. Run supplied ksqlDB queries to build cleaned and aggregated outputs.</a:t>
            </a:r>
          </a:p>
        </p:txBody>
      </p:sp>
      <p:sp>
        <p:nvSpPr>
          <p:cNvPr id="9" name="Text 7">
            <a:extLst xmlns:a="http://schemas.openxmlformats.org/drawingml/2006/main">
              <a:ext uri="{FF2B5EF4-FFF2-40B4-BE49-F238E27FC236}">
                <a16:creationId xmlns:a16="http://schemas.microsoft.com/office/drawing/2014/main" id="{F296D894-A6FC-4EB6-BB95-99C8AE6E9C1B}"/>
              </a:ext>
            </a:extLst>
          </p:cNvPr>
          <p:cNvSpPr>
            <a:spLocks xmlns:a="http://schemas.openxmlformats.org/drawingml/2006/main" noGrp="1"/>
          </p:cNvSpPr>
          <p:nvPr/>
        </p:nvSpPr>
        <p:spPr>
          <a:xfrm xmlns:a="http://schemas.openxmlformats.org/drawingml/2006/main">
            <a:off x="457200" y="2011680"/>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6. Produce CDC events, consume results and capture operational evidence.</a:t>
            </a:r>
          </a:p>
        </p:txBody>
      </p:sp>
      <p:sp>
        <p:nvSpPr>
          <p:cNvPr id="10" name="Text 8">
            <a:extLst xmlns:a="http://schemas.openxmlformats.org/drawingml/2006/main">
              <a:ext uri="{FF2B5EF4-FFF2-40B4-BE49-F238E27FC236}">
                <a16:creationId xmlns:a16="http://schemas.microsoft.com/office/drawing/2014/main" id="{2B4A2E01-88CA-4011-9DF9-C2B2CB183E8C}"/>
              </a:ext>
            </a:extLst>
          </p:cNvPr>
          <p:cNvSpPr>
            <a:spLocks xmlns:a="http://schemas.openxmlformats.org/drawingml/2006/main" noGrp="1"/>
          </p:cNvSpPr>
          <p:nvPr/>
        </p:nvSpPr>
        <p:spPr>
          <a:xfrm xmlns:a="http://schemas.openxmlformats.org/drawingml/2006/main">
            <a:off x="457200" y="2267712"/>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7. Create a Gold-layer dashboard artifact from an aggregate output.</a:t>
            </a:r>
          </a:p>
        </p:txBody>
      </p:sp>
      <p:sp>
        <p:nvSpPr>
          <p:cNvPr id="11" name="Text 9">
            <a:extLst xmlns:a="http://schemas.openxmlformats.org/drawingml/2006/main">
              <a:ext uri="{FF2B5EF4-FFF2-40B4-BE49-F238E27FC236}">
                <a16:creationId xmlns:a16="http://schemas.microsoft.com/office/drawing/2014/main" id="{E7A1CB1E-18E8-4898-BEF3-C9FACECBF82B}"/>
              </a:ext>
            </a:extLst>
          </p:cNvPr>
          <p:cNvSpPr>
            <a:spLocks xmlns:a="http://schemas.openxmlformats.org/drawingml/2006/main" noGrp="1"/>
          </p:cNvSpPr>
          <p:nvPr/>
        </p:nvSpPr>
        <p:spPr>
          <a:xfrm xmlns:a="http://schemas.openxmlformats.org/drawingml/2006/main">
            <a:off x="457200" y="2523744"/>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8. Extension: map Hop/Airflow/Iceberg responsibilities using prior-day work.</a:t>
            </a:r>
          </a:p>
        </p:txBody>
      </p:sp>
      <p:sp>
        <p:nvSpPr>
          <p:cNvPr id="12" name="Text 10">
            <a:extLst xmlns:a="http://schemas.openxmlformats.org/drawingml/2006/main">
              <a:ext uri="{FF2B5EF4-FFF2-40B4-BE49-F238E27FC236}">
                <a16:creationId xmlns:a16="http://schemas.microsoft.com/office/drawing/2014/main" id="{66C821E3-EDE1-4B89-A9B9-A657D614EBAA}"/>
              </a:ext>
            </a:extLst>
          </p:cNvPr>
          <p:cNvSpPr>
            <a:spLocks xmlns:a="http://schemas.openxmlformats.org/drawingml/2006/main" noGrp="1"/>
          </p:cNvSpPr>
          <p:nvPr/>
        </p:nvSpPr>
        <p:spPr>
          <a:xfrm xmlns:a="http://schemas.openxmlformats.org/drawingml/2006/main">
            <a:off x="457200" y="2779776"/>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77CC"/>
                </a:solidFill>
              </a:rPr>
              <a:t>9. Submit architecture, evidence, dashboard and production-readiness review.</a:t>
            </a:r>
          </a:p>
        </p:txBody>
      </p:sp>
      <p:sp>
        <p:nvSpPr>
          <p:cNvPr id="13" name="Text 11">
            <a:extLst xmlns:a="http://schemas.openxmlformats.org/drawingml/2006/main">
              <a:ext uri="{FF2B5EF4-FFF2-40B4-BE49-F238E27FC236}">
                <a16:creationId xmlns:a16="http://schemas.microsoft.com/office/drawing/2014/main" id="{167955B6-D099-450E-B080-3F4CFF27A946}"/>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2ac4343b157243af"/>
              </a:rPr>
              <a:t>[1]</a:t>
            </a:r>
            <a:r>
              <a:rPr sz="600">
                <a:solidFill>
                  <a:srgbClr val="000000"/>
                </a:solidFill>
              </a:rPr>
              <a:t>  </a:t>
            </a:r>
            <a:r>
              <a:rPr sz="600" u="sng">
                <a:solidFill>
                  <a:srgbClr val="0066CC"/>
                </a:solidFill>
                <a:hlinkClick xmlns:r="http://schemas.openxmlformats.org/officeDocument/2006/relationships" r:id="R536958f4dd004236"/>
              </a:rPr>
              <a:t>[2]</a:t>
            </a:r>
          </a:p>
        </p:txBody>
      </p:sp>
    </p:spTree>
    <p:extLst>
      <p:ext uri="{BB962C8B-B14F-4D97-AF65-F5344CB8AC3E}">
        <p14:creationId xmlns:p14="http://schemas.microsoft.com/office/powerpoint/2010/main" val="1026380398"/>
      </p:ext>
    </p:extLst>
  </p:cSld>
</p:sld>
</file>

<file path=ppt/slides/slide14.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8DBFF06-1BE2-40E7-971F-2E428847712D}"/>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E09C533C-2C05-4CFE-8DDC-418A32AF54BB}"/>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Step 1: Start Environment</a:t>
            </a:r>
          </a:p>
        </p:txBody>
      </p:sp>
      <p:sp>
        <p:nvSpPr>
          <p:cNvPr id="4" name="Text 2">
            <a:extLst xmlns:a="http://schemas.openxmlformats.org/drawingml/2006/main">
              <a:ext uri="{FF2B5EF4-FFF2-40B4-BE49-F238E27FC236}">
                <a16:creationId xmlns:a16="http://schemas.microsoft.com/office/drawing/2014/main" id="{5D69F329-C86E-4C72-A0EF-636088EC425E}"/>
              </a:ext>
            </a:extLst>
          </p:cNvPr>
          <p:cNvSpPr>
            <a:spLocks xmlns:a="http://schemas.openxmlformats.org/drawingml/2006/main" noGrp="1"/>
          </p:cNvSpPr>
          <p:nvPr/>
        </p:nvSpPr>
        <p:spPr>
          <a:xfrm xmlns:a="http://schemas.openxmlformats.org/drawingml/2006/main">
            <a:off x="457200" y="731520"/>
            <a:ext cx="5943600" cy="1645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6A6A6A"/>
                </a:solidFill>
              </a:rPr>
              <a:t>Run the provided docker‑compose stack to start all services (Kafka, Schema Registry, ksqldb, Debezium connectors, Hop, Airflow and Kafka UI). Use a monitoring tool such as Prometheus/Grafana if available.</a:t>
            </a:r>
          </a:p>
        </p:txBody>
      </p:sp>
      <p:sp>
        <p:nvSpPr>
          <p:cNvPr id="5" name="Shape 3">
            <a:extLst xmlns:a="http://schemas.openxmlformats.org/drawingml/2006/main">
              <a:ext uri="{FF2B5EF4-FFF2-40B4-BE49-F238E27FC236}">
                <a16:creationId xmlns:a16="http://schemas.microsoft.com/office/drawing/2014/main" id="{7ED30B1D-97BB-44C7-81AC-BE42BC7CBECB}"/>
              </a:ext>
            </a:extLst>
          </p:cNvPr>
          <p:cNvSpPr>
            <a:spLocks xmlns:a="http://schemas.openxmlformats.org/drawingml/2006/main" noGrp="1"/>
          </p:cNvSpPr>
          <p:nvPr/>
        </p:nvSpPr>
        <p:spPr>
          <a:xfrm xmlns:a="http://schemas.openxmlformats.org/drawingml/2006/main">
            <a:off x="6583680" y="822960"/>
            <a:ext cx="2468880" cy="914400"/>
          </a:xfrm>
          <a:prstGeom xmlns:a="http://schemas.openxmlformats.org/drawingml/2006/main" prst="roundRect">
            <a:avLst>
              <a:gd name="adj" fmla="val 5000"/>
            </a:avLst>
          </a:prstGeom>
          <a:solidFill xmlns:a="http://schemas.openxmlformats.org/drawingml/2006/main">
            <a:srgbClr val="F5F5F5"/>
          </a:solidFill>
          <a:ln xmlns:a="http://schemas.openxmlformats.org/drawingml/2006/main" w="12700">
            <a:solidFill>
              <a:srgbClr val="E0E0E0"/>
            </a:solidFill>
            <a:prstDash val="solid"/>
          </a:ln>
        </p:spPr>
      </p:sp>
      <p:sp>
        <p:nvSpPr>
          <p:cNvPr id="6" name="Text 4">
            <a:extLst xmlns:a="http://schemas.openxmlformats.org/drawingml/2006/main">
              <a:ext uri="{FF2B5EF4-FFF2-40B4-BE49-F238E27FC236}">
                <a16:creationId xmlns:a16="http://schemas.microsoft.com/office/drawing/2014/main" id="{4749E884-B3AD-4E83-9763-813E89E13C2C}"/>
              </a:ext>
            </a:extLst>
          </p:cNvPr>
          <p:cNvSpPr>
            <a:spLocks xmlns:a="http://schemas.openxmlformats.org/drawingml/2006/main" noGrp="1"/>
          </p:cNvSpPr>
          <p:nvPr/>
        </p:nvSpPr>
        <p:spPr>
          <a:xfrm xmlns:a="http://schemas.openxmlformats.org/drawingml/2006/main">
            <a:off x="6629400" y="841248"/>
            <a:ext cx="23774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6A9955"/>
                </a:solidFill>
                <a:latin typeface="Consolas"/>
                <a:ea typeface="Consolas"/>
                <a:cs typeface="Consolas"/>
              </a:rPr>
              <a:t># terminal</a:t>
            </a:r>
          </a:p>
          <a:p xmlns:a="http://schemas.openxmlformats.org/drawingml/2006/main">
            <a:pPr marL="0" indent="0">
              <a:buNone/>
            </a:pPr>
            <a:r>
              <a:rPr sz="800">
                <a:solidFill>
                  <a:srgbClr val="003C54"/>
                </a:solidFill>
                <a:latin typeface="Consolas"/>
                <a:ea typeface="Consolas"/>
                <a:cs typeface="Consolas"/>
              </a:rPr>
              <a:t>cd day10_final</a:t>
            </a:r>
          </a:p>
          <a:p xmlns:a="http://schemas.openxmlformats.org/drawingml/2006/main">
            <a:pPr marL="0" indent="0">
              <a:buNone/>
            </a:pPr>
            <a:r>
              <a:rPr sz="800">
                <a:solidFill>
                  <a:srgbClr val="003C54"/>
                </a:solidFill>
                <a:latin typeface="Consolas"/>
                <a:ea typeface="Consolas"/>
                <a:cs typeface="Consolas"/>
              </a:rPr>
              <a:t>/lab-code</a:t>
            </a:r>
          </a:p>
          <a:p xmlns:a="http://schemas.openxmlformats.org/drawingml/2006/main">
            <a:pPr marL="0" indent="0">
              <a:buNone/>
            </a:pPr>
            <a:r>
              <a:rPr sz="800">
                <a:solidFill>
                  <a:srgbClr val="003C54"/>
                </a:solidFill>
                <a:latin typeface="Consolas"/>
                <a:ea typeface="Consolas"/>
                <a:cs typeface="Consolas"/>
              </a:rPr>
              <a:t>docker compose up </a:t>
            </a:r>
          </a:p>
          <a:p xmlns:a="http://schemas.openxmlformats.org/drawingml/2006/main">
            <a:pPr marL="0" indent="0">
              <a:buNone/>
            </a:pPr>
            <a:r>
              <a:rPr sz="800">
                <a:solidFill>
                  <a:srgbClr val="003C54"/>
                </a:solidFill>
                <a:latin typeface="Consolas"/>
                <a:ea typeface="Consolas"/>
                <a:cs typeface="Consolas"/>
              </a:rPr>
              <a:t>-d</a:t>
            </a:r>
          </a:p>
        </p:txBody>
      </p:sp>
      <p:sp>
        <p:nvSpPr>
          <p:cNvPr id="7" name="Text 5">
            <a:extLst xmlns:a="http://schemas.openxmlformats.org/drawingml/2006/main">
              <a:ext uri="{FF2B5EF4-FFF2-40B4-BE49-F238E27FC236}">
                <a16:creationId xmlns:a16="http://schemas.microsoft.com/office/drawing/2014/main" id="{C38B46CD-3F86-4B51-A31F-9487A75C90A4}"/>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8c0c4b158d714116"/>
              </a:rPr>
              <a:t>[1]</a:t>
            </a:r>
          </a:p>
        </p:txBody>
      </p:sp>
    </p:spTree>
    <p:extLst>
      <p:ext uri="{BB962C8B-B14F-4D97-AF65-F5344CB8AC3E}">
        <p14:creationId xmlns:p14="http://schemas.microsoft.com/office/powerpoint/2010/main" val="1534254542"/>
      </p:ext>
    </p:extLst>
  </p:cSld>
</p:sld>
</file>

<file path=ppt/slides/slide15.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9DFFC14-3551-4901-84EB-BB7A64408122}"/>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3C11B503-B3D8-4273-8B97-6A6220497BEF}"/>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Step 2: Capture Changes</a:t>
            </a:r>
          </a:p>
        </p:txBody>
      </p:sp>
      <p:sp>
        <p:nvSpPr>
          <p:cNvPr id="4" name="Text 2">
            <a:extLst xmlns:a="http://schemas.openxmlformats.org/drawingml/2006/main">
              <a:ext uri="{FF2B5EF4-FFF2-40B4-BE49-F238E27FC236}">
                <a16:creationId xmlns:a16="http://schemas.microsoft.com/office/drawing/2014/main" id="{5089E574-791E-427E-B891-E6D766CE3BA2}"/>
              </a:ext>
            </a:extLst>
          </p:cNvPr>
          <p:cNvSpPr>
            <a:spLocks xmlns:a="http://schemas.openxmlformats.org/drawingml/2006/main" noGrp="1"/>
          </p:cNvSpPr>
          <p:nvPr/>
        </p:nvSpPr>
        <p:spPr>
          <a:xfrm xmlns:a="http://schemas.openxmlformats.org/drawingml/2006/main">
            <a:off x="457200" y="731520"/>
            <a:ext cx="594360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6A6A6A"/>
                </a:solidFill>
              </a:rPr>
              <a:t>Create PostgreSQL and MySQL source tables with sample data. Register Debezium source connectors via REST API or UI to stream row‑level changes into Kafka topics.</a:t>
            </a:r>
          </a:p>
        </p:txBody>
      </p:sp>
      <p:sp>
        <p:nvSpPr>
          <p:cNvPr id="5" name="Shape 3">
            <a:extLst xmlns:a="http://schemas.openxmlformats.org/drawingml/2006/main">
              <a:ext uri="{FF2B5EF4-FFF2-40B4-BE49-F238E27FC236}">
                <a16:creationId xmlns:a16="http://schemas.microsoft.com/office/drawing/2014/main" id="{8580DEAC-0186-497A-81BE-0D8CF33C05B2}"/>
              </a:ext>
            </a:extLst>
          </p:cNvPr>
          <p:cNvSpPr>
            <a:spLocks xmlns:a="http://schemas.openxmlformats.org/drawingml/2006/main" noGrp="1"/>
          </p:cNvSpPr>
          <p:nvPr/>
        </p:nvSpPr>
        <p:spPr>
          <a:xfrm xmlns:a="http://schemas.openxmlformats.org/drawingml/2006/main">
            <a:off x="6583680" y="914400"/>
            <a:ext cx="2468880" cy="1371600"/>
          </a:xfrm>
          <a:prstGeom xmlns:a="http://schemas.openxmlformats.org/drawingml/2006/main" prst="roundRect">
            <a:avLst>
              <a:gd name="adj" fmla="val 3333"/>
            </a:avLst>
          </a:prstGeom>
          <a:solidFill xmlns:a="http://schemas.openxmlformats.org/drawingml/2006/main">
            <a:srgbClr val="F5F5F5"/>
          </a:solidFill>
          <a:ln xmlns:a="http://schemas.openxmlformats.org/drawingml/2006/main" w="12700">
            <a:solidFill>
              <a:srgbClr val="E0E0E0"/>
            </a:solidFill>
            <a:prstDash val="solid"/>
          </a:ln>
        </p:spPr>
      </p:sp>
      <p:sp>
        <p:nvSpPr>
          <p:cNvPr id="6" name="Text 4">
            <a:extLst xmlns:a="http://schemas.openxmlformats.org/drawingml/2006/main">
              <a:ext uri="{FF2B5EF4-FFF2-40B4-BE49-F238E27FC236}">
                <a16:creationId xmlns:a16="http://schemas.microsoft.com/office/drawing/2014/main" id="{22AD6886-FF8A-4880-8597-B445F84E08A6}"/>
              </a:ext>
            </a:extLst>
          </p:cNvPr>
          <p:cNvSpPr>
            <a:spLocks xmlns:a="http://schemas.openxmlformats.org/drawingml/2006/main" noGrp="1"/>
          </p:cNvSpPr>
          <p:nvPr/>
        </p:nvSpPr>
        <p:spPr>
          <a:xfrm xmlns:a="http://schemas.openxmlformats.org/drawingml/2006/main">
            <a:off x="6629400" y="932688"/>
            <a:ext cx="237744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"name": </a:t>
            </a:r>
            <a:r>
              <a:rPr sz="800">
                <a:solidFill>
                  <a:srgbClr val="A31515"/>
                </a:solidFill>
                <a:latin typeface="Consolas"/>
                <a:ea typeface="Consolas"/>
                <a:cs typeface="Consolas"/>
              </a:rPr>
              <a:t>"orders-connector"</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"config": {</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"connector.class": </a:t>
            </a:r>
            <a:r>
              <a:rPr sz="800">
                <a:solidFill>
                  <a:srgbClr val="A31515"/>
                </a:solidFill>
                <a:latin typeface="Consolas"/>
                <a:ea typeface="Consolas"/>
                <a:cs typeface="Consolas"/>
              </a:rPr>
              <a:t>"io.debezium.connector.postgresql.PostgresConnector"</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"database.hostname": </a:t>
            </a:r>
            <a:r>
              <a:rPr sz="800">
                <a:solidFill>
                  <a:srgbClr val="A31515"/>
                </a:solidFill>
                <a:latin typeface="Consolas"/>
                <a:ea typeface="Consolas"/>
                <a:cs typeface="Consolas"/>
              </a:rPr>
              <a:t>"postgres"</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"database.port": </a:t>
            </a:r>
            <a:r>
              <a:rPr sz="800">
                <a:solidFill>
                  <a:srgbClr val="A31515"/>
                </a:solidFill>
                <a:latin typeface="Consolas"/>
                <a:ea typeface="Consolas"/>
                <a:cs typeface="Consolas"/>
              </a:rPr>
              <a:t>"5432"</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"database.user": </a:t>
            </a:r>
            <a:r>
              <a:rPr sz="800">
                <a:solidFill>
                  <a:srgbClr val="A31515"/>
                </a:solidFill>
                <a:latin typeface="Consolas"/>
                <a:ea typeface="Consolas"/>
                <a:cs typeface="Consolas"/>
              </a:rPr>
              <a:t>"debezium"</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"database.password": </a:t>
            </a:r>
            <a:r>
              <a:rPr sz="800">
                <a:solidFill>
                  <a:srgbClr val="A31515"/>
                </a:solidFill>
                <a:latin typeface="Consolas"/>
                <a:ea typeface="Consolas"/>
                <a:cs typeface="Consolas"/>
              </a:rPr>
              <a:t>"dbz"</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"database.dbname": </a:t>
            </a:r>
            <a:r>
              <a:rPr sz="800">
                <a:solidFill>
                  <a:srgbClr val="A31515"/>
                </a:solidFill>
                <a:latin typeface="Consolas"/>
                <a:ea typeface="Consolas"/>
                <a:cs typeface="Consolas"/>
              </a:rPr>
              <a:t>"retail"</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"database.server.name": </a:t>
            </a:r>
            <a:r>
              <a:rPr sz="800">
                <a:solidFill>
                  <a:srgbClr val="A31515"/>
                </a:solidFill>
                <a:latin typeface="Consolas"/>
                <a:ea typeface="Consolas"/>
                <a:cs typeface="Consolas"/>
              </a:rPr>
              <a:t>"retail"</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"table.include.list": </a:t>
            </a:r>
            <a:r>
              <a:rPr sz="800">
                <a:solidFill>
                  <a:srgbClr val="A31515"/>
                </a:solidFill>
                <a:latin typeface="Consolas"/>
                <a:ea typeface="Consolas"/>
                <a:cs typeface="Consolas"/>
              </a:rPr>
              <a:t>"public.orders"</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"plugin.name": </a:t>
            </a:r>
            <a:r>
              <a:rPr sz="800">
                <a:solidFill>
                  <a:srgbClr val="A31515"/>
                </a:solidFill>
                <a:latin typeface="Consolas"/>
                <a:ea typeface="Consolas"/>
                <a:cs typeface="Consolas"/>
              </a:rPr>
              <a:t>"pgoutput"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
}</a:t>
            </a:r>
          </a:p>
        </p:txBody>
      </p:sp>
      <p:sp>
        <p:nvSpPr>
          <p:cNvPr id="7" name="Text 5">
            <a:extLst xmlns:a="http://schemas.openxmlformats.org/drawingml/2006/main">
              <a:ext uri="{FF2B5EF4-FFF2-40B4-BE49-F238E27FC236}">
                <a16:creationId xmlns:a16="http://schemas.microsoft.com/office/drawing/2014/main" id="{DB573219-37D5-4A49-8DAD-D1C4B10199D8}"/>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da8afb8d179640fc"/>
              </a:rPr>
              <a:t>[1]</a:t>
            </a:r>
            <a:r>
              <a:rPr sz="600">
                <a:solidFill>
                  <a:srgbClr val="000000"/>
                </a:solidFill>
              </a:rPr>
              <a:t>  </a:t>
            </a:r>
            <a:r>
              <a:rPr sz="600" u="sng">
                <a:solidFill>
                  <a:srgbClr val="0066CC"/>
                </a:solidFill>
                <a:hlinkClick xmlns:r="http://schemas.openxmlformats.org/officeDocument/2006/relationships" r:id="R986b07dfb5a04e92"/>
              </a:rPr>
              <a:t>[2]</a:t>
            </a:r>
          </a:p>
        </p:txBody>
      </p:sp>
    </p:spTree>
    <p:extLst>
      <p:ext uri="{BB962C8B-B14F-4D97-AF65-F5344CB8AC3E}">
        <p14:creationId xmlns:p14="http://schemas.microsoft.com/office/powerpoint/2010/main" val="587692682"/>
      </p:ext>
    </p:extLst>
  </p:cSld>
</p:sld>
</file>

<file path=ppt/slides/slide16.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600F15E-43C3-4C0D-B69E-B4940378496C}"/>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8EBBA358-1D2C-499A-BB9D-0921ECF4685F}"/>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Step 3: Ingest &amp; Validate</a:t>
            </a:r>
          </a:p>
        </p:txBody>
      </p:sp>
      <p:sp>
        <p:nvSpPr>
          <p:cNvPr id="4" name="Text 2">
            <a:extLst xmlns:a="http://schemas.openxmlformats.org/drawingml/2006/main">
              <a:ext uri="{FF2B5EF4-FFF2-40B4-BE49-F238E27FC236}">
                <a16:creationId xmlns:a16="http://schemas.microsoft.com/office/drawing/2014/main" id="{C85A490A-38C0-4CF2-8162-3890881BB149}"/>
              </a:ext>
            </a:extLst>
          </p:cNvPr>
          <p:cNvSpPr>
            <a:spLocks xmlns:a="http://schemas.openxmlformats.org/drawingml/2006/main" noGrp="1"/>
          </p:cNvSpPr>
          <p:nvPr/>
        </p:nvSpPr>
        <p:spPr>
          <a:xfrm xmlns:a="http://schemas.openxmlformats.org/drawingml/2006/main">
            <a:off x="457200" y="731520"/>
            <a:ext cx="5943600" cy="1463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6A6A6A"/>
                </a:solidFill>
              </a:rPr>
              <a:t>Define schemas in Schema Registry and configure producers to validate events. Use single message transforms to extract new record state and route malformed records to a dead letter queue for investigation.</a:t>
            </a:r>
          </a:p>
        </p:txBody>
      </p:sp>
      <p:sp>
        <p:nvSpPr>
          <p:cNvPr id="5" name="Shape 3">
            <a:extLst xmlns:a="http://schemas.openxmlformats.org/drawingml/2006/main">
              <a:ext uri="{FF2B5EF4-FFF2-40B4-BE49-F238E27FC236}">
                <a16:creationId xmlns:a16="http://schemas.microsoft.com/office/drawing/2014/main" id="{3DC72EAE-0669-4E76-B1A6-C9A462CF9A98}"/>
              </a:ext>
            </a:extLst>
          </p:cNvPr>
          <p:cNvSpPr>
            <a:spLocks xmlns:a="http://schemas.openxmlformats.org/drawingml/2006/main" noGrp="1"/>
          </p:cNvSpPr>
          <p:nvPr/>
        </p:nvSpPr>
        <p:spPr>
          <a:xfrm xmlns:a="http://schemas.openxmlformats.org/drawingml/2006/main">
            <a:off x="6583680" y="914400"/>
            <a:ext cx="2468880" cy="1188720"/>
          </a:xfrm>
          <a:prstGeom xmlns:a="http://schemas.openxmlformats.org/drawingml/2006/main" prst="roundRect">
            <a:avLst>
              <a:gd name="adj" fmla="val 3846"/>
            </a:avLst>
          </a:prstGeom>
          <a:solidFill xmlns:a="http://schemas.openxmlformats.org/drawingml/2006/main">
            <a:srgbClr val="F5F5F5"/>
          </a:solidFill>
          <a:ln xmlns:a="http://schemas.openxmlformats.org/drawingml/2006/main" w="12700">
            <a:solidFill>
              <a:srgbClr val="E0E0E0"/>
            </a:solidFill>
            <a:prstDash val="solid"/>
          </a:ln>
        </p:spPr>
      </p:sp>
      <p:sp>
        <p:nvSpPr>
          <p:cNvPr id="6" name="Text 4">
            <a:extLst xmlns:a="http://schemas.openxmlformats.org/drawingml/2006/main">
              <a:ext uri="{FF2B5EF4-FFF2-40B4-BE49-F238E27FC236}">
                <a16:creationId xmlns:a16="http://schemas.microsoft.com/office/drawing/2014/main" id="{C348B352-0C64-459F-88CC-7AAF31197CCD}"/>
              </a:ext>
            </a:extLst>
          </p:cNvPr>
          <p:cNvSpPr>
            <a:spLocks xmlns:a="http://schemas.openxmlformats.org/drawingml/2006/main" noGrp="1"/>
          </p:cNvSpPr>
          <p:nvPr/>
        </p:nvSpPr>
        <p:spPr>
          <a:xfrm xmlns:a="http://schemas.openxmlformats.org/drawingml/2006/main">
            <a:off x="6629400" y="932688"/>
            <a:ext cx="23774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"type": </a:t>
            </a:r>
            <a:r>
              <a:rPr sz="800">
                <a:solidFill>
                  <a:srgbClr val="A31515"/>
                </a:solidFill>
                <a:latin typeface="Consolas"/>
                <a:ea typeface="Consolas"/>
                <a:cs typeface="Consolas"/>
              </a:rPr>
              <a:t>"record"</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"name": </a:t>
            </a:r>
            <a:r>
              <a:rPr sz="800">
                <a:solidFill>
                  <a:srgbClr val="A31515"/>
                </a:solidFill>
                <a:latin typeface="Consolas"/>
                <a:ea typeface="Consolas"/>
                <a:cs typeface="Consolas"/>
              </a:rPr>
              <a:t>"Order"</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"fields": [</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{"name": </a:t>
            </a:r>
            <a:r>
              <a:rPr sz="800">
                <a:solidFill>
                  <a:srgbClr val="A31515"/>
                </a:solidFill>
                <a:latin typeface="Consolas"/>
                <a:ea typeface="Consolas"/>
                <a:cs typeface="Consolas"/>
              </a:rPr>
              <a:t>"order_id"</a:t>
            </a:r>
            <a:r>
              <a:rPr sz="800">
                <a:solidFill>
                  <a:srgbClr val="003C54"/>
                </a:solidFill>
                <a:latin typeface="Consolas"/>
                <a:ea typeface="Consolas"/>
                <a:cs typeface="Consolas"/>
              </a:rPr>
              <a:t>, "type": </a:t>
            </a:r>
            <a:r>
              <a:rPr sz="800">
                <a:solidFill>
                  <a:srgbClr val="A31515"/>
                </a:solidFill>
                <a:latin typeface="Consolas"/>
                <a:ea typeface="Consolas"/>
                <a:cs typeface="Consolas"/>
              </a:rPr>
              <a:t>"string"</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{"name": </a:t>
            </a:r>
            <a:r>
              <a:rPr sz="800">
                <a:solidFill>
                  <a:srgbClr val="A31515"/>
                </a:solidFill>
                <a:latin typeface="Consolas"/>
                <a:ea typeface="Consolas"/>
                <a:cs typeface="Consolas"/>
              </a:rPr>
              <a:t>"customer_id"</a:t>
            </a:r>
            <a:r>
              <a:rPr sz="800">
                <a:solidFill>
                  <a:srgbClr val="003C54"/>
                </a:solidFill>
                <a:latin typeface="Consolas"/>
                <a:ea typeface="Consolas"/>
                <a:cs typeface="Consolas"/>
              </a:rPr>
              <a:t>, "type": </a:t>
            </a:r>
            <a:r>
              <a:rPr sz="800">
                <a:solidFill>
                  <a:srgbClr val="A31515"/>
                </a:solidFill>
                <a:latin typeface="Consolas"/>
                <a:ea typeface="Consolas"/>
                <a:cs typeface="Consolas"/>
              </a:rPr>
              <a:t>"string"</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{"name": </a:t>
            </a:r>
            <a:r>
              <a:rPr sz="800">
                <a:solidFill>
                  <a:srgbClr val="A31515"/>
                </a:solidFill>
                <a:latin typeface="Consolas"/>
                <a:ea typeface="Consolas"/>
                <a:cs typeface="Consolas"/>
              </a:rPr>
              <a:t>"amount"</a:t>
            </a:r>
            <a:r>
              <a:rPr sz="800">
                <a:solidFill>
                  <a:srgbClr val="003C54"/>
                </a:solidFill>
                <a:latin typeface="Consolas"/>
                <a:ea typeface="Consolas"/>
                <a:cs typeface="Consolas"/>
              </a:rPr>
              <a:t>, "type": </a:t>
            </a:r>
            <a:r>
              <a:rPr sz="800">
                <a:solidFill>
                  <a:srgbClr val="A31515"/>
                </a:solidFill>
                <a:latin typeface="Consolas"/>
                <a:ea typeface="Consolas"/>
                <a:cs typeface="Consolas"/>
              </a:rPr>
              <a:t>"double"</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{"name": </a:t>
            </a:r>
            <a:r>
              <a:rPr sz="800">
                <a:solidFill>
                  <a:srgbClr val="A31515"/>
                </a:solidFill>
                <a:latin typeface="Consolas"/>
                <a:ea typeface="Consolas"/>
                <a:cs typeface="Consolas"/>
              </a:rPr>
              <a:t>"created_at"</a:t>
            </a:r>
            <a:r>
              <a:rPr sz="800">
                <a:solidFill>
                  <a:srgbClr val="003C54"/>
                </a:solidFill>
                <a:latin typeface="Consolas"/>
                <a:ea typeface="Consolas"/>
                <a:cs typeface="Consolas"/>
              </a:rPr>
              <a:t>, "type": </a:t>
            </a:r>
            <a:r>
              <a:rPr sz="800">
                <a:solidFill>
                  <a:srgbClr val="A31515"/>
                </a:solidFill>
                <a:latin typeface="Consolas"/>
                <a:ea typeface="Consolas"/>
                <a:cs typeface="Consolas"/>
              </a:rPr>
              <a:t>"long"</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3C54"/>
                </a:solidFill>
                <a:latin typeface="Consolas"/>
                <a:ea typeface="Consolas"/>
                <a:cs typeface="Consolas"/>
              </a:rPr>
              <a:t>]
}</a:t>
            </a:r>
          </a:p>
        </p:txBody>
      </p:sp>
      <p:sp>
        <p:nvSpPr>
          <p:cNvPr id="7" name="Text 5">
            <a:extLst xmlns:a="http://schemas.openxmlformats.org/drawingml/2006/main">
              <a:ext uri="{FF2B5EF4-FFF2-40B4-BE49-F238E27FC236}">
                <a16:creationId xmlns:a16="http://schemas.microsoft.com/office/drawing/2014/main" id="{151A61DB-4AE3-48E5-8C22-44A9DD8107F3}"/>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1b522db7ef384ea1"/>
              </a:rPr>
              <a:t>[1]</a:t>
            </a:r>
            <a:r>
              <a:rPr sz="600">
                <a:solidFill>
                  <a:srgbClr val="000000"/>
                </a:solidFill>
              </a:rPr>
              <a:t>  </a:t>
            </a:r>
            <a:r>
              <a:rPr sz="600" u="sng">
                <a:solidFill>
                  <a:srgbClr val="0066CC"/>
                </a:solidFill>
                <a:hlinkClick xmlns:r="http://schemas.openxmlformats.org/officeDocument/2006/relationships" r:id="Rd6b8b9ac7c96421b"/>
              </a:rPr>
              <a:t>[2]</a:t>
            </a:r>
          </a:p>
        </p:txBody>
      </p:sp>
    </p:spTree>
    <p:extLst>
      <p:ext uri="{BB962C8B-B14F-4D97-AF65-F5344CB8AC3E}">
        <p14:creationId xmlns:p14="http://schemas.microsoft.com/office/powerpoint/2010/main" val="755863619"/>
      </p:ext>
    </p:extLst>
  </p:cSld>
</p:sld>
</file>

<file path=ppt/slides/slide17.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DEE17F-5FC3-46EB-B777-CB8088DE5033}"/>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A45159D7-8914-4726-8A3F-56CC66D40236}"/>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Step 4: Transform &amp; Enrich</a:t>
            </a:r>
          </a:p>
        </p:txBody>
      </p:sp>
      <p:sp>
        <p:nvSpPr>
          <p:cNvPr id="4" name="Text 2">
            <a:extLst xmlns:a="http://schemas.openxmlformats.org/drawingml/2006/main">
              <a:ext uri="{FF2B5EF4-FFF2-40B4-BE49-F238E27FC236}">
                <a16:creationId xmlns:a16="http://schemas.microsoft.com/office/drawing/2014/main" id="{EDBBC04A-BB4D-4289-9F35-10098B1BFADA}"/>
              </a:ext>
            </a:extLst>
          </p:cNvPr>
          <p:cNvSpPr>
            <a:spLocks xmlns:a="http://schemas.openxmlformats.org/drawingml/2006/main" noGrp="1"/>
          </p:cNvSpPr>
          <p:nvPr/>
        </p:nvSpPr>
        <p:spPr>
          <a:xfrm xmlns:a="http://schemas.openxmlformats.org/drawingml/2006/main">
            <a:off x="457200" y="731520"/>
            <a:ext cx="6126480" cy="1645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6A6A6A"/>
                </a:solidFill>
              </a:rPr>
              <a:t>Extension boundary: apply the cleansing, validation and enrichment design from Days 6-7 to CDC topics or exported results. Hop/Spark pipeline artifacts are not included in the Day 10 starter files; reuse earlier work or document the mapped design and output evidence.</a:t>
            </a:r>
          </a:p>
        </p:txBody>
      </p:sp>
      <p:sp>
        <p:nvSpPr>
          <p:cNvPr id="5" name="Shape 3">
            <a:extLst xmlns:a="http://schemas.openxmlformats.org/drawingml/2006/main">
              <a:ext uri="{FF2B5EF4-FFF2-40B4-BE49-F238E27FC236}">
                <a16:creationId xmlns:a16="http://schemas.microsoft.com/office/drawing/2014/main" id="{F3FBE0B1-8C94-4AD1-93EB-41FA18541E2A}"/>
              </a:ext>
            </a:extLst>
          </p:cNvPr>
          <p:cNvSpPr>
            <a:spLocks xmlns:a="http://schemas.openxmlformats.org/drawingml/2006/main" noGrp="1"/>
          </p:cNvSpPr>
          <p:nvPr/>
        </p:nvSpPr>
        <p:spPr>
          <a:xfrm xmlns:a="http://schemas.openxmlformats.org/drawingml/2006/main">
            <a:off x="6400800" y="914400"/>
            <a:ext cx="640080" cy="365760"/>
          </a:xfrm>
          <a:prstGeom xmlns:a="http://schemas.openxmlformats.org/drawingml/2006/main" prst="rect">
            <a:avLst/>
          </a:prstGeom>
          <a:solidFill xmlns:a="http://schemas.openxmlformats.org/drawingml/2006/main">
            <a:srgbClr val="0077CC"/>
          </a:solidFill>
          <a:ln xmlns:a="http://schemas.openxmlformats.org/drawingml/2006/main" w="12700">
            <a:solidFill>
              <a:srgbClr val="0077CC"/>
            </a:solidFill>
            <a:prstDash val="solid"/>
          </a:ln>
        </p:spPr>
      </p:sp>
      <p:sp>
        <p:nvSpPr>
          <p:cNvPr id="6" name="Text 4">
            <a:extLst xmlns:a="http://schemas.openxmlformats.org/drawingml/2006/main">
              <a:ext uri="{FF2B5EF4-FFF2-40B4-BE49-F238E27FC236}">
                <a16:creationId xmlns:a16="http://schemas.microsoft.com/office/drawing/2014/main" id="{DBB098F1-92A7-4F4C-968B-D89E8782828B}"/>
              </a:ext>
            </a:extLst>
          </p:cNvPr>
          <p:cNvSpPr>
            <a:spLocks xmlns:a="http://schemas.openxmlformats.org/drawingml/2006/main" noGrp="1"/>
          </p:cNvSpPr>
          <p:nvPr/>
        </p:nvSpPr>
        <p:spPr>
          <a:xfrm xmlns:a="http://schemas.openxmlformats.org/drawingml/2006/main">
            <a:off x="6400800" y="914400"/>
            <a:ext cx="640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Raw</a:t>
            </a:r>
          </a:p>
        </p:txBody>
      </p:sp>
      <p:sp>
        <p:nvSpPr>
          <p:cNvPr id="7" name="Shape 5">
            <a:extLst xmlns:a="http://schemas.openxmlformats.org/drawingml/2006/main">
              <a:ext uri="{FF2B5EF4-FFF2-40B4-BE49-F238E27FC236}">
                <a16:creationId xmlns:a16="http://schemas.microsoft.com/office/drawing/2014/main" id="{A6EBB46C-65E8-425A-AA61-A465220EF3E9}"/>
              </a:ext>
            </a:extLst>
          </p:cNvPr>
          <p:cNvSpPr>
            <a:spLocks xmlns:a="http://schemas.openxmlformats.org/drawingml/2006/main" noGrp="1"/>
          </p:cNvSpPr>
          <p:nvPr/>
        </p:nvSpPr>
        <p:spPr>
          <a:xfrm xmlns:a="http://schemas.openxmlformats.org/drawingml/2006/main">
            <a:off x="7040880" y="1069848"/>
            <a:ext cx="182880" cy="73152"/>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8" name="Shape 6">
            <a:extLst xmlns:a="http://schemas.openxmlformats.org/drawingml/2006/main">
              <a:ext uri="{FF2B5EF4-FFF2-40B4-BE49-F238E27FC236}">
                <a16:creationId xmlns:a16="http://schemas.microsoft.com/office/drawing/2014/main" id="{D972C00E-208F-4B54-AF72-ADBB0A76A469}"/>
              </a:ext>
            </a:extLst>
          </p:cNvPr>
          <p:cNvSpPr>
            <a:spLocks xmlns:a="http://schemas.openxmlformats.org/drawingml/2006/main" noGrp="1"/>
          </p:cNvSpPr>
          <p:nvPr/>
        </p:nvSpPr>
        <p:spPr>
          <a:xfrm xmlns:a="http://schemas.openxmlformats.org/drawingml/2006/main">
            <a:off x="7223760" y="914400"/>
            <a:ext cx="640080" cy="365760"/>
          </a:xfrm>
          <a:prstGeom xmlns:a="http://schemas.openxmlformats.org/drawingml/2006/main" prst="rect">
            <a:avLst/>
          </a:prstGeom>
          <a:solidFill xmlns:a="http://schemas.openxmlformats.org/drawingml/2006/main">
            <a:srgbClr val="00A86B"/>
          </a:solidFill>
          <a:ln xmlns:a="http://schemas.openxmlformats.org/drawingml/2006/main" w="12700">
            <a:solidFill>
              <a:srgbClr val="00A86B"/>
            </a:solidFill>
            <a:prstDash val="solid"/>
          </a:ln>
        </p:spPr>
      </p:sp>
      <p:sp>
        <p:nvSpPr>
          <p:cNvPr id="9" name="Text 7">
            <a:extLst xmlns:a="http://schemas.openxmlformats.org/drawingml/2006/main">
              <a:ext uri="{FF2B5EF4-FFF2-40B4-BE49-F238E27FC236}">
                <a16:creationId xmlns:a16="http://schemas.microsoft.com/office/drawing/2014/main" id="{6A07318F-485C-4FDC-92C9-CFCDFD81A5B3}"/>
              </a:ext>
            </a:extLst>
          </p:cNvPr>
          <p:cNvSpPr>
            <a:spLocks xmlns:a="http://schemas.openxmlformats.org/drawingml/2006/main" noGrp="1"/>
          </p:cNvSpPr>
          <p:nvPr/>
        </p:nvSpPr>
        <p:spPr>
          <a:xfrm xmlns:a="http://schemas.openxmlformats.org/drawingml/2006/main">
            <a:off x="7223760" y="914400"/>
            <a:ext cx="640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Clean</a:t>
            </a:r>
          </a:p>
        </p:txBody>
      </p:sp>
      <p:sp>
        <p:nvSpPr>
          <p:cNvPr id="10" name="Shape 8">
            <a:extLst xmlns:a="http://schemas.openxmlformats.org/drawingml/2006/main">
              <a:ext uri="{FF2B5EF4-FFF2-40B4-BE49-F238E27FC236}">
                <a16:creationId xmlns:a16="http://schemas.microsoft.com/office/drawing/2014/main" id="{32693604-0DBD-4184-B326-92F44D386F77}"/>
              </a:ext>
            </a:extLst>
          </p:cNvPr>
          <p:cNvSpPr>
            <a:spLocks xmlns:a="http://schemas.openxmlformats.org/drawingml/2006/main" noGrp="1"/>
          </p:cNvSpPr>
          <p:nvPr/>
        </p:nvSpPr>
        <p:spPr>
          <a:xfrm xmlns:a="http://schemas.openxmlformats.org/drawingml/2006/main">
            <a:off x="7863840" y="1069848"/>
            <a:ext cx="182880" cy="73152"/>
          </a:xfrm>
          <a:prstGeom xmlns:a="http://schemas.openxmlformats.org/drawingml/2006/main" prst="rightArrow">
            <a:avLst/>
          </a:prstGeom>
          <a:solidFill xmlns:a="http://schemas.openxmlformats.org/drawingml/2006/main">
            <a:srgbClr val="6A6A6A"/>
          </a:solidFill>
          <a:ln xmlns:a="http://schemas.openxmlformats.org/drawingml/2006/main" w="12700">
            <a:solidFill>
              <a:srgbClr val="6A6A6A"/>
            </a:solidFill>
            <a:prstDash val="solid"/>
          </a:ln>
        </p:spPr>
      </p:sp>
      <p:sp>
        <p:nvSpPr>
          <p:cNvPr id="11" name="Shape 9">
            <a:extLst xmlns:a="http://schemas.openxmlformats.org/drawingml/2006/main">
              <a:ext uri="{FF2B5EF4-FFF2-40B4-BE49-F238E27FC236}">
                <a16:creationId xmlns:a16="http://schemas.microsoft.com/office/drawing/2014/main" id="{FA9A6918-2FF7-42FF-B99C-C7EABA798245}"/>
              </a:ext>
            </a:extLst>
          </p:cNvPr>
          <p:cNvSpPr>
            <a:spLocks xmlns:a="http://schemas.openxmlformats.org/drawingml/2006/main" noGrp="1"/>
          </p:cNvSpPr>
          <p:nvPr/>
        </p:nvSpPr>
        <p:spPr>
          <a:xfrm xmlns:a="http://schemas.openxmlformats.org/drawingml/2006/main">
            <a:off x="8046720" y="914400"/>
            <a:ext cx="640080" cy="365760"/>
          </a:xfrm>
          <a:prstGeom xmlns:a="http://schemas.openxmlformats.org/drawingml/2006/main" prst="rect">
            <a:avLst/>
          </a:prstGeom>
          <a:solidFill xmlns:a="http://schemas.openxmlformats.org/drawingml/2006/main">
            <a:srgbClr val="E68200"/>
          </a:solidFill>
          <a:ln xmlns:a="http://schemas.openxmlformats.org/drawingml/2006/main" w="12700">
            <a:solidFill>
              <a:srgbClr val="E68200"/>
            </a:solidFill>
            <a:prstDash val="solid"/>
          </a:ln>
        </p:spPr>
      </p:sp>
      <p:sp>
        <p:nvSpPr>
          <p:cNvPr id="12" name="Text 10">
            <a:extLst xmlns:a="http://schemas.openxmlformats.org/drawingml/2006/main">
              <a:ext uri="{FF2B5EF4-FFF2-40B4-BE49-F238E27FC236}">
                <a16:creationId xmlns:a16="http://schemas.microsoft.com/office/drawing/2014/main" id="{F0E7D850-D2EB-4B66-BF73-550E6E5C6543}"/>
              </a:ext>
            </a:extLst>
          </p:cNvPr>
          <p:cNvSpPr>
            <a:spLocks xmlns:a="http://schemas.openxmlformats.org/drawingml/2006/main" noGrp="1"/>
          </p:cNvSpPr>
          <p:nvPr/>
        </p:nvSpPr>
        <p:spPr>
          <a:xfrm xmlns:a="http://schemas.openxmlformats.org/drawingml/2006/main">
            <a:off x="8046720" y="914400"/>
            <a:ext cx="640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Agg</a:t>
            </a:r>
          </a:p>
        </p:txBody>
      </p:sp>
      <p:sp>
        <p:nvSpPr>
          <p:cNvPr id="13" name="Text 11">
            <a:extLst xmlns:a="http://schemas.openxmlformats.org/drawingml/2006/main">
              <a:ext uri="{FF2B5EF4-FFF2-40B4-BE49-F238E27FC236}">
                <a16:creationId xmlns:a16="http://schemas.microsoft.com/office/drawing/2014/main" id="{333D8EFB-F8AB-4B9E-B6BB-FB759AD95FAF}"/>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cc0867086c304364"/>
              </a:rPr>
              <a:t>[1]</a:t>
            </a:r>
            <a:r>
              <a:rPr sz="600">
                <a:solidFill>
                  <a:srgbClr val="000000"/>
                </a:solidFill>
              </a:rPr>
              <a:t>  </a:t>
            </a:r>
            <a:r>
              <a:rPr sz="600" u="sng">
                <a:solidFill>
                  <a:srgbClr val="0066CC"/>
                </a:solidFill>
                <a:hlinkClick xmlns:r="http://schemas.openxmlformats.org/officeDocument/2006/relationships" r:id="Rd3af53b6d1094de7"/>
              </a:rPr>
              <a:t>[2]</a:t>
            </a:r>
            <a:r>
              <a:rPr sz="600">
                <a:solidFill>
                  <a:srgbClr val="000000"/>
                </a:solidFill>
              </a:rPr>
              <a:t>  </a:t>
            </a:r>
            <a:r>
              <a:rPr sz="600" u="sng">
                <a:solidFill>
                  <a:srgbClr val="0066CC"/>
                </a:solidFill>
                <a:hlinkClick xmlns:r="http://schemas.openxmlformats.org/officeDocument/2006/relationships" r:id="Re257b8fd4e9b41ad"/>
              </a:rPr>
              <a:t>[3]</a:t>
            </a:r>
          </a:p>
        </p:txBody>
      </p:sp>
    </p:spTree>
    <p:extLst>
      <p:ext uri="{BB962C8B-B14F-4D97-AF65-F5344CB8AC3E}">
        <p14:creationId xmlns:p14="http://schemas.microsoft.com/office/powerpoint/2010/main" val="321142930"/>
      </p:ext>
    </p:extLst>
  </p:cSld>
</p:sld>
</file>

<file path=ppt/slides/slide18.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10CFA06-AE0A-41BE-B190-4F3E501C580C}"/>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7B796933-BECB-422F-AF29-6638F08B5727}"/>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Step 5: Orchestrate &amp; Store</a:t>
            </a:r>
          </a:p>
        </p:txBody>
      </p:sp>
      <p:sp>
        <p:nvSpPr>
          <p:cNvPr id="4" name="Text 2">
            <a:extLst xmlns:a="http://schemas.openxmlformats.org/drawingml/2006/main">
              <a:ext uri="{FF2B5EF4-FFF2-40B4-BE49-F238E27FC236}">
                <a16:creationId xmlns:a16="http://schemas.microsoft.com/office/drawing/2014/main" id="{AFF129A3-F83D-4E47-A2E4-D89A75AA786C}"/>
              </a:ext>
            </a:extLst>
          </p:cNvPr>
          <p:cNvSpPr>
            <a:spLocks xmlns:a="http://schemas.openxmlformats.org/drawingml/2006/main" noGrp="1"/>
          </p:cNvSpPr>
          <p:nvPr/>
        </p:nvSpPr>
        <p:spPr>
          <a:xfrm xmlns:a="http://schemas.openxmlformats.org/drawingml/2006/main">
            <a:off x="457200" y="731520"/>
            <a:ext cx="6126480" cy="1645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6A6A6A"/>
                </a:solidFill>
              </a:rPr>
              <a:t>Extension boundary: describe an Airflow DAG for validation and Gold refresh, including retries and idempotent reruns. The supplied runnable stack creates CDC and ksqlDB outputs; it does not include Airflow or a configured Iceberg/Delta catalog.</a:t>
            </a:r>
          </a:p>
        </p:txBody>
      </p:sp>
      <p:sp>
        <p:nvSpPr>
          <p:cNvPr id="5" name="Shape 3">
            <a:extLst xmlns:a="http://schemas.openxmlformats.org/drawingml/2006/main">
              <a:ext uri="{FF2B5EF4-FFF2-40B4-BE49-F238E27FC236}">
                <a16:creationId xmlns:a16="http://schemas.microsoft.com/office/drawing/2014/main" id="{B663C445-DFD4-4813-AA27-454C8AB28B2E}"/>
              </a:ext>
            </a:extLst>
          </p:cNvPr>
          <p:cNvSpPr>
            <a:spLocks xmlns:a="http://schemas.openxmlformats.org/drawingml/2006/main" noGrp="1"/>
          </p:cNvSpPr>
          <p:nvPr/>
        </p:nvSpPr>
        <p:spPr>
          <a:xfrm xmlns:a="http://schemas.openxmlformats.org/drawingml/2006/main">
            <a:off x="6858000" y="914400"/>
            <a:ext cx="1828800" cy="274320"/>
          </a:xfrm>
          <a:prstGeom xmlns:a="http://schemas.openxmlformats.org/drawingml/2006/main" prst="roundRect">
            <a:avLst>
              <a:gd name="adj" fmla="val 16667"/>
            </a:avLst>
          </a:prstGeom>
          <a:solidFill xmlns:a="http://schemas.openxmlformats.org/drawingml/2006/main">
            <a:srgbClr val="0077CC"/>
          </a:solidFill>
          <a:ln xmlns:a="http://schemas.openxmlformats.org/drawingml/2006/main" w="12700">
            <a:solidFill>
              <a:srgbClr val="0077CC"/>
            </a:solidFill>
            <a:prstDash val="solid"/>
          </a:ln>
        </p:spPr>
      </p:sp>
      <p:sp>
        <p:nvSpPr>
          <p:cNvPr id="6" name="Text 4">
            <a:extLst xmlns:a="http://schemas.openxmlformats.org/drawingml/2006/main">
              <a:ext uri="{FF2B5EF4-FFF2-40B4-BE49-F238E27FC236}">
                <a16:creationId xmlns:a16="http://schemas.microsoft.com/office/drawing/2014/main" id="{46D90D91-50AE-4C4A-A995-A313FD5C4F39}"/>
              </a:ext>
            </a:extLst>
          </p:cNvPr>
          <p:cNvSpPr>
            <a:spLocks xmlns:a="http://schemas.openxmlformats.org/drawingml/2006/main" noGrp="1"/>
          </p:cNvSpPr>
          <p:nvPr/>
        </p:nvSpPr>
        <p:spPr>
          <a:xfrm xmlns:a="http://schemas.openxmlformats.org/drawingml/2006/main">
            <a:off x="6858000" y="914400"/>
            <a:ext cx="1828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Bronze Loader</a:t>
            </a:r>
          </a:p>
        </p:txBody>
      </p:sp>
      <p:sp>
        <p:nvSpPr>
          <p:cNvPr id="7" name="Shape 5">
            <a:extLst xmlns:a="http://schemas.openxmlformats.org/drawingml/2006/main">
              <a:ext uri="{FF2B5EF4-FFF2-40B4-BE49-F238E27FC236}">
                <a16:creationId xmlns:a16="http://schemas.microsoft.com/office/drawing/2014/main" id="{4B455486-8542-416D-8C57-BE0EB95ABD9B}"/>
              </a:ext>
            </a:extLst>
          </p:cNvPr>
          <p:cNvSpPr>
            <a:spLocks xmlns:a="http://schemas.openxmlformats.org/drawingml/2006/main" noGrp="1"/>
          </p:cNvSpPr>
          <p:nvPr/>
        </p:nvSpPr>
        <p:spPr>
          <a:xfrm xmlns:a="http://schemas.openxmlformats.org/drawingml/2006/main">
            <a:off x="6858000" y="1280160"/>
            <a:ext cx="1828800" cy="274320"/>
          </a:xfrm>
          <a:prstGeom xmlns:a="http://schemas.openxmlformats.org/drawingml/2006/main" prst="roundRect">
            <a:avLst>
              <a:gd name="adj" fmla="val 16667"/>
            </a:avLst>
          </a:prstGeom>
          <a:solidFill xmlns:a="http://schemas.openxmlformats.org/drawingml/2006/main">
            <a:srgbClr val="00A86B"/>
          </a:solidFill>
          <a:ln xmlns:a="http://schemas.openxmlformats.org/drawingml/2006/main" w="12700">
            <a:solidFill>
              <a:srgbClr val="00A86B"/>
            </a:solidFill>
            <a:prstDash val="solid"/>
          </a:ln>
        </p:spPr>
      </p:sp>
      <p:sp>
        <p:nvSpPr>
          <p:cNvPr id="8" name="Text 6">
            <a:extLst xmlns:a="http://schemas.openxmlformats.org/drawingml/2006/main">
              <a:ext uri="{FF2B5EF4-FFF2-40B4-BE49-F238E27FC236}">
                <a16:creationId xmlns:a16="http://schemas.microsoft.com/office/drawing/2014/main" id="{B0BAB301-18BC-46DD-A093-66BCE3743262}"/>
              </a:ext>
            </a:extLst>
          </p:cNvPr>
          <p:cNvSpPr>
            <a:spLocks xmlns:a="http://schemas.openxmlformats.org/drawingml/2006/main" noGrp="1"/>
          </p:cNvSpPr>
          <p:nvPr/>
        </p:nvSpPr>
        <p:spPr>
          <a:xfrm xmlns:a="http://schemas.openxmlformats.org/drawingml/2006/main">
            <a:off x="6858000" y="1280160"/>
            <a:ext cx="1828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Silver Cleaner</a:t>
            </a:r>
          </a:p>
        </p:txBody>
      </p:sp>
      <p:sp>
        <p:nvSpPr>
          <p:cNvPr id="9" name="Shape 7">
            <a:extLst xmlns:a="http://schemas.openxmlformats.org/drawingml/2006/main">
              <a:ext uri="{FF2B5EF4-FFF2-40B4-BE49-F238E27FC236}">
                <a16:creationId xmlns:a16="http://schemas.microsoft.com/office/drawing/2014/main" id="{2D11750F-54CE-4D64-B4F6-F69A731DEBB9}"/>
              </a:ext>
            </a:extLst>
          </p:cNvPr>
          <p:cNvSpPr>
            <a:spLocks xmlns:a="http://schemas.openxmlformats.org/drawingml/2006/main" noGrp="1"/>
          </p:cNvSpPr>
          <p:nvPr/>
        </p:nvSpPr>
        <p:spPr>
          <a:xfrm xmlns:a="http://schemas.openxmlformats.org/drawingml/2006/main">
            <a:off x="6858000" y="1645920"/>
            <a:ext cx="1828800" cy="274320"/>
          </a:xfrm>
          <a:prstGeom xmlns:a="http://schemas.openxmlformats.org/drawingml/2006/main" prst="roundRect">
            <a:avLst>
              <a:gd name="adj" fmla="val 16667"/>
            </a:avLst>
          </a:prstGeom>
          <a:solidFill xmlns:a="http://schemas.openxmlformats.org/drawingml/2006/main">
            <a:srgbClr val="E68200"/>
          </a:solidFill>
          <a:ln xmlns:a="http://schemas.openxmlformats.org/drawingml/2006/main" w="12700">
            <a:solidFill>
              <a:srgbClr val="E68200"/>
            </a:solidFill>
            <a:prstDash val="solid"/>
          </a:ln>
        </p:spPr>
      </p:sp>
      <p:sp>
        <p:nvSpPr>
          <p:cNvPr id="10" name="Text 8">
            <a:extLst xmlns:a="http://schemas.openxmlformats.org/drawingml/2006/main">
              <a:ext uri="{FF2B5EF4-FFF2-40B4-BE49-F238E27FC236}">
                <a16:creationId xmlns:a16="http://schemas.microsoft.com/office/drawing/2014/main" id="{F4E5E425-192F-4609-91F0-007671A8C41C}"/>
              </a:ext>
            </a:extLst>
          </p:cNvPr>
          <p:cNvSpPr>
            <a:spLocks xmlns:a="http://schemas.openxmlformats.org/drawingml/2006/main" noGrp="1"/>
          </p:cNvSpPr>
          <p:nvPr/>
        </p:nvSpPr>
        <p:spPr>
          <a:xfrm xmlns:a="http://schemas.openxmlformats.org/drawingml/2006/main">
            <a:off x="6858000" y="1645920"/>
            <a:ext cx="1828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00">
                <a:solidFill>
                  <a:srgbClr val="FFFFFF"/>
                </a:solidFill>
              </a:rPr>
              <a:t>Gold Aggregator</a:t>
            </a:r>
          </a:p>
        </p:txBody>
      </p:sp>
      <p:sp>
        <p:nvSpPr>
          <p:cNvPr id="11" name="Text 9">
            <a:extLst xmlns:a="http://schemas.openxmlformats.org/drawingml/2006/main">
              <a:ext uri="{FF2B5EF4-FFF2-40B4-BE49-F238E27FC236}">
                <a16:creationId xmlns:a16="http://schemas.microsoft.com/office/drawing/2014/main" id="{6D4F7BC2-4E1C-411F-8F0B-5B885519F81E}"/>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4c852d483fb04ccd"/>
              </a:rPr>
              <a:t>[1]</a:t>
            </a:r>
            <a:r>
              <a:rPr sz="600">
                <a:solidFill>
                  <a:srgbClr val="000000"/>
                </a:solidFill>
              </a:rPr>
              <a:t>  </a:t>
            </a:r>
            <a:r>
              <a:rPr sz="600" u="sng">
                <a:solidFill>
                  <a:srgbClr val="0066CC"/>
                </a:solidFill>
                <a:hlinkClick xmlns:r="http://schemas.openxmlformats.org/officeDocument/2006/relationships" r:id="R2b32a4f8f60044fd"/>
              </a:rPr>
              <a:t>[2]</a:t>
            </a:r>
          </a:p>
        </p:txBody>
      </p:sp>
    </p:spTree>
    <p:extLst>
      <p:ext uri="{BB962C8B-B14F-4D97-AF65-F5344CB8AC3E}">
        <p14:creationId xmlns:p14="http://schemas.microsoft.com/office/powerpoint/2010/main" val="674424619"/>
      </p:ext>
    </p:extLst>
  </p:cSld>
</p:sld>
</file>

<file path=ppt/slides/slide19.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93CC483-F5E5-4216-A6CC-EC9B79A0F557}"/>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56168B36-23DB-451D-A8C1-0D3F2B6EA79F}"/>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Step 6: Analyse &amp; Serve</a:t>
            </a:r>
          </a:p>
        </p:txBody>
      </p:sp>
      <p:sp>
        <p:nvSpPr>
          <p:cNvPr id="4" name="Text 2">
            <a:extLst xmlns:a="http://schemas.openxmlformats.org/drawingml/2006/main">
              <a:ext uri="{FF2B5EF4-FFF2-40B4-BE49-F238E27FC236}">
                <a16:creationId xmlns:a16="http://schemas.microsoft.com/office/drawing/2014/main" id="{8FC03C4D-DD73-46FD-8169-8C1A39D78593}"/>
              </a:ext>
            </a:extLst>
          </p:cNvPr>
          <p:cNvSpPr>
            <a:spLocks xmlns:a="http://schemas.openxmlformats.org/drawingml/2006/main" noGrp="1"/>
          </p:cNvSpPr>
          <p:nvPr/>
        </p:nvSpPr>
        <p:spPr>
          <a:xfrm xmlns:a="http://schemas.openxmlformats.org/drawingml/2006/main">
            <a:off x="457200" y="731520"/>
            <a:ext cx="6126480" cy="1645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6A6A6A"/>
                </a:solidFill>
              </a:rPr>
              <a:t>Run the supplied ksqlDB aggregate queries and validate the resulting metric topic. Then expose one Gold-style result to Apache Superset, Metabase, Power BI or Tableau. Submission must include one KPI, two charts, the metric grain and a freshness note.</a:t>
            </a:r>
          </a:p>
        </p:txBody>
      </p:sp>
      <p:sp>
        <p:nvSpPr>
          <p:cNvPr id="5" name="Shape 3">
            <a:extLst xmlns:a="http://schemas.openxmlformats.org/drawingml/2006/main">
              <a:ext uri="{FF2B5EF4-FFF2-40B4-BE49-F238E27FC236}">
                <a16:creationId xmlns:a16="http://schemas.microsoft.com/office/drawing/2014/main" id="{97041459-1C75-40B2-9ED1-02DB62A44B92}"/>
              </a:ext>
            </a:extLst>
          </p:cNvPr>
          <p:cNvSpPr>
            <a:spLocks xmlns:a="http://schemas.openxmlformats.org/drawingml/2006/main" noGrp="1"/>
          </p:cNvSpPr>
          <p:nvPr/>
        </p:nvSpPr>
        <p:spPr>
          <a:xfrm xmlns:a="http://schemas.openxmlformats.org/drawingml/2006/main">
            <a:off x="6583680" y="914400"/>
            <a:ext cx="2468880" cy="1280160"/>
          </a:xfrm>
          <a:prstGeom xmlns:a="http://schemas.openxmlformats.org/drawingml/2006/main" prst="roundRect">
            <a:avLst>
              <a:gd name="adj" fmla="val 3571"/>
            </a:avLst>
          </a:prstGeom>
          <a:solidFill xmlns:a="http://schemas.openxmlformats.org/drawingml/2006/main">
            <a:srgbClr val="F5F5F5"/>
          </a:solidFill>
          <a:ln xmlns:a="http://schemas.openxmlformats.org/drawingml/2006/main" w="12700">
            <a:solidFill>
              <a:srgbClr val="E0E0E0"/>
            </a:solidFill>
            <a:prstDash val="solid"/>
          </a:ln>
        </p:spPr>
      </p:sp>
      <p:sp>
        <p:nvSpPr>
          <p:cNvPr id="6" name="Text 4">
            <a:extLst xmlns:a="http://schemas.openxmlformats.org/drawingml/2006/main">
              <a:ext uri="{FF2B5EF4-FFF2-40B4-BE49-F238E27FC236}">
                <a16:creationId xmlns:a16="http://schemas.microsoft.com/office/drawing/2014/main" id="{F15129CA-A863-4EAE-B4EE-0F1901F8905C}"/>
              </a:ext>
            </a:extLst>
          </p:cNvPr>
          <p:cNvSpPr>
            <a:spLocks xmlns:a="http://schemas.openxmlformats.org/drawingml/2006/main" noGrp="1"/>
          </p:cNvSpPr>
          <p:nvPr/>
        </p:nvSpPr>
        <p:spPr>
          <a:xfrm xmlns:a="http://schemas.openxmlformats.org/drawingml/2006/main">
            <a:off x="6629400" y="941832"/>
            <a:ext cx="23774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077CC"/>
                </a:solidFill>
                <a:latin typeface="Consolas"/>
                <a:ea typeface="Consolas"/>
                <a:cs typeface="Consolas"/>
              </a:rPr>
              <a:t>CREATE</a:t>
            </a:r>
            <a:r>
              <a:rPr sz="800">
                <a:solidFill>
                  <a:srgbClr val="003C54"/>
                </a:solidFill>
                <a:latin typeface="Consolas"/>
                <a:ea typeface="Consolas"/>
                <a:cs typeface="Consolas"/>
              </a:rPr>
              <a:t> </a:t>
            </a:r>
            <a:r>
              <a:rPr sz="800">
                <a:solidFill>
                  <a:srgbClr val="0077CC"/>
                </a:solidFill>
                <a:latin typeface="Consolas"/>
                <a:ea typeface="Consolas"/>
                <a:cs typeface="Consolas"/>
              </a:rPr>
              <a:t>TABLE</a:t>
            </a:r>
            <a:r>
              <a:rPr sz="800">
                <a:solidFill>
                  <a:srgbClr val="003C54"/>
                </a:solidFill>
                <a:latin typeface="Consolas"/>
                <a:ea typeface="Consolas"/>
                <a:cs typeface="Consolas"/>
              </a:rPr>
              <a:t> top_products </a:t>
            </a:r>
            <a:r>
              <a:rPr sz="800">
                <a:solidFill>
                  <a:srgbClr val="0077CC"/>
                </a:solidFill>
                <a:latin typeface="Consolas"/>
                <a:ea typeface="Consolas"/>
                <a:cs typeface="Consolas"/>
              </a:rPr>
              <a:t>AS</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77CC"/>
                </a:solidFill>
                <a:latin typeface="Consolas"/>
                <a:ea typeface="Consolas"/>
                <a:cs typeface="Consolas"/>
              </a:rPr>
              <a:t>SELECT</a:t>
            </a:r>
            <a:r>
              <a:rPr sz="800">
                <a:solidFill>
                  <a:srgbClr val="003C54"/>
                </a:solidFill>
                <a:latin typeface="Consolas"/>
                <a:ea typeface="Consolas"/>
                <a:cs typeface="Consolas"/>
              </a:rPr>
              <a:t> product_id,</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795E26"/>
                </a:solidFill>
                <a:latin typeface="Consolas"/>
                <a:ea typeface="Consolas"/>
                <a:cs typeface="Consolas"/>
              </a:rPr>
              <a:t>COUNT</a:t>
            </a:r>
            <a:r>
              <a:rPr sz="800">
                <a:solidFill>
                  <a:srgbClr val="003C54"/>
                </a:solidFill>
                <a:latin typeface="Consolas"/>
                <a:ea typeface="Consolas"/>
                <a:cs typeface="Consolas"/>
              </a:rPr>
              <a:t>(*) </a:t>
            </a:r>
            <a:r>
              <a:rPr sz="800">
                <a:solidFill>
                  <a:srgbClr val="0077CC"/>
                </a:solidFill>
                <a:latin typeface="Consolas"/>
                <a:ea typeface="Consolas"/>
                <a:cs typeface="Consolas"/>
              </a:rPr>
              <a:t>AS</a:t>
            </a:r>
            <a:r>
              <a:rPr sz="800">
                <a:solidFill>
                  <a:srgbClr val="003C54"/>
                </a:solidFill>
                <a:latin typeface="Consolas"/>
                <a:ea typeface="Consolas"/>
                <a:cs typeface="Consolas"/>
              </a:rPr>
              <a:t> order_count,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795E26"/>
                </a:solidFill>
                <a:latin typeface="Consolas"/>
                <a:ea typeface="Consolas"/>
                <a:cs typeface="Consolas"/>
              </a:rPr>
              <a:t>SUM</a:t>
            </a:r>
            <a:r>
              <a:rPr sz="800">
                <a:solidFill>
                  <a:srgbClr val="003C54"/>
                </a:solidFill>
                <a:latin typeface="Consolas"/>
                <a:ea typeface="Consolas"/>
                <a:cs typeface="Consolas"/>
              </a:rPr>
              <a:t>(amount) </a:t>
            </a:r>
            <a:r>
              <a:rPr sz="800">
                <a:solidFill>
                  <a:srgbClr val="0077CC"/>
                </a:solidFill>
                <a:latin typeface="Consolas"/>
                <a:ea typeface="Consolas"/>
                <a:cs typeface="Consolas"/>
              </a:rPr>
              <a:t>AS</a:t>
            </a:r>
            <a:r>
              <a:rPr sz="800">
                <a:solidFill>
                  <a:srgbClr val="003C54"/>
                </a:solidFill>
                <a:latin typeface="Consolas"/>
                <a:ea typeface="Consolas"/>
                <a:cs typeface="Consolas"/>
              </a:rPr>
              <a:t> total_revenue</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77CC"/>
                </a:solidFill>
                <a:latin typeface="Consolas"/>
                <a:ea typeface="Consolas"/>
                <a:cs typeface="Consolas"/>
              </a:rPr>
              <a:t>FROM</a:t>
            </a:r>
            <a:r>
              <a:rPr sz="800">
                <a:solidFill>
                  <a:srgbClr val="003C54"/>
                </a:solidFill>
                <a:latin typeface="Consolas"/>
                <a:ea typeface="Consolas"/>
                <a:cs typeface="Consolas"/>
              </a:rPr>
              <a:t> orders_raw</a:t>
            </a:r>
          </a:p>
          <a:p xmlns:a="http://schemas.openxmlformats.org/drawingml/2006/main">
            <a:pPr marL="0" indent="0">
              <a:buNone/>
            </a:pPr>
            <a:r>
              <a:rPr sz="800">
                <a:solidFill>
                  <a:srgbClr val="003C54"/>
                </a:solidFill>
                <a:latin typeface="Consolas"/>
                <a:ea typeface="Consolas"/>
                <a:cs typeface="Consolas"/>
              </a:rPr>
              <a:t>  WINDOW HOPPING </a:t>
            </a:r>
          </a:p>
          <a:p xmlns:a="http://schemas.openxmlformats.org/drawingml/2006/main">
            <a:pPr marL="0" indent="0">
              <a:buNone/>
            </a:pPr>
            <a:r>
              <a:rPr sz="800">
                <a:solidFill>
                  <a:srgbClr val="003C54"/>
                </a:solidFill>
                <a:latin typeface="Consolas"/>
                <a:ea typeface="Consolas"/>
                <a:cs typeface="Consolas"/>
              </a:rPr>
              <a:t>(SIZE </a:t>
            </a:r>
            <a:r>
              <a:rPr sz="800">
                <a:solidFill>
                  <a:srgbClr val="098658"/>
                </a:solidFill>
                <a:latin typeface="Consolas"/>
                <a:ea typeface="Consolas"/>
                <a:cs typeface="Consolas"/>
              </a:rPr>
              <a:t>10</a:t>
            </a:r>
            <a:r>
              <a:rPr sz="800">
                <a:solidFill>
                  <a:srgbClr val="003C54"/>
                </a:solidFill>
                <a:latin typeface="Consolas"/>
                <a:ea typeface="Consolas"/>
                <a:cs typeface="Consolas"/>
              </a:rPr>
              <a:t> MINUTES, ADVANCE </a:t>
            </a:r>
            <a:r>
              <a:rPr sz="800">
                <a:solidFill>
                  <a:srgbClr val="0077CC"/>
                </a:solidFill>
                <a:latin typeface="Consolas"/>
                <a:ea typeface="Consolas"/>
                <a:cs typeface="Consolas"/>
              </a:rPr>
              <a:t>BY</a:t>
            </a:r>
            <a:r>
              <a:rPr sz="800">
                <a:solidFill>
                  <a:srgbClr val="003C54"/>
                </a:solidFill>
                <a:latin typeface="Consolas"/>
                <a:ea typeface="Consolas"/>
                <a:cs typeface="Consolas"/>
              </a:rPr>
              <a:t> </a:t>
            </a:r>
            <a:r>
              <a:rPr sz="800">
                <a:solidFill>
                  <a:srgbClr val="098658"/>
                </a:solidFill>
                <a:latin typeface="Consolas"/>
                <a:ea typeface="Consolas"/>
                <a:cs typeface="Consolas"/>
              </a:rPr>
              <a:t>1</a:t>
            </a:r>
            <a:r>
              <a:rPr sz="800">
                <a:solidFill>
                  <a:srgbClr val="003C54"/>
                </a:solidFill>
                <a:latin typeface="Consolas"/>
                <a:ea typeface="Consolas"/>
                <a:cs typeface="Consolas"/>
              </a:rPr>
              <a:t> </a:t>
            </a:r>
            <a:r>
              <a:rPr sz="800">
                <a:solidFill>
                  <a:srgbClr val="0077CC"/>
                </a:solidFill>
                <a:latin typeface="Consolas"/>
                <a:ea typeface="Consolas"/>
                <a:cs typeface="Consolas"/>
              </a:rPr>
              <a:t>MINUTE</a:t>
            </a:r>
            <a:r>
              <a:rPr sz="800">
                <a:solidFill>
                  <a:srgbClr val="003C54"/>
                </a:solidFill>
                <a:latin typeface="Consolas"/>
                <a:ea typeface="Consolas"/>
                <a:cs typeface="Consolas"/>
              </a:rPr>
              <a:t>)</a:t>
            </a:r>
          </a:p>
          <a:p xmlns:a="http://schemas.openxmlformats.org/drawingml/2006/main">
            <a:pPr marL="0" indent="0">
              <a:buNone/>
            </a:pPr>
            <a:r>
              <a:rPr sz="800">
                <a:solidFill>
                  <a:srgbClr val="003C54"/>
                </a:solidFill>
                <a:latin typeface="Consolas"/>
                <a:ea typeface="Consolas"/>
                <a:cs typeface="Consolas"/>
              </a:rPr>
              <a:t>  </a:t>
            </a:r>
          </a:p>
          <a:p xmlns:a="http://schemas.openxmlformats.org/drawingml/2006/main">
            <a:pPr marL="0" indent="0">
              <a:buNone/>
            </a:pPr>
            <a:r>
              <a:rPr sz="800">
                <a:solidFill>
                  <a:srgbClr val="0077CC"/>
                </a:solidFill>
                <a:latin typeface="Consolas"/>
                <a:ea typeface="Consolas"/>
                <a:cs typeface="Consolas"/>
              </a:rPr>
              <a:t>GROUP</a:t>
            </a:r>
            <a:r>
              <a:rPr sz="800">
                <a:solidFill>
                  <a:srgbClr val="003C54"/>
                </a:solidFill>
                <a:latin typeface="Consolas"/>
                <a:ea typeface="Consolas"/>
                <a:cs typeface="Consolas"/>
              </a:rPr>
              <a:t> </a:t>
            </a:r>
            <a:r>
              <a:rPr sz="800">
                <a:solidFill>
                  <a:srgbClr val="0077CC"/>
                </a:solidFill>
                <a:latin typeface="Consolas"/>
                <a:ea typeface="Consolas"/>
                <a:cs typeface="Consolas"/>
              </a:rPr>
              <a:t>BY</a:t>
            </a:r>
            <a:r>
              <a:rPr sz="800">
                <a:solidFill>
                  <a:srgbClr val="003C54"/>
                </a:solidFill>
                <a:latin typeface="Consolas"/>
                <a:ea typeface="Consolas"/>
                <a:cs typeface="Consolas"/>
              </a:rPr>
              <a:t> product_id</a:t>
            </a:r>
          </a:p>
          <a:p xmlns:a="http://schemas.openxmlformats.org/drawingml/2006/main">
            <a:pPr marL="0" indent="0">
              <a:buNone/>
            </a:pPr>
            <a:r>
              <a:rPr sz="800">
                <a:solidFill>
                  <a:srgbClr val="003C54"/>
                </a:solidFill>
                <a:latin typeface="Consolas"/>
                <a:ea typeface="Consolas"/>
                <a:cs typeface="Consolas"/>
              </a:rPr>
              <a:t>  EMIT CHANGES</a:t>
            </a:r>
          </a:p>
          <a:p xmlns:a="http://schemas.openxmlformats.org/drawingml/2006/main">
            <a:pPr marL="0" indent="0">
              <a:buNone/>
            </a:pPr>
            <a:r>
              <a:rPr sz="800">
                <a:solidFill>
                  <a:srgbClr val="003C54"/>
                </a:solidFill>
                <a:latin typeface="Consolas"/>
                <a:ea typeface="Consolas"/>
                <a:cs typeface="Consolas"/>
              </a:rPr>
              <a:t>;</a:t>
            </a:r>
          </a:p>
        </p:txBody>
      </p:sp>
      <p:sp>
        <p:nvSpPr>
          <p:cNvPr id="7" name="Text 5">
            <a:extLst xmlns:a="http://schemas.openxmlformats.org/drawingml/2006/main">
              <a:ext uri="{FF2B5EF4-FFF2-40B4-BE49-F238E27FC236}">
                <a16:creationId xmlns:a16="http://schemas.microsoft.com/office/drawing/2014/main" id="{BAD68B10-0730-4ECD-B0F6-C8C1DEFA1291}"/>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b9ac11bc2d3d46bd"/>
              </a:rPr>
              <a:t>[1]</a:t>
            </a:r>
            <a:r>
              <a:rPr sz="600">
                <a:solidFill>
                  <a:srgbClr val="000000"/>
                </a:solidFill>
              </a:rPr>
              <a:t>  </a:t>
            </a:r>
            <a:r>
              <a:rPr sz="600" u="sng">
                <a:solidFill>
                  <a:srgbClr val="0066CC"/>
                </a:solidFill>
                <a:hlinkClick xmlns:r="http://schemas.openxmlformats.org/officeDocument/2006/relationships" r:id="R6eb21f5a2e884cff"/>
              </a:rPr>
              <a:t>[2]</a:t>
            </a:r>
          </a:p>
        </p:txBody>
      </p:sp>
    </p:spTree>
    <p:extLst>
      <p:ext uri="{BB962C8B-B14F-4D97-AF65-F5344CB8AC3E}">
        <p14:creationId xmlns:p14="http://schemas.microsoft.com/office/powerpoint/2010/main" val="1296983532"/>
      </p:ext>
    </p:extLst>
  </p:cSld>
</p:sld>
</file>

<file path=ppt/slides/slide20.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586EDDB-EF49-47DC-A6CD-D9EC21F82D6F}"/>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17F64479-57B2-4235-A843-D6D4257DCC6A}"/>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Mini Exercise 1: Design a Pipeline</a:t>
            </a:r>
          </a:p>
        </p:txBody>
      </p:sp>
      <p:sp>
        <p:nvSpPr>
          <p:cNvPr id="4" name="Text 2">
            <a:extLst xmlns:a="http://schemas.openxmlformats.org/drawingml/2006/main">
              <a:ext uri="{FF2B5EF4-FFF2-40B4-BE49-F238E27FC236}">
                <a16:creationId xmlns:a16="http://schemas.microsoft.com/office/drawing/2014/main" id="{A9D91958-E3E6-40FE-B6E7-11AA4EDFB7E5}"/>
              </a:ext>
            </a:extLst>
          </p:cNvPr>
          <p:cNvSpPr>
            <a:spLocks xmlns:a="http://schemas.openxmlformats.org/drawingml/2006/main" noGrp="1"/>
          </p:cNvSpPr>
          <p:nvPr/>
        </p:nvSpPr>
        <p:spPr>
          <a:xfrm xmlns:a="http://schemas.openxmlformats.org/drawingml/2006/main">
            <a:off x="457200" y="731520"/>
            <a:ext cx="8229600" cy="2194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Sketch the complete architecture, marking which components run in the supplied Day 10 stack and which are integration extensions. Include sources, CDC, schema handling, cleaned/aggregate output, BI dashboard, operational checks and evidence captured.</a:t>
            </a:r>
          </a:p>
        </p:txBody>
      </p:sp>
      <p:sp>
        <p:nvSpPr>
          <p:cNvPr id="5" name="Text 3">
            <a:extLst xmlns:a="http://schemas.openxmlformats.org/drawingml/2006/main">
              <a:ext uri="{FF2B5EF4-FFF2-40B4-BE49-F238E27FC236}">
                <a16:creationId xmlns:a16="http://schemas.microsoft.com/office/drawing/2014/main" id="{6B57D0B8-101B-495A-814D-DFEE0FB4CB79}"/>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p>
        </p:txBody>
      </p:sp>
    </p:spTree>
    <p:extLst>
      <p:ext uri="{BB962C8B-B14F-4D97-AF65-F5344CB8AC3E}">
        <p14:creationId xmlns:p14="http://schemas.microsoft.com/office/powerpoint/2010/main" val="538005642"/>
      </p:ext>
    </p:extLst>
  </p:cSld>
</p:sld>
</file>

<file path=ppt/slides/slide21.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A5CF261-9E2E-4FB8-9291-852584DBC817}"/>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66C105B6-36E9-487F-AE18-E83B979B40C0}"/>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Mini Exercise 2: Define Schemas &amp; Topics</a:t>
            </a:r>
          </a:p>
        </p:txBody>
      </p:sp>
      <p:sp>
        <p:nvSpPr>
          <p:cNvPr id="4" name="Text 2">
            <a:extLst xmlns:a="http://schemas.openxmlformats.org/drawingml/2006/main">
              <a:ext uri="{FF2B5EF4-FFF2-40B4-BE49-F238E27FC236}">
                <a16:creationId xmlns:a16="http://schemas.microsoft.com/office/drawing/2014/main" id="{E33DAD28-7B08-4AD9-85E1-879D5CA7FF4D}"/>
              </a:ext>
            </a:extLst>
          </p:cNvPr>
          <p:cNvSpPr>
            <a:spLocks xmlns:a="http://schemas.openxmlformats.org/drawingml/2006/main" noGrp="1"/>
          </p:cNvSpPr>
          <p:nvPr/>
        </p:nvSpPr>
        <p:spPr>
          <a:xfrm xmlns:a="http://schemas.openxmlformats.org/drawingml/2006/main">
            <a:off x="457200" y="731520"/>
            <a:ext cx="8229600" cy="2194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For the user registration pipeline, propose Avro schemas for events and choose topic names. Describe how you would handle optional fields and schema evolution over time.</a:t>
            </a:r>
          </a:p>
        </p:txBody>
      </p:sp>
      <p:sp>
        <p:nvSpPr>
          <p:cNvPr id="5" name="Text 3">
            <a:extLst xmlns:a="http://schemas.openxmlformats.org/drawingml/2006/main">
              <a:ext uri="{FF2B5EF4-FFF2-40B4-BE49-F238E27FC236}">
                <a16:creationId xmlns:a16="http://schemas.microsoft.com/office/drawing/2014/main" id="{C1258350-4190-4185-9931-E441D46B3BFE}"/>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p>
        </p:txBody>
      </p:sp>
    </p:spTree>
    <p:extLst>
      <p:ext uri="{BB962C8B-B14F-4D97-AF65-F5344CB8AC3E}">
        <p14:creationId xmlns:p14="http://schemas.microsoft.com/office/powerpoint/2010/main" val="585115295"/>
      </p:ext>
    </p:extLst>
  </p:cSld>
</p:sld>
</file>

<file path=ppt/slides/slide22.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C01AE2F-D3EF-4210-AF8F-9600506297CB}"/>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83FA9F8F-6368-4138-BD50-B90488CD667D}"/>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Mini Exercise 3: Streaming SQL</a:t>
            </a:r>
          </a:p>
        </p:txBody>
      </p:sp>
      <p:sp>
        <p:nvSpPr>
          <p:cNvPr id="4" name="Text 2">
            <a:extLst xmlns:a="http://schemas.openxmlformats.org/drawingml/2006/main">
              <a:ext uri="{FF2B5EF4-FFF2-40B4-BE49-F238E27FC236}">
                <a16:creationId xmlns:a16="http://schemas.microsoft.com/office/drawing/2014/main" id="{A9FEEB03-C354-4D75-AD32-A003C6D28EAC}"/>
              </a:ext>
            </a:extLst>
          </p:cNvPr>
          <p:cNvSpPr>
            <a:spLocks xmlns:a="http://schemas.openxmlformats.org/drawingml/2006/main" noGrp="1"/>
          </p:cNvSpPr>
          <p:nvPr/>
        </p:nvSpPr>
        <p:spPr>
          <a:xfrm xmlns:a="http://schemas.openxmlformats.org/drawingml/2006/main">
            <a:off x="457200" y="731520"/>
            <a:ext cx="8229600" cy="2194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Write a ksqlDB query to compute the number of registrations per region in a 5‑minute tumbling window. How would you handle late events arriving after the window closes?</a:t>
            </a:r>
          </a:p>
        </p:txBody>
      </p:sp>
      <p:sp>
        <p:nvSpPr>
          <p:cNvPr id="5" name="Text 3">
            <a:extLst xmlns:a="http://schemas.openxmlformats.org/drawingml/2006/main">
              <a:ext uri="{FF2B5EF4-FFF2-40B4-BE49-F238E27FC236}">
                <a16:creationId xmlns:a16="http://schemas.microsoft.com/office/drawing/2014/main" id="{95412460-FCFB-4E0B-8F73-3C1EBFB549CA}"/>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p>
        </p:txBody>
      </p:sp>
    </p:spTree>
    <p:extLst>
      <p:ext uri="{BB962C8B-B14F-4D97-AF65-F5344CB8AC3E}">
        <p14:creationId xmlns:p14="http://schemas.microsoft.com/office/powerpoint/2010/main" val="837848933"/>
      </p:ext>
    </p:extLst>
  </p:cSld>
</p:sld>
</file>

<file path=ppt/slides/slide23.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1D53AA0-9A9E-4254-BC22-520FE844D3C8}"/>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52681406-C8B0-4B62-8BB6-63F620A2D5DE}"/>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Mini Exercise 4: Troubleshooting &amp; Optimisation</a:t>
            </a:r>
          </a:p>
        </p:txBody>
      </p:sp>
      <p:sp>
        <p:nvSpPr>
          <p:cNvPr id="4" name="Text 2">
            <a:extLst xmlns:a="http://schemas.openxmlformats.org/drawingml/2006/main">
              <a:ext uri="{FF2B5EF4-FFF2-40B4-BE49-F238E27FC236}">
                <a16:creationId xmlns:a16="http://schemas.microsoft.com/office/drawing/2014/main" id="{24FD7DB2-6CC2-442A-9F4A-3FAEC58C3575}"/>
              </a:ext>
            </a:extLst>
          </p:cNvPr>
          <p:cNvSpPr>
            <a:spLocks xmlns:a="http://schemas.openxmlformats.org/drawingml/2006/main" noGrp="1"/>
          </p:cNvSpPr>
          <p:nvPr/>
        </p:nvSpPr>
        <p:spPr>
          <a:xfrm xmlns:a="http://schemas.openxmlformats.org/drawingml/2006/main">
            <a:off x="457200" y="731520"/>
            <a:ext cx="822960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Your dashboard is stale. Trace the path from source change to CDC topic, ksqlDB aggregate and BI refresh. Identify three evidence checks, one likely cause, one recovery action and one prevention control. State whether the issue is in the runnable stack or an extension component.</a:t>
            </a:r>
          </a:p>
        </p:txBody>
      </p:sp>
      <p:sp>
        <p:nvSpPr>
          <p:cNvPr id="5" name="Text 3">
            <a:extLst xmlns:a="http://schemas.openxmlformats.org/drawingml/2006/main">
              <a:ext uri="{FF2B5EF4-FFF2-40B4-BE49-F238E27FC236}">
                <a16:creationId xmlns:a16="http://schemas.microsoft.com/office/drawing/2014/main" id="{55890F90-8D69-46DB-8191-9EF294D80B9B}"/>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p>
        </p:txBody>
      </p:sp>
    </p:spTree>
    <p:extLst>
      <p:ext uri="{BB962C8B-B14F-4D97-AF65-F5344CB8AC3E}">
        <p14:creationId xmlns:p14="http://schemas.microsoft.com/office/powerpoint/2010/main" val="1601606552"/>
      </p:ext>
    </p:extLst>
  </p:cSld>
</p:sld>
</file>

<file path=ppt/slides/slide24.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715A84A-2ED8-40A4-B8ED-2D152324D3B4}"/>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1F19F231-0AFC-4727-A453-CAD07995DF06}"/>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Knowledge Check</a:t>
            </a:r>
          </a:p>
        </p:txBody>
      </p:sp>
      <p:sp>
        <p:nvSpPr>
          <p:cNvPr id="4" name="Text 2">
            <a:extLst xmlns:a="http://schemas.openxmlformats.org/drawingml/2006/main">
              <a:ext uri="{FF2B5EF4-FFF2-40B4-BE49-F238E27FC236}">
                <a16:creationId xmlns:a16="http://schemas.microsoft.com/office/drawing/2014/main" id="{05D98A69-05A6-46B1-AA67-036AC22F1A83}"/>
              </a:ext>
            </a:extLst>
          </p:cNvPr>
          <p:cNvSpPr>
            <a:spLocks xmlns:a="http://schemas.openxmlformats.org/drawingml/2006/main" noGrp="1"/>
          </p:cNvSpPr>
          <p:nvPr/>
        </p:nvSpPr>
        <p:spPr>
          <a:xfrm xmlns:a="http://schemas.openxmlformats.org/drawingml/2006/main">
            <a:off x="457200" y="73152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003C54"/>
                </a:solidFill>
              </a:rPr>
              <a:t>1. Which layer should contain cleansed &amp; conformed data ready for analytics?</a:t>
            </a:r>
          </a:p>
        </p:txBody>
      </p:sp>
      <p:sp>
        <p:nvSpPr>
          <p:cNvPr id="5" name="Text 3">
            <a:extLst xmlns:a="http://schemas.openxmlformats.org/drawingml/2006/main">
              <a:ext uri="{FF2B5EF4-FFF2-40B4-BE49-F238E27FC236}">
                <a16:creationId xmlns:a16="http://schemas.microsoft.com/office/drawing/2014/main" id="{118B1D48-32AD-4A68-9957-FB2368718FE9}"/>
              </a:ext>
            </a:extLst>
          </p:cNvPr>
          <p:cNvSpPr>
            <a:spLocks xmlns:a="http://schemas.openxmlformats.org/drawingml/2006/main" noGrp="1"/>
          </p:cNvSpPr>
          <p:nvPr/>
        </p:nvSpPr>
        <p:spPr>
          <a:xfrm xmlns:a="http://schemas.openxmlformats.org/drawingml/2006/main">
            <a:off x="640080" y="896112"/>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A. Bronze</a:t>
            </a:r>
          </a:p>
        </p:txBody>
      </p:sp>
      <p:sp>
        <p:nvSpPr>
          <p:cNvPr id="6" name="Text 4">
            <a:extLst xmlns:a="http://schemas.openxmlformats.org/drawingml/2006/main">
              <a:ext uri="{FF2B5EF4-FFF2-40B4-BE49-F238E27FC236}">
                <a16:creationId xmlns:a16="http://schemas.microsoft.com/office/drawing/2014/main" id="{F90791A9-6358-4589-99D5-81358B6EB4E3}"/>
              </a:ext>
            </a:extLst>
          </p:cNvPr>
          <p:cNvSpPr>
            <a:spLocks xmlns:a="http://schemas.openxmlformats.org/drawingml/2006/main" noGrp="1"/>
          </p:cNvSpPr>
          <p:nvPr/>
        </p:nvSpPr>
        <p:spPr>
          <a:xfrm xmlns:a="http://schemas.openxmlformats.org/drawingml/2006/main">
            <a:off x="640080" y="1060704"/>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B. Silver</a:t>
            </a:r>
          </a:p>
        </p:txBody>
      </p:sp>
      <p:sp>
        <p:nvSpPr>
          <p:cNvPr id="7" name="Text 5">
            <a:extLst xmlns:a="http://schemas.openxmlformats.org/drawingml/2006/main">
              <a:ext uri="{FF2B5EF4-FFF2-40B4-BE49-F238E27FC236}">
                <a16:creationId xmlns:a16="http://schemas.microsoft.com/office/drawing/2014/main" id="{FAD5A00C-78C9-4757-907C-29C965F14ACF}"/>
              </a:ext>
            </a:extLst>
          </p:cNvPr>
          <p:cNvSpPr>
            <a:spLocks xmlns:a="http://schemas.openxmlformats.org/drawingml/2006/main" noGrp="1"/>
          </p:cNvSpPr>
          <p:nvPr/>
        </p:nvSpPr>
        <p:spPr>
          <a:xfrm xmlns:a="http://schemas.openxmlformats.org/drawingml/2006/main">
            <a:off x="640080" y="1225296"/>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C. Gold</a:t>
            </a:r>
          </a:p>
        </p:txBody>
      </p:sp>
      <p:sp>
        <p:nvSpPr>
          <p:cNvPr id="8" name="Text 6">
            <a:extLst xmlns:a="http://schemas.openxmlformats.org/drawingml/2006/main">
              <a:ext uri="{FF2B5EF4-FFF2-40B4-BE49-F238E27FC236}">
                <a16:creationId xmlns:a16="http://schemas.microsoft.com/office/drawing/2014/main" id="{B9CDB7CB-9772-481E-B0CD-F96D86485AE2}"/>
              </a:ext>
            </a:extLst>
          </p:cNvPr>
          <p:cNvSpPr>
            <a:spLocks xmlns:a="http://schemas.openxmlformats.org/drawingml/2006/main" noGrp="1"/>
          </p:cNvSpPr>
          <p:nvPr/>
        </p:nvSpPr>
        <p:spPr>
          <a:xfrm xmlns:a="http://schemas.openxmlformats.org/drawingml/2006/main">
            <a:off x="640080" y="1389888"/>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D. None</a:t>
            </a:r>
          </a:p>
        </p:txBody>
      </p:sp>
      <p:sp>
        <p:nvSpPr>
          <p:cNvPr id="9" name="Text 7">
            <a:extLst xmlns:a="http://schemas.openxmlformats.org/drawingml/2006/main">
              <a:ext uri="{FF2B5EF4-FFF2-40B4-BE49-F238E27FC236}">
                <a16:creationId xmlns:a16="http://schemas.microsoft.com/office/drawing/2014/main" id="{9C90A60A-248A-4548-A108-49F964ED4E1B}"/>
              </a:ext>
            </a:extLst>
          </p:cNvPr>
          <p:cNvSpPr>
            <a:spLocks xmlns:a="http://schemas.openxmlformats.org/drawingml/2006/main" noGrp="1"/>
          </p:cNvSpPr>
          <p:nvPr/>
        </p:nvSpPr>
        <p:spPr>
          <a:xfrm xmlns:a="http://schemas.openxmlformats.org/drawingml/2006/main">
            <a:off x="457200" y="164592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003C54"/>
                </a:solidFill>
              </a:rPr>
              <a:t>2. In a DLQ pattern, malformed messages are:</a:t>
            </a:r>
          </a:p>
        </p:txBody>
      </p:sp>
      <p:sp>
        <p:nvSpPr>
          <p:cNvPr id="10" name="Text 8">
            <a:extLst xmlns:a="http://schemas.openxmlformats.org/drawingml/2006/main">
              <a:ext uri="{FF2B5EF4-FFF2-40B4-BE49-F238E27FC236}">
                <a16:creationId xmlns:a16="http://schemas.microsoft.com/office/drawing/2014/main" id="{4923368E-7865-498B-ACDC-AA89C9F2C8D8}"/>
              </a:ext>
            </a:extLst>
          </p:cNvPr>
          <p:cNvSpPr>
            <a:spLocks xmlns:a="http://schemas.openxmlformats.org/drawingml/2006/main" noGrp="1"/>
          </p:cNvSpPr>
          <p:nvPr/>
        </p:nvSpPr>
        <p:spPr>
          <a:xfrm xmlns:a="http://schemas.openxmlformats.org/drawingml/2006/main">
            <a:off x="640080" y="1810512"/>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A. Sent back to the producer</a:t>
            </a:r>
          </a:p>
        </p:txBody>
      </p:sp>
      <p:sp>
        <p:nvSpPr>
          <p:cNvPr id="11" name="Text 9">
            <a:extLst xmlns:a="http://schemas.openxmlformats.org/drawingml/2006/main">
              <a:ext uri="{FF2B5EF4-FFF2-40B4-BE49-F238E27FC236}">
                <a16:creationId xmlns:a16="http://schemas.microsoft.com/office/drawing/2014/main" id="{E419634A-F547-4C5D-BA6A-5A4108FDF855}"/>
              </a:ext>
            </a:extLst>
          </p:cNvPr>
          <p:cNvSpPr>
            <a:spLocks xmlns:a="http://schemas.openxmlformats.org/drawingml/2006/main" noGrp="1"/>
          </p:cNvSpPr>
          <p:nvPr/>
        </p:nvSpPr>
        <p:spPr>
          <a:xfrm xmlns:a="http://schemas.openxmlformats.org/drawingml/2006/main">
            <a:off x="640080" y="1975104"/>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B. Stored in a dedicated topic for later inspection</a:t>
            </a:r>
          </a:p>
        </p:txBody>
      </p:sp>
      <p:sp>
        <p:nvSpPr>
          <p:cNvPr id="12" name="Text 10">
            <a:extLst xmlns:a="http://schemas.openxmlformats.org/drawingml/2006/main">
              <a:ext uri="{FF2B5EF4-FFF2-40B4-BE49-F238E27FC236}">
                <a16:creationId xmlns:a16="http://schemas.microsoft.com/office/drawing/2014/main" id="{41BFD73B-0D18-490A-9F62-020FC88CC2D4}"/>
              </a:ext>
            </a:extLst>
          </p:cNvPr>
          <p:cNvSpPr>
            <a:spLocks xmlns:a="http://schemas.openxmlformats.org/drawingml/2006/main" noGrp="1"/>
          </p:cNvSpPr>
          <p:nvPr/>
        </p:nvSpPr>
        <p:spPr>
          <a:xfrm xmlns:a="http://schemas.openxmlformats.org/drawingml/2006/main">
            <a:off x="640080" y="2139696"/>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C. Discarded completely</a:t>
            </a:r>
          </a:p>
        </p:txBody>
      </p:sp>
      <p:sp>
        <p:nvSpPr>
          <p:cNvPr id="13" name="Text 11">
            <a:extLst xmlns:a="http://schemas.openxmlformats.org/drawingml/2006/main">
              <a:ext uri="{FF2B5EF4-FFF2-40B4-BE49-F238E27FC236}">
                <a16:creationId xmlns:a16="http://schemas.microsoft.com/office/drawing/2014/main" id="{FBF7409D-5FD5-4BBB-8F49-C64B8522F994}"/>
              </a:ext>
            </a:extLst>
          </p:cNvPr>
          <p:cNvSpPr>
            <a:spLocks xmlns:a="http://schemas.openxmlformats.org/drawingml/2006/main" noGrp="1"/>
          </p:cNvSpPr>
          <p:nvPr/>
        </p:nvSpPr>
        <p:spPr>
          <a:xfrm xmlns:a="http://schemas.openxmlformats.org/drawingml/2006/main">
            <a:off x="640080" y="2304288"/>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D. Ignored by consumers</a:t>
            </a:r>
          </a:p>
        </p:txBody>
      </p:sp>
      <p:sp>
        <p:nvSpPr>
          <p:cNvPr id="14" name="Text 12">
            <a:extLst xmlns:a="http://schemas.openxmlformats.org/drawingml/2006/main">
              <a:ext uri="{FF2B5EF4-FFF2-40B4-BE49-F238E27FC236}">
                <a16:creationId xmlns:a16="http://schemas.microsoft.com/office/drawing/2014/main" id="{E32BDB07-19D3-426E-BDBA-1CAAD9057E06}"/>
              </a:ext>
            </a:extLst>
          </p:cNvPr>
          <p:cNvSpPr>
            <a:spLocks xmlns:a="http://schemas.openxmlformats.org/drawingml/2006/main" noGrp="1"/>
          </p:cNvSpPr>
          <p:nvPr/>
        </p:nvSpPr>
        <p:spPr>
          <a:xfrm xmlns:a="http://schemas.openxmlformats.org/drawingml/2006/main">
            <a:off x="457200" y="256032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003C54"/>
                </a:solidFill>
              </a:rPr>
              <a:t>3. ksqlDB pull queries are used to:</a:t>
            </a:r>
          </a:p>
        </p:txBody>
      </p:sp>
      <p:sp>
        <p:nvSpPr>
          <p:cNvPr id="15" name="Text 13">
            <a:extLst xmlns:a="http://schemas.openxmlformats.org/drawingml/2006/main">
              <a:ext uri="{FF2B5EF4-FFF2-40B4-BE49-F238E27FC236}">
                <a16:creationId xmlns:a16="http://schemas.microsoft.com/office/drawing/2014/main" id="{FD4BBB56-460A-4AEA-9010-DE6A8A7CC85F}"/>
              </a:ext>
            </a:extLst>
          </p:cNvPr>
          <p:cNvSpPr>
            <a:spLocks xmlns:a="http://schemas.openxmlformats.org/drawingml/2006/main" noGrp="1"/>
          </p:cNvSpPr>
          <p:nvPr/>
        </p:nvSpPr>
        <p:spPr>
          <a:xfrm xmlns:a="http://schemas.openxmlformats.org/drawingml/2006/main">
            <a:off x="640080" y="2724912"/>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A. Continuously process streaming events</a:t>
            </a:r>
          </a:p>
        </p:txBody>
      </p:sp>
      <p:sp>
        <p:nvSpPr>
          <p:cNvPr id="16" name="Text 14">
            <a:extLst xmlns:a="http://schemas.openxmlformats.org/drawingml/2006/main">
              <a:ext uri="{FF2B5EF4-FFF2-40B4-BE49-F238E27FC236}">
                <a16:creationId xmlns:a16="http://schemas.microsoft.com/office/drawing/2014/main" id="{98FAE421-5C23-4897-BD98-644ED8464523}"/>
              </a:ext>
            </a:extLst>
          </p:cNvPr>
          <p:cNvSpPr>
            <a:spLocks xmlns:a="http://schemas.openxmlformats.org/drawingml/2006/main" noGrp="1"/>
          </p:cNvSpPr>
          <p:nvPr/>
        </p:nvSpPr>
        <p:spPr>
          <a:xfrm xmlns:a="http://schemas.openxmlformats.org/drawingml/2006/main">
            <a:off x="640080" y="2889504"/>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B. Create new Kafka topics</a:t>
            </a:r>
          </a:p>
        </p:txBody>
      </p:sp>
      <p:sp>
        <p:nvSpPr>
          <p:cNvPr id="17" name="Text 15">
            <a:extLst xmlns:a="http://schemas.openxmlformats.org/drawingml/2006/main">
              <a:ext uri="{FF2B5EF4-FFF2-40B4-BE49-F238E27FC236}">
                <a16:creationId xmlns:a16="http://schemas.microsoft.com/office/drawing/2014/main" id="{99579043-AF18-4A81-AA88-2665BCD126EC}"/>
              </a:ext>
            </a:extLst>
          </p:cNvPr>
          <p:cNvSpPr>
            <a:spLocks xmlns:a="http://schemas.openxmlformats.org/drawingml/2006/main" noGrp="1"/>
          </p:cNvSpPr>
          <p:nvPr/>
        </p:nvSpPr>
        <p:spPr>
          <a:xfrm xmlns:a="http://schemas.openxmlformats.org/drawingml/2006/main">
            <a:off x="640080" y="3054096"/>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C. Retrieve the current state of a materialized view on demand</a:t>
            </a:r>
          </a:p>
        </p:txBody>
      </p:sp>
      <p:sp>
        <p:nvSpPr>
          <p:cNvPr id="18" name="Text 16">
            <a:extLst xmlns:a="http://schemas.openxmlformats.org/drawingml/2006/main">
              <a:ext uri="{FF2B5EF4-FFF2-40B4-BE49-F238E27FC236}">
                <a16:creationId xmlns:a16="http://schemas.microsoft.com/office/drawing/2014/main" id="{30EB7272-B3DF-4135-9743-A84F1EA63795}"/>
              </a:ext>
            </a:extLst>
          </p:cNvPr>
          <p:cNvSpPr>
            <a:spLocks xmlns:a="http://schemas.openxmlformats.org/drawingml/2006/main" noGrp="1"/>
          </p:cNvSpPr>
          <p:nvPr/>
        </p:nvSpPr>
        <p:spPr>
          <a:xfrm xmlns:a="http://schemas.openxmlformats.org/drawingml/2006/main">
            <a:off x="640080" y="3218688"/>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D. Persist aggregated results to another stream</a:t>
            </a:r>
          </a:p>
        </p:txBody>
      </p:sp>
      <p:sp>
        <p:nvSpPr>
          <p:cNvPr id="19" name="Text 17">
            <a:extLst xmlns:a="http://schemas.openxmlformats.org/drawingml/2006/main">
              <a:ext uri="{FF2B5EF4-FFF2-40B4-BE49-F238E27FC236}">
                <a16:creationId xmlns:a16="http://schemas.microsoft.com/office/drawing/2014/main" id="{EC60320C-AB85-4FD0-B0FF-8E17E9D609FF}"/>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p>
        </p:txBody>
      </p:sp>
    </p:spTree>
    <p:extLst>
      <p:ext uri="{BB962C8B-B14F-4D97-AF65-F5344CB8AC3E}">
        <p14:creationId xmlns:p14="http://schemas.microsoft.com/office/powerpoint/2010/main" val="837408958"/>
      </p:ext>
    </p:extLst>
  </p:cSld>
</p:sld>
</file>

<file path=ppt/slides/slide25.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7DC1A62-DB51-4994-96C9-113506BFAB09}"/>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A61CABA2-2689-4820-B860-EBC8EC73E032}"/>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Knowledge Check (cont.)</a:t>
            </a:r>
          </a:p>
        </p:txBody>
      </p:sp>
      <p:sp>
        <p:nvSpPr>
          <p:cNvPr id="4" name="Text 2">
            <a:extLst xmlns:a="http://schemas.openxmlformats.org/drawingml/2006/main">
              <a:ext uri="{FF2B5EF4-FFF2-40B4-BE49-F238E27FC236}">
                <a16:creationId xmlns:a16="http://schemas.microsoft.com/office/drawing/2014/main" id="{8E0299B2-FA58-426D-8875-DC0C984FBCCF}"/>
              </a:ext>
            </a:extLst>
          </p:cNvPr>
          <p:cNvSpPr>
            <a:spLocks xmlns:a="http://schemas.openxmlformats.org/drawingml/2006/main" noGrp="1"/>
          </p:cNvSpPr>
          <p:nvPr/>
        </p:nvSpPr>
        <p:spPr>
          <a:xfrm xmlns:a="http://schemas.openxmlformats.org/drawingml/2006/main">
            <a:off x="457200" y="73152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003C54"/>
                </a:solidFill>
              </a:rPr>
              <a:t>4. Which component manages task scheduling and execution in Airflow?</a:t>
            </a:r>
          </a:p>
        </p:txBody>
      </p:sp>
      <p:sp>
        <p:nvSpPr>
          <p:cNvPr id="5" name="Text 3">
            <a:extLst xmlns:a="http://schemas.openxmlformats.org/drawingml/2006/main">
              <a:ext uri="{FF2B5EF4-FFF2-40B4-BE49-F238E27FC236}">
                <a16:creationId xmlns:a16="http://schemas.microsoft.com/office/drawing/2014/main" id="{8893D753-7788-44F9-ACDE-5DCD8D1C9304}"/>
              </a:ext>
            </a:extLst>
          </p:cNvPr>
          <p:cNvSpPr>
            <a:spLocks xmlns:a="http://schemas.openxmlformats.org/drawingml/2006/main" noGrp="1"/>
          </p:cNvSpPr>
          <p:nvPr/>
        </p:nvSpPr>
        <p:spPr>
          <a:xfrm xmlns:a="http://schemas.openxmlformats.org/drawingml/2006/main">
            <a:off x="640080" y="896112"/>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A. Worker</a:t>
            </a:r>
          </a:p>
        </p:txBody>
      </p:sp>
      <p:sp>
        <p:nvSpPr>
          <p:cNvPr id="6" name="Text 4">
            <a:extLst xmlns:a="http://schemas.openxmlformats.org/drawingml/2006/main">
              <a:ext uri="{FF2B5EF4-FFF2-40B4-BE49-F238E27FC236}">
                <a16:creationId xmlns:a16="http://schemas.microsoft.com/office/drawing/2014/main" id="{6096A658-42C5-4814-8BF8-13B8CE0C4C85}"/>
              </a:ext>
            </a:extLst>
          </p:cNvPr>
          <p:cNvSpPr>
            <a:spLocks xmlns:a="http://schemas.openxmlformats.org/drawingml/2006/main" noGrp="1"/>
          </p:cNvSpPr>
          <p:nvPr/>
        </p:nvSpPr>
        <p:spPr>
          <a:xfrm xmlns:a="http://schemas.openxmlformats.org/drawingml/2006/main">
            <a:off x="640080" y="1060704"/>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B. Scheduler</a:t>
            </a:r>
          </a:p>
        </p:txBody>
      </p:sp>
      <p:sp>
        <p:nvSpPr>
          <p:cNvPr id="7" name="Text 5">
            <a:extLst xmlns:a="http://schemas.openxmlformats.org/drawingml/2006/main">
              <a:ext uri="{FF2B5EF4-FFF2-40B4-BE49-F238E27FC236}">
                <a16:creationId xmlns:a16="http://schemas.microsoft.com/office/drawing/2014/main" id="{6283BBF7-5CC1-4FD9-8978-A679BF81A359}"/>
              </a:ext>
            </a:extLst>
          </p:cNvPr>
          <p:cNvSpPr>
            <a:spLocks xmlns:a="http://schemas.openxmlformats.org/drawingml/2006/main" noGrp="1"/>
          </p:cNvSpPr>
          <p:nvPr/>
        </p:nvSpPr>
        <p:spPr>
          <a:xfrm xmlns:a="http://schemas.openxmlformats.org/drawingml/2006/main">
            <a:off x="640080" y="1225296"/>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C. Triggerer</a:t>
            </a:r>
          </a:p>
        </p:txBody>
      </p:sp>
      <p:sp>
        <p:nvSpPr>
          <p:cNvPr id="8" name="Text 6">
            <a:extLst xmlns:a="http://schemas.openxmlformats.org/drawingml/2006/main">
              <a:ext uri="{FF2B5EF4-FFF2-40B4-BE49-F238E27FC236}">
                <a16:creationId xmlns:a16="http://schemas.microsoft.com/office/drawing/2014/main" id="{285B8918-F4A9-4527-AC8C-46F2B294AFA8}"/>
              </a:ext>
            </a:extLst>
          </p:cNvPr>
          <p:cNvSpPr>
            <a:spLocks xmlns:a="http://schemas.openxmlformats.org/drawingml/2006/main" noGrp="1"/>
          </p:cNvSpPr>
          <p:nvPr/>
        </p:nvSpPr>
        <p:spPr>
          <a:xfrm xmlns:a="http://schemas.openxmlformats.org/drawingml/2006/main">
            <a:off x="640080" y="1389888"/>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D. Webserver</a:t>
            </a:r>
          </a:p>
        </p:txBody>
      </p:sp>
      <p:sp>
        <p:nvSpPr>
          <p:cNvPr id="9" name="Text 7">
            <a:extLst xmlns:a="http://schemas.openxmlformats.org/drawingml/2006/main">
              <a:ext uri="{FF2B5EF4-FFF2-40B4-BE49-F238E27FC236}">
                <a16:creationId xmlns:a16="http://schemas.microsoft.com/office/drawing/2014/main" id="{F375E415-16BD-48AC-9112-59AAAABC718E}"/>
              </a:ext>
            </a:extLst>
          </p:cNvPr>
          <p:cNvSpPr>
            <a:spLocks xmlns:a="http://schemas.openxmlformats.org/drawingml/2006/main" noGrp="1"/>
          </p:cNvSpPr>
          <p:nvPr/>
        </p:nvSpPr>
        <p:spPr>
          <a:xfrm xmlns:a="http://schemas.openxmlformats.org/drawingml/2006/main">
            <a:off x="457200" y="164592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003C54"/>
                </a:solidFill>
              </a:rPr>
              <a:t>5. What ensures exactly‑once semantics in Kafka Streams?</a:t>
            </a:r>
          </a:p>
        </p:txBody>
      </p:sp>
      <p:sp>
        <p:nvSpPr>
          <p:cNvPr id="10" name="Text 8">
            <a:extLst xmlns:a="http://schemas.openxmlformats.org/drawingml/2006/main">
              <a:ext uri="{FF2B5EF4-FFF2-40B4-BE49-F238E27FC236}">
                <a16:creationId xmlns:a16="http://schemas.microsoft.com/office/drawing/2014/main" id="{8670D1BF-5ACA-4560-B910-025339A2F0FB}"/>
              </a:ext>
            </a:extLst>
          </p:cNvPr>
          <p:cNvSpPr>
            <a:spLocks xmlns:a="http://schemas.openxmlformats.org/drawingml/2006/main" noGrp="1"/>
          </p:cNvSpPr>
          <p:nvPr/>
        </p:nvSpPr>
        <p:spPr>
          <a:xfrm xmlns:a="http://schemas.openxmlformats.org/drawingml/2006/main">
            <a:off x="640080" y="1810512"/>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A. Idempotent producers &amp; transactions</a:t>
            </a:r>
          </a:p>
        </p:txBody>
      </p:sp>
      <p:sp>
        <p:nvSpPr>
          <p:cNvPr id="11" name="Text 9">
            <a:extLst xmlns:a="http://schemas.openxmlformats.org/drawingml/2006/main">
              <a:ext uri="{FF2B5EF4-FFF2-40B4-BE49-F238E27FC236}">
                <a16:creationId xmlns:a16="http://schemas.microsoft.com/office/drawing/2014/main" id="{600F6A3E-4517-48FE-A0D1-A69BC3287E86}"/>
              </a:ext>
            </a:extLst>
          </p:cNvPr>
          <p:cNvSpPr>
            <a:spLocks xmlns:a="http://schemas.openxmlformats.org/drawingml/2006/main" noGrp="1"/>
          </p:cNvSpPr>
          <p:nvPr/>
        </p:nvSpPr>
        <p:spPr>
          <a:xfrm xmlns:a="http://schemas.openxmlformats.org/drawingml/2006/main">
            <a:off x="640080" y="1975104"/>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B. Setting acks=0</a:t>
            </a:r>
          </a:p>
        </p:txBody>
      </p:sp>
      <p:sp>
        <p:nvSpPr>
          <p:cNvPr id="12" name="Text 10">
            <a:extLst xmlns:a="http://schemas.openxmlformats.org/drawingml/2006/main">
              <a:ext uri="{FF2B5EF4-FFF2-40B4-BE49-F238E27FC236}">
                <a16:creationId xmlns:a16="http://schemas.microsoft.com/office/drawing/2014/main" id="{C3CCFB5C-BFB0-4958-822B-2BC0799E924A}"/>
              </a:ext>
            </a:extLst>
          </p:cNvPr>
          <p:cNvSpPr>
            <a:spLocks xmlns:a="http://schemas.openxmlformats.org/drawingml/2006/main" noGrp="1"/>
          </p:cNvSpPr>
          <p:nvPr/>
        </p:nvSpPr>
        <p:spPr>
          <a:xfrm xmlns:a="http://schemas.openxmlformats.org/drawingml/2006/main">
            <a:off x="640080" y="2139696"/>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C. Using at‑most‑once consumers</a:t>
            </a:r>
          </a:p>
        </p:txBody>
      </p:sp>
      <p:sp>
        <p:nvSpPr>
          <p:cNvPr id="13" name="Text 11">
            <a:extLst xmlns:a="http://schemas.openxmlformats.org/drawingml/2006/main">
              <a:ext uri="{FF2B5EF4-FFF2-40B4-BE49-F238E27FC236}">
                <a16:creationId xmlns:a16="http://schemas.microsoft.com/office/drawing/2014/main" id="{FE360ECD-9D01-4945-96DA-AB522093812C}"/>
              </a:ext>
            </a:extLst>
          </p:cNvPr>
          <p:cNvSpPr>
            <a:spLocks xmlns:a="http://schemas.openxmlformats.org/drawingml/2006/main" noGrp="1"/>
          </p:cNvSpPr>
          <p:nvPr/>
        </p:nvSpPr>
        <p:spPr>
          <a:xfrm xmlns:a="http://schemas.openxmlformats.org/drawingml/2006/main">
            <a:off x="640080" y="2304288"/>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D. Disabling retries</a:t>
            </a:r>
          </a:p>
        </p:txBody>
      </p:sp>
      <p:sp>
        <p:nvSpPr>
          <p:cNvPr id="14" name="Text 12">
            <a:extLst xmlns:a="http://schemas.openxmlformats.org/drawingml/2006/main">
              <a:ext uri="{FF2B5EF4-FFF2-40B4-BE49-F238E27FC236}">
                <a16:creationId xmlns:a16="http://schemas.microsoft.com/office/drawing/2014/main" id="{2548A5EA-41C0-4478-A4A3-11D4C53091BB}"/>
              </a:ext>
            </a:extLst>
          </p:cNvPr>
          <p:cNvSpPr>
            <a:spLocks xmlns:a="http://schemas.openxmlformats.org/drawingml/2006/main" noGrp="1"/>
          </p:cNvSpPr>
          <p:nvPr/>
        </p:nvSpPr>
        <p:spPr>
          <a:xfrm xmlns:a="http://schemas.openxmlformats.org/drawingml/2006/main">
            <a:off x="457200" y="256032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003C54"/>
                </a:solidFill>
              </a:rPr>
              <a:t>6. When would you choose Kafka Streams over ksqlDB?</a:t>
            </a:r>
          </a:p>
        </p:txBody>
      </p:sp>
      <p:sp>
        <p:nvSpPr>
          <p:cNvPr id="15" name="Text 13">
            <a:extLst xmlns:a="http://schemas.openxmlformats.org/drawingml/2006/main">
              <a:ext uri="{FF2B5EF4-FFF2-40B4-BE49-F238E27FC236}">
                <a16:creationId xmlns:a16="http://schemas.microsoft.com/office/drawing/2014/main" id="{D8520743-03A3-4FE5-8314-538438BB1ED8}"/>
              </a:ext>
            </a:extLst>
          </p:cNvPr>
          <p:cNvSpPr>
            <a:spLocks xmlns:a="http://schemas.openxmlformats.org/drawingml/2006/main" noGrp="1"/>
          </p:cNvSpPr>
          <p:nvPr/>
        </p:nvSpPr>
        <p:spPr>
          <a:xfrm xmlns:a="http://schemas.openxmlformats.org/drawingml/2006/main">
            <a:off x="640080" y="2724912"/>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A. When you need a no‑code solution for streaming SQL</a:t>
            </a:r>
          </a:p>
        </p:txBody>
      </p:sp>
      <p:sp>
        <p:nvSpPr>
          <p:cNvPr id="16" name="Text 14">
            <a:extLst xmlns:a="http://schemas.openxmlformats.org/drawingml/2006/main">
              <a:ext uri="{FF2B5EF4-FFF2-40B4-BE49-F238E27FC236}">
                <a16:creationId xmlns:a16="http://schemas.microsoft.com/office/drawing/2014/main" id="{FA618EF0-0F6D-45AD-A15A-A6F72CDEE73F}"/>
              </a:ext>
            </a:extLst>
          </p:cNvPr>
          <p:cNvSpPr>
            <a:spLocks xmlns:a="http://schemas.openxmlformats.org/drawingml/2006/main" noGrp="1"/>
          </p:cNvSpPr>
          <p:nvPr/>
        </p:nvSpPr>
        <p:spPr>
          <a:xfrm xmlns:a="http://schemas.openxmlformats.org/drawingml/2006/main">
            <a:off x="640080" y="2889504"/>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B. When you want to embed stream processing in a custom microservice</a:t>
            </a:r>
          </a:p>
        </p:txBody>
      </p:sp>
      <p:sp>
        <p:nvSpPr>
          <p:cNvPr id="17" name="Text 15">
            <a:extLst xmlns:a="http://schemas.openxmlformats.org/drawingml/2006/main">
              <a:ext uri="{FF2B5EF4-FFF2-40B4-BE49-F238E27FC236}">
                <a16:creationId xmlns:a16="http://schemas.microsoft.com/office/drawing/2014/main" id="{0FAEFEE2-F58E-4A66-8ABB-EB99E91B3258}"/>
              </a:ext>
            </a:extLst>
          </p:cNvPr>
          <p:cNvSpPr>
            <a:spLocks xmlns:a="http://schemas.openxmlformats.org/drawingml/2006/main" noGrp="1"/>
          </p:cNvSpPr>
          <p:nvPr/>
        </p:nvSpPr>
        <p:spPr>
          <a:xfrm xmlns:a="http://schemas.openxmlformats.org/drawingml/2006/main">
            <a:off x="640080" y="3054096"/>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C. When your use case requires interactive queries via REST</a:t>
            </a:r>
          </a:p>
        </p:txBody>
      </p:sp>
      <p:sp>
        <p:nvSpPr>
          <p:cNvPr id="18" name="Text 16">
            <a:extLst xmlns:a="http://schemas.openxmlformats.org/drawingml/2006/main">
              <a:ext uri="{FF2B5EF4-FFF2-40B4-BE49-F238E27FC236}">
                <a16:creationId xmlns:a16="http://schemas.microsoft.com/office/drawing/2014/main" id="{203CA5E4-1BE5-41E4-BE94-AEE5023EA469}"/>
              </a:ext>
            </a:extLst>
          </p:cNvPr>
          <p:cNvSpPr>
            <a:spLocks xmlns:a="http://schemas.openxmlformats.org/drawingml/2006/main" noGrp="1"/>
          </p:cNvSpPr>
          <p:nvPr/>
        </p:nvSpPr>
        <p:spPr>
          <a:xfrm xmlns:a="http://schemas.openxmlformats.org/drawingml/2006/main">
            <a:off x="640080" y="3218688"/>
            <a:ext cx="7772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00">
                <a:solidFill>
                  <a:srgbClr val="003C54"/>
                </a:solidFill>
              </a:rPr>
              <a:t>D. When you need to ingest batch files</a:t>
            </a:r>
          </a:p>
        </p:txBody>
      </p:sp>
      <p:sp>
        <p:nvSpPr>
          <p:cNvPr id="19" name="Text 17">
            <a:extLst xmlns:a="http://schemas.openxmlformats.org/drawingml/2006/main">
              <a:ext uri="{FF2B5EF4-FFF2-40B4-BE49-F238E27FC236}">
                <a16:creationId xmlns:a16="http://schemas.microsoft.com/office/drawing/2014/main" id="{0D830CA4-714D-4503-A99B-AE9E0134C984}"/>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p>
        </p:txBody>
      </p:sp>
    </p:spTree>
    <p:extLst>
      <p:ext uri="{BB962C8B-B14F-4D97-AF65-F5344CB8AC3E}">
        <p14:creationId xmlns:p14="http://schemas.microsoft.com/office/powerpoint/2010/main" val="365117174"/>
      </p:ext>
    </p:extLst>
  </p:cSld>
</p:sld>
</file>

<file path=ppt/slides/slide26.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4ED7DB2-8085-449E-9660-51E7FE18C2DE}"/>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49D3855E-56D4-4AFF-B0BB-29BC769FF1D9}"/>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Answer Key</a:t>
            </a:r>
          </a:p>
        </p:txBody>
      </p:sp>
      <p:pic>
        <p:nvPicPr>
          <p:cNvPr id="4" name="Image 0"/>
          <p:cNvPicPr>
            <a:picLocks xmlns:a="http://schemas.openxmlformats.org/drawingml/2006/main" noChangeAspect="1"/>
          </p:cNvPicPr>
          <p:nvPr/>
        </p:nvPicPr>
        <p:blipFill>
          <a:blip xmlns:r="http://schemas.openxmlformats.org/officeDocument/2006/relationships" xmlns:a="http://schemas.openxmlformats.org/drawingml/2006/main" r:embed="R274ef28377a542d0"/>
          <a:stretch xmlns:a="http://schemas.openxmlformats.org/drawingml/2006/main">
            <a:fillRect l="0" t="0" r="0" b="0"/>
          </a:stretch>
        </p:blipFill>
        <p:spPr>
          <a:xfrm xmlns:a="http://schemas.openxmlformats.org/drawingml/2006/main">
            <a:off x="457200" y="731520"/>
            <a:ext cx="182880" cy="18288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BF8D4945-7428-43CE-B906-3DCD7638ACA2}"/>
              </a:ext>
            </a:extLst>
          </p:cNvPr>
          <p:cNvSpPr>
            <a:spLocks xmlns:a="http://schemas.openxmlformats.org/drawingml/2006/main" noGrp="1"/>
          </p:cNvSpPr>
          <p:nvPr/>
        </p:nvSpPr>
        <p:spPr>
          <a:xfrm xmlns:a="http://schemas.openxmlformats.org/drawingml/2006/main">
            <a:off x="685800" y="73152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1. Answer: B – Silver layer stores cleansed, conformed data ready for analytics.</a:t>
            </a:r>
          </a:p>
        </p:txBody>
      </p:sp>
      <p:pic>
        <p:nvPicPr>
          <p:cNvPr id="6" name="Image 1"/>
          <p:cNvPicPr>
            <a:picLocks xmlns:a="http://schemas.openxmlformats.org/drawingml/2006/main" noChangeAspect="1"/>
          </p:cNvPicPr>
          <p:nvPr/>
        </p:nvPicPr>
        <p:blipFill>
          <a:blip xmlns:r="http://schemas.openxmlformats.org/officeDocument/2006/relationships" xmlns:a="http://schemas.openxmlformats.org/drawingml/2006/main" r:embed="R274ef28377a542d0"/>
          <a:stretch xmlns:a="http://schemas.openxmlformats.org/drawingml/2006/main">
            <a:fillRect l="0" t="0" r="0" b="0"/>
          </a:stretch>
        </p:blipFill>
        <p:spPr>
          <a:xfrm xmlns:a="http://schemas.openxmlformats.org/drawingml/2006/main">
            <a:off x="457200" y="987552"/>
            <a:ext cx="182880" cy="182880"/>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820BD30C-75EE-4E4E-9F90-0EFE2161EA4E}"/>
              </a:ext>
            </a:extLst>
          </p:cNvPr>
          <p:cNvSpPr>
            <a:spLocks xmlns:a="http://schemas.openxmlformats.org/drawingml/2006/main" noGrp="1"/>
          </p:cNvSpPr>
          <p:nvPr/>
        </p:nvSpPr>
        <p:spPr>
          <a:xfrm xmlns:a="http://schemas.openxmlformats.org/drawingml/2006/main">
            <a:off x="685800" y="987552"/>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2. Answer: B – Dead letter queues capture failed records for later inspection.</a:t>
            </a:r>
          </a:p>
        </p:txBody>
      </p:sp>
      <p:pic>
        <p:nvPicPr>
          <p:cNvPr id="8" name="Image 2"/>
          <p:cNvPicPr>
            <a:picLocks xmlns:a="http://schemas.openxmlformats.org/drawingml/2006/main" noChangeAspect="1"/>
          </p:cNvPicPr>
          <p:nvPr/>
        </p:nvPicPr>
        <p:blipFill>
          <a:blip xmlns:r="http://schemas.openxmlformats.org/officeDocument/2006/relationships" xmlns:a="http://schemas.openxmlformats.org/drawingml/2006/main" r:embed="R274ef28377a542d0"/>
          <a:stretch xmlns:a="http://schemas.openxmlformats.org/drawingml/2006/main">
            <a:fillRect l="0" t="0" r="0" b="0"/>
          </a:stretch>
        </p:blipFill>
        <p:spPr>
          <a:xfrm xmlns:a="http://schemas.openxmlformats.org/drawingml/2006/main">
            <a:off x="457200" y="1243584"/>
            <a:ext cx="182880" cy="182880"/>
          </a:xfrm>
          <a:prstGeom xmlns:a="http://schemas.openxmlformats.org/drawingml/2006/main" prst="rect">
            <a:avLst/>
          </a:prstGeom>
        </p:spPr>
      </p:pic>
      <p:sp>
        <p:nvSpPr>
          <p:cNvPr id="9" name="Text 4">
            <a:extLst xmlns:a="http://schemas.openxmlformats.org/drawingml/2006/main">
              <a:ext uri="{FF2B5EF4-FFF2-40B4-BE49-F238E27FC236}">
                <a16:creationId xmlns:a16="http://schemas.microsoft.com/office/drawing/2014/main" id="{196ECC5E-74C3-4FAB-8412-C91DB04BB411}"/>
              </a:ext>
            </a:extLst>
          </p:cNvPr>
          <p:cNvSpPr>
            <a:spLocks xmlns:a="http://schemas.openxmlformats.org/drawingml/2006/main" noGrp="1"/>
          </p:cNvSpPr>
          <p:nvPr/>
        </p:nvSpPr>
        <p:spPr>
          <a:xfrm xmlns:a="http://schemas.openxmlformats.org/drawingml/2006/main">
            <a:off x="685800" y="1243584"/>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3. Answer: C – Pull queries read from materialized views on demand.</a:t>
            </a:r>
          </a:p>
        </p:txBody>
      </p:sp>
      <p:pic>
        <p:nvPicPr>
          <p:cNvPr id="10" name="Image 3"/>
          <p:cNvPicPr>
            <a:picLocks xmlns:a="http://schemas.openxmlformats.org/drawingml/2006/main" noChangeAspect="1"/>
          </p:cNvPicPr>
          <p:nvPr/>
        </p:nvPicPr>
        <p:blipFill>
          <a:blip xmlns:r="http://schemas.openxmlformats.org/officeDocument/2006/relationships" xmlns:a="http://schemas.openxmlformats.org/drawingml/2006/main" r:embed="R274ef28377a542d0"/>
          <a:stretch xmlns:a="http://schemas.openxmlformats.org/drawingml/2006/main">
            <a:fillRect l="0" t="0" r="0" b="0"/>
          </a:stretch>
        </p:blipFill>
        <p:spPr>
          <a:xfrm xmlns:a="http://schemas.openxmlformats.org/drawingml/2006/main">
            <a:off x="457200" y="1499616"/>
            <a:ext cx="182880" cy="182880"/>
          </a:xfrm>
          <a:prstGeom xmlns:a="http://schemas.openxmlformats.org/drawingml/2006/main" prst="rect">
            <a:avLst/>
          </a:prstGeom>
        </p:spPr>
      </p:pic>
      <p:sp>
        <p:nvSpPr>
          <p:cNvPr id="11" name="Text 5">
            <a:extLst xmlns:a="http://schemas.openxmlformats.org/drawingml/2006/main">
              <a:ext uri="{FF2B5EF4-FFF2-40B4-BE49-F238E27FC236}">
                <a16:creationId xmlns:a16="http://schemas.microsoft.com/office/drawing/2014/main" id="{5087C372-AFC6-40F3-A7AF-53B7E2891A76}"/>
              </a:ext>
            </a:extLst>
          </p:cNvPr>
          <p:cNvSpPr>
            <a:spLocks xmlns:a="http://schemas.openxmlformats.org/drawingml/2006/main" noGrp="1"/>
          </p:cNvSpPr>
          <p:nvPr/>
        </p:nvSpPr>
        <p:spPr>
          <a:xfrm xmlns:a="http://schemas.openxmlformats.org/drawingml/2006/main">
            <a:off x="685800" y="1499616"/>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4. Answer: B – The scheduler monitors DAG schedules and triggers task execution.</a:t>
            </a:r>
          </a:p>
        </p:txBody>
      </p:sp>
      <p:pic>
        <p:nvPicPr>
          <p:cNvPr id="12" name="Image 4"/>
          <p:cNvPicPr>
            <a:picLocks xmlns:a="http://schemas.openxmlformats.org/drawingml/2006/main" noChangeAspect="1"/>
          </p:cNvPicPr>
          <p:nvPr/>
        </p:nvPicPr>
        <p:blipFill>
          <a:blip xmlns:r="http://schemas.openxmlformats.org/officeDocument/2006/relationships" xmlns:a="http://schemas.openxmlformats.org/drawingml/2006/main" r:embed="R274ef28377a542d0"/>
          <a:stretch xmlns:a="http://schemas.openxmlformats.org/drawingml/2006/main">
            <a:fillRect l="0" t="0" r="0" b="0"/>
          </a:stretch>
        </p:blipFill>
        <p:spPr>
          <a:xfrm xmlns:a="http://schemas.openxmlformats.org/drawingml/2006/main">
            <a:off x="457200" y="1755648"/>
            <a:ext cx="182880" cy="182880"/>
          </a:xfrm>
          <a:prstGeom xmlns:a="http://schemas.openxmlformats.org/drawingml/2006/main" prst="rect">
            <a:avLst/>
          </a:prstGeom>
        </p:spPr>
      </p:pic>
      <p:sp>
        <p:nvSpPr>
          <p:cNvPr id="13" name="Text 6">
            <a:extLst xmlns:a="http://schemas.openxmlformats.org/drawingml/2006/main">
              <a:ext uri="{FF2B5EF4-FFF2-40B4-BE49-F238E27FC236}">
                <a16:creationId xmlns:a16="http://schemas.microsoft.com/office/drawing/2014/main" id="{4AA2B802-F1E0-4896-8E29-A40A335D9624}"/>
              </a:ext>
            </a:extLst>
          </p:cNvPr>
          <p:cNvSpPr>
            <a:spLocks xmlns:a="http://schemas.openxmlformats.org/drawingml/2006/main" noGrp="1"/>
          </p:cNvSpPr>
          <p:nvPr/>
        </p:nvSpPr>
        <p:spPr>
          <a:xfrm xmlns:a="http://schemas.openxmlformats.org/drawingml/2006/main">
            <a:off x="685800" y="1755648"/>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5. Answer: A – Idempotent producers and transactions enable exactly‑once semantics.</a:t>
            </a:r>
          </a:p>
        </p:txBody>
      </p:sp>
      <p:pic>
        <p:nvPicPr>
          <p:cNvPr id="14" name="Image 5"/>
          <p:cNvPicPr>
            <a:picLocks xmlns:a="http://schemas.openxmlformats.org/drawingml/2006/main" noChangeAspect="1"/>
          </p:cNvPicPr>
          <p:nvPr/>
        </p:nvPicPr>
        <p:blipFill>
          <a:blip xmlns:r="http://schemas.openxmlformats.org/officeDocument/2006/relationships" xmlns:a="http://schemas.openxmlformats.org/drawingml/2006/main" r:embed="R274ef28377a542d0"/>
          <a:stretch xmlns:a="http://schemas.openxmlformats.org/drawingml/2006/main">
            <a:fillRect l="0" t="0" r="0" b="0"/>
          </a:stretch>
        </p:blipFill>
        <p:spPr>
          <a:xfrm xmlns:a="http://schemas.openxmlformats.org/drawingml/2006/main">
            <a:off x="457200" y="2011680"/>
            <a:ext cx="182880" cy="182880"/>
          </a:xfrm>
          <a:prstGeom xmlns:a="http://schemas.openxmlformats.org/drawingml/2006/main" prst="rect">
            <a:avLst/>
          </a:prstGeom>
        </p:spPr>
      </p:pic>
      <p:sp>
        <p:nvSpPr>
          <p:cNvPr id="15" name="Text 7">
            <a:extLst xmlns:a="http://schemas.openxmlformats.org/drawingml/2006/main">
              <a:ext uri="{FF2B5EF4-FFF2-40B4-BE49-F238E27FC236}">
                <a16:creationId xmlns:a16="http://schemas.microsoft.com/office/drawing/2014/main" id="{97D649E4-18EB-4D25-A465-B26C1150A64A}"/>
              </a:ext>
            </a:extLst>
          </p:cNvPr>
          <p:cNvSpPr>
            <a:spLocks xmlns:a="http://schemas.openxmlformats.org/drawingml/2006/main" noGrp="1"/>
          </p:cNvSpPr>
          <p:nvPr/>
        </p:nvSpPr>
        <p:spPr>
          <a:xfrm xmlns:a="http://schemas.openxmlformats.org/drawingml/2006/main">
            <a:off x="685800" y="201168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003C54"/>
                </a:solidFill>
              </a:rPr>
              <a:t>6. Answer: B – Kafka Streams is used when embedding stream logic inside your own application.</a:t>
            </a:r>
          </a:p>
        </p:txBody>
      </p:sp>
      <p:sp>
        <p:nvSpPr>
          <p:cNvPr id="16" name="Text 8">
            <a:extLst xmlns:a="http://schemas.openxmlformats.org/drawingml/2006/main">
              <a:ext uri="{FF2B5EF4-FFF2-40B4-BE49-F238E27FC236}">
                <a16:creationId xmlns:a16="http://schemas.microsoft.com/office/drawing/2014/main" id="{AA0AF6BC-6FE9-49BA-A659-008B034679A1}"/>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p>
        </p:txBody>
      </p:sp>
    </p:spTree>
    <p:extLst>
      <p:ext uri="{BB962C8B-B14F-4D97-AF65-F5344CB8AC3E}">
        <p14:creationId xmlns:p14="http://schemas.microsoft.com/office/powerpoint/2010/main" val="689706010"/>
      </p:ext>
    </p:extLst>
  </p:cSld>
</p:sld>
</file>

<file path=ppt/slides/slide27.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2769DA9-37F4-4BCD-8AC0-89B2AF7AECAF}"/>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0B3D51"/>
          </a:solidFill>
          <a:ln xmlns:a="http://schemas.openxmlformats.org/drawingml/2006/main" w="12700">
            <a:solidFill>
              <a:srgbClr val="0B3D51"/>
            </a:solidFill>
            <a:prstDash val="solid"/>
          </a:ln>
        </p:spPr>
      </p:sp>
      <p:sp>
        <p:nvSpPr>
          <p:cNvPr id="3" name="Text 1">
            <a:extLst xmlns:a="http://schemas.openxmlformats.org/drawingml/2006/main">
              <a:ext uri="{FF2B5EF4-FFF2-40B4-BE49-F238E27FC236}">
                <a16:creationId xmlns:a16="http://schemas.microsoft.com/office/drawing/2014/main" id="{0E86EBFD-98A1-46AE-BA8A-0F9CB432EBFF}"/>
              </a:ext>
            </a:extLst>
          </p:cNvPr>
          <p:cNvSpPr>
            <a:spLocks xmlns:a="http://schemas.openxmlformats.org/drawingml/2006/main" noGrp="1"/>
          </p:cNvSpPr>
          <p:nvPr/>
        </p:nvSpPr>
        <p:spPr>
          <a:xfrm xmlns:a="http://schemas.openxmlformats.org/drawingml/2006/main">
            <a:off x="457200" y="9144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b="1">
                <a:solidFill>
                  <a:srgbClr val="FFFFFF"/>
                </a:solidFill>
              </a:rPr>
              <a:t>Recap &amp; Closing</a:t>
            </a:r>
          </a:p>
        </p:txBody>
      </p:sp>
      <p:sp>
        <p:nvSpPr>
          <p:cNvPr id="4" name="Text 2">
            <a:extLst xmlns:a="http://schemas.openxmlformats.org/drawingml/2006/main">
              <a:ext uri="{FF2B5EF4-FFF2-40B4-BE49-F238E27FC236}">
                <a16:creationId xmlns:a16="http://schemas.microsoft.com/office/drawing/2014/main" id="{72799905-84E1-4461-B752-AB1C12406385}"/>
              </a:ext>
            </a:extLst>
          </p:cNvPr>
          <p:cNvSpPr>
            <a:spLocks xmlns:a="http://schemas.openxmlformats.org/drawingml/2006/main" noGrp="1"/>
          </p:cNvSpPr>
          <p:nvPr/>
        </p:nvSpPr>
        <p:spPr>
          <a:xfrm xmlns:a="http://schemas.openxmlformats.org/drawingml/2006/main">
            <a:off x="457200" y="731520"/>
            <a:ext cx="8686800" cy="2743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3C54"/>
                </a:solidFill>
              </a:rPr>
              <a:t>Today you:</a:t>
            </a:r>
          </a:p>
          <a:p xmlns:a="http://schemas.openxmlformats.org/drawingml/2006/main">
            <a:pPr marL="0" indent="0">
              <a:buNone/>
            </a:pPr>
            <a:r>
              <a:rPr sz="1000" i="1">
                <a:solidFill>
                  <a:srgbClr val="6A6A6A"/>
                </a:solidFill>
              </a:rPr>
              <a:t>- Ran or designed the final CDC-to-serving pipeline using the supplied capstone stack.</a:t>
            </a:r>
          </a:p>
          <a:p xmlns:a="http://schemas.openxmlformats.org/drawingml/2006/main">
            <a:pPr marL="0" indent="0">
              <a:buNone/>
            </a:pPr>
            <a:r>
              <a:rPr sz="1000" i="1">
                <a:solidFill>
                  <a:srgbClr val="6A6A6A"/>
                </a:solidFill>
              </a:rPr>
              <a:t>- Distinguished implemented components from Hop, Airflow, lakehouse and BI extensions.</a:t>
            </a:r>
          </a:p>
          <a:p xmlns:a="http://schemas.openxmlformats.org/drawingml/2006/main">
            <a:pPr marL="0" indent="0">
              <a:buNone/>
            </a:pPr>
            <a:r>
              <a:rPr sz="1000" i="1">
                <a:solidFill>
                  <a:srgbClr val="6A6A6A"/>
                </a:solidFill>
              </a:rPr>
              <a:t>- Validated an aggregate output and created a Gold-layer dashboard proof.</a:t>
            </a:r>
          </a:p>
          <a:p xmlns:a="http://schemas.openxmlformats.org/drawingml/2006/main">
            <a:pPr marL="0" indent="0">
              <a:buNone/>
            </a:pPr>
            <a:r>
              <a:rPr sz="1000" i="1">
                <a:solidFill>
                  <a:srgbClr val="6A6A6A"/>
                </a:solidFill>
              </a:rPr>
              <a:t>- Captured operational evidence and a production-readiness review.</a:t>
            </a:r>
          </a:p>
          <a:p xmlns:a="http://schemas.openxmlformats.org/drawingml/2006/main">
            <a:pPr marL="0" indent="0">
              <a:buNone/>
            </a:pPr>
            <a:r>
              <a:rPr sz="1000" i="1">
                <a:solidFill>
                  <a:srgbClr val="6A6A6A"/>
                </a:solidFill>
              </a:rPr>
              <a:t/>
            </a:r>
          </a:p>
          <a:p xmlns:a="http://schemas.openxmlformats.org/drawingml/2006/main">
            <a:pPr marL="0" indent="0">
              <a:buNone/>
            </a:pPr>
            <a:r>
              <a:rPr sz="1000" i="1">
                <a:solidFill>
                  <a:srgbClr val="6A6A6A"/>
                </a:solidFill>
              </a:rPr>
              <a:t>Final submission: architecture, commands/screenshots, metric query/output, dashboard artifact and troubleshooting note.</a:t>
            </a:r>
          </a:p>
        </p:txBody>
      </p:sp>
      <p:sp>
        <p:nvSpPr>
          <p:cNvPr id="5" name="Text 3">
            <a:extLst xmlns:a="http://schemas.openxmlformats.org/drawingml/2006/main">
              <a:ext uri="{FF2B5EF4-FFF2-40B4-BE49-F238E27FC236}">
                <a16:creationId xmlns:a16="http://schemas.microsoft.com/office/drawing/2014/main" id="{FA031CB1-AEAA-4D07-8671-A1D0BE2E9950}"/>
              </a:ext>
            </a:extLst>
          </p:cNvPr>
          <p:cNvSpPr>
            <a:spLocks xmlns:a="http://schemas.openxmlformats.org/drawingml/2006/main" noGrp="1"/>
          </p:cNvSpPr>
          <p:nvPr/>
        </p:nvSpPr>
        <p:spPr>
          <a:xfrm xmlns:a="http://schemas.openxmlformats.org/drawingml/2006/main">
            <a:off x="457200" y="6217920"/>
            <a:ext cx="8229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u="sng">
                <a:solidFill>
                  <a:srgbClr val="0066CC"/>
                </a:solidFill>
                <a:hlinkClick xmlns:r="http://schemas.openxmlformats.org/officeDocument/2006/relationships" r:id="Re37be75fb8d14e06"/>
              </a:rPr>
              <a:t>[1]</a:t>
            </a:r>
            <a:r>
              <a:rPr sz="600">
                <a:solidFill>
                  <a:srgbClr val="000000"/>
                </a:solidFill>
              </a:rPr>
              <a:t>  </a:t>
            </a:r>
            <a:r>
              <a:rPr sz="600" u="sng">
                <a:solidFill>
                  <a:srgbClr val="0066CC"/>
                </a:solidFill>
                <a:hlinkClick xmlns:r="http://schemas.openxmlformats.org/officeDocument/2006/relationships" r:id="Ra8a14cab00e04f0e"/>
              </a:rPr>
              <a:t>[2]</a:t>
            </a:r>
          </a:p>
        </p:txBody>
      </p:sp>
    </p:spTree>
    <p:extLst>
      <p:ext uri="{BB962C8B-B14F-4D97-AF65-F5344CB8AC3E}">
        <p14:creationId xmlns:p14="http://schemas.microsoft.com/office/powerpoint/2010/main" val="1883960984"/>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2026-05-26T10:20:04.5250000Z</dcterms:created>
  <dcterms:modified xsi:type="dcterms:W3CDTF">2026-05-26T10:20:04.5250000Z</dcterms:modified>
</coreProperties>
</file>