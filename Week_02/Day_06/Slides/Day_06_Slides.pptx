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0e64b7b6154435" /><Relationship Type="http://schemas.openxmlformats.org/officeDocument/2006/relationships/extended-properties" Target="/docProps/app.xml" Id="R45b4a14841c04de2" /><Relationship Type="http://schemas.openxmlformats.org/officeDocument/2006/relationships/officeDocument" Target="/ppt/presentation.xml" Id="Rb2d0d57fa93447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bf2fe7c8d5466f"/>
  </p:sldMasterIdLst>
  <p:notesMasterIdLst>
    <p:notesMasterId xmlns:r="http://schemas.openxmlformats.org/officeDocument/2006/relationships" r:id="R178607c4b95b4ade"/>
  </p:notesMasterIdLst>
  <p:sldIdLst>
    <p:sldId xmlns:r="http://schemas.openxmlformats.org/officeDocument/2006/relationships" id="256" r:id="R44ff927f25824f0d"/>
    <p:sldId xmlns:r="http://schemas.openxmlformats.org/officeDocument/2006/relationships" id="257" r:id="Re5e3c7abeb2d49bc"/>
    <p:sldId xmlns:r="http://schemas.openxmlformats.org/officeDocument/2006/relationships" id="258" r:id="Re87504b28a5b4f1a"/>
    <p:sldId xmlns:r="http://schemas.openxmlformats.org/officeDocument/2006/relationships" id="259" r:id="R091f76ce94b84a7b"/>
    <p:sldId xmlns:r="http://schemas.openxmlformats.org/officeDocument/2006/relationships" id="260" r:id="R11dcaac7a14c4250"/>
    <p:sldId xmlns:r="http://schemas.openxmlformats.org/officeDocument/2006/relationships" id="261" r:id="Ra7495f61b39c4b8b"/>
    <p:sldId xmlns:r="http://schemas.openxmlformats.org/officeDocument/2006/relationships" id="262" r:id="R31aa759c49244994"/>
    <p:sldId xmlns:r="http://schemas.openxmlformats.org/officeDocument/2006/relationships" id="263" r:id="R7424e15c08094889"/>
    <p:sldId xmlns:r="http://schemas.openxmlformats.org/officeDocument/2006/relationships" id="264" r:id="R189251d7fa7a417b"/>
    <p:sldId xmlns:r="http://schemas.openxmlformats.org/officeDocument/2006/relationships" id="265" r:id="Rdfbfec25b2d44f4b"/>
    <p:sldId xmlns:r="http://schemas.openxmlformats.org/officeDocument/2006/relationships" id="266" r:id="R03357147157d4e19"/>
    <p:sldId xmlns:r="http://schemas.openxmlformats.org/officeDocument/2006/relationships" id="267" r:id="Rcaa1a17cf6e54a64"/>
    <p:sldId xmlns:r="http://schemas.openxmlformats.org/officeDocument/2006/relationships" id="268" r:id="R15397289d10942e2"/>
    <p:sldId xmlns:r="http://schemas.openxmlformats.org/officeDocument/2006/relationships" id="269" r:id="Re33a87fe0cb64a29"/>
    <p:sldId xmlns:r="http://schemas.openxmlformats.org/officeDocument/2006/relationships" id="270" r:id="Rb138194fa45b45ac"/>
    <p:sldId xmlns:r="http://schemas.openxmlformats.org/officeDocument/2006/relationships" id="271" r:id="Rb91e9caf4ea84fdd"/>
    <p:sldId xmlns:r="http://schemas.openxmlformats.org/officeDocument/2006/relationships" id="272" r:id="R03b7a9aff8744567"/>
    <p:sldId xmlns:r="http://schemas.openxmlformats.org/officeDocument/2006/relationships" id="273" r:id="R0e4bea60a8074474"/>
    <p:sldId xmlns:r="http://schemas.openxmlformats.org/officeDocument/2006/relationships" id="274" r:id="R60a01bfa1e364a68"/>
    <p:sldId xmlns:r="http://schemas.openxmlformats.org/officeDocument/2006/relationships" id="275" r:id="Rba81d42196e04536"/>
    <p:sldId xmlns:r="http://schemas.openxmlformats.org/officeDocument/2006/relationships" id="276" r:id="Rdcbe50fc7e74468e"/>
    <p:sldId xmlns:r="http://schemas.openxmlformats.org/officeDocument/2006/relationships" id="277" r:id="Rafb7141c03ae445e"/>
    <p:sldId xmlns:r="http://schemas.openxmlformats.org/officeDocument/2006/relationships" id="278" r:id="R004e8ce803e74b43"/>
    <p:sldId xmlns:r="http://schemas.openxmlformats.org/officeDocument/2006/relationships" id="279" r:id="Rf66d523c35ea473d"/>
    <p:sldId xmlns:r="http://schemas.openxmlformats.org/officeDocument/2006/relationships" id="280" r:id="R71416344269940c5"/>
    <p:sldId xmlns:r="http://schemas.openxmlformats.org/officeDocument/2006/relationships" id="281" r:id="R627d5b2c12e647a0"/>
    <p:sldId xmlns:r="http://schemas.openxmlformats.org/officeDocument/2006/relationships" id="282" r:id="R97ad5de5e5dd4692"/>
    <p:sldId xmlns:r="http://schemas.openxmlformats.org/officeDocument/2006/relationships" id="283" r:id="R1838d17f077e483c"/>
    <p:sldId xmlns:r="http://schemas.openxmlformats.org/officeDocument/2006/relationships" id="284" r:id="Rddf43038ce224b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bf2fe7c8d5466f" /><Relationship Type="http://schemas.openxmlformats.org/officeDocument/2006/relationships/theme" Target="/ppt/theme/theme1.xml" Id="R9ad9b648e65d40b3" /><Relationship Type="http://schemas.openxmlformats.org/officeDocument/2006/relationships/notesMaster" Target="/ppt/notesMasters/notesMaster1.xml" Id="R178607c4b95b4ade" /><Relationship Type="http://schemas.openxmlformats.org/officeDocument/2006/relationships/presProps" Target="/ppt/presProps.xml" Id="R706885f890ea405f" /><Relationship Type="http://schemas.openxmlformats.org/officeDocument/2006/relationships/viewProps" Target="/ppt/viewProps.xml" Id="R4d53302cb6384bc2" /><Relationship Type="http://schemas.openxmlformats.org/officeDocument/2006/relationships/tableStyles" Target="/ppt/tableStyles.xml" Id="R8282c02efd074263" /><Relationship Type="http://schemas.openxmlformats.org/officeDocument/2006/relationships/slide" Target="/ppt/slides/slide1.xml" Id="R44ff927f25824f0d" /><Relationship Type="http://schemas.openxmlformats.org/officeDocument/2006/relationships/slide" Target="/ppt/slides/slide2.xml" Id="Re5e3c7abeb2d49bc" /><Relationship Type="http://schemas.openxmlformats.org/officeDocument/2006/relationships/slide" Target="/ppt/slides/slide3.xml" Id="Re87504b28a5b4f1a" /><Relationship Type="http://schemas.openxmlformats.org/officeDocument/2006/relationships/slide" Target="/ppt/slides/slide4.xml" Id="R091f76ce94b84a7b" /><Relationship Type="http://schemas.openxmlformats.org/officeDocument/2006/relationships/slide" Target="/ppt/slides/slide5.xml" Id="R11dcaac7a14c4250" /><Relationship Type="http://schemas.openxmlformats.org/officeDocument/2006/relationships/slide" Target="/ppt/slides/slide6.xml" Id="Ra7495f61b39c4b8b" /><Relationship Type="http://schemas.openxmlformats.org/officeDocument/2006/relationships/slide" Target="/ppt/slides/slide7.xml" Id="R31aa759c49244994" /><Relationship Type="http://schemas.openxmlformats.org/officeDocument/2006/relationships/slide" Target="/ppt/slides/slide8.xml" Id="R7424e15c08094889" /><Relationship Type="http://schemas.openxmlformats.org/officeDocument/2006/relationships/slide" Target="/ppt/slides/slide9.xml" Id="R189251d7fa7a417b" /><Relationship Type="http://schemas.openxmlformats.org/officeDocument/2006/relationships/slide" Target="/ppt/slides/slide10.xml" Id="Rdfbfec25b2d44f4b" /><Relationship Type="http://schemas.openxmlformats.org/officeDocument/2006/relationships/slide" Target="/ppt/slides/slide11.xml" Id="R03357147157d4e19" /><Relationship Type="http://schemas.openxmlformats.org/officeDocument/2006/relationships/slide" Target="/ppt/slides/slide12.xml" Id="Rcaa1a17cf6e54a64" /><Relationship Type="http://schemas.openxmlformats.org/officeDocument/2006/relationships/slide" Target="/ppt/slides/slide13.xml" Id="R15397289d10942e2" /><Relationship Type="http://schemas.openxmlformats.org/officeDocument/2006/relationships/slide" Target="/ppt/slides/slide14.xml" Id="Re33a87fe0cb64a29" /><Relationship Type="http://schemas.openxmlformats.org/officeDocument/2006/relationships/slide" Target="/ppt/slides/slide15.xml" Id="Rb138194fa45b45ac" /><Relationship Type="http://schemas.openxmlformats.org/officeDocument/2006/relationships/slide" Target="/ppt/slides/slide16.xml" Id="Rb91e9caf4ea84fdd" /><Relationship Type="http://schemas.openxmlformats.org/officeDocument/2006/relationships/slide" Target="/ppt/slides/slide17.xml" Id="R03b7a9aff8744567" /><Relationship Type="http://schemas.openxmlformats.org/officeDocument/2006/relationships/slide" Target="/ppt/slides/slide18.xml" Id="R0e4bea60a8074474" /><Relationship Type="http://schemas.openxmlformats.org/officeDocument/2006/relationships/slide" Target="/ppt/slides/slide19.xml" Id="R60a01bfa1e364a68" /><Relationship Type="http://schemas.openxmlformats.org/officeDocument/2006/relationships/slide" Target="/ppt/slides/slide20.xml" Id="Rba81d42196e04536" /><Relationship Type="http://schemas.openxmlformats.org/officeDocument/2006/relationships/slide" Target="/ppt/slides/slide21.xml" Id="Rdcbe50fc7e74468e" /><Relationship Type="http://schemas.openxmlformats.org/officeDocument/2006/relationships/slide" Target="/ppt/slides/slide22.xml" Id="Rafb7141c03ae445e" /><Relationship Type="http://schemas.openxmlformats.org/officeDocument/2006/relationships/slide" Target="/ppt/slides/slide23.xml" Id="R004e8ce803e74b43" /><Relationship Type="http://schemas.openxmlformats.org/officeDocument/2006/relationships/slide" Target="/ppt/slides/slide24.xml" Id="Rf66d523c35ea473d" /><Relationship Type="http://schemas.openxmlformats.org/officeDocument/2006/relationships/slide" Target="/ppt/slides/slide25.xml" Id="R71416344269940c5" /><Relationship Type="http://schemas.openxmlformats.org/officeDocument/2006/relationships/slide" Target="/ppt/slides/slide26.xml" Id="R627d5b2c12e647a0" /><Relationship Type="http://schemas.openxmlformats.org/officeDocument/2006/relationships/slide" Target="/ppt/slides/slide27.xml" Id="R97ad5de5e5dd4692" /><Relationship Type="http://schemas.openxmlformats.org/officeDocument/2006/relationships/slide" Target="/ppt/slides/slide28.xml" Id="R1838d17f077e483c" /><Relationship Type="http://schemas.openxmlformats.org/officeDocument/2006/relationships/slide" Target="/ppt/slides/slide29.xml" Id="Rddf43038ce224b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34a120e435248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6fdca76d044242" /><Relationship Type="http://schemas.openxmlformats.org/officeDocument/2006/relationships/notesMaster" Target="/ppt/notesMasters/notesMaster1.xml" Id="Rd5f261cc3d1749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807e8eb592498a" /><Relationship Type="http://schemas.openxmlformats.org/officeDocument/2006/relationships/notesMaster" Target="/ppt/notesMasters/notesMaster1.xml" Id="R63b0b396eee641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8d099de6fb407f" /><Relationship Type="http://schemas.openxmlformats.org/officeDocument/2006/relationships/notesMaster" Target="/ppt/notesMasters/notesMaster1.xml" Id="R2eab9f82f65d4c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4e413348b24afc" /><Relationship Type="http://schemas.openxmlformats.org/officeDocument/2006/relationships/notesMaster" Target="/ppt/notesMasters/notesMaster1.xml" Id="Rceb9210e72b647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e2e2bc50c2462c" /><Relationship Type="http://schemas.openxmlformats.org/officeDocument/2006/relationships/notesMaster" Target="/ppt/notesMasters/notesMaster1.xml" Id="Rc8919112fe1a45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6b5b7d04064b26" /><Relationship Type="http://schemas.openxmlformats.org/officeDocument/2006/relationships/notesMaster" Target="/ppt/notesMasters/notesMaster1.xml" Id="R08efa7bf37f541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be5e95baff48e5" /><Relationship Type="http://schemas.openxmlformats.org/officeDocument/2006/relationships/notesMaster" Target="/ppt/notesMasters/notesMaster1.xml" Id="R0d62bb689cb14f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17e954ff3d4079" /><Relationship Type="http://schemas.openxmlformats.org/officeDocument/2006/relationships/notesMaster" Target="/ppt/notesMasters/notesMaster1.xml" Id="Rd95c307bae4e48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fb0d850f604434" /><Relationship Type="http://schemas.openxmlformats.org/officeDocument/2006/relationships/notesMaster" Target="/ppt/notesMasters/notesMaster1.xml" Id="Rd6059042a60b41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d2aaebee8940e3" /><Relationship Type="http://schemas.openxmlformats.org/officeDocument/2006/relationships/notesMaster" Target="/ppt/notesMasters/notesMaster1.xml" Id="Ra5f823b5fdcf4d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c6e4908a734447" /><Relationship Type="http://schemas.openxmlformats.org/officeDocument/2006/relationships/notesMaster" Target="/ppt/notesMasters/notesMaster1.xml" Id="R913ee6bf25f448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f909267bd1f40b6" /><Relationship Type="http://schemas.openxmlformats.org/officeDocument/2006/relationships/notesMaster" Target="/ppt/notesMasters/notesMaster1.xml" Id="R0de20e0ba1eb49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9edc6599b84485" /><Relationship Type="http://schemas.openxmlformats.org/officeDocument/2006/relationships/notesMaster" Target="/ppt/notesMasters/notesMaster1.xml" Id="R3d5cc1a9f6624c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41aed22bb54f42" /><Relationship Type="http://schemas.openxmlformats.org/officeDocument/2006/relationships/notesMaster" Target="/ppt/notesMasters/notesMaster1.xml" Id="R46ea654dd2dc4f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ff66adca7740c9" /><Relationship Type="http://schemas.openxmlformats.org/officeDocument/2006/relationships/notesMaster" Target="/ppt/notesMasters/notesMaster1.xml" Id="R37ba0229ec7d47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d432b6c7e54646" /><Relationship Type="http://schemas.openxmlformats.org/officeDocument/2006/relationships/notesMaster" Target="/ppt/notesMasters/notesMaster1.xml" Id="Ra38031a9929c43f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875e9fd23e3489b" /><Relationship Type="http://schemas.openxmlformats.org/officeDocument/2006/relationships/notesMaster" Target="/ppt/notesMasters/notesMaster1.xml" Id="R6942e67fd53747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f21f05fa2124737" /><Relationship Type="http://schemas.openxmlformats.org/officeDocument/2006/relationships/notesMaster" Target="/ppt/notesMasters/notesMaster1.xml" Id="R64a5efdec0b14c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39a81845bad46ae" /><Relationship Type="http://schemas.openxmlformats.org/officeDocument/2006/relationships/notesMaster" Target="/ppt/notesMasters/notesMaster1.xml" Id="R1c29ee9318fa44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7a768d77fd84d43" /><Relationship Type="http://schemas.openxmlformats.org/officeDocument/2006/relationships/notesMaster" Target="/ppt/notesMasters/notesMaster1.xml" Id="Rfcc5b9dfb705407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b4832e380da45c3" /><Relationship Type="http://schemas.openxmlformats.org/officeDocument/2006/relationships/notesMaster" Target="/ppt/notesMasters/notesMaster1.xml" Id="Rf2a07e05c0894c0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49263a2e9554a2f" /><Relationship Type="http://schemas.openxmlformats.org/officeDocument/2006/relationships/notesMaster" Target="/ppt/notesMasters/notesMaster1.xml" Id="R8e1a1aa3928a430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a58b7bacff04503" /><Relationship Type="http://schemas.openxmlformats.org/officeDocument/2006/relationships/notesMaster" Target="/ppt/notesMasters/notesMaster1.xml" Id="R6ed490074a284d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db33c9edea34903" /><Relationship Type="http://schemas.openxmlformats.org/officeDocument/2006/relationships/notesMaster" Target="/ppt/notesMasters/notesMaster1.xml" Id="R5fe76a92e3074c0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5ac8e15a3b8437d" /><Relationship Type="http://schemas.openxmlformats.org/officeDocument/2006/relationships/notesMaster" Target="/ppt/notesMasters/notesMaster1.xml" Id="R372e7ea4b9d344b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31b7a32b771492c" /><Relationship Type="http://schemas.openxmlformats.org/officeDocument/2006/relationships/notesMaster" Target="/ppt/notesMasters/notesMaster1.xml" Id="Rea17757b5feb4cf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b5f326bc03a4ac4" /><Relationship Type="http://schemas.openxmlformats.org/officeDocument/2006/relationships/notesMaster" Target="/ppt/notesMasters/notesMaster1.xml" Id="R084a0231dc1d4f6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bce62fd20948dc" /><Relationship Type="http://schemas.openxmlformats.org/officeDocument/2006/relationships/notesMaster" Target="/ppt/notesMasters/notesMaster1.xml" Id="R6b6f2274bcb7476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9769d5581a74955" /><Relationship Type="http://schemas.openxmlformats.org/officeDocument/2006/relationships/notesMaster" Target="/ppt/notesMasters/notesMaster1.xml" Id="Ra2bbddd2a19442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6f314c5f8447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823697859b4a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1140d43cfe4a9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55e3ed5f92437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b345b086f543a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2662cdf29e426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8c908a2097427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286b651d6458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933eeb47a404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d45292019943e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573372ce74f02" /></Relationships>
</file>

<file path=ppt/slideLayouts/slideLayout2.xml><?xml version="1.0" encoding="utf-8"?>
<p:sldLayout xmlns:p="http://schemas.openxmlformats.org/presentationml/2006/main" type="titleOnly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F689E79-69DB-49AC-B111-992BA7D3F193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0ED6948-F956-4FC9-B742-1D4EE700C5D8}"/>
              </a:ext>
            </a:extLst>
          </p:cNvPr>
          <p:cNvSpPr/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95F347A-093D-442A-8534-2FE30D245D51}"/>
              </a:ext>
            </a:extLst>
          </p:cNvPr>
          <p:cNvSpPr/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4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BD05448-D90C-44A6-ABE3-737E4ABF8D17}"/>
              </a:ext>
            </a:extLst>
          </p:cNvPr>
          <p:cNvSpPr/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type="vertTitleAndTx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1EC45C7-208A-4626-BF56-E691A7276B4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082926E-A717-4471-8946-FAB44892D9F7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7D5C675-C3F9-45DC-BD88-F3978F5604F8}"/>
              </a:ext>
            </a:extLst>
          </p:cNvPr>
          <p:cNvSpPr/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1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BBA7636-EE3B-426D-947D-1D68AEA9C45F}"/>
              </a:ext>
            </a:extLst>
          </p:cNvPr>
          <p:cNvSpPr/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1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A627D40-BCA1-44EF-9B09-FDB1A1583ED7}"/>
              </a:ext>
            </a:extLst>
          </p:cNvPr>
          <p:cNvSpPr/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type="blank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EB68539-9456-4014-9058-99B80437F6E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3D72B1D-618C-4407-8E84-EBA0442CB3EA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697FE53-288E-4E2C-A081-ACA921A9921A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08CF8C9-FAC7-4B21-B466-698561FF4C9A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81B08FE-7C25-4366-A139-83BF6236A0BD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896014E4-20C5-4460-8F58-307095DA5007}"/>
              </a:ext>
            </a:extLst>
          </p:cNvPr>
          <p:cNvSpPr/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38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325BEAE5-E339-4DF2-AC10-FF8CCB7809E5}"/>
              </a:ext>
            </a:extLst>
          </p:cNvPr>
          <p:cNvSpPr/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39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C589D626-9445-4F6E-B250-DA66D65F35DA}"/>
              </a:ext>
            </a:extLst>
          </p:cNvPr>
          <p:cNvSpPr/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type="vertTx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DC5B7B6-59A5-4B52-9C98-93FA7482461B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2823466-4684-4988-B8F0-37C033C1E5F9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42C709E-876A-46F5-A7A5-94CFDFF9A281}"/>
              </a:ext>
            </a:extLst>
          </p:cNvPr>
          <p:cNvSpPr/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9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94FD57F-E71F-41F2-B69B-8460F151142E}"/>
              </a:ext>
            </a:extLst>
          </p:cNvPr>
          <p:cNvSpPr/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10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B46CE7A1-76D4-4807-B026-D5BDA95414B4}"/>
              </a:ext>
            </a:extLst>
          </p:cNvPr>
          <p:cNvSpPr/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title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7F60D5-7D7E-4888-A5BE-B68835D3334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ECC27A8-ADFB-499E-83E9-D587AB042AA0}"/>
              </a:ext>
            </a:extLst>
          </p:cNvPr>
          <p:cNvSpPr/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C0ACDE4-C147-4D32-9260-7981D895D1EC}"/>
              </a:ext>
            </a:extLst>
          </p:cNvPr>
          <p:cNvSpPr/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EC78B47-79D2-431B-A264-697362EADFB4}"/>
              </a:ext>
            </a:extLst>
          </p:cNvPr>
          <p:cNvSpPr/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type="twoObj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FA8F36D-D9EB-4DA8-8FB4-0856503337DD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4C0C769-CCE0-4D4F-8490-D58C404CF886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7309963-258A-48B3-8BA0-12503A3D99B4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C9FAF49-1731-4356-8E36-AAFA2599E18D}"/>
              </a:ext>
            </a:extLst>
          </p:cNvPr>
          <p:cNvSpPr/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30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ACD3A1C-8CC1-40AB-B4E3-C41202BE4FBC}"/>
              </a:ext>
            </a:extLst>
          </p:cNvPr>
          <p:cNvSpPr/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31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F5E95AD-1E08-4AD2-8F96-6FBE20474302}"/>
              </a:ext>
            </a:extLst>
          </p:cNvPr>
          <p:cNvSpPr/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A6D266D7-18DA-4B55-8121-2E30A8D155FB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5A9DEF8-BED3-40E6-8902-C93B5140C7C6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CCD69D-E216-49DA-896E-0E0F8BAE931E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19EFEEE6-BC30-4535-AA96-583919C50B72}"/>
              </a:ext>
            </a:extLst>
          </p:cNvPr>
          <p:cNvSpPr/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5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433988B1-27A3-4F76-93AC-D185B3B0474F}"/>
              </a:ext>
            </a:extLst>
          </p:cNvPr>
          <p:cNvSpPr/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6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2DF0C32-48AF-4D26-9E64-2C035A96BE97}"/>
              </a:ext>
            </a:extLst>
          </p:cNvPr>
          <p:cNvSpPr/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type="blank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01A164-608D-4D5E-BBF2-673BC929C90E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1AF8012-49E7-459C-B5CA-374277521A5B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D1B3D33-BFDF-4573-8A4E-0F8722C3D344}"/>
              </a:ext>
            </a:extLst>
          </p:cNvPr>
          <p:cNvSpPr/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2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E6E47B9-AB05-4FCB-9160-ECEE213F295A}"/>
              </a:ext>
            </a:extLst>
          </p:cNvPr>
          <p:cNvSpPr/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2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9B048786-5D4C-475E-8931-DDD043D24552}"/>
              </a:ext>
            </a:extLst>
          </p:cNvPr>
          <p:cNvSpPr/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type="blank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70EDB04-8663-4627-967E-219BB294971A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7AFA7D4-3C09-4302-BC96-11EFDB9C24A3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B24ABB7-D7DF-4865-A435-5E4A1DE4D884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8C085E0-205F-436A-9AA1-DE937F051E15}"/>
              </a:ext>
            </a:extLst>
          </p:cNvPr>
          <p:cNvSpPr/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5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148923-57D9-4B34-8FC2-4FB03A1467D6}"/>
              </a:ext>
            </a:extLst>
          </p:cNvPr>
          <p:cNvSpPr/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54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9DA06DA7-4F1F-4782-8DA9-339CBC58F313}"/>
              </a:ext>
            </a:extLst>
          </p:cNvPr>
          <p:cNvSpPr/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 type="obj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0D467E2-3EEC-42BF-86A6-F0B504F24A5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B5E24D7-FBFB-41D7-9949-968EC64FD91C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137FE1C-7F31-489D-9468-AB1399698AEF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19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AF5B2E-41F3-4B98-9FD4-B4493790FCFE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20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4FF72E7C-E5EF-4316-AFE8-D337B14A90AB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 type="blank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5B9CFA3-144B-4A0B-A3B6-D92538F69D2E}"/>
              </a:ext>
            </a:extLst>
          </p:cNvPr>
          <p:cNvSpPr/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CFAC9E9-955F-42A5-8E8A-B6024EE176AE}"/>
              </a:ext>
            </a:extLst>
          </p:cNvPr>
          <p:cNvSpPr/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DF9AFEB-28FB-4778-A9DB-FE717AE5D8F3}"/>
              </a:ext>
            </a:extLst>
          </p:cNvPr>
          <p:cNvSpPr/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BBC98EF-C66F-4819-A44D-C836B0B606C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09480" y="273600"/>
            <a:ext cx="1097208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6B9767E-23F6-4464-94A0-3FCB3BDB16C9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90c0b69344e4511" /><Relationship Type="http://schemas.openxmlformats.org/officeDocument/2006/relationships/slideLayout" Target="/ppt/slideLayouts/slideLayout2.xml" Id="R098895a495514b21" /><Relationship Type="http://schemas.openxmlformats.org/officeDocument/2006/relationships/slideLayout" Target="/ppt/slideLayouts/slideLayout3.xml" Id="Rcfbaa4a987de490a" /><Relationship Type="http://schemas.openxmlformats.org/officeDocument/2006/relationships/slideLayout" Target="/ppt/slideLayouts/slideLayout4.xml" Id="Re2548d04de364f61" /><Relationship Type="http://schemas.openxmlformats.org/officeDocument/2006/relationships/slideLayout" Target="/ppt/slideLayouts/slideLayout5.xml" Id="R70c40f198b204037" /><Relationship Type="http://schemas.openxmlformats.org/officeDocument/2006/relationships/slideLayout" Target="/ppt/slideLayouts/slideLayout6.xml" Id="R9c59c515bf964c91" /><Relationship Type="http://schemas.openxmlformats.org/officeDocument/2006/relationships/slideLayout" Target="/ppt/slideLayouts/slideLayout7.xml" Id="Rb399a0f008fe436d" /><Relationship Type="http://schemas.openxmlformats.org/officeDocument/2006/relationships/slideLayout" Target="/ppt/slideLayouts/slideLayout8.xml" Id="Rfeb50efe76484f65" /><Relationship Type="http://schemas.openxmlformats.org/officeDocument/2006/relationships/slideLayout" Target="/ppt/slideLayouts/slideLayout9.xml" Id="Rae2138a26dc84e0b" /><Relationship Type="http://schemas.openxmlformats.org/officeDocument/2006/relationships/slideLayout" Target="/ppt/slideLayouts/slideLayout10.xml" Id="Rf1d8a634edd94e95" /><Relationship Type="http://schemas.openxmlformats.org/officeDocument/2006/relationships/slideLayout" Target="/ppt/slideLayouts/slideLayout11.xml" Id="Rdbd3257c6a2f44b0" /><Relationship Type="http://schemas.openxmlformats.org/officeDocument/2006/relationships/slideLayout" Target="/ppt/slideLayouts/slideLayout12.xml" Id="Rf6dd3580d57c43f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8895a495514b21"/>
    <p:sldLayoutId xmlns:r="http://schemas.openxmlformats.org/officeDocument/2006/relationships" id="2147483650" r:id="Rcfbaa4a987de490a"/>
    <p:sldLayoutId xmlns:r="http://schemas.openxmlformats.org/officeDocument/2006/relationships" id="2147483651" r:id="Re2548d04de364f61"/>
    <p:sldLayoutId xmlns:r="http://schemas.openxmlformats.org/officeDocument/2006/relationships" id="2147483652" r:id="R70c40f198b204037"/>
    <p:sldLayoutId xmlns:r="http://schemas.openxmlformats.org/officeDocument/2006/relationships" id="2147483653" r:id="R9c59c515bf964c91"/>
    <p:sldLayoutId xmlns:r="http://schemas.openxmlformats.org/officeDocument/2006/relationships" id="2147483654" r:id="Rb399a0f008fe436d"/>
    <p:sldLayoutId xmlns:r="http://schemas.openxmlformats.org/officeDocument/2006/relationships" id="2147483655" r:id="Rfeb50efe76484f65"/>
    <p:sldLayoutId xmlns:r="http://schemas.openxmlformats.org/officeDocument/2006/relationships" id="2147483656" r:id="Rae2138a26dc84e0b"/>
    <p:sldLayoutId xmlns:r="http://schemas.openxmlformats.org/officeDocument/2006/relationships" id="2147483657" r:id="Rf1d8a634edd94e95"/>
    <p:sldLayoutId xmlns:r="http://schemas.openxmlformats.org/officeDocument/2006/relationships" id="2147483658" r:id="Rdbd3257c6a2f44b0"/>
    <p:sldLayoutId xmlns:r="http://schemas.openxmlformats.org/officeDocument/2006/relationships" id="2147483659" r:id="Rf6dd3580d57c43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29c71365fbc4c17" /><Relationship Type="http://schemas.openxmlformats.org/officeDocument/2006/relationships/notesSlide" Target="/ppt/notesSlides/notesSlide1.xml" Id="R40c69db986c049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755d92ca150405d" /><Relationship Type="http://schemas.openxmlformats.org/officeDocument/2006/relationships/notesSlide" Target="/ppt/notesSlides/notesSlide2.xml" Id="R251abc59f0a04b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e7796715fee403e" /><Relationship Type="http://schemas.openxmlformats.org/officeDocument/2006/relationships/notesSlide" Target="/ppt/notesSlides/notesSlide3.xml" Id="Re6e071a2483c45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e698f6edd2a4f2b" /><Relationship Type="http://schemas.openxmlformats.org/officeDocument/2006/relationships/notesSlide" Target="/ppt/notesSlides/notesSlide4.xml" Id="Ref3710cb0eef46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40f46825c5c4e98" /><Relationship Type="http://schemas.openxmlformats.org/officeDocument/2006/relationships/notesSlide" Target="/ppt/notesSlides/notesSlide5.xml" Id="Rc9d12154d6f042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bf445918eaa480f" /><Relationship Type="http://schemas.openxmlformats.org/officeDocument/2006/relationships/notesSlide" Target="/ppt/notesSlides/notesSlide6.xml" Id="R365434fe73c44c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5da527248cd4e48" /><Relationship Type="http://schemas.openxmlformats.org/officeDocument/2006/relationships/notesSlide" Target="/ppt/notesSlides/notesSlide7.xml" Id="Rc44f99780e0547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f5b7490b68a4107" /><Relationship Type="http://schemas.openxmlformats.org/officeDocument/2006/relationships/notesSlide" Target="/ppt/notesSlides/notesSlide8.xml" Id="R83330df9de6f4c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06558bf2554431b" /><Relationship Type="http://schemas.openxmlformats.org/officeDocument/2006/relationships/notesSlide" Target="/ppt/notesSlides/notesSlide9.xml" Id="R62c703e3635945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85ced74539e4946" /><Relationship Type="http://schemas.openxmlformats.org/officeDocument/2006/relationships/notesSlide" Target="/ppt/notesSlides/notesSlide10.xml" Id="R07813e8fcf6742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4c24c4e519e4834" /><Relationship Type="http://schemas.openxmlformats.org/officeDocument/2006/relationships/notesSlide" Target="/ppt/notesSlides/notesSlide11.xml" Id="Rd7e0d36b76b842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5f1cc02682a4f44" /><Relationship Type="http://schemas.openxmlformats.org/officeDocument/2006/relationships/notesSlide" Target="/ppt/notesSlides/notesSlide12.xml" Id="Rce494e7abcb640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ce0de516bf04a59" /><Relationship Type="http://schemas.openxmlformats.org/officeDocument/2006/relationships/notesSlide" Target="/ppt/notesSlides/notesSlide13.xml" Id="R2510282f2dca45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afa19abfe6941d0" /><Relationship Type="http://schemas.openxmlformats.org/officeDocument/2006/relationships/notesSlide" Target="/ppt/notesSlides/notesSlide14.xml" Id="Ref0b1201488748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fbaacd9e6624099" /><Relationship Type="http://schemas.openxmlformats.org/officeDocument/2006/relationships/notesSlide" Target="/ppt/notesSlides/notesSlide15.xml" Id="R08163f5e36ed4b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87b260b053a42f9" /><Relationship Type="http://schemas.openxmlformats.org/officeDocument/2006/relationships/notesSlide" Target="/ppt/notesSlides/notesSlide16.xml" Id="R50c0701fb10b4e6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4e62e50f4d644e7" /><Relationship Type="http://schemas.openxmlformats.org/officeDocument/2006/relationships/notesSlide" Target="/ppt/notesSlides/notesSlide17.xml" Id="R6c76fcf6b2cb4e9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fb82a888a854b53" /><Relationship Type="http://schemas.openxmlformats.org/officeDocument/2006/relationships/notesSlide" Target="/ppt/notesSlides/notesSlide18.xml" Id="R52edd2caa05a45c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206adb3d7bf4275" /><Relationship Type="http://schemas.openxmlformats.org/officeDocument/2006/relationships/notesSlide" Target="/ppt/notesSlides/notesSlide19.xml" Id="R01e1f329a7be46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c039e065c38410d" /><Relationship Type="http://schemas.openxmlformats.org/officeDocument/2006/relationships/notesSlide" Target="/ppt/notesSlides/notesSlide20.xml" Id="Rdbbe88eec79241d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a1086d6a63641b2" /><Relationship Type="http://schemas.openxmlformats.org/officeDocument/2006/relationships/notesSlide" Target="/ppt/notesSlides/notesSlide21.xml" Id="R70fb97e44e91484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b2f5626dbba4091" /><Relationship Type="http://schemas.openxmlformats.org/officeDocument/2006/relationships/notesSlide" Target="/ppt/notesSlides/notesSlide22.xml" Id="R6091bd23697149f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84252d9c20b4659" /><Relationship Type="http://schemas.openxmlformats.org/officeDocument/2006/relationships/notesSlide" Target="/ppt/notesSlides/notesSlide23.xml" Id="Re28082313a5846a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9587b874bd94fc3" /><Relationship Type="http://schemas.openxmlformats.org/officeDocument/2006/relationships/notesSlide" Target="/ppt/notesSlides/notesSlide24.xml" Id="R15814db56ef74ef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f2838469c7f4281" /><Relationship Type="http://schemas.openxmlformats.org/officeDocument/2006/relationships/notesSlide" Target="/ppt/notesSlides/notesSlide25.xml" Id="R00aaeb7cb8a84ce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3516fb630c74bbd" /><Relationship Type="http://schemas.openxmlformats.org/officeDocument/2006/relationships/notesSlide" Target="/ppt/notesSlides/notesSlide26.xml" Id="R6ec2b64b86f24a3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63a52b036fb4d19" /><Relationship Type="http://schemas.openxmlformats.org/officeDocument/2006/relationships/notesSlide" Target="/ppt/notesSlides/notesSlide27.xml" Id="R97a5154783fc4c7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63e62cd9f864669" /><Relationship Type="http://schemas.openxmlformats.org/officeDocument/2006/relationships/notesSlide" Target="/ppt/notesSlides/notesSlide28.xml" Id="R6b54c8f3a1364fa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b822c1949434bd9" /><Relationship Type="http://schemas.openxmlformats.org/officeDocument/2006/relationships/notesSlide" Target="/ppt/notesSlides/notesSlide29.xml" Id="R21af56b8607f42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TextBox 1">
            <a:extLst xmlns:a="http://schemas.openxmlformats.org/drawingml/2006/main">
              <a:ext uri="{FF2B5EF4-FFF2-40B4-BE49-F238E27FC236}">
                <a16:creationId xmlns:a16="http://schemas.microsoft.com/office/drawing/2014/main" id="{58C6658F-E986-41AF-B921-B93055EF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25880"/>
            <a:ext cx="365724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Day 6</a:t>
            </a:r>
          </a:p>
        </p:txBody>
      </p:sp>
      <p:sp>
        <p:nvSpPr>
          <p:cNvPr id="62" name="TextBox 2">
            <a:extLst xmlns:a="http://schemas.openxmlformats.org/drawingml/2006/main">
              <a:ext uri="{FF2B5EF4-FFF2-40B4-BE49-F238E27FC236}">
                <a16:creationId xmlns:a16="http://schemas.microsoft.com/office/drawing/2014/main" id="{F593A030-81AB-41BB-8B99-1E4B647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7954920" cy="59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Transformation with Apache Hop</a:t>
            </a:r>
          </a:p>
        </p:txBody>
      </p:sp>
      <p:sp>
        <p:nvSpPr>
          <p:cNvPr id="63" name="TextBox 3">
            <a:extLst xmlns:a="http://schemas.openxmlformats.org/drawingml/2006/main">
              <a:ext uri="{FF2B5EF4-FFF2-40B4-BE49-F238E27FC236}">
                <a16:creationId xmlns:a16="http://schemas.microsoft.com/office/drawing/2014/main" id="{CAA09F4C-C026-4061-8BC4-B7D36BA5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6040"/>
            <a:ext cx="73148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0" u="none">
                <a:solidFill>
                  <a:srgbClr val="D2D2D2"/>
                </a:solidFill>
                <a:latin typeface="Calibri"/>
                <a:ea typeface="Calibri"/>
                <a:cs typeface="Calibri"/>
              </a:rPr>
              <a:t>Designing visual pipelines, workflows and streaming transformations</a:t>
            </a:r>
          </a:p>
        </p:txBody>
      </p:sp>
      <p:sp>
        <p:nvSpPr>
          <p:cNvPr id="64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6569097-524C-4B55-BE21-F983C9AE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1480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65" name="TextBox 5">
            <a:extLst xmlns:a="http://schemas.openxmlformats.org/drawingml/2006/main">
              <a:ext uri="{FF2B5EF4-FFF2-40B4-BE49-F238E27FC236}">
                <a16:creationId xmlns:a16="http://schemas.microsoft.com/office/drawing/2014/main" id="{C29592F3-A253-4932-8903-3802214A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00" y="427932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Raw Data</a:t>
            </a:r>
          </a:p>
        </p:txBody>
      </p:sp>
      <p:sp>
        <p:nvSpPr>
          <p:cNvPr id="66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748346AD-A238-44C6-88C6-2B6F4694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29768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67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5F7D7B8-B5D7-43ED-BB76-10D6D7E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11480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68" name="TextBox 8">
            <a:extLst xmlns:a="http://schemas.openxmlformats.org/drawingml/2006/main">
              <a:ext uri="{FF2B5EF4-FFF2-40B4-BE49-F238E27FC236}">
                <a16:creationId xmlns:a16="http://schemas.microsoft.com/office/drawing/2014/main" id="{4352E75B-7476-4C44-ADC2-90F32702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840" y="427932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 Pipeline</a:t>
            </a:r>
          </a:p>
        </p:txBody>
      </p:sp>
      <p:sp>
        <p:nvSpPr>
          <p:cNvPr id="69" name="Right Arrow 9">
            <a:extLst xmlns:a="http://schemas.openxmlformats.org/drawingml/2006/main">
              <a:ext uri="{FF2B5EF4-FFF2-40B4-BE49-F238E27FC236}">
                <a16:creationId xmlns:a16="http://schemas.microsoft.com/office/drawing/2014/main" id="{48D331C3-16BB-437A-B64C-EB0407DF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9768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0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AABCFC2-54E1-4292-A4C7-540AED08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1" name="TextBox 11">
            <a:extLst xmlns:a="http://schemas.openxmlformats.org/drawingml/2006/main">
              <a:ext uri="{FF2B5EF4-FFF2-40B4-BE49-F238E27FC236}">
                <a16:creationId xmlns:a16="http://schemas.microsoft.com/office/drawing/2014/main" id="{B0402941-4588-443C-9518-79EAAAAF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080" y="427932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 Data</a:t>
            </a:r>
          </a:p>
        </p:txBody>
      </p:sp>
      <p:sp>
        <p:nvSpPr>
          <p:cNvPr id="72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820C530-1AF7-4FB7-AC6E-06B1351C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29768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3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92EDCFB-D714-47A8-9F5A-34E59923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11480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3A19FDC-71F6-4F71-ADBB-A040E64D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20" y="427932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Analytics</a:t>
            </a:r>
          </a:p>
        </p:txBody>
      </p:sp>
      <p:sp>
        <p:nvSpPr>
          <p:cNvPr id="75" name="TextBox 15">
            <a:extLst xmlns:a="http://schemas.openxmlformats.org/drawingml/2006/main">
              <a:ext uri="{FF2B5EF4-FFF2-40B4-BE49-F238E27FC236}">
                <a16:creationId xmlns:a16="http://schemas.microsoft.com/office/drawing/2014/main" id="{64F35893-EDFE-4308-9A24-214D22C6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Sources: Apache Hop docs, Microsoft Azure Architecture Center, RudderStack ETL transformation guide</a:t>
            </a:r>
          </a:p>
        </p:txBody>
      </p:sp>
    </p:spTree>
    <p:extLst>
      <p:ext uri="{BB962C8B-B14F-4D97-AF65-F5344CB8AC3E}">
        <p14:creationId xmlns:p14="http://schemas.microsoft.com/office/powerpoint/2010/main" val="12447784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TextBox 1">
            <a:extLst xmlns:a="http://schemas.openxmlformats.org/drawingml/2006/main">
              <a:ext uri="{FF2B5EF4-FFF2-40B4-BE49-F238E27FC236}">
                <a16:creationId xmlns:a16="http://schemas.microsoft.com/office/drawing/2014/main" id="{29924A1B-3468-4575-9F1A-5A889B33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Learning Objectives</a:t>
            </a:r>
          </a:p>
        </p:txBody>
      </p:sp>
      <p:sp>
        <p:nvSpPr>
          <p:cNvPr id="77" name="TextBox 2">
            <a:extLst xmlns:a="http://schemas.openxmlformats.org/drawingml/2006/main">
              <a:ext uri="{FF2B5EF4-FFF2-40B4-BE49-F238E27FC236}">
                <a16:creationId xmlns:a16="http://schemas.microsoft.com/office/drawing/2014/main" id="{BA906EC6-3881-482B-8912-A606C1F3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51560"/>
            <a:ext cx="1060668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Explain Apache Hop architecture and metadata-driven design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Differentiate Hop pipelines and workflows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Apply core transformation patterns: filter, map, join, aggregate, deduplicate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 Kafka Consumer and Kafka Producer transforms for streaming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Build a guided batch + streaming lab for the Day 6 module</a:t>
            </a:r>
          </a:p>
        </p:txBody>
      </p:sp>
      <p:sp>
        <p:nvSpPr>
          <p:cNvPr id="78" name="TextBox 3">
            <a:extLst xmlns:a="http://schemas.openxmlformats.org/drawingml/2006/main">
              <a:ext uri="{FF2B5EF4-FFF2-40B4-BE49-F238E27FC236}">
                <a16:creationId xmlns:a16="http://schemas.microsoft.com/office/drawing/2014/main" id="{48334434-9DBA-4874-B049-250C1C5E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Sources: https://hop.apache.org/ | https://hop.apache.org/docs/architecture/</a:t>
            </a:r>
          </a:p>
        </p:txBody>
      </p:sp>
    </p:spTree>
    <p:extLst>
      <p:ext uri="{BB962C8B-B14F-4D97-AF65-F5344CB8AC3E}">
        <p14:creationId xmlns:p14="http://schemas.microsoft.com/office/powerpoint/2010/main" val="19735224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TextBox 1">
            <a:extLst xmlns:a="http://schemas.openxmlformats.org/drawingml/2006/main">
              <a:ext uri="{FF2B5EF4-FFF2-40B4-BE49-F238E27FC236}">
                <a16:creationId xmlns:a16="http://schemas.microsoft.com/office/drawing/2014/main" id="{7808089E-511E-4DF3-BE2D-B20242E7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Day 6 Agenda</a:t>
            </a:r>
          </a:p>
        </p:txBody>
      </p:sp>
      <p:sp>
        <p:nvSpPr>
          <p:cNvPr id="80" name="TextBox 2">
            <a:extLst xmlns:a="http://schemas.openxmlformats.org/drawingml/2006/main">
              <a:ext uri="{FF2B5EF4-FFF2-40B4-BE49-F238E27FC236}">
                <a16:creationId xmlns:a16="http://schemas.microsoft.com/office/drawing/2014/main" id="{F5418728-69E3-4B80-A85D-6D76597B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972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Designed for a long 8-hour lecture with theory, demos and lab time</a:t>
            </a:r>
          </a:p>
        </p:txBody>
      </p:sp>
      <p:sp>
        <p:nvSpPr>
          <p:cNvPr id="81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15EEAD68-316F-4B3F-91FE-3BCE951D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9728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82" name="TextBox 4">
            <a:extLst xmlns:a="http://schemas.openxmlformats.org/drawingml/2006/main">
              <a:ext uri="{FF2B5EF4-FFF2-40B4-BE49-F238E27FC236}">
                <a16:creationId xmlns:a16="http://schemas.microsoft.com/office/drawing/2014/main" id="{A04C07E4-817B-401C-BCE0-CE9D6F20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20708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Recap Day 5: ingestion pipelines</a:t>
            </a:r>
          </a:p>
        </p:txBody>
      </p:sp>
      <p:sp>
        <p:nvSpPr>
          <p:cNvPr id="83" name="TextBox 5">
            <a:extLst xmlns:a="http://schemas.openxmlformats.org/drawingml/2006/main">
              <a:ext uri="{FF2B5EF4-FFF2-40B4-BE49-F238E27FC236}">
                <a16:creationId xmlns:a16="http://schemas.microsoft.com/office/drawing/2014/main" id="{DDE7DE7B-7280-41D5-AF34-7983D24C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160020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84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98AB22F-1CE0-42FD-B9C0-15DF04C0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09728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85" name="TextBox 7">
            <a:extLst xmlns:a="http://schemas.openxmlformats.org/drawingml/2006/main">
              <a:ext uri="{FF2B5EF4-FFF2-40B4-BE49-F238E27FC236}">
                <a16:creationId xmlns:a16="http://schemas.microsoft.com/office/drawing/2014/main" id="{A4CFA0F5-EC25-40E7-B907-5DF063AB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20708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Apache Hop architecture</a:t>
            </a:r>
          </a:p>
        </p:txBody>
      </p:sp>
      <p:sp>
        <p:nvSpPr>
          <p:cNvPr id="86" name="TextBox 8">
            <a:extLst xmlns:a="http://schemas.openxmlformats.org/drawingml/2006/main">
              <a:ext uri="{FF2B5EF4-FFF2-40B4-BE49-F238E27FC236}">
                <a16:creationId xmlns:a16="http://schemas.microsoft.com/office/drawing/2014/main" id="{B17E6EF6-4BFB-4236-9CF3-3C26A657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880" y="160020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87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2D9970B-77CE-4D13-A01A-0C90B8FF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88" name="TextBox 10">
            <a:extLst xmlns:a="http://schemas.openxmlformats.org/drawingml/2006/main">
              <a:ext uri="{FF2B5EF4-FFF2-40B4-BE49-F238E27FC236}">
                <a16:creationId xmlns:a16="http://schemas.microsoft.com/office/drawing/2014/main" id="{4F2863C0-5D7B-4569-8215-4344D0B3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Pipelines vs workflows</a:t>
            </a:r>
          </a:p>
        </p:txBody>
      </p:sp>
      <p:sp>
        <p:nvSpPr>
          <p:cNvPr id="89" name="TextBox 11">
            <a:extLst xmlns:a="http://schemas.openxmlformats.org/drawingml/2006/main">
              <a:ext uri="{FF2B5EF4-FFF2-40B4-BE49-F238E27FC236}">
                <a16:creationId xmlns:a16="http://schemas.microsoft.com/office/drawing/2014/main" id="{DB29ECB0-5D2C-4DC6-9A5B-5F7BA815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65176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0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DCEC975-2985-4502-A65E-2428D3C7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4884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1" name="TextBox 13">
            <a:extLst xmlns:a="http://schemas.openxmlformats.org/drawingml/2006/main">
              <a:ext uri="{FF2B5EF4-FFF2-40B4-BE49-F238E27FC236}">
                <a16:creationId xmlns:a16="http://schemas.microsoft.com/office/drawing/2014/main" id="{1006C463-90FF-47C4-8F1A-5B5D6B94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5864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Transformation concepts</a:t>
            </a:r>
          </a:p>
        </p:txBody>
      </p:sp>
      <p:sp>
        <p:nvSpPr>
          <p:cNvPr id="92" name="TextBox 14">
            <a:extLst xmlns:a="http://schemas.openxmlformats.org/drawingml/2006/main">
              <a:ext uri="{FF2B5EF4-FFF2-40B4-BE49-F238E27FC236}">
                <a16:creationId xmlns:a16="http://schemas.microsoft.com/office/drawing/2014/main" id="{9BE69F61-3A07-4149-8544-F5BA795C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880" y="265176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3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CE3057C-90B8-4F43-9BEB-55A2F2BE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4" name="TextBox 16">
            <a:extLst xmlns:a="http://schemas.openxmlformats.org/drawingml/2006/main">
              <a:ext uri="{FF2B5EF4-FFF2-40B4-BE49-F238E27FC236}">
                <a16:creationId xmlns:a16="http://schemas.microsoft.com/office/drawing/2014/main" id="{3ADA3F6B-E638-4884-A553-7ED558B6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1020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Hop transforms and design patterns</a:t>
            </a:r>
          </a:p>
        </p:txBody>
      </p:sp>
      <p:sp>
        <p:nvSpPr>
          <p:cNvPr id="95" name="TextBox 17">
            <a:extLst xmlns:a="http://schemas.openxmlformats.org/drawingml/2006/main">
              <a:ext uri="{FF2B5EF4-FFF2-40B4-BE49-F238E27FC236}">
                <a16:creationId xmlns:a16="http://schemas.microsoft.com/office/drawing/2014/main" id="{40F3D05E-93C6-4972-A425-CF1366E3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370332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6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8AEF12C-B0F0-4E8E-88B8-134F2C42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0040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>
            <a:solidFill>
              <a:srgbClr val="0077B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7" name="TextBox 19">
            <a:extLst xmlns:a="http://schemas.openxmlformats.org/drawingml/2006/main">
              <a:ext uri="{FF2B5EF4-FFF2-40B4-BE49-F238E27FC236}">
                <a16:creationId xmlns:a16="http://schemas.microsoft.com/office/drawing/2014/main" id="{B96EA2A2-85EC-47A2-8380-F4BEB221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1020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Streaming with Kafka</a:t>
            </a:r>
          </a:p>
        </p:txBody>
      </p:sp>
      <p:sp>
        <p:nvSpPr>
          <p:cNvPr id="98" name="TextBox 20">
            <a:extLst xmlns:a="http://schemas.openxmlformats.org/drawingml/2006/main">
              <a:ext uri="{FF2B5EF4-FFF2-40B4-BE49-F238E27FC236}">
                <a16:creationId xmlns:a16="http://schemas.microsoft.com/office/drawing/2014/main" id="{08FC26CA-931F-4D47-9388-DD9B0A3D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880" y="370332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9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1E4CADC-CE98-4552-AD8E-C09F8E00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5196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00" name="TextBox 22">
            <a:extLst xmlns:a="http://schemas.openxmlformats.org/drawingml/2006/main">
              <a:ext uri="{FF2B5EF4-FFF2-40B4-BE49-F238E27FC236}">
                <a16:creationId xmlns:a16="http://schemas.microsoft.com/office/drawing/2014/main" id="{15C274D9-3852-48FA-B823-9D802728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7. Hands-on lab</a:t>
            </a:r>
          </a:p>
        </p:txBody>
      </p:sp>
      <p:sp>
        <p:nvSpPr>
          <p:cNvPr id="101" name="TextBox 23">
            <a:extLst xmlns:a="http://schemas.openxmlformats.org/drawingml/2006/main">
              <a:ext uri="{FF2B5EF4-FFF2-40B4-BE49-F238E27FC236}">
                <a16:creationId xmlns:a16="http://schemas.microsoft.com/office/drawing/2014/main" id="{F2CEE093-FC7B-413E-94F3-C5111EB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475488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02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ED4EBD7-7D6E-48EC-AB8E-7F9E40A9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51960"/>
            <a:ext cx="47545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03" name="TextBox 25">
            <a:extLst xmlns:a="http://schemas.openxmlformats.org/drawingml/2006/main">
              <a:ext uri="{FF2B5EF4-FFF2-40B4-BE49-F238E27FC236}">
                <a16:creationId xmlns:a16="http://schemas.microsoft.com/office/drawing/2014/main" id="{8FAE82BE-82E7-44BC-A003-733E7557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61760"/>
            <a:ext cx="4480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8. Exercises + MCQs + recap</a:t>
            </a:r>
          </a:p>
        </p:txBody>
      </p:sp>
      <p:sp>
        <p:nvSpPr>
          <p:cNvPr id="104" name="TextBox 26">
            <a:extLst xmlns:a="http://schemas.openxmlformats.org/drawingml/2006/main">
              <a:ext uri="{FF2B5EF4-FFF2-40B4-BE49-F238E27FC236}">
                <a16:creationId xmlns:a16="http://schemas.microsoft.com/office/drawing/2014/main" id="{873555CF-4245-438B-BCE4-060D1EC5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880" y="4754880"/>
            <a:ext cx="4425480" cy="1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2603348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TextBox 1">
            <a:extLst xmlns:a="http://schemas.openxmlformats.org/drawingml/2006/main">
              <a:ext uri="{FF2B5EF4-FFF2-40B4-BE49-F238E27FC236}">
                <a16:creationId xmlns:a16="http://schemas.microsoft.com/office/drawing/2014/main" id="{5434D57D-C3E2-4863-BB33-BE437C80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Recap: From Ingestion to Transformation</a:t>
            </a:r>
          </a:p>
        </p:txBody>
      </p:sp>
      <p:sp>
        <p:nvSpPr>
          <p:cNvPr id="106" name="TextBox 2">
            <a:extLst xmlns:a="http://schemas.openxmlformats.org/drawingml/2006/main">
              <a:ext uri="{FF2B5EF4-FFF2-40B4-BE49-F238E27FC236}">
                <a16:creationId xmlns:a16="http://schemas.microsoft.com/office/drawing/2014/main" id="{014B26F0-F827-45DF-B557-DB267D6F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5668920" cy="2377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Day 5 delivered validated Kafka topics and a DLQ decision. Day 6 begins from those accepted records: clean types, standardize values, enrich with reference data and publish Silver-ready output. Apache Hop is the visual transformation tool students build in today.</a:t>
            </a:r>
          </a:p>
        </p:txBody>
      </p:sp>
      <p:sp>
        <p:nvSpPr>
          <p:cNvPr id="107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13209D16-47F3-46A0-BA0D-45037467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08" name="TextBox 4">
            <a:extLst xmlns:a="http://schemas.openxmlformats.org/drawingml/2006/main">
              <a:ext uri="{FF2B5EF4-FFF2-40B4-BE49-F238E27FC236}">
                <a16:creationId xmlns:a16="http://schemas.microsoft.com/office/drawing/2014/main" id="{2F53088F-1F5F-4761-8EF2-0E7E8492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0050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Sources</a:t>
            </a:r>
          </a:p>
        </p:txBody>
      </p:sp>
      <p:sp>
        <p:nvSpPr>
          <p:cNvPr id="109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BEC009BE-E005-454A-A754-99E12CB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2336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0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209B474-F916-4C61-955F-39705816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8404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1" name="TextBox 7">
            <a:extLst xmlns:a="http://schemas.openxmlformats.org/drawingml/2006/main">
              <a:ext uri="{FF2B5EF4-FFF2-40B4-BE49-F238E27FC236}">
                <a16:creationId xmlns:a16="http://schemas.microsoft.com/office/drawing/2014/main" id="{C7738777-D9FB-480D-BB8B-8E43EEEB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280" y="40050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</a:t>
            </a:r>
          </a:p>
        </p:txBody>
      </p:sp>
      <p:sp>
        <p:nvSpPr>
          <p:cNvPr id="112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2A8A77CE-DFFA-4688-B0B8-FD4EE021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402336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3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4B1C211-2DC5-4E68-AEB7-526F3E2C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404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4" name="TextBox 10">
            <a:extLst xmlns:a="http://schemas.openxmlformats.org/drawingml/2006/main">
              <a:ext uri="{FF2B5EF4-FFF2-40B4-BE49-F238E27FC236}">
                <a16:creationId xmlns:a16="http://schemas.microsoft.com/office/drawing/2014/main" id="{291C3F7B-84D6-4325-ABBC-4F5E4487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20" y="40050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 Transform</a:t>
            </a:r>
          </a:p>
        </p:txBody>
      </p:sp>
      <p:sp>
        <p:nvSpPr>
          <p:cNvPr id="115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9D32131E-4ABC-477A-BAA6-9BE3B75D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02336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6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DED4E9B2-2B12-4F4C-A7AD-F515DCF3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404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7" name="TextBox 13">
            <a:extLst xmlns:a="http://schemas.openxmlformats.org/drawingml/2006/main">
              <a:ext uri="{FF2B5EF4-FFF2-40B4-BE49-F238E27FC236}">
                <a16:creationId xmlns:a16="http://schemas.microsoft.com/office/drawing/2014/main" id="{CB34EFEE-852B-4A03-9550-BD1D5F54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760" y="40050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 Topic</a:t>
            </a:r>
          </a:p>
        </p:txBody>
      </p:sp>
      <p:sp>
        <p:nvSpPr>
          <p:cNvPr id="118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6F127584-44D0-4603-9281-64796D65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02336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9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A0E4A72-92D3-4701-9A02-FF5AC926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8404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20" name="TextBox 16">
            <a:extLst xmlns:a="http://schemas.openxmlformats.org/drawingml/2006/main">
              <a:ext uri="{FF2B5EF4-FFF2-40B4-BE49-F238E27FC236}">
                <a16:creationId xmlns:a16="http://schemas.microsoft.com/office/drawing/2014/main" id="{AEF84C6E-40AA-4807-B174-9169E524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00" y="40050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Gold/BI</a:t>
            </a:r>
          </a:p>
        </p:txBody>
      </p:sp>
      <p:sp>
        <p:nvSpPr>
          <p:cNvPr id="121" name="TextBox 17">
            <a:extLst xmlns:a="http://schemas.openxmlformats.org/drawingml/2006/main">
              <a:ext uri="{FF2B5EF4-FFF2-40B4-BE49-F238E27FC236}">
                <a16:creationId xmlns:a16="http://schemas.microsoft.com/office/drawing/2014/main" id="{9D2DA5CB-CD2C-486B-9AD0-ABE314F8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Microsoft Azure Architecture Center ETL and streaming guidance</a:t>
            </a:r>
          </a:p>
        </p:txBody>
      </p:sp>
    </p:spTree>
    <p:extLst>
      <p:ext uri="{BB962C8B-B14F-4D97-AF65-F5344CB8AC3E}">
        <p14:creationId xmlns:p14="http://schemas.microsoft.com/office/powerpoint/2010/main" val="736716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B8BD8F-1AEA-458E-BC94-F66380CE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What is Apache Hop?</a:t>
            </a:r>
          </a:p>
        </p:txBody>
      </p:sp>
      <p:sp>
        <p:nvSpPr>
          <p:cNvPr id="123" name="TextBox 2">
            <a:extLst xmlns:a="http://schemas.openxmlformats.org/drawingml/2006/main">
              <a:ext uri="{FF2B5EF4-FFF2-40B4-BE49-F238E27FC236}">
                <a16:creationId xmlns:a16="http://schemas.microsoft.com/office/drawing/2014/main" id="{FE01D371-8884-4315-9C55-21396D94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5943240" cy="2925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Apache Hop is an open-source Hop Orchestration Platform for data and metadata orchestration.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It emphasizes visual development: pipelines and workflows are designed in Hop GUI.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Design once, run anywhere: Hop native engine, Spark, Flink, Dataflow and other runtimes via Beam.</a:t>
            </a:r>
          </a:p>
        </p:txBody>
      </p:sp>
      <p:sp>
        <p:nvSpPr>
          <p:cNvPr id="12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3D5C384D-03BE-4ADD-9F88-CFE27189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188720"/>
            <a:ext cx="347436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25" name="TextBox 4">
            <a:extLst xmlns:a="http://schemas.openxmlformats.org/drawingml/2006/main">
              <a:ext uri="{FF2B5EF4-FFF2-40B4-BE49-F238E27FC236}">
                <a16:creationId xmlns:a16="http://schemas.microsoft.com/office/drawing/2014/main" id="{BC9BFFC2-1973-4F2D-9E70-7DE438E8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298520"/>
            <a:ext cx="3200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</a:t>
            </a:r>
          </a:p>
        </p:txBody>
      </p:sp>
      <p:sp>
        <p:nvSpPr>
          <p:cNvPr id="12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D111CA-D660-4B79-AAA1-D6E7FC14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1691640"/>
            <a:ext cx="314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Visual + metadata-driven orchestration</a:t>
            </a:r>
          </a:p>
        </p:txBody>
      </p:sp>
      <p:sp>
        <p:nvSpPr>
          <p:cNvPr id="12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5492F40-BB7B-4BDC-B89E-0435DC14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43200"/>
            <a:ext cx="347436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>
            <a:solidFill>
              <a:srgbClr val="0077B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2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15D5B5-45EF-4467-B874-DCA91312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853000"/>
            <a:ext cx="3200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useful?</a:t>
            </a:r>
          </a:p>
        </p:txBody>
      </p:sp>
      <p:sp>
        <p:nvSpPr>
          <p:cNvPr id="129" name="TextBox 8">
            <a:extLst xmlns:a="http://schemas.openxmlformats.org/drawingml/2006/main">
              <a:ext uri="{FF2B5EF4-FFF2-40B4-BE49-F238E27FC236}">
                <a16:creationId xmlns:a16="http://schemas.microsoft.com/office/drawing/2014/main" id="{C82814C7-63D0-4A4A-A338-B914C0D3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246120"/>
            <a:ext cx="314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Low-code pipeline design for batch and streaming transformations</a:t>
            </a:r>
          </a:p>
        </p:txBody>
      </p:sp>
      <p:sp>
        <p:nvSpPr>
          <p:cNvPr id="130" name="TextBox 9">
            <a:extLst xmlns:a="http://schemas.openxmlformats.org/drawingml/2006/main">
              <a:ext uri="{FF2B5EF4-FFF2-40B4-BE49-F238E27FC236}">
                <a16:creationId xmlns:a16="http://schemas.microsoft.com/office/drawing/2014/main" id="{85A65889-8095-4BFB-827C-D8A4FE3B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https://hop.apache.org/</a:t>
            </a:r>
          </a:p>
        </p:txBody>
      </p:sp>
    </p:spTree>
    <p:extLst>
      <p:ext uri="{BB962C8B-B14F-4D97-AF65-F5344CB8AC3E}">
        <p14:creationId xmlns:p14="http://schemas.microsoft.com/office/powerpoint/2010/main" val="8327131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TextBox 1">
            <a:extLst xmlns:a="http://schemas.openxmlformats.org/drawingml/2006/main">
              <a:ext uri="{FF2B5EF4-FFF2-40B4-BE49-F238E27FC236}">
                <a16:creationId xmlns:a16="http://schemas.microsoft.com/office/drawing/2014/main" id="{1DA8DFD1-7E06-4F12-B74F-B2A68EE5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Apache Hop Architecture</a:t>
            </a:r>
          </a:p>
        </p:txBody>
      </p:sp>
      <p:sp>
        <p:nvSpPr>
          <p:cNvPr id="132" name="TextBox 2">
            <a:extLst xmlns:a="http://schemas.openxmlformats.org/drawingml/2006/main">
              <a:ext uri="{FF2B5EF4-FFF2-40B4-BE49-F238E27FC236}">
                <a16:creationId xmlns:a16="http://schemas.microsoft.com/office/drawing/2014/main" id="{2679A5BF-9B53-4EA9-8FBC-42A9B9D0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5394600" cy="2742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Hop separates metadata from runtime code and tooling.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Pipelines and workflows are definitions; runtime configuration decides where and how they execute.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Projects and environments separate your logic from environment-specific settings.</a:t>
            </a:r>
          </a:p>
        </p:txBody>
      </p:sp>
      <p:sp>
        <p:nvSpPr>
          <p:cNvPr id="133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D2BB87AA-E470-4938-AC60-84807469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233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4" name="TextBox 4">
            <a:extLst xmlns:a="http://schemas.openxmlformats.org/drawingml/2006/main">
              <a:ext uri="{FF2B5EF4-FFF2-40B4-BE49-F238E27FC236}">
                <a16:creationId xmlns:a16="http://schemas.microsoft.com/office/drawing/2014/main" id="{0F823F9B-E719-4774-B567-EC2D2DE0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1878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 GUI</a:t>
            </a:r>
          </a:p>
        </p:txBody>
      </p:sp>
      <p:sp>
        <p:nvSpPr>
          <p:cNvPr id="135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12CC72C1-6BBC-4ED2-ADF7-78B6DCE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062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6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0126EAC-3702-446B-8A30-7921EEF9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0233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7" name="TextBox 7">
            <a:extLst xmlns:a="http://schemas.openxmlformats.org/drawingml/2006/main">
              <a:ext uri="{FF2B5EF4-FFF2-40B4-BE49-F238E27FC236}">
                <a16:creationId xmlns:a16="http://schemas.microsoft.com/office/drawing/2014/main" id="{5F278958-FF96-4A95-9677-EC67A3D5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280" y="41878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</a:t>
            </a:r>
          </a:p>
        </p:txBody>
      </p:sp>
      <p:sp>
        <p:nvSpPr>
          <p:cNvPr id="138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561EB493-E878-493B-A67E-87823D5A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42062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9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353048C-1415-4878-8F74-657131A5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0233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FA6EFD5-9E1E-4E6A-9099-75AE135F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20" y="41878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Metadata</a:t>
            </a:r>
          </a:p>
        </p:txBody>
      </p:sp>
      <p:sp>
        <p:nvSpPr>
          <p:cNvPr id="141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9B20DCA6-FEF9-419D-9EF2-D6145165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062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2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8822716-47F6-457D-8798-E32F41A8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0233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3" name="TextBox 13">
            <a:extLst xmlns:a="http://schemas.openxmlformats.org/drawingml/2006/main">
              <a:ext uri="{FF2B5EF4-FFF2-40B4-BE49-F238E27FC236}">
                <a16:creationId xmlns:a16="http://schemas.microsoft.com/office/drawing/2014/main" id="{AA2C7924-1E59-40FA-A9C1-1E8292A1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760" y="41878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 Config</a:t>
            </a:r>
          </a:p>
        </p:txBody>
      </p:sp>
      <p:sp>
        <p:nvSpPr>
          <p:cNvPr id="144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5C34509D-AAF4-4E50-AA3C-120DD025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2062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5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3954CB2-C7A9-4BBF-9CA3-34F0FBBA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0233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6" name="TextBox 16">
            <a:extLst xmlns:a="http://schemas.openxmlformats.org/drawingml/2006/main">
              <a:ext uri="{FF2B5EF4-FFF2-40B4-BE49-F238E27FC236}">
                <a16:creationId xmlns:a16="http://schemas.microsoft.com/office/drawing/2014/main" id="{AE8581F3-45A8-4286-A7BA-65E8B2D5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00" y="41878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Engine</a:t>
            </a:r>
          </a:p>
        </p:txBody>
      </p:sp>
      <p:sp>
        <p:nvSpPr>
          <p:cNvPr id="14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D9AEDE2-2EC7-4FCF-9ED3-D9E93264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https://hop.apache.org/docs/architecture/</a:t>
            </a:r>
          </a:p>
        </p:txBody>
      </p:sp>
    </p:spTree>
    <p:extLst>
      <p:ext uri="{BB962C8B-B14F-4D97-AF65-F5344CB8AC3E}">
        <p14:creationId xmlns:p14="http://schemas.microsoft.com/office/powerpoint/2010/main" val="13496413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TextBox 1">
            <a:extLst xmlns:a="http://schemas.openxmlformats.org/drawingml/2006/main">
              <a:ext uri="{FF2B5EF4-FFF2-40B4-BE49-F238E27FC236}">
                <a16:creationId xmlns:a16="http://schemas.microsoft.com/office/drawing/2014/main" id="{885F608D-AF5C-4295-BB47-13AD1AE4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Metadata-Driven Design</a:t>
            </a:r>
          </a:p>
        </p:txBody>
      </p:sp>
      <p:sp>
        <p:nvSpPr>
          <p:cNvPr id="149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8CE44C11-E307-4E06-A46A-5F208E83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43000"/>
            <a:ext cx="2468520" cy="10054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50" name="TextBox 3">
            <a:extLst xmlns:a="http://schemas.openxmlformats.org/drawingml/2006/main">
              <a:ext uri="{FF2B5EF4-FFF2-40B4-BE49-F238E27FC236}">
                <a16:creationId xmlns:a16="http://schemas.microsoft.com/office/drawing/2014/main" id="{F28328F8-94DC-49A8-810A-EF98298E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52800"/>
            <a:ext cx="2194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Pipelines</a:t>
            </a:r>
          </a:p>
        </p:txBody>
      </p:sp>
      <p:sp>
        <p:nvSpPr>
          <p:cNvPr id="151" name="TextBox 4">
            <a:extLst xmlns:a="http://schemas.openxmlformats.org/drawingml/2006/main">
              <a:ext uri="{FF2B5EF4-FFF2-40B4-BE49-F238E27FC236}">
                <a16:creationId xmlns:a16="http://schemas.microsoft.com/office/drawing/2014/main" id="{DFC63A8B-B375-430E-94E0-0D115598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00" y="1645920"/>
            <a:ext cx="213948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flow definitions</a:t>
            </a:r>
          </a:p>
        </p:txBody>
      </p:sp>
      <p:sp>
        <p:nvSpPr>
          <p:cNvPr id="152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C2C6DFB-4E8E-42AB-AC38-FBFBCDCB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143000"/>
            <a:ext cx="2468520" cy="10054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53" name="TextBox 6">
            <a:extLst xmlns:a="http://schemas.openxmlformats.org/drawingml/2006/main">
              <a:ext uri="{FF2B5EF4-FFF2-40B4-BE49-F238E27FC236}">
                <a16:creationId xmlns:a16="http://schemas.microsoft.com/office/drawing/2014/main" id="{87476515-5B56-4BD5-B84D-B7A21F16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252800"/>
            <a:ext cx="2194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Workflows</a:t>
            </a:r>
          </a:p>
        </p:txBody>
      </p:sp>
      <p:sp>
        <p:nvSpPr>
          <p:cNvPr id="154" name="TextBox 7">
            <a:extLst xmlns:a="http://schemas.openxmlformats.org/drawingml/2006/main">
              <a:ext uri="{FF2B5EF4-FFF2-40B4-BE49-F238E27FC236}">
                <a16:creationId xmlns:a16="http://schemas.microsoft.com/office/drawing/2014/main" id="{27F86D92-1A60-4A28-9C66-9B3AA4D7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00" y="1645920"/>
            <a:ext cx="213948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 flow definitions</a:t>
            </a:r>
          </a:p>
        </p:txBody>
      </p:sp>
      <p:sp>
        <p:nvSpPr>
          <p:cNvPr id="155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689DE88-F666-4117-AF90-9D86FBDA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43000"/>
            <a:ext cx="2468520" cy="10054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>
            <a:solidFill>
              <a:srgbClr val="0077B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56" name="TextBox 9">
            <a:extLst xmlns:a="http://schemas.openxmlformats.org/drawingml/2006/main">
              <a:ext uri="{FF2B5EF4-FFF2-40B4-BE49-F238E27FC236}">
                <a16:creationId xmlns:a16="http://schemas.microsoft.com/office/drawing/2014/main" id="{98A83638-01BB-4046-AC60-43914CAE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252800"/>
            <a:ext cx="2194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Connections</a:t>
            </a:r>
          </a:p>
        </p:txBody>
      </p:sp>
      <p:sp>
        <p:nvSpPr>
          <p:cNvPr id="157" name="TextBox 10">
            <a:extLst xmlns:a="http://schemas.openxmlformats.org/drawingml/2006/main">
              <a:ext uri="{FF2B5EF4-FFF2-40B4-BE49-F238E27FC236}">
                <a16:creationId xmlns:a16="http://schemas.microsoft.com/office/drawing/2014/main" id="{C7BD2D32-0F0C-4F46-BE2B-E2DB8070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00" y="1645920"/>
            <a:ext cx="213948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databases, Kafka, files</a:t>
            </a:r>
          </a:p>
        </p:txBody>
      </p:sp>
      <p:sp>
        <p:nvSpPr>
          <p:cNvPr id="158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770A893-83F6-4748-884A-9C91821B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143000"/>
            <a:ext cx="2468520" cy="10054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59" name="TextBox 12">
            <a:extLst xmlns:a="http://schemas.openxmlformats.org/drawingml/2006/main">
              <a:ext uri="{FF2B5EF4-FFF2-40B4-BE49-F238E27FC236}">
                <a16:creationId xmlns:a16="http://schemas.microsoft.com/office/drawing/2014/main" id="{2CB73F89-2714-4FF8-BF59-47747059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1252800"/>
            <a:ext cx="21942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 Configs</a:t>
            </a:r>
          </a:p>
        </p:txBody>
      </p:sp>
      <p:sp>
        <p:nvSpPr>
          <p:cNvPr id="160" name="TextBox 13">
            <a:extLst xmlns:a="http://schemas.openxmlformats.org/drawingml/2006/main">
              <a:ext uri="{FF2B5EF4-FFF2-40B4-BE49-F238E27FC236}">
                <a16:creationId xmlns:a16="http://schemas.microsoft.com/office/drawing/2014/main" id="{98C2667B-5B41-4CB6-9321-2DEF0E72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00" y="1645920"/>
            <a:ext cx="213948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local, remote, Beam</a:t>
            </a:r>
          </a:p>
        </p:txBody>
      </p:sp>
      <p:sp>
        <p:nvSpPr>
          <p:cNvPr id="161" name="TextBox 14">
            <a:extLst xmlns:a="http://schemas.openxmlformats.org/drawingml/2006/main">
              <a:ext uri="{FF2B5EF4-FFF2-40B4-BE49-F238E27FC236}">
                <a16:creationId xmlns:a16="http://schemas.microsoft.com/office/drawing/2014/main" id="{985EFCCA-D2F8-414A-81B3-B0F8511C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10423800" cy="164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Treat metadata like code: store in Git, review changes, test before deployment.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 variables for environment-specific values such as broker URLs, paths and credentials.</a:t>
            </a:r>
          </a:p>
        </p:txBody>
      </p:sp>
      <p:sp>
        <p:nvSpPr>
          <p:cNvPr id="162" name="TextBox 15">
            <a:extLst xmlns:a="http://schemas.openxmlformats.org/drawingml/2006/main">
              <a:ext uri="{FF2B5EF4-FFF2-40B4-BE49-F238E27FC236}">
                <a16:creationId xmlns:a16="http://schemas.microsoft.com/office/drawing/2014/main" id="{432E4A62-9C12-454C-8BB1-F05BE3C6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architecture and projects/environments documentation</a:t>
            </a:r>
          </a:p>
        </p:txBody>
      </p:sp>
    </p:spTree>
    <p:extLst>
      <p:ext uri="{BB962C8B-B14F-4D97-AF65-F5344CB8AC3E}">
        <p14:creationId xmlns:p14="http://schemas.microsoft.com/office/powerpoint/2010/main" val="9704234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TextBox 1">
            <a:extLst xmlns:a="http://schemas.openxmlformats.org/drawingml/2006/main">
              <a:ext uri="{FF2B5EF4-FFF2-40B4-BE49-F238E27FC236}">
                <a16:creationId xmlns:a16="http://schemas.microsoft.com/office/drawing/2014/main" id="{93507B50-66AD-4539-9BDD-ACCE477D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Pipelines vs Workflows</a:t>
            </a:r>
          </a:p>
        </p:txBody>
      </p:sp>
      <p:sp>
        <p:nvSpPr>
          <p:cNvPr id="164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982E5C4-C008-40C7-A531-08F7516E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4937400" cy="20113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65" name="TextBox 3">
            <a:extLst xmlns:a="http://schemas.openxmlformats.org/drawingml/2006/main">
              <a:ext uri="{FF2B5EF4-FFF2-40B4-BE49-F238E27FC236}">
                <a16:creationId xmlns:a16="http://schemas.microsoft.com/office/drawing/2014/main" id="{3FBA3024-D211-4684-A15D-D2A16D38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89960"/>
            <a:ext cx="46630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166" name="TextBox 4">
            <a:extLst xmlns:a="http://schemas.openxmlformats.org/drawingml/2006/main">
              <a:ext uri="{FF2B5EF4-FFF2-40B4-BE49-F238E27FC236}">
                <a16:creationId xmlns:a16="http://schemas.microsoft.com/office/drawing/2014/main" id="{10D67775-3455-478A-A1BB-F7850091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1783080"/>
            <a:ext cx="4608360" cy="1416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flow. Transforms are connected by hops. Used for reading, filtering, joining, aggregating, deduplicating and writing data.</a:t>
            </a:r>
          </a:p>
        </p:txBody>
      </p:sp>
      <p:sp>
        <p:nvSpPr>
          <p:cNvPr id="167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7944B4F-478A-4FFA-837E-6D5986AB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280160"/>
            <a:ext cx="4937400" cy="20113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68" name="TextBox 6">
            <a:extLst xmlns:a="http://schemas.openxmlformats.org/drawingml/2006/main">
              <a:ext uri="{FF2B5EF4-FFF2-40B4-BE49-F238E27FC236}">
                <a16:creationId xmlns:a16="http://schemas.microsoft.com/office/drawing/2014/main" id="{A739AFE8-085E-4E09-BFC5-F121B8F7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389960"/>
            <a:ext cx="46630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169" name="TextBox 7">
            <a:extLst xmlns:a="http://schemas.openxmlformats.org/drawingml/2006/main">
              <a:ext uri="{FF2B5EF4-FFF2-40B4-BE49-F238E27FC236}">
                <a16:creationId xmlns:a16="http://schemas.microsoft.com/office/drawing/2014/main" id="{CF5DCD5B-C6E3-423C-83F3-11323A0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20" y="1783080"/>
            <a:ext cx="4608360" cy="1416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 flow. Actions run in a sequence. Used to orchestrate pipelines, file operations, alerts and dependencies.</a:t>
            </a:r>
          </a:p>
        </p:txBody>
      </p:sp>
      <p:sp>
        <p:nvSpPr>
          <p:cNvPr id="170" name="TextBox 8">
            <a:extLst xmlns:a="http://schemas.openxmlformats.org/drawingml/2006/main">
              <a:ext uri="{FF2B5EF4-FFF2-40B4-BE49-F238E27FC236}">
                <a16:creationId xmlns:a16="http://schemas.microsoft.com/office/drawing/2014/main" id="{3E1649F3-3FCD-4DC2-8800-2BA7760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pipeline and workflow documentation</a:t>
            </a:r>
          </a:p>
        </p:txBody>
      </p:sp>
    </p:spTree>
    <p:extLst>
      <p:ext uri="{BB962C8B-B14F-4D97-AF65-F5344CB8AC3E}">
        <p14:creationId xmlns:p14="http://schemas.microsoft.com/office/powerpoint/2010/main" val="13874369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TextBox 1">
            <a:extLst xmlns:a="http://schemas.openxmlformats.org/drawingml/2006/main">
              <a:ext uri="{FF2B5EF4-FFF2-40B4-BE49-F238E27FC236}">
                <a16:creationId xmlns:a16="http://schemas.microsoft.com/office/drawing/2014/main" id="{FD8AB78B-9B01-46F2-84F2-1445FBB9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Execution Behavior: Parallel vs Sequential</a:t>
            </a:r>
          </a:p>
        </p:txBody>
      </p:sp>
      <p:sp>
        <p:nvSpPr>
          <p:cNvPr id="172" name="TextBox 2">
            <a:extLst xmlns:a="http://schemas.openxmlformats.org/drawingml/2006/main">
              <a:ext uri="{FF2B5EF4-FFF2-40B4-BE49-F238E27FC236}">
                <a16:creationId xmlns:a16="http://schemas.microsoft.com/office/drawing/2014/main" id="{0AE6358A-45CB-4127-BFC5-9150D601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6217560" cy="320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Pipeline transforms run in parallel once the pipeline starts.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Workflows are better when tasks must happen in a strict order.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 common pattern: workflow orchestrates multiple pipelines; pipelines perform data processing.</a:t>
            </a:r>
          </a:p>
        </p:txBody>
      </p:sp>
      <p:sp>
        <p:nvSpPr>
          <p:cNvPr id="173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50348250-397D-4DDA-A91A-A0671884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74" name="TextBox 4">
            <a:extLst xmlns:a="http://schemas.openxmlformats.org/drawingml/2006/main">
              <a:ext uri="{FF2B5EF4-FFF2-40B4-BE49-F238E27FC236}">
                <a16:creationId xmlns:a16="http://schemas.microsoft.com/office/drawing/2014/main" id="{80AABB69-9E5C-45ED-B741-170F1F7F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Workflow Start</a:t>
            </a:r>
          </a:p>
        </p:txBody>
      </p:sp>
      <p:sp>
        <p:nvSpPr>
          <p:cNvPr id="175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A3511FB2-2DCA-43FE-AE80-53439B95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76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8344F23-5763-4BBC-B84A-46B80E82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77" name="TextBox 7">
            <a:extLst xmlns:a="http://schemas.openxmlformats.org/drawingml/2006/main">
              <a:ext uri="{FF2B5EF4-FFF2-40B4-BE49-F238E27FC236}">
                <a16:creationId xmlns:a16="http://schemas.microsoft.com/office/drawing/2014/main" id="{433FF059-6731-49CA-B730-1219688F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28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 Pipeline</a:t>
            </a:r>
          </a:p>
        </p:txBody>
      </p:sp>
      <p:sp>
        <p:nvSpPr>
          <p:cNvPr id="178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9BC3F041-17C4-459C-BDDC-FDA80283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79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9238697-8A85-40A8-8133-64792773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59059A4-5EE0-4489-9520-0D6598AC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2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Archive File</a:t>
            </a:r>
          </a:p>
        </p:txBody>
      </p:sp>
      <p:sp>
        <p:nvSpPr>
          <p:cNvPr id="181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C94E06B0-596C-470F-B7E2-9B443B06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2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AD5A5B40-8F28-4081-919E-D6F78814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3" name="TextBox 13">
            <a:extLst xmlns:a="http://schemas.openxmlformats.org/drawingml/2006/main">
              <a:ext uri="{FF2B5EF4-FFF2-40B4-BE49-F238E27FC236}">
                <a16:creationId xmlns:a16="http://schemas.microsoft.com/office/drawing/2014/main" id="{14845CA1-503F-4352-AF97-0C391E06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76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Notify</a:t>
            </a:r>
          </a:p>
        </p:txBody>
      </p:sp>
      <p:sp>
        <p:nvSpPr>
          <p:cNvPr id="184" name="TextBox 14">
            <a:extLst xmlns:a="http://schemas.openxmlformats.org/drawingml/2006/main">
              <a:ext uri="{FF2B5EF4-FFF2-40B4-BE49-F238E27FC236}">
                <a16:creationId xmlns:a16="http://schemas.microsoft.com/office/drawing/2014/main" id="{1155EDB9-ADE4-4272-BCAA-5FA3858C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pipeline/workflow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452986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5" name="TextBox 1">
            <a:extLst xmlns:a="http://schemas.openxmlformats.org/drawingml/2006/main">
              <a:ext uri="{FF2B5EF4-FFF2-40B4-BE49-F238E27FC236}">
                <a16:creationId xmlns:a16="http://schemas.microsoft.com/office/drawing/2014/main" id="{11DE7017-907B-4CDF-929B-112CEE7F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Data Transformation Basics</a:t>
            </a:r>
          </a:p>
        </p:txBody>
      </p:sp>
      <p:sp>
        <p:nvSpPr>
          <p:cNvPr id="186" name="TextBox 2">
            <a:extLst xmlns:a="http://schemas.openxmlformats.org/drawingml/2006/main">
              <a:ext uri="{FF2B5EF4-FFF2-40B4-BE49-F238E27FC236}">
                <a16:creationId xmlns:a16="http://schemas.microsoft.com/office/drawing/2014/main" id="{0E12F0DD-DAFE-477F-9BC0-A5308E29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78956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Transformation converts raw source data into a useful target format.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Common operations include filtering, sorting, aggregating, joining, cleaning, deduplicating and validating data.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Transformation can happen before loading (ETL) or after loading into a powerful target platform (ELT).</a:t>
            </a:r>
          </a:p>
        </p:txBody>
      </p:sp>
      <p:sp>
        <p:nvSpPr>
          <p:cNvPr id="187" name="TextBox 3">
            <a:extLst xmlns:a="http://schemas.openxmlformats.org/drawingml/2006/main">
              <a:ext uri="{FF2B5EF4-FFF2-40B4-BE49-F238E27FC236}">
                <a16:creationId xmlns:a16="http://schemas.microsoft.com/office/drawing/2014/main" id="{765E3C25-5BF9-4853-B4E9-43D2E8AE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Microsoft Azure Architecture Center – Extract, transform, load (ETL)</a:t>
            </a:r>
          </a:p>
        </p:txBody>
      </p:sp>
    </p:spTree>
    <p:extLst>
      <p:ext uri="{BB962C8B-B14F-4D97-AF65-F5344CB8AC3E}">
        <p14:creationId xmlns:p14="http://schemas.microsoft.com/office/powerpoint/2010/main" val="4993064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TextBox 1">
            <a:extLst xmlns:a="http://schemas.openxmlformats.org/drawingml/2006/main">
              <a:ext uri="{FF2B5EF4-FFF2-40B4-BE49-F238E27FC236}">
                <a16:creationId xmlns:a16="http://schemas.microsoft.com/office/drawing/2014/main" id="{BF1AE7F2-69AC-4A0D-BB52-776FEEF1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Core Transformation Types</a:t>
            </a:r>
          </a:p>
        </p:txBody>
      </p:sp>
      <p:sp>
        <p:nvSpPr>
          <p:cNvPr id="189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5DD20758-1076-44FA-900C-6BF082F6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43000"/>
            <a:ext cx="320004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0" name="TextBox 3">
            <a:extLst xmlns:a="http://schemas.openxmlformats.org/drawingml/2006/main">
              <a:ext uri="{FF2B5EF4-FFF2-40B4-BE49-F238E27FC236}">
                <a16:creationId xmlns:a16="http://schemas.microsoft.com/office/drawing/2014/main" id="{5F7A4EB6-DFD6-4885-BBB0-AFE8B1EE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5280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</a:t>
            </a:r>
          </a:p>
        </p:txBody>
      </p:sp>
      <p:sp>
        <p:nvSpPr>
          <p:cNvPr id="191" name="TextBox 4">
            <a:extLst xmlns:a="http://schemas.openxmlformats.org/drawingml/2006/main">
              <a:ext uri="{FF2B5EF4-FFF2-40B4-BE49-F238E27FC236}">
                <a16:creationId xmlns:a16="http://schemas.microsoft.com/office/drawing/2014/main" id="{96ADD57B-6E9D-444B-9888-7D833F29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00" y="1645920"/>
            <a:ext cx="2871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keep relevant rows</a:t>
            </a:r>
          </a:p>
        </p:txBody>
      </p:sp>
      <p:sp>
        <p:nvSpPr>
          <p:cNvPr id="192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4ECD6E5-FE23-4436-8639-EDDDBFBC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143000"/>
            <a:ext cx="320004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3" name="TextBox 6">
            <a:extLst xmlns:a="http://schemas.openxmlformats.org/drawingml/2006/main">
              <a:ext uri="{FF2B5EF4-FFF2-40B4-BE49-F238E27FC236}">
                <a16:creationId xmlns:a16="http://schemas.microsoft.com/office/drawing/2014/main" id="{18AB20F0-37DD-4DD0-9A9B-F7280543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25280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194" name="TextBox 7">
            <a:extLst xmlns:a="http://schemas.openxmlformats.org/drawingml/2006/main">
              <a:ext uri="{FF2B5EF4-FFF2-40B4-BE49-F238E27FC236}">
                <a16:creationId xmlns:a16="http://schemas.microsoft.com/office/drawing/2014/main" id="{34E94401-CFEB-4002-9F28-84BF595E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640" y="1645920"/>
            <a:ext cx="2871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rename/cast/standardize fields</a:t>
            </a:r>
          </a:p>
        </p:txBody>
      </p:sp>
      <p:sp>
        <p:nvSpPr>
          <p:cNvPr id="195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9ACDF20-C3A3-4B14-858D-97C07D1F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143000"/>
            <a:ext cx="320004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6" name="TextBox 9">
            <a:extLst xmlns:a="http://schemas.openxmlformats.org/drawingml/2006/main">
              <a:ext uri="{FF2B5EF4-FFF2-40B4-BE49-F238E27FC236}">
                <a16:creationId xmlns:a16="http://schemas.microsoft.com/office/drawing/2014/main" id="{658B056E-BEC3-4B21-B731-3C749DCA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25280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Join</a:t>
            </a:r>
          </a:p>
        </p:txBody>
      </p:sp>
      <p:sp>
        <p:nvSpPr>
          <p:cNvPr id="197" name="TextBox 10">
            <a:extLst xmlns:a="http://schemas.openxmlformats.org/drawingml/2006/main">
              <a:ext uri="{FF2B5EF4-FFF2-40B4-BE49-F238E27FC236}">
                <a16:creationId xmlns:a16="http://schemas.microsoft.com/office/drawing/2014/main" id="{22739D14-5916-4B81-826A-CFB9D619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680" y="1645920"/>
            <a:ext cx="2871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combine streams by key</a:t>
            </a:r>
          </a:p>
        </p:txBody>
      </p:sp>
      <p:sp>
        <p:nvSpPr>
          <p:cNvPr id="198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31B1637-A469-4454-9064-7302AAC4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320004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9" name="TextBox 12">
            <a:extLst xmlns:a="http://schemas.openxmlformats.org/drawingml/2006/main">
              <a:ext uri="{FF2B5EF4-FFF2-40B4-BE49-F238E27FC236}">
                <a16:creationId xmlns:a16="http://schemas.microsoft.com/office/drawing/2014/main" id="{4470E2D0-F895-4A9C-A234-BC4EC652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6156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Aggregate</a:t>
            </a:r>
          </a:p>
        </p:txBody>
      </p:sp>
      <p:sp>
        <p:nvSpPr>
          <p:cNvPr id="200" name="TextBox 13">
            <a:extLst xmlns:a="http://schemas.openxmlformats.org/drawingml/2006/main">
              <a:ext uri="{FF2B5EF4-FFF2-40B4-BE49-F238E27FC236}">
                <a16:creationId xmlns:a16="http://schemas.microsoft.com/office/drawing/2014/main" id="{F1E13CB1-1F00-446A-8589-8E54DD12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00" y="3154680"/>
            <a:ext cx="2871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summarize/group values</a:t>
            </a:r>
          </a:p>
        </p:txBody>
      </p:sp>
      <p:sp>
        <p:nvSpPr>
          <p:cNvPr id="201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153B045-5346-4FD2-803E-E2215193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651760"/>
            <a:ext cx="320004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02" name="TextBox 15">
            <a:extLst xmlns:a="http://schemas.openxmlformats.org/drawingml/2006/main">
              <a:ext uri="{FF2B5EF4-FFF2-40B4-BE49-F238E27FC236}">
                <a16:creationId xmlns:a16="http://schemas.microsoft.com/office/drawing/2014/main" id="{5FE324D3-D417-4BF2-8F43-4A3328BD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76156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Deduplicate</a:t>
            </a:r>
          </a:p>
        </p:txBody>
      </p:sp>
      <p:sp>
        <p:nvSpPr>
          <p:cNvPr id="203" name="TextBox 16">
            <a:extLst xmlns:a="http://schemas.openxmlformats.org/drawingml/2006/main">
              <a:ext uri="{FF2B5EF4-FFF2-40B4-BE49-F238E27FC236}">
                <a16:creationId xmlns:a16="http://schemas.microsoft.com/office/drawing/2014/main" id="{A459D22A-B10F-40A5-938B-51D817D2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640" y="3154680"/>
            <a:ext cx="2871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remove duplicate records</a:t>
            </a:r>
          </a:p>
        </p:txBody>
      </p:sp>
      <p:sp>
        <p:nvSpPr>
          <p:cNvPr id="204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CF4F423-9330-45AF-AC05-CC6B68FC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51760"/>
            <a:ext cx="3200040" cy="1096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05" name="TextBox 18">
            <a:extLst xmlns:a="http://schemas.openxmlformats.org/drawingml/2006/main">
              <a:ext uri="{FF2B5EF4-FFF2-40B4-BE49-F238E27FC236}">
                <a16:creationId xmlns:a16="http://schemas.microsoft.com/office/drawing/2014/main" id="{0E2AF720-0B34-4B76-918B-8E6F83FD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76156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206" name="TextBox 19">
            <a:extLst xmlns:a="http://schemas.openxmlformats.org/drawingml/2006/main">
              <a:ext uri="{FF2B5EF4-FFF2-40B4-BE49-F238E27FC236}">
                <a16:creationId xmlns:a16="http://schemas.microsoft.com/office/drawing/2014/main" id="{4B46098B-E6D2-4BFF-B66A-379B3A0B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680" y="3154680"/>
            <a:ext cx="2871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reject bad rows</a:t>
            </a:r>
          </a:p>
        </p:txBody>
      </p:sp>
      <p:sp>
        <p:nvSpPr>
          <p:cNvPr id="207" name="TextBox 20">
            <a:extLst xmlns:a="http://schemas.openxmlformats.org/drawingml/2006/main">
              <a:ext uri="{FF2B5EF4-FFF2-40B4-BE49-F238E27FC236}">
                <a16:creationId xmlns:a16="http://schemas.microsoft.com/office/drawing/2014/main" id="{8756B1DD-EA9D-4383-AA37-0F423AB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Sources: Microsoft Azure ETL guide; RudderStack data transformation guide</a:t>
            </a:r>
          </a:p>
        </p:txBody>
      </p:sp>
    </p:spTree>
    <p:extLst>
      <p:ext uri="{BB962C8B-B14F-4D97-AF65-F5344CB8AC3E}">
        <p14:creationId xmlns:p14="http://schemas.microsoft.com/office/powerpoint/2010/main" val="9235154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8" name="TextBox 1">
            <a:extLst xmlns:a="http://schemas.openxmlformats.org/drawingml/2006/main">
              <a:ext uri="{FF2B5EF4-FFF2-40B4-BE49-F238E27FC236}">
                <a16:creationId xmlns:a16="http://schemas.microsoft.com/office/drawing/2014/main" id="{E042B047-7728-4D91-9721-DAEAE088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Cleaning and Standardization</a:t>
            </a:r>
          </a:p>
        </p:txBody>
      </p:sp>
      <p:sp>
        <p:nvSpPr>
          <p:cNvPr id="209" name="TextBox 2">
            <a:extLst xmlns:a="http://schemas.openxmlformats.org/drawingml/2006/main">
              <a:ext uri="{FF2B5EF4-FFF2-40B4-BE49-F238E27FC236}">
                <a16:creationId xmlns:a16="http://schemas.microsoft.com/office/drawing/2014/main" id="{7A4C8C75-1E61-47DA-A689-D08594D8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42380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Standardize data types: dates, numbers, booleans and timestamps.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Normalize categorical values: country codes, product categories, status values.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Handle missing data: reject, impute or route to error path.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duplicates by selecting stable keys and sort order.</a:t>
            </a:r>
          </a:p>
        </p:txBody>
      </p:sp>
      <p:sp>
        <p:nvSpPr>
          <p:cNvPr id="210" name="TextBox 3">
            <a:extLst xmlns:a="http://schemas.openxmlformats.org/drawingml/2006/main">
              <a:ext uri="{FF2B5EF4-FFF2-40B4-BE49-F238E27FC236}">
                <a16:creationId xmlns:a16="http://schemas.microsoft.com/office/drawing/2014/main" id="{59D89C5A-F7ED-41EA-9FB3-DF51E5BD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RudderStack ETL data transformation guide</a:t>
            </a:r>
          </a:p>
        </p:txBody>
      </p:sp>
    </p:spTree>
    <p:extLst>
      <p:ext uri="{BB962C8B-B14F-4D97-AF65-F5344CB8AC3E}">
        <p14:creationId xmlns:p14="http://schemas.microsoft.com/office/powerpoint/2010/main" val="12491964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1" name="TextBox 1">
            <a:extLst xmlns:a="http://schemas.openxmlformats.org/drawingml/2006/main">
              <a:ext uri="{FF2B5EF4-FFF2-40B4-BE49-F238E27FC236}">
                <a16:creationId xmlns:a16="http://schemas.microsoft.com/office/drawing/2014/main" id="{717B81F8-BCB8-400E-B71E-6C9D054F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Useful Apache Hop Transforms</a:t>
            </a:r>
          </a:p>
        </p:txBody>
      </p:sp>
      <p:sp>
        <p:nvSpPr>
          <p:cNvPr id="212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F4E7F801-5D82-4FD7-8BE5-1C869ACE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69812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13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DFAE4-4887-4FEC-98BC-493A8DE8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069920"/>
            <a:ext cx="104238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Input</a:t>
            </a:r>
          </a:p>
        </p:txBody>
      </p:sp>
      <p:sp>
        <p:nvSpPr>
          <p:cNvPr id="214" name="TextBox 4">
            <a:extLst xmlns:a="http://schemas.openxmlformats.org/drawingml/2006/main">
              <a:ext uri="{FF2B5EF4-FFF2-40B4-BE49-F238E27FC236}">
                <a16:creationId xmlns:a16="http://schemas.microsoft.com/office/drawing/2014/main" id="{E4AB1FA3-411C-40A6-9D0C-0AB0E798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1463040"/>
            <a:ext cx="10369080" cy="9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Text File Input, Table Input, Kafka Consumer</a:t>
            </a:r>
          </a:p>
        </p:txBody>
      </p:sp>
      <p:sp>
        <p:nvSpPr>
          <p:cNvPr id="215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0F6A3D0-EEDE-4B58-9D2E-DB3DDBB4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74520"/>
            <a:ext cx="1069812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16" name="TextBox 6">
            <a:extLst xmlns:a="http://schemas.openxmlformats.org/drawingml/2006/main">
              <a:ext uri="{FF2B5EF4-FFF2-40B4-BE49-F238E27FC236}">
                <a16:creationId xmlns:a16="http://schemas.microsoft.com/office/drawing/2014/main" id="{577DB879-38DB-4550-B091-5A89A173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84320"/>
            <a:ext cx="104238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Processing</a:t>
            </a:r>
          </a:p>
        </p:txBody>
      </p:sp>
      <p:sp>
        <p:nvSpPr>
          <p:cNvPr id="217" name="TextBox 7">
            <a:extLst xmlns:a="http://schemas.openxmlformats.org/drawingml/2006/main">
              <a:ext uri="{FF2B5EF4-FFF2-40B4-BE49-F238E27FC236}">
                <a16:creationId xmlns:a16="http://schemas.microsoft.com/office/drawing/2014/main" id="{647D98FE-6B9E-41DC-97C3-44A58AD4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377440"/>
            <a:ext cx="10369080" cy="9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 Rows, Select Values, Formula, Calculator, Value Mapper</a:t>
            </a:r>
          </a:p>
        </p:txBody>
      </p:sp>
      <p:sp>
        <p:nvSpPr>
          <p:cNvPr id="218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F94491B-6AEC-4BD4-A598-43BA7EB1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069812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19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11107-1E69-42C4-9908-FADD7424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98720"/>
            <a:ext cx="104238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Integration</a:t>
            </a:r>
          </a:p>
        </p:txBody>
      </p:sp>
      <p:sp>
        <p:nvSpPr>
          <p:cNvPr id="22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9E4608F-3E05-48FF-83EE-840B569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10369080" cy="9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Merge Join, Database Lookup, Append Streams</a:t>
            </a:r>
          </a:p>
        </p:txBody>
      </p:sp>
      <p:sp>
        <p:nvSpPr>
          <p:cNvPr id="221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151496C-8DBA-4596-A569-B6ADA28E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03320"/>
            <a:ext cx="1069812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22" name="TextBox 12">
            <a:extLst xmlns:a="http://schemas.openxmlformats.org/drawingml/2006/main">
              <a:ext uri="{FF2B5EF4-FFF2-40B4-BE49-F238E27FC236}">
                <a16:creationId xmlns:a16="http://schemas.microsoft.com/office/drawing/2014/main" id="{FBA5E367-B6F6-46A6-AAFC-BAB65521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13120"/>
            <a:ext cx="104238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Quality</a:t>
            </a:r>
          </a:p>
        </p:txBody>
      </p:sp>
      <p:sp>
        <p:nvSpPr>
          <p:cNvPr id="223" name="TextBox 13">
            <a:extLst xmlns:a="http://schemas.openxmlformats.org/drawingml/2006/main">
              <a:ext uri="{FF2B5EF4-FFF2-40B4-BE49-F238E27FC236}">
                <a16:creationId xmlns:a16="http://schemas.microsoft.com/office/drawing/2014/main" id="{9F86BBFD-27A6-4AB6-A1F1-BED21C91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206240"/>
            <a:ext cx="10369080" cy="9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Validator, Sort Rows, Unique Rows, Error Handling</a:t>
            </a:r>
          </a:p>
        </p:txBody>
      </p:sp>
      <p:sp>
        <p:nvSpPr>
          <p:cNvPr id="224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C31E78E-4E85-47E0-AAA1-AFDDB228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10698120" cy="6854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25" name="TextBox 15">
            <a:extLst xmlns:a="http://schemas.openxmlformats.org/drawingml/2006/main">
              <a:ext uri="{FF2B5EF4-FFF2-40B4-BE49-F238E27FC236}">
                <a16:creationId xmlns:a16="http://schemas.microsoft.com/office/drawing/2014/main" id="{70D1ADA5-D36F-4023-A7A0-8A76A4F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520"/>
            <a:ext cx="104238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Output</a:t>
            </a:r>
          </a:p>
        </p:txBody>
      </p:sp>
      <p:sp>
        <p:nvSpPr>
          <p:cNvPr id="226" name="TextBox 16">
            <a:extLst xmlns:a="http://schemas.openxmlformats.org/drawingml/2006/main">
              <a:ext uri="{FF2B5EF4-FFF2-40B4-BE49-F238E27FC236}">
                <a16:creationId xmlns:a16="http://schemas.microsoft.com/office/drawing/2014/main" id="{FC26A7D0-5618-4558-B224-1173078B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5120640"/>
            <a:ext cx="10369080" cy="9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Text File Output, Table Output, Kafka Producer</a:t>
            </a:r>
          </a:p>
        </p:txBody>
      </p:sp>
      <p:sp>
        <p:nvSpPr>
          <p:cNvPr id="227" name="TextBox 17">
            <a:extLst xmlns:a="http://schemas.openxmlformats.org/drawingml/2006/main">
              <a:ext uri="{FF2B5EF4-FFF2-40B4-BE49-F238E27FC236}">
                <a16:creationId xmlns:a16="http://schemas.microsoft.com/office/drawing/2014/main" id="{46B0E3A4-BE33-42CD-B745-9C071AD7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transform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463336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8" name="TextBox 1">
            <a:extLst xmlns:a="http://schemas.openxmlformats.org/drawingml/2006/main">
              <a:ext uri="{FF2B5EF4-FFF2-40B4-BE49-F238E27FC236}">
                <a16:creationId xmlns:a16="http://schemas.microsoft.com/office/drawing/2014/main" id="{AAB73577-52C1-4ACE-BC9E-4265CF6B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Merge, Join and Append Patterns</a:t>
            </a:r>
          </a:p>
        </p:txBody>
      </p:sp>
      <p:sp>
        <p:nvSpPr>
          <p:cNvPr id="229" name="TextBox 2">
            <a:extLst xmlns:a="http://schemas.openxmlformats.org/drawingml/2006/main">
              <a:ext uri="{FF2B5EF4-FFF2-40B4-BE49-F238E27FC236}">
                <a16:creationId xmlns:a16="http://schemas.microsoft.com/office/drawing/2014/main" id="{6727A835-7A64-4490-BC19-ED8505FC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05840"/>
            <a:ext cx="6126120" cy="301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Append Streams combines two streams with identical structure.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Merge Join links two sorted data streams using common keys.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Database Lookup enriches each row by retrieving reference values.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Always validate field names, types and sort order before joining.</a:t>
            </a:r>
          </a:p>
        </p:txBody>
      </p:sp>
      <p:sp>
        <p:nvSpPr>
          <p:cNvPr id="230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1A6AD38-52C7-4216-8DB0-8D852607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31" name="TextBox 4">
            <a:extLst xmlns:a="http://schemas.openxmlformats.org/drawingml/2006/main">
              <a:ext uri="{FF2B5EF4-FFF2-40B4-BE49-F238E27FC236}">
                <a16:creationId xmlns:a16="http://schemas.microsoft.com/office/drawing/2014/main" id="{E232FB73-4D6D-4E08-87FB-781B6922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Orders</a:t>
            </a:r>
          </a:p>
        </p:txBody>
      </p:sp>
      <p:sp>
        <p:nvSpPr>
          <p:cNvPr id="232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32297140-0FE7-4E52-AB3B-76725822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33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039595F-3D87-43CD-A697-3DC6F5F2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34" name="TextBox 7">
            <a:extLst xmlns:a="http://schemas.openxmlformats.org/drawingml/2006/main">
              <a:ext uri="{FF2B5EF4-FFF2-40B4-BE49-F238E27FC236}">
                <a16:creationId xmlns:a16="http://schemas.microsoft.com/office/drawing/2014/main" id="{38FC9E58-C1A2-4532-9900-427235C7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28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Sort</a:t>
            </a:r>
          </a:p>
        </p:txBody>
      </p:sp>
      <p:sp>
        <p:nvSpPr>
          <p:cNvPr id="235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5004A79C-6EBE-43C1-8C99-4ED569FA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36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894CE88-4F45-4B32-8C02-59DA81A6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37" name="TextBox 10">
            <a:extLst xmlns:a="http://schemas.openxmlformats.org/drawingml/2006/main">
              <a:ext uri="{FF2B5EF4-FFF2-40B4-BE49-F238E27FC236}">
                <a16:creationId xmlns:a16="http://schemas.microsoft.com/office/drawing/2014/main" id="{78CDE825-D616-41BD-956A-DFCAC1C7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2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Merge Join</a:t>
            </a:r>
          </a:p>
        </p:txBody>
      </p:sp>
      <p:sp>
        <p:nvSpPr>
          <p:cNvPr id="238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37AAF5A6-384B-40CB-A611-D05ED1A2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39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A1629A9-24EE-4048-83B4-0B323684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40" name="TextBox 13">
            <a:extLst xmlns:a="http://schemas.openxmlformats.org/drawingml/2006/main">
              <a:ext uri="{FF2B5EF4-FFF2-40B4-BE49-F238E27FC236}">
                <a16:creationId xmlns:a16="http://schemas.microsoft.com/office/drawing/2014/main" id="{14382F81-533C-4BC1-822C-B0345255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76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Enriched Orders</a:t>
            </a:r>
          </a:p>
        </p:txBody>
      </p:sp>
      <p:sp>
        <p:nvSpPr>
          <p:cNvPr id="241" name="TextBox 14">
            <a:extLst xmlns:a="http://schemas.openxmlformats.org/drawingml/2006/main">
              <a:ext uri="{FF2B5EF4-FFF2-40B4-BE49-F238E27FC236}">
                <a16:creationId xmlns:a16="http://schemas.microsoft.com/office/drawing/2014/main" id="{A5FA9617-3249-4EB9-B2D1-B84AD011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and OpenSchoolMaps Apache Hop worksheet</a:t>
            </a:r>
          </a:p>
        </p:txBody>
      </p:sp>
    </p:spTree>
    <p:extLst>
      <p:ext uri="{BB962C8B-B14F-4D97-AF65-F5344CB8AC3E}">
        <p14:creationId xmlns:p14="http://schemas.microsoft.com/office/powerpoint/2010/main" val="11711347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2" name="TextBox 1">
            <a:extLst xmlns:a="http://schemas.openxmlformats.org/drawingml/2006/main">
              <a:ext uri="{FF2B5EF4-FFF2-40B4-BE49-F238E27FC236}">
                <a16:creationId xmlns:a16="http://schemas.microsoft.com/office/drawing/2014/main" id="{87717090-A5CF-4F74-AB08-06723008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Deduplication Pattern</a:t>
            </a:r>
          </a:p>
        </p:txBody>
      </p:sp>
      <p:sp>
        <p:nvSpPr>
          <p:cNvPr id="243" name="TextBox 2">
            <a:extLst xmlns:a="http://schemas.openxmlformats.org/drawingml/2006/main">
              <a:ext uri="{FF2B5EF4-FFF2-40B4-BE49-F238E27FC236}">
                <a16:creationId xmlns:a16="http://schemas.microsoft.com/office/drawing/2014/main" id="{017AB36D-ED66-413E-B17A-0F2C2DFF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69812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Sort by business key and by the column that defines “latest” or “best”.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 Unique Rows after sorting to keep one record per key.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For streaming, think carefully about late data and idempotency.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Store duplicate/error records for audit and troubleshooting.</a:t>
            </a:r>
          </a:p>
        </p:txBody>
      </p:sp>
      <p:sp>
        <p:nvSpPr>
          <p:cNvPr id="24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B42167-A149-4062-AE4B-E3C80C8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OpenSchoolMaps Apache Hop worksheet; Microsoft streaming reliability guidance</a:t>
            </a:r>
          </a:p>
        </p:txBody>
      </p:sp>
    </p:spTree>
    <p:extLst>
      <p:ext uri="{BB962C8B-B14F-4D97-AF65-F5344CB8AC3E}">
        <p14:creationId xmlns:p14="http://schemas.microsoft.com/office/powerpoint/2010/main" val="5293797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TextBox 1">
            <a:extLst xmlns:a="http://schemas.openxmlformats.org/drawingml/2006/main">
              <a:ext uri="{FF2B5EF4-FFF2-40B4-BE49-F238E27FC236}">
                <a16:creationId xmlns:a16="http://schemas.microsoft.com/office/drawing/2014/main" id="{C90B44C5-92D0-423F-A6D1-058984F9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Streaming Transformations with Kafka</a:t>
            </a:r>
          </a:p>
        </p:txBody>
      </p:sp>
      <p:sp>
        <p:nvSpPr>
          <p:cNvPr id="246" name="TextBox 2">
            <a:extLst xmlns:a="http://schemas.openxmlformats.org/drawingml/2006/main">
              <a:ext uri="{FF2B5EF4-FFF2-40B4-BE49-F238E27FC236}">
                <a16:creationId xmlns:a16="http://schemas.microsoft.com/office/drawing/2014/main" id="{44246377-CC6E-48AD-BA9E-C4546592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576036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Real-time streaming processes data as it arrives instead of waiting for scheduled batches.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Streaming transformations commonly filter, aggregate, enrich and join with reference data in motion.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Hop can consume from Kafka, process records in a sub-pipeline, and publish transformed messages back to Kafka.</a:t>
            </a:r>
          </a:p>
        </p:txBody>
      </p:sp>
      <p:sp>
        <p:nvSpPr>
          <p:cNvPr id="247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CD09E86-21E7-41C3-AA8F-4053D2A5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48" name="TextBox 4">
            <a:extLst xmlns:a="http://schemas.openxmlformats.org/drawingml/2006/main">
              <a:ext uri="{FF2B5EF4-FFF2-40B4-BE49-F238E27FC236}">
                <a16:creationId xmlns:a16="http://schemas.microsoft.com/office/drawing/2014/main" id="{F19F38A5-D8F9-41EA-A5D3-8AA98ACE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Topic</a:t>
            </a:r>
          </a:p>
        </p:txBody>
      </p:sp>
      <p:sp>
        <p:nvSpPr>
          <p:cNvPr id="249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22C966FE-C5E9-4C16-9251-7AFFD02C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0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E1DC009-2076-4177-B5C2-91AD82A6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1" name="TextBox 7">
            <a:extLst xmlns:a="http://schemas.openxmlformats.org/drawingml/2006/main">
              <a:ext uri="{FF2B5EF4-FFF2-40B4-BE49-F238E27FC236}">
                <a16:creationId xmlns:a16="http://schemas.microsoft.com/office/drawing/2014/main" id="{32885924-CA39-41E2-9FB3-D5919FA8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28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 Consumer</a:t>
            </a:r>
          </a:p>
        </p:txBody>
      </p:sp>
      <p:sp>
        <p:nvSpPr>
          <p:cNvPr id="252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69694733-FE46-4B61-9094-58D4DECF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3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E6AC716-A40D-467C-9833-D9671419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4" name="TextBox 10">
            <a:extLst xmlns:a="http://schemas.openxmlformats.org/drawingml/2006/main">
              <a:ext uri="{FF2B5EF4-FFF2-40B4-BE49-F238E27FC236}">
                <a16:creationId xmlns:a16="http://schemas.microsoft.com/office/drawing/2014/main" id="{92BE305E-5F11-4083-9F85-A79B6260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2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Sub-Pipeline</a:t>
            </a:r>
          </a:p>
        </p:txBody>
      </p:sp>
      <p:sp>
        <p:nvSpPr>
          <p:cNvPr id="255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89A185A2-F330-4069-AC85-F8046947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6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BF96A95-C83D-4566-B207-7537FAFD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7" name="TextBox 13">
            <a:extLst xmlns:a="http://schemas.openxmlformats.org/drawingml/2006/main">
              <a:ext uri="{FF2B5EF4-FFF2-40B4-BE49-F238E27FC236}">
                <a16:creationId xmlns:a16="http://schemas.microsoft.com/office/drawing/2014/main" id="{53D313C2-5EBA-446C-8AF9-B1DE2EE6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76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 Producer</a:t>
            </a:r>
          </a:p>
        </p:txBody>
      </p:sp>
      <p:sp>
        <p:nvSpPr>
          <p:cNvPr id="258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162D6E4F-6BFD-4D52-9FED-EECE591E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66344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59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6506BA7-17F7-46D9-9157-23ED04F0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48056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60" name="TextBox 16">
            <a:extLst xmlns:a="http://schemas.openxmlformats.org/drawingml/2006/main">
              <a:ext uri="{FF2B5EF4-FFF2-40B4-BE49-F238E27FC236}">
                <a16:creationId xmlns:a16="http://schemas.microsoft.com/office/drawing/2014/main" id="{49F534F9-4F7F-4214-8B90-478C636F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00" y="464508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 Topic</a:t>
            </a:r>
          </a:p>
        </p:txBody>
      </p:sp>
      <p:sp>
        <p:nvSpPr>
          <p:cNvPr id="261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712423-5085-4DA2-84BA-1AAA8700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Sources: Microsoft streaming architecture guidance; Apache Hop Kafka Consumer/Producer docs</a:t>
            </a:r>
          </a:p>
        </p:txBody>
      </p:sp>
    </p:spTree>
    <p:extLst>
      <p:ext uri="{BB962C8B-B14F-4D97-AF65-F5344CB8AC3E}">
        <p14:creationId xmlns:p14="http://schemas.microsoft.com/office/powerpoint/2010/main" val="1267095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B548D0-F2D3-41BC-AA22-6D79C839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Kafka Consumer Transform</a:t>
            </a:r>
          </a:p>
        </p:txBody>
      </p:sp>
      <p:sp>
        <p:nvSpPr>
          <p:cNvPr id="263" name="TextBox 2">
            <a:extLst xmlns:a="http://schemas.openxmlformats.org/drawingml/2006/main">
              <a:ext uri="{FF2B5EF4-FFF2-40B4-BE49-F238E27FC236}">
                <a16:creationId xmlns:a16="http://schemas.microsoft.com/office/drawing/2014/main" id="{95BA60C6-3943-419B-B199-1D70ED0D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42380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Pulls streaming data from Kafka topics.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Runs a sub-pipeline according to message batch size or duration.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The sub-pipeline must start with an Injector transform.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Offsets can be committed when records are read or when the batch completes.</a:t>
            </a:r>
          </a:p>
        </p:txBody>
      </p:sp>
      <p:sp>
        <p:nvSpPr>
          <p:cNvPr id="26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03B139-7B4A-46BC-B9BB-4F7A3188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Kafka Consumer transform documentation</a:t>
            </a:r>
          </a:p>
        </p:txBody>
      </p:sp>
    </p:spTree>
    <p:extLst>
      <p:ext uri="{BB962C8B-B14F-4D97-AF65-F5344CB8AC3E}">
        <p14:creationId xmlns:p14="http://schemas.microsoft.com/office/powerpoint/2010/main" val="6401975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5" name="TextBox 1">
            <a:extLst xmlns:a="http://schemas.openxmlformats.org/drawingml/2006/main">
              <a:ext uri="{FF2B5EF4-FFF2-40B4-BE49-F238E27FC236}">
                <a16:creationId xmlns:a16="http://schemas.microsoft.com/office/drawing/2014/main" id="{20D6B000-149E-46AE-AD8B-0ADB1659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Kafka Producer Transform</a:t>
            </a:r>
          </a:p>
        </p:txBody>
      </p:sp>
      <p:sp>
        <p:nvSpPr>
          <p:cNvPr id="266" name="TextBox 2">
            <a:extLst xmlns:a="http://schemas.openxmlformats.org/drawingml/2006/main">
              <a:ext uri="{FF2B5EF4-FFF2-40B4-BE49-F238E27FC236}">
                <a16:creationId xmlns:a16="http://schemas.microsoft.com/office/drawing/2014/main" id="{FCE9D424-5CD4-4DAE-B354-BCA927FF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42380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Publishes a stream of records to one Kafka topic.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Configure bootstrap servers, client ID, topic, key field and message field.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Key fields influence partition assignment.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Avro publishing requires schema registry configuration.</a:t>
            </a:r>
          </a:p>
        </p:txBody>
      </p:sp>
      <p:sp>
        <p:nvSpPr>
          <p:cNvPr id="267" name="TextBox 3">
            <a:extLst xmlns:a="http://schemas.openxmlformats.org/drawingml/2006/main">
              <a:ext uri="{FF2B5EF4-FFF2-40B4-BE49-F238E27FC236}">
                <a16:creationId xmlns:a16="http://schemas.microsoft.com/office/drawing/2014/main" id="{6E8675E0-7EAD-4529-97C5-B55547AB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Apache Hop Kafka Producer transform documentation</a:t>
            </a:r>
          </a:p>
        </p:txBody>
      </p:sp>
    </p:spTree>
    <p:extLst>
      <p:ext uri="{BB962C8B-B14F-4D97-AF65-F5344CB8AC3E}">
        <p14:creationId xmlns:p14="http://schemas.microsoft.com/office/powerpoint/2010/main" val="17681647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" name="TextBox 1">
            <a:extLst xmlns:a="http://schemas.openxmlformats.org/drawingml/2006/main">
              <a:ext uri="{FF2B5EF4-FFF2-40B4-BE49-F238E27FC236}">
                <a16:creationId xmlns:a16="http://schemas.microsoft.com/office/drawing/2014/main" id="{DFE7AE40-EEB5-4EAB-B58E-B6ADE47F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Streaming Design Choices</a:t>
            </a:r>
          </a:p>
        </p:txBody>
      </p:sp>
      <p:sp>
        <p:nvSpPr>
          <p:cNvPr id="269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5F36D058-5FC3-47D1-AEAB-0D9580F8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3474360" cy="1279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70" name="TextBox 3">
            <a:extLst xmlns:a="http://schemas.openxmlformats.org/drawingml/2006/main">
              <a:ext uri="{FF2B5EF4-FFF2-40B4-BE49-F238E27FC236}">
                <a16:creationId xmlns:a16="http://schemas.microsoft.com/office/drawing/2014/main" id="{E44A1190-F978-4C5E-897C-1661B507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07080"/>
            <a:ext cx="3200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Batch Size</a:t>
            </a:r>
          </a:p>
        </p:txBody>
      </p:sp>
      <p:sp>
        <p:nvSpPr>
          <p:cNvPr id="271" name="TextBox 4">
            <a:extLst xmlns:a="http://schemas.openxmlformats.org/drawingml/2006/main">
              <a:ext uri="{FF2B5EF4-FFF2-40B4-BE49-F238E27FC236}">
                <a16:creationId xmlns:a16="http://schemas.microsoft.com/office/drawing/2014/main" id="{A8C93CC2-CAFD-4FDD-AA26-F4E473E2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1600200"/>
            <a:ext cx="31453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Larger batches improve throughput; smaller batches reduce latency.</a:t>
            </a:r>
          </a:p>
        </p:txBody>
      </p:sp>
      <p:sp>
        <p:nvSpPr>
          <p:cNvPr id="272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8BC689B-4AF8-4633-B0E7-80C2E10B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097280"/>
            <a:ext cx="3474360" cy="1279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73" name="TextBox 6">
            <a:extLst xmlns:a="http://schemas.openxmlformats.org/drawingml/2006/main">
              <a:ext uri="{FF2B5EF4-FFF2-40B4-BE49-F238E27FC236}">
                <a16:creationId xmlns:a16="http://schemas.microsoft.com/office/drawing/2014/main" id="{706798BB-569C-4143-9D1B-75A871A3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07080"/>
            <a:ext cx="3200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 Timing</a:t>
            </a:r>
          </a:p>
        </p:txBody>
      </p:sp>
      <p:sp>
        <p:nvSpPr>
          <p:cNvPr id="274" name="TextBox 7">
            <a:extLst xmlns:a="http://schemas.openxmlformats.org/drawingml/2006/main">
              <a:ext uri="{FF2B5EF4-FFF2-40B4-BE49-F238E27FC236}">
                <a16:creationId xmlns:a16="http://schemas.microsoft.com/office/drawing/2014/main" id="{F63ED7A8-1BAC-4D40-B521-335AB187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080" y="1600200"/>
            <a:ext cx="31453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 after processing to reduce loss risk, but expect possible duplicates.</a:t>
            </a:r>
          </a:p>
        </p:txBody>
      </p:sp>
      <p:sp>
        <p:nvSpPr>
          <p:cNvPr id="275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FD1C968-AF45-4FD8-BD4B-0E5AA551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097280"/>
            <a:ext cx="3474360" cy="1279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76" name="TextBox 9">
            <a:extLst xmlns:a="http://schemas.openxmlformats.org/drawingml/2006/main">
              <a:ext uri="{FF2B5EF4-FFF2-40B4-BE49-F238E27FC236}">
                <a16:creationId xmlns:a16="http://schemas.microsoft.com/office/drawing/2014/main" id="{D8D3E627-8B2F-4309-B91D-FAB1753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207080"/>
            <a:ext cx="3200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Error Path</a:t>
            </a:r>
          </a:p>
        </p:txBody>
      </p:sp>
      <p:sp>
        <p:nvSpPr>
          <p:cNvPr id="277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3D2B07-13CD-4ECF-A54B-D480DBE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20" y="1600200"/>
            <a:ext cx="314532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Route bad records to a DLQ/error table for investigation.</a:t>
            </a:r>
          </a:p>
        </p:txBody>
      </p:sp>
      <p:sp>
        <p:nvSpPr>
          <p:cNvPr id="278" name="TextBox 11">
            <a:extLst xmlns:a="http://schemas.openxmlformats.org/drawingml/2006/main">
              <a:ext uri="{FF2B5EF4-FFF2-40B4-BE49-F238E27FC236}">
                <a16:creationId xmlns:a16="http://schemas.microsoft.com/office/drawing/2014/main" id="{FD67C53E-9E45-4DBF-B858-757DD284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08960"/>
            <a:ext cx="10515240" cy="137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Design transformations to be idempotent: reprocessing should not corrupt the target.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Monitor consumer lag and processing throughput.</a:t>
            </a:r>
          </a:p>
        </p:txBody>
      </p:sp>
      <p:sp>
        <p:nvSpPr>
          <p:cNvPr id="279" name="TextBox 12">
            <a:extLst xmlns:a="http://schemas.openxmlformats.org/drawingml/2006/main">
              <a:ext uri="{FF2B5EF4-FFF2-40B4-BE49-F238E27FC236}">
                <a16:creationId xmlns:a16="http://schemas.microsoft.com/office/drawing/2014/main" id="{D3BD474B-B1EC-4437-ABC9-BE80B88E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Sources: Apache Hop Kafka Consumer docs; Microsoft streaming reliability guidance</a:t>
            </a:r>
          </a:p>
        </p:txBody>
      </p:sp>
    </p:spTree>
    <p:extLst>
      <p:ext uri="{BB962C8B-B14F-4D97-AF65-F5344CB8AC3E}">
        <p14:creationId xmlns:p14="http://schemas.microsoft.com/office/powerpoint/2010/main" val="24129594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0" name="TextBox 1">
            <a:extLst xmlns:a="http://schemas.openxmlformats.org/drawingml/2006/main">
              <a:ext uri="{FF2B5EF4-FFF2-40B4-BE49-F238E27FC236}">
                <a16:creationId xmlns:a16="http://schemas.microsoft.com/office/drawing/2014/main" id="{D3892B31-067F-4467-BB9B-D395A649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How Day 6 Fits the Medallion Pipeline</a:t>
            </a:r>
          </a:p>
        </p:txBody>
      </p:sp>
      <p:sp>
        <p:nvSpPr>
          <p:cNvPr id="281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9451CED7-536B-4DBA-8868-2A3104FD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6032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82" name="TextBox 3">
            <a:extLst xmlns:a="http://schemas.openxmlformats.org/drawingml/2006/main">
              <a:ext uri="{FF2B5EF4-FFF2-40B4-BE49-F238E27FC236}">
                <a16:creationId xmlns:a16="http://schemas.microsoft.com/office/drawing/2014/main" id="{A6E96AFE-09AD-4C15-8406-799B1FE7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00" y="272484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Raw CDC</a:t>
            </a:r>
          </a:p>
        </p:txBody>
      </p:sp>
      <p:sp>
        <p:nvSpPr>
          <p:cNvPr id="283" name="Right Arrow 4">
            <a:extLst xmlns:a="http://schemas.openxmlformats.org/drawingml/2006/main">
              <a:ext uri="{FF2B5EF4-FFF2-40B4-BE49-F238E27FC236}">
                <a16:creationId xmlns:a16="http://schemas.microsoft.com/office/drawing/2014/main" id="{7400B6C5-513D-4464-8319-34499DFF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74320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84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0F67C67-5F14-478E-9F1E-7E2C55B5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56032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85" name="TextBox 6">
            <a:extLst xmlns:a="http://schemas.openxmlformats.org/drawingml/2006/main">
              <a:ext uri="{FF2B5EF4-FFF2-40B4-BE49-F238E27FC236}">
                <a16:creationId xmlns:a16="http://schemas.microsoft.com/office/drawing/2014/main" id="{23CA66BA-8656-47B4-84FB-8BC9E372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840" y="272484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Bronze Kafka</a:t>
            </a:r>
          </a:p>
        </p:txBody>
      </p:sp>
      <p:sp>
        <p:nvSpPr>
          <p:cNvPr id="286" name="Right Arrow 7">
            <a:extLst xmlns:a="http://schemas.openxmlformats.org/drawingml/2006/main">
              <a:ext uri="{FF2B5EF4-FFF2-40B4-BE49-F238E27FC236}">
                <a16:creationId xmlns:a16="http://schemas.microsoft.com/office/drawing/2014/main" id="{EDFD9632-3BEB-4640-B2FC-C2B6E112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4320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87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6BD2E15-359C-4FBD-A3CA-79A0BBCA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032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88" name="TextBox 9">
            <a:extLst xmlns:a="http://schemas.openxmlformats.org/drawingml/2006/main">
              <a:ext uri="{FF2B5EF4-FFF2-40B4-BE49-F238E27FC236}">
                <a16:creationId xmlns:a16="http://schemas.microsoft.com/office/drawing/2014/main" id="{9B20FBC3-49DF-4BCE-ABCE-7390B3B6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080" y="272484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 Transform</a:t>
            </a:r>
          </a:p>
        </p:txBody>
      </p:sp>
      <p:sp>
        <p:nvSpPr>
          <p:cNvPr id="289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3C9E21D8-523E-48C1-93D2-5F44070D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74320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90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0A2889D-7128-43D5-A6FE-3B4DDCF2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6032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91" name="TextBox 12">
            <a:extLst xmlns:a="http://schemas.openxmlformats.org/drawingml/2006/main">
              <a:ext uri="{FF2B5EF4-FFF2-40B4-BE49-F238E27FC236}">
                <a16:creationId xmlns:a16="http://schemas.microsoft.com/office/drawing/2014/main" id="{9300DD7E-EDE0-4499-8D87-411FB36E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20" y="272484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Silver Clean</a:t>
            </a:r>
          </a:p>
        </p:txBody>
      </p:sp>
      <p:sp>
        <p:nvSpPr>
          <p:cNvPr id="292" name="Right Arrow 13">
            <a:extLst xmlns:a="http://schemas.openxmlformats.org/drawingml/2006/main">
              <a:ext uri="{FF2B5EF4-FFF2-40B4-BE49-F238E27FC236}">
                <a16:creationId xmlns:a16="http://schemas.microsoft.com/office/drawing/2014/main" id="{C57C600E-F5FE-4DAE-A672-376A351E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743200"/>
            <a:ext cx="31968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93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6BA3E60-7AFB-4E20-A07A-C96E697C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56032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294" name="TextBox 15">
            <a:extLst xmlns:a="http://schemas.openxmlformats.org/drawingml/2006/main">
              <a:ext uri="{FF2B5EF4-FFF2-40B4-BE49-F238E27FC236}">
                <a16:creationId xmlns:a16="http://schemas.microsoft.com/office/drawing/2014/main" id="{C96633ED-B2C2-4D11-8182-94DEA0CF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560" y="272484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Gold Analytics</a:t>
            </a:r>
          </a:p>
        </p:txBody>
      </p:sp>
      <p:sp>
        <p:nvSpPr>
          <p:cNvPr id="295" name="TextBox 16">
            <a:extLst xmlns:a="http://schemas.openxmlformats.org/drawingml/2006/main">
              <a:ext uri="{FF2B5EF4-FFF2-40B4-BE49-F238E27FC236}">
                <a16:creationId xmlns:a16="http://schemas.microsoft.com/office/drawing/2014/main" id="{136E81A2-41E3-4AFF-A7E7-6BE6F353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31920"/>
            <a:ext cx="10606680" cy="127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Day 6 focuses on Bronze to Silver responsibilities: cleaning, standardization, validation, deduplication and enrichment. Save the transformed outputs and error path as evidence. Day 7 will place them into the full Bronze/Silver/Gold architecture.</a:t>
            </a:r>
          </a:p>
        </p:txBody>
      </p:sp>
      <p:sp>
        <p:nvSpPr>
          <p:cNvPr id="296" name="TextBox 17">
            <a:extLst xmlns:a="http://schemas.openxmlformats.org/drawingml/2006/main">
              <a:ext uri="{FF2B5EF4-FFF2-40B4-BE49-F238E27FC236}">
                <a16:creationId xmlns:a16="http://schemas.microsoft.com/office/drawing/2014/main" id="{F3EB3D5C-7479-4F00-8EB8-06EA20D7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Source: Course context – Medallion pipeline syllabus</a:t>
            </a:r>
          </a:p>
        </p:txBody>
      </p:sp>
    </p:spTree>
    <p:extLst>
      <p:ext uri="{BB962C8B-B14F-4D97-AF65-F5344CB8AC3E}">
        <p14:creationId xmlns:p14="http://schemas.microsoft.com/office/powerpoint/2010/main" val="141340252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7" name="TextBox 1">
            <a:extLst xmlns:a="http://schemas.openxmlformats.org/drawingml/2006/main">
              <a:ext uri="{FF2B5EF4-FFF2-40B4-BE49-F238E27FC236}">
                <a16:creationId xmlns:a16="http://schemas.microsoft.com/office/drawing/2014/main" id="{F9206CF0-9B84-46F9-B082-193B0142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Hands-On Lab Overview</a:t>
            </a:r>
          </a:p>
        </p:txBody>
      </p:sp>
      <p:sp>
        <p:nvSpPr>
          <p:cNvPr id="298" name="TextBox 2">
            <a:extLst xmlns:a="http://schemas.openxmlformats.org/drawingml/2006/main">
              <a:ext uri="{FF2B5EF4-FFF2-40B4-BE49-F238E27FC236}">
                <a16:creationId xmlns:a16="http://schemas.microsoft.com/office/drawing/2014/main" id="{7A61945D-2ACA-428C-9EF9-6944A037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60668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1: create a Hop batch CSV cleaning pipeline in Hop GUI.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2: create an enrichment pipeline using orders, customers and products.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3: start Kafka, run the provided producer, then create Kafka Consumer/Producer transforms in Hop.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4: create a Hop workflow that runs pipelines and handles failure.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Provided files seed the lab; learners create and save the Hop pipeline/workflow artifacts.</a:t>
            </a:r>
          </a:p>
        </p:txBody>
      </p:sp>
      <p:sp>
        <p:nvSpPr>
          <p:cNvPr id="299" name="TextBox 3">
            <a:extLst xmlns:a="http://schemas.openxmlformats.org/drawingml/2006/main">
              <a:ext uri="{FF2B5EF4-FFF2-40B4-BE49-F238E27FC236}">
                <a16:creationId xmlns:a16="http://schemas.microsoft.com/office/drawing/2014/main" id="{DCC1E69E-AC06-4AF9-A981-67BBC792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46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646464"/>
                </a:solidFill>
                <a:latin typeface="Calibri"/>
                <a:ea typeface="Calibri"/>
                <a:cs typeface="Calibri"/>
              </a:rPr>
              <a:t>Lab files included in this package</a:t>
            </a:r>
          </a:p>
        </p:txBody>
      </p:sp>
    </p:spTree>
    <p:extLst>
      <p:ext uri="{BB962C8B-B14F-4D97-AF65-F5344CB8AC3E}">
        <p14:creationId xmlns:p14="http://schemas.microsoft.com/office/powerpoint/2010/main" val="202923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TextBox 1">
            <a:extLst xmlns:a="http://schemas.openxmlformats.org/drawingml/2006/main">
              <a:ext uri="{FF2B5EF4-FFF2-40B4-BE49-F238E27FC236}">
                <a16:creationId xmlns:a16="http://schemas.microsoft.com/office/drawing/2014/main" id="{D626E2D9-27D8-4857-831E-2943DF87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Lab Pipeline Design</a:t>
            </a:r>
          </a:p>
        </p:txBody>
      </p:sp>
      <p:sp>
        <p:nvSpPr>
          <p:cNvPr id="301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41FC067-B11A-48C9-9B63-B261123E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02" name="TextBox 3">
            <a:extLst xmlns:a="http://schemas.openxmlformats.org/drawingml/2006/main">
              <a:ext uri="{FF2B5EF4-FFF2-40B4-BE49-F238E27FC236}">
                <a16:creationId xmlns:a16="http://schemas.microsoft.com/office/drawing/2014/main" id="{172DEC98-6497-4508-863C-997EE021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84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orders.cdc</a:t>
            </a:r>
          </a:p>
        </p:txBody>
      </p:sp>
      <p:sp>
        <p:nvSpPr>
          <p:cNvPr id="303" name="Right Arrow 4">
            <a:extLst xmlns:a="http://schemas.openxmlformats.org/drawingml/2006/main">
              <a:ext uri="{FF2B5EF4-FFF2-40B4-BE49-F238E27FC236}">
                <a16:creationId xmlns:a16="http://schemas.microsoft.com/office/drawing/2014/main" id="{2EE6C4FB-A7E6-4844-8F7B-7620CF54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194560"/>
            <a:ext cx="18252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04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A193BCC-9854-463E-B22D-C221CECE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05" name="TextBox 6">
            <a:extLst xmlns:a="http://schemas.openxmlformats.org/drawingml/2006/main">
              <a:ext uri="{FF2B5EF4-FFF2-40B4-BE49-F238E27FC236}">
                <a16:creationId xmlns:a16="http://schemas.microsoft.com/office/drawing/2014/main" id="{D87AC021-861A-4DE2-BD72-F6556AA2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2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 Consumer</a:t>
            </a:r>
          </a:p>
        </p:txBody>
      </p:sp>
      <p:sp>
        <p:nvSpPr>
          <p:cNvPr id="306" name="Right Arrow 7">
            <a:extLst xmlns:a="http://schemas.openxmlformats.org/drawingml/2006/main">
              <a:ext uri="{FF2B5EF4-FFF2-40B4-BE49-F238E27FC236}">
                <a16:creationId xmlns:a16="http://schemas.microsoft.com/office/drawing/2014/main" id="{D274915E-4039-472C-BFB5-D8B95302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194560"/>
            <a:ext cx="18252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07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21F9CF5-8AD3-4080-8DE8-02E3EF41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08" name="TextBox 9">
            <a:extLst xmlns:a="http://schemas.openxmlformats.org/drawingml/2006/main">
              <a:ext uri="{FF2B5EF4-FFF2-40B4-BE49-F238E27FC236}">
                <a16:creationId xmlns:a16="http://schemas.microsoft.com/office/drawing/2014/main" id="{753C26A1-72C6-499D-9AEC-920572B6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 NEW</a:t>
            </a:r>
          </a:p>
        </p:txBody>
      </p:sp>
      <p:sp>
        <p:nvSpPr>
          <p:cNvPr id="309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5066E5D-B4D7-4C13-8E52-92B26220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194560"/>
            <a:ext cx="18252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0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6938610-3862-41E5-B9C0-042579FC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1" name="TextBox 12">
            <a:extLst xmlns:a="http://schemas.openxmlformats.org/drawingml/2006/main">
              <a:ext uri="{FF2B5EF4-FFF2-40B4-BE49-F238E27FC236}">
                <a16:creationId xmlns:a16="http://schemas.microsoft.com/office/drawing/2014/main" id="{B379F678-A877-4E3A-9E50-F672D004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08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Lookup Product</a:t>
            </a:r>
          </a:p>
        </p:txBody>
      </p:sp>
      <p:sp>
        <p:nvSpPr>
          <p:cNvPr id="312" name="Right Arrow 13">
            <a:extLst xmlns:a="http://schemas.openxmlformats.org/drawingml/2006/main">
              <a:ext uri="{FF2B5EF4-FFF2-40B4-BE49-F238E27FC236}">
                <a16:creationId xmlns:a16="http://schemas.microsoft.com/office/drawing/2014/main" id="{502CE2CD-BD78-4FB8-A539-226C40FB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94560"/>
            <a:ext cx="18252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3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6C670FC-0C2D-494E-A2F8-00FBCFEF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4" name="TextBox 15">
            <a:extLst xmlns:a="http://schemas.openxmlformats.org/drawingml/2006/main">
              <a:ext uri="{FF2B5EF4-FFF2-40B4-BE49-F238E27FC236}">
                <a16:creationId xmlns:a16="http://schemas.microsoft.com/office/drawing/2014/main" id="{F9961B20-7416-4D05-B412-E439A2AE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16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Deduplicate</a:t>
            </a:r>
          </a:p>
        </p:txBody>
      </p:sp>
      <p:sp>
        <p:nvSpPr>
          <p:cNvPr id="315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40B86F60-B842-4A43-9B42-4847BB3F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194560"/>
            <a:ext cx="18252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6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54BA7BE-522C-45BE-9AD2-6D63CCD5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>
            <a:solidFill>
              <a:srgbClr val="0077B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7" name="TextBox 18">
            <a:extLst xmlns:a="http://schemas.openxmlformats.org/drawingml/2006/main">
              <a:ext uri="{FF2B5EF4-FFF2-40B4-BE49-F238E27FC236}">
                <a16:creationId xmlns:a16="http://schemas.microsoft.com/office/drawing/2014/main" id="{2B9F3FC4-3299-40F1-92C4-35BC571D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24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 Producer</a:t>
            </a:r>
          </a:p>
        </p:txBody>
      </p:sp>
      <p:sp>
        <p:nvSpPr>
          <p:cNvPr id="318" name="Right Arrow 19">
            <a:extLst xmlns:a="http://schemas.openxmlformats.org/drawingml/2006/main">
              <a:ext uri="{FF2B5EF4-FFF2-40B4-BE49-F238E27FC236}">
                <a16:creationId xmlns:a16="http://schemas.microsoft.com/office/drawing/2014/main" id="{F9DA2AB4-913A-4707-A904-2E897859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194560"/>
            <a:ext cx="18252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19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A538972-C78B-4999-9120-07849085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011680"/>
            <a:ext cx="1416960" cy="594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320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E0D804-B6EF-46F7-967B-5697B62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7320" y="2176200"/>
            <a:ext cx="1270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orders.cleaned</a:t>
            </a:r>
          </a:p>
        </p:txBody>
      </p:sp>
      <p:sp>
        <p:nvSpPr>
          <p:cNvPr id="321" name="TextBox 22">
            <a:extLst xmlns:a="http://schemas.openxmlformats.org/drawingml/2006/main">
              <a:ext uri="{FF2B5EF4-FFF2-40B4-BE49-F238E27FC236}">
                <a16:creationId xmlns:a16="http://schemas.microsoft.com/office/drawing/2014/main" id="{74C2FDA3-84C6-441E-924C-01F21EB0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10515240" cy="161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Key transforms: Kafka Consumer, Filter Rows, Select Values/Formula, lookup/join, Unique Rows and Kafka Producer.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Evidence to submit: saved Hop pipeline, screenshot of running pipeline, clean topic output and invalid-record handling decision.</a:t>
            </a:r>
          </a:p>
        </p:txBody>
      </p:sp>
    </p:spTree>
    <p:extLst>
      <p:ext uri="{BB962C8B-B14F-4D97-AF65-F5344CB8AC3E}">
        <p14:creationId xmlns:p14="http://schemas.microsoft.com/office/powerpoint/2010/main" val="131016811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1E83B7-952D-42F1-9EC0-80A05FAF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1: Pipeline or Workflow?</a:t>
            </a:r>
          </a:p>
        </p:txBody>
      </p:sp>
      <p:sp>
        <p:nvSpPr>
          <p:cNvPr id="32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140666-10B9-4C14-9167-E1236509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280160"/>
            <a:ext cx="10423800" cy="219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Classify each task: load CSV, filter bad rows, archive processed file, send success email, aggregate totals, run nightly job.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Discuss why pipelines are data flow and workflows are control flow.</a:t>
            </a:r>
          </a:p>
        </p:txBody>
      </p:sp>
    </p:spTree>
    <p:extLst>
      <p:ext uri="{BB962C8B-B14F-4D97-AF65-F5344CB8AC3E}">
        <p14:creationId xmlns:p14="http://schemas.microsoft.com/office/powerpoint/2010/main" val="30879839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4" name="TextBox 1">
            <a:extLst xmlns:a="http://schemas.openxmlformats.org/drawingml/2006/main">
              <a:ext uri="{FF2B5EF4-FFF2-40B4-BE49-F238E27FC236}">
                <a16:creationId xmlns:a16="http://schemas.microsoft.com/office/drawing/2014/main" id="{FD51B23A-37D8-4794-9A67-DE1025C3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2: Transform Type Matching</a:t>
            </a:r>
          </a:p>
        </p:txBody>
      </p:sp>
      <p:sp>
        <p:nvSpPr>
          <p:cNvPr id="325" name="TextBox 2">
            <a:extLst xmlns:a="http://schemas.openxmlformats.org/drawingml/2006/main">
              <a:ext uri="{FF2B5EF4-FFF2-40B4-BE49-F238E27FC236}">
                <a16:creationId xmlns:a16="http://schemas.microsoft.com/office/drawing/2014/main" id="{9F602600-CAE0-4A07-8B6C-CA43ACDF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97280"/>
            <a:ext cx="1024092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Convert text date to timestamp → 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Sum sales by region → 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rows where email is null → 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Join customer and order tables → 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duplicate order events → ?</a:t>
            </a:r>
          </a:p>
        </p:txBody>
      </p:sp>
    </p:spTree>
    <p:extLst>
      <p:ext uri="{BB962C8B-B14F-4D97-AF65-F5344CB8AC3E}">
        <p14:creationId xmlns:p14="http://schemas.microsoft.com/office/powerpoint/2010/main" val="80933090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6" name="TextBox 1">
            <a:extLst xmlns:a="http://schemas.openxmlformats.org/drawingml/2006/main">
              <a:ext uri="{FF2B5EF4-FFF2-40B4-BE49-F238E27FC236}">
                <a16:creationId xmlns:a16="http://schemas.microsoft.com/office/drawing/2014/main" id="{AAD36EF1-1DDE-44D0-ABCD-715DBB6B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3: Streaming Pipeline Design</a:t>
            </a:r>
          </a:p>
        </p:txBody>
      </p:sp>
      <p:sp>
        <p:nvSpPr>
          <p:cNvPr id="327" name="TextBox 2">
            <a:extLst xmlns:a="http://schemas.openxmlformats.org/drawingml/2006/main">
              <a:ext uri="{FF2B5EF4-FFF2-40B4-BE49-F238E27FC236}">
                <a16:creationId xmlns:a16="http://schemas.microsoft.com/office/drawing/2014/main" id="{0BB0340A-08D3-4EDD-8826-6C91D309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97280"/>
            <a:ext cx="1042380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Design a pipeline for inventory reorder alerts.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Input topic: inventory.cdc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Filter where stock &lt; threshold.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Join supplier master data.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Publish to inventory.reorder and notify operations.</a:t>
            </a:r>
          </a:p>
        </p:txBody>
      </p:sp>
    </p:spTree>
    <p:extLst>
      <p:ext uri="{BB962C8B-B14F-4D97-AF65-F5344CB8AC3E}">
        <p14:creationId xmlns:p14="http://schemas.microsoft.com/office/powerpoint/2010/main" val="20544316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8" name="TextBox 1">
            <a:extLst xmlns:a="http://schemas.openxmlformats.org/drawingml/2006/main">
              <a:ext uri="{FF2B5EF4-FFF2-40B4-BE49-F238E27FC236}">
                <a16:creationId xmlns:a16="http://schemas.microsoft.com/office/drawing/2014/main" id="{70E9C67B-D7B6-4D8A-8BE5-B6AD9D5D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4: Troubleshooting</a:t>
            </a:r>
          </a:p>
        </p:txBody>
      </p:sp>
      <p:sp>
        <p:nvSpPr>
          <p:cNvPr id="329" name="TextBox 2">
            <a:extLst xmlns:a="http://schemas.openxmlformats.org/drawingml/2006/main">
              <a:ext uri="{FF2B5EF4-FFF2-40B4-BE49-F238E27FC236}">
                <a16:creationId xmlns:a16="http://schemas.microsoft.com/office/drawing/2014/main" id="{F2678A14-5FE6-4031-91A2-5A16B18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698120" cy="338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Kafka messages are not being consumed: verify broker URL, topic, consumer group and that orders_producer.py has run.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Join returns zero rows: verify field types, sort order and matching product_id values.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High duplicates: choose a stable order_id key and define retry-safe output.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Hop pipeline missing on another machine: export/save your .hpl/.hwf artifacts with project metadata.</a:t>
            </a:r>
          </a:p>
        </p:txBody>
      </p:sp>
    </p:spTree>
    <p:extLst>
      <p:ext uri="{BB962C8B-B14F-4D97-AF65-F5344CB8AC3E}">
        <p14:creationId xmlns:p14="http://schemas.microsoft.com/office/powerpoint/2010/main" val="2999189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0" name="TextBox 1">
            <a:extLst xmlns:a="http://schemas.openxmlformats.org/drawingml/2006/main">
              <a:ext uri="{FF2B5EF4-FFF2-40B4-BE49-F238E27FC236}">
                <a16:creationId xmlns:a16="http://schemas.microsoft.com/office/drawing/2014/main" id="{ABE6ED94-D244-4E75-9E60-6DB1D17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MCQs</a:t>
            </a:r>
          </a:p>
        </p:txBody>
      </p:sp>
      <p:sp>
        <p:nvSpPr>
          <p:cNvPr id="331" name="TextBox 2">
            <a:extLst xmlns:a="http://schemas.openxmlformats.org/drawingml/2006/main">
              <a:ext uri="{FF2B5EF4-FFF2-40B4-BE49-F238E27FC236}">
                <a16:creationId xmlns:a16="http://schemas.microsoft.com/office/drawing/2014/main" id="{E8702746-CD78-4898-A4AD-1555CD37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05840"/>
            <a:ext cx="10606680" cy="5878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1. Hop pipelines are mainly for: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A) data flow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B) email only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C) UI settings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D) user access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2. Workflows are best for: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A) row-level transformation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B) control flow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C) dashboards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D) schemas only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3. Kafka Consumer sub-pipeline triggers by: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A) message count/duration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B) reboot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C) CSV file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D) user login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4. Unique Rows is generally used for: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A) deduplication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B) schema registry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C) sending email 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D) SSL</a:t>
            </a:r>
          </a:p>
        </p:txBody>
      </p:sp>
    </p:spTree>
    <p:extLst>
      <p:ext uri="{BB962C8B-B14F-4D97-AF65-F5344CB8AC3E}">
        <p14:creationId xmlns:p14="http://schemas.microsoft.com/office/powerpoint/2010/main" val="180106186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0FB69C-2796-47E9-AB5F-4D098AF1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MCQ Answers</a:t>
            </a:r>
          </a:p>
        </p:txBody>
      </p:sp>
      <p:sp>
        <p:nvSpPr>
          <p:cNvPr id="33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A57B66-6DAF-435F-85AD-7A80BE06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606680" cy="2742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1 = A. Pipelines are data flows.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2 = B. Workflows orchestrate control flow.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3 = A. Kafka Consumer uses batch size or duration triggers.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 = A. Unique Rows helps remove duplicates after sorting.</a:t>
            </a:r>
          </a:p>
        </p:txBody>
      </p:sp>
    </p:spTree>
    <p:extLst>
      <p:ext uri="{BB962C8B-B14F-4D97-AF65-F5344CB8AC3E}">
        <p14:creationId xmlns:p14="http://schemas.microsoft.com/office/powerpoint/2010/main" val="33796092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4" name="TextBox 1">
            <a:extLst xmlns:a="http://schemas.openxmlformats.org/drawingml/2006/main">
              <a:ext uri="{FF2B5EF4-FFF2-40B4-BE49-F238E27FC236}">
                <a16:creationId xmlns:a16="http://schemas.microsoft.com/office/drawing/2014/main" id="{66FFBCD4-F10E-4B01-84E1-C573EF77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1553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Day 6 Recap</a:t>
            </a:r>
          </a:p>
        </p:txBody>
      </p:sp>
      <p:sp>
        <p:nvSpPr>
          <p:cNvPr id="335" name="TextBox 2">
            <a:extLst xmlns:a="http://schemas.openxmlformats.org/drawingml/2006/main">
              <a:ext uri="{FF2B5EF4-FFF2-40B4-BE49-F238E27FC236}">
                <a16:creationId xmlns:a16="http://schemas.microsoft.com/office/drawing/2014/main" id="{43FC6AFB-1789-4929-9B5B-E9186220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Next: Day 7 uses your Silver-ready Hop outputs to assemble Bronze, Silver and Gold Medallion layers with storage and table-format decisions.</a:t>
            </a:r>
          </a:p>
        </p:txBody>
      </p:sp>
    </p:spTree>
    <p:extLst>
      <p:ext uri="{BB962C8B-B14F-4D97-AF65-F5344CB8AC3E}">
        <p14:creationId xmlns:p14="http://schemas.microsoft.com/office/powerpoint/2010/main" val="418357454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2026-05-26T08:47:37.5960000Z</dcterms:created>
  <dcterms:modified xsi:type="dcterms:W3CDTF">2026-05-26T08:47:37.5960000Z</dcterms:modified>
</coreProperties>
</file>