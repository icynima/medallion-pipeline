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6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910CB-DF0E-4925-8CD9-16D966E26AE4}" v="32" dt="2026-06-08T01:05:38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300" y="-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idzohar Morbiwala" userId="f81cb7ee-5d40-432c-afb4-7a45cdcbf1f0" providerId="ADAL" clId="{18C95B19-C288-47ED-99FD-F2B82B1F8389}"/>
    <pc:docChg chg="undo custSel mod addSld delSld modSld modMainMaster">
      <pc:chgData name="Quidzohar Morbiwala" userId="f81cb7ee-5d40-432c-afb4-7a45cdcbf1f0" providerId="ADAL" clId="{18C95B19-C288-47ED-99FD-F2B82B1F8389}" dt="2026-06-08T01:10:51.458" v="108" actId="20577"/>
      <pc:docMkLst>
        <pc:docMk/>
      </pc:docMkLst>
      <pc:sldChg chg="delSp modSp mod">
        <pc:chgData name="Quidzohar Morbiwala" userId="f81cb7ee-5d40-432c-afb4-7a45cdcbf1f0" providerId="ADAL" clId="{18C95B19-C288-47ED-99FD-F2B82B1F8389}" dt="2026-06-07T17:33:30.918" v="1" actId="478"/>
        <pc:sldMkLst>
          <pc:docMk/>
          <pc:sldMk cId="0" sldId="256"/>
        </pc:sldMkLst>
        <pc:spChg chg="del mod">
          <ac:chgData name="Quidzohar Morbiwala" userId="f81cb7ee-5d40-432c-afb4-7a45cdcbf1f0" providerId="ADAL" clId="{18C95B19-C288-47ED-99FD-F2B82B1F8389}" dt="2026-06-07T17:33:30.918" v="1" actId="478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Quidzohar Morbiwala" userId="f81cb7ee-5d40-432c-afb4-7a45cdcbf1f0" providerId="ADAL" clId="{18C95B19-C288-47ED-99FD-F2B82B1F8389}" dt="2026-06-08T01:05:38.126" v="36" actId="1076"/>
        <pc:sldMkLst>
          <pc:docMk/>
          <pc:sldMk cId="0" sldId="267"/>
        </pc:sldMkLst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3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4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5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6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8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9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10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11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12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8T01:04:52.610" v="27" actId="478"/>
          <ac:spMkLst>
            <pc:docMk/>
            <pc:sldMk cId="0" sldId="267"/>
            <ac:spMk id="13" creationId="{00000000-0000-0000-0000-000000000000}"/>
          </ac:spMkLst>
        </pc:spChg>
        <pc:spChg chg="add del">
          <ac:chgData name="Quidzohar Morbiwala" userId="f81cb7ee-5d40-432c-afb4-7a45cdcbf1f0" providerId="ADAL" clId="{18C95B19-C288-47ED-99FD-F2B82B1F8389}" dt="2026-06-07T17:35:37.995" v="6" actId="22"/>
          <ac:spMkLst>
            <pc:docMk/>
            <pc:sldMk cId="0" sldId="267"/>
            <ac:spMk id="16" creationId="{8643917E-6C93-3096-A345-D06CC1BBFB9B}"/>
          </ac:spMkLst>
        </pc:spChg>
        <pc:picChg chg="add mod">
          <ac:chgData name="Quidzohar Morbiwala" userId="f81cb7ee-5d40-432c-afb4-7a45cdcbf1f0" providerId="ADAL" clId="{18C95B19-C288-47ED-99FD-F2B82B1F8389}" dt="2026-06-08T01:04:25.210" v="23" actId="732"/>
          <ac:picMkLst>
            <pc:docMk/>
            <pc:sldMk cId="0" sldId="267"/>
            <ac:picMk id="1026" creationId="{830BAF70-54E8-6769-A451-23088D795A36}"/>
          </ac:picMkLst>
        </pc:picChg>
        <pc:picChg chg="add">
          <ac:chgData name="Quidzohar Morbiwala" userId="f81cb7ee-5d40-432c-afb4-7a45cdcbf1f0" providerId="ADAL" clId="{18C95B19-C288-47ED-99FD-F2B82B1F8389}" dt="2026-06-08T01:04:32.414" v="25"/>
          <ac:picMkLst>
            <pc:docMk/>
            <pc:sldMk cId="0" sldId="267"/>
            <ac:picMk id="1028" creationId="{BCD9B80B-AC51-189B-F20F-BD4ABD6E2F61}"/>
          </ac:picMkLst>
        </pc:picChg>
        <pc:picChg chg="add mod">
          <ac:chgData name="Quidzohar Morbiwala" userId="f81cb7ee-5d40-432c-afb4-7a45cdcbf1f0" providerId="ADAL" clId="{18C95B19-C288-47ED-99FD-F2B82B1F8389}" dt="2026-06-08T01:05:38.126" v="36" actId="1076"/>
          <ac:picMkLst>
            <pc:docMk/>
            <pc:sldMk cId="0" sldId="267"/>
            <ac:picMk id="1030" creationId="{100270DA-6C45-D37A-5F76-13EADD3D5D0A}"/>
          </ac:picMkLst>
        </pc:picChg>
      </pc:sldChg>
      <pc:sldChg chg="modSp mod">
        <pc:chgData name="Quidzohar Morbiwala" userId="f81cb7ee-5d40-432c-afb4-7a45cdcbf1f0" providerId="ADAL" clId="{18C95B19-C288-47ED-99FD-F2B82B1F8389}" dt="2026-06-08T01:10:51.458" v="108" actId="20577"/>
        <pc:sldMkLst>
          <pc:docMk/>
          <pc:sldMk cId="0" sldId="275"/>
        </pc:sldMkLst>
        <pc:spChg chg="mod">
          <ac:chgData name="Quidzohar Morbiwala" userId="f81cb7ee-5d40-432c-afb4-7a45cdcbf1f0" providerId="ADAL" clId="{18C95B19-C288-47ED-99FD-F2B82B1F8389}" dt="2026-06-08T01:10:51.458" v="108" actId="20577"/>
          <ac:spMkLst>
            <pc:docMk/>
            <pc:sldMk cId="0" sldId="275"/>
            <ac:spMk id="13" creationId="{00000000-0000-0000-0000-000000000000}"/>
          </ac:spMkLst>
        </pc:spChg>
      </pc:sldChg>
      <pc:sldChg chg="add">
        <pc:chgData name="Quidzohar Morbiwala" userId="f81cb7ee-5d40-432c-afb4-7a45cdcbf1f0" providerId="ADAL" clId="{18C95B19-C288-47ED-99FD-F2B82B1F8389}" dt="2026-06-08T01:04:42.450" v="26"/>
        <pc:sldMkLst>
          <pc:docMk/>
          <pc:sldMk cId="2705286658" sldId="368"/>
        </pc:sldMkLst>
      </pc:sldChg>
      <pc:sldChg chg="add del">
        <pc:chgData name="Quidzohar Morbiwala" userId="f81cb7ee-5d40-432c-afb4-7a45cdcbf1f0" providerId="ADAL" clId="{18C95B19-C288-47ED-99FD-F2B82B1F8389}" dt="2026-06-08T01:04:55.967" v="29"/>
        <pc:sldMkLst>
          <pc:docMk/>
          <pc:sldMk cId="1664118754" sldId="369"/>
        </pc:sldMkLst>
      </pc:sldChg>
      <pc:sldMasterChg chg="addSp mod">
        <pc:chgData name="Quidzohar Morbiwala" userId="f81cb7ee-5d40-432c-afb4-7a45cdcbf1f0" providerId="ADAL" clId="{18C95B19-C288-47ED-99FD-F2B82B1F8389}" dt="2026-06-07T17:33:36.222" v="2" actId="33475"/>
        <pc:sldMasterMkLst>
          <pc:docMk/>
          <pc:sldMasterMk cId="2209977519" sldId="2147483648"/>
        </pc:sldMasterMkLst>
        <pc:spChg chg="add">
          <ac:chgData name="Quidzohar Morbiwala" userId="f81cb7ee-5d40-432c-afb4-7a45cdcbf1f0" providerId="ADAL" clId="{18C95B19-C288-47ED-99FD-F2B82B1F8389}" dt="2026-06-07T17:33:36.222" v="2" actId="33475"/>
          <ac:spMkLst>
            <pc:docMk/>
            <pc:sldMasterMk cId="2209977519" sldId="2147483648"/>
            <ac:spMk id="8" creationId="{9B2CB5AD-2E7D-5A6D-E640-AA47B995703B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CB5AD-2E7D-5A6D-E640-AA47B995703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92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2060"/>
                </a:solidFill>
                <a:latin typeface="Calibri"/>
              </a:rPr>
              <a:t>Day 6: Data Transformation with Apache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85858"/>
                </a:solidFill>
                <a:latin typeface="Calibri"/>
              </a:rPr>
              <a:t>Medallion Pipeline Training —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32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Calibri"/>
              </a:rPr>
              <a:t>Apache Hop Architecture  ·  Pipelines &amp; Transforms  ·  Workflows  ·  PostgreSQL  ·  Kafka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9E9E9E"/>
                </a:solidFill>
                <a:latin typeface="Calibri"/>
              </a:rPr>
              <a:t>Day 6 · Apache Hop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4300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17043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Explain Apache Hop's metadata-driven architecture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67335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Differentiate between Pipelines and Workflows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4884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17627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Build data transformation pipelines using transforms and hops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5176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267919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Apply data cleaning — deduplication, normalization, filtering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8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18211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Connect Hop pipelines to PostgreSQL for read/write operations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68503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Consume streaming data from Apache Kafka using Hop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16052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4187952"/>
            <a:ext cx="2377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2060"/>
                </a:solidFill>
                <a:latin typeface="Calibri"/>
              </a:rPr>
              <a:t>Orchestrate multi-pipeline batch workflows with error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Agenda — Full Day Schedule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69848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Welcome, Recap of Day 5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51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35607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53895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3560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1: What is Apache Hop?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35607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19655"/>
            <a:ext cx="594360" cy="27432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37943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9655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☕ Breakfast 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19655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203704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221992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2037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2: Pipelines &amp; Transforms Deep-Dive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0370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75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587752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606040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5877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3: Understanding Our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877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30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971800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990088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971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4: Workflows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971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30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355848"/>
            <a:ext cx="594360" cy="27432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374136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3558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🍽 Lunch Break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558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60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739896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758183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7398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5: Database Integration (PostgreSQL)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73989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45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4123944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142231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14:45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1239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6: Kafka Integration &amp; Streaming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12394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45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4507992"/>
            <a:ext cx="594360" cy="27432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526279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5079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☕ Tea Break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5079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15 min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4892040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910327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15:45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Module 7: MCQ Assessment &amp;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892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15 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276088"/>
            <a:ext cx="59436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5294375"/>
            <a:ext cx="594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2760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2060"/>
                </a:solidFill>
                <a:latin typeface="Calibri"/>
              </a:rPr>
              <a:t>Lab Session: Building Hop Pipelines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60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Quick Recap — Where Are We in the Medallion Journey?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84048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1: Data Eng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2: Docker &amp; 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3: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4: Apache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5: Python ETL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3840480" cy="2926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060"/>
                </a:solidFill>
                <a:latin typeface="Calibri"/>
              </a:rPr>
              <a:t>Day 6: Apache Hop (TODAY)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7: Advanced 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14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8: dbt Transformations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9: Airflow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Day 10: Capstone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Today's Focus: We move from writing Python ETL scripts to using a visual, metadata-driven data transformation platform.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How Today Connects to Previous Days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Learned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Connects Today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Docker containers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Hop, Kafka &amp; PostgreSQL run in Docker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PostgreSQL tables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Read/write cleaned data to PostgreSQL via Hop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producers/consumers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 Kafka streams inside Hop pipelines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Python ETL scripts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replaces hand-coded ETL with visual 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Apache Hop brings together databases, streaming, and containers into a single visual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is Apache Hop?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60 min  ·  Understanding Hop architecture, history, and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Problem: Why Do We Need a Tool Like Hop?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Consider this Python ETL script from Day 5: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df = pd.read_csv("customers.csv")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df["email"] = df["email"].str.lower().str.strip()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df = df[df["email"].notna()]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df = df.drop_duplicates(subset=["customer_id"])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df.to_sql("customers_cleaned", engine)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Problems with code-only ETL: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Hard to visualize the data flow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No built-in error handling framework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Difficult for non-developers to understand or modify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Rewriting connectors for each source/target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No built-in execution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What is Apache Hop?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Apache Hop (Hop Orchestration Platform) is an open-source data orchestration and data engineering platform.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Visual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Drag-and-drop pipeline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Metadata-Driven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Everything is defined as metadata, not code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Plugin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400+ plugins for transforms, connectors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Runtime Flexible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Runs locally, on Spark, Flink, or Dataflow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Container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First-class Docker &amp; Kubernetes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563C1"/>
                </a:solidFill>
                <a:latin typeface="Calibri"/>
              </a:rPr>
              <a:t>Source: hop.apache.org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Apache Hop — Brief History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89888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Kettle / Pentaho Data Integration (PDI) created by Matt Casters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19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64207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1938527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62763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Pentaho acquires Kettle, renames to PDI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487168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21762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Hitachi Vantara acquires Pentaho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6148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035808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272491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Matt Casters forks PDI → creates 'Project Hop' (complete rewrite)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39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310127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584447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27355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Hop enters Apache Incubator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5876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133088"/>
            <a:ext cx="36576" cy="2560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38221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Graduates as Apache Top-Level Project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64008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7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2024+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3708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Active community, regular releases, 400+ plugins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Hop inherits 20+ years of ETL battle-testing from Kettle/PDI but with a modern, clean architecture.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Where Does Hop Fit in the Data Engineering Stack?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658368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Files  ·  Databases  ·  APIs  ·  Kafka  ·  Cloud Storage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4206240" y="2240280"/>
            <a:ext cx="365760" cy="32004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658368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Data Integration &amp; Transformation Layer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06240" y="3703320"/>
            <a:ext cx="365760" cy="32004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658368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206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DATA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72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Data Warehouse  ·  Data Lake  ·  Kafka  ·  APIs  · 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060"/>
                </a:solidFill>
                <a:latin typeface="Calibri"/>
              </a:rPr>
              <a:t>Hop operates in the 'T' of ELT/ETL — reads, transforms, and writes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Hop vs. Other ETL/ELT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589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Apache Hop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Apache NiFi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dbt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Visual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(SQL)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(Code)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 (Kafka)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Open Source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Core 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Metadata-Driven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 (core)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Runs on Spark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 (Beam)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548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Hop is uniquely positioned for visual, metadata-driven ETL with streaming capabilities.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Apache Hop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12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00270DA-6C45-D37A-5F76-13EADD3D5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7" t="9596" r="11924" b="8987"/>
          <a:stretch>
            <a:fillRect/>
          </a:stretch>
        </p:blipFill>
        <p:spPr bwMode="auto">
          <a:xfrm>
            <a:off x="1207007" y="923544"/>
            <a:ext cx="6428233" cy="485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0733-5088-3867-4E69-C8BBA674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98244-170D-DD1F-AA19-3A83C62DEB7C}"/>
              </a:ext>
            </a:extLst>
          </p:cNvPr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Apache Hop Architecture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DD6050-4A39-A2CC-6ED1-9849D72BF181}"/>
              </a:ext>
            </a:extLst>
          </p:cNvPr>
          <p:cNvSpPr/>
          <p:nvPr/>
        </p:nvSpPr>
        <p:spPr>
          <a:xfrm>
            <a:off x="731520" y="1097280"/>
            <a:ext cx="731520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6505F-AFFB-49DD-4854-0B17928E5B27}"/>
              </a:ext>
            </a:extLst>
          </p:cNvPr>
          <p:cNvSpPr txBox="1"/>
          <p:nvPr/>
        </p:nvSpPr>
        <p:spPr>
          <a:xfrm>
            <a:off x="914400" y="11887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HOP GUI / HOP WEB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11F59-C70D-FDBB-5B27-BC4EA0A7F00B}"/>
              </a:ext>
            </a:extLst>
          </p:cNvPr>
          <p:cNvSpPr txBox="1"/>
          <p:nvPr/>
        </p:nvSpPr>
        <p:spPr>
          <a:xfrm>
            <a:off x="914400" y="15544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Visual Development Environment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777344-AC7F-B81B-CF32-275D1DE453AD}"/>
              </a:ext>
            </a:extLst>
          </p:cNvPr>
          <p:cNvSpPr/>
          <p:nvPr/>
        </p:nvSpPr>
        <p:spPr>
          <a:xfrm>
            <a:off x="731520" y="2560320"/>
            <a:ext cx="7315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82013-9399-2217-AB04-DFD0310A5264}"/>
              </a:ext>
            </a:extLst>
          </p:cNvPr>
          <p:cNvSpPr txBox="1"/>
          <p:nvPr/>
        </p:nvSpPr>
        <p:spPr>
          <a:xfrm>
            <a:off x="914400" y="26517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METADATA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16D9B-8E77-1730-C5FE-CB416E58B6ED}"/>
              </a:ext>
            </a:extLst>
          </p:cNvPr>
          <p:cNvSpPr txBox="1"/>
          <p:nvPr/>
        </p:nvSpPr>
        <p:spPr>
          <a:xfrm>
            <a:off x="914400" y="30175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Projects  ·  Pipelines (.hpl)  ·  Workflows (.hwf)  ·  DB Configs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C67540-9861-1BF7-5ED4-4F862758EEC7}"/>
              </a:ext>
            </a:extLst>
          </p:cNvPr>
          <p:cNvSpPr/>
          <p:nvPr/>
        </p:nvSpPr>
        <p:spPr>
          <a:xfrm>
            <a:off x="731520" y="4023360"/>
            <a:ext cx="7315200" cy="10058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BFC1E-00A9-1B05-EA6A-C396A5E31833}"/>
              </a:ext>
            </a:extLst>
          </p:cNvPr>
          <p:cNvSpPr txBox="1"/>
          <p:nvPr/>
        </p:nvSpPr>
        <p:spPr>
          <a:xfrm>
            <a:off x="914400" y="41148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RUNTIME ENGINES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49C5D-1BDE-826B-20C7-A16EC40B69FF}"/>
              </a:ext>
            </a:extLst>
          </p:cNvPr>
          <p:cNvSpPr txBox="1"/>
          <p:nvPr/>
        </p:nvSpPr>
        <p:spPr>
          <a:xfrm>
            <a:off x="914400" y="44805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Local  ·  Remote  ·  Apache Spark (Beam)  ·  Apache Flink (Beam)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F200E7DB-A948-EAE0-6418-3A382FCD1D06}"/>
              </a:ext>
            </a:extLst>
          </p:cNvPr>
          <p:cNvSpPr/>
          <p:nvPr/>
        </p:nvSpPr>
        <p:spPr>
          <a:xfrm>
            <a:off x="4206240" y="2148840"/>
            <a:ext cx="365760" cy="32004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BFCE55C-72FF-83C2-5085-8C96935E1DC5}"/>
              </a:ext>
            </a:extLst>
          </p:cNvPr>
          <p:cNvSpPr/>
          <p:nvPr/>
        </p:nvSpPr>
        <p:spPr>
          <a:xfrm>
            <a:off x="4206240" y="3611880"/>
            <a:ext cx="365760" cy="32004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AA0CB-FA42-0CC1-0619-B33B74FB8484}"/>
              </a:ext>
            </a:extLst>
          </p:cNvPr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12</a:t>
            </a:r>
          </a:p>
        </p:txBody>
      </p:sp>
    </p:spTree>
    <p:extLst>
      <p:ext uri="{BB962C8B-B14F-4D97-AF65-F5344CB8AC3E}">
        <p14:creationId xmlns:p14="http://schemas.microsoft.com/office/powerpoint/2010/main" val="270528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"Metadata is Everything" Principle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Every item in Hop is defined as metadata. All interactions between Hop and other components are done through metadata.</a:t>
            </a:r>
          </a:p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85858"/>
                </a:solidFill>
                <a:latin typeface="Calibri"/>
              </a:rPr>
              <a:t>— Apache Hop Documentation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Traditional ETL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Hop's Metadata Approach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Database connections hardcoded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Connection defined once, referenced by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File paths in scripts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Variables like ${PROJECT_HOME} resolved at runtime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Environment configs scattered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Projects &amp; Environments separate config from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Code changes needed per env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pipeline, different environment = different runtime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Hop's Plugin Architecture — 400+ Plugins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Plugin Examples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Used in Lab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CSV File Input, Table Input, Kafka Consumer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Text File Output, Table Output, Kafka Producer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Filter Rows, Sort Rows, Unique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Scripting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JavaScript (ScriptValueMod)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 Lookup, Database Lookup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Dummy, Injector, Switch/Case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PostgreSQL, MySQL, Oracle, MongoDB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85858"/>
                </a:solidFill>
                <a:latin typeface="Calibri"/>
              </a:rPr>
              <a:t>Plugins can be added or removed to customize your Hop installation.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Hop Development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We Use It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GUI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Desktop visual 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Primary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Web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Browser-based IDE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Our lab (localhost:8082)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CLI pipeline 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Conf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CLI configuration tool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Project/environment setup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Remote execution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Not used today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In our Docker lab setup: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389120"/>
            <a:ext cx="8229600" cy="67665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480559"/>
            <a:ext cx="7955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hop-web:    → Hop Web IDE at http://localhost:8082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hop-cli:    → Command-line executor for batch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Projects and Environments in Hop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0116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pipelines/ — .hpl files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workflows/ — .hwf files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metadata/ — rdbms connections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data/ — source CSV files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output/ — processed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9319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project-config.json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6576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metadataBaseFolder: ${PROJECT_HOME}/metadata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enforcingExecutionInHome: true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parentProjectName: default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unitTestsBasePath: ${PROJECT_HOME}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A Project is a logical collection of Hop code and config. Environments hold runtime settings (dev, uat, prod).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1 — Fill in the Blanks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1. Apache Hop stands for Hop __________ Platform.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2. The core design principle of Hop is that everything is defined as __________.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3. Pipelines use __________ to process data, while Workflows use __________.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4. Hop can run on Spark and __________ via Apache Beam.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5. A Hop __________ groups configurations, variables, and metadata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1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1. Orchestration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2. Metadata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3. Transforms / Actions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4. Apache Flink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5.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Pipelines &amp; Transforms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75 min  ·  Master the building blocks of Hop data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What is a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33333"/>
                </a:solidFill>
                <a:latin typeface="Calibri"/>
              </a:rPr>
              <a:t>A Pipeline is a collection of Transforms connected by Hops that reads, processes, and writes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Pipelines are DAGs (Directed Acyclic Graphs) — no loops allowed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All transforms run in PARALLEL (not sequentially!)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Data flows through hops as row streams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File extension: .hpl (Hop Pipeline Language)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82880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CSV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19" y="4023360"/>
            <a:ext cx="640080" cy="27432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3840480"/>
            <a:ext cx="1828800" cy="6400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Filter Rows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49239" y="4023360"/>
            <a:ext cx="640080" cy="27432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3840480"/>
            <a:ext cx="182880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CSV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>
                <a:solidFill>
                  <a:srgbClr val="9E9E9E"/>
                </a:solidFill>
                <a:latin typeface="Calibri"/>
              </a:rPr>
              <a:t>                                                                        </a:t>
            </a:r>
            <a:r>
              <a:rPr sz="1000" b="0" i="0">
                <a:solidFill>
                  <a:srgbClr val="9E9E9E"/>
                </a:solidFill>
                <a:latin typeface="Calibri"/>
              </a:rPr>
              <a:t>Transform                              </a:t>
            </a:r>
            <a:r>
              <a:rPr sz="1000" b="0" i="0" dirty="0" err="1">
                <a:solidFill>
                  <a:srgbClr val="9E9E9E"/>
                </a:solidFill>
                <a:latin typeface="Calibri"/>
              </a:rPr>
              <a:t>Transform</a:t>
            </a:r>
            <a:r>
              <a:rPr sz="1000" b="0" i="0" dirty="0">
                <a:solidFill>
                  <a:srgbClr val="9E9E9E"/>
                </a:solidFill>
                <a:latin typeface="Calibri"/>
              </a:rPr>
              <a:t>                              </a:t>
            </a:r>
            <a:r>
              <a:rPr sz="1000" b="0" i="0" dirty="0" err="1">
                <a:solidFill>
                  <a:srgbClr val="9E9E9E"/>
                </a:solidFill>
                <a:latin typeface="Calibri"/>
              </a:rPr>
              <a:t>Transform</a:t>
            </a:r>
            <a:endParaRPr sz="1000" b="0" i="0" dirty="0">
              <a:solidFill>
                <a:srgbClr val="9E9E9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Understanding Parallel Execution in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Unlike workflows (sequential), all pipeline transforms start at the same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Data flows like water through pipes — the first rows reach the output while the input is still reading.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2060"/>
                </a:solidFill>
                <a:latin typeface="Calibri"/>
              </a:rPr>
              <a:t>Transform 1 (Read)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86000"/>
            <a:ext cx="3657600" cy="2743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2060"/>
                </a:solidFill>
                <a:latin typeface="Calibri"/>
              </a:rPr>
              <a:t>Transform 2 (Filter)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017520"/>
            <a:ext cx="3383280" cy="27432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2060"/>
                </a:solidFill>
                <a:latin typeface="Calibri"/>
              </a:rPr>
              <a:t>Transform 3 (Write)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749039"/>
            <a:ext cx="310896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Critical: This is fundamentally different from Python scripts where each step completes before the next begins.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Anatomy of a Transform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Unique identifier within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"Read Customers"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 plugin type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CsvInput, FilterRows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Human-readable purpose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"Read raw customer records"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Copies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Number of parallel copies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 (default)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Input 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Fields expected from upstream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customer_id, name,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Output Fields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Fields sent downstream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customer_id, email_clean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Type-specific 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filename, separator, encoding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Hops — Connecting Transforms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A Hop connects two transforms and passes row data between them.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Hop 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Visual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Main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───▶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Normal data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True (Filter)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──✓─▶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Rows matching the condition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False (Filter)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──✗─▶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Rows NOT matching the condition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──!──▶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Rows that caused an error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In our lab's 01_clean_customers.hpl: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67665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297679"/>
            <a:ext cx="7955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Filter Rows ──✓──▶ Sort By Customer     (valid rows — email exists)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      ──✗──▶ Rejected Customers    (invalid rows — no email)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Transform Categories We Use Today — Input &amp; Processing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 Pipeline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CSV File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delimited text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00, 01, 02, 03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Input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from database tables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Consumer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from Kafka topics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Injector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Receive rows from parent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Filter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Route rows based on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01, 06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Sort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Sort data by fields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01, 06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Unique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Remove duplicate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01, 06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 logic via scripting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01, 02, 06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 Lookup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Join data from two streams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Transform Categories —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 Pipeline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Text File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 delimited text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00, 01, 02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 to database tables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Producer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 to Kafka topics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Dummy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End of stream (does nothing)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05, 06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Our First Pipeline: 00_first_pipeline_csv_to_csv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The simplest possible pipeline — read a CSV, write a CSV: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CSV file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first_pipeline_source.csv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2004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Text file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first_pipeline_result.csv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1920240"/>
            <a:ext cx="868680" cy="36576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Input Data (3 rows):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474720"/>
          <a:ext cx="7589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Ada Lovelace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London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Grace Hopper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 York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Katherine Johnson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White Sulphur Springs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Dissecting the Pipeline XML (.hpl)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Every .hpl file is XML with this structure: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4096511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80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&lt;pipeline&gt;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&lt;info&gt;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&lt;name&gt;00_first_pipeline_csv_to_csv&lt;/name&gt;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&lt;description&gt;First pipeline: read CSV and write CSV&lt;/description&gt;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&lt;pipeline_type&gt;Normal&lt;/pipeline_type&gt;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&lt;/info&gt;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&lt;order&gt;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&lt;hop&gt;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&lt;from&gt;CSV file input&lt;/from&gt;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&lt;to&gt;Text file output&lt;/to&gt;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&lt;enabled&gt;Y&lt;/enabled&gt;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&lt;/hop&gt;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&lt;/order&gt;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&lt;transform&gt;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&lt;name&gt;CSV file input&lt;/name&gt;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&lt;type&gt;CsvInput&lt;/type&gt;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&lt;/transform&gt;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&lt;/pipeline&gt;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39495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You don't write XML manually — the Hop GUI generates it. But understanding the structure helps with debugging.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CSV Input Transform — Configuration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955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&lt;filename&gt;${PROJECT_HOME}/data/first_pipeline_source.csv&lt;/filename&gt;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&lt;separator&gt;,&lt;/separator&gt;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&lt;header&gt;Y&lt;/header&gt;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&lt;encoding&gt;UTF-8&lt;/encoding&gt;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5603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filename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${PROJECT_HOME}/data/...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Uses variable — not hardcoded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separator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,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Standard CSV delimiter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First row has column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encoding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UTF-8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Handles international chars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7548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Best Practice: Always use ${PROJECT_HOME} instead of absolute paths for portability.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Pipeline 01: Clean Customers —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46304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Read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188720"/>
            <a:ext cx="146304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39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Normalize Fields (JS)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188720"/>
            <a:ext cx="1463040" cy="7315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39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Filter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560320"/>
            <a:ext cx="146304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Sort By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560320"/>
            <a:ext cx="146304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Unique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560320"/>
            <a:ext cx="1463040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Cleaned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188720"/>
            <a:ext cx="146304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Rejected CSV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737360" y="1417320"/>
            <a:ext cx="365759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3566160" y="1417320"/>
            <a:ext cx="365759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4663440" y="1920240"/>
            <a:ext cx="182880" cy="640079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5394960" y="2788920"/>
            <a:ext cx="365759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223760" y="2788920"/>
            <a:ext cx="91439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394960" y="1417320"/>
            <a:ext cx="365760" cy="182880"/>
          </a:xfrm>
          <a:prstGeom prst="right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2402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2E7D32"/>
                </a:solidFill>
                <a:latin typeface="Calibri"/>
              </a:rPr>
              <a:t>✓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11887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C62828"/>
                </a:solidFill>
                <a:latin typeface="Calibri"/>
              </a:rPr>
              <a:t>✗ Invalid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Understanding the Customer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Raw Data (customers.csv) — 5 rows, intentionally dirty: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9552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 Meyer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ALICE@EXAMPLE.COM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0049123456789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Bob Singh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bob@example.com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00919876543210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Charlie Rossi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charlie@example.com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0039061234567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 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 Meyer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ALICE@EXAMPLE.COM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0049123456789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Dana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(empty)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0015550104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Data Quality Issues: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Row 4 is a DUPLICATE of Row 1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Row 5 has a MISSING email (empty string)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Emails have INCONSISTENT casing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Phone numbers use '00' prefix instead of '+'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Countries are lowercase instead of ISO uppercase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JavaScript Normalization 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4096511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7955280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// Trim whitespace from names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customer_name = name == null ? "" : String(name).trim();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// Lowercase and clean email — null if empty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email_clean = email == null || String(email).trim() == 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? null : String(email).trim().toLowerCase();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// Uppercase country code (de → DE)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country_normalized = country == null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? "" : String(country).trim().toUpperCase();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// Convert "00" prefix to "+" for international format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phone_normalized = phone == null ? "" : String(phone).trim();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if (phone_normalized.indexOf("00") == 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phone_normalized = "+" + phone_normalized.substring(2);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// Add processing timestamp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processed_at = new Date();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What Happens to Each Row?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email_clean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alice@example.com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+49123456789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KEPT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bob@example.com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+919876543210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KEPT 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charlie@example.com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+39061234567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KEPT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alice@example.com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+49123456789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REMOVED (dup)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+15550104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REJECTED (no email)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D32"/>
                </a:solidFill>
                <a:latin typeface="Calibri"/>
              </a:rPr>
              <a:t>Final Output: 3 cleaned, deduplicated customer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This is a realistic data cleaning pattern — normalize, validate, deduplicate.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Filter Rows Transform —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955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&lt;function&gt;IS NOT NULL&lt;/function&gt;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&lt;leftvalue&gt;email_clean&lt;/leftvalue&gt;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&lt;send_true_to&gt;Sort By Customer&lt;/send_true_to&gt;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&lt;send_false_to&gt;Rejected Customers&lt;/send_false_to&gt;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Think of it as an if/else statement: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3931920" cy="1133856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IF email_clean IS NOT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9000"/>
            <a:ext cx="3657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→ Send to Sort By Customer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→ Continue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017520"/>
            <a:ext cx="3931920" cy="1133856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62828"/>
                </a:solidFill>
                <a:latin typeface="Calibri"/>
              </a:rPr>
              <a:t>ELSE (email is null)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3657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→ Send to Rejected Customers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→ Write to reject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Sort Rows &amp; Unique Rows — Deduplication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30428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Step 1: Sort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657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Sort by customer_id ascending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Duplicates become adjacent: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101 Alice  ← dup 1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101 Alice  ← dup 2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102 Bob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103 Charlie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931920" cy="230428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Step 2: Unique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657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Remove consecutive duplicates: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101 Alice (dup_count=2)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102 Bob (dup_count=1)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103 Charlie (dup_count=1)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Only 3 rows remain!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5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Why sort first? The Unique Rows transform compares adjacent rows. Without sorting, scattered duplicates won't be caught.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2 — Match the Following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Connects transforms and passes row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Sequential orchestration of 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 single data processing operation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 DAG of transforms processing data in parallel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 core principle — everything is defined as this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85858"/>
                </a:solidFill>
                <a:latin typeface="Calibri"/>
              </a:rPr>
              <a:t>Match each concept (A–E) with the correct description.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2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Correct Match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A: 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 — A single data processing operation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B: Hop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 — Connects transforms and passes row 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C: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 — A DAG of transforms processing data in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D: Workflow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 — Sequential orchestration of 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E: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 — The core principle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Pipeline 02: Enrich Orders — Stream Lookup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8288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Read Orders (CSV)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28800"/>
            <a:ext cx="1828800" cy="8229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39" y="1920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Lookup Product (Stream Lookup)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28800"/>
            <a:ext cx="18288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49240" y="1920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Calculate Metrics (JavaScript)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182880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1920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Orders Enriched (CSV Output)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468880"/>
            <a:ext cx="18288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560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Read Products (CSV)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1508760"/>
            <a:ext cx="9144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2103120" y="2788920"/>
            <a:ext cx="9144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846320" y="2148840"/>
            <a:ext cx="4572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132320" y="2148840"/>
            <a:ext cx="18288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The Stream Lookup joins orders with products on product_id to add product_name and category.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Orders and Products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Orders (orders.csv):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858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CANCELED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Products (products.csv):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840480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product_name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Smartphone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Headphones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Stream Lookup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Think of Stream Lookup as a VLOOKUP in Excel or a LEFT JOIN in SQL: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-- SQL equivalent: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SELECT o.*, p.product_name, p.category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FROM orders 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LEFT JOIN products p ON o.product_id = p.product_id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1752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Products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stream to load into 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key.name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Field in main stream (orders)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key.field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Field in lookup stream (products)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value: product_name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default: UNKNOWN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Added if no match found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value: 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default: UNKNOWN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Added if no match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Order Metrics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955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product_category = category == null ? "UNKNOWN"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: String(category).trim().toUpperCase();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amount_with_tax = amount * 1.10;          // 10% tax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discount_amount = amount &gt;= 100 ? amount * 0.05 : 0;  // 5% if &gt;= $100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net_amount = amount_with_tax - discount_amount;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Result for Order #1 (amount = $100.00):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80467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Calculation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amount_with_tax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 × 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discount_amount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 × 0.05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$5.00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net_amount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110.00 − 5.00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$105.00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3 — Calculate the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85858"/>
                </a:solidFill>
                <a:latin typeface="Calibri"/>
              </a:rPr>
              <a:t>Rules: Tax = amount × 1.10  |  Discount = 5% if amount ≥ $100  |  Net = Tax − Discount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7955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amount_with_tax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discount_amount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$30.00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$80.00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3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955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amount_with_tax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discount_amount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$55.00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$55.00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$30.00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$33.00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$33.00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$80.00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$88.00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$88.00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4747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Only order #1 ($100) qualifies for the 5% discount. The threshold is &gt;= 100.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Understanding Our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30 min  ·  Deep-dive into the lab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Lab Scenario — E-Commerce Order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320040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3200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5858"/>
                </a:solidFill>
                <a:latin typeface="Calibri"/>
              </a:rPr>
              <a:t>Raw /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customers.csv · orders.csv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products.csv · orders.cdc (Kafka)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560320"/>
            <a:ext cx="2286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560320" cy="320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011680" cy="3200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5858"/>
                </a:solidFill>
                <a:latin typeface="Calibri"/>
              </a:rPr>
              <a:t>Cleaned / Enriched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customers_cleaned.csv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orders_enriched.csv · PostgreSQL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2560320"/>
            <a:ext cx="2286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560320" cy="3200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2011680" cy="3200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5858"/>
                </a:solidFill>
                <a:latin typeface="Calibri"/>
              </a:rPr>
              <a:t>Analytics-Ready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860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customer_totals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stream_analytics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060"/>
                </a:solidFill>
                <a:latin typeface="Calibri"/>
              </a:rPr>
              <a:t>We build the full Bronze → Silver → Gold pipeline using Apache Hop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Dataset 1: first_pipeline_source.csv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Purpose: Simplest dataset — learn the basic CSV → CSV pipeline pattern.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0467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Unique customer identifier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City of residence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017520"/>
            <a:ext cx="82296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7955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customer_id,customer_name,city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1,Ada Lovelace,London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2,Grace Hopper,New York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3,Katherine Johnson,White Sulphur Springs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Fun fact: These are real CS pioneers! Ada Lovelace wrote the first algorithm (1843), Grace Hopper invented the compiler.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Dataset 2: customers.csv — Data Quality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Issues Present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Duplicate IDs exist (101 appears twice)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May need trimming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Mixed case, empty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'00' prefix instead of '+'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Lowercase instead of ISO uppercase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order_amount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issues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060"/>
                </a:solidFill>
                <a:latin typeface="Calibri"/>
              </a:rPr>
              <a:t>Why these issues? Real-world data is messy. Common problems include: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Duplicate records from system migrations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Inconsistent formatting from different data entry systems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Missing required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Fact Tables vs. Dimension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0116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2060"/>
                </a:solidFill>
                <a:latin typeface="Calibri"/>
              </a:rPr>
              <a:t>Fact Table: orders.csv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Records business EVENTS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order_id, customer_id, product_id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status, amount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Many rows, grows over time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002060"/>
                </a:solidFill>
                <a:latin typeface="Calibri"/>
              </a:rPr>
              <a:t>•  Contains foreign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93192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Dimension Table: products.csv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Stores DESCRIPTIVE attributes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product_id, product_name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category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Few rows, changes rarely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Contains primary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7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We JOIN fact and dimension tables to create enriched, analysis-ready datasets. This is the core of data warehousing.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PostgreSQL Tables — Silver/Gold Layer Storage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customers_cleaned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Deduplicated, normalized 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enriched_orders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Orders joined with product data +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stream_analytics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Aggregated Kafka stream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hop_processing_log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 execution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060"/>
                </a:solidFill>
                <a:latin typeface="Calibri"/>
              </a:rPr>
              <a:t>Schema for customers_cleaned: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8229600" cy="24871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749039"/>
            <a:ext cx="795528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CREATE TABLE customers_cleaned 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customer_id    INTEGER PRIMARY KEY,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customer_name  VARCHAR(255) NOT NULL,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email          VARCHAR(255),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phone_normalized VARCHAR(32),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country        VARCHAR(8),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order_amount   NUMERIC(12, 2),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duplicate_count INTEGER,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processed_at   TIMESTAMP,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loaded_at      TIMESTAMP DEFAULT CURRENT_TIMESTAMP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Dataset: Kafka Stream — orders.cdc (CDC Events)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7955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"order_id": 1,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"customer_id": 101,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"product_id": "P1",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"status": "NEW",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"amount": 100.00,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"event_time": "2026-06-07T09:30:15.123Z"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Events sent by orders_producer.py: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66160"/>
          <a:ext cx="7955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represents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 laptop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 smartphone order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UPDATED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 1 amount changed (CDC)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 smartphone order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85858"/>
                </a:solidFill>
                <a:latin typeface="Calibri"/>
              </a:rPr>
              <a:t>Event #3 is an UPDATE to order #1 — this is how CDC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Workflows &amp;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30 min  ·  Sequential orchestration with error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Pipelines vs. Workflows — 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Pipeline (.hpl)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Workflow (.hwf)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Process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Orchestrate pipelines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Building blocks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All in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SEQUENTIAL by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 handling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Rows flow between transforms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data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Error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Transform-level error hops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Action success/failure branching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Not allowed (DAG)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Allowed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File extension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.hpl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.hwf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12064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21207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Rule of thumb: Use pipelines to DO the work. Use workflows to COORDINATE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Our Lab Workflow: 01_day6_batch_orchestration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0"/>
            <a:ext cx="10515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Start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8872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25880" y="1371600"/>
            <a:ext cx="105156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First Pipeline (00)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14600" y="1371600"/>
            <a:ext cx="105156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Clean Customers (01)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6616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03320" y="1371600"/>
            <a:ext cx="105156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Enrich Orders (02)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92040" y="1371600"/>
            <a:ext cx="105156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Write to PG (03)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0760" y="1371600"/>
            <a:ext cx="105156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Read from PG (04)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2320" y="1737360"/>
            <a:ext cx="137160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69480" y="1371600"/>
            <a:ext cx="105156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14173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Calibri"/>
              </a:rPr>
              <a:t>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200400"/>
            <a:ext cx="4114800" cy="6400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3246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FAILURE (Abort) — Any pipeline failure routes here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783080" y="2423160"/>
            <a:ext cx="137160" cy="73152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2971800" y="2423160"/>
            <a:ext cx="137160" cy="73152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wn Arrow 26"/>
          <p:cNvSpPr/>
          <p:nvPr/>
        </p:nvSpPr>
        <p:spPr>
          <a:xfrm>
            <a:off x="4160520" y="2423160"/>
            <a:ext cx="137160" cy="73152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5349240" y="2423160"/>
            <a:ext cx="137160" cy="73152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6537960" y="2423160"/>
            <a:ext cx="137160" cy="73152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Each pipeline must succeed before the next runs. Any failure triggers the Abort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Workflow Hops — Conditional Execution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Hop 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Unconditional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Always execute the next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On Success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Execute only if previous action succeeded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On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Execute only if previous action 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743200"/>
            <a:ext cx="8229600" cy="288950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7955280" cy="270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&lt;!-- Success path --&gt;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&lt;hop&gt;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&lt;from&gt;First Pipeline&lt;/from&gt;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&lt;to&gt;Clean Customers&lt;/to&gt;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&lt;evaluation&gt;Y&lt;/evaluation&gt;       ← Only if First Pipeline SUCCEEDS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&lt;/hop&gt;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&lt;!-- Failure path --&gt;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&lt;hop&gt;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&lt;from&gt;First Pipeline&lt;/from&gt;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&lt;to&gt;Failure&lt;/to&gt;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&lt;evaluation&gt;N&lt;/evaluation&gt;       ← Only if First Pipeline FAILS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&lt;/hop&gt;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Why Use Workflows? Real-World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0116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62828"/>
                </a:solidFill>
                <a:latin typeface="Calibri"/>
              </a:rPr>
              <a:t>Without a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Run pipeline 00 manually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Check if it worked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Run pipeline 01 manually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Check again...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If it fails at 2 AM, nobody notices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93192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With 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Automatic sequential execution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Built-in error detection &amp; abort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Can send email on failure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Can be scheduled (hourly, daily)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Execution logs captured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4 — Fill in the Blanks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1. Workflows use __________, pipelines use __________.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2. Pipelines execute in __________, workflows execute __________ by default.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3. evaluation=Y means the next action runs only if the previous __________.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4. The __________ action is the mandatory entry point of every workflow.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5. Workflow file extension is __________, pipeline is __________.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4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1. Actions / Transforms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2. Parallel / Sequentially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3. Succeeded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4. Start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5. .hwf / .hpl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Database Integration —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45 min  ·  Read/write data to relational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Database Connections in Hop — Metadata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85858"/>
                </a:solidFill>
                <a:latin typeface="Calibri"/>
              </a:rPr>
              <a:t>Database connections are stored as metadata in metadata/rdbms/: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291839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795528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"name": "PostgreSQL_Medallion",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"rdbms":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"POSTGRESQL":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"hostname": "postgres",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"port": "5432",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"databaseName": "medallion_db",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"username": "hop_user",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"password": "hop_password",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"attributes":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  "PREFERRED_SCHEMA_NAME": "public"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The hostname is 'postgres' (Docker service name), not 'localhost'. Containers communicate using service names.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Pipeline 03: Write Customers to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Read Clean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output/customers_cleaned.csv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47472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Write Customers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PostgreSQL → customers_cleaned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554480"/>
            <a:ext cx="777240" cy="27432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74320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Connection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PostgreSQL_Medallion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database to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customers_cleaned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Target table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Truncate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Clear table before inserting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Commit size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 commit for performance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JDBC batch mode — faster inserts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Field Mapping — CSV Columns to DB Columns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 Field (CSV)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Database Column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Different?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customer_name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email_clean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Cleaned version → stored as 'email'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phone_normalized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phone_normalized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country_normalized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Normalized → stored as 'country'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order_amount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order_amount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duplicate_count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duplicate_count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processed_at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processed_at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Best Practice: Use specify_fields=Y to explicitly map fields. Auto-mapping can break if column order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Pipeline 04: Read Customers from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2801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Table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SELECT * FROM customers_cleaned ORDER BY customer_id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47472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Text File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output/customers_from_postgres.csv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645920"/>
            <a:ext cx="777240" cy="27432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This is a verification step — the workflow reads back what was written to confirm the database round-trip works.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4747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DB →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data with SQL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 → 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Insert rows into a table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Insert/Update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 →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Upsert (insert or update)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Database Lookup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DB →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Lookup values during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Best Practices for Database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connection metadata objects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Don't hardcode credentials in pipelines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Set appropriate commit sizes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Too small = slow, too large = memory issues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truncate for full refreshes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Ensures clean state on each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Insert/Update for incremental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Avoids duplicate key violations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Test with small datasets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Catch errors before millions of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${PROJECT_HOME} variables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Keep pipelines portable across environments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5 — Fill in the Blanks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1. DB connections in Hop are stored as __________ objects.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2. truncate=Y means it will __________ the table before inserting.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3. Inside Docker, Hop connects to PostgreSQL using '________'.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4. commit_size=1000 means commit every __________ rows.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5. specify_fields=Y lets you explicitly __________ fields to columns.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5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1. Metadata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2. Clear / Empty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3. postgres (service name)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4. 1000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Calibri"/>
              </a:rPr>
              <a:t>•  5.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Kafka Integration &amp;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45 min  ·  Processing streaming data from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Quick Kafka Recap (from Day 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Python Producer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508760"/>
            <a:ext cx="54864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286000" cy="9144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Kafka Broker Topic: orders.cdc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15000" y="1508760"/>
            <a:ext cx="54864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22860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Hop Pipeline (Consumer)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  <a:latin typeface="Calibri"/>
              </a:rPr>
              <a:t>Key Kafka concepts: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3464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Named channel for messages (orders.cdc)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Producer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Writes messages to a topic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Reads messages from a 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 Group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Coordinates multiple consumers (day6-hop-lab)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Offset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Position in the topic (like a bookmark)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Why Kafka + Hop?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Scenario: E-commerce system generates real-time order events (CDC). We need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Consume events as they arrive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Filter only NEW orders (ignore updates/cancellations)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Deduplicate within each batch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Republish cleaned events to a new topic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Aggregate totals by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3931920" cy="1719072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62828"/>
                </a:solidFill>
                <a:latin typeface="Calibri"/>
              </a:rPr>
              <a:t>Without 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36576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Write custom Kafka consumer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In Python/Java with all logic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Handle errors manually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•  No visual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474720"/>
            <a:ext cx="3931920" cy="17190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With 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886200"/>
            <a:ext cx="36576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Visual pipeline builder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Built-in Kafka transforms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Parallel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2E7D32"/>
                </a:solidFill>
                <a:latin typeface="Calibri"/>
              </a:rPr>
              <a:t>•  Execution monitoring built-in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Kafka Pipeline Architecture — Two-Pipeline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229600" cy="18288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Pipeline 05: consume_orders_kafka (Parent)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743200" cy="6400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Kafka Consumer (orders.cdc)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63040"/>
            <a:ext cx="27432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Dummy (Complete)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1645920"/>
            <a:ext cx="137160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3200400"/>
            <a:ext cx="82296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Pipeline 06: kafka_order_batch_subpipeline (Child)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Injector → Parse JSON → Filter(NEW) → Sort → Dedupe → Build JSON → Publish → Aggregate → Publish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28800" y="2194560"/>
            <a:ext cx="274320" cy="91440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85858"/>
                </a:solidFill>
                <a:latin typeface="Calibri"/>
              </a:rPr>
              <a:t>For each batch, runs sub-pipeline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Kafka Consumer Transform —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orders.cdc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topic to consume from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consumerGroup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day6-hop-lab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 group 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Up to 10 messages per 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batchDuration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 every 5 seconds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subTransform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Batch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Entry point in sub-pipeline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auto.offset.reset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earliest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Start from beginning of topic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bootstrapServers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kafka:29092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Internal Docker 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8463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93775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Batch Size vs Duration: The consumer triggers sub-pipeline when EITHER threshold is reached.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Output Fields from Kafka Consumer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 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message_key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 Kafka message key (order_id)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 full JSON payload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topic this came from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offset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Position in the partition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partition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partition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kafka_timestamp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When Kafka received the message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3891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3891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480559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The 'message' field contains raw JSON. The sub-pipeline must PARSE it to extract individual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Sub-Pipeline Step 1: Parse Kafka JSON Messages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8836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95528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event = JSON.parse(message);     // Parse the JSON string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order_id = parseInt(event.order_id, 10);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customer_id = parseInt(event.customer_id, 10);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product_id = String(event.product_id);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status = String(event.status).toUpperCase();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amount = parseFloat(event.amount);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event_time = String(event.event_time);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85858"/>
                </a:solidFill>
                <a:latin typeface="Calibri"/>
              </a:rPr>
              <a:t>Before parsing: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message = '{"order_id":1,"customer_id":101,"status":"NEW","amount":100.00}'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85858"/>
                </a:solidFill>
                <a:latin typeface="Calibri"/>
              </a:rPr>
              <a:t>After parsing: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72000"/>
          <a:ext cx="71323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Sub-Pipeline Step 2: Filter — Keep Only NEW Events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Routed To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 Sort By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 Sort By Order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UPDATED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✗ Ignored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 Sort By Order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47472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Event #3 is a status UPDATE for order 1 — it gets filtered out. Only NEW orders proceed.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3 events pass the filter → continue to Sort &amp; Deduplicate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Sub-Pipeline Steps 3-5: Dedupe, Republish,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3: Sort &amp; Deduplicate — Remove duplicate order_ids within the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4: Build clean JSON and publish to orders.cleaned topic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var clean_message = JSON.stringify({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order_id: order_id, customer_id: customer_id,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product_id: product_id, status: status,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amount: amount, event_time: event_time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5: Aggregate by customer and publish to orders.customer_totals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77724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order_count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average_amount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This is the Medallion pattern in streaming — raw events (Bronze) → cleaned events (Silver) → aggregates (Gold).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The Complete Kafka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651760" cy="320040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28600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orders.cdc (4 events)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E1:NEW  E2:NEW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E3:UPDATED  E4:NEW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560320"/>
            <a:ext cx="18288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54679" y="1188720"/>
            <a:ext cx="2651760" cy="32004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37559" y="1325880"/>
            <a:ext cx="228600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59" y="13441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Sub-pipeline 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Parse → Filter →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Sort → Dedupe →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Publish → Aggregate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59" y="2560320"/>
            <a:ext cx="182880" cy="18288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35040" y="1188720"/>
            <a:ext cx="265176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2286000" cy="274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3441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orders.cleaned (3) orders.customer_totals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Cleaned NEW events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Calibri"/>
              </a:rPr>
              <a:t>Per-customer aggregates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6 — Match the Following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orders.cdc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 size per sub-pipeline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orders.cleaned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Entry point transform in sub-pipeline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batchSize=10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Raw CDC events from producer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Injector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Deduplicated NEW events 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Coordinates offset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Mini Exercise 6 —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320040"/>
            <a:ext cx="1188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0" y="338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Correct Match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A: orders.cdc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 — Raw CDC events from producer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B: orders.cleaned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 — Deduplicated NEW events 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C: batchSize=10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 — Batch size per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D: Injector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 — Entry point transform in sub-pipeline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E: consumerGroup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 — Coordinates offset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MCQ Assessment &amp;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15 min  ·  Test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does 'Hop' in Apache Hop stand for?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High-Output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Hop Orchestration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Hadoop Optimized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Hybrid Operations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1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does 'Hop' in Apache Hop stand for?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High-Output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Hop Orchestration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Hadoop Optimized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Hybrid Operations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Apache Hop = Hop Orchestration Platform — a data orchestration and engineering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In an Apache Hop Pipeline, how do transforms execute?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Sequentially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Only when manually triggered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In random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2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In an Apache Hop Pipeline, how do transforms execute?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Sequentially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Only when manually triggered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In random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All transforms start simultaneously. Data flows between them through hops like a conveyor belt.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is the purpose of the Unique Rows transform?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Generate unique 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Remove duplicate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Sort rows in unique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Validate uniqueness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3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is the purpose of the Unique Rows transform?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Generate unique 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Remove duplicate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Sort rows in unique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Validate uniqueness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Unique Rows removes consecutive duplicate rows. Requires data to be sorted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file extension does a Hop Pipeline use?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.hpf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.ktr (Kettle format)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.hpl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4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file extension does a Hop Pipeline use?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.hpf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B) .ktr (Kettle format)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C) .hpl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.xml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.hpl = Hop Pipeline Language. Workflows use .hwf.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When a workflow action fails and the hop has evaluation=N, what happens?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Workflow stops immediately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Next action on failure path executes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Action retries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Continues to success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5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When a workflow action fails and the hop has evaluation=N, what happens?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Workflow stops immediately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Next action on failure path executes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Action retries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Continues to success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evaluation=N represents the failure path. In our lab, this routes to the Abort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is the role of the Stream Lookup transform?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Look up data from a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Join data from two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Search for text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Monitor stream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6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is the role of the Stream Lookup transform?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Look up data from a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Join data from two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Search for text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Monitor stream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Stream Lookup loads one stream into memory and joins by key — like VLOOKUP or LEFT JOIN.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does batchDuration=5000 mean in the Kafka Consumer?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Consumer waits 5000ms before starting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Each message processed for max 5000ms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Sub-pipeline triggered every 5000ms or batch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Consumer disconnects after 5000ms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7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does batchDuration=5000 mean in the Kafka Consumer?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Consumer waits 5000ms before starting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B) Each message processed for max 5000ms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C) Sub-pipeline triggered every 5000ms or batch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Consumer disconnects after 5000ms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Whichever threshold (batchSize or batchDuration) is reached first triggers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does the Injector transform do in the Kafka sub-pipeline?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Injects sample data for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Receives rows from parent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Injects SQL into a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Creates new Kafka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8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does the Injector transform do in the Kafka sub-pipeline?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Injects sample data for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Receives rows from parent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Injects SQL into a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Creates new Kafka 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The Injector receives batched message rows from the Kafka Consumer parent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Which is NOT a valid Apache Hop use case?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Data warehouse population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Real-time web app 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Data migration between DBs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Data profiling and cleansing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9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Which is NOT a valid Apache Hop use case?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Data warehouse population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B) Real-time web app 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C) Data migration between DBs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Data profiling and cleansing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Hop is a data engineering tool for ETL/ELT, not for serving web application requests.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  <a:latin typeface="Calibri"/>
              </a:rPr>
              <a:t>What is the correct workflow execution order?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A) Clean → First → Enrich →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B) First → Enrich → Clean →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C) First → Clean → Enrich → Write PG → Read 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7315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Calibri"/>
              </a:rPr>
              <a:t>D) Start → Clean → First →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MCQ 10 —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5858"/>
                </a:solidFill>
                <a:latin typeface="Calibri"/>
              </a:rPr>
              <a:t>What is the correct workflow execution order?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A) Clean → First → Enrich →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B) First → Enrich → Clean →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38404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32"/>
                </a:solidFill>
                <a:latin typeface="Calibri"/>
              </a:rPr>
              <a:t>C) First → Clean → Enrich → Write PG → Read 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731520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E9E9E"/>
                </a:solidFill>
                <a:latin typeface="Calibri"/>
              </a:rPr>
              <a:t>D) Start → Clean → First → 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002060"/>
                </a:solidFill>
                <a:latin typeface="Calibri"/>
              </a:rPr>
              <a:t>First Pipeline (warmup) → Clean → Enrich → Write to PG → Read from PG (verify).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Day 6 Summary — Key Takeaways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Learned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Metadata-driven, plugin-based, runtime-flexible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DAGs of transforms that process data in parallel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400+ plugins: CSV Input, Filter, Sort, Lookup, JS, 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Workflows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Sequential orchestration with success/failure branching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 Cleaning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Normalize → Filter → Sort → Deduplicate 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Output/Input with metadata-defined connections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Consumer → Sub-pipeline → Filter → Republish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Medallion in Hop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Bronze (raw) → Silver (cleaned) → Gold (aggregated)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What's Coming Next — Day 7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Error handling strategies in production pipelines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Parameters and variables for dynamic pipelines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Logging and monitoring pipeline execution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Performance tuning — partitioning, batch sizes, memory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Integration with Apache Beam runtime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•  Building reusable pipeline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BDEFB"/>
                </a:solidFill>
                <a:latin typeface="Calibri"/>
              </a:rPr>
              <a:t>LAB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Building Hop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BDEFB"/>
                </a:solidFill>
                <a:latin typeface="Calibri"/>
              </a:rPr>
              <a:t>Duration: 60 min (16:00 – 17:00)  ·  Instructor-guided,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Prerequisites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Message broker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UI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day6-kafka-ui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8080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Topic browser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day6-postgres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Relational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Web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day6-hop-web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8082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Visual IDE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day6-hop-cli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Batch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Docker Desktop running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Lab files cloned from repository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Terminal open in Lab_Files/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1: Start the Environment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1: Generate sample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python generate_data.py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2: Start all Docker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8229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7955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docker compose up 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3: Verify services are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82296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7955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docker compose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4: Open Hop Web IDE → http://localhost:8082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2: Run the First Pipeline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In Hop Web, open pipelines/00_first_pipeline_csv_to_csv.hpl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Click the Run button (or press F8)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Select "local" run configuration → Launch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Verify green checkmarks on both transforms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Check output/first_pipeline_result.csv — should have 3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Expected output: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82296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931920"/>
            <a:ext cx="7955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customer_id,customer_name,city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1,Ada Lovelace,London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2,Grace Hopper,New York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3,Katherine Johnson,White Sulphur Springs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3: Clean Customer Data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Open pipelines/01_clean_customers.hpl in Hop Web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Examine each transform's configuration (double-click)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Run the pipeline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Check output/customers_cleaned.csv — should have 3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Verification questions: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How many rows were rejected? (1 — Dana Null, no email)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What happened to Alice's duplicate? (Removed by Unique Rows)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What format are phone numbers now? (+49... instead of 0049...)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4–5: Enrich Orders &amp; Database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Task 4: Run 02_enrich_orders.hpl and verify lookup join + calculated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Task 5: Write to and read from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14813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79552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# Run pipeline 03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# Then verify with psql: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docker exec -it day6-postgres psql -U hop_user -d medallion_db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-c "SELECT * FROM customers_cleaned;"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# Run pipeline 04 to read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6: Run the Batch Workflow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Open workflows/01_day6_batch_orchestration.hwf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Run the workflow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Observe sequential execution — each action turns green on success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Verify all output files were regenerated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If any pipeline fails: check log, fix issue, re-run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Task 7: Kafka Streaming Pipeline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1: Install Kafka library &amp; send events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pip install kafka-python==2.0.2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python orders_producer.py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Step 2: Verify in Kafka UI (http://localhost:8080) — 4 messages in orders.cdc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060"/>
                </a:solidFill>
                <a:latin typeface="Calibri"/>
              </a:rPr>
              <a:t>Step 3: Run the Kafka consumer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82296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7955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docker exec -it day6-hop-cli /opt/hop/hop-run.sh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-j day6_hop_lab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-f /project/pipelines/05_consume_orders_kafka.hpl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Consolas"/>
              </a:rPr>
              <a:t>    -r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Step 4: Check Kafka UI for new topics: orders.cleaned, orders.customer_totals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Lab Troubleshooting Guide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Web not loading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Wait 30s, check docker logs day6-hop-web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Connection refused (PG)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Ensure day6-postgres is healthy: docker compose 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File not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 python generate_data.py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Kafka messages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 orders_producer.py, check auto.offset.reset=earliest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Project not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docker compose restart hop-web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9144000" cy="32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Day 6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  <a:latin typeface="Calibri"/>
              </a:rPr>
              <a:t>Data Transformation with Apache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563C1"/>
                </a:solidFill>
                <a:latin typeface="Calibri"/>
              </a:rPr>
              <a:t>Reading: hop.apache.org/manual/latest/getting-started/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Appendix: Common Hop Transforms Quick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804672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CSV File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delimited text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Text File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 delimited text files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from database with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Table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Insert rows into 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Filter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Route rows based on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Sort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Sort data by fields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Unique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Remove duplicate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 Lookup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Join two data streams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Scripting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Custom transformation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Consumer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Read from Kafka topics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Kafka Producer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Write to Kafka topics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Injector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Receive rows from parent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Group 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Aggregate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Aggregate rows by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Appendix: Hop Keyboard Shortcuts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Shortcut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Run pipeline/workflow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Ctrl+S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Save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Ctrl+Z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Undo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Ctrl+Shift+Z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Redo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Shift+Drag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Create a hop between transforms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Click canvas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Open transform/action selector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Double-click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Edit transform properties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Remove selected transform/hop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Ctrl+A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Select 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2060"/>
                </a:solidFill>
                <a:latin typeface="Calibri"/>
              </a:rPr>
              <a:t>Appendix: Glossary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0467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Directed Acyclic Graph — no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Change Data Capture — tracking data changes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ETL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Extract, Transform, 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ELT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Extract, Load, Transform (modern pattern)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Connection between transforms or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.hpl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Pipeline Language file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.hwf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Hop Workflow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 about data — configs, connections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Sub-pipeline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Pipeline called by another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Data processing operation in a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Orchestration operation in a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9E9E"/>
                </a:solidFill>
                <a:latin typeface="Calibri"/>
              </a:rPr>
              <a:t>Day 6 · Apache Hop  |  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8777</Words>
  <Application>Microsoft Office PowerPoint</Application>
  <PresentationFormat>On-screen Show (4:3)</PresentationFormat>
  <Paragraphs>1792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Quidzohar Morbiwala</cp:lastModifiedBy>
  <cp:revision>1</cp:revision>
  <dcterms:created xsi:type="dcterms:W3CDTF">2013-01-27T09:14:16Z</dcterms:created>
  <dcterms:modified xsi:type="dcterms:W3CDTF">2026-06-08T01:10:53Z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2026-06-07T17:33:36Z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229938cc-c0a7-4442-b00a-b49ed32df7fd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 Label: General</vt:lpwstr>
  </property>
</Properties>
</file>