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f1cb904b7f4c4c" /><Relationship Type="http://schemas.openxmlformats.org/officeDocument/2006/relationships/extended-properties" Target="/docProps/app.xml" Id="R318064297c59467e" /><Relationship Type="http://schemas.openxmlformats.org/officeDocument/2006/relationships/officeDocument" Target="/ppt/presentation.xml" Id="R95e1dacb14f74290" /></Relationships>
</file>

<file path=ppt/presentation.xml><?xml version="1.0" encoding="utf-8"?>
<p:presentation xmlns:p="http://schemas.openxmlformats.org/presentationml/2006/main">
  <p:sldMasterIdLst>
    <p:sldMasterId xmlns:r="http://schemas.openxmlformats.org/officeDocument/2006/relationships" id="2147483648" r:id="R5b1bf53e0f664160"/>
  </p:sldMasterIdLst>
  <p:notesMasterIdLst>
    <p:notesMasterId xmlns:r="http://schemas.openxmlformats.org/officeDocument/2006/relationships" r:id="Rc3ec0246f7ce4a59"/>
  </p:notesMasterIdLst>
  <p:sldIdLst>
    <p:sldId xmlns:r="http://schemas.openxmlformats.org/officeDocument/2006/relationships" id="256" r:id="R89dfbd4d7da7461d"/>
    <p:sldId xmlns:r="http://schemas.openxmlformats.org/officeDocument/2006/relationships" id="257" r:id="R4c045eb08c504ecf"/>
    <p:sldId xmlns:r="http://schemas.openxmlformats.org/officeDocument/2006/relationships" id="258" r:id="R95729d6e64fe4ba0"/>
    <p:sldId xmlns:r="http://schemas.openxmlformats.org/officeDocument/2006/relationships" id="259" r:id="Ra754891f784340fa"/>
    <p:sldId xmlns:r="http://schemas.openxmlformats.org/officeDocument/2006/relationships" id="260" r:id="Rf94d37cd903a492b"/>
    <p:sldId xmlns:r="http://schemas.openxmlformats.org/officeDocument/2006/relationships" id="261" r:id="R8a254ee89aa94bf9"/>
    <p:sldId xmlns:r="http://schemas.openxmlformats.org/officeDocument/2006/relationships" id="262" r:id="Ra5f7a6c3284b495c"/>
    <p:sldId xmlns:r="http://schemas.openxmlformats.org/officeDocument/2006/relationships" id="263" r:id="Refe1670b3e234233"/>
    <p:sldId xmlns:r="http://schemas.openxmlformats.org/officeDocument/2006/relationships" id="264" r:id="R796718af6c6d471f"/>
    <p:sldId xmlns:r="http://schemas.openxmlformats.org/officeDocument/2006/relationships" id="265" r:id="R8d1ed24298fc4491"/>
    <p:sldId xmlns:r="http://schemas.openxmlformats.org/officeDocument/2006/relationships" id="266" r:id="Re335d2f4fc814755"/>
    <p:sldId xmlns:r="http://schemas.openxmlformats.org/officeDocument/2006/relationships" id="267" r:id="R1b760b5f6a5c4730"/>
    <p:sldId xmlns:r="http://schemas.openxmlformats.org/officeDocument/2006/relationships" id="268" r:id="R08c38ae2eb9c471b"/>
    <p:sldId xmlns:r="http://schemas.openxmlformats.org/officeDocument/2006/relationships" id="269" r:id="Rbad9bcb124c345b7"/>
    <p:sldId xmlns:r="http://schemas.openxmlformats.org/officeDocument/2006/relationships" id="270" r:id="R81d6678944dc41fe"/>
    <p:sldId xmlns:r="http://schemas.openxmlformats.org/officeDocument/2006/relationships" id="271" r:id="Rd7e6e07f551f4ec1"/>
    <p:sldId xmlns:r="http://schemas.openxmlformats.org/officeDocument/2006/relationships" id="272" r:id="Rb1d44fc8c5a245ad"/>
    <p:sldId xmlns:r="http://schemas.openxmlformats.org/officeDocument/2006/relationships" id="273" r:id="R140df07f98824f8e"/>
    <p:sldId xmlns:r="http://schemas.openxmlformats.org/officeDocument/2006/relationships" id="274" r:id="R2b35d74b80034885"/>
    <p:sldId xmlns:r="http://schemas.openxmlformats.org/officeDocument/2006/relationships" id="275" r:id="R3c7a1d34b89248f6"/>
    <p:sldId xmlns:r="http://schemas.openxmlformats.org/officeDocument/2006/relationships" id="276" r:id="Rfcc7819d03b14e65"/>
    <p:sldId xmlns:r="http://schemas.openxmlformats.org/officeDocument/2006/relationships" id="277" r:id="R254a3e01ce2641d0"/>
    <p:sldId xmlns:r="http://schemas.openxmlformats.org/officeDocument/2006/relationships" id="278" r:id="R1c200105ab964287"/>
    <p:sldId xmlns:r="http://schemas.openxmlformats.org/officeDocument/2006/relationships" id="279" r:id="R8e30fd4f78854e63"/>
    <p:sldId xmlns:r="http://schemas.openxmlformats.org/officeDocument/2006/relationships" id="280" r:id="R33dbccadf7234759"/>
    <p:sldId xmlns:r="http://schemas.openxmlformats.org/officeDocument/2006/relationships" id="281" r:id="Ree09d51a43b648c7"/>
    <p:sldId xmlns:r="http://schemas.openxmlformats.org/officeDocument/2006/relationships" id="282" r:id="R0283a53efe4a4e82"/>
    <p:sldId xmlns:r="http://schemas.openxmlformats.org/officeDocument/2006/relationships" id="283" r:id="Rf91c8d2db4f4475d"/>
    <p:sldId xmlns:r="http://schemas.openxmlformats.org/officeDocument/2006/relationships" id="284" r:id="Rc14cc0bf0e244700"/>
    <p:sldId xmlns:r="http://schemas.openxmlformats.org/officeDocument/2006/relationships" id="285" r:id="R7a9f41f64d4140ee"/>
    <p:sldId xmlns:r="http://schemas.openxmlformats.org/officeDocument/2006/relationships" id="286" r:id="Rdf24b12627124ba4"/>
    <p:sldId xmlns:r="http://schemas.openxmlformats.org/officeDocument/2006/relationships" id="287" r:id="R3c6a55b4b73a469c"/>
    <p:sldId xmlns:r="http://schemas.openxmlformats.org/officeDocument/2006/relationships" id="288" r:id="Rbc2e548b99ac42d0"/>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b1bf53e0f664160" /><Relationship Type="http://schemas.openxmlformats.org/officeDocument/2006/relationships/theme" Target="/ppt/theme/theme1.xml" Id="R18c3977b14dd4812" /><Relationship Type="http://schemas.openxmlformats.org/officeDocument/2006/relationships/notesMaster" Target="/ppt/notesMasters/notesMaster1.xml" Id="Rc3ec0246f7ce4a59" /><Relationship Type="http://schemas.openxmlformats.org/officeDocument/2006/relationships/presProps" Target="/ppt/presProps.xml" Id="Re1be30dd06204b77" /><Relationship Type="http://schemas.openxmlformats.org/officeDocument/2006/relationships/viewProps" Target="/ppt/viewProps.xml" Id="R2760ed506b014175" /><Relationship Type="http://schemas.openxmlformats.org/officeDocument/2006/relationships/tableStyles" Target="/ppt/tableStyles.xml" Id="R19f2942a2fc0423d" /><Relationship Type="http://schemas.openxmlformats.org/officeDocument/2006/relationships/slide" Target="/ppt/slides/slide1.xml" Id="R89dfbd4d7da7461d" /><Relationship Type="http://schemas.openxmlformats.org/officeDocument/2006/relationships/slide" Target="/ppt/slides/slide2.xml" Id="R4c045eb08c504ecf" /><Relationship Type="http://schemas.openxmlformats.org/officeDocument/2006/relationships/slide" Target="/ppt/slides/slide3.xml" Id="R95729d6e64fe4ba0" /><Relationship Type="http://schemas.openxmlformats.org/officeDocument/2006/relationships/slide" Target="/ppt/slides/slide4.xml" Id="Ra754891f784340fa" /><Relationship Type="http://schemas.openxmlformats.org/officeDocument/2006/relationships/slide" Target="/ppt/slides/slide5.xml" Id="Rf94d37cd903a492b" /><Relationship Type="http://schemas.openxmlformats.org/officeDocument/2006/relationships/slide" Target="/ppt/slides/slide6.xml" Id="R8a254ee89aa94bf9" /><Relationship Type="http://schemas.openxmlformats.org/officeDocument/2006/relationships/slide" Target="/ppt/slides/slide7.xml" Id="Ra5f7a6c3284b495c" /><Relationship Type="http://schemas.openxmlformats.org/officeDocument/2006/relationships/slide" Target="/ppt/slides/slide8.xml" Id="Refe1670b3e234233" /><Relationship Type="http://schemas.openxmlformats.org/officeDocument/2006/relationships/slide" Target="/ppt/slides/slide9.xml" Id="R796718af6c6d471f" /><Relationship Type="http://schemas.openxmlformats.org/officeDocument/2006/relationships/slide" Target="/ppt/slides/slide10.xml" Id="R8d1ed24298fc4491" /><Relationship Type="http://schemas.openxmlformats.org/officeDocument/2006/relationships/slide" Target="/ppt/slides/slide11.xml" Id="Re335d2f4fc814755" /><Relationship Type="http://schemas.openxmlformats.org/officeDocument/2006/relationships/slide" Target="/ppt/slides/slide12.xml" Id="R1b760b5f6a5c4730" /><Relationship Type="http://schemas.openxmlformats.org/officeDocument/2006/relationships/slide" Target="/ppt/slides/slide13.xml" Id="R08c38ae2eb9c471b" /><Relationship Type="http://schemas.openxmlformats.org/officeDocument/2006/relationships/slide" Target="/ppt/slides/slide14.xml" Id="Rbad9bcb124c345b7" /><Relationship Type="http://schemas.openxmlformats.org/officeDocument/2006/relationships/slide" Target="/ppt/slides/slide15.xml" Id="R81d6678944dc41fe" /><Relationship Type="http://schemas.openxmlformats.org/officeDocument/2006/relationships/slide" Target="/ppt/slides/slide16.xml" Id="Rd7e6e07f551f4ec1" /><Relationship Type="http://schemas.openxmlformats.org/officeDocument/2006/relationships/slide" Target="/ppt/slides/slide17.xml" Id="Rb1d44fc8c5a245ad" /><Relationship Type="http://schemas.openxmlformats.org/officeDocument/2006/relationships/slide" Target="/ppt/slides/slide18.xml" Id="R140df07f98824f8e" /><Relationship Type="http://schemas.openxmlformats.org/officeDocument/2006/relationships/slide" Target="/ppt/slides/slide19.xml" Id="R2b35d74b80034885" /><Relationship Type="http://schemas.openxmlformats.org/officeDocument/2006/relationships/slide" Target="/ppt/slides/slide20.xml" Id="R3c7a1d34b89248f6" /><Relationship Type="http://schemas.openxmlformats.org/officeDocument/2006/relationships/slide" Target="/ppt/slides/slide21.xml" Id="Rfcc7819d03b14e65" /><Relationship Type="http://schemas.openxmlformats.org/officeDocument/2006/relationships/slide" Target="/ppt/slides/slide22.xml" Id="R254a3e01ce2641d0" /><Relationship Type="http://schemas.openxmlformats.org/officeDocument/2006/relationships/slide" Target="/ppt/slides/slide23.xml" Id="R1c200105ab964287" /><Relationship Type="http://schemas.openxmlformats.org/officeDocument/2006/relationships/slide" Target="/ppt/slides/slide24.xml" Id="R8e30fd4f78854e63" /><Relationship Type="http://schemas.openxmlformats.org/officeDocument/2006/relationships/slide" Target="/ppt/slides/slide25.xml" Id="R33dbccadf7234759" /><Relationship Type="http://schemas.openxmlformats.org/officeDocument/2006/relationships/slide" Target="/ppt/slides/slide26.xml" Id="Ree09d51a43b648c7" /><Relationship Type="http://schemas.openxmlformats.org/officeDocument/2006/relationships/slide" Target="/ppt/slides/slide27.xml" Id="R0283a53efe4a4e82" /><Relationship Type="http://schemas.openxmlformats.org/officeDocument/2006/relationships/slide" Target="/ppt/slides/slide28.xml" Id="Rf91c8d2db4f4475d" /><Relationship Type="http://schemas.openxmlformats.org/officeDocument/2006/relationships/slide" Target="/ppt/slides/slide29.xml" Id="Rc14cc0bf0e244700" /><Relationship Type="http://schemas.openxmlformats.org/officeDocument/2006/relationships/slide" Target="/ppt/slides/slide30.xml" Id="R7a9f41f64d4140ee" /><Relationship Type="http://schemas.openxmlformats.org/officeDocument/2006/relationships/slide" Target="/ppt/slides/slide31.xml" Id="Rdf24b12627124ba4" /><Relationship Type="http://schemas.openxmlformats.org/officeDocument/2006/relationships/slide" Target="/ppt/slides/slide32.xml" Id="R3c6a55b4b73a469c" /><Relationship Type="http://schemas.openxmlformats.org/officeDocument/2006/relationships/slide" Target="/ppt/slides/slide33.xml" Id="Rbc2e548b99ac42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01c594200903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dk1"/>
        </a:solidFill>
        <a:solidFill>
          <a:schemeClr val="accent1"/>
        </a:soli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4addb3c5e84e7e" /><Relationship Type="http://schemas.openxmlformats.org/officeDocument/2006/relationships/notesMaster" Target="/ppt/notesMasters/notesMaster1.xml" Id="Rb3ef852b432441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45a819bed5427a" /><Relationship Type="http://schemas.openxmlformats.org/officeDocument/2006/relationships/notesMaster" Target="/ppt/notesMasters/notesMaster1.xml" Id="Rce6ff604527741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a876b5318145e9" /><Relationship Type="http://schemas.openxmlformats.org/officeDocument/2006/relationships/notesMaster" Target="/ppt/notesMasters/notesMaster1.xml" Id="R81182a8227c443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4cc4624ea44dfb" /><Relationship Type="http://schemas.openxmlformats.org/officeDocument/2006/relationships/notesMaster" Target="/ppt/notesMasters/notesMaster1.xml" Id="Rbc572b56f68e43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785e44c01d41d0" /><Relationship Type="http://schemas.openxmlformats.org/officeDocument/2006/relationships/notesMaster" Target="/ppt/notesMasters/notesMaster1.xml" Id="R71d7407280e540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3270ce29524ec8" /><Relationship Type="http://schemas.openxmlformats.org/officeDocument/2006/relationships/notesMaster" Target="/ppt/notesMasters/notesMaster1.xml" Id="R67b6562e9f8a49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c74b2e4f7e460f" /><Relationship Type="http://schemas.openxmlformats.org/officeDocument/2006/relationships/notesMaster" Target="/ppt/notesMasters/notesMaster1.xml" Id="R78a73925282b4d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c6f96e54d942e2" /><Relationship Type="http://schemas.openxmlformats.org/officeDocument/2006/relationships/notesMaster" Target="/ppt/notesMasters/notesMaster1.xml" Id="Re616f1d5939b4b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f8f454bf2f43ba" /><Relationship Type="http://schemas.openxmlformats.org/officeDocument/2006/relationships/notesMaster" Target="/ppt/notesMasters/notesMaster1.xml" Id="Rf1e82d9c6f8748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4c9533375843ae" /><Relationship Type="http://schemas.openxmlformats.org/officeDocument/2006/relationships/notesMaster" Target="/ppt/notesMasters/notesMaster1.xml" Id="Re4e2e98b534141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d383d4983c48e8" /><Relationship Type="http://schemas.openxmlformats.org/officeDocument/2006/relationships/notesMaster" Target="/ppt/notesMasters/notesMaster1.xml" Id="R1ac265b3397142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3e3f5a3860434e" /><Relationship Type="http://schemas.openxmlformats.org/officeDocument/2006/relationships/notesMaster" Target="/ppt/notesMasters/notesMaster1.xml" Id="Rda3cfbd0758d4d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59595f638a483c" /><Relationship Type="http://schemas.openxmlformats.org/officeDocument/2006/relationships/notesMaster" Target="/ppt/notesMasters/notesMaster1.xml" Id="R1ba5d143971840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4a9282fefd4776" /><Relationship Type="http://schemas.openxmlformats.org/officeDocument/2006/relationships/notesMaster" Target="/ppt/notesMasters/notesMaster1.xml" Id="R7873dfc1736c43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f9930175f14b21" /><Relationship Type="http://schemas.openxmlformats.org/officeDocument/2006/relationships/notesMaster" Target="/ppt/notesMasters/notesMaster1.xml" Id="Rdb2571bed0e5467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65a2b529eb46e4" /><Relationship Type="http://schemas.openxmlformats.org/officeDocument/2006/relationships/notesMaster" Target="/ppt/notesMasters/notesMaster1.xml" Id="R567a191f8d9345b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98e1bd5878140e1" /><Relationship Type="http://schemas.openxmlformats.org/officeDocument/2006/relationships/notesMaster" Target="/ppt/notesMasters/notesMaster1.xml" Id="R9a4be01e4980443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ab316bbe944a41" /><Relationship Type="http://schemas.openxmlformats.org/officeDocument/2006/relationships/notesMaster" Target="/ppt/notesMasters/notesMaster1.xml" Id="R93514d5af16845a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c07ddd387034e95" /><Relationship Type="http://schemas.openxmlformats.org/officeDocument/2006/relationships/notesMaster" Target="/ppt/notesMasters/notesMaster1.xml" Id="Rc377845f15a54ee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8f1287ac4e843d3" /><Relationship Type="http://schemas.openxmlformats.org/officeDocument/2006/relationships/notesMaster" Target="/ppt/notesMasters/notesMaster1.xml" Id="Rf245af8e4ba94b9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feb8e3c9e904b70" /><Relationship Type="http://schemas.openxmlformats.org/officeDocument/2006/relationships/notesMaster" Target="/ppt/notesMasters/notesMaster1.xml" Id="R50f459e2f71c42e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b0d92b54ab24199" /><Relationship Type="http://schemas.openxmlformats.org/officeDocument/2006/relationships/notesMaster" Target="/ppt/notesMasters/notesMaster1.xml" Id="Rd642d2af34c748d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e6f80c441e4d5b" /><Relationship Type="http://schemas.openxmlformats.org/officeDocument/2006/relationships/notesMaster" Target="/ppt/notesMasters/notesMaster1.xml" Id="R078c58ac41ee45d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5c25832e494990" /><Relationship Type="http://schemas.openxmlformats.org/officeDocument/2006/relationships/notesMaster" Target="/ppt/notesMasters/notesMaster1.xml" Id="R490fb249af03438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f12b9f2242542d5" /><Relationship Type="http://schemas.openxmlformats.org/officeDocument/2006/relationships/notesMaster" Target="/ppt/notesMasters/notesMaster1.xml" Id="R8dd81c5615e0466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840f03d54b64c03" /><Relationship Type="http://schemas.openxmlformats.org/officeDocument/2006/relationships/notesMaster" Target="/ppt/notesMasters/notesMaster1.xml" Id="Ra8c5ee80cfb34c9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71e260c20c04d1a" /><Relationship Type="http://schemas.openxmlformats.org/officeDocument/2006/relationships/notesMaster" Target="/ppt/notesMasters/notesMaster1.xml" Id="Rdf36a25afd2749c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662ca8ac1094151" /><Relationship Type="http://schemas.openxmlformats.org/officeDocument/2006/relationships/notesMaster" Target="/ppt/notesMasters/notesMaster1.xml" Id="Rda641ddef806437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f8f7c5c712549e7" /><Relationship Type="http://schemas.openxmlformats.org/officeDocument/2006/relationships/notesMaster" Target="/ppt/notesMasters/notesMaster1.xml" Id="Rbeaa5cdf28004a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2e9b536e7524e9d" /><Relationship Type="http://schemas.openxmlformats.org/officeDocument/2006/relationships/notesMaster" Target="/ppt/notesMasters/notesMaster1.xml" Id="R1f92b81b8b4e409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1d40b68907145c0" /><Relationship Type="http://schemas.openxmlformats.org/officeDocument/2006/relationships/notesMaster" Target="/ppt/notesMasters/notesMaster1.xml" Id="R913a31002464411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a82680d39b14c58" /><Relationship Type="http://schemas.openxmlformats.org/officeDocument/2006/relationships/notesMaster" Target="/ppt/notesMasters/notesMaster1.xml" Id="Re6c3925d18274fb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2a21c12ad7c4eeb" /><Relationship Type="http://schemas.openxmlformats.org/officeDocument/2006/relationships/notesMaster" Target="/ppt/notesMasters/notesMaster1.xml" Id="R3ee02bf1af644d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ae7ead87914cc8" /></Relationships>
</file>

<file path=ppt/slideLayouts/slideLayout2.xml><?xml version="1.0" encoding="utf-8"?>
<p:sldLayout xmlns:p="http://schemas.openxmlformats.org/presentationml/2006/main" type="blank">
  <p:cSld name="DEFAULT">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ec4b401830a04350" /><Relationship Type="http://schemas.openxmlformats.org/officeDocument/2006/relationships/slideLayout" Target="/ppt/slideLayouts/slideLayout2.xml" Id="Rc5a75be605584a20"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B835DAC6-58F6-4BDE-9316-30563D6E998E}"/>
              </a:ext>
            </a:extLst>
          </p:cNvPr>
          <p:cNvSpPr/>
          <p:nvPr>
            <p:ph type="title" idx="0"/>
          </p:nvPr>
        </p:nvSpPr>
        <p:spPr>
          <a:xfrm xmlns:a="http://schemas.openxmlformats.org/drawingml/2006/main">
            <a:off x="457200" y="205200"/>
            <a:ext cx="8229240" cy="85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p:txBody>
      </p:sp>
      <p:sp>
        <p:nvSpPr>
          <p:cNvPr id="3" name="PlaceHolder 2">
            <a:extLst xmlns:a="http://schemas.openxmlformats.org/drawingml/2006/main">
              <a:ext uri="{FF2B5EF4-FFF2-40B4-BE49-F238E27FC236}">
                <a16:creationId xmlns:a16="http://schemas.microsoft.com/office/drawing/2014/main" id="{B289F62A-E9F1-42AD-836D-B5EDA9135F2A}"/>
              </a:ext>
            </a:extLst>
          </p:cNvPr>
          <p:cNvSpPr/>
          <p:nvPr>
            <p:ph type="body" idx="0"/>
          </p:nvPr>
        </p:nvSpPr>
        <p:spPr>
          <a:xfrm xmlns:a="http://schemas.openxmlformats.org/drawingml/2006/main">
            <a:off x="457200" y="1203480"/>
            <a:ext cx="8229240" cy="298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a75be605584a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1f26b48e287e4392" /><Relationship Type="http://schemas.openxmlformats.org/officeDocument/2006/relationships/notesSlide" Target="/ppt/notesSlides/notesSlide1.xml" Id="Rceeccc5cdc1842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1ff32d46fd04489" /><Relationship Type="http://schemas.openxmlformats.org/officeDocument/2006/relationships/image" Target="/ppt/media/image.png" Id="R9e38c5cbfb054d69" /><Relationship Type="http://schemas.openxmlformats.org/officeDocument/2006/relationships/image" Target="/ppt/media/image2.png" Id="R2ee9b68d3b314d10" /><Relationship Type="http://schemas.openxmlformats.org/officeDocument/2006/relationships/image" Target="/ppt/media/image3.png" Id="Rf1acf837d7d54076" /><Relationship Type="http://schemas.openxmlformats.org/officeDocument/2006/relationships/image" Target="/ppt/media/image4.png" Id="R9182058698464796" /><Relationship Type="http://schemas.openxmlformats.org/officeDocument/2006/relationships/image" Target="/ppt/media/image5.png" Id="R36ac2fb964a241ef" /><Relationship Type="http://schemas.openxmlformats.org/officeDocument/2006/relationships/image" Target="/ppt/media/image6.png" Id="R607daba1be3c4638" /><Relationship Type="http://schemas.openxmlformats.org/officeDocument/2006/relationships/hyperlink" Target="file:///C:/Users/Gamer/Downloads/Training/Week 2/Day 9/&#12304;914129425933635&#8224;L24-L41&#12305;" TargetMode="External" Id="R5d15c781e5254257" /><Relationship Type="http://schemas.openxmlformats.org/officeDocument/2006/relationships/hyperlink" Target="file:///C:/Users/Gamer/Downloads/Training/Week 2/Day 9/&#12304;757855153343287&#8224;L120-L131&#12305;" TargetMode="External" Id="Rfb6b336a392a4321" /><Relationship Type="http://schemas.openxmlformats.org/officeDocument/2006/relationships/image" Target="/ppt/media/image7.png" Id="R357a7ba4a7884c18" /><Relationship Type="http://schemas.openxmlformats.org/officeDocument/2006/relationships/notesSlide" Target="/ppt/notesSlides/notesSlide2.xml" Id="R027de0871b084d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2f7fefd78c84935" /><Relationship Type="http://schemas.openxmlformats.org/officeDocument/2006/relationships/image" Target="/ppt/media/image8.png" Id="R1e47841a68f24038" /><Relationship Type="http://schemas.openxmlformats.org/officeDocument/2006/relationships/image" Target="/ppt/media/image.png" Id="R3c6bb62bfd5f43f0" /><Relationship Type="http://schemas.openxmlformats.org/officeDocument/2006/relationships/image" Target="/ppt/media/image9.png" Id="R444bee57323343fa" /><Relationship Type="http://schemas.openxmlformats.org/officeDocument/2006/relationships/image" Target="/ppt/media/image10.png" Id="R1f44d4d9d1ff4995" /><Relationship Type="http://schemas.openxmlformats.org/officeDocument/2006/relationships/image" Target="/ppt/media/image4.png" Id="Rd5a5670645e04a43" /><Relationship Type="http://schemas.openxmlformats.org/officeDocument/2006/relationships/image" Target="/ppt/media/image3.png" Id="R8852009ac5024069" /><Relationship Type="http://schemas.openxmlformats.org/officeDocument/2006/relationships/image" Target="/ppt/media/image6.png" Id="Rbe1e6fefc2a44c05" /><Relationship Type="http://schemas.openxmlformats.org/officeDocument/2006/relationships/hyperlink" Target="file:///C:/Users/Gamer/Downloads/Training/Week 2/Day 9/&#12304;914129425933635&#8224;L107-L141&#12305;" TargetMode="External" Id="R62e873271f894c7e" /><Relationship Type="http://schemas.openxmlformats.org/officeDocument/2006/relationships/hyperlink" Target="file:///C:/Users/Gamer/Downloads/Training/Week 2/Day 9/&#12304;757855153343287&#8224;L133-L150&#12305;" TargetMode="External" Id="Rbc49b848c4c74824" /><Relationship Type="http://schemas.openxmlformats.org/officeDocument/2006/relationships/image" Target="/ppt/media/image7.png" Id="Re24d99f60fd445b7" /><Relationship Type="http://schemas.openxmlformats.org/officeDocument/2006/relationships/notesSlide" Target="/ppt/notesSlides/notesSlide3.xml" Id="R5f5758e1669b45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31cf9e3918245cb" /><Relationship Type="http://schemas.openxmlformats.org/officeDocument/2006/relationships/hyperlink" Target="file:///C:/Users/Gamer/Downloads/Training/Week 2/Day 9/&#12304;243599994391698&#8224;L59-L64&#12305;" TargetMode="External" Id="R0fdb61c2c2644c2e" /><Relationship Type="http://schemas.openxmlformats.org/officeDocument/2006/relationships/hyperlink" Target="file:///C:/Users/Gamer/Downloads/Training/Week 2/Day 9/&#12304;914129425933635&#8224;L110-L114&#12305;" TargetMode="External" Id="R62f2b9ddccb74b26" /><Relationship Type="http://schemas.openxmlformats.org/officeDocument/2006/relationships/notesSlide" Target="/ppt/notesSlides/notesSlide4.xml" Id="R92b077b5616749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7049706f1cf4011" /><Relationship Type="http://schemas.openxmlformats.org/officeDocument/2006/relationships/image" Target="/ppt/media/image11.png" Id="R63c2178a5c484fae" /><Relationship Type="http://schemas.openxmlformats.org/officeDocument/2006/relationships/image" Target="/ppt/media/image3.png" Id="Ra544e438b69c4a38" /><Relationship Type="http://schemas.openxmlformats.org/officeDocument/2006/relationships/image" Target="/ppt/media/image12.png" Id="Rf03b605368b54951" /><Relationship Type="http://schemas.openxmlformats.org/officeDocument/2006/relationships/image" Target="/ppt/media/image4.png" Id="R716f685ce1df4756" /><Relationship Type="http://schemas.openxmlformats.org/officeDocument/2006/relationships/hyperlink" Target="file:///C:/Users/Gamer/Downloads/Training/Week 2/Day 9/&#12304;914129425933635&#8224;L110-L114&#12305;" TargetMode="External" Id="R2fe811c3dfe6483d" /><Relationship Type="http://schemas.openxmlformats.org/officeDocument/2006/relationships/hyperlink" Target="file:///C:/Users/Gamer/Downloads/Training/Week 2/Day 9/&#12304;757855153343287&#8224;L120-L131&#12305;" TargetMode="External" Id="R132302512bb140b5" /><Relationship Type="http://schemas.openxmlformats.org/officeDocument/2006/relationships/notesSlide" Target="/ppt/notesSlides/notesSlide5.xml" Id="R261d9e7f48a844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f68c5e8dfa547f9" /><Relationship Type="http://schemas.openxmlformats.org/officeDocument/2006/relationships/hyperlink" Target="file:///C:/Users/Gamer/Downloads/Training/Week 2/Day 9/&#12304;831215892819426&#8224;L96-L114&#12305;" TargetMode="External" Id="R1eeb5cfd072c4af2" /><Relationship Type="http://schemas.openxmlformats.org/officeDocument/2006/relationships/hyperlink" Target="file:///C:/Users/Gamer/Downloads/Training/Week 2/Day 9/&#12304;831215892819426&#8224;L116-L120&#12305;" TargetMode="External" Id="Rbb9e4eb4a3fb4400" /><Relationship Type="http://schemas.openxmlformats.org/officeDocument/2006/relationships/notesSlide" Target="/ppt/notesSlides/notesSlide6.xml" Id="Rb0f0272d78d14e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e99304b024c4872" /><Relationship Type="http://schemas.openxmlformats.org/officeDocument/2006/relationships/hyperlink" Target="file:///C:/Users/Gamer/Downloads/Training/Week 2/Day 9/&#12304;914129425933635&#8224;L69-L87&#12305;" TargetMode="External" Id="R5b69d92e3d4b4123" /><Relationship Type="http://schemas.openxmlformats.org/officeDocument/2006/relationships/hyperlink" Target="file:///C:/Users/Gamer/Downloads/Training/Week 2/Day 9/&#12304;831215892819426&#8224;L186-L194&#12305;" TargetMode="External" Id="R9b6dd54966c54994" /><Relationship Type="http://schemas.openxmlformats.org/officeDocument/2006/relationships/notesSlide" Target="/ppt/notesSlides/notesSlide7.xml" Id="Ra758ac1743d945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b9d623ce3904c14" /><Relationship Type="http://schemas.openxmlformats.org/officeDocument/2006/relationships/hyperlink" Target="file:///C:/Users/Gamer/Downloads/Training/Week 2/Day 9/&#12304;831215892819426&#8224;L126-L134&#12305;" TargetMode="External" Id="Ra9a45e6c3bc24cc4" /><Relationship Type="http://schemas.openxmlformats.org/officeDocument/2006/relationships/hyperlink" Target="file:///C:/Users/Gamer/Downloads/Training/Week 2/Day 9/&#12304;11958451080285&#8224;L160-L179&#12305;" TargetMode="External" Id="Reda339f320724fd6" /><Relationship Type="http://schemas.openxmlformats.org/officeDocument/2006/relationships/notesSlide" Target="/ppt/notesSlides/notesSlide8.xml" Id="R297f0cb7e51f48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fbdcd40abd24230" /><Relationship Type="http://schemas.openxmlformats.org/officeDocument/2006/relationships/hyperlink" Target="file:///C:/Users/Gamer/Downloads/Training/Week 2/Day 9/&#12304;831215892819426&#8224;L136-L154&#12305;" TargetMode="External" Id="R3b75694b3d504259" /><Relationship Type="http://schemas.openxmlformats.org/officeDocument/2006/relationships/hyperlink" Target="file:///C:/Users/Gamer/Downloads/Training/Week 2/Day 9/&#12304;831215892819426&#8224;L155-L160&#12305;" TargetMode="External" Id="R17efe8266e9148b6" /><Relationship Type="http://schemas.openxmlformats.org/officeDocument/2006/relationships/notesSlide" Target="/ppt/notesSlides/notesSlide9.xml" Id="R8666a2db317344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e5f2844b9464b8d" /><Relationship Type="http://schemas.openxmlformats.org/officeDocument/2006/relationships/hyperlink" Target="file:///C:/Users/Gamer/Downloads/Training/Week 2/Day 9/&#12304;831215892819426&#8224;L165-L179&#12305;" TargetMode="External" Id="R2eb817e5c7ba4610" /><Relationship Type="http://schemas.openxmlformats.org/officeDocument/2006/relationships/hyperlink" Target="file:///C:/Users/Gamer/Downloads/Training/Week 2/Day 9/&#12304;831215892819426&#8224;L260-L275&#12305;" TargetMode="External" Id="R7d3aacb969934956" /><Relationship Type="http://schemas.openxmlformats.org/officeDocument/2006/relationships/notesSlide" Target="/ppt/notesSlides/notesSlide10.xml" Id="R249ee2208d304e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bf936004ef24017" /><Relationship Type="http://schemas.openxmlformats.org/officeDocument/2006/relationships/hyperlink" Target="file:///C:/Users/Gamer/Downloads/Training/Week 2/Day 9/&#12304;831215892819426&#8224;L176-L181&#12305;" TargetMode="External" Id="Rd504555cfb5a413f" /><Relationship Type="http://schemas.openxmlformats.org/officeDocument/2006/relationships/hyperlink" Target="file:///C:/Users/Gamer/Downloads/Training/Week 2/Day 9/&#12304;831215892819426&#8224;L288-L299&#12305;" TargetMode="External" Id="Rc41af834f4204762" /><Relationship Type="http://schemas.openxmlformats.org/officeDocument/2006/relationships/notesSlide" Target="/ppt/notesSlides/notesSlide11.xml" Id="R904ca1ab6a4f46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00d8f0d983f8490d" /><Relationship Type="http://schemas.openxmlformats.org/officeDocument/2006/relationships/hyperlink" Target="file:///C:/Users/Gamer/Downloads/Training/Week 2/Day 9/&#12304;831215892819426&#8224;L310-L347&#12305;" TargetMode="External" Id="Rc5a495da2e2a4f93" /><Relationship Type="http://schemas.openxmlformats.org/officeDocument/2006/relationships/hyperlink" Target="file:///C:/Users/Gamer/Downloads/Training/Week 2/Day 9/&#12304;831215892819426&#8224;L350-L355&#12305;" TargetMode="External" Id="R71ae9d7340d941e9" /><Relationship Type="http://schemas.openxmlformats.org/officeDocument/2006/relationships/notesSlide" Target="/ppt/notesSlides/notesSlide12.xml" Id="Rc12192ae135943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f81a0836661d415b" /><Relationship Type="http://schemas.openxmlformats.org/officeDocument/2006/relationships/hyperlink" Target="file:///C:/Users/Gamer/Downloads/Training/Week 2/Day 9/&#12304;831215892819426&#8224;L206-L235&#12305;" TargetMode="External" Id="Rcd39f4f3fb4746a7" /><Relationship Type="http://schemas.openxmlformats.org/officeDocument/2006/relationships/notesSlide" Target="/ppt/notesSlides/notesSlide13.xml" Id="Rf2dd2c4521a640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9ad52caeb32845e0" /><Relationship Type="http://schemas.openxmlformats.org/officeDocument/2006/relationships/hyperlink" Target="file:///C:/Users/Gamer/Downloads/Training/Week 2/Day 9/&#12304;831215892819426&#8224;L243-L255&#12305;" TargetMode="External" Id="R81ad760a0d11458b" /><Relationship Type="http://schemas.openxmlformats.org/officeDocument/2006/relationships/hyperlink" Target="file:///C:/Users/Gamer/Downloads/Training/Week 2/Day 9/&#12304;831215892819426&#8224;L250-L253&#12305;" TargetMode="External" Id="R333608c5931d4ff6" /><Relationship Type="http://schemas.openxmlformats.org/officeDocument/2006/relationships/notesSlide" Target="/ppt/notesSlides/notesSlide14.xml" Id="R1f123f6c9c08441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61478e3295cd4b34" /><Relationship Type="http://schemas.openxmlformats.org/officeDocument/2006/relationships/hyperlink" Target="file:///C:/Users/Gamer/Downloads/Training/Week 2/Day 9/&#12304;179158775748343&#8224;L154-L167&#12305;" TargetMode="External" Id="R25cb970f0abd42b8" /><Relationship Type="http://schemas.openxmlformats.org/officeDocument/2006/relationships/hyperlink" Target="file:///C:/Users/Gamer/Downloads/Training/Week 2/Day 9/&#12304;831215892819426&#8224;L151-L159&#12305;" TargetMode="External" Id="Rfbf2b47467cf48f4" /><Relationship Type="http://schemas.openxmlformats.org/officeDocument/2006/relationships/notesSlide" Target="/ppt/notesSlides/notesSlide15.xml" Id="R0ef0d63c0c6a4c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a059d5ba915140c5" /><Relationship Type="http://schemas.openxmlformats.org/officeDocument/2006/relationships/hyperlink" Target="file:///C:/Users/Gamer/Downloads/Training/Week 2/Day 9/&#12304;831215892819426&#8224;L165-L179&#12305;" TargetMode="External" Id="Rb975cd7db80f48ac" /><Relationship Type="http://schemas.openxmlformats.org/officeDocument/2006/relationships/hyperlink" Target="file:///C:/Users/Gamer/Downloads/Training/Week 2/Day 9/&#12304;831215892819426&#8224;L273-L281&#12305;" TargetMode="External" Id="Rcf28230141e84ddb" /><Relationship Type="http://schemas.openxmlformats.org/officeDocument/2006/relationships/notesSlide" Target="/ppt/notesSlides/notesSlide16.xml" Id="Re3b50f4e80fb4ce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929f4f8925584f46" /><Relationship Type="http://schemas.openxmlformats.org/officeDocument/2006/relationships/hyperlink" Target="file:///C:/Users/Gamer/Downloads/Training/Week 2/Day 9/&#12304;757855153343287&#8224;L120-L131&#12305;" TargetMode="External" Id="R3f0fccdb9f494216" /><Relationship Type="http://schemas.openxmlformats.org/officeDocument/2006/relationships/hyperlink" Target="file:///C:/Users/Gamer/Downloads/Training/Week 2/Day 9/&#12304;757855153343287&#8224;L133-L150&#12305;" TargetMode="External" Id="R44b9ef8168884f3f" /><Relationship Type="http://schemas.openxmlformats.org/officeDocument/2006/relationships/notesSlide" Target="/ppt/notesSlides/notesSlide17.xml" Id="Re34eb68a2ef44fa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b9b3a40189874ccb" /><Relationship Type="http://schemas.openxmlformats.org/officeDocument/2006/relationships/image" Target="/ppt/media/image8.png" Id="R9cc9788743024e48" /><Relationship Type="http://schemas.openxmlformats.org/officeDocument/2006/relationships/image" Target="/ppt/media/image.png" Id="R6b37ef4ce8504a37" /><Relationship Type="http://schemas.openxmlformats.org/officeDocument/2006/relationships/image" Target="/ppt/media/image13.png" Id="Re6e19ffd40154e16" /><Relationship Type="http://schemas.openxmlformats.org/officeDocument/2006/relationships/image" Target="/ppt/media/image7.png" Id="Rec6f4697326445c3" /><Relationship Type="http://schemas.openxmlformats.org/officeDocument/2006/relationships/image" Target="/ppt/media/image4.png" Id="R3141af4e4c364fec" /><Relationship Type="http://schemas.openxmlformats.org/officeDocument/2006/relationships/hyperlink" Target="file:///C:/Users/Gamer/Downloads/Training/Week 2/Day 9/&#12304;11958451080285&#8224;L133-L150&#12305;" TargetMode="External" Id="Rf8f40dff18fd4c06" /><Relationship Type="http://schemas.openxmlformats.org/officeDocument/2006/relationships/image" Target="/ppt/media/image6.png" Id="R5b43360588034a8e" /><Relationship Type="http://schemas.openxmlformats.org/officeDocument/2006/relationships/notesSlide" Target="/ppt/notesSlides/notesSlide18.xml" Id="Ra8c896f98ba242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5cd07e0e39df4847" /><Relationship Type="http://schemas.openxmlformats.org/officeDocument/2006/relationships/hyperlink" Target="file:///C:/Users/Gamer/Downloads/Training/Week 2/Day 9/&#12304;11958451080285&#8224;L160-L179&#12305;" TargetMode="External" Id="R6de32b7ff2c2448b" /><Relationship Type="http://schemas.openxmlformats.org/officeDocument/2006/relationships/hyperlink" Target="file:///C:/Users/Gamer/Downloads/Training/Week 2/Day 9/&#12304;879940528726502&#8224;L96-L119&#12305;" TargetMode="External" Id="Rf319d86f7f814a7a" /><Relationship Type="http://schemas.openxmlformats.org/officeDocument/2006/relationships/notesSlide" Target="/ppt/notesSlides/notesSlide19.xml" Id="R24201185b3ba41e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34796ccd3fa4897" /><Relationship Type="http://schemas.openxmlformats.org/officeDocument/2006/relationships/hyperlink" Target="file:///C:/Users/Gamer/Downloads/Training/Week 2/Day 9/&#12304;11958451080285&#8224;L190-L216&#12305;" TargetMode="External" Id="Rd3dee30ac054443e" /><Relationship Type="http://schemas.openxmlformats.org/officeDocument/2006/relationships/hyperlink" Target="file:///C:/Users/Gamer/Downloads/Training/Week 2/Day 9/&#12304;11958451080285&#8224;L217-L239&#12305;" TargetMode="External" Id="R2a87baa8804241d2" /><Relationship Type="http://schemas.openxmlformats.org/officeDocument/2006/relationships/notesSlide" Target="/ppt/notesSlides/notesSlide20.xml" Id="Re8bb5a22a0864a8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ebf6d52dd674874" /><Relationship Type="http://schemas.openxmlformats.org/officeDocument/2006/relationships/hyperlink" Target="file:///C:/Users/Gamer/Downloads/Training/Week 2/Day 9/&#12304;879940528726502&#8224;L96-L119&#12305;" TargetMode="External" Id="R3ad90778f623430a" /><Relationship Type="http://schemas.openxmlformats.org/officeDocument/2006/relationships/hyperlink" Target="file:///C:/Users/Gamer/Downloads/Training/Week 2/Day 9/&#12304;879940528726502&#8224;L126-L153&#12305;" TargetMode="External" Id="Rac6d422d18cb42c4" /><Relationship Type="http://schemas.openxmlformats.org/officeDocument/2006/relationships/notesSlide" Target="/ppt/notesSlides/notesSlide21.xml" Id="R705bbe45c0a74e2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0bb1290c55374fa8" /><Relationship Type="http://schemas.openxmlformats.org/officeDocument/2006/relationships/hyperlink" Target="file:///C:/Users/Gamer/Downloads/Training/Week 2/Day 9/&#12304;11958451080285&#8224;L326-L351&#12305;" TargetMode="External" Id="R23b0afb24bb945c4" /><Relationship Type="http://schemas.openxmlformats.org/officeDocument/2006/relationships/hyperlink" Target="file:///C:/Users/Gamer/Downloads/Training/Week 2/Day 9/&#12304;11958451080285&#8224;L342-L347&#12305;" TargetMode="External" Id="Rd0f688eb48934d44" /><Relationship Type="http://schemas.openxmlformats.org/officeDocument/2006/relationships/notesSlide" Target="/ppt/notesSlides/notesSlide22.xml" Id="R308ed142b8e8429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4d993a3e78c74f83" /><Relationship Type="http://schemas.openxmlformats.org/officeDocument/2006/relationships/hyperlink" Target="file:///C:/Users/Gamer/Downloads/Training/Week 2/Day 9/&#12304;11958451080285&#8224;L431-L447&#12305;" TargetMode="External" Id="Rfae84c285e774e74" /><Relationship Type="http://schemas.openxmlformats.org/officeDocument/2006/relationships/hyperlink" Target="file:///C:/Users/Gamer/Downloads/Training/Week 2/Day 9/&#12304;879940528726502&#8224;L170-L176&#12305;" TargetMode="External" Id="R2857ecb7aa9042a9" /><Relationship Type="http://schemas.openxmlformats.org/officeDocument/2006/relationships/notesSlide" Target="/ppt/notesSlides/notesSlide23.xml" Id="Rcdb5608c9a00432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8526d2cc7d424121" /><Relationship Type="http://schemas.openxmlformats.org/officeDocument/2006/relationships/hyperlink" Target="file:///C:/Users/Gamer/Downloads/Training/Week 2/Day 9/&#12304;831215892819426&#8224;L310-L347&#12305;" TargetMode="External" Id="R62808d7e1f144c50" /><Relationship Type="http://schemas.openxmlformats.org/officeDocument/2006/relationships/hyperlink" Target="file:///C:/Users/Gamer/Downloads/Training/Week 2/Day 9/&#12304;831215892819426&#8224;L350-L355&#12305;" TargetMode="External" Id="R0edca1b208e34c59" /><Relationship Type="http://schemas.openxmlformats.org/officeDocument/2006/relationships/notesSlide" Target="/ppt/notesSlides/notesSlide24.xml" Id="Ra3a152378aa241a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d3b09b14fc474e70" /><Relationship Type="http://schemas.openxmlformats.org/officeDocument/2006/relationships/hyperlink" Target="file:///C:/Users/Gamer/Downloads/Training/Week 2/Day 9/&#12304;11958451080285&#8224;L200-L215&#12305;" TargetMode="External" Id="Rf4815810747e4382" /><Relationship Type="http://schemas.openxmlformats.org/officeDocument/2006/relationships/hyperlink" Target="file:///C:/Users/Gamer/Downloads/Training/Week 2/Day 9/&#12304;11958451080285&#8224;L295-L319&#12305;" TargetMode="External" Id="Rafe1e3d0596c4f55" /><Relationship Type="http://schemas.openxmlformats.org/officeDocument/2006/relationships/notesSlide" Target="/ppt/notesSlides/notesSlide25.xml" Id="Rb1a57ae5c5534c6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e6acca90ac30412f" /><Relationship Type="http://schemas.openxmlformats.org/officeDocument/2006/relationships/hyperlink" Target="file:///C:/Users/Gamer/Downloads/Training/Week 2/Day 9/&#12304;11958451080285&#8224;L190-L215&#12305;" TargetMode="External" Id="R39cb0efe66ea4da3" /><Relationship Type="http://schemas.openxmlformats.org/officeDocument/2006/relationships/hyperlink" Target="file:///C:/Users/Gamer/Downloads/Training/Week 2/Day 9/&#12304;11958451080285&#8224;L320-L357&#12305;" TargetMode="External" Id="R865f9a4d8d954804" /><Relationship Type="http://schemas.openxmlformats.org/officeDocument/2006/relationships/notesSlide" Target="/ppt/notesSlides/notesSlide26.xml" Id="R38853916c3e04f4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66b749e4ab4543bf" /><Relationship Type="http://schemas.openxmlformats.org/officeDocument/2006/relationships/hyperlink" Target="file:///C:/Users/Gamer/Downloads/Training/Week 2/Day 9/&#12304;11958451080285&#8224;L361-L377&#12305;" TargetMode="External" Id="R803d7fd584a14636" /><Relationship Type="http://schemas.openxmlformats.org/officeDocument/2006/relationships/hyperlink" Target="file:///C:/Users/Gamer/Downloads/Training/Week 2/Day 9/&#12304;11958451080285&#8224;L378-L392&#12305;" TargetMode="External" Id="Rea6e8ab508854cb4" /><Relationship Type="http://schemas.openxmlformats.org/officeDocument/2006/relationships/notesSlide" Target="/ppt/notesSlides/notesSlide27.xml" Id="R1e464b2b79414f1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e51806c60d434088" /><Relationship Type="http://schemas.openxmlformats.org/officeDocument/2006/relationships/hyperlink" Target="file:///C:/Users/Gamer/Downloads/Training/Week 2/Day 9/&#12304;11958451080285&#8224;L431-L447&#12305;" TargetMode="External" Id="R0e3aa508cde84ebe" /><Relationship Type="http://schemas.openxmlformats.org/officeDocument/2006/relationships/hyperlink" Target="file:///C:/Users/Gamer/Downloads/Training/Week 2/Day 9/&#12304;879940528726502&#8224;L170-L176&#12305;" TargetMode="External" Id="R2519c8e232c74e76" /><Relationship Type="http://schemas.openxmlformats.org/officeDocument/2006/relationships/notesSlide" Target="/ppt/notesSlides/notesSlide28.xml" Id="R2f3c2f4a596e46a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bf0b5cd65b634244" /><Relationship Type="http://schemas.openxmlformats.org/officeDocument/2006/relationships/hyperlink" Target="file:///C:/Users/Gamer/Downloads/Training/Week 2/Day 9/&#12304;831215892819426&#8224;L136-L154&#12305;" TargetMode="External" Id="R4d5fdfe670e04e0b" /><Relationship Type="http://schemas.openxmlformats.org/officeDocument/2006/relationships/hyperlink" Target="file:///C:/Users/Gamer/Downloads/Training/Week 2/Day 9/&#12304;831215892819426&#8224;L310-L329&#12305;" TargetMode="External" Id="R994465b027d24f88" /><Relationship Type="http://schemas.openxmlformats.org/officeDocument/2006/relationships/hyperlink" Target="file:///C:/Users/Gamer/Downloads/Training/Week 2/Day 9/&#12304;11958451080285&#8224;L361-L377&#12305;" TargetMode="External" Id="R58ec0c746e7f464f" /><Relationship Type="http://schemas.openxmlformats.org/officeDocument/2006/relationships/notesSlide" Target="/ppt/notesSlides/notesSlide29.xml" Id="R5d36eeeeac74480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b2ea5af1c7834a2e" /><Relationship Type="http://schemas.openxmlformats.org/officeDocument/2006/relationships/hyperlink" Target="file:///C:/Users/Gamer/Downloads/Training/Week 2/Day 9/&#12304;879940528726502&#8224;L104-L119&#12305;" TargetMode="External" Id="Rb70202ca548e426a" /><Relationship Type="http://schemas.openxmlformats.org/officeDocument/2006/relationships/hyperlink" Target="file:///C:/Users/Gamer/Downloads/Training/Week 2/Day 9/&#12304;11958451080285&#8224;L219-L236&#12305;" TargetMode="External" Id="Rf918dc292c3243d1" /><Relationship Type="http://schemas.openxmlformats.org/officeDocument/2006/relationships/hyperlink" Target="file:///C:/Users/Gamer/Downloads/Training/Week 2/Day 9/&#12304;11958451080285&#8224;L326-L351&#12305;" TargetMode="External" Id="Rccc855c31f824371" /><Relationship Type="http://schemas.openxmlformats.org/officeDocument/2006/relationships/notesSlide" Target="/ppt/notesSlides/notesSlide30.xml" Id="R7bb9c6cf4f74466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86a0ddf52a3d43d7" /><Relationship Type="http://schemas.openxmlformats.org/officeDocument/2006/relationships/image" Target="/ppt/media/image14.png" Id="R4dfbe4039f4e4151" /><Relationship Type="http://schemas.openxmlformats.org/officeDocument/2006/relationships/notesSlide" Target="/ppt/notesSlides/notesSlide31.xml" Id="R14456e05ccf24a6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4d2d6cbac2164d80" /><Relationship Type="http://schemas.openxmlformats.org/officeDocument/2006/relationships/hyperlink" Target="file:///C:/Users/Gamer/Downloads/Training/Week 2/Day 9/&#12304;914129425933635&#8224;L213-L219&#12305;" TargetMode="External" Id="Ra32b9a07ae80463c" /><Relationship Type="http://schemas.openxmlformats.org/officeDocument/2006/relationships/hyperlink" Target="file:///C:/Users/Gamer/Downloads/Training/Week 2/Day 9/&#12304;11958451080285&#8224;L451-L459&#12305;" TargetMode="External" Id="R68bb3dfe8c6647f8" /><Relationship Type="http://schemas.openxmlformats.org/officeDocument/2006/relationships/notesSlide" Target="/ppt/notesSlides/notesSlide32.xml" Id="R8ad2888ee2e64a3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9294b01d76c54d09" /><Relationship Type="http://schemas.openxmlformats.org/officeDocument/2006/relationships/notesSlide" Target="/ppt/notesSlides/notesSlide33.xml" Id="R3f5c7035c8854d48" /></Relationships>
</file>

<file path=ppt/slides/slide1.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10" name="Shape 0">
            <a:extLst xmlns:a="http://schemas.openxmlformats.org/drawingml/2006/main">
              <a:ext uri="{FF2B5EF4-FFF2-40B4-BE49-F238E27FC236}">
                <a16:creationId xmlns:a16="http://schemas.microsoft.com/office/drawing/2014/main" id="{0C9C8ACD-8B3A-43AF-9BE5-1D4AB4DF5C1A}"/>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1" name="Text 1">
            <a:extLst xmlns:a="http://schemas.openxmlformats.org/drawingml/2006/main">
              <a:ext uri="{FF2B5EF4-FFF2-40B4-BE49-F238E27FC236}">
                <a16:creationId xmlns:a16="http://schemas.microsoft.com/office/drawing/2014/main" id="{A2DFCEF7-6D71-453D-B613-3A4697C20AF6}"/>
              </a:ext>
            </a:extLst>
          </p:cNvPr>
          <p:cNvSpPr>
            <a:spLocks xmlns:a="http://schemas.openxmlformats.org/drawingml/2006/main" noGrp="1"/>
          </p:cNvSpPr>
          <p:nvPr/>
        </p:nvSpPr>
        <p:spPr>
          <a:xfrm xmlns:a="http://schemas.openxmlformats.org/drawingml/2006/main">
            <a:off x="457200" y="91440"/>
            <a:ext cx="7314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Day 9  Monitoring and Optimization</a:t>
            </a:r>
          </a:p>
        </p:txBody>
      </p:sp>
      <p:sp>
        <p:nvSpPr>
          <p:cNvPr id="12" name="Text 2">
            <a:extLst xmlns:a="http://schemas.openxmlformats.org/drawingml/2006/main">
              <a:ext uri="{FF2B5EF4-FFF2-40B4-BE49-F238E27FC236}">
                <a16:creationId xmlns:a16="http://schemas.microsoft.com/office/drawing/2014/main" id="{A42984A1-0A23-4417-81F7-16729F7E96B0}"/>
              </a:ext>
            </a:extLst>
          </p:cNvPr>
          <p:cNvSpPr>
            <a:spLocks xmlns:a="http://schemas.openxmlformats.org/drawingml/2006/main" noGrp="1"/>
          </p:cNvSpPr>
          <p:nvPr/>
        </p:nvSpPr>
        <p:spPr>
          <a:xfrm xmlns:a="http://schemas.openxmlformats.org/drawingml/2006/main">
            <a:off x="7589520" y="91440"/>
            <a:ext cx="155412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r">
              <a:lnSpc>
                <a:spcPct val="100000"/>
              </a:lnSpc>
              <a:buNone/>
            </a:pPr>
            <a:r>
              <a:rPr sz="1000" b="0" u="none">
                <a:solidFill>
                  <a:srgbClr val="FFFFFF"/>
                </a:solidFill>
                <a:latin typeface="Calibri"/>
                <a:ea typeface="Calibri"/>
                <a:cs typeface="Calibri"/>
              </a:rPr>
              <a:t>2026-05-25</a:t>
            </a:r>
          </a:p>
        </p:txBody>
      </p:sp>
      <p:sp>
        <p:nvSpPr>
          <p:cNvPr id="13" name="Text 3">
            <a:extLst xmlns:a="http://schemas.openxmlformats.org/drawingml/2006/main">
              <a:ext uri="{FF2B5EF4-FFF2-40B4-BE49-F238E27FC236}">
                <a16:creationId xmlns:a16="http://schemas.microsoft.com/office/drawing/2014/main" id="{869FC867-98D3-4BEF-AB54-4228082A2E41}"/>
              </a:ext>
            </a:extLst>
          </p:cNvPr>
          <p:cNvSpPr>
            <a:spLocks xmlns:a="http://schemas.openxmlformats.org/drawingml/2006/main" noGrp="1"/>
          </p:cNvSpPr>
          <p:nvPr/>
        </p:nvSpPr>
        <p:spPr>
          <a:xfrm xmlns:a="http://schemas.openxmlformats.org/drawingml/2006/main">
            <a:off x="457200" y="1097280"/>
            <a:ext cx="5486040" cy="1371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2800" b="1" u="none">
                <a:solidFill>
                  <a:srgbClr val="0B3D51"/>
                </a:solidFill>
                <a:latin typeface="Calibri"/>
                <a:ea typeface="Calibri"/>
                <a:cs typeface="Calibri"/>
              </a:rPr>
              <a:t>Operate streaming pipelines: signals, incidents, recovery and scale</a:t>
            </a:r>
          </a:p>
        </p:txBody>
      </p:sp>
      <p:sp>
        <p:nvSpPr>
          <p:cNvPr id="14" name="Text 12">
            <a:extLst xmlns:a="http://schemas.openxmlformats.org/drawingml/2006/main">
              <a:ext uri="{FF2B5EF4-FFF2-40B4-BE49-F238E27FC236}">
                <a16:creationId xmlns:a16="http://schemas.microsoft.com/office/drawing/2014/main" id="{0B79A567-B3DE-4823-A2CE-FA0B3F5EAAF2}"/>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p>
        </p:txBody>
      </p:sp>
    </p:spTree>
    <p:extLst>
      <p:ext uri="{BB962C8B-B14F-4D97-AF65-F5344CB8AC3E}">
        <p14:creationId xmlns:p14="http://schemas.microsoft.com/office/powerpoint/2010/main" val="302054004"/>
      </p:ext>
    </p:extLst>
  </p:cSld>
</p:sld>
</file>

<file path=ppt/slides/slide2.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15" name="Shape 0">
            <a:extLst xmlns:a="http://schemas.openxmlformats.org/drawingml/2006/main">
              <a:ext uri="{FF2B5EF4-FFF2-40B4-BE49-F238E27FC236}">
                <a16:creationId xmlns:a16="http://schemas.microsoft.com/office/drawing/2014/main" id="{56E15D0A-2A55-4172-A461-29DA68A0B0C4}"/>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6" name="Text 1">
            <a:extLst xmlns:a="http://schemas.openxmlformats.org/drawingml/2006/main">
              <a:ext uri="{FF2B5EF4-FFF2-40B4-BE49-F238E27FC236}">
                <a16:creationId xmlns:a16="http://schemas.microsoft.com/office/drawing/2014/main" id="{F6777070-3E36-425B-B7FD-47D51DB03957}"/>
              </a:ext>
            </a:extLst>
          </p:cNvPr>
          <p:cNvSpPr>
            <a:spLocks xmlns:a="http://schemas.openxmlformats.org/drawingml/2006/main" noGrp="1"/>
          </p:cNvSpPr>
          <p:nvPr/>
        </p:nvSpPr>
        <p:spPr>
          <a:xfrm xmlns:a="http://schemas.openxmlformats.org/drawingml/2006/main">
            <a:off x="457200" y="91440"/>
            <a:ext cx="7314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Learning Objectives</a:t>
            </a:r>
          </a:p>
        </p:txBody>
      </p:sp>
      <p:sp>
        <p:nvSpPr>
          <p:cNvPr id="17" name="Text 2">
            <a:extLst xmlns:a="http://schemas.openxmlformats.org/drawingml/2006/main">
              <a:ext uri="{FF2B5EF4-FFF2-40B4-BE49-F238E27FC236}">
                <a16:creationId xmlns:a16="http://schemas.microsoft.com/office/drawing/2014/main" id="{ACCD71C9-9351-4B63-9142-0E14E75BCC61}"/>
              </a:ext>
            </a:extLst>
          </p:cNvPr>
          <p:cNvSpPr>
            <a:spLocks xmlns:a="http://schemas.openxmlformats.org/drawingml/2006/main" noGrp="1"/>
          </p:cNvSpPr>
          <p:nvPr/>
        </p:nvSpPr>
        <p:spPr>
          <a:xfrm xmlns:a="http://schemas.openxmlformats.org/drawingml/2006/main">
            <a:off x="731520" y="667440"/>
            <a:ext cx="795492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200" b="0" u="none">
                <a:solidFill>
                  <a:srgbClr val="003C54"/>
                </a:solidFill>
                <a:latin typeface="Calibri"/>
                <a:ea typeface="Calibri"/>
                <a:cs typeface="Calibri"/>
              </a:rPr>
              <a:t>Define pipeline health: availability, freshness, quality and completeness</a:t>
            </a:r>
          </a:p>
        </p:txBody>
      </p:sp>
      <p:pic>
        <p:nvPicPr>
          <p:cNvPr id="18" name="Image 1"/>
          <p:cNvPicPr>
            <a:picLocks xmlns:a="http://schemas.openxmlformats.org/drawingml/2006/main" noChangeAspect="1"/>
          </p:cNvPicPr>
          <p:nvPr/>
        </p:nvPicPr>
        <p:blipFill>
          <a:blip xmlns:r="http://schemas.openxmlformats.org/officeDocument/2006/relationships" xmlns:a="http://schemas.openxmlformats.org/drawingml/2006/main" r:embed="R9e38c5cbfb054d69"/>
          <a:stretch xmlns:a="http://schemas.openxmlformats.org/drawingml/2006/main"/>
        </p:blipFill>
        <p:spPr>
          <a:xfrm xmlns:a="http://schemas.openxmlformats.org/drawingml/2006/main">
            <a:off x="457200" y="960120"/>
            <a:ext cx="228240" cy="228240"/>
          </a:xfrm>
          <a:prstGeom xmlns:a="http://schemas.openxmlformats.org/drawingml/2006/main" prst="rect">
            <a:avLst/>
          </a:prstGeom>
        </p:spPr>
      </p:pic>
      <p:sp>
        <p:nvSpPr>
          <p:cNvPr id="19" name="Text 3">
            <a:extLst xmlns:a="http://schemas.openxmlformats.org/drawingml/2006/main">
              <a:ext uri="{FF2B5EF4-FFF2-40B4-BE49-F238E27FC236}">
                <a16:creationId xmlns:a16="http://schemas.microsoft.com/office/drawing/2014/main" id="{89B3770F-A33B-4915-B10E-3B96309EEEEE}"/>
              </a:ext>
            </a:extLst>
          </p:cNvPr>
          <p:cNvSpPr>
            <a:spLocks xmlns:a="http://schemas.openxmlformats.org/drawingml/2006/main" noGrp="1"/>
          </p:cNvSpPr>
          <p:nvPr/>
        </p:nvSpPr>
        <p:spPr>
          <a:xfrm xmlns:a="http://schemas.openxmlformats.org/drawingml/2006/main">
            <a:off x="731520" y="987480"/>
            <a:ext cx="795492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200" b="0" u="none">
                <a:solidFill>
                  <a:srgbClr val="003C54"/>
                </a:solidFill>
                <a:latin typeface="Calibri"/>
                <a:ea typeface="Calibri"/>
                <a:cs typeface="Calibri"/>
              </a:rPr>
              <a:t>Use the supplied ksqlDB workload as a system to observe</a:t>
            </a:r>
          </a:p>
        </p:txBody>
      </p:sp>
      <p:pic>
        <p:nvPicPr>
          <p:cNvPr id="20" name="Image 2"/>
          <p:cNvPicPr>
            <a:picLocks xmlns:a="http://schemas.openxmlformats.org/drawingml/2006/main" noChangeAspect="1"/>
          </p:cNvPicPr>
          <p:nvPr/>
        </p:nvPicPr>
        <p:blipFill>
          <a:blip xmlns:r="http://schemas.openxmlformats.org/officeDocument/2006/relationships" xmlns:a="http://schemas.openxmlformats.org/drawingml/2006/main" r:embed="R2ee9b68d3b314d10"/>
          <a:stretch xmlns:a="http://schemas.openxmlformats.org/drawingml/2006/main"/>
        </p:blipFill>
        <p:spPr>
          <a:xfrm xmlns:a="http://schemas.openxmlformats.org/drawingml/2006/main">
            <a:off x="457200" y="1280160"/>
            <a:ext cx="228240" cy="228240"/>
          </a:xfrm>
          <a:prstGeom xmlns:a="http://schemas.openxmlformats.org/drawingml/2006/main" prst="rect">
            <a:avLst/>
          </a:prstGeom>
        </p:spPr>
      </p:pic>
      <p:sp>
        <p:nvSpPr>
          <p:cNvPr id="21" name="Text 4">
            <a:extLst xmlns:a="http://schemas.openxmlformats.org/drawingml/2006/main">
              <a:ext uri="{FF2B5EF4-FFF2-40B4-BE49-F238E27FC236}">
                <a16:creationId xmlns:a16="http://schemas.microsoft.com/office/drawing/2014/main" id="{23DF6629-1237-4560-9157-CF8B134AEBEE}"/>
              </a:ext>
            </a:extLst>
          </p:cNvPr>
          <p:cNvSpPr>
            <a:spLocks xmlns:a="http://schemas.openxmlformats.org/drawingml/2006/main" noGrp="1"/>
          </p:cNvSpPr>
          <p:nvPr/>
        </p:nvSpPr>
        <p:spPr>
          <a:xfrm xmlns:a="http://schemas.openxmlformats.org/drawingml/2006/main">
            <a:off x="731520" y="1307520"/>
            <a:ext cx="795492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200" b="0" u="none">
                <a:solidFill>
                  <a:srgbClr val="003C54"/>
                </a:solidFill>
                <a:latin typeface="Calibri"/>
                <a:ea typeface="Calibri"/>
                <a:cs typeface="Calibri"/>
              </a:rPr>
              <a:t>Measure status, logs, consumer lag and failed records</a:t>
            </a:r>
          </a:p>
        </p:txBody>
      </p:sp>
      <p:pic>
        <p:nvPicPr>
          <p:cNvPr id="22" name="Image 3"/>
          <p:cNvPicPr>
            <a:picLocks xmlns:a="http://schemas.openxmlformats.org/drawingml/2006/main" noChangeAspect="1"/>
          </p:cNvPicPr>
          <p:nvPr/>
        </p:nvPicPr>
        <p:blipFill>
          <a:blip xmlns:r="http://schemas.openxmlformats.org/officeDocument/2006/relationships" xmlns:a="http://schemas.openxmlformats.org/drawingml/2006/main" r:embed="Rf1acf837d7d54076"/>
          <a:stretch xmlns:a="http://schemas.openxmlformats.org/drawingml/2006/main"/>
        </p:blipFill>
        <p:spPr>
          <a:xfrm xmlns:a="http://schemas.openxmlformats.org/drawingml/2006/main">
            <a:off x="457200" y="1600200"/>
            <a:ext cx="228240" cy="228240"/>
          </a:xfrm>
          <a:prstGeom xmlns:a="http://schemas.openxmlformats.org/drawingml/2006/main" prst="rect">
            <a:avLst/>
          </a:prstGeom>
        </p:spPr>
      </p:pic>
      <p:sp>
        <p:nvSpPr>
          <p:cNvPr id="23" name="Text 5">
            <a:extLst xmlns:a="http://schemas.openxmlformats.org/drawingml/2006/main">
              <a:ext uri="{FF2B5EF4-FFF2-40B4-BE49-F238E27FC236}">
                <a16:creationId xmlns:a16="http://schemas.microsoft.com/office/drawing/2014/main" id="{52942856-04BA-4F18-B2E5-26255500B9A3}"/>
              </a:ext>
            </a:extLst>
          </p:cNvPr>
          <p:cNvSpPr>
            <a:spLocks xmlns:a="http://schemas.openxmlformats.org/drawingml/2006/main" noGrp="1"/>
          </p:cNvSpPr>
          <p:nvPr/>
        </p:nvSpPr>
        <p:spPr>
          <a:xfrm xmlns:a="http://schemas.openxmlformats.org/drawingml/2006/main">
            <a:off x="731520" y="1627560"/>
            <a:ext cx="795492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200" b="0" u="none">
                <a:solidFill>
                  <a:srgbClr val="003C54"/>
                </a:solidFill>
                <a:latin typeface="Calibri"/>
                <a:ea typeface="Calibri"/>
                <a:cs typeface="Calibri"/>
              </a:rPr>
              <a:t>Trace stale outputs back to ingestion or processing failures</a:t>
            </a:r>
          </a:p>
        </p:txBody>
      </p:sp>
      <p:pic>
        <p:nvPicPr>
          <p:cNvPr id="24" name="Image 4"/>
          <p:cNvPicPr>
            <a:picLocks xmlns:a="http://schemas.openxmlformats.org/drawingml/2006/main" noChangeAspect="1"/>
          </p:cNvPicPr>
          <p:nvPr/>
        </p:nvPicPr>
        <p:blipFill>
          <a:blip xmlns:r="http://schemas.openxmlformats.org/officeDocument/2006/relationships" xmlns:a="http://schemas.openxmlformats.org/drawingml/2006/main" r:embed="R9182058698464796"/>
          <a:stretch xmlns:a="http://schemas.openxmlformats.org/drawingml/2006/main"/>
        </p:blipFill>
        <p:spPr>
          <a:xfrm xmlns:a="http://schemas.openxmlformats.org/drawingml/2006/main">
            <a:off x="457200" y="1920240"/>
            <a:ext cx="228240" cy="228240"/>
          </a:xfrm>
          <a:prstGeom xmlns:a="http://schemas.openxmlformats.org/drawingml/2006/main" prst="rect">
            <a:avLst/>
          </a:prstGeom>
        </p:spPr>
      </p:pic>
      <p:sp>
        <p:nvSpPr>
          <p:cNvPr id="25" name="Text 6">
            <a:extLst xmlns:a="http://schemas.openxmlformats.org/drawingml/2006/main">
              <a:ext uri="{FF2B5EF4-FFF2-40B4-BE49-F238E27FC236}">
                <a16:creationId xmlns:a16="http://schemas.microsoft.com/office/drawing/2014/main" id="{6DE47106-D848-4CE1-9196-F000ABC4DE62}"/>
              </a:ext>
            </a:extLst>
          </p:cNvPr>
          <p:cNvSpPr>
            <a:spLocks xmlns:a="http://schemas.openxmlformats.org/drawingml/2006/main" noGrp="1"/>
          </p:cNvSpPr>
          <p:nvPr/>
        </p:nvSpPr>
        <p:spPr>
          <a:xfrm xmlns:a="http://schemas.openxmlformats.org/drawingml/2006/main">
            <a:off x="731520" y="1947600"/>
            <a:ext cx="795492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200" b="0" u="none">
                <a:solidFill>
                  <a:srgbClr val="003C54"/>
                </a:solidFill>
                <a:latin typeface="Calibri"/>
                <a:ea typeface="Calibri"/>
                <a:cs typeface="Calibri"/>
              </a:rPr>
              <a:t>Reason about partitions, retention, retries and backpressure</a:t>
            </a:r>
          </a:p>
        </p:txBody>
      </p:sp>
      <p:pic>
        <p:nvPicPr>
          <p:cNvPr id="26" name="Image 5"/>
          <p:cNvPicPr>
            <a:picLocks xmlns:a="http://schemas.openxmlformats.org/drawingml/2006/main" noChangeAspect="1"/>
          </p:cNvPicPr>
          <p:nvPr/>
        </p:nvPicPr>
        <p:blipFill>
          <a:blip xmlns:r="http://schemas.openxmlformats.org/officeDocument/2006/relationships" xmlns:a="http://schemas.openxmlformats.org/drawingml/2006/main" r:embed="R36ac2fb964a241ef"/>
          <a:stretch xmlns:a="http://schemas.openxmlformats.org/drawingml/2006/main"/>
        </p:blipFill>
        <p:spPr>
          <a:xfrm xmlns:a="http://schemas.openxmlformats.org/drawingml/2006/main">
            <a:off x="457200" y="2240280"/>
            <a:ext cx="228240" cy="228240"/>
          </a:xfrm>
          <a:prstGeom xmlns:a="http://schemas.openxmlformats.org/drawingml/2006/main" prst="rect">
            <a:avLst/>
          </a:prstGeom>
        </p:spPr>
      </p:pic>
      <p:sp>
        <p:nvSpPr>
          <p:cNvPr id="27" name="Text 7">
            <a:extLst xmlns:a="http://schemas.openxmlformats.org/drawingml/2006/main">
              <a:ext uri="{FF2B5EF4-FFF2-40B4-BE49-F238E27FC236}">
                <a16:creationId xmlns:a16="http://schemas.microsoft.com/office/drawing/2014/main" id="{8812D9BD-A968-4C99-A822-1B2C61D88F67}"/>
              </a:ext>
            </a:extLst>
          </p:cNvPr>
          <p:cNvSpPr>
            <a:spLocks xmlns:a="http://schemas.openxmlformats.org/drawingml/2006/main" noGrp="1"/>
          </p:cNvSpPr>
          <p:nvPr/>
        </p:nvSpPr>
        <p:spPr>
          <a:xfrm xmlns:a="http://schemas.openxmlformats.org/drawingml/2006/main">
            <a:off x="731520" y="2267640"/>
            <a:ext cx="795492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200" b="0" u="none">
                <a:solidFill>
                  <a:srgbClr val="003C54"/>
                </a:solidFill>
                <a:latin typeface="Calibri"/>
                <a:ea typeface="Calibri"/>
                <a:cs typeface="Calibri"/>
              </a:rPr>
              <a:t>Run an incident exercise and write a short root cause analysis</a:t>
            </a:r>
          </a:p>
        </p:txBody>
      </p:sp>
      <p:pic>
        <p:nvPicPr>
          <p:cNvPr id="28" name="Image 6"/>
          <p:cNvPicPr>
            <a:picLocks xmlns:a="http://schemas.openxmlformats.org/drawingml/2006/main" noChangeAspect="1"/>
          </p:cNvPicPr>
          <p:nvPr/>
        </p:nvPicPr>
        <p:blipFill>
          <a:blip xmlns:r="http://schemas.openxmlformats.org/officeDocument/2006/relationships" xmlns:a="http://schemas.openxmlformats.org/drawingml/2006/main" r:embed="R607daba1be3c4638"/>
          <a:stretch xmlns:a="http://schemas.openxmlformats.org/drawingml/2006/main"/>
        </p:blipFill>
        <p:spPr>
          <a:xfrm xmlns:a="http://schemas.openxmlformats.org/drawingml/2006/main">
            <a:off x="457200" y="2560320"/>
            <a:ext cx="228240" cy="228240"/>
          </a:xfrm>
          <a:prstGeom xmlns:a="http://schemas.openxmlformats.org/drawingml/2006/main" prst="rect">
            <a:avLst/>
          </a:prstGeom>
        </p:spPr>
      </p:pic>
      <p:sp>
        <p:nvSpPr>
          <p:cNvPr id="29" name="Text 8">
            <a:extLst xmlns:a="http://schemas.openxmlformats.org/drawingml/2006/main">
              <a:ext uri="{FF2B5EF4-FFF2-40B4-BE49-F238E27FC236}">
                <a16:creationId xmlns:a16="http://schemas.microsoft.com/office/drawing/2014/main" id="{2E353827-3EBD-456B-8B6C-E6167056ED70}"/>
              </a:ext>
            </a:extLst>
          </p:cNvPr>
          <p:cNvSpPr>
            <a:spLocks xmlns:a="http://schemas.openxmlformats.org/drawingml/2006/main" noGrp="1"/>
          </p:cNvSpPr>
          <p:nvPr/>
        </p:nvSpPr>
        <p:spPr>
          <a:xfrm xmlns:a="http://schemas.openxmlformats.org/drawingml/2006/main">
            <a:off x="731520" y="2587680"/>
            <a:ext cx="795492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200" b="0" u="none">
                <a:solidFill>
                  <a:srgbClr val="003C54"/>
                </a:solidFill>
                <a:latin typeface="Calibri"/>
                <a:ea typeface="Calibri"/>
                <a:cs typeface="Calibri"/>
              </a:rPr>
              <a:t>Complete operational mini exercises and a recovery checklist</a:t>
            </a:r>
          </a:p>
        </p:txBody>
      </p:sp>
      <p:sp>
        <p:nvSpPr>
          <p:cNvPr id="30" name="Text 9">
            <a:extLst xmlns:a="http://schemas.openxmlformats.org/drawingml/2006/main">
              <a:ext uri="{FF2B5EF4-FFF2-40B4-BE49-F238E27FC236}">
                <a16:creationId xmlns:a16="http://schemas.microsoft.com/office/drawing/2014/main" id="{CB196880-9157-427A-AD8E-32BC7ACBCA65}"/>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5d15c781e5254257"/>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fb6b336a392a4321"/>
              </a:rPr>
              <a:t>[2]</a:t>
            </a:r>
          </a:p>
        </p:txBody>
      </p:sp>
      <p:pic>
        <p:nvPicPr>
          <p:cNvPr id="31" name="Image 8"/>
          <p:cNvPicPr>
            <a:picLocks xmlns:a="http://schemas.openxmlformats.org/drawingml/2006/main" noChangeAspect="1"/>
          </p:cNvPicPr>
          <p:nvPr/>
        </p:nvPicPr>
        <p:blipFill>
          <a:blip xmlns:r="http://schemas.openxmlformats.org/officeDocument/2006/relationships" xmlns:a="http://schemas.openxmlformats.org/drawingml/2006/main" r:embed="R357a7ba4a7884c18"/>
          <a:stretch xmlns:a="http://schemas.openxmlformats.org/drawingml/2006/main"/>
        </p:blipFill>
        <p:spPr>
          <a:xfrm xmlns:a="http://schemas.openxmlformats.org/drawingml/2006/main">
            <a:off x="457200" y="640080"/>
            <a:ext cx="228240" cy="228240"/>
          </a:xfrm>
          <a:prstGeom xmlns:a="http://schemas.openxmlformats.org/drawingml/2006/main" prst="rect">
            <a:avLst/>
          </a:prstGeom>
        </p:spPr>
      </p:pic>
    </p:spTree>
    <p:extLst>
      <p:ext uri="{BB962C8B-B14F-4D97-AF65-F5344CB8AC3E}">
        <p14:creationId xmlns:p14="http://schemas.microsoft.com/office/powerpoint/2010/main" val="2075326602"/>
      </p:ext>
    </p:extLst>
  </p:cSld>
</p:sld>
</file>

<file path=ppt/slides/slide3.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32" name="Shape 0">
            <a:extLst xmlns:a="http://schemas.openxmlformats.org/drawingml/2006/main">
              <a:ext uri="{FF2B5EF4-FFF2-40B4-BE49-F238E27FC236}">
                <a16:creationId xmlns:a16="http://schemas.microsoft.com/office/drawing/2014/main" id="{B857C15C-4983-45AA-B746-C51D22EA41FD}"/>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3" name="Text 1">
            <a:extLst xmlns:a="http://schemas.openxmlformats.org/drawingml/2006/main">
              <a:ext uri="{FF2B5EF4-FFF2-40B4-BE49-F238E27FC236}">
                <a16:creationId xmlns:a16="http://schemas.microsoft.com/office/drawing/2014/main" id="{39BD455A-4341-4E60-86C2-8D9B9960279A}"/>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Agenda</a:t>
            </a:r>
          </a:p>
        </p:txBody>
      </p:sp>
      <p:sp>
        <p:nvSpPr>
          <p:cNvPr id="34" name="Shape 2">
            <a:extLst xmlns:a="http://schemas.openxmlformats.org/drawingml/2006/main">
              <a:ext uri="{FF2B5EF4-FFF2-40B4-BE49-F238E27FC236}">
                <a16:creationId xmlns:a16="http://schemas.microsoft.com/office/drawing/2014/main" id="{ABC223A8-D964-4C11-AF54-BE35362B1EB3}"/>
              </a:ext>
            </a:extLst>
          </p:cNvPr>
          <p:cNvSpPr>
            <a:spLocks xmlns:a="http://schemas.openxmlformats.org/drawingml/2006/main" noGrp="1"/>
          </p:cNvSpPr>
          <p:nvPr/>
        </p:nvSpPr>
        <p:spPr>
          <a:xfrm xmlns:a="http://schemas.openxmlformats.org/drawingml/2006/main" flipV="1">
            <a:off x="962280" y="1080000"/>
            <a:ext cx="1028880" cy="1728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7360" rIns="90000" bIns="-27360" anchor="t">
            <a:noAutofit/>
          </a:bodyPr>
          <a:lstStyle xmlns:a="http://schemas.openxmlformats.org/drawingml/2006/main"/>
          <a:p xmlns:a="http://schemas.openxmlformats.org/drawingml/2006/main"/>
        </p:txBody>
      </p:sp>
      <p:sp>
        <p:nvSpPr>
          <p:cNvPr id="35" name="Shape 3">
            <a:extLst xmlns:a="http://schemas.openxmlformats.org/drawingml/2006/main">
              <a:ext uri="{FF2B5EF4-FFF2-40B4-BE49-F238E27FC236}">
                <a16:creationId xmlns:a16="http://schemas.microsoft.com/office/drawing/2014/main" id="{7B9C8BB3-C642-4B31-B41A-936D561AFF20}"/>
              </a:ext>
            </a:extLst>
          </p:cNvPr>
          <p:cNvSpPr>
            <a:spLocks xmlns:a="http://schemas.openxmlformats.org/drawingml/2006/main" noGrp="1"/>
          </p:cNvSpPr>
          <p:nvPr/>
        </p:nvSpPr>
        <p:spPr>
          <a:xfrm xmlns:a="http://schemas.openxmlformats.org/drawingml/2006/main">
            <a:off x="861840" y="1005840"/>
            <a:ext cx="219240" cy="219240"/>
          </a:xfrm>
          <a:prstGeom xmlns:a="http://schemas.openxmlformats.org/drawingml/2006/main" prst="ellipse">
            <a:avLst/>
          </a:prstGeom>
          <a:solidFill xmlns:a="http://schemas.openxmlformats.org/drawingml/2006/main">
            <a:srgbClr val="FFFFD7"/>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1e47841a68f24038"/>
          <a:stretch xmlns:a="http://schemas.openxmlformats.org/drawingml/2006/main"/>
        </p:blipFill>
        <p:spPr>
          <a:xfrm xmlns:a="http://schemas.openxmlformats.org/drawingml/2006/main">
            <a:off x="880200" y="1024200"/>
            <a:ext cx="182520" cy="182520"/>
          </a:xfrm>
          <a:prstGeom xmlns:a="http://schemas.openxmlformats.org/drawingml/2006/main" prst="rect">
            <a:avLst/>
          </a:prstGeom>
        </p:spPr>
      </p:pic>
      <p:sp>
        <p:nvSpPr>
          <p:cNvPr id="37" name="Text 4">
            <a:extLst xmlns:a="http://schemas.openxmlformats.org/drawingml/2006/main">
              <a:ext uri="{FF2B5EF4-FFF2-40B4-BE49-F238E27FC236}">
                <a16:creationId xmlns:a16="http://schemas.microsoft.com/office/drawing/2014/main" id="{6C21E2C1-1017-46FD-8885-98D22660FB0F}"/>
              </a:ext>
            </a:extLst>
          </p:cNvPr>
          <p:cNvSpPr>
            <a:spLocks xmlns:a="http://schemas.openxmlformats.org/drawingml/2006/main" noGrp="1"/>
          </p:cNvSpPr>
          <p:nvPr/>
        </p:nvSpPr>
        <p:spPr>
          <a:xfrm xmlns:a="http://schemas.openxmlformats.org/drawingml/2006/main">
            <a:off x="365760" y="1234440"/>
            <a:ext cx="121140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9:00</a:t>
            </a:r>
          </a:p>
        </p:txBody>
      </p:sp>
      <p:sp>
        <p:nvSpPr>
          <p:cNvPr id="38" name="Text 5">
            <a:extLst xmlns:a="http://schemas.openxmlformats.org/drawingml/2006/main">
              <a:ext uri="{FF2B5EF4-FFF2-40B4-BE49-F238E27FC236}">
                <a16:creationId xmlns:a16="http://schemas.microsoft.com/office/drawing/2014/main" id="{5A5D54BF-BD1C-4D4D-99B4-F33F7B512D14}"/>
              </a:ext>
            </a:extLst>
          </p:cNvPr>
          <p:cNvSpPr>
            <a:spLocks xmlns:a="http://schemas.openxmlformats.org/drawingml/2006/main" noGrp="1"/>
          </p:cNvSpPr>
          <p:nvPr/>
        </p:nvSpPr>
        <p:spPr>
          <a:xfrm xmlns:a="http://schemas.openxmlformats.org/drawingml/2006/main">
            <a:off x="91440" y="1417320"/>
            <a:ext cx="17600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Recap &amp; Health Model</a:t>
            </a:r>
          </a:p>
        </p:txBody>
      </p:sp>
      <p:sp>
        <p:nvSpPr>
          <p:cNvPr id="39" name="Shape 6">
            <a:extLst xmlns:a="http://schemas.openxmlformats.org/drawingml/2006/main">
              <a:ext uri="{FF2B5EF4-FFF2-40B4-BE49-F238E27FC236}">
                <a16:creationId xmlns:a16="http://schemas.microsoft.com/office/drawing/2014/main" id="{6664C67E-353B-4F73-9FDC-2CC774846231}"/>
              </a:ext>
            </a:extLst>
          </p:cNvPr>
          <p:cNvSpPr>
            <a:spLocks xmlns:a="http://schemas.openxmlformats.org/drawingml/2006/main" noGrp="1"/>
          </p:cNvSpPr>
          <p:nvPr/>
        </p:nvSpPr>
        <p:spPr>
          <a:xfrm xmlns:a="http://schemas.openxmlformats.org/drawingml/2006/main" flipV="1">
            <a:off x="1991160" y="1080000"/>
            <a:ext cx="888840" cy="1728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7360" rIns="90000" bIns="-27360" anchor="t">
            <a:noAutofit/>
          </a:bodyPr>
          <a:lstStyle xmlns:a="http://schemas.openxmlformats.org/drawingml/2006/main"/>
          <a:p xmlns:a="http://schemas.openxmlformats.org/drawingml/2006/main"/>
        </p:txBody>
      </p:sp>
      <p:sp>
        <p:nvSpPr>
          <p:cNvPr id="40" name="Shape 7">
            <a:extLst xmlns:a="http://schemas.openxmlformats.org/drawingml/2006/main">
              <a:ext uri="{FF2B5EF4-FFF2-40B4-BE49-F238E27FC236}">
                <a16:creationId xmlns:a16="http://schemas.microsoft.com/office/drawing/2014/main" id="{4BC769D0-F967-421F-80A2-5DAFA0331943}"/>
              </a:ext>
            </a:extLst>
          </p:cNvPr>
          <p:cNvSpPr>
            <a:spLocks xmlns:a="http://schemas.openxmlformats.org/drawingml/2006/main" noGrp="1"/>
          </p:cNvSpPr>
          <p:nvPr/>
        </p:nvSpPr>
        <p:spPr>
          <a:xfrm xmlns:a="http://schemas.openxmlformats.org/drawingml/2006/main">
            <a:off x="1890360" y="1005840"/>
            <a:ext cx="219240" cy="219240"/>
          </a:xfrm>
          <a:prstGeom xmlns:a="http://schemas.openxmlformats.org/drawingml/2006/main" prst="ellipse">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pic>
        <p:nvPicPr>
          <p:cNvPr id="41" name="Image 1"/>
          <p:cNvPicPr>
            <a:picLocks xmlns:a="http://schemas.openxmlformats.org/drawingml/2006/main" noChangeAspect="1"/>
          </p:cNvPicPr>
          <p:nvPr/>
        </p:nvPicPr>
        <p:blipFill>
          <a:blip xmlns:r="http://schemas.openxmlformats.org/officeDocument/2006/relationships" xmlns:a="http://schemas.openxmlformats.org/drawingml/2006/main" r:embed="R3c6bb62bfd5f43f0"/>
          <a:stretch xmlns:a="http://schemas.openxmlformats.org/drawingml/2006/main"/>
        </p:blipFill>
        <p:spPr>
          <a:xfrm xmlns:a="http://schemas.openxmlformats.org/drawingml/2006/main">
            <a:off x="1908720" y="1024200"/>
            <a:ext cx="182520" cy="182520"/>
          </a:xfrm>
          <a:prstGeom xmlns:a="http://schemas.openxmlformats.org/drawingml/2006/main" prst="rect">
            <a:avLst/>
          </a:prstGeom>
        </p:spPr>
      </p:pic>
      <p:sp>
        <p:nvSpPr>
          <p:cNvPr id="42" name="Text 8">
            <a:extLst xmlns:a="http://schemas.openxmlformats.org/drawingml/2006/main">
              <a:ext uri="{FF2B5EF4-FFF2-40B4-BE49-F238E27FC236}">
                <a16:creationId xmlns:a16="http://schemas.microsoft.com/office/drawing/2014/main" id="{0FE86A1D-7A68-40EC-A360-0E1CEC731275}"/>
              </a:ext>
            </a:extLst>
          </p:cNvPr>
          <p:cNvSpPr>
            <a:spLocks xmlns:a="http://schemas.openxmlformats.org/drawingml/2006/main" noGrp="1"/>
          </p:cNvSpPr>
          <p:nvPr/>
        </p:nvSpPr>
        <p:spPr>
          <a:xfrm xmlns:a="http://schemas.openxmlformats.org/drawingml/2006/main">
            <a:off x="1394640" y="1234440"/>
            <a:ext cx="121140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9:45</a:t>
            </a:r>
          </a:p>
        </p:txBody>
      </p:sp>
      <p:sp>
        <p:nvSpPr>
          <p:cNvPr id="43" name="Text 9">
            <a:extLst xmlns:a="http://schemas.openxmlformats.org/drawingml/2006/main">
              <a:ext uri="{FF2B5EF4-FFF2-40B4-BE49-F238E27FC236}">
                <a16:creationId xmlns:a16="http://schemas.microsoft.com/office/drawing/2014/main" id="{0FDA7DE4-46E6-4E05-A9B8-12108CA5A2E2}"/>
              </a:ext>
            </a:extLst>
          </p:cNvPr>
          <p:cNvSpPr>
            <a:spLocks xmlns:a="http://schemas.openxmlformats.org/drawingml/2006/main" noGrp="1"/>
          </p:cNvSpPr>
          <p:nvPr/>
        </p:nvSpPr>
        <p:spPr>
          <a:xfrm xmlns:a="http://schemas.openxmlformats.org/drawingml/2006/main">
            <a:off x="1119960" y="1440000"/>
            <a:ext cx="17600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Baseline Workload &amp; Outputs</a:t>
            </a:r>
          </a:p>
        </p:txBody>
      </p:sp>
      <p:sp>
        <p:nvSpPr>
          <p:cNvPr id="44" name="Shape 10">
            <a:extLst xmlns:a="http://schemas.openxmlformats.org/drawingml/2006/main">
              <a:ext uri="{FF2B5EF4-FFF2-40B4-BE49-F238E27FC236}">
                <a16:creationId xmlns:a16="http://schemas.microsoft.com/office/drawing/2014/main" id="{9D4F6742-957F-4962-8AC2-FBB4DCD92370}"/>
              </a:ext>
            </a:extLst>
          </p:cNvPr>
          <p:cNvSpPr>
            <a:spLocks xmlns:a="http://schemas.openxmlformats.org/drawingml/2006/main" noGrp="1"/>
          </p:cNvSpPr>
          <p:nvPr/>
        </p:nvSpPr>
        <p:spPr>
          <a:xfrm xmlns:a="http://schemas.openxmlformats.org/drawingml/2006/main" flipV="1">
            <a:off x="3096000" y="1064880"/>
            <a:ext cx="928080" cy="1728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7360" rIns="90000" bIns="-27360" anchor="t">
            <a:noAutofit/>
          </a:bodyPr>
          <a:lstStyle xmlns:a="http://schemas.openxmlformats.org/drawingml/2006/main"/>
          <a:p xmlns:a="http://schemas.openxmlformats.org/drawingml/2006/main"/>
        </p:txBody>
      </p:sp>
      <p:sp>
        <p:nvSpPr>
          <p:cNvPr id="45" name="Shape 11">
            <a:extLst xmlns:a="http://schemas.openxmlformats.org/drawingml/2006/main">
              <a:ext uri="{FF2B5EF4-FFF2-40B4-BE49-F238E27FC236}">
                <a16:creationId xmlns:a16="http://schemas.microsoft.com/office/drawing/2014/main" id="{818596AF-0695-43EE-9BA5-A6A83354D0F9}"/>
              </a:ext>
            </a:extLst>
          </p:cNvPr>
          <p:cNvSpPr>
            <a:spLocks xmlns:a="http://schemas.openxmlformats.org/drawingml/2006/main" noGrp="1"/>
          </p:cNvSpPr>
          <p:nvPr/>
        </p:nvSpPr>
        <p:spPr>
          <a:xfrm xmlns:a="http://schemas.openxmlformats.org/drawingml/2006/main">
            <a:off x="2919240" y="1005840"/>
            <a:ext cx="219240" cy="219240"/>
          </a:xfrm>
          <a:prstGeom xmlns:a="http://schemas.openxmlformats.org/drawingml/2006/main" prst="ellipse">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pic>
        <p:nvPicPr>
          <p:cNvPr id="46" name="Image 2"/>
          <p:cNvPicPr>
            <a:picLocks xmlns:a="http://schemas.openxmlformats.org/drawingml/2006/main" noChangeAspect="1"/>
          </p:cNvPicPr>
          <p:nvPr/>
        </p:nvPicPr>
        <p:blipFill>
          <a:blip xmlns:r="http://schemas.openxmlformats.org/officeDocument/2006/relationships" xmlns:a="http://schemas.openxmlformats.org/drawingml/2006/main" r:embed="R444bee57323343fa"/>
          <a:stretch xmlns:a="http://schemas.openxmlformats.org/drawingml/2006/main"/>
        </p:blipFill>
        <p:spPr>
          <a:xfrm xmlns:a="http://schemas.openxmlformats.org/drawingml/2006/main">
            <a:off x="2937600" y="1024200"/>
            <a:ext cx="182520" cy="182520"/>
          </a:xfrm>
          <a:prstGeom xmlns:a="http://schemas.openxmlformats.org/drawingml/2006/main" prst="rect">
            <a:avLst/>
          </a:prstGeom>
        </p:spPr>
      </p:pic>
      <p:sp>
        <p:nvSpPr>
          <p:cNvPr id="47" name="Text 12">
            <a:extLst xmlns:a="http://schemas.openxmlformats.org/drawingml/2006/main">
              <a:ext uri="{FF2B5EF4-FFF2-40B4-BE49-F238E27FC236}">
                <a16:creationId xmlns:a16="http://schemas.microsoft.com/office/drawing/2014/main" id="{79D3CE6A-1320-448A-AA24-D8850E6B0A4A}"/>
              </a:ext>
            </a:extLst>
          </p:cNvPr>
          <p:cNvSpPr>
            <a:spLocks xmlns:a="http://schemas.openxmlformats.org/drawingml/2006/main" noGrp="1"/>
          </p:cNvSpPr>
          <p:nvPr/>
        </p:nvSpPr>
        <p:spPr>
          <a:xfrm xmlns:a="http://schemas.openxmlformats.org/drawingml/2006/main">
            <a:off x="2423160" y="1234440"/>
            <a:ext cx="121140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11:00</a:t>
            </a:r>
          </a:p>
        </p:txBody>
      </p:sp>
      <p:sp>
        <p:nvSpPr>
          <p:cNvPr id="48" name="Text 13">
            <a:extLst xmlns:a="http://schemas.openxmlformats.org/drawingml/2006/main">
              <a:ext uri="{FF2B5EF4-FFF2-40B4-BE49-F238E27FC236}">
                <a16:creationId xmlns:a16="http://schemas.microsoft.com/office/drawing/2014/main" id="{76E36AB6-96D4-4844-AA64-A12EFE15FD10}"/>
              </a:ext>
            </a:extLst>
          </p:cNvPr>
          <p:cNvSpPr>
            <a:spLocks xmlns:a="http://schemas.openxmlformats.org/drawingml/2006/main" noGrp="1"/>
          </p:cNvSpPr>
          <p:nvPr/>
        </p:nvSpPr>
        <p:spPr>
          <a:xfrm xmlns:a="http://schemas.openxmlformats.org/drawingml/2006/main">
            <a:off x="2148840" y="1417320"/>
            <a:ext cx="17600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Signals: Lag, Logs &amp; Status</a:t>
            </a:r>
          </a:p>
        </p:txBody>
      </p:sp>
      <p:sp>
        <p:nvSpPr>
          <p:cNvPr id="49" name="Shape 14">
            <a:extLst xmlns:a="http://schemas.openxmlformats.org/drawingml/2006/main">
              <a:ext uri="{FF2B5EF4-FFF2-40B4-BE49-F238E27FC236}">
                <a16:creationId xmlns:a16="http://schemas.microsoft.com/office/drawing/2014/main" id="{8FEF107E-1456-47A8-AEC2-3BDF5B839537}"/>
              </a:ext>
            </a:extLst>
          </p:cNvPr>
          <p:cNvSpPr>
            <a:spLocks xmlns:a="http://schemas.openxmlformats.org/drawingml/2006/main" noGrp="1"/>
          </p:cNvSpPr>
          <p:nvPr/>
        </p:nvSpPr>
        <p:spPr>
          <a:xfrm xmlns:a="http://schemas.openxmlformats.org/drawingml/2006/main" flipH="1">
            <a:off x="4166280" y="1080000"/>
            <a:ext cx="791640" cy="1404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30600" rIns="90000" bIns="-30600" anchor="t">
            <a:noAutofit/>
          </a:bodyPr>
          <a:lstStyle xmlns:a="http://schemas.openxmlformats.org/drawingml/2006/main"/>
          <a:p xmlns:a="http://schemas.openxmlformats.org/drawingml/2006/main"/>
        </p:txBody>
      </p:sp>
      <p:sp>
        <p:nvSpPr>
          <p:cNvPr id="50" name="Shape 15">
            <a:extLst xmlns:a="http://schemas.openxmlformats.org/drawingml/2006/main">
              <a:ext uri="{FF2B5EF4-FFF2-40B4-BE49-F238E27FC236}">
                <a16:creationId xmlns:a16="http://schemas.microsoft.com/office/drawing/2014/main" id="{F559000C-9186-48F1-B99D-F6E65D056B72}"/>
              </a:ext>
            </a:extLst>
          </p:cNvPr>
          <p:cNvSpPr>
            <a:spLocks xmlns:a="http://schemas.openxmlformats.org/drawingml/2006/main" noGrp="1"/>
          </p:cNvSpPr>
          <p:nvPr/>
        </p:nvSpPr>
        <p:spPr>
          <a:xfrm xmlns:a="http://schemas.openxmlformats.org/drawingml/2006/main">
            <a:off x="3947760" y="1005840"/>
            <a:ext cx="219240" cy="219240"/>
          </a:xfrm>
          <a:prstGeom xmlns:a="http://schemas.openxmlformats.org/drawingml/2006/main" prst="ellipse">
            <a:avLst/>
          </a:prstGeom>
          <a:solidFill xmlns:a="http://schemas.openxmlformats.org/drawingml/2006/main">
            <a:srgbClr val="FFFFD7"/>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pic>
        <p:nvPicPr>
          <p:cNvPr id="51" name="Image 3"/>
          <p:cNvPicPr>
            <a:picLocks xmlns:a="http://schemas.openxmlformats.org/drawingml/2006/main" noChangeAspect="1"/>
          </p:cNvPicPr>
          <p:nvPr/>
        </p:nvPicPr>
        <p:blipFill>
          <a:blip xmlns:r="http://schemas.openxmlformats.org/officeDocument/2006/relationships" xmlns:a="http://schemas.openxmlformats.org/drawingml/2006/main" r:embed="R1f44d4d9d1ff4995"/>
          <a:stretch xmlns:a="http://schemas.openxmlformats.org/drawingml/2006/main"/>
        </p:blipFill>
        <p:spPr>
          <a:xfrm xmlns:a="http://schemas.openxmlformats.org/drawingml/2006/main">
            <a:off x="3966120" y="1024200"/>
            <a:ext cx="182520" cy="182520"/>
          </a:xfrm>
          <a:prstGeom xmlns:a="http://schemas.openxmlformats.org/drawingml/2006/main" prst="rect">
            <a:avLst/>
          </a:prstGeom>
        </p:spPr>
      </p:pic>
      <p:sp>
        <p:nvSpPr>
          <p:cNvPr id="52" name="Text 16">
            <a:extLst xmlns:a="http://schemas.openxmlformats.org/drawingml/2006/main">
              <a:ext uri="{FF2B5EF4-FFF2-40B4-BE49-F238E27FC236}">
                <a16:creationId xmlns:a16="http://schemas.microsoft.com/office/drawing/2014/main" id="{B52F708B-7F26-4716-A343-669DA4338910}"/>
              </a:ext>
            </a:extLst>
          </p:cNvPr>
          <p:cNvSpPr>
            <a:spLocks xmlns:a="http://schemas.openxmlformats.org/drawingml/2006/main" noGrp="1"/>
          </p:cNvSpPr>
          <p:nvPr/>
        </p:nvSpPr>
        <p:spPr>
          <a:xfrm xmlns:a="http://schemas.openxmlformats.org/drawingml/2006/main">
            <a:off x="3452040" y="1234440"/>
            <a:ext cx="121140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12:00</a:t>
            </a:r>
          </a:p>
        </p:txBody>
      </p:sp>
      <p:sp>
        <p:nvSpPr>
          <p:cNvPr id="53" name="Text 17">
            <a:extLst xmlns:a="http://schemas.openxmlformats.org/drawingml/2006/main">
              <a:ext uri="{FF2B5EF4-FFF2-40B4-BE49-F238E27FC236}">
                <a16:creationId xmlns:a16="http://schemas.microsoft.com/office/drawing/2014/main" id="{92111387-2CFE-438B-A61D-0B2F4F976223}"/>
              </a:ext>
            </a:extLst>
          </p:cNvPr>
          <p:cNvSpPr>
            <a:spLocks xmlns:a="http://schemas.openxmlformats.org/drawingml/2006/main" noGrp="1"/>
          </p:cNvSpPr>
          <p:nvPr/>
        </p:nvSpPr>
        <p:spPr>
          <a:xfrm xmlns:a="http://schemas.openxmlformats.org/drawingml/2006/main">
            <a:off x="3177720" y="1417320"/>
            <a:ext cx="17600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Lunch Break</a:t>
            </a:r>
          </a:p>
        </p:txBody>
      </p:sp>
      <p:sp>
        <p:nvSpPr>
          <p:cNvPr id="54" name="Shape 18">
            <a:extLst xmlns:a="http://schemas.openxmlformats.org/drawingml/2006/main">
              <a:ext uri="{FF2B5EF4-FFF2-40B4-BE49-F238E27FC236}">
                <a16:creationId xmlns:a16="http://schemas.microsoft.com/office/drawing/2014/main" id="{7AE664FE-7BE1-4B88-B728-E60B79178C0B}"/>
              </a:ext>
            </a:extLst>
          </p:cNvPr>
          <p:cNvSpPr>
            <a:spLocks xmlns:a="http://schemas.openxmlformats.org/drawingml/2006/main" noGrp="1"/>
          </p:cNvSpPr>
          <p:nvPr/>
        </p:nvSpPr>
        <p:spPr>
          <a:xfrm xmlns:a="http://schemas.openxmlformats.org/drawingml/2006/main" flipV="1">
            <a:off x="5077080" y="1080000"/>
            <a:ext cx="1042920" cy="1728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7360" rIns="90000" bIns="-27360" anchor="t">
            <a:noAutofit/>
          </a:bodyPr>
          <a:lstStyle xmlns:a="http://schemas.openxmlformats.org/drawingml/2006/main"/>
          <a:p xmlns:a="http://schemas.openxmlformats.org/drawingml/2006/main"/>
        </p:txBody>
      </p:sp>
      <p:sp>
        <p:nvSpPr>
          <p:cNvPr id="55" name="Shape 19">
            <a:extLst xmlns:a="http://schemas.openxmlformats.org/drawingml/2006/main">
              <a:ext uri="{FF2B5EF4-FFF2-40B4-BE49-F238E27FC236}">
                <a16:creationId xmlns:a16="http://schemas.microsoft.com/office/drawing/2014/main" id="{8E2BA3E6-E98A-418A-8555-3524821A532C}"/>
              </a:ext>
            </a:extLst>
          </p:cNvPr>
          <p:cNvSpPr>
            <a:spLocks xmlns:a="http://schemas.openxmlformats.org/drawingml/2006/main" noGrp="1"/>
          </p:cNvSpPr>
          <p:nvPr/>
        </p:nvSpPr>
        <p:spPr>
          <a:xfrm xmlns:a="http://schemas.openxmlformats.org/drawingml/2006/main">
            <a:off x="4976640" y="1005840"/>
            <a:ext cx="219240" cy="219240"/>
          </a:xfrm>
          <a:prstGeom xmlns:a="http://schemas.openxmlformats.org/drawingml/2006/main" prst="ellipse">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pic>
        <p:nvPicPr>
          <p:cNvPr id="56" name="Image 4"/>
          <p:cNvPicPr>
            <a:picLocks xmlns:a="http://schemas.openxmlformats.org/drawingml/2006/main" noChangeAspect="1"/>
          </p:cNvPicPr>
          <p:nvPr/>
        </p:nvPicPr>
        <p:blipFill>
          <a:blip xmlns:r="http://schemas.openxmlformats.org/officeDocument/2006/relationships" xmlns:a="http://schemas.openxmlformats.org/drawingml/2006/main" r:embed="Rd5a5670645e04a43"/>
          <a:stretch xmlns:a="http://schemas.openxmlformats.org/drawingml/2006/main"/>
        </p:blipFill>
        <p:spPr>
          <a:xfrm xmlns:a="http://schemas.openxmlformats.org/drawingml/2006/main">
            <a:off x="4995000" y="1024200"/>
            <a:ext cx="182520" cy="182520"/>
          </a:xfrm>
          <a:prstGeom xmlns:a="http://schemas.openxmlformats.org/drawingml/2006/main" prst="rect">
            <a:avLst/>
          </a:prstGeom>
        </p:spPr>
      </p:pic>
      <p:sp>
        <p:nvSpPr>
          <p:cNvPr id="57" name="Text 20">
            <a:extLst xmlns:a="http://schemas.openxmlformats.org/drawingml/2006/main">
              <a:ext uri="{FF2B5EF4-FFF2-40B4-BE49-F238E27FC236}">
                <a16:creationId xmlns:a16="http://schemas.microsoft.com/office/drawing/2014/main" id="{1F94D057-ACDA-4C83-AC71-2B0D1E12CE55}"/>
              </a:ext>
            </a:extLst>
          </p:cNvPr>
          <p:cNvSpPr>
            <a:spLocks xmlns:a="http://schemas.openxmlformats.org/drawingml/2006/main" noGrp="1"/>
          </p:cNvSpPr>
          <p:nvPr/>
        </p:nvSpPr>
        <p:spPr>
          <a:xfrm xmlns:a="http://schemas.openxmlformats.org/drawingml/2006/main">
            <a:off x="4480560" y="1234440"/>
            <a:ext cx="121140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13:00</a:t>
            </a:r>
          </a:p>
        </p:txBody>
      </p:sp>
      <p:sp>
        <p:nvSpPr>
          <p:cNvPr id="58" name="Text 21">
            <a:extLst xmlns:a="http://schemas.openxmlformats.org/drawingml/2006/main">
              <a:ext uri="{FF2B5EF4-FFF2-40B4-BE49-F238E27FC236}">
                <a16:creationId xmlns:a16="http://schemas.microsoft.com/office/drawing/2014/main" id="{E83222B5-1956-403F-8A68-349E5A7469D1}"/>
              </a:ext>
            </a:extLst>
          </p:cNvPr>
          <p:cNvSpPr>
            <a:spLocks xmlns:a="http://schemas.openxmlformats.org/drawingml/2006/main" noGrp="1"/>
          </p:cNvSpPr>
          <p:nvPr/>
        </p:nvSpPr>
        <p:spPr>
          <a:xfrm xmlns:a="http://schemas.openxmlformats.org/drawingml/2006/main">
            <a:off x="4206240" y="1417320"/>
            <a:ext cx="17600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Incident Investigation</a:t>
            </a:r>
          </a:p>
        </p:txBody>
      </p:sp>
      <p:sp>
        <p:nvSpPr>
          <p:cNvPr id="59" name="Shape 22">
            <a:extLst xmlns:a="http://schemas.openxmlformats.org/drawingml/2006/main">
              <a:ext uri="{FF2B5EF4-FFF2-40B4-BE49-F238E27FC236}">
                <a16:creationId xmlns:a16="http://schemas.microsoft.com/office/drawing/2014/main" id="{E8AD9103-C0C7-4D2B-BE2C-86A3A75F7D71}"/>
              </a:ext>
            </a:extLst>
          </p:cNvPr>
          <p:cNvSpPr>
            <a:spLocks xmlns:a="http://schemas.openxmlformats.org/drawingml/2006/main" noGrp="1"/>
          </p:cNvSpPr>
          <p:nvPr/>
        </p:nvSpPr>
        <p:spPr>
          <a:xfrm xmlns:a="http://schemas.openxmlformats.org/drawingml/2006/main" flipV="1">
            <a:off x="6105960" y="1080000"/>
            <a:ext cx="946440" cy="1728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7360" rIns="90000" bIns="-27360" anchor="t">
            <a:noAutofit/>
          </a:bodyPr>
          <a:lstStyle xmlns:a="http://schemas.openxmlformats.org/drawingml/2006/main"/>
          <a:p xmlns:a="http://schemas.openxmlformats.org/drawingml/2006/main"/>
        </p:txBody>
      </p:sp>
      <p:sp>
        <p:nvSpPr>
          <p:cNvPr id="60" name="Shape 23">
            <a:extLst xmlns:a="http://schemas.openxmlformats.org/drawingml/2006/main">
              <a:ext uri="{FF2B5EF4-FFF2-40B4-BE49-F238E27FC236}">
                <a16:creationId xmlns:a16="http://schemas.microsoft.com/office/drawing/2014/main" id="{90DBC201-750E-45AC-BE14-C060D72774DD}"/>
              </a:ext>
            </a:extLst>
          </p:cNvPr>
          <p:cNvSpPr>
            <a:spLocks xmlns:a="http://schemas.openxmlformats.org/drawingml/2006/main" noGrp="1"/>
          </p:cNvSpPr>
          <p:nvPr/>
        </p:nvSpPr>
        <p:spPr>
          <a:xfrm xmlns:a="http://schemas.openxmlformats.org/drawingml/2006/main">
            <a:off x="6005160" y="1005840"/>
            <a:ext cx="219240" cy="219240"/>
          </a:xfrm>
          <a:prstGeom xmlns:a="http://schemas.openxmlformats.org/drawingml/2006/main" prst="ellipse">
            <a:avLst/>
          </a:prstGeom>
          <a:solidFill xmlns:a="http://schemas.openxmlformats.org/drawingml/2006/main">
            <a:srgbClr val="FFFFD7"/>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61" name="Text 24">
            <a:extLst xmlns:a="http://schemas.openxmlformats.org/drawingml/2006/main">
              <a:ext uri="{FF2B5EF4-FFF2-40B4-BE49-F238E27FC236}">
                <a16:creationId xmlns:a16="http://schemas.microsoft.com/office/drawing/2014/main" id="{1E11FADC-474E-4A2F-BB72-0C517DFAD444}"/>
              </a:ext>
            </a:extLst>
          </p:cNvPr>
          <p:cNvSpPr>
            <a:spLocks xmlns:a="http://schemas.openxmlformats.org/drawingml/2006/main" noGrp="1"/>
          </p:cNvSpPr>
          <p:nvPr/>
        </p:nvSpPr>
        <p:spPr>
          <a:xfrm xmlns:a="http://schemas.openxmlformats.org/drawingml/2006/main">
            <a:off x="5509440" y="1234440"/>
            <a:ext cx="121140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14:30</a:t>
            </a:r>
          </a:p>
        </p:txBody>
      </p:sp>
      <p:sp>
        <p:nvSpPr>
          <p:cNvPr id="62" name="Text 25">
            <a:extLst xmlns:a="http://schemas.openxmlformats.org/drawingml/2006/main">
              <a:ext uri="{FF2B5EF4-FFF2-40B4-BE49-F238E27FC236}">
                <a16:creationId xmlns:a16="http://schemas.microsoft.com/office/drawing/2014/main" id="{2484CE52-1379-49AF-85DC-0344FEA885BA}"/>
              </a:ext>
            </a:extLst>
          </p:cNvPr>
          <p:cNvSpPr>
            <a:spLocks xmlns:a="http://schemas.openxmlformats.org/drawingml/2006/main" noGrp="1"/>
          </p:cNvSpPr>
          <p:nvPr/>
        </p:nvSpPr>
        <p:spPr>
          <a:xfrm xmlns:a="http://schemas.openxmlformats.org/drawingml/2006/main">
            <a:off x="5235120" y="1417320"/>
            <a:ext cx="17600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Capacity &amp; Backpressure</a:t>
            </a:r>
          </a:p>
        </p:txBody>
      </p:sp>
      <p:sp>
        <p:nvSpPr>
          <p:cNvPr id="63" name="Shape 26">
            <a:extLst xmlns:a="http://schemas.openxmlformats.org/drawingml/2006/main">
              <a:ext uri="{FF2B5EF4-FFF2-40B4-BE49-F238E27FC236}">
                <a16:creationId xmlns:a16="http://schemas.microsoft.com/office/drawing/2014/main" id="{2347BA36-CDDB-44C1-BA51-24F0B28E3AAB}"/>
              </a:ext>
            </a:extLst>
          </p:cNvPr>
          <p:cNvSpPr>
            <a:spLocks xmlns:a="http://schemas.openxmlformats.org/drawingml/2006/main" noGrp="1"/>
          </p:cNvSpPr>
          <p:nvPr/>
        </p:nvSpPr>
        <p:spPr>
          <a:xfrm xmlns:a="http://schemas.openxmlformats.org/drawingml/2006/main" flipV="1">
            <a:off x="7134480" y="1080000"/>
            <a:ext cx="965520" cy="1728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7360" rIns="90000" bIns="-27360" anchor="t">
            <a:noAutofit/>
          </a:bodyPr>
          <a:lstStyle xmlns:a="http://schemas.openxmlformats.org/drawingml/2006/main"/>
          <a:p xmlns:a="http://schemas.openxmlformats.org/drawingml/2006/main"/>
        </p:txBody>
      </p:sp>
      <p:sp>
        <p:nvSpPr>
          <p:cNvPr id="64" name="Shape 27">
            <a:extLst xmlns:a="http://schemas.openxmlformats.org/drawingml/2006/main">
              <a:ext uri="{FF2B5EF4-FFF2-40B4-BE49-F238E27FC236}">
                <a16:creationId xmlns:a16="http://schemas.microsoft.com/office/drawing/2014/main" id="{893C9C73-1580-4608-82E5-F8714B9799F4}"/>
              </a:ext>
            </a:extLst>
          </p:cNvPr>
          <p:cNvSpPr>
            <a:spLocks xmlns:a="http://schemas.openxmlformats.org/drawingml/2006/main" noGrp="1"/>
          </p:cNvSpPr>
          <p:nvPr/>
        </p:nvSpPr>
        <p:spPr>
          <a:xfrm xmlns:a="http://schemas.openxmlformats.org/drawingml/2006/main">
            <a:off x="7034040" y="1005840"/>
            <a:ext cx="219240" cy="219240"/>
          </a:xfrm>
          <a:prstGeom xmlns:a="http://schemas.openxmlformats.org/drawingml/2006/main" prst="ellipse">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pic>
        <p:nvPicPr>
          <p:cNvPr id="65" name="Image 5"/>
          <p:cNvPicPr>
            <a:picLocks xmlns:a="http://schemas.openxmlformats.org/drawingml/2006/main" noChangeAspect="1"/>
          </p:cNvPicPr>
          <p:nvPr/>
        </p:nvPicPr>
        <p:blipFill>
          <a:blip xmlns:r="http://schemas.openxmlformats.org/officeDocument/2006/relationships" xmlns:a="http://schemas.openxmlformats.org/drawingml/2006/main" r:embed="R8852009ac5024069"/>
          <a:stretch xmlns:a="http://schemas.openxmlformats.org/drawingml/2006/main"/>
        </p:blipFill>
        <p:spPr>
          <a:xfrm xmlns:a="http://schemas.openxmlformats.org/drawingml/2006/main">
            <a:off x="7052400" y="1024200"/>
            <a:ext cx="182520" cy="182520"/>
          </a:xfrm>
          <a:prstGeom xmlns:a="http://schemas.openxmlformats.org/drawingml/2006/main" prst="rect">
            <a:avLst/>
          </a:prstGeom>
        </p:spPr>
      </p:pic>
      <p:sp>
        <p:nvSpPr>
          <p:cNvPr id="66" name="Text 28">
            <a:extLst xmlns:a="http://schemas.openxmlformats.org/drawingml/2006/main">
              <a:ext uri="{FF2B5EF4-FFF2-40B4-BE49-F238E27FC236}">
                <a16:creationId xmlns:a16="http://schemas.microsoft.com/office/drawing/2014/main" id="{A1F3903F-860D-4FDE-AB6D-CE18274AFB72}"/>
              </a:ext>
            </a:extLst>
          </p:cNvPr>
          <p:cNvSpPr>
            <a:spLocks xmlns:a="http://schemas.openxmlformats.org/drawingml/2006/main" noGrp="1"/>
          </p:cNvSpPr>
          <p:nvPr/>
        </p:nvSpPr>
        <p:spPr>
          <a:xfrm xmlns:a="http://schemas.openxmlformats.org/drawingml/2006/main">
            <a:off x="6537960" y="1234440"/>
            <a:ext cx="121140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15:30</a:t>
            </a:r>
          </a:p>
        </p:txBody>
      </p:sp>
      <p:sp>
        <p:nvSpPr>
          <p:cNvPr id="67" name="Text 29">
            <a:extLst xmlns:a="http://schemas.openxmlformats.org/drawingml/2006/main">
              <a:ext uri="{FF2B5EF4-FFF2-40B4-BE49-F238E27FC236}">
                <a16:creationId xmlns:a16="http://schemas.microsoft.com/office/drawing/2014/main" id="{2F65BCE3-7693-4258-96F4-EF82E7CEC949}"/>
              </a:ext>
            </a:extLst>
          </p:cNvPr>
          <p:cNvSpPr>
            <a:spLocks xmlns:a="http://schemas.openxmlformats.org/drawingml/2006/main" noGrp="1"/>
          </p:cNvSpPr>
          <p:nvPr/>
        </p:nvSpPr>
        <p:spPr>
          <a:xfrm xmlns:a="http://schemas.openxmlformats.org/drawingml/2006/main">
            <a:off x="6263640" y="1422720"/>
            <a:ext cx="17600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Runbooks &amp; Recovery</a:t>
            </a:r>
          </a:p>
        </p:txBody>
      </p:sp>
      <p:sp>
        <p:nvSpPr>
          <p:cNvPr id="68" name="Shape 31">
            <a:extLst xmlns:a="http://schemas.openxmlformats.org/drawingml/2006/main">
              <a:ext uri="{FF2B5EF4-FFF2-40B4-BE49-F238E27FC236}">
                <a16:creationId xmlns:a16="http://schemas.microsoft.com/office/drawing/2014/main" id="{3E3AC1F9-E9F9-4D4F-8118-6BAE011FC18D}"/>
              </a:ext>
            </a:extLst>
          </p:cNvPr>
          <p:cNvSpPr>
            <a:spLocks xmlns:a="http://schemas.openxmlformats.org/drawingml/2006/main" noGrp="1"/>
          </p:cNvSpPr>
          <p:nvPr/>
        </p:nvSpPr>
        <p:spPr>
          <a:xfrm xmlns:a="http://schemas.openxmlformats.org/drawingml/2006/main">
            <a:off x="8062560" y="1005840"/>
            <a:ext cx="219240" cy="219240"/>
          </a:xfrm>
          <a:prstGeom xmlns:a="http://schemas.openxmlformats.org/drawingml/2006/main" prst="ellipse">
            <a:avLst/>
          </a:prstGeom>
          <a:solidFill xmlns:a="http://schemas.openxmlformats.org/drawingml/2006/main">
            <a:srgbClr val="FFFFD7"/>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pic>
        <p:nvPicPr>
          <p:cNvPr id="69" name="Image 6"/>
          <p:cNvPicPr>
            <a:picLocks xmlns:a="http://schemas.openxmlformats.org/drawingml/2006/main" noChangeAspect="1"/>
          </p:cNvPicPr>
          <p:nvPr/>
        </p:nvPicPr>
        <p:blipFill>
          <a:blip xmlns:r="http://schemas.openxmlformats.org/officeDocument/2006/relationships" xmlns:a="http://schemas.openxmlformats.org/drawingml/2006/main" r:embed="Rbe1e6fefc2a44c05"/>
          <a:stretch xmlns:a="http://schemas.openxmlformats.org/drawingml/2006/main"/>
        </p:blipFill>
        <p:spPr>
          <a:xfrm xmlns:a="http://schemas.openxmlformats.org/drawingml/2006/main">
            <a:off x="8080920" y="1024200"/>
            <a:ext cx="182520" cy="182520"/>
          </a:xfrm>
          <a:prstGeom xmlns:a="http://schemas.openxmlformats.org/drawingml/2006/main" prst="rect">
            <a:avLst/>
          </a:prstGeom>
        </p:spPr>
      </p:pic>
      <p:sp>
        <p:nvSpPr>
          <p:cNvPr id="70" name="Text 32">
            <a:extLst xmlns:a="http://schemas.openxmlformats.org/drawingml/2006/main">
              <a:ext uri="{FF2B5EF4-FFF2-40B4-BE49-F238E27FC236}">
                <a16:creationId xmlns:a16="http://schemas.microsoft.com/office/drawing/2014/main" id="{5C773A27-1438-4D52-A323-0ADD3A07C8A3}"/>
              </a:ext>
            </a:extLst>
          </p:cNvPr>
          <p:cNvSpPr>
            <a:spLocks xmlns:a="http://schemas.openxmlformats.org/drawingml/2006/main" noGrp="1"/>
          </p:cNvSpPr>
          <p:nvPr/>
        </p:nvSpPr>
        <p:spPr>
          <a:xfrm xmlns:a="http://schemas.openxmlformats.org/drawingml/2006/main">
            <a:off x="7566840" y="1234440"/>
            <a:ext cx="121140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16:30</a:t>
            </a:r>
          </a:p>
        </p:txBody>
      </p:sp>
      <p:sp>
        <p:nvSpPr>
          <p:cNvPr id="71" name="Text 33">
            <a:extLst xmlns:a="http://schemas.openxmlformats.org/drawingml/2006/main">
              <a:ext uri="{FF2B5EF4-FFF2-40B4-BE49-F238E27FC236}">
                <a16:creationId xmlns:a16="http://schemas.microsoft.com/office/drawing/2014/main" id="{EBBDFCB3-1A11-44C6-B724-E1FF5C6A12FA}"/>
              </a:ext>
            </a:extLst>
          </p:cNvPr>
          <p:cNvSpPr>
            <a:spLocks xmlns:a="http://schemas.openxmlformats.org/drawingml/2006/main" noGrp="1"/>
          </p:cNvSpPr>
          <p:nvPr/>
        </p:nvSpPr>
        <p:spPr>
          <a:xfrm xmlns:a="http://schemas.openxmlformats.org/drawingml/2006/main">
            <a:off x="7292520" y="1417320"/>
            <a:ext cx="17600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Lab, Exercises &amp; Quiz</a:t>
            </a:r>
          </a:p>
        </p:txBody>
      </p:sp>
      <p:sp>
        <p:nvSpPr>
          <p:cNvPr id="72" name="Text 34">
            <a:extLst xmlns:a="http://schemas.openxmlformats.org/drawingml/2006/main">
              <a:ext uri="{FF2B5EF4-FFF2-40B4-BE49-F238E27FC236}">
                <a16:creationId xmlns:a16="http://schemas.microsoft.com/office/drawing/2014/main" id="{322249F5-F17E-48DF-ABF7-F352BC2E87FC}"/>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62e873271f894c7e"/>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bc49b848c4c74824"/>
              </a:rPr>
              <a:t>[2]</a:t>
            </a:r>
          </a:p>
        </p:txBody>
      </p:sp>
      <p:pic>
        <p:nvPicPr>
          <p:cNvPr id="73" name="Image 7"/>
          <p:cNvPicPr>
            <a:picLocks xmlns:a="http://schemas.openxmlformats.org/drawingml/2006/main" noChangeAspect="1"/>
          </p:cNvPicPr>
          <p:nvPr/>
        </p:nvPicPr>
        <p:blipFill>
          <a:blip xmlns:r="http://schemas.openxmlformats.org/officeDocument/2006/relationships" xmlns:a="http://schemas.openxmlformats.org/drawingml/2006/main" r:embed="Re24d99f60fd445b7"/>
          <a:stretch xmlns:a="http://schemas.openxmlformats.org/drawingml/2006/main"/>
        </p:blipFill>
        <p:spPr>
          <a:xfrm xmlns:a="http://schemas.openxmlformats.org/drawingml/2006/main">
            <a:off x="6005160" y="995760"/>
            <a:ext cx="228240" cy="228240"/>
          </a:xfrm>
          <a:prstGeom xmlns:a="http://schemas.openxmlformats.org/drawingml/2006/main" prst="rect">
            <a:avLst/>
          </a:prstGeom>
        </p:spPr>
      </p:pic>
    </p:spTree>
    <p:extLst>
      <p:ext uri="{BB962C8B-B14F-4D97-AF65-F5344CB8AC3E}">
        <p14:creationId xmlns:p14="http://schemas.microsoft.com/office/powerpoint/2010/main" val="743630731"/>
      </p:ext>
    </p:extLst>
  </p:cSld>
</p:sld>
</file>

<file path=ppt/slides/slide4.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74" name="Shape 0">
            <a:extLst xmlns:a="http://schemas.openxmlformats.org/drawingml/2006/main">
              <a:ext uri="{FF2B5EF4-FFF2-40B4-BE49-F238E27FC236}">
                <a16:creationId xmlns:a16="http://schemas.microsoft.com/office/drawing/2014/main" id="{2E507BA1-4B82-4CD7-B6A1-FD02CACFBDAD}"/>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75" name="Text 1">
            <a:extLst xmlns:a="http://schemas.openxmlformats.org/drawingml/2006/main">
              <a:ext uri="{FF2B5EF4-FFF2-40B4-BE49-F238E27FC236}">
                <a16:creationId xmlns:a16="http://schemas.microsoft.com/office/drawing/2014/main" id="{5BCBA010-43D6-4805-8B97-B64637226090}"/>
              </a:ext>
            </a:extLst>
          </p:cNvPr>
          <p:cNvSpPr>
            <a:spLocks xmlns:a="http://schemas.openxmlformats.org/drawingml/2006/main" noGrp="1"/>
          </p:cNvSpPr>
          <p:nvPr/>
        </p:nvSpPr>
        <p:spPr>
          <a:xfrm xmlns:a="http://schemas.openxmlformats.org/drawingml/2006/main">
            <a:off x="457200" y="91440"/>
            <a:ext cx="7314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Recap &amp; Bridge</a:t>
            </a:r>
          </a:p>
        </p:txBody>
      </p:sp>
      <p:sp>
        <p:nvSpPr>
          <p:cNvPr id="76" name="Text 2">
            <a:extLst xmlns:a="http://schemas.openxmlformats.org/drawingml/2006/main">
              <a:ext uri="{FF2B5EF4-FFF2-40B4-BE49-F238E27FC236}">
                <a16:creationId xmlns:a16="http://schemas.microsoft.com/office/drawing/2014/main" id="{D1766E41-9DFC-4BE1-8260-0D94311C3C78}"/>
              </a:ext>
            </a:extLst>
          </p:cNvPr>
          <p:cNvSpPr>
            <a:spLocks xmlns:a="http://schemas.openxmlformats.org/drawingml/2006/main" noGrp="1"/>
          </p:cNvSpPr>
          <p:nvPr/>
        </p:nvSpPr>
        <p:spPr>
          <a:xfrm xmlns:a="http://schemas.openxmlformats.org/drawingml/2006/main">
            <a:off x="457200" y="640080"/>
            <a:ext cx="4845960" cy="1096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400" b="1" u="none">
                <a:solidFill>
                  <a:srgbClr val="003C54"/>
                </a:solidFill>
                <a:latin typeface="Calibri"/>
                <a:ea typeface="Calibri"/>
                <a:cs typeface="Calibri"/>
              </a:rPr>
              <a:t>Yesterday you scheduled bounded data tasks with Airflow. Today the question changes: how do you know the pipeline is healthy, and how do you recover when output becomes late, missing or wrong? The ksqlDB/Python workload gives us visible signals to diagnose.</a:t>
            </a:r>
          </a:p>
        </p:txBody>
      </p:sp>
      <p:sp>
        <p:nvSpPr>
          <p:cNvPr id="77" name="Shape 3">
            <a:extLst xmlns:a="http://schemas.openxmlformats.org/drawingml/2006/main">
              <a:ext uri="{FF2B5EF4-FFF2-40B4-BE49-F238E27FC236}">
                <a16:creationId xmlns:a16="http://schemas.microsoft.com/office/drawing/2014/main" id="{74120EE8-DB91-4B6D-89CC-288130A71E35}"/>
              </a:ext>
            </a:extLst>
          </p:cNvPr>
          <p:cNvSpPr>
            <a:spLocks xmlns:a="http://schemas.openxmlformats.org/drawingml/2006/main" noGrp="1"/>
          </p:cNvSpPr>
          <p:nvPr/>
        </p:nvSpPr>
        <p:spPr>
          <a:xfrm xmlns:a="http://schemas.openxmlformats.org/drawingml/2006/main">
            <a:off x="274320" y="2011680"/>
            <a:ext cx="1005480" cy="548280"/>
          </a:xfrm>
          <a:prstGeom xmlns:a="http://schemas.openxmlformats.org/drawingml/2006/main" prst="roundRect">
            <a:avLst>
              <a:gd name="adj" fmla="val 16667"/>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78" name="Text 4">
            <a:extLst xmlns:a="http://schemas.openxmlformats.org/drawingml/2006/main">
              <a:ext uri="{FF2B5EF4-FFF2-40B4-BE49-F238E27FC236}">
                <a16:creationId xmlns:a16="http://schemas.microsoft.com/office/drawing/2014/main" id="{135E494A-D18B-4EB2-ADA0-61A3602BDD46}"/>
              </a:ext>
            </a:extLst>
          </p:cNvPr>
          <p:cNvSpPr>
            <a:spLocks xmlns:a="http://schemas.openxmlformats.org/drawingml/2006/main" noGrp="1"/>
          </p:cNvSpPr>
          <p:nvPr/>
        </p:nvSpPr>
        <p:spPr>
          <a:xfrm xmlns:a="http://schemas.openxmlformats.org/drawingml/2006/main">
            <a:off x="320040" y="2148840"/>
            <a:ext cx="9140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Database</a:t>
            </a:r>
          </a:p>
          <a:p xmlns:a="http://schemas.openxmlformats.org/drawingml/2006/main">
            <a:pPr algn="ctr">
              <a:lnSpc>
                <a:spcPct val="100000"/>
              </a:lnSpc>
              <a:buNone/>
            </a:pPr>
            <a:r>
              <a:rPr sz="800" b="0" u="none">
                <a:solidFill>
                  <a:srgbClr val="FFFFFF"/>
                </a:solidFill>
                <a:latin typeface="Calibri"/>
                <a:ea typeface="Calibri"/>
                <a:cs typeface="Calibri"/>
              </a:rPr>
              <a:t>(CDC)</a:t>
            </a:r>
          </a:p>
        </p:txBody>
      </p:sp>
      <p:sp>
        <p:nvSpPr>
          <p:cNvPr id="79" name="Shape 5">
            <a:extLst xmlns:a="http://schemas.openxmlformats.org/drawingml/2006/main">
              <a:ext uri="{FF2B5EF4-FFF2-40B4-BE49-F238E27FC236}">
                <a16:creationId xmlns:a16="http://schemas.microsoft.com/office/drawing/2014/main" id="{40F5A6E3-1013-48D9-8971-998F4865DBBD}"/>
              </a:ext>
            </a:extLst>
          </p:cNvPr>
          <p:cNvSpPr>
            <a:spLocks xmlns:a="http://schemas.openxmlformats.org/drawingml/2006/main" noGrp="1"/>
          </p:cNvSpPr>
          <p:nvPr/>
        </p:nvSpPr>
        <p:spPr>
          <a:xfrm xmlns:a="http://schemas.openxmlformats.org/drawingml/2006/main">
            <a:off x="1260000" y="2148840"/>
            <a:ext cx="222120" cy="27396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80" name="Shape 6">
            <a:extLst xmlns:a="http://schemas.openxmlformats.org/drawingml/2006/main">
              <a:ext uri="{FF2B5EF4-FFF2-40B4-BE49-F238E27FC236}">
                <a16:creationId xmlns:a16="http://schemas.microsoft.com/office/drawing/2014/main" id="{24373135-9E4B-4BDD-A4A7-5D90290DA264}"/>
              </a:ext>
            </a:extLst>
          </p:cNvPr>
          <p:cNvSpPr>
            <a:spLocks xmlns:a="http://schemas.openxmlformats.org/drawingml/2006/main" noGrp="1"/>
          </p:cNvSpPr>
          <p:nvPr/>
        </p:nvSpPr>
        <p:spPr>
          <a:xfrm xmlns:a="http://schemas.openxmlformats.org/drawingml/2006/main">
            <a:off x="1463040" y="2011680"/>
            <a:ext cx="1005480" cy="548280"/>
          </a:xfrm>
          <a:prstGeom xmlns:a="http://schemas.openxmlformats.org/drawingml/2006/main" prst="roundRect">
            <a:avLst>
              <a:gd name="adj" fmla="val 16667"/>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81" name="Text 7">
            <a:extLst xmlns:a="http://schemas.openxmlformats.org/drawingml/2006/main">
              <a:ext uri="{FF2B5EF4-FFF2-40B4-BE49-F238E27FC236}">
                <a16:creationId xmlns:a16="http://schemas.microsoft.com/office/drawing/2014/main" id="{2104754A-0A0C-405E-9B04-AFBB7C6B823E}"/>
              </a:ext>
            </a:extLst>
          </p:cNvPr>
          <p:cNvSpPr>
            <a:spLocks xmlns:a="http://schemas.openxmlformats.org/drawingml/2006/main" noGrp="1"/>
          </p:cNvSpPr>
          <p:nvPr/>
        </p:nvSpPr>
        <p:spPr>
          <a:xfrm xmlns:a="http://schemas.openxmlformats.org/drawingml/2006/main">
            <a:off x="1508760" y="2148840"/>
            <a:ext cx="9140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Debezium</a:t>
            </a:r>
          </a:p>
        </p:txBody>
      </p:sp>
      <p:sp>
        <p:nvSpPr>
          <p:cNvPr id="82" name="Shape 8">
            <a:extLst xmlns:a="http://schemas.openxmlformats.org/drawingml/2006/main">
              <a:ext uri="{FF2B5EF4-FFF2-40B4-BE49-F238E27FC236}">
                <a16:creationId xmlns:a16="http://schemas.microsoft.com/office/drawing/2014/main" id="{BE4757DD-AF18-43CD-BA39-0CB92553EA6F}"/>
              </a:ext>
            </a:extLst>
          </p:cNvPr>
          <p:cNvSpPr>
            <a:spLocks xmlns:a="http://schemas.openxmlformats.org/drawingml/2006/main" noGrp="1"/>
          </p:cNvSpPr>
          <p:nvPr/>
        </p:nvSpPr>
        <p:spPr>
          <a:xfrm xmlns:a="http://schemas.openxmlformats.org/drawingml/2006/main">
            <a:off x="2396880" y="2148840"/>
            <a:ext cx="273960" cy="27396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83" name="Shape 9">
            <a:extLst xmlns:a="http://schemas.openxmlformats.org/drawingml/2006/main">
              <a:ext uri="{FF2B5EF4-FFF2-40B4-BE49-F238E27FC236}">
                <a16:creationId xmlns:a16="http://schemas.microsoft.com/office/drawing/2014/main" id="{758623CF-9982-4D42-92A4-08DF8EBED146}"/>
              </a:ext>
            </a:extLst>
          </p:cNvPr>
          <p:cNvSpPr>
            <a:spLocks xmlns:a="http://schemas.openxmlformats.org/drawingml/2006/main" noGrp="1"/>
          </p:cNvSpPr>
          <p:nvPr/>
        </p:nvSpPr>
        <p:spPr>
          <a:xfrm xmlns:a="http://schemas.openxmlformats.org/drawingml/2006/main">
            <a:off x="2651760" y="2011680"/>
            <a:ext cx="1005480" cy="548280"/>
          </a:xfrm>
          <a:prstGeom xmlns:a="http://schemas.openxmlformats.org/drawingml/2006/main" prst="roundRect">
            <a:avLst>
              <a:gd name="adj" fmla="val 16667"/>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84" name="Text 10">
            <a:extLst xmlns:a="http://schemas.openxmlformats.org/drawingml/2006/main">
              <a:ext uri="{FF2B5EF4-FFF2-40B4-BE49-F238E27FC236}">
                <a16:creationId xmlns:a16="http://schemas.microsoft.com/office/drawing/2014/main" id="{EC4D64D2-EAEA-4061-AF07-80730738093C}"/>
              </a:ext>
            </a:extLst>
          </p:cNvPr>
          <p:cNvSpPr>
            <a:spLocks xmlns:a="http://schemas.openxmlformats.org/drawingml/2006/main" noGrp="1"/>
          </p:cNvSpPr>
          <p:nvPr/>
        </p:nvSpPr>
        <p:spPr>
          <a:xfrm xmlns:a="http://schemas.openxmlformats.org/drawingml/2006/main">
            <a:off x="2697480" y="2148840"/>
            <a:ext cx="9140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Kafka Topics</a:t>
            </a:r>
          </a:p>
        </p:txBody>
      </p:sp>
      <p:sp>
        <p:nvSpPr>
          <p:cNvPr id="85" name="Shape 11">
            <a:extLst xmlns:a="http://schemas.openxmlformats.org/drawingml/2006/main">
              <a:ext uri="{FF2B5EF4-FFF2-40B4-BE49-F238E27FC236}">
                <a16:creationId xmlns:a16="http://schemas.microsoft.com/office/drawing/2014/main" id="{D42F62D0-A0B1-428F-BFFA-F30C7E7B2C5E}"/>
              </a:ext>
            </a:extLst>
          </p:cNvPr>
          <p:cNvSpPr>
            <a:spLocks xmlns:a="http://schemas.openxmlformats.org/drawingml/2006/main" noGrp="1"/>
          </p:cNvSpPr>
          <p:nvPr/>
        </p:nvSpPr>
        <p:spPr>
          <a:xfrm xmlns:a="http://schemas.openxmlformats.org/drawingml/2006/main">
            <a:off x="3585600" y="2148840"/>
            <a:ext cx="273960" cy="27396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86" name="Shape 12">
            <a:extLst xmlns:a="http://schemas.openxmlformats.org/drawingml/2006/main">
              <a:ext uri="{FF2B5EF4-FFF2-40B4-BE49-F238E27FC236}">
                <a16:creationId xmlns:a16="http://schemas.microsoft.com/office/drawing/2014/main" id="{F0A4FEDF-B0E2-49D1-9327-206F233CDA16}"/>
              </a:ext>
            </a:extLst>
          </p:cNvPr>
          <p:cNvSpPr>
            <a:spLocks xmlns:a="http://schemas.openxmlformats.org/drawingml/2006/main" noGrp="1"/>
          </p:cNvSpPr>
          <p:nvPr/>
        </p:nvSpPr>
        <p:spPr>
          <a:xfrm xmlns:a="http://schemas.openxmlformats.org/drawingml/2006/main">
            <a:off x="3840480" y="2011680"/>
            <a:ext cx="1005480" cy="548280"/>
          </a:xfrm>
          <a:prstGeom xmlns:a="http://schemas.openxmlformats.org/drawingml/2006/main" prst="roundRect">
            <a:avLst>
              <a:gd name="adj" fmla="val 16667"/>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87" name="Text 13">
            <a:extLst xmlns:a="http://schemas.openxmlformats.org/drawingml/2006/main">
              <a:ext uri="{FF2B5EF4-FFF2-40B4-BE49-F238E27FC236}">
                <a16:creationId xmlns:a16="http://schemas.microsoft.com/office/drawing/2014/main" id="{97F62871-2671-440D-976A-8BE4AB63262C}"/>
              </a:ext>
            </a:extLst>
          </p:cNvPr>
          <p:cNvSpPr>
            <a:spLocks xmlns:a="http://schemas.openxmlformats.org/drawingml/2006/main" noGrp="1"/>
          </p:cNvSpPr>
          <p:nvPr/>
        </p:nvSpPr>
        <p:spPr>
          <a:xfrm xmlns:a="http://schemas.openxmlformats.org/drawingml/2006/main">
            <a:off x="3886200" y="2148840"/>
            <a:ext cx="9140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Airflow</a:t>
            </a:r>
          </a:p>
        </p:txBody>
      </p:sp>
      <p:sp>
        <p:nvSpPr>
          <p:cNvPr id="88" name="Shape 14">
            <a:extLst xmlns:a="http://schemas.openxmlformats.org/drawingml/2006/main">
              <a:ext uri="{FF2B5EF4-FFF2-40B4-BE49-F238E27FC236}">
                <a16:creationId xmlns:a16="http://schemas.microsoft.com/office/drawing/2014/main" id="{786F5C3E-5EA1-43DF-AE98-4E8801663F55}"/>
              </a:ext>
            </a:extLst>
          </p:cNvPr>
          <p:cNvSpPr>
            <a:spLocks xmlns:a="http://schemas.openxmlformats.org/drawingml/2006/main" noGrp="1"/>
          </p:cNvSpPr>
          <p:nvPr/>
        </p:nvSpPr>
        <p:spPr>
          <a:xfrm xmlns:a="http://schemas.openxmlformats.org/drawingml/2006/main">
            <a:off x="4774320" y="2148840"/>
            <a:ext cx="273960" cy="27396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89" name="Shape 15">
            <a:extLst xmlns:a="http://schemas.openxmlformats.org/drawingml/2006/main">
              <a:ext uri="{FF2B5EF4-FFF2-40B4-BE49-F238E27FC236}">
                <a16:creationId xmlns:a16="http://schemas.microsoft.com/office/drawing/2014/main" id="{DB2D1CAC-3B5D-490D-A291-8A2B18AA3FD6}"/>
              </a:ext>
            </a:extLst>
          </p:cNvPr>
          <p:cNvSpPr>
            <a:spLocks xmlns:a="http://schemas.openxmlformats.org/drawingml/2006/main" noGrp="1"/>
          </p:cNvSpPr>
          <p:nvPr/>
        </p:nvSpPr>
        <p:spPr>
          <a:xfrm xmlns:a="http://schemas.openxmlformats.org/drawingml/2006/main">
            <a:off x="5029200" y="2011680"/>
            <a:ext cx="1005480" cy="548280"/>
          </a:xfrm>
          <a:prstGeom xmlns:a="http://schemas.openxmlformats.org/drawingml/2006/main" prst="roundRect">
            <a:avLst>
              <a:gd name="adj" fmla="val 16667"/>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90" name="Text 16">
            <a:extLst xmlns:a="http://schemas.openxmlformats.org/drawingml/2006/main">
              <a:ext uri="{FF2B5EF4-FFF2-40B4-BE49-F238E27FC236}">
                <a16:creationId xmlns:a16="http://schemas.microsoft.com/office/drawing/2014/main" id="{24CDD426-E08B-4D3C-A108-A95DF1D4CAAC}"/>
              </a:ext>
            </a:extLst>
          </p:cNvPr>
          <p:cNvSpPr>
            <a:spLocks xmlns:a="http://schemas.openxmlformats.org/drawingml/2006/main" noGrp="1"/>
          </p:cNvSpPr>
          <p:nvPr/>
        </p:nvSpPr>
        <p:spPr>
          <a:xfrm xmlns:a="http://schemas.openxmlformats.org/drawingml/2006/main">
            <a:off x="5074920" y="2148840"/>
            <a:ext cx="9140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Processor</a:t>
            </a:r>
          </a:p>
        </p:txBody>
      </p:sp>
      <p:sp>
        <p:nvSpPr>
          <p:cNvPr id="91" name="Shape 17">
            <a:extLst xmlns:a="http://schemas.openxmlformats.org/drawingml/2006/main">
              <a:ext uri="{FF2B5EF4-FFF2-40B4-BE49-F238E27FC236}">
                <a16:creationId xmlns:a16="http://schemas.microsoft.com/office/drawing/2014/main" id="{A26A6393-B0F9-4E0C-9199-B173349D9928}"/>
              </a:ext>
            </a:extLst>
          </p:cNvPr>
          <p:cNvSpPr>
            <a:spLocks xmlns:a="http://schemas.openxmlformats.org/drawingml/2006/main" noGrp="1"/>
          </p:cNvSpPr>
          <p:nvPr/>
        </p:nvSpPr>
        <p:spPr>
          <a:xfrm xmlns:a="http://schemas.openxmlformats.org/drawingml/2006/main">
            <a:off x="5963040" y="2148840"/>
            <a:ext cx="273960" cy="27396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92" name="Shape 18">
            <a:extLst xmlns:a="http://schemas.openxmlformats.org/drawingml/2006/main">
              <a:ext uri="{FF2B5EF4-FFF2-40B4-BE49-F238E27FC236}">
                <a16:creationId xmlns:a16="http://schemas.microsoft.com/office/drawing/2014/main" id="{32441D73-FFF5-4182-840F-8D14D7D927EB}"/>
              </a:ext>
            </a:extLst>
          </p:cNvPr>
          <p:cNvSpPr>
            <a:spLocks xmlns:a="http://schemas.openxmlformats.org/drawingml/2006/main" noGrp="1"/>
          </p:cNvSpPr>
          <p:nvPr/>
        </p:nvSpPr>
        <p:spPr>
          <a:xfrm xmlns:a="http://schemas.openxmlformats.org/drawingml/2006/main">
            <a:off x="6217920" y="2011680"/>
            <a:ext cx="1005480" cy="548280"/>
          </a:xfrm>
          <a:prstGeom xmlns:a="http://schemas.openxmlformats.org/drawingml/2006/main" prst="roundRect">
            <a:avLst>
              <a:gd name="adj" fmla="val 16667"/>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93" name="Text 19">
            <a:extLst xmlns:a="http://schemas.openxmlformats.org/drawingml/2006/main">
              <a:ext uri="{FF2B5EF4-FFF2-40B4-BE49-F238E27FC236}">
                <a16:creationId xmlns:a16="http://schemas.microsoft.com/office/drawing/2014/main" id="{299725D9-264F-4E5F-996C-CF6E79E0332A}"/>
              </a:ext>
            </a:extLst>
          </p:cNvPr>
          <p:cNvSpPr>
            <a:spLocks xmlns:a="http://schemas.openxmlformats.org/drawingml/2006/main" noGrp="1"/>
          </p:cNvSpPr>
          <p:nvPr/>
        </p:nvSpPr>
        <p:spPr>
          <a:xfrm xmlns:a="http://schemas.openxmlformats.org/drawingml/2006/main">
            <a:off x="6263640" y="2148840"/>
            <a:ext cx="9140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Gold / SLA</a:t>
            </a:r>
          </a:p>
        </p:txBody>
      </p:sp>
      <p:sp>
        <p:nvSpPr>
          <p:cNvPr id="94" name="Text 20">
            <a:extLst xmlns:a="http://schemas.openxmlformats.org/drawingml/2006/main">
              <a:ext uri="{FF2B5EF4-FFF2-40B4-BE49-F238E27FC236}">
                <a16:creationId xmlns:a16="http://schemas.microsoft.com/office/drawing/2014/main" id="{87BC3A07-0374-445F-960C-F7D37AD76B0C}"/>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0fdb61c2c2644c2e"/>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62f2b9ddccb74b26"/>
              </a:rPr>
              <a:t>[2]</a:t>
            </a:r>
          </a:p>
        </p:txBody>
      </p:sp>
    </p:spTree>
    <p:extLst>
      <p:ext uri="{BB962C8B-B14F-4D97-AF65-F5344CB8AC3E}">
        <p14:creationId xmlns:p14="http://schemas.microsoft.com/office/powerpoint/2010/main" val="830424780"/>
      </p:ext>
    </p:extLst>
  </p:cSld>
</p:sld>
</file>

<file path=ppt/slides/slide5.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95" name="Shape 0">
            <a:extLst xmlns:a="http://schemas.openxmlformats.org/drawingml/2006/main">
              <a:ext uri="{FF2B5EF4-FFF2-40B4-BE49-F238E27FC236}">
                <a16:creationId xmlns:a16="http://schemas.microsoft.com/office/drawing/2014/main" id="{37EC2766-7ECE-4DE5-A903-0FF58140BEC8}"/>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96" name="Text 1">
            <a:extLst xmlns:a="http://schemas.openxmlformats.org/drawingml/2006/main">
              <a:ext uri="{FF2B5EF4-FFF2-40B4-BE49-F238E27FC236}">
                <a16:creationId xmlns:a16="http://schemas.microsoft.com/office/drawing/2014/main" id="{CEFDEBA5-DC69-480C-A91D-797083FB30F2}"/>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Operational Readiness</a:t>
            </a:r>
          </a:p>
        </p:txBody>
      </p:sp>
      <p:sp>
        <p:nvSpPr>
          <p:cNvPr id="97" name="Shape 2">
            <a:extLst xmlns:a="http://schemas.openxmlformats.org/drawingml/2006/main">
              <a:ext uri="{FF2B5EF4-FFF2-40B4-BE49-F238E27FC236}">
                <a16:creationId xmlns:a16="http://schemas.microsoft.com/office/drawing/2014/main" id="{7D4BCD51-9C83-44F1-BD39-44B9385551C8}"/>
              </a:ext>
            </a:extLst>
          </p:cNvPr>
          <p:cNvSpPr>
            <a:spLocks xmlns:a="http://schemas.openxmlformats.org/drawingml/2006/main" noGrp="1"/>
          </p:cNvSpPr>
          <p:nvPr/>
        </p:nvSpPr>
        <p:spPr>
          <a:xfrm xmlns:a="http://schemas.openxmlformats.org/drawingml/2006/main">
            <a:off x="457200" y="731520"/>
            <a:ext cx="3840120" cy="1371240"/>
          </a:xfrm>
          <a:prstGeom xmlns:a="http://schemas.openxmlformats.org/drawingml/2006/main" prst="roundRect">
            <a:avLst>
              <a:gd name="adj" fmla="val 6667"/>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98" name="Shape 3">
            <a:extLst xmlns:a="http://schemas.openxmlformats.org/drawingml/2006/main">
              <a:ext uri="{FF2B5EF4-FFF2-40B4-BE49-F238E27FC236}">
                <a16:creationId xmlns:a16="http://schemas.microsoft.com/office/drawing/2014/main" id="{DE6BAD1A-F058-4757-BB73-7E8E4C0256AF}"/>
              </a:ext>
            </a:extLst>
          </p:cNvPr>
          <p:cNvSpPr>
            <a:spLocks xmlns:a="http://schemas.openxmlformats.org/drawingml/2006/main" noGrp="1"/>
          </p:cNvSpPr>
          <p:nvPr/>
        </p:nvSpPr>
        <p:spPr>
          <a:xfrm xmlns:a="http://schemas.openxmlformats.org/drawingml/2006/main">
            <a:off x="4846320" y="731520"/>
            <a:ext cx="3840120" cy="1371240"/>
          </a:xfrm>
          <a:prstGeom xmlns:a="http://schemas.openxmlformats.org/drawingml/2006/main" prst="roundRect">
            <a:avLst>
              <a:gd name="adj" fmla="val 6667"/>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99" name="Text 4">
            <a:extLst xmlns:a="http://schemas.openxmlformats.org/drawingml/2006/main">
              <a:ext uri="{FF2B5EF4-FFF2-40B4-BE49-F238E27FC236}">
                <a16:creationId xmlns:a16="http://schemas.microsoft.com/office/drawing/2014/main" id="{F655358A-DE14-4D2F-BD53-7BC2EF672B03}"/>
              </a:ext>
            </a:extLst>
          </p:cNvPr>
          <p:cNvSpPr>
            <a:spLocks xmlns:a="http://schemas.openxmlformats.org/drawingml/2006/main" noGrp="1"/>
          </p:cNvSpPr>
          <p:nvPr/>
        </p:nvSpPr>
        <p:spPr>
          <a:xfrm xmlns:a="http://schemas.openxmlformats.org/drawingml/2006/main">
            <a:off x="502920" y="749880"/>
            <a:ext cx="3748680" cy="12798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600" b="1" u="none">
                <a:solidFill>
                  <a:srgbClr val="FFFFFF"/>
                </a:solidFill>
                <a:latin typeface="Calibri"/>
                <a:ea typeface="Calibri"/>
                <a:cs typeface="Calibri"/>
              </a:rPr>
              <a:t>LIVE PIPELINE</a:t>
            </a:r>
          </a:p>
          <a:p xmlns:a="http://schemas.openxmlformats.org/drawingml/2006/main">
            <a:pPr>
              <a:lnSpc>
                <a:spcPct val="100000"/>
              </a:lnSpc>
              <a:buNone/>
            </a:pPr>
            <a:r>
              <a:rPr sz="1000" b="0" u="none">
                <a:solidFill>
                  <a:srgbClr val="FFFFFF"/>
                </a:solidFill>
                <a:latin typeface="Calibri"/>
                <a:ea typeface="Calibri"/>
                <a:cs typeface="Calibri"/>
              </a:rPr>
              <a:t>- Events continue arriving</a:t>
            </a:r>
          </a:p>
          <a:p xmlns:a="http://schemas.openxmlformats.org/drawingml/2006/main">
            <a:pPr>
              <a:lnSpc>
                <a:spcPct val="100000"/>
              </a:lnSpc>
              <a:buNone/>
            </a:pPr>
            <a:r>
              <a:rPr sz="1000" b="0" u="none">
                <a:solidFill>
                  <a:srgbClr val="FFFFFF"/>
                </a:solidFill>
                <a:latin typeface="Calibri"/>
                <a:ea typeface="Calibri"/>
                <a:cs typeface="Calibri"/>
              </a:rPr>
              <a:t>- Freshness target is measurable</a:t>
            </a:r>
          </a:p>
          <a:p xmlns:a="http://schemas.openxmlformats.org/drawingml/2006/main">
            <a:pPr>
              <a:lnSpc>
                <a:spcPct val="100000"/>
              </a:lnSpc>
              <a:buNone/>
            </a:pPr>
            <a:r>
              <a:rPr sz="1000" b="0" u="none">
                <a:solidFill>
                  <a:srgbClr val="FFFFFF"/>
                </a:solidFill>
                <a:latin typeface="Calibri"/>
                <a:ea typeface="Calibri"/>
                <a:cs typeface="Calibri"/>
              </a:rPr>
              <a:t>- Lag and failures require action</a:t>
            </a:r>
          </a:p>
          <a:p xmlns:a="http://schemas.openxmlformats.org/drawingml/2006/main">
            <a:pPr>
              <a:lnSpc>
                <a:spcPct val="100000"/>
              </a:lnSpc>
              <a:buNone/>
            </a:pPr>
            <a:r>
              <a:rPr sz="1000" b="0" u="none">
                <a:solidFill>
                  <a:srgbClr val="FFFFFF"/>
                </a:solidFill>
                <a:latin typeface="Calibri"/>
                <a:ea typeface="Calibri"/>
                <a:cs typeface="Calibri"/>
              </a:rPr>
              <a:t>- Recovery must avoid corrupt output</a:t>
            </a:r>
          </a:p>
        </p:txBody>
      </p:sp>
      <p:sp>
        <p:nvSpPr>
          <p:cNvPr id="100" name="Text 5">
            <a:extLst xmlns:a="http://schemas.openxmlformats.org/drawingml/2006/main">
              <a:ext uri="{FF2B5EF4-FFF2-40B4-BE49-F238E27FC236}">
                <a16:creationId xmlns:a16="http://schemas.microsoft.com/office/drawing/2014/main" id="{4A494F21-0556-4700-86AE-FD7886762F29}"/>
              </a:ext>
            </a:extLst>
          </p:cNvPr>
          <p:cNvSpPr>
            <a:spLocks xmlns:a="http://schemas.openxmlformats.org/drawingml/2006/main" noGrp="1"/>
          </p:cNvSpPr>
          <p:nvPr/>
        </p:nvSpPr>
        <p:spPr>
          <a:xfrm xmlns:a="http://schemas.openxmlformats.org/drawingml/2006/main">
            <a:off x="4892040" y="749880"/>
            <a:ext cx="3748680" cy="12798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600" b="1" u="none">
                <a:solidFill>
                  <a:srgbClr val="FFFFFF"/>
                </a:solidFill>
                <a:latin typeface="Calibri"/>
                <a:ea typeface="Calibri"/>
                <a:cs typeface="Calibri"/>
              </a:rPr>
              <a:t>CONTROL TASKS</a:t>
            </a:r>
          </a:p>
          <a:p xmlns:a="http://schemas.openxmlformats.org/drawingml/2006/main">
            <a:pPr>
              <a:lnSpc>
                <a:spcPct val="100000"/>
              </a:lnSpc>
              <a:buNone/>
            </a:pPr>
            <a:r>
              <a:rPr sz="1000" b="0" u="none">
                <a:solidFill>
                  <a:srgbClr val="FFFFFF"/>
                </a:solidFill>
                <a:latin typeface="Calibri"/>
                <a:ea typeface="Calibri"/>
                <a:cs typeface="Calibri"/>
              </a:rPr>
              <a:t>- Scheduled validations and reports</a:t>
            </a:r>
          </a:p>
          <a:p xmlns:a="http://schemas.openxmlformats.org/drawingml/2006/main">
            <a:pPr>
              <a:lnSpc>
                <a:spcPct val="100000"/>
              </a:lnSpc>
              <a:buNone/>
            </a:pPr>
            <a:r>
              <a:rPr sz="1000" b="0" u="none">
                <a:solidFill>
                  <a:srgbClr val="FFFFFF"/>
                </a:solidFill>
                <a:latin typeface="Calibri"/>
                <a:ea typeface="Calibri"/>
                <a:cs typeface="Calibri"/>
              </a:rPr>
              <a:t>- Task retries are observable</a:t>
            </a:r>
          </a:p>
          <a:p xmlns:a="http://schemas.openxmlformats.org/drawingml/2006/main">
            <a:pPr>
              <a:lnSpc>
                <a:spcPct val="100000"/>
              </a:lnSpc>
              <a:buNone/>
            </a:pPr>
            <a:r>
              <a:rPr sz="1000" b="0" u="none">
                <a:solidFill>
                  <a:srgbClr val="FFFFFF"/>
                </a:solidFill>
                <a:latin typeface="Calibri"/>
                <a:ea typeface="Calibri"/>
                <a:cs typeface="Calibri"/>
              </a:rPr>
              <a:t>- Reruns must be idempotent</a:t>
            </a:r>
          </a:p>
          <a:p xmlns:a="http://schemas.openxmlformats.org/drawingml/2006/main">
            <a:pPr>
              <a:lnSpc>
                <a:spcPct val="100000"/>
              </a:lnSpc>
              <a:buNone/>
            </a:pPr>
            <a:r>
              <a:rPr sz="1000" b="0" u="none">
                <a:solidFill>
                  <a:srgbClr val="FFFFFF"/>
                </a:solidFill>
                <a:latin typeface="Calibri"/>
                <a:ea typeface="Calibri"/>
                <a:cs typeface="Calibri"/>
              </a:rPr>
              <a:t>- Good for reconciliation checks</a:t>
            </a:r>
          </a:p>
        </p:txBody>
      </p:sp>
      <p:pic>
        <p:nvPicPr>
          <p:cNvPr id="101" name="Image 0"/>
          <p:cNvPicPr>
            <a:picLocks xmlns:a="http://schemas.openxmlformats.org/drawingml/2006/main" noChangeAspect="1"/>
          </p:cNvPicPr>
          <p:nvPr/>
        </p:nvPicPr>
        <p:blipFill>
          <a:blip xmlns:r="http://schemas.openxmlformats.org/officeDocument/2006/relationships" xmlns:a="http://schemas.openxmlformats.org/drawingml/2006/main" r:embed="R63c2178a5c484fae"/>
          <a:stretch xmlns:a="http://schemas.openxmlformats.org/drawingml/2006/main"/>
        </p:blipFill>
        <p:spPr>
          <a:xfrm xmlns:a="http://schemas.openxmlformats.org/drawingml/2006/main">
            <a:off x="731520" y="2286000"/>
            <a:ext cx="365400" cy="365400"/>
          </a:xfrm>
          <a:prstGeom xmlns:a="http://schemas.openxmlformats.org/drawingml/2006/main" prst="rect">
            <a:avLst/>
          </a:prstGeom>
        </p:spPr>
      </p:pic>
      <p:sp>
        <p:nvSpPr>
          <p:cNvPr id="102" name="Text 6">
            <a:extLst xmlns:a="http://schemas.openxmlformats.org/drawingml/2006/main">
              <a:ext uri="{FF2B5EF4-FFF2-40B4-BE49-F238E27FC236}">
                <a16:creationId xmlns:a16="http://schemas.microsoft.com/office/drawing/2014/main" id="{3ACC3F0B-06D9-4BF1-8D0C-346EDBD22250}"/>
              </a:ext>
            </a:extLst>
          </p:cNvPr>
          <p:cNvSpPr>
            <a:spLocks xmlns:a="http://schemas.openxmlformats.org/drawingml/2006/main" noGrp="1"/>
          </p:cNvSpPr>
          <p:nvPr/>
        </p:nvSpPr>
        <p:spPr>
          <a:xfrm xmlns:a="http://schemas.openxmlformats.org/drawingml/2006/main">
            <a:off x="548640" y="2697480"/>
            <a:ext cx="9140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Freshness</a:t>
            </a:r>
          </a:p>
        </p:txBody>
      </p:sp>
      <p:pic>
        <p:nvPicPr>
          <p:cNvPr id="103" name="Image 1"/>
          <p:cNvPicPr>
            <a:picLocks xmlns:a="http://schemas.openxmlformats.org/drawingml/2006/main" noChangeAspect="1"/>
          </p:cNvPicPr>
          <p:nvPr/>
        </p:nvPicPr>
        <p:blipFill>
          <a:blip xmlns:r="http://schemas.openxmlformats.org/officeDocument/2006/relationships" xmlns:a="http://schemas.openxmlformats.org/drawingml/2006/main" r:embed="Ra544e438b69c4a38"/>
          <a:stretch xmlns:a="http://schemas.openxmlformats.org/drawingml/2006/main"/>
        </p:blipFill>
        <p:spPr>
          <a:xfrm xmlns:a="http://schemas.openxmlformats.org/drawingml/2006/main">
            <a:off x="2560320" y="2286000"/>
            <a:ext cx="365400" cy="365400"/>
          </a:xfrm>
          <a:prstGeom xmlns:a="http://schemas.openxmlformats.org/drawingml/2006/main" prst="rect">
            <a:avLst/>
          </a:prstGeom>
        </p:spPr>
      </p:pic>
      <p:sp>
        <p:nvSpPr>
          <p:cNvPr id="104" name="Text 7">
            <a:extLst xmlns:a="http://schemas.openxmlformats.org/drawingml/2006/main">
              <a:ext uri="{FF2B5EF4-FFF2-40B4-BE49-F238E27FC236}">
                <a16:creationId xmlns:a16="http://schemas.microsoft.com/office/drawing/2014/main" id="{43AF55D7-B3E2-46D7-A277-BA5F14BA3F21}"/>
              </a:ext>
            </a:extLst>
          </p:cNvPr>
          <p:cNvSpPr>
            <a:spLocks xmlns:a="http://schemas.openxmlformats.org/drawingml/2006/main" noGrp="1"/>
          </p:cNvSpPr>
          <p:nvPr/>
        </p:nvSpPr>
        <p:spPr>
          <a:xfrm xmlns:a="http://schemas.openxmlformats.org/drawingml/2006/main">
            <a:off x="2377440" y="2697480"/>
            <a:ext cx="9140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Lag</a:t>
            </a:r>
          </a:p>
        </p:txBody>
      </p:sp>
      <p:pic>
        <p:nvPicPr>
          <p:cNvPr id="105" name="Image 2"/>
          <p:cNvPicPr>
            <a:picLocks xmlns:a="http://schemas.openxmlformats.org/drawingml/2006/main" noChangeAspect="1"/>
          </p:cNvPicPr>
          <p:nvPr/>
        </p:nvPicPr>
        <p:blipFill>
          <a:blip xmlns:r="http://schemas.openxmlformats.org/officeDocument/2006/relationships" xmlns:a="http://schemas.openxmlformats.org/drawingml/2006/main" r:embed="Rf03b605368b54951"/>
          <a:stretch xmlns:a="http://schemas.openxmlformats.org/drawingml/2006/main"/>
        </p:blipFill>
        <p:spPr>
          <a:xfrm xmlns:a="http://schemas.openxmlformats.org/drawingml/2006/main">
            <a:off x="4389120" y="2286000"/>
            <a:ext cx="365400" cy="365400"/>
          </a:xfrm>
          <a:prstGeom xmlns:a="http://schemas.openxmlformats.org/drawingml/2006/main" prst="rect">
            <a:avLst/>
          </a:prstGeom>
        </p:spPr>
      </p:pic>
      <p:sp>
        <p:nvSpPr>
          <p:cNvPr id="106" name="Text 8">
            <a:extLst xmlns:a="http://schemas.openxmlformats.org/drawingml/2006/main">
              <a:ext uri="{FF2B5EF4-FFF2-40B4-BE49-F238E27FC236}">
                <a16:creationId xmlns:a16="http://schemas.microsoft.com/office/drawing/2014/main" id="{FF7888EE-E98F-44EF-B3C4-E7DBB7B4279F}"/>
              </a:ext>
            </a:extLst>
          </p:cNvPr>
          <p:cNvSpPr>
            <a:spLocks xmlns:a="http://schemas.openxmlformats.org/drawingml/2006/main" noGrp="1"/>
          </p:cNvSpPr>
          <p:nvPr/>
        </p:nvSpPr>
        <p:spPr>
          <a:xfrm xmlns:a="http://schemas.openxmlformats.org/drawingml/2006/main">
            <a:off x="4206240" y="2697480"/>
            <a:ext cx="9140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Failures</a:t>
            </a:r>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716f685ce1df4756"/>
          <a:stretch xmlns:a="http://schemas.openxmlformats.org/drawingml/2006/main"/>
        </p:blipFill>
        <p:spPr>
          <a:xfrm xmlns:a="http://schemas.openxmlformats.org/drawingml/2006/main">
            <a:off x="6217920" y="2286000"/>
            <a:ext cx="365400" cy="365400"/>
          </a:xfrm>
          <a:prstGeom xmlns:a="http://schemas.openxmlformats.org/drawingml/2006/main" prst="rect">
            <a:avLst/>
          </a:prstGeom>
        </p:spPr>
      </p:pic>
      <p:sp>
        <p:nvSpPr>
          <p:cNvPr id="108" name="Text 9">
            <a:extLst xmlns:a="http://schemas.openxmlformats.org/drawingml/2006/main">
              <a:ext uri="{FF2B5EF4-FFF2-40B4-BE49-F238E27FC236}">
                <a16:creationId xmlns:a16="http://schemas.microsoft.com/office/drawing/2014/main" id="{B6874EF6-03DA-4CF7-AA44-EA304A7603B5}"/>
              </a:ext>
            </a:extLst>
          </p:cNvPr>
          <p:cNvSpPr>
            <a:spLocks xmlns:a="http://schemas.openxmlformats.org/drawingml/2006/main" noGrp="1"/>
          </p:cNvSpPr>
          <p:nvPr/>
        </p:nvSpPr>
        <p:spPr>
          <a:xfrm xmlns:a="http://schemas.openxmlformats.org/drawingml/2006/main">
            <a:off x="6035040" y="2697480"/>
            <a:ext cx="9140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003C54"/>
                </a:solidFill>
                <a:latin typeface="Calibri"/>
                <a:ea typeface="Calibri"/>
                <a:cs typeface="Calibri"/>
              </a:rPr>
              <a:t>Runbook</a:t>
            </a:r>
          </a:p>
        </p:txBody>
      </p:sp>
      <p:sp>
        <p:nvSpPr>
          <p:cNvPr id="109" name="Text 10">
            <a:extLst xmlns:a="http://schemas.openxmlformats.org/drawingml/2006/main">
              <a:ext uri="{FF2B5EF4-FFF2-40B4-BE49-F238E27FC236}">
                <a16:creationId xmlns:a16="http://schemas.microsoft.com/office/drawing/2014/main" id="{4C739654-C371-4977-BDF0-0389285EB536}"/>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2fe811c3dfe6483d"/>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132302512bb140b5"/>
              </a:rPr>
              <a:t>[2]</a:t>
            </a:r>
          </a:p>
        </p:txBody>
      </p:sp>
    </p:spTree>
    <p:extLst>
      <p:ext uri="{BB962C8B-B14F-4D97-AF65-F5344CB8AC3E}">
        <p14:creationId xmlns:p14="http://schemas.microsoft.com/office/powerpoint/2010/main" val="1408521117"/>
      </p:ext>
    </p:extLst>
  </p:cSld>
</p:sld>
</file>

<file path=ppt/slides/slide6.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110" name="Shape 0">
            <a:extLst xmlns:a="http://schemas.openxmlformats.org/drawingml/2006/main">
              <a:ext uri="{FF2B5EF4-FFF2-40B4-BE49-F238E27FC236}">
                <a16:creationId xmlns:a16="http://schemas.microsoft.com/office/drawing/2014/main" id="{6217F9B4-CC8A-4068-90B3-49B6AD6EAD48}"/>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11" name="Text 1">
            <a:extLst xmlns:a="http://schemas.openxmlformats.org/drawingml/2006/main">
              <a:ext uri="{FF2B5EF4-FFF2-40B4-BE49-F238E27FC236}">
                <a16:creationId xmlns:a16="http://schemas.microsoft.com/office/drawing/2014/main" id="{E5E638EC-FDE8-40E3-A678-29A407D869D3}"/>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The Workload We Will Monitor</a:t>
            </a:r>
          </a:p>
        </p:txBody>
      </p:sp>
      <p:sp>
        <p:nvSpPr>
          <p:cNvPr id="112" name="Text 2">
            <a:extLst xmlns:a="http://schemas.openxmlformats.org/drawingml/2006/main">
              <a:ext uri="{FF2B5EF4-FFF2-40B4-BE49-F238E27FC236}">
                <a16:creationId xmlns:a16="http://schemas.microsoft.com/office/drawing/2014/main" id="{73D09237-2AAE-4AE7-B105-BD3902D27F24}"/>
              </a:ext>
            </a:extLst>
          </p:cNvPr>
          <p:cNvSpPr>
            <a:spLocks xmlns:a="http://schemas.openxmlformats.org/drawingml/2006/main" noGrp="1"/>
          </p:cNvSpPr>
          <p:nvPr/>
        </p:nvSpPr>
        <p:spPr>
          <a:xfrm xmlns:a="http://schemas.openxmlformats.org/drawingml/2006/main">
            <a:off x="457200" y="731520"/>
            <a:ext cx="5943240" cy="1828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200" b="1" u="none">
                <a:solidFill>
                  <a:srgbClr val="003C54"/>
                </a:solidFill>
                <a:latin typeface="Calibri"/>
                <a:ea typeface="Calibri"/>
                <a:cs typeface="Calibri"/>
              </a:rPr>
              <a:t>The provided stack creates streams, persistent queries and materialized results over Kafka topics. We use that flow as a small observable workload: establish healthy output, introduce a failure, gather evidence and prove recovery.</a:t>
            </a:r>
          </a:p>
        </p:txBody>
      </p:sp>
      <p:sp>
        <p:nvSpPr>
          <p:cNvPr id="113" name="Shape 3">
            <a:extLst xmlns:a="http://schemas.openxmlformats.org/drawingml/2006/main">
              <a:ext uri="{FF2B5EF4-FFF2-40B4-BE49-F238E27FC236}">
                <a16:creationId xmlns:a16="http://schemas.microsoft.com/office/drawing/2014/main" id="{5B88EA58-02E2-41A5-9EC8-D4924D0B23A7}"/>
              </a:ext>
            </a:extLst>
          </p:cNvPr>
          <p:cNvSpPr>
            <a:spLocks xmlns:a="http://schemas.openxmlformats.org/drawingml/2006/main" noGrp="1"/>
          </p:cNvSpPr>
          <p:nvPr/>
        </p:nvSpPr>
        <p:spPr>
          <a:xfrm xmlns:a="http://schemas.openxmlformats.org/drawingml/2006/main">
            <a:off x="629280" y="731520"/>
            <a:ext cx="1096920" cy="365400"/>
          </a:xfrm>
          <a:prstGeom xmlns:a="http://schemas.openxmlformats.org/drawingml/2006/main" prst="roundRect">
            <a:avLst>
              <a:gd name="adj" fmla="val 25000"/>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14" name="Text 4">
            <a:extLst xmlns:a="http://schemas.openxmlformats.org/drawingml/2006/main">
              <a:ext uri="{FF2B5EF4-FFF2-40B4-BE49-F238E27FC236}">
                <a16:creationId xmlns:a16="http://schemas.microsoft.com/office/drawing/2014/main" id="{183D60EA-958E-456C-8698-20AB48DA1B22}"/>
              </a:ext>
            </a:extLst>
          </p:cNvPr>
          <p:cNvSpPr>
            <a:spLocks xmlns:a="http://schemas.openxmlformats.org/drawingml/2006/main" noGrp="1"/>
          </p:cNvSpPr>
          <p:nvPr/>
        </p:nvSpPr>
        <p:spPr>
          <a:xfrm xmlns:a="http://schemas.openxmlformats.org/drawingml/2006/main">
            <a:off x="638280" y="731520"/>
            <a:ext cx="107856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Kafka Topic</a:t>
            </a:r>
          </a:p>
        </p:txBody>
      </p:sp>
      <p:sp>
        <p:nvSpPr>
          <p:cNvPr id="115" name="Shape 5">
            <a:extLst xmlns:a="http://schemas.openxmlformats.org/drawingml/2006/main">
              <a:ext uri="{FF2B5EF4-FFF2-40B4-BE49-F238E27FC236}">
                <a16:creationId xmlns:a16="http://schemas.microsoft.com/office/drawing/2014/main" id="{2247791E-D9D3-4B1A-BCBB-56EAF72F168C}"/>
              </a:ext>
            </a:extLst>
          </p:cNvPr>
          <p:cNvSpPr>
            <a:spLocks xmlns:a="http://schemas.openxmlformats.org/drawingml/2006/main" noGrp="1"/>
          </p:cNvSpPr>
          <p:nvPr/>
        </p:nvSpPr>
        <p:spPr>
          <a:xfrm xmlns:a="http://schemas.openxmlformats.org/drawingml/2006/main">
            <a:off x="1726560" y="822960"/>
            <a:ext cx="182520" cy="18252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16" name="Shape 6">
            <a:extLst xmlns:a="http://schemas.openxmlformats.org/drawingml/2006/main">
              <a:ext uri="{FF2B5EF4-FFF2-40B4-BE49-F238E27FC236}">
                <a16:creationId xmlns:a16="http://schemas.microsoft.com/office/drawing/2014/main" id="{20F1B147-EAC3-45E1-9B6D-E3E1BF0373DE}"/>
              </a:ext>
            </a:extLst>
          </p:cNvPr>
          <p:cNvSpPr>
            <a:spLocks xmlns:a="http://schemas.openxmlformats.org/drawingml/2006/main" noGrp="1"/>
          </p:cNvSpPr>
          <p:nvPr/>
        </p:nvSpPr>
        <p:spPr>
          <a:xfrm xmlns:a="http://schemas.openxmlformats.org/drawingml/2006/main">
            <a:off x="1909440" y="731520"/>
            <a:ext cx="1096920" cy="365400"/>
          </a:xfrm>
          <a:prstGeom xmlns:a="http://schemas.openxmlformats.org/drawingml/2006/main" prst="roundRect">
            <a:avLst>
              <a:gd name="adj" fmla="val 25000"/>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17" name="Text 7">
            <a:extLst xmlns:a="http://schemas.openxmlformats.org/drawingml/2006/main">
              <a:ext uri="{FF2B5EF4-FFF2-40B4-BE49-F238E27FC236}">
                <a16:creationId xmlns:a16="http://schemas.microsoft.com/office/drawing/2014/main" id="{FD2A70C6-6E0C-4C37-84F5-EA8100FD69D9}"/>
              </a:ext>
            </a:extLst>
          </p:cNvPr>
          <p:cNvSpPr>
            <a:spLocks xmlns:a="http://schemas.openxmlformats.org/drawingml/2006/main" noGrp="1"/>
          </p:cNvSpPr>
          <p:nvPr/>
        </p:nvSpPr>
        <p:spPr>
          <a:xfrm xmlns:a="http://schemas.openxmlformats.org/drawingml/2006/main">
            <a:off x="1918440" y="731520"/>
            <a:ext cx="107856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ksqlDB Query</a:t>
            </a:r>
          </a:p>
        </p:txBody>
      </p:sp>
      <p:sp>
        <p:nvSpPr>
          <p:cNvPr id="118" name="Shape 8">
            <a:extLst xmlns:a="http://schemas.openxmlformats.org/drawingml/2006/main">
              <a:ext uri="{FF2B5EF4-FFF2-40B4-BE49-F238E27FC236}">
                <a16:creationId xmlns:a16="http://schemas.microsoft.com/office/drawing/2014/main" id="{10B78733-2B32-478B-9303-0AD902004D52}"/>
              </a:ext>
            </a:extLst>
          </p:cNvPr>
          <p:cNvSpPr>
            <a:spLocks xmlns:a="http://schemas.openxmlformats.org/drawingml/2006/main" noGrp="1"/>
          </p:cNvSpPr>
          <p:nvPr/>
        </p:nvSpPr>
        <p:spPr>
          <a:xfrm xmlns:a="http://schemas.openxmlformats.org/drawingml/2006/main">
            <a:off x="3006720" y="822960"/>
            <a:ext cx="182520" cy="18252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19" name="Shape 9">
            <a:extLst xmlns:a="http://schemas.openxmlformats.org/drawingml/2006/main">
              <a:ext uri="{FF2B5EF4-FFF2-40B4-BE49-F238E27FC236}">
                <a16:creationId xmlns:a16="http://schemas.microsoft.com/office/drawing/2014/main" id="{AC098725-A6FC-45B0-A567-337B76B4A54D}"/>
              </a:ext>
            </a:extLst>
          </p:cNvPr>
          <p:cNvSpPr>
            <a:spLocks xmlns:a="http://schemas.openxmlformats.org/drawingml/2006/main" noGrp="1"/>
          </p:cNvSpPr>
          <p:nvPr/>
        </p:nvSpPr>
        <p:spPr>
          <a:xfrm xmlns:a="http://schemas.openxmlformats.org/drawingml/2006/main">
            <a:off x="3189600" y="731520"/>
            <a:ext cx="1096920" cy="365400"/>
          </a:xfrm>
          <a:prstGeom xmlns:a="http://schemas.openxmlformats.org/drawingml/2006/main" prst="roundRect">
            <a:avLst>
              <a:gd name="adj" fmla="val 25000"/>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20" name="Text 10">
            <a:extLst xmlns:a="http://schemas.openxmlformats.org/drawingml/2006/main">
              <a:ext uri="{FF2B5EF4-FFF2-40B4-BE49-F238E27FC236}">
                <a16:creationId xmlns:a16="http://schemas.microsoft.com/office/drawing/2014/main" id="{D0E79ABB-85E9-412C-B64E-600095C2504C}"/>
              </a:ext>
            </a:extLst>
          </p:cNvPr>
          <p:cNvSpPr>
            <a:spLocks xmlns:a="http://schemas.openxmlformats.org/drawingml/2006/main" noGrp="1"/>
          </p:cNvSpPr>
          <p:nvPr/>
        </p:nvSpPr>
        <p:spPr>
          <a:xfrm xmlns:a="http://schemas.openxmlformats.org/drawingml/2006/main">
            <a:off x="3198600" y="731520"/>
            <a:ext cx="107856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Result Topic</a:t>
            </a:r>
          </a:p>
        </p:txBody>
      </p:sp>
      <p:sp>
        <p:nvSpPr>
          <p:cNvPr id="121" name="Text 11">
            <a:extLst xmlns:a="http://schemas.openxmlformats.org/drawingml/2006/main">
              <a:ext uri="{FF2B5EF4-FFF2-40B4-BE49-F238E27FC236}">
                <a16:creationId xmlns:a16="http://schemas.microsoft.com/office/drawing/2014/main" id="{345F0626-130C-4A14-9FF7-C5E23ECDAC39}"/>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1eeb5cfd072c4af2"/>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bb9e4eb4a3fb4400"/>
              </a:rPr>
              <a:t>[2]</a:t>
            </a:r>
          </a:p>
        </p:txBody>
      </p:sp>
    </p:spTree>
    <p:extLst>
      <p:ext uri="{BB962C8B-B14F-4D97-AF65-F5344CB8AC3E}">
        <p14:creationId xmlns:p14="http://schemas.microsoft.com/office/powerpoint/2010/main" val="1545011324"/>
      </p:ext>
    </p:extLst>
  </p:cSld>
</p:sld>
</file>

<file path=ppt/slides/slide7.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122" name="Shape 0">
            <a:extLst xmlns:a="http://schemas.openxmlformats.org/drawingml/2006/main">
              <a:ext uri="{FF2B5EF4-FFF2-40B4-BE49-F238E27FC236}">
                <a16:creationId xmlns:a16="http://schemas.microsoft.com/office/drawing/2014/main" id="{86F2421F-F283-49AB-893E-3EBE5CA332A3}"/>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23" name="Text 1">
            <a:extLst xmlns:a="http://schemas.openxmlformats.org/drawingml/2006/main">
              <a:ext uri="{FF2B5EF4-FFF2-40B4-BE49-F238E27FC236}">
                <a16:creationId xmlns:a16="http://schemas.microsoft.com/office/drawing/2014/main" id="{02D8D214-0FA2-41A2-8ADC-CC90408B533F}"/>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Where Failure Signals Appear</a:t>
            </a:r>
          </a:p>
        </p:txBody>
      </p:sp>
      <p:sp>
        <p:nvSpPr>
          <p:cNvPr id="124" name="Text 2">
            <a:extLst xmlns:a="http://schemas.openxmlformats.org/drawingml/2006/main">
              <a:ext uri="{FF2B5EF4-FFF2-40B4-BE49-F238E27FC236}">
                <a16:creationId xmlns:a16="http://schemas.microsoft.com/office/drawing/2014/main" id="{0AAA2A3B-8891-4223-94E5-6B1AE98926B0}"/>
              </a:ext>
            </a:extLst>
          </p:cNvPr>
          <p:cNvSpPr>
            <a:spLocks xmlns:a="http://schemas.openxmlformats.org/drawingml/2006/main" noGrp="1"/>
          </p:cNvSpPr>
          <p:nvPr/>
        </p:nvSpPr>
        <p:spPr>
          <a:xfrm xmlns:a="http://schemas.openxmlformats.org/drawingml/2006/main">
            <a:off x="457200" y="731520"/>
            <a:ext cx="502884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200" b="1" u="none">
                <a:solidFill>
                  <a:srgbClr val="003C54"/>
                </a:solidFill>
                <a:latin typeface="Calibri"/>
                <a:ea typeface="Calibri"/>
                <a:cs typeface="Calibri"/>
              </a:rPr>
              <a:t>Observe the input topic, processing service and output topic separately. A blank output can mean no input, a stopped query, parse failures, consumer lag or a bad expectation. Diagnosis begins by isolating the stage that stopped progressing.</a:t>
            </a:r>
          </a:p>
        </p:txBody>
      </p:sp>
      <p:sp>
        <p:nvSpPr>
          <p:cNvPr id="125" name="Shape 3">
            <a:extLst xmlns:a="http://schemas.openxmlformats.org/drawingml/2006/main">
              <a:ext uri="{FF2B5EF4-FFF2-40B4-BE49-F238E27FC236}">
                <a16:creationId xmlns:a16="http://schemas.microsoft.com/office/drawing/2014/main" id="{83613C84-0DBB-4529-8BDD-C5EDE0D308C2}"/>
              </a:ext>
            </a:extLst>
          </p:cNvPr>
          <p:cNvSpPr>
            <a:spLocks xmlns:a="http://schemas.openxmlformats.org/drawingml/2006/main" noGrp="1"/>
          </p:cNvSpPr>
          <p:nvPr/>
        </p:nvSpPr>
        <p:spPr>
          <a:xfrm xmlns:a="http://schemas.openxmlformats.org/drawingml/2006/main">
            <a:off x="709200" y="2714400"/>
            <a:ext cx="914040" cy="456840"/>
          </a:xfrm>
          <a:prstGeom xmlns:a="http://schemas.openxmlformats.org/drawingml/2006/main" prst="roundRect">
            <a:avLst>
              <a:gd name="adj" fmla="val 20000"/>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26" name="Text 4">
            <a:extLst xmlns:a="http://schemas.openxmlformats.org/drawingml/2006/main">
              <a:ext uri="{FF2B5EF4-FFF2-40B4-BE49-F238E27FC236}">
                <a16:creationId xmlns:a16="http://schemas.microsoft.com/office/drawing/2014/main" id="{AD74A2E2-2EA8-4C18-9BDB-63BE06DC379E}"/>
              </a:ext>
            </a:extLst>
          </p:cNvPr>
          <p:cNvSpPr>
            <a:spLocks xmlns:a="http://schemas.openxmlformats.org/drawingml/2006/main" noGrp="1"/>
          </p:cNvSpPr>
          <p:nvPr/>
        </p:nvSpPr>
        <p:spPr>
          <a:xfrm xmlns:a="http://schemas.openxmlformats.org/drawingml/2006/main">
            <a:off x="727560" y="2787480"/>
            <a:ext cx="877320" cy="310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700" b="0" u="none">
                <a:solidFill>
                  <a:srgbClr val="FFFFFF"/>
                </a:solidFill>
                <a:latin typeface="Calibri"/>
                <a:ea typeface="Calibri"/>
                <a:cs typeface="Calibri"/>
              </a:rPr>
              <a:t>Input</a:t>
            </a:r>
          </a:p>
          <a:p xmlns:a="http://schemas.openxmlformats.org/drawingml/2006/main">
            <a:pPr algn="ctr">
              <a:lnSpc>
                <a:spcPct val="100000"/>
              </a:lnSpc>
              <a:buNone/>
            </a:pPr>
            <a:r>
              <a:rPr sz="700" b="0" u="none">
                <a:solidFill>
                  <a:srgbClr val="FFFFFF"/>
                </a:solidFill>
                <a:latin typeface="Calibri"/>
                <a:ea typeface="Calibri"/>
                <a:cs typeface="Calibri"/>
              </a:rPr>
              <a:t>Topics</a:t>
            </a:r>
          </a:p>
        </p:txBody>
      </p:sp>
      <p:sp>
        <p:nvSpPr>
          <p:cNvPr id="127" name="Shape 5">
            <a:extLst xmlns:a="http://schemas.openxmlformats.org/drawingml/2006/main">
              <a:ext uri="{FF2B5EF4-FFF2-40B4-BE49-F238E27FC236}">
                <a16:creationId xmlns:a16="http://schemas.microsoft.com/office/drawing/2014/main" id="{EFAC37F4-6637-4B5E-936D-C17624D23434}"/>
              </a:ext>
            </a:extLst>
          </p:cNvPr>
          <p:cNvSpPr>
            <a:spLocks xmlns:a="http://schemas.openxmlformats.org/drawingml/2006/main" noGrp="1"/>
          </p:cNvSpPr>
          <p:nvPr/>
        </p:nvSpPr>
        <p:spPr>
          <a:xfrm xmlns:a="http://schemas.openxmlformats.org/drawingml/2006/main">
            <a:off x="1623600" y="2851560"/>
            <a:ext cx="182520" cy="18252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28" name="Shape 6">
            <a:extLst xmlns:a="http://schemas.openxmlformats.org/drawingml/2006/main">
              <a:ext uri="{FF2B5EF4-FFF2-40B4-BE49-F238E27FC236}">
                <a16:creationId xmlns:a16="http://schemas.microsoft.com/office/drawing/2014/main" id="{7BE24450-EFF0-4C9D-90AA-A82FF500E4F8}"/>
              </a:ext>
            </a:extLst>
          </p:cNvPr>
          <p:cNvSpPr>
            <a:spLocks xmlns:a="http://schemas.openxmlformats.org/drawingml/2006/main" noGrp="1"/>
          </p:cNvSpPr>
          <p:nvPr/>
        </p:nvSpPr>
        <p:spPr>
          <a:xfrm xmlns:a="http://schemas.openxmlformats.org/drawingml/2006/main">
            <a:off x="1806480" y="2714400"/>
            <a:ext cx="1462680" cy="456840"/>
          </a:xfrm>
          <a:prstGeom xmlns:a="http://schemas.openxmlformats.org/drawingml/2006/main" prst="rect">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29" name="Text 7">
            <a:extLst xmlns:a="http://schemas.openxmlformats.org/drawingml/2006/main">
              <a:ext uri="{FF2B5EF4-FFF2-40B4-BE49-F238E27FC236}">
                <a16:creationId xmlns:a16="http://schemas.microsoft.com/office/drawing/2014/main" id="{4EBAAEBA-F332-4AD8-B3CF-73742B1EA4D7}"/>
              </a:ext>
            </a:extLst>
          </p:cNvPr>
          <p:cNvSpPr>
            <a:spLocks xmlns:a="http://schemas.openxmlformats.org/drawingml/2006/main" noGrp="1"/>
          </p:cNvSpPr>
          <p:nvPr/>
        </p:nvSpPr>
        <p:spPr>
          <a:xfrm xmlns:a="http://schemas.openxmlformats.org/drawingml/2006/main">
            <a:off x="1824840" y="2805840"/>
            <a:ext cx="142596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700" b="0" u="none">
                <a:solidFill>
                  <a:srgbClr val="FFFFFF"/>
                </a:solidFill>
                <a:latin typeface="Calibri"/>
                <a:ea typeface="Calibri"/>
                <a:cs typeface="Calibri"/>
              </a:rPr>
              <a:t>ksqlDB</a:t>
            </a:r>
          </a:p>
          <a:p xmlns:a="http://schemas.openxmlformats.org/drawingml/2006/main">
            <a:pPr algn="ctr">
              <a:lnSpc>
                <a:spcPct val="100000"/>
              </a:lnSpc>
              <a:buNone/>
            </a:pPr>
            <a:r>
              <a:rPr sz="700" b="0" u="none">
                <a:solidFill>
                  <a:srgbClr val="FFFFFF"/>
                </a:solidFill>
                <a:latin typeface="Calibri"/>
                <a:ea typeface="Calibri"/>
                <a:cs typeface="Calibri"/>
              </a:rPr>
              <a:t>Server</a:t>
            </a:r>
          </a:p>
        </p:txBody>
      </p:sp>
      <p:sp>
        <p:nvSpPr>
          <p:cNvPr id="130" name="Shape 8">
            <a:extLst xmlns:a="http://schemas.openxmlformats.org/drawingml/2006/main">
              <a:ext uri="{FF2B5EF4-FFF2-40B4-BE49-F238E27FC236}">
                <a16:creationId xmlns:a16="http://schemas.microsoft.com/office/drawing/2014/main" id="{D03BBD7E-11F8-444B-806B-1A23D8780616}"/>
              </a:ext>
            </a:extLst>
          </p:cNvPr>
          <p:cNvSpPr>
            <a:spLocks xmlns:a="http://schemas.openxmlformats.org/drawingml/2006/main" noGrp="1"/>
          </p:cNvSpPr>
          <p:nvPr/>
        </p:nvSpPr>
        <p:spPr>
          <a:xfrm xmlns:a="http://schemas.openxmlformats.org/drawingml/2006/main">
            <a:off x="3269520" y="2851560"/>
            <a:ext cx="182520" cy="18252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31" name="Shape 9">
            <a:extLst xmlns:a="http://schemas.openxmlformats.org/drawingml/2006/main">
              <a:ext uri="{FF2B5EF4-FFF2-40B4-BE49-F238E27FC236}">
                <a16:creationId xmlns:a16="http://schemas.microsoft.com/office/drawing/2014/main" id="{2CE66C80-8EEB-4166-ABF4-DB8CB75EF90A}"/>
              </a:ext>
            </a:extLst>
          </p:cNvPr>
          <p:cNvSpPr>
            <a:spLocks xmlns:a="http://schemas.openxmlformats.org/drawingml/2006/main" noGrp="1"/>
          </p:cNvSpPr>
          <p:nvPr/>
        </p:nvSpPr>
        <p:spPr>
          <a:xfrm xmlns:a="http://schemas.openxmlformats.org/drawingml/2006/main">
            <a:off x="3452400" y="2714400"/>
            <a:ext cx="914040" cy="456840"/>
          </a:xfrm>
          <a:prstGeom xmlns:a="http://schemas.openxmlformats.org/drawingml/2006/main" prst="roundRect">
            <a:avLst>
              <a:gd name="adj" fmla="val 20000"/>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32" name="Text 10">
            <a:extLst xmlns:a="http://schemas.openxmlformats.org/drawingml/2006/main">
              <a:ext uri="{FF2B5EF4-FFF2-40B4-BE49-F238E27FC236}">
                <a16:creationId xmlns:a16="http://schemas.microsoft.com/office/drawing/2014/main" id="{E9F58C59-CC21-48B0-B290-CA1CF5422281}"/>
              </a:ext>
            </a:extLst>
          </p:cNvPr>
          <p:cNvSpPr>
            <a:spLocks xmlns:a="http://schemas.openxmlformats.org/drawingml/2006/main" noGrp="1"/>
          </p:cNvSpPr>
          <p:nvPr/>
        </p:nvSpPr>
        <p:spPr>
          <a:xfrm xmlns:a="http://schemas.openxmlformats.org/drawingml/2006/main">
            <a:off x="7790760" y="987480"/>
            <a:ext cx="877320" cy="310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700" b="0" u="none">
                <a:solidFill>
                  <a:srgbClr val="FFFFFF"/>
                </a:solidFill>
                <a:latin typeface="Calibri"/>
                <a:ea typeface="Calibri"/>
                <a:cs typeface="Calibri"/>
              </a:rPr>
              <a:t>Output</a:t>
            </a:r>
          </a:p>
          <a:p xmlns:a="http://schemas.openxmlformats.org/drawingml/2006/main">
            <a:pPr algn="ctr">
              <a:lnSpc>
                <a:spcPct val="100000"/>
              </a:lnSpc>
              <a:buNone/>
            </a:pPr>
            <a:r>
              <a:rPr sz="700" b="0" u="none">
                <a:solidFill>
                  <a:srgbClr val="FFFFFF"/>
                </a:solidFill>
                <a:latin typeface="Calibri"/>
                <a:ea typeface="Calibri"/>
                <a:cs typeface="Calibri"/>
              </a:rPr>
              <a:t>Topics</a:t>
            </a:r>
          </a:p>
        </p:txBody>
      </p:sp>
      <p:sp>
        <p:nvSpPr>
          <p:cNvPr id="133" name="Text 11">
            <a:extLst xmlns:a="http://schemas.openxmlformats.org/drawingml/2006/main">
              <a:ext uri="{FF2B5EF4-FFF2-40B4-BE49-F238E27FC236}">
                <a16:creationId xmlns:a16="http://schemas.microsoft.com/office/drawing/2014/main" id="{6433C8EA-7E9A-4C13-BC8E-86B1F1DE1704}"/>
              </a:ext>
            </a:extLst>
          </p:cNvPr>
          <p:cNvSpPr>
            <a:spLocks xmlns:a="http://schemas.openxmlformats.org/drawingml/2006/main" noGrp="1"/>
          </p:cNvSpPr>
          <p:nvPr/>
        </p:nvSpPr>
        <p:spPr>
          <a:xfrm xmlns:a="http://schemas.openxmlformats.org/drawingml/2006/main">
            <a:off x="457200" y="2011680"/>
            <a:ext cx="502884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i="1" u="none">
                <a:solidFill>
                  <a:srgbClr val="6A6A6A"/>
                </a:solidFill>
                <a:latin typeface="Calibri"/>
                <a:ea typeface="Calibri"/>
                <a:cs typeface="Calibri"/>
              </a:rPr>
              <a:t>Clients: CLI, REST API, UI</a:t>
            </a:r>
          </a:p>
        </p:txBody>
      </p:sp>
      <p:sp>
        <p:nvSpPr>
          <p:cNvPr id="134" name="Text 12">
            <a:extLst xmlns:a="http://schemas.openxmlformats.org/drawingml/2006/main">
              <a:ext uri="{FF2B5EF4-FFF2-40B4-BE49-F238E27FC236}">
                <a16:creationId xmlns:a16="http://schemas.microsoft.com/office/drawing/2014/main" id="{0311278A-42BF-4B7D-A341-8CAE66F66031}"/>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5b69d92e3d4b4123"/>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9b6dd54966c54994"/>
              </a:rPr>
              <a:t>[2]</a:t>
            </a:r>
          </a:p>
        </p:txBody>
      </p:sp>
    </p:spTree>
    <p:extLst>
      <p:ext uri="{BB962C8B-B14F-4D97-AF65-F5344CB8AC3E}">
        <p14:creationId xmlns:p14="http://schemas.microsoft.com/office/powerpoint/2010/main" val="1361309116"/>
      </p:ext>
    </p:extLst>
  </p:cSld>
</p:sld>
</file>

<file path=ppt/slides/slide8.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135" name="Shape 0">
            <a:extLst xmlns:a="http://schemas.openxmlformats.org/drawingml/2006/main">
              <a:ext uri="{FF2B5EF4-FFF2-40B4-BE49-F238E27FC236}">
                <a16:creationId xmlns:a16="http://schemas.microsoft.com/office/drawing/2014/main" id="{8DBD5302-768D-4A72-B8DE-BD94CBEA63F4}"/>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36" name="Text 1">
            <a:extLst xmlns:a="http://schemas.openxmlformats.org/drawingml/2006/main">
              <a:ext uri="{FF2B5EF4-FFF2-40B4-BE49-F238E27FC236}">
                <a16:creationId xmlns:a16="http://schemas.microsoft.com/office/drawing/2014/main" id="{021C38F9-BE3F-44A1-855A-CF99B7201D9B}"/>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Streams vs Tables</a:t>
            </a:r>
          </a:p>
        </p:txBody>
      </p:sp>
      <p:sp>
        <p:nvSpPr>
          <p:cNvPr id="137" name="Shape 2">
            <a:extLst xmlns:a="http://schemas.openxmlformats.org/drawingml/2006/main">
              <a:ext uri="{FF2B5EF4-FFF2-40B4-BE49-F238E27FC236}">
                <a16:creationId xmlns:a16="http://schemas.microsoft.com/office/drawing/2014/main" id="{67CE8C3E-C034-4262-930D-BB7AA8F52661}"/>
              </a:ext>
            </a:extLst>
          </p:cNvPr>
          <p:cNvSpPr>
            <a:spLocks xmlns:a="http://schemas.openxmlformats.org/drawingml/2006/main" noGrp="1"/>
          </p:cNvSpPr>
          <p:nvPr/>
        </p:nvSpPr>
        <p:spPr>
          <a:xfrm xmlns:a="http://schemas.openxmlformats.org/drawingml/2006/main">
            <a:off x="457200" y="731520"/>
            <a:ext cx="3657240" cy="1279800"/>
          </a:xfrm>
          <a:prstGeom xmlns:a="http://schemas.openxmlformats.org/drawingml/2006/main" prst="roundRect">
            <a:avLst>
              <a:gd name="adj" fmla="val 7143"/>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38" name="Text 3">
            <a:extLst xmlns:a="http://schemas.openxmlformats.org/drawingml/2006/main">
              <a:ext uri="{FF2B5EF4-FFF2-40B4-BE49-F238E27FC236}">
                <a16:creationId xmlns:a16="http://schemas.microsoft.com/office/drawing/2014/main" id="{532DC06E-65CB-49D2-B0E0-230ECEED1445}"/>
              </a:ext>
            </a:extLst>
          </p:cNvPr>
          <p:cNvSpPr>
            <a:spLocks xmlns:a="http://schemas.openxmlformats.org/drawingml/2006/main" noGrp="1"/>
          </p:cNvSpPr>
          <p:nvPr/>
        </p:nvSpPr>
        <p:spPr>
          <a:xfrm xmlns:a="http://schemas.openxmlformats.org/drawingml/2006/main">
            <a:off x="502920" y="777240"/>
            <a:ext cx="3565800" cy="11883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400" b="1" u="none">
                <a:solidFill>
                  <a:srgbClr val="FFFFFF"/>
                </a:solidFill>
                <a:latin typeface="Calibri"/>
                <a:ea typeface="Calibri"/>
                <a:cs typeface="Calibri"/>
              </a:rPr>
              <a:t>Stream</a:t>
            </a:r>
          </a:p>
          <a:p xmlns:a="http://schemas.openxmlformats.org/drawingml/2006/main">
            <a:pPr>
              <a:lnSpc>
                <a:spcPct val="100000"/>
              </a:lnSpc>
              <a:buNone/>
            </a:pPr>
            <a:r>
              <a:rPr sz="1000" b="0" u="none">
                <a:solidFill>
                  <a:srgbClr val="FFFFFF"/>
                </a:solidFill>
                <a:latin typeface="Calibri"/>
                <a:ea typeface="Calibri"/>
                <a:cs typeface="Calibri"/>
              </a:rPr>
              <a:t>Unbounded sequence of immutable events</a:t>
            </a:r>
          </a:p>
          <a:p xmlns:a="http://schemas.openxmlformats.org/drawingml/2006/main">
            <a:pPr>
              <a:lnSpc>
                <a:spcPct val="100000"/>
              </a:lnSpc>
              <a:buNone/>
            </a:pPr>
            <a:r>
              <a:rPr sz="1000" b="0" u="none">
                <a:solidFill>
                  <a:srgbClr val="FFFFFF"/>
                </a:solidFill>
                <a:latin typeface="Calibri"/>
                <a:ea typeface="Calibri"/>
                <a:cs typeface="Calibri"/>
              </a:rPr>
              <a:t>Append‑only</a:t>
            </a:r>
          </a:p>
          <a:p xmlns:a="http://schemas.openxmlformats.org/drawingml/2006/main">
            <a:pPr>
              <a:lnSpc>
                <a:spcPct val="100000"/>
              </a:lnSpc>
              <a:buNone/>
            </a:pPr>
            <a:r>
              <a:rPr sz="1000" b="0" u="none">
                <a:solidFill>
                  <a:srgbClr val="FFFFFF"/>
                </a:solidFill>
                <a:latin typeface="Calibri"/>
                <a:ea typeface="Calibri"/>
                <a:cs typeface="Calibri"/>
              </a:rPr>
              <a:t>Represents events in motion</a:t>
            </a:r>
          </a:p>
        </p:txBody>
      </p:sp>
      <p:sp>
        <p:nvSpPr>
          <p:cNvPr id="139" name="Shape 4">
            <a:extLst xmlns:a="http://schemas.openxmlformats.org/drawingml/2006/main">
              <a:ext uri="{FF2B5EF4-FFF2-40B4-BE49-F238E27FC236}">
                <a16:creationId xmlns:a16="http://schemas.microsoft.com/office/drawing/2014/main" id="{FE43A24E-2917-44BE-9BE6-34EFF6720890}"/>
              </a:ext>
            </a:extLst>
          </p:cNvPr>
          <p:cNvSpPr>
            <a:spLocks xmlns:a="http://schemas.openxmlformats.org/drawingml/2006/main" noGrp="1"/>
          </p:cNvSpPr>
          <p:nvPr/>
        </p:nvSpPr>
        <p:spPr>
          <a:xfrm xmlns:a="http://schemas.openxmlformats.org/drawingml/2006/main">
            <a:off x="548640" y="2103120"/>
            <a:ext cx="228240" cy="228240"/>
          </a:xfrm>
          <a:prstGeom xmlns:a="http://schemas.openxmlformats.org/drawingml/2006/main" prst="ellipse">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40" name="Text 5">
            <a:extLst xmlns:a="http://schemas.openxmlformats.org/drawingml/2006/main">
              <a:ext uri="{FF2B5EF4-FFF2-40B4-BE49-F238E27FC236}">
                <a16:creationId xmlns:a16="http://schemas.microsoft.com/office/drawing/2014/main" id="{3ABBFACA-376D-4295-8543-4D886A1ADFB2}"/>
              </a:ext>
            </a:extLst>
          </p:cNvPr>
          <p:cNvSpPr>
            <a:spLocks xmlns:a="http://schemas.openxmlformats.org/drawingml/2006/main" noGrp="1"/>
          </p:cNvSpPr>
          <p:nvPr/>
        </p:nvSpPr>
        <p:spPr>
          <a:xfrm xmlns:a="http://schemas.openxmlformats.org/drawingml/2006/main">
            <a:off x="548640" y="2157840"/>
            <a:ext cx="228240" cy="1368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A</a:t>
            </a:r>
          </a:p>
        </p:txBody>
      </p:sp>
      <p:sp>
        <p:nvSpPr>
          <p:cNvPr id="141" name="Shape 6">
            <a:extLst xmlns:a="http://schemas.openxmlformats.org/drawingml/2006/main">
              <a:ext uri="{FF2B5EF4-FFF2-40B4-BE49-F238E27FC236}">
                <a16:creationId xmlns:a16="http://schemas.microsoft.com/office/drawing/2014/main" id="{A4F0CFFA-B67C-49E0-8EA0-B9B6D400FD92}"/>
              </a:ext>
            </a:extLst>
          </p:cNvPr>
          <p:cNvSpPr>
            <a:spLocks xmlns:a="http://schemas.openxmlformats.org/drawingml/2006/main" noGrp="1"/>
          </p:cNvSpPr>
          <p:nvPr/>
        </p:nvSpPr>
        <p:spPr>
          <a:xfrm xmlns:a="http://schemas.openxmlformats.org/drawingml/2006/main">
            <a:off x="1280160" y="2103120"/>
            <a:ext cx="228240" cy="228240"/>
          </a:xfrm>
          <a:prstGeom xmlns:a="http://schemas.openxmlformats.org/drawingml/2006/main" prst="ellipse">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42" name="Text 7">
            <a:extLst xmlns:a="http://schemas.openxmlformats.org/drawingml/2006/main">
              <a:ext uri="{FF2B5EF4-FFF2-40B4-BE49-F238E27FC236}">
                <a16:creationId xmlns:a16="http://schemas.microsoft.com/office/drawing/2014/main" id="{BFBA7E97-BB5E-48AD-8CBA-53A3638C3DC8}"/>
              </a:ext>
            </a:extLst>
          </p:cNvPr>
          <p:cNvSpPr>
            <a:spLocks xmlns:a="http://schemas.openxmlformats.org/drawingml/2006/main" noGrp="1"/>
          </p:cNvSpPr>
          <p:nvPr/>
        </p:nvSpPr>
        <p:spPr>
          <a:xfrm xmlns:a="http://schemas.openxmlformats.org/drawingml/2006/main">
            <a:off x="1280160" y="2157840"/>
            <a:ext cx="228240" cy="1368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B</a:t>
            </a:r>
          </a:p>
        </p:txBody>
      </p:sp>
      <p:sp>
        <p:nvSpPr>
          <p:cNvPr id="143" name="Shape 8">
            <a:extLst xmlns:a="http://schemas.openxmlformats.org/drawingml/2006/main">
              <a:ext uri="{FF2B5EF4-FFF2-40B4-BE49-F238E27FC236}">
                <a16:creationId xmlns:a16="http://schemas.microsoft.com/office/drawing/2014/main" id="{97F3B541-4B9E-4069-90EA-F1BBDEA2C8DA}"/>
              </a:ext>
            </a:extLst>
          </p:cNvPr>
          <p:cNvSpPr>
            <a:spLocks xmlns:a="http://schemas.openxmlformats.org/drawingml/2006/main" noGrp="1"/>
          </p:cNvSpPr>
          <p:nvPr/>
        </p:nvSpPr>
        <p:spPr>
          <a:xfrm xmlns:a="http://schemas.openxmlformats.org/drawingml/2006/main">
            <a:off x="2011680" y="2103120"/>
            <a:ext cx="228240" cy="228240"/>
          </a:xfrm>
          <a:prstGeom xmlns:a="http://schemas.openxmlformats.org/drawingml/2006/main" prst="ellipse">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44" name="Text 9">
            <a:extLst xmlns:a="http://schemas.openxmlformats.org/drawingml/2006/main">
              <a:ext uri="{FF2B5EF4-FFF2-40B4-BE49-F238E27FC236}">
                <a16:creationId xmlns:a16="http://schemas.microsoft.com/office/drawing/2014/main" id="{5103D4C1-162C-43A6-9A4F-3DE0258E6240}"/>
              </a:ext>
            </a:extLst>
          </p:cNvPr>
          <p:cNvSpPr>
            <a:spLocks xmlns:a="http://schemas.openxmlformats.org/drawingml/2006/main" noGrp="1"/>
          </p:cNvSpPr>
          <p:nvPr/>
        </p:nvSpPr>
        <p:spPr>
          <a:xfrm xmlns:a="http://schemas.openxmlformats.org/drawingml/2006/main">
            <a:off x="2011680" y="2157840"/>
            <a:ext cx="228240" cy="1368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C</a:t>
            </a:r>
          </a:p>
        </p:txBody>
      </p:sp>
      <p:sp>
        <p:nvSpPr>
          <p:cNvPr id="145" name="Shape 10">
            <a:extLst xmlns:a="http://schemas.openxmlformats.org/drawingml/2006/main">
              <a:ext uri="{FF2B5EF4-FFF2-40B4-BE49-F238E27FC236}">
                <a16:creationId xmlns:a16="http://schemas.microsoft.com/office/drawing/2014/main" id="{8ED668C9-67AD-4AC3-B496-423E271443F6}"/>
              </a:ext>
            </a:extLst>
          </p:cNvPr>
          <p:cNvSpPr>
            <a:spLocks xmlns:a="http://schemas.openxmlformats.org/drawingml/2006/main" noGrp="1"/>
          </p:cNvSpPr>
          <p:nvPr/>
        </p:nvSpPr>
        <p:spPr>
          <a:xfrm xmlns:a="http://schemas.openxmlformats.org/drawingml/2006/main">
            <a:off x="2743200" y="2103120"/>
            <a:ext cx="228240" cy="228240"/>
          </a:xfrm>
          <a:prstGeom xmlns:a="http://schemas.openxmlformats.org/drawingml/2006/main" prst="ellipse">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46" name="Text 11">
            <a:extLst xmlns:a="http://schemas.openxmlformats.org/drawingml/2006/main">
              <a:ext uri="{FF2B5EF4-FFF2-40B4-BE49-F238E27FC236}">
                <a16:creationId xmlns:a16="http://schemas.microsoft.com/office/drawing/2014/main" id="{8EE68545-3FC2-45EA-AC4F-1C2D5AF2B071}"/>
              </a:ext>
            </a:extLst>
          </p:cNvPr>
          <p:cNvSpPr>
            <a:spLocks xmlns:a="http://schemas.openxmlformats.org/drawingml/2006/main" noGrp="1"/>
          </p:cNvSpPr>
          <p:nvPr/>
        </p:nvSpPr>
        <p:spPr>
          <a:xfrm xmlns:a="http://schemas.openxmlformats.org/drawingml/2006/main">
            <a:off x="2743200" y="2157840"/>
            <a:ext cx="228240" cy="1368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D</a:t>
            </a:r>
          </a:p>
        </p:txBody>
      </p:sp>
      <p:sp>
        <p:nvSpPr>
          <p:cNvPr id="147" name="Shape 12">
            <a:extLst xmlns:a="http://schemas.openxmlformats.org/drawingml/2006/main">
              <a:ext uri="{FF2B5EF4-FFF2-40B4-BE49-F238E27FC236}">
                <a16:creationId xmlns:a16="http://schemas.microsoft.com/office/drawing/2014/main" id="{0E51D8BF-9010-47B5-BC37-DFA48B19AD3B}"/>
              </a:ext>
            </a:extLst>
          </p:cNvPr>
          <p:cNvSpPr>
            <a:spLocks xmlns:a="http://schemas.openxmlformats.org/drawingml/2006/main" noGrp="1"/>
          </p:cNvSpPr>
          <p:nvPr/>
        </p:nvSpPr>
        <p:spPr>
          <a:xfrm xmlns:a="http://schemas.openxmlformats.org/drawingml/2006/main">
            <a:off x="4572000" y="731520"/>
            <a:ext cx="3657240" cy="1279800"/>
          </a:xfrm>
          <a:prstGeom xmlns:a="http://schemas.openxmlformats.org/drawingml/2006/main" prst="roundRect">
            <a:avLst>
              <a:gd name="adj" fmla="val 7143"/>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48" name="Text 13">
            <a:extLst xmlns:a="http://schemas.openxmlformats.org/drawingml/2006/main">
              <a:ext uri="{FF2B5EF4-FFF2-40B4-BE49-F238E27FC236}">
                <a16:creationId xmlns:a16="http://schemas.microsoft.com/office/drawing/2014/main" id="{1481898D-A6E3-4927-8C6D-9B20EFA263FB}"/>
              </a:ext>
            </a:extLst>
          </p:cNvPr>
          <p:cNvSpPr>
            <a:spLocks xmlns:a="http://schemas.openxmlformats.org/drawingml/2006/main" noGrp="1"/>
          </p:cNvSpPr>
          <p:nvPr/>
        </p:nvSpPr>
        <p:spPr>
          <a:xfrm xmlns:a="http://schemas.openxmlformats.org/drawingml/2006/main">
            <a:off x="4617720" y="777240"/>
            <a:ext cx="3565800" cy="11883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400" b="1" u="none">
                <a:solidFill>
                  <a:srgbClr val="FFFFFF"/>
                </a:solidFill>
                <a:latin typeface="Calibri"/>
                <a:ea typeface="Calibri"/>
                <a:cs typeface="Calibri"/>
              </a:rPr>
              <a:t>Table</a:t>
            </a:r>
          </a:p>
          <a:p xmlns:a="http://schemas.openxmlformats.org/drawingml/2006/main">
            <a:pPr>
              <a:lnSpc>
                <a:spcPct val="100000"/>
              </a:lnSpc>
              <a:buNone/>
            </a:pPr>
            <a:r>
              <a:rPr sz="1000" b="0" u="none">
                <a:solidFill>
                  <a:srgbClr val="FFFFFF"/>
                </a:solidFill>
                <a:latin typeface="Calibri"/>
                <a:ea typeface="Calibri"/>
                <a:cs typeface="Calibri"/>
              </a:rPr>
              <a:t>Snapshot of latest value per key</a:t>
            </a:r>
          </a:p>
          <a:p xmlns:a="http://schemas.openxmlformats.org/drawingml/2006/main">
            <a:pPr>
              <a:lnSpc>
                <a:spcPct val="100000"/>
              </a:lnSpc>
              <a:buNone/>
            </a:pPr>
            <a:r>
              <a:rPr sz="1000" b="0" u="none">
                <a:solidFill>
                  <a:srgbClr val="FFFFFF"/>
                </a:solidFill>
                <a:latin typeface="Calibri"/>
                <a:ea typeface="Calibri"/>
                <a:cs typeface="Calibri"/>
              </a:rPr>
              <a:t>Mutable state derived from a stream</a:t>
            </a:r>
          </a:p>
          <a:p xmlns:a="http://schemas.openxmlformats.org/drawingml/2006/main">
            <a:pPr>
              <a:lnSpc>
                <a:spcPct val="100000"/>
              </a:lnSpc>
              <a:buNone/>
            </a:pPr>
            <a:r>
              <a:rPr sz="1000" b="0" u="none">
                <a:solidFill>
                  <a:srgbClr val="FFFFFF"/>
                </a:solidFill>
                <a:latin typeface="Calibri"/>
                <a:ea typeface="Calibri"/>
                <a:cs typeface="Calibri"/>
              </a:rPr>
              <a:t>Backed by changelog topics</a:t>
            </a:r>
          </a:p>
        </p:txBody>
      </p:sp>
      <p:sp>
        <p:nvSpPr>
          <p:cNvPr id="149" name="Shape 14">
            <a:extLst xmlns:a="http://schemas.openxmlformats.org/drawingml/2006/main">
              <a:ext uri="{FF2B5EF4-FFF2-40B4-BE49-F238E27FC236}">
                <a16:creationId xmlns:a16="http://schemas.microsoft.com/office/drawing/2014/main" id="{3DB0AF46-83CD-4C17-AC48-9FA767E92FA8}"/>
              </a:ext>
            </a:extLst>
          </p:cNvPr>
          <p:cNvSpPr>
            <a:spLocks xmlns:a="http://schemas.openxmlformats.org/drawingml/2006/main" noGrp="1"/>
          </p:cNvSpPr>
          <p:nvPr/>
        </p:nvSpPr>
        <p:spPr>
          <a:xfrm xmlns:a="http://schemas.openxmlformats.org/drawingml/2006/main">
            <a:off x="4663440" y="2121480"/>
            <a:ext cx="3474360" cy="145800"/>
          </a:xfrm>
          <a:prstGeom xmlns:a="http://schemas.openxmlformats.org/drawingml/2006/main" prst="rect">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50" name="Text 15">
            <a:extLst xmlns:a="http://schemas.openxmlformats.org/drawingml/2006/main">
              <a:ext uri="{FF2B5EF4-FFF2-40B4-BE49-F238E27FC236}">
                <a16:creationId xmlns:a16="http://schemas.microsoft.com/office/drawing/2014/main" id="{6CDF4631-DF89-4D11-83F5-3364E796CF32}"/>
              </a:ext>
            </a:extLst>
          </p:cNvPr>
          <p:cNvSpPr>
            <a:spLocks xmlns:a="http://schemas.openxmlformats.org/drawingml/2006/main" noGrp="1"/>
          </p:cNvSpPr>
          <p:nvPr/>
        </p:nvSpPr>
        <p:spPr>
          <a:xfrm xmlns:a="http://schemas.openxmlformats.org/drawingml/2006/main">
            <a:off x="4663440" y="2121480"/>
            <a:ext cx="3474360" cy="1458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FFFFFF"/>
                </a:solidFill>
                <a:latin typeface="Calibri"/>
                <a:ea typeface="Calibri"/>
                <a:cs typeface="Calibri"/>
              </a:rPr>
              <a:t>Key1 → Value1</a:t>
            </a:r>
          </a:p>
        </p:txBody>
      </p:sp>
      <p:sp>
        <p:nvSpPr>
          <p:cNvPr id="151" name="Shape 16">
            <a:extLst xmlns:a="http://schemas.openxmlformats.org/drawingml/2006/main">
              <a:ext uri="{FF2B5EF4-FFF2-40B4-BE49-F238E27FC236}">
                <a16:creationId xmlns:a16="http://schemas.microsoft.com/office/drawing/2014/main" id="{955F4747-4FC7-491F-9368-0CDC95A3FFA4}"/>
              </a:ext>
            </a:extLst>
          </p:cNvPr>
          <p:cNvSpPr>
            <a:spLocks xmlns:a="http://schemas.openxmlformats.org/drawingml/2006/main" noGrp="1"/>
          </p:cNvSpPr>
          <p:nvPr/>
        </p:nvSpPr>
        <p:spPr>
          <a:xfrm xmlns:a="http://schemas.openxmlformats.org/drawingml/2006/main">
            <a:off x="4663440" y="2286000"/>
            <a:ext cx="3474360" cy="145800"/>
          </a:xfrm>
          <a:prstGeom xmlns:a="http://schemas.openxmlformats.org/drawingml/2006/main" prst="rect">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52" name="Text 17">
            <a:extLst xmlns:a="http://schemas.openxmlformats.org/drawingml/2006/main">
              <a:ext uri="{FF2B5EF4-FFF2-40B4-BE49-F238E27FC236}">
                <a16:creationId xmlns:a16="http://schemas.microsoft.com/office/drawing/2014/main" id="{40151F9A-D09D-4095-9BA2-D72A817A4C42}"/>
              </a:ext>
            </a:extLst>
          </p:cNvPr>
          <p:cNvSpPr>
            <a:spLocks xmlns:a="http://schemas.openxmlformats.org/drawingml/2006/main" noGrp="1"/>
          </p:cNvSpPr>
          <p:nvPr/>
        </p:nvSpPr>
        <p:spPr>
          <a:xfrm xmlns:a="http://schemas.openxmlformats.org/drawingml/2006/main">
            <a:off x="4663440" y="2286000"/>
            <a:ext cx="3474360" cy="1458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FFFFFF"/>
                </a:solidFill>
                <a:latin typeface="Calibri"/>
                <a:ea typeface="Calibri"/>
                <a:cs typeface="Calibri"/>
              </a:rPr>
              <a:t>Key2 → Value2</a:t>
            </a:r>
          </a:p>
        </p:txBody>
      </p:sp>
      <p:sp>
        <p:nvSpPr>
          <p:cNvPr id="153" name="Shape 18">
            <a:extLst xmlns:a="http://schemas.openxmlformats.org/drawingml/2006/main">
              <a:ext uri="{FF2B5EF4-FFF2-40B4-BE49-F238E27FC236}">
                <a16:creationId xmlns:a16="http://schemas.microsoft.com/office/drawing/2014/main" id="{4DC0A781-8F41-4584-99E0-3A503DBFEF3A}"/>
              </a:ext>
            </a:extLst>
          </p:cNvPr>
          <p:cNvSpPr>
            <a:spLocks xmlns:a="http://schemas.openxmlformats.org/drawingml/2006/main" noGrp="1"/>
          </p:cNvSpPr>
          <p:nvPr/>
        </p:nvSpPr>
        <p:spPr>
          <a:xfrm xmlns:a="http://schemas.openxmlformats.org/drawingml/2006/main">
            <a:off x="4663440" y="2450520"/>
            <a:ext cx="3474360" cy="145800"/>
          </a:xfrm>
          <a:prstGeom xmlns:a="http://schemas.openxmlformats.org/drawingml/2006/main" prst="rect">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54" name="Text 19">
            <a:extLst xmlns:a="http://schemas.openxmlformats.org/drawingml/2006/main">
              <a:ext uri="{FF2B5EF4-FFF2-40B4-BE49-F238E27FC236}">
                <a16:creationId xmlns:a16="http://schemas.microsoft.com/office/drawing/2014/main" id="{CCBA645B-EC09-46B1-A0F3-7BF5EF89D188}"/>
              </a:ext>
            </a:extLst>
          </p:cNvPr>
          <p:cNvSpPr>
            <a:spLocks xmlns:a="http://schemas.openxmlformats.org/drawingml/2006/main" noGrp="1"/>
          </p:cNvSpPr>
          <p:nvPr/>
        </p:nvSpPr>
        <p:spPr>
          <a:xfrm xmlns:a="http://schemas.openxmlformats.org/drawingml/2006/main">
            <a:off x="4663440" y="2450520"/>
            <a:ext cx="3474360" cy="1458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FFFFFF"/>
                </a:solidFill>
                <a:latin typeface="Calibri"/>
                <a:ea typeface="Calibri"/>
                <a:cs typeface="Calibri"/>
              </a:rPr>
              <a:t>Key3 → Value3</a:t>
            </a:r>
          </a:p>
        </p:txBody>
      </p:sp>
      <p:sp>
        <p:nvSpPr>
          <p:cNvPr id="155" name="Text 20">
            <a:extLst xmlns:a="http://schemas.openxmlformats.org/drawingml/2006/main">
              <a:ext uri="{FF2B5EF4-FFF2-40B4-BE49-F238E27FC236}">
                <a16:creationId xmlns:a16="http://schemas.microsoft.com/office/drawing/2014/main" id="{BDD79FEE-D807-464D-B695-53A8FD45CE07}"/>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a9a45e6c3bc24cc4"/>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eda339f320724fd6"/>
              </a:rPr>
              <a:t>[2]</a:t>
            </a:r>
          </a:p>
        </p:txBody>
      </p:sp>
    </p:spTree>
    <p:extLst>
      <p:ext uri="{BB962C8B-B14F-4D97-AF65-F5344CB8AC3E}">
        <p14:creationId xmlns:p14="http://schemas.microsoft.com/office/powerpoint/2010/main" val="1117624478"/>
      </p:ext>
    </p:extLst>
  </p:cSld>
</p:sld>
</file>

<file path=ppt/slides/slide9.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156" name="Shape 0">
            <a:extLst xmlns:a="http://schemas.openxmlformats.org/drawingml/2006/main">
              <a:ext uri="{FF2B5EF4-FFF2-40B4-BE49-F238E27FC236}">
                <a16:creationId xmlns:a16="http://schemas.microsoft.com/office/drawing/2014/main" id="{8A24A6FF-3A97-4FF0-80E4-AF1A9FE4BDF5}"/>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57" name="Text 1">
            <a:extLst xmlns:a="http://schemas.openxmlformats.org/drawingml/2006/main">
              <a:ext uri="{FF2B5EF4-FFF2-40B4-BE49-F238E27FC236}">
                <a16:creationId xmlns:a16="http://schemas.microsoft.com/office/drawing/2014/main" id="{A27AE93E-71AC-4B2F-997F-4E3716E9A089}"/>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ksqlDB Query Types</a:t>
            </a:r>
          </a:p>
        </p:txBody>
      </p:sp>
      <p:sp>
        <p:nvSpPr>
          <p:cNvPr id="158" name="Shape 2">
            <a:extLst xmlns:a="http://schemas.openxmlformats.org/drawingml/2006/main">
              <a:ext uri="{FF2B5EF4-FFF2-40B4-BE49-F238E27FC236}">
                <a16:creationId xmlns:a16="http://schemas.microsoft.com/office/drawing/2014/main" id="{2B9229F2-2EAF-4949-9355-26CEA441007E}"/>
              </a:ext>
            </a:extLst>
          </p:cNvPr>
          <p:cNvSpPr>
            <a:spLocks xmlns:a="http://schemas.openxmlformats.org/drawingml/2006/main" noGrp="1"/>
          </p:cNvSpPr>
          <p:nvPr/>
        </p:nvSpPr>
        <p:spPr>
          <a:xfrm xmlns:a="http://schemas.openxmlformats.org/drawingml/2006/main">
            <a:off x="457200" y="731520"/>
            <a:ext cx="2742840" cy="365400"/>
          </a:xfrm>
          <a:prstGeom xmlns:a="http://schemas.openxmlformats.org/drawingml/2006/main" prst="rect">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59" name="Text 3">
            <a:extLst xmlns:a="http://schemas.openxmlformats.org/drawingml/2006/main">
              <a:ext uri="{FF2B5EF4-FFF2-40B4-BE49-F238E27FC236}">
                <a16:creationId xmlns:a16="http://schemas.microsoft.com/office/drawing/2014/main" id="{F1E06638-56D4-4A56-87B4-94F486318BE8}"/>
              </a:ext>
            </a:extLst>
          </p:cNvPr>
          <p:cNvSpPr>
            <a:spLocks xmlns:a="http://schemas.openxmlformats.org/drawingml/2006/main" noGrp="1"/>
          </p:cNvSpPr>
          <p:nvPr/>
        </p:nvSpPr>
        <p:spPr>
          <a:xfrm xmlns:a="http://schemas.openxmlformats.org/drawingml/2006/main">
            <a:off x="502920" y="749880"/>
            <a:ext cx="2651400" cy="328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FFFFFF"/>
                </a:solidFill>
                <a:latin typeface="Calibri"/>
                <a:ea typeface="Calibri"/>
                <a:cs typeface="Calibri"/>
              </a:rPr>
              <a:t>Query Type</a:t>
            </a:r>
          </a:p>
        </p:txBody>
      </p:sp>
      <p:sp>
        <p:nvSpPr>
          <p:cNvPr id="160" name="Shape 4">
            <a:extLst xmlns:a="http://schemas.openxmlformats.org/drawingml/2006/main">
              <a:ext uri="{FF2B5EF4-FFF2-40B4-BE49-F238E27FC236}">
                <a16:creationId xmlns:a16="http://schemas.microsoft.com/office/drawing/2014/main" id="{0CF3D0DB-0F65-4569-BD1A-5EE2AE290428}"/>
              </a:ext>
            </a:extLst>
          </p:cNvPr>
          <p:cNvSpPr>
            <a:spLocks xmlns:a="http://schemas.openxmlformats.org/drawingml/2006/main" noGrp="1"/>
          </p:cNvSpPr>
          <p:nvPr/>
        </p:nvSpPr>
        <p:spPr>
          <a:xfrm xmlns:a="http://schemas.openxmlformats.org/drawingml/2006/main">
            <a:off x="3200400" y="731520"/>
            <a:ext cx="3200040" cy="365400"/>
          </a:xfrm>
          <a:prstGeom xmlns:a="http://schemas.openxmlformats.org/drawingml/2006/main" prst="rect">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61" name="Text 5">
            <a:extLst xmlns:a="http://schemas.openxmlformats.org/drawingml/2006/main">
              <a:ext uri="{FF2B5EF4-FFF2-40B4-BE49-F238E27FC236}">
                <a16:creationId xmlns:a16="http://schemas.microsoft.com/office/drawing/2014/main" id="{71FDAA2F-6551-4731-881E-B079FDC2B457}"/>
              </a:ext>
            </a:extLst>
          </p:cNvPr>
          <p:cNvSpPr>
            <a:spLocks xmlns:a="http://schemas.openxmlformats.org/drawingml/2006/main" noGrp="1"/>
          </p:cNvSpPr>
          <p:nvPr/>
        </p:nvSpPr>
        <p:spPr>
          <a:xfrm xmlns:a="http://schemas.openxmlformats.org/drawingml/2006/main">
            <a:off x="3246120" y="749880"/>
            <a:ext cx="3154320" cy="328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FFFFFF"/>
                </a:solidFill>
                <a:latin typeface="Calibri"/>
                <a:ea typeface="Calibri"/>
                <a:cs typeface="Calibri"/>
              </a:rPr>
              <a:t>Description</a:t>
            </a:r>
          </a:p>
        </p:txBody>
      </p:sp>
      <p:sp>
        <p:nvSpPr>
          <p:cNvPr id="162" name="Shape 6">
            <a:extLst xmlns:a="http://schemas.openxmlformats.org/drawingml/2006/main">
              <a:ext uri="{FF2B5EF4-FFF2-40B4-BE49-F238E27FC236}">
                <a16:creationId xmlns:a16="http://schemas.microsoft.com/office/drawing/2014/main" id="{9A78F70C-620F-45A7-9BF9-B20739F4F4B9}"/>
              </a:ext>
            </a:extLst>
          </p:cNvPr>
          <p:cNvSpPr>
            <a:spLocks xmlns:a="http://schemas.openxmlformats.org/drawingml/2006/main" noGrp="1"/>
          </p:cNvSpPr>
          <p:nvPr/>
        </p:nvSpPr>
        <p:spPr>
          <a:xfrm xmlns:a="http://schemas.openxmlformats.org/drawingml/2006/main">
            <a:off x="6400800" y="731520"/>
            <a:ext cx="2742840" cy="365400"/>
          </a:xfrm>
          <a:prstGeom xmlns:a="http://schemas.openxmlformats.org/drawingml/2006/main" prst="rect">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63" name="Text 7">
            <a:extLst xmlns:a="http://schemas.openxmlformats.org/drawingml/2006/main">
              <a:ext uri="{FF2B5EF4-FFF2-40B4-BE49-F238E27FC236}">
                <a16:creationId xmlns:a16="http://schemas.microsoft.com/office/drawing/2014/main" id="{EF889846-AB73-4097-864E-B1C132833F87}"/>
              </a:ext>
            </a:extLst>
          </p:cNvPr>
          <p:cNvSpPr>
            <a:spLocks xmlns:a="http://schemas.openxmlformats.org/drawingml/2006/main" noGrp="1"/>
          </p:cNvSpPr>
          <p:nvPr/>
        </p:nvSpPr>
        <p:spPr>
          <a:xfrm xmlns:a="http://schemas.openxmlformats.org/drawingml/2006/main">
            <a:off x="6446520" y="749880"/>
            <a:ext cx="2651400" cy="328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FFFFFF"/>
                </a:solidFill>
                <a:latin typeface="Calibri"/>
                <a:ea typeface="Calibri"/>
                <a:cs typeface="Calibri"/>
              </a:rPr>
              <a:t>Use Cases</a:t>
            </a:r>
          </a:p>
        </p:txBody>
      </p:sp>
      <p:sp>
        <p:nvSpPr>
          <p:cNvPr id="164" name="Shape 8">
            <a:extLst xmlns:a="http://schemas.openxmlformats.org/drawingml/2006/main">
              <a:ext uri="{FF2B5EF4-FFF2-40B4-BE49-F238E27FC236}">
                <a16:creationId xmlns:a16="http://schemas.microsoft.com/office/drawing/2014/main" id="{7A69F728-CFA7-4390-9B31-1607C9E5E145}"/>
              </a:ext>
            </a:extLst>
          </p:cNvPr>
          <p:cNvSpPr>
            <a:spLocks xmlns:a="http://schemas.openxmlformats.org/drawingml/2006/main" noGrp="1"/>
          </p:cNvSpPr>
          <p:nvPr/>
        </p:nvSpPr>
        <p:spPr>
          <a:xfrm xmlns:a="http://schemas.openxmlformats.org/drawingml/2006/main">
            <a:off x="457200" y="1097280"/>
            <a:ext cx="2742840" cy="456840"/>
          </a:xfrm>
          <a:prstGeom xmlns:a="http://schemas.openxmlformats.org/drawingml/2006/main" prst="rect">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65" name="Text 9">
            <a:extLst xmlns:a="http://schemas.openxmlformats.org/drawingml/2006/main">
              <a:ext uri="{FF2B5EF4-FFF2-40B4-BE49-F238E27FC236}">
                <a16:creationId xmlns:a16="http://schemas.microsoft.com/office/drawing/2014/main" id="{CE01049D-1AC3-42AB-840C-257C3DFC8F66}"/>
              </a:ext>
            </a:extLst>
          </p:cNvPr>
          <p:cNvSpPr>
            <a:spLocks xmlns:a="http://schemas.openxmlformats.org/drawingml/2006/main" noGrp="1"/>
          </p:cNvSpPr>
          <p:nvPr/>
        </p:nvSpPr>
        <p:spPr>
          <a:xfrm xmlns:a="http://schemas.openxmlformats.org/drawingml/2006/main">
            <a:off x="502920" y="1143000"/>
            <a:ext cx="265140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lnSpc>
                <a:spcPct val="100000"/>
              </a:lnSpc>
              <a:buNone/>
            </a:pPr>
            <a:r>
              <a:rPr sz="900" b="1" u="none">
                <a:solidFill>
                  <a:srgbClr val="FFFFFF"/>
                </a:solidFill>
                <a:latin typeface="Calibri"/>
                <a:ea typeface="Calibri"/>
                <a:cs typeface="Calibri"/>
              </a:rPr>
              <a:t>Persistent</a:t>
            </a:r>
          </a:p>
        </p:txBody>
      </p:sp>
      <p:sp>
        <p:nvSpPr>
          <p:cNvPr id="166" name="Shape 10">
            <a:extLst xmlns:a="http://schemas.openxmlformats.org/drawingml/2006/main">
              <a:ext uri="{FF2B5EF4-FFF2-40B4-BE49-F238E27FC236}">
                <a16:creationId xmlns:a16="http://schemas.microsoft.com/office/drawing/2014/main" id="{2BA9FAC2-1101-495A-B010-D5F9F81B159B}"/>
              </a:ext>
            </a:extLst>
          </p:cNvPr>
          <p:cNvSpPr>
            <a:spLocks xmlns:a="http://schemas.openxmlformats.org/drawingml/2006/main" noGrp="1"/>
          </p:cNvSpPr>
          <p:nvPr/>
        </p:nvSpPr>
        <p:spPr>
          <a:xfrm xmlns:a="http://schemas.openxmlformats.org/drawingml/2006/main">
            <a:off x="3200400" y="1097280"/>
            <a:ext cx="3200040" cy="456840"/>
          </a:xfrm>
          <a:prstGeom xmlns:a="http://schemas.openxmlformats.org/drawingml/2006/main" prst="rect">
            <a:avLst/>
          </a:prstGeom>
          <a:solidFill xmlns:a="http://schemas.openxmlformats.org/drawingml/2006/main">
            <a:srgbClr val="F9FBFC"/>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67" name="Text 11">
            <a:extLst xmlns:a="http://schemas.openxmlformats.org/drawingml/2006/main">
              <a:ext uri="{FF2B5EF4-FFF2-40B4-BE49-F238E27FC236}">
                <a16:creationId xmlns:a16="http://schemas.microsoft.com/office/drawing/2014/main" id="{E6185050-1C71-4654-9797-CE272E1810ED}"/>
              </a:ext>
            </a:extLst>
          </p:cNvPr>
          <p:cNvSpPr>
            <a:spLocks xmlns:a="http://schemas.openxmlformats.org/drawingml/2006/main" noGrp="1"/>
          </p:cNvSpPr>
          <p:nvPr/>
        </p:nvSpPr>
        <p:spPr>
          <a:xfrm xmlns:a="http://schemas.openxmlformats.org/drawingml/2006/main">
            <a:off x="3246120" y="1143000"/>
            <a:ext cx="315432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003C54"/>
                </a:solidFill>
                <a:latin typeface="Calibri"/>
                <a:ea typeface="Calibri"/>
                <a:cs typeface="Calibri"/>
              </a:rPr>
              <a:t>Continuous query that reads from input topics, transforms data and writes results to new topics. Survives restarts and scales horizontally.</a:t>
            </a:r>
          </a:p>
        </p:txBody>
      </p:sp>
      <p:sp>
        <p:nvSpPr>
          <p:cNvPr id="168" name="Shape 12">
            <a:extLst xmlns:a="http://schemas.openxmlformats.org/drawingml/2006/main">
              <a:ext uri="{FF2B5EF4-FFF2-40B4-BE49-F238E27FC236}">
                <a16:creationId xmlns:a16="http://schemas.microsoft.com/office/drawing/2014/main" id="{70E9A674-BE77-462F-8970-1BCCCB27C307}"/>
              </a:ext>
            </a:extLst>
          </p:cNvPr>
          <p:cNvSpPr>
            <a:spLocks xmlns:a="http://schemas.openxmlformats.org/drawingml/2006/main" noGrp="1"/>
          </p:cNvSpPr>
          <p:nvPr/>
        </p:nvSpPr>
        <p:spPr>
          <a:xfrm xmlns:a="http://schemas.openxmlformats.org/drawingml/2006/main">
            <a:off x="6400800" y="1097280"/>
            <a:ext cx="2742840" cy="456840"/>
          </a:xfrm>
          <a:prstGeom xmlns:a="http://schemas.openxmlformats.org/drawingml/2006/main" prst="rect">
            <a:avLst/>
          </a:prstGeom>
          <a:solidFill xmlns:a="http://schemas.openxmlformats.org/drawingml/2006/main">
            <a:srgbClr val="F9FBFC"/>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69" name="Text 13">
            <a:extLst xmlns:a="http://schemas.openxmlformats.org/drawingml/2006/main">
              <a:ext uri="{FF2B5EF4-FFF2-40B4-BE49-F238E27FC236}">
                <a16:creationId xmlns:a16="http://schemas.microsoft.com/office/drawing/2014/main" id="{BBCA3207-4FEC-4798-B7E3-81B4222A2461}"/>
              </a:ext>
            </a:extLst>
          </p:cNvPr>
          <p:cNvSpPr>
            <a:spLocks xmlns:a="http://schemas.openxmlformats.org/drawingml/2006/main" noGrp="1"/>
          </p:cNvSpPr>
          <p:nvPr/>
        </p:nvSpPr>
        <p:spPr>
          <a:xfrm xmlns:a="http://schemas.openxmlformats.org/drawingml/2006/main">
            <a:off x="6446520" y="1143000"/>
            <a:ext cx="269712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003C54"/>
                </a:solidFill>
                <a:latin typeface="Calibri"/>
                <a:ea typeface="Calibri"/>
                <a:cs typeface="Calibri"/>
              </a:rPr>
              <a:t>Real‑time pipelines, materialized views</a:t>
            </a:r>
          </a:p>
        </p:txBody>
      </p:sp>
      <p:sp>
        <p:nvSpPr>
          <p:cNvPr id="170" name="Shape 14">
            <a:extLst xmlns:a="http://schemas.openxmlformats.org/drawingml/2006/main">
              <a:ext uri="{FF2B5EF4-FFF2-40B4-BE49-F238E27FC236}">
                <a16:creationId xmlns:a16="http://schemas.microsoft.com/office/drawing/2014/main" id="{6755B923-24DE-40AC-B7E6-08B33A94F49B}"/>
              </a:ext>
            </a:extLst>
          </p:cNvPr>
          <p:cNvSpPr>
            <a:spLocks xmlns:a="http://schemas.openxmlformats.org/drawingml/2006/main" noGrp="1"/>
          </p:cNvSpPr>
          <p:nvPr/>
        </p:nvSpPr>
        <p:spPr>
          <a:xfrm xmlns:a="http://schemas.openxmlformats.org/drawingml/2006/main">
            <a:off x="457200" y="1645920"/>
            <a:ext cx="2742840" cy="456840"/>
          </a:xfrm>
          <a:prstGeom xmlns:a="http://schemas.openxmlformats.org/drawingml/2006/main" prst="rect">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71" name="Text 15">
            <a:extLst xmlns:a="http://schemas.openxmlformats.org/drawingml/2006/main">
              <a:ext uri="{FF2B5EF4-FFF2-40B4-BE49-F238E27FC236}">
                <a16:creationId xmlns:a16="http://schemas.microsoft.com/office/drawing/2014/main" id="{D830EF92-04BC-4287-8B9D-D35E6177A042}"/>
              </a:ext>
            </a:extLst>
          </p:cNvPr>
          <p:cNvSpPr>
            <a:spLocks xmlns:a="http://schemas.openxmlformats.org/drawingml/2006/main" noGrp="1"/>
          </p:cNvSpPr>
          <p:nvPr/>
        </p:nvSpPr>
        <p:spPr>
          <a:xfrm xmlns:a="http://schemas.openxmlformats.org/drawingml/2006/main">
            <a:off x="502920" y="1691640"/>
            <a:ext cx="265140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lnSpc>
                <a:spcPct val="100000"/>
              </a:lnSpc>
              <a:buNone/>
            </a:pPr>
            <a:r>
              <a:rPr sz="900" b="1" u="none">
                <a:solidFill>
                  <a:srgbClr val="FFFFFF"/>
                </a:solidFill>
                <a:latin typeface="Calibri"/>
                <a:ea typeface="Calibri"/>
                <a:cs typeface="Calibri"/>
              </a:rPr>
              <a:t>Push (Continuous)</a:t>
            </a:r>
          </a:p>
        </p:txBody>
      </p:sp>
      <p:sp>
        <p:nvSpPr>
          <p:cNvPr id="172" name="Shape 16">
            <a:extLst xmlns:a="http://schemas.openxmlformats.org/drawingml/2006/main">
              <a:ext uri="{FF2B5EF4-FFF2-40B4-BE49-F238E27FC236}">
                <a16:creationId xmlns:a16="http://schemas.microsoft.com/office/drawing/2014/main" id="{4A7A1C3A-47C9-4E26-BE1A-52DB2A75C53F}"/>
              </a:ext>
            </a:extLst>
          </p:cNvPr>
          <p:cNvSpPr>
            <a:spLocks xmlns:a="http://schemas.openxmlformats.org/drawingml/2006/main" noGrp="1"/>
          </p:cNvSpPr>
          <p:nvPr/>
        </p:nvSpPr>
        <p:spPr>
          <a:xfrm xmlns:a="http://schemas.openxmlformats.org/drawingml/2006/main">
            <a:off x="3200400" y="1645920"/>
            <a:ext cx="3200040" cy="456840"/>
          </a:xfrm>
          <a:prstGeom xmlns:a="http://schemas.openxmlformats.org/drawingml/2006/main" prst="rect">
            <a:avLst/>
          </a:prstGeom>
          <a:solidFill xmlns:a="http://schemas.openxmlformats.org/drawingml/2006/main">
            <a:srgbClr val="F9FBFC"/>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73" name="Text 17">
            <a:extLst xmlns:a="http://schemas.openxmlformats.org/drawingml/2006/main">
              <a:ext uri="{FF2B5EF4-FFF2-40B4-BE49-F238E27FC236}">
                <a16:creationId xmlns:a16="http://schemas.microsoft.com/office/drawing/2014/main" id="{25096F54-AF40-4DEC-9430-07DDC3D11B9E}"/>
              </a:ext>
            </a:extLst>
          </p:cNvPr>
          <p:cNvSpPr>
            <a:spLocks xmlns:a="http://schemas.openxmlformats.org/drawingml/2006/main" noGrp="1"/>
          </p:cNvSpPr>
          <p:nvPr/>
        </p:nvSpPr>
        <p:spPr>
          <a:xfrm xmlns:a="http://schemas.openxmlformats.org/drawingml/2006/main">
            <a:off x="3246120" y="1691640"/>
            <a:ext cx="315432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003C54"/>
                </a:solidFill>
                <a:latin typeface="Calibri"/>
                <a:ea typeface="Calibri"/>
                <a:cs typeface="Calibri"/>
              </a:rPr>
              <a:t>Streams results to clients as new events arrive. Ideal for dashboards &amp; monitoring applications needing instant updates.</a:t>
            </a:r>
          </a:p>
        </p:txBody>
      </p:sp>
      <p:sp>
        <p:nvSpPr>
          <p:cNvPr id="174" name="Shape 18">
            <a:extLst xmlns:a="http://schemas.openxmlformats.org/drawingml/2006/main">
              <a:ext uri="{FF2B5EF4-FFF2-40B4-BE49-F238E27FC236}">
                <a16:creationId xmlns:a16="http://schemas.microsoft.com/office/drawing/2014/main" id="{708E41BC-D53D-44B5-9467-56A7A8653811}"/>
              </a:ext>
            </a:extLst>
          </p:cNvPr>
          <p:cNvSpPr>
            <a:spLocks xmlns:a="http://schemas.openxmlformats.org/drawingml/2006/main" noGrp="1"/>
          </p:cNvSpPr>
          <p:nvPr/>
        </p:nvSpPr>
        <p:spPr>
          <a:xfrm xmlns:a="http://schemas.openxmlformats.org/drawingml/2006/main">
            <a:off x="6400800" y="1645920"/>
            <a:ext cx="2742840" cy="456840"/>
          </a:xfrm>
          <a:prstGeom xmlns:a="http://schemas.openxmlformats.org/drawingml/2006/main" prst="rect">
            <a:avLst/>
          </a:prstGeom>
          <a:solidFill xmlns:a="http://schemas.openxmlformats.org/drawingml/2006/main">
            <a:srgbClr val="F9FBFC"/>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75" name="Text 19">
            <a:extLst xmlns:a="http://schemas.openxmlformats.org/drawingml/2006/main">
              <a:ext uri="{FF2B5EF4-FFF2-40B4-BE49-F238E27FC236}">
                <a16:creationId xmlns:a16="http://schemas.microsoft.com/office/drawing/2014/main" id="{31ACA064-5829-4BC0-8DE6-67DDC726D0D8}"/>
              </a:ext>
            </a:extLst>
          </p:cNvPr>
          <p:cNvSpPr>
            <a:spLocks xmlns:a="http://schemas.openxmlformats.org/drawingml/2006/main" noGrp="1"/>
          </p:cNvSpPr>
          <p:nvPr/>
        </p:nvSpPr>
        <p:spPr>
          <a:xfrm xmlns:a="http://schemas.openxmlformats.org/drawingml/2006/main">
            <a:off x="6446520" y="1691640"/>
            <a:ext cx="269712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003C54"/>
                </a:solidFill>
                <a:latin typeface="Calibri"/>
                <a:ea typeface="Calibri"/>
                <a:cs typeface="Calibri"/>
              </a:rPr>
              <a:t>Real‑time dashboards, alerts</a:t>
            </a:r>
          </a:p>
        </p:txBody>
      </p:sp>
      <p:sp>
        <p:nvSpPr>
          <p:cNvPr id="176" name="Shape 20">
            <a:extLst xmlns:a="http://schemas.openxmlformats.org/drawingml/2006/main">
              <a:ext uri="{FF2B5EF4-FFF2-40B4-BE49-F238E27FC236}">
                <a16:creationId xmlns:a16="http://schemas.microsoft.com/office/drawing/2014/main" id="{A41B0670-CB11-49A9-B9E7-A3C3E34DA676}"/>
              </a:ext>
            </a:extLst>
          </p:cNvPr>
          <p:cNvSpPr>
            <a:spLocks xmlns:a="http://schemas.openxmlformats.org/drawingml/2006/main" noGrp="1"/>
          </p:cNvSpPr>
          <p:nvPr/>
        </p:nvSpPr>
        <p:spPr>
          <a:xfrm xmlns:a="http://schemas.openxmlformats.org/drawingml/2006/main">
            <a:off x="457200" y="2194560"/>
            <a:ext cx="2742840" cy="456840"/>
          </a:xfrm>
          <a:prstGeom xmlns:a="http://schemas.openxmlformats.org/drawingml/2006/main" prst="rect">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77" name="Text 21">
            <a:extLst xmlns:a="http://schemas.openxmlformats.org/drawingml/2006/main">
              <a:ext uri="{FF2B5EF4-FFF2-40B4-BE49-F238E27FC236}">
                <a16:creationId xmlns:a16="http://schemas.microsoft.com/office/drawing/2014/main" id="{C8585E0A-B553-42AB-89EB-89CE245DA468}"/>
              </a:ext>
            </a:extLst>
          </p:cNvPr>
          <p:cNvSpPr>
            <a:spLocks xmlns:a="http://schemas.openxmlformats.org/drawingml/2006/main" noGrp="1"/>
          </p:cNvSpPr>
          <p:nvPr/>
        </p:nvSpPr>
        <p:spPr>
          <a:xfrm xmlns:a="http://schemas.openxmlformats.org/drawingml/2006/main">
            <a:off x="502920" y="2240280"/>
            <a:ext cx="265140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lnSpc>
                <a:spcPct val="100000"/>
              </a:lnSpc>
              <a:buNone/>
            </a:pPr>
            <a:r>
              <a:rPr sz="900" b="1" u="none">
                <a:solidFill>
                  <a:srgbClr val="FFFFFF"/>
                </a:solidFill>
                <a:latin typeface="Calibri"/>
                <a:ea typeface="Calibri"/>
                <a:cs typeface="Calibri"/>
              </a:rPr>
              <a:t>Pull (Point‑in‑Time)</a:t>
            </a:r>
          </a:p>
        </p:txBody>
      </p:sp>
      <p:sp>
        <p:nvSpPr>
          <p:cNvPr id="178" name="Shape 22">
            <a:extLst xmlns:a="http://schemas.openxmlformats.org/drawingml/2006/main">
              <a:ext uri="{FF2B5EF4-FFF2-40B4-BE49-F238E27FC236}">
                <a16:creationId xmlns:a16="http://schemas.microsoft.com/office/drawing/2014/main" id="{F27C003C-78DA-4004-B3F7-8F2C1B0BBFBA}"/>
              </a:ext>
            </a:extLst>
          </p:cNvPr>
          <p:cNvSpPr>
            <a:spLocks xmlns:a="http://schemas.openxmlformats.org/drawingml/2006/main" noGrp="1"/>
          </p:cNvSpPr>
          <p:nvPr/>
        </p:nvSpPr>
        <p:spPr>
          <a:xfrm xmlns:a="http://schemas.openxmlformats.org/drawingml/2006/main">
            <a:off x="3200400" y="2194560"/>
            <a:ext cx="3200040" cy="456840"/>
          </a:xfrm>
          <a:prstGeom xmlns:a="http://schemas.openxmlformats.org/drawingml/2006/main" prst="rect">
            <a:avLst/>
          </a:prstGeom>
          <a:solidFill xmlns:a="http://schemas.openxmlformats.org/drawingml/2006/main">
            <a:srgbClr val="F9FBFC"/>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79" name="Text 23">
            <a:extLst xmlns:a="http://schemas.openxmlformats.org/drawingml/2006/main">
              <a:ext uri="{FF2B5EF4-FFF2-40B4-BE49-F238E27FC236}">
                <a16:creationId xmlns:a16="http://schemas.microsoft.com/office/drawing/2014/main" id="{A97AADB5-EAF5-4EB5-805E-4D220AC8A1B9}"/>
              </a:ext>
            </a:extLst>
          </p:cNvPr>
          <p:cNvSpPr>
            <a:spLocks xmlns:a="http://schemas.openxmlformats.org/drawingml/2006/main" noGrp="1"/>
          </p:cNvSpPr>
          <p:nvPr/>
        </p:nvSpPr>
        <p:spPr>
          <a:xfrm xmlns:a="http://schemas.openxmlformats.org/drawingml/2006/main">
            <a:off x="3246120" y="2240280"/>
            <a:ext cx="315432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003C54"/>
                </a:solidFill>
                <a:latin typeface="Calibri"/>
                <a:ea typeface="Calibri"/>
                <a:cs typeface="Calibri"/>
              </a:rPr>
              <a:t>Returns the current state of a materialized view. Suitable for user‑facing apps requiring low‑latency lookups.</a:t>
            </a:r>
          </a:p>
        </p:txBody>
      </p:sp>
      <p:sp>
        <p:nvSpPr>
          <p:cNvPr id="180" name="Shape 24">
            <a:extLst xmlns:a="http://schemas.openxmlformats.org/drawingml/2006/main">
              <a:ext uri="{FF2B5EF4-FFF2-40B4-BE49-F238E27FC236}">
                <a16:creationId xmlns:a16="http://schemas.microsoft.com/office/drawing/2014/main" id="{29CF5269-5250-4074-9F7E-5B93FA93C85B}"/>
              </a:ext>
            </a:extLst>
          </p:cNvPr>
          <p:cNvSpPr>
            <a:spLocks xmlns:a="http://schemas.openxmlformats.org/drawingml/2006/main" noGrp="1"/>
          </p:cNvSpPr>
          <p:nvPr/>
        </p:nvSpPr>
        <p:spPr>
          <a:xfrm xmlns:a="http://schemas.openxmlformats.org/drawingml/2006/main">
            <a:off x="6400800" y="2194560"/>
            <a:ext cx="2742840" cy="456840"/>
          </a:xfrm>
          <a:prstGeom xmlns:a="http://schemas.openxmlformats.org/drawingml/2006/main" prst="rect">
            <a:avLst/>
          </a:prstGeom>
          <a:solidFill xmlns:a="http://schemas.openxmlformats.org/drawingml/2006/main">
            <a:srgbClr val="F9FBFC"/>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81" name="Text 25">
            <a:extLst xmlns:a="http://schemas.openxmlformats.org/drawingml/2006/main">
              <a:ext uri="{FF2B5EF4-FFF2-40B4-BE49-F238E27FC236}">
                <a16:creationId xmlns:a16="http://schemas.microsoft.com/office/drawing/2014/main" id="{62C17417-B4D7-44F0-8290-6AE1EF98AC20}"/>
              </a:ext>
            </a:extLst>
          </p:cNvPr>
          <p:cNvSpPr>
            <a:spLocks xmlns:a="http://schemas.openxmlformats.org/drawingml/2006/main" noGrp="1"/>
          </p:cNvSpPr>
          <p:nvPr/>
        </p:nvSpPr>
        <p:spPr>
          <a:xfrm xmlns:a="http://schemas.openxmlformats.org/drawingml/2006/main">
            <a:off x="6446520" y="2240280"/>
            <a:ext cx="269712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003C54"/>
                </a:solidFill>
                <a:latin typeface="Calibri"/>
                <a:ea typeface="Calibri"/>
                <a:cs typeface="Calibri"/>
              </a:rPr>
              <a:t>Microservices, REST APIs</a:t>
            </a:r>
          </a:p>
        </p:txBody>
      </p:sp>
      <p:sp>
        <p:nvSpPr>
          <p:cNvPr id="182" name="Text 26">
            <a:extLst xmlns:a="http://schemas.openxmlformats.org/drawingml/2006/main">
              <a:ext uri="{FF2B5EF4-FFF2-40B4-BE49-F238E27FC236}">
                <a16:creationId xmlns:a16="http://schemas.microsoft.com/office/drawing/2014/main" id="{3A2BB2E5-9ED2-4556-94E1-B1CC5CDE95B2}"/>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3b75694b3d504259"/>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17efe8266e9148b6"/>
              </a:rPr>
              <a:t>[2]</a:t>
            </a:r>
          </a:p>
        </p:txBody>
      </p:sp>
    </p:spTree>
    <p:extLst>
      <p:ext uri="{BB962C8B-B14F-4D97-AF65-F5344CB8AC3E}">
        <p14:creationId xmlns:p14="http://schemas.microsoft.com/office/powerpoint/2010/main" val="1887919813"/>
      </p:ext>
    </p:extLst>
  </p:cSld>
</p:sld>
</file>

<file path=ppt/slides/slide10.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183" name="Shape 0">
            <a:extLst xmlns:a="http://schemas.openxmlformats.org/drawingml/2006/main">
              <a:ext uri="{FF2B5EF4-FFF2-40B4-BE49-F238E27FC236}">
                <a16:creationId xmlns:a16="http://schemas.microsoft.com/office/drawing/2014/main" id="{8B0F294B-19C6-4A75-BBD0-6EECC3FE5A39}"/>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84" name="Text 1">
            <a:extLst xmlns:a="http://schemas.openxmlformats.org/drawingml/2006/main">
              <a:ext uri="{FF2B5EF4-FFF2-40B4-BE49-F238E27FC236}">
                <a16:creationId xmlns:a16="http://schemas.microsoft.com/office/drawing/2014/main" id="{28F2216E-2E36-4102-AA1E-975C883B5F19}"/>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ksqlDB SQL &amp; Windowing</a:t>
            </a:r>
          </a:p>
        </p:txBody>
      </p:sp>
      <p:sp>
        <p:nvSpPr>
          <p:cNvPr id="185" name="Text 2">
            <a:extLst xmlns:a="http://schemas.openxmlformats.org/drawingml/2006/main">
              <a:ext uri="{FF2B5EF4-FFF2-40B4-BE49-F238E27FC236}">
                <a16:creationId xmlns:a16="http://schemas.microsoft.com/office/drawing/2014/main" id="{CB4A6AE4-9C54-4493-BC46-5BEA5818A8B2}"/>
              </a:ext>
            </a:extLst>
          </p:cNvPr>
          <p:cNvSpPr>
            <a:spLocks xmlns:a="http://schemas.openxmlformats.org/drawingml/2006/main" noGrp="1"/>
          </p:cNvSpPr>
          <p:nvPr/>
        </p:nvSpPr>
        <p:spPr>
          <a:xfrm xmlns:a="http://schemas.openxmlformats.org/drawingml/2006/main">
            <a:off x="457200" y="731520"/>
            <a:ext cx="5028840" cy="11883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100" b="1" u="none">
                <a:solidFill>
                  <a:srgbClr val="003C54"/>
                </a:solidFill>
                <a:latin typeface="Calibri"/>
                <a:ea typeface="Calibri"/>
                <a:cs typeface="Calibri"/>
              </a:rPr>
              <a:t>Supported operations include filtering, projection, joins &amp; aggregations.</a:t>
            </a:r>
          </a:p>
          <a:p xmlns:a="http://schemas.openxmlformats.org/drawingml/2006/main">
            <a:r>
              <a:rPr sz="1000" b="0" u="none">
                <a:solidFill>
                  <a:srgbClr val="003C54"/>
                </a:solidFill>
                <a:latin typeface="Calibri"/>
                <a:ea typeface="Calibri"/>
                <a:cs typeface="Calibri"/>
              </a:rPr>
              <a:t>Windowing allows grouping by time intervals: tumbling, hopping &amp; session windows.</a:t>
            </a:r>
          </a:p>
          <a:p xmlns:a="http://schemas.openxmlformats.org/drawingml/2006/main">
            <a:pPr>
              <a:lnSpc>
                <a:spcPct val="100000"/>
              </a:lnSpc>
              <a:buNone/>
            </a:pPr>
            <a:r>
              <a:rPr sz="1000" b="0" u="none">
                <a:solidFill>
                  <a:srgbClr val="003C54"/>
                </a:solidFill>
                <a:latin typeface="Calibri"/>
                <a:ea typeface="Calibri"/>
                <a:cs typeface="Calibri"/>
              </a:rPr>
              <a:t>SQL dramatically simplifies stream processing compared to writing code.</a:t>
            </a:r>
          </a:p>
        </p:txBody>
      </p:sp>
      <p:sp>
        <p:nvSpPr>
          <p:cNvPr id="186" name="Shape 3">
            <a:extLst xmlns:a="http://schemas.openxmlformats.org/drawingml/2006/main">
              <a:ext uri="{FF2B5EF4-FFF2-40B4-BE49-F238E27FC236}">
                <a16:creationId xmlns:a16="http://schemas.microsoft.com/office/drawing/2014/main" id="{E3CDE975-16F7-4FAC-9B0D-24E6AAFE3C00}"/>
              </a:ext>
            </a:extLst>
          </p:cNvPr>
          <p:cNvSpPr>
            <a:spLocks xmlns:a="http://schemas.openxmlformats.org/drawingml/2006/main" noGrp="1"/>
          </p:cNvSpPr>
          <p:nvPr/>
        </p:nvSpPr>
        <p:spPr>
          <a:xfrm xmlns:a="http://schemas.openxmlformats.org/drawingml/2006/main">
            <a:off x="5495400" y="236880"/>
            <a:ext cx="3108600" cy="2607120"/>
          </a:xfrm>
          <a:prstGeom xmlns:a="http://schemas.openxmlformats.org/drawingml/2006/main" prst="roundRect">
            <a:avLst>
              <a:gd name="adj" fmla="val 3125"/>
            </a:avLst>
          </a:prstGeom>
          <a:solidFill xmlns:a="http://schemas.openxmlformats.org/drawingml/2006/main">
            <a:srgbClr val="F5F5F5"/>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87" name="Text 4">
            <a:extLst xmlns:a="http://schemas.openxmlformats.org/drawingml/2006/main">
              <a:ext uri="{FF2B5EF4-FFF2-40B4-BE49-F238E27FC236}">
                <a16:creationId xmlns:a16="http://schemas.microsoft.com/office/drawing/2014/main" id="{DC40F4C0-D19E-4983-BC82-76236DF221E3}"/>
              </a:ext>
            </a:extLst>
          </p:cNvPr>
          <p:cNvSpPr>
            <a:spLocks xmlns:a="http://schemas.openxmlformats.org/drawingml/2006/main" noGrp="1"/>
          </p:cNvSpPr>
          <p:nvPr/>
        </p:nvSpPr>
        <p:spPr>
          <a:xfrm xmlns:a="http://schemas.openxmlformats.org/drawingml/2006/main">
            <a:off x="5623560" y="749880"/>
            <a:ext cx="3017160" cy="1425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440" tIns="1440" rIns="1440" bIns="1440" anchor="ctr">
            <a:noAutofit/>
          </a:bodyPr>
          <a:lstStyle xmlns:a="http://schemas.openxmlformats.org/drawingml/2006/main"/>
          <a:p xmlns:a="http://schemas.openxmlformats.org/drawingml/2006/main">
            <a:pPr>
              <a:lnSpc>
                <a:spcPct val="100000"/>
              </a:lnSpc>
              <a:buNone/>
            </a:pPr>
            <a:r>
              <a:rPr sz="1000" b="0" u="none">
                <a:solidFill>
                  <a:srgbClr val="0000FF"/>
                </a:solidFill>
                <a:latin typeface="Consolas"/>
                <a:ea typeface="Consolas"/>
                <a:cs typeface="Consolas"/>
              </a:rPr>
              <a:t>CREATE</a:t>
            </a:r>
            <a:r>
              <a:rPr sz="1000" b="0" u="none">
                <a:solidFill>
                  <a:srgbClr val="000000"/>
                </a:solidFill>
                <a:latin typeface="Consolas"/>
                <a:ea typeface="Consolas"/>
                <a:cs typeface="Consolas"/>
              </a:rPr>
              <a:t> </a:t>
            </a:r>
            <a:r>
              <a:rPr sz="1000" b="0" u="none">
                <a:solidFill>
                  <a:srgbClr val="0000FF"/>
                </a:solidFill>
                <a:latin typeface="Consolas"/>
                <a:ea typeface="Consolas"/>
                <a:cs typeface="Consolas"/>
              </a:rPr>
              <a:t>TABLE</a:t>
            </a:r>
            <a:r>
              <a:rPr sz="1000" b="0" u="none">
                <a:solidFill>
                  <a:srgbClr val="000000"/>
                </a:solidFill>
                <a:latin typeface="Consolas"/>
                <a:ea typeface="Consolas"/>
                <a:cs typeface="Consolas"/>
              </a:rPr>
              <a:t> page_view_counts </a:t>
            </a:r>
            <a:r>
              <a:rPr sz="1000" b="0" u="none">
                <a:solidFill>
                  <a:srgbClr val="0000FF"/>
                </a:solidFill>
                <a:latin typeface="Consolas"/>
                <a:ea typeface="Consolas"/>
                <a:cs typeface="Consolas"/>
              </a:rPr>
              <a:t>AS</a:t>
            </a:r>
          </a:p>
          <a:p xmlns:a="http://schemas.openxmlformats.org/drawingml/2006/main">
            <a:pPr>
              <a:lnSpc>
                <a:spcPct val="100000"/>
              </a:lnSpc>
              <a:buNone/>
            </a:pPr>
            <a:r>
              <a:rPr sz="1000" b="0" u="none">
                <a:solidFill>
                  <a:srgbClr val="000000"/>
                </a:solidFill>
                <a:latin typeface="Consolas"/>
                <a:ea typeface="Consolas"/>
                <a:cs typeface="Consolas"/>
              </a:rPr>
              <a:t>  </a:t>
            </a:r>
          </a:p>
          <a:p xmlns:a="http://schemas.openxmlformats.org/drawingml/2006/main">
            <a:pPr>
              <a:lnSpc>
                <a:spcPct val="100000"/>
              </a:lnSpc>
              <a:buNone/>
            </a:pPr>
            <a:r>
              <a:rPr sz="1000" b="0" u="none">
                <a:solidFill>
                  <a:srgbClr val="0000FF"/>
                </a:solidFill>
                <a:latin typeface="Consolas"/>
                <a:ea typeface="Consolas"/>
                <a:cs typeface="Consolas"/>
              </a:rPr>
              <a:t>SELECT</a:t>
            </a:r>
            <a:r>
              <a:rPr sz="1000" b="0" u="none">
                <a:solidFill>
                  <a:srgbClr val="000000"/>
                </a:solidFill>
                <a:latin typeface="Consolas"/>
                <a:ea typeface="Consolas"/>
                <a:cs typeface="Consolas"/>
              </a:rPr>
              <a:t> page_url, </a:t>
            </a:r>
            <a:r>
              <a:rPr sz="1000" b="0" u="none">
                <a:solidFill>
                  <a:srgbClr val="795E26"/>
                </a:solidFill>
                <a:latin typeface="Consolas"/>
                <a:ea typeface="Consolas"/>
                <a:cs typeface="Consolas"/>
              </a:rPr>
              <a:t>COUNT</a:t>
            </a:r>
            <a:r>
              <a:rPr sz="1000" b="0" u="none">
                <a:solidFill>
                  <a:srgbClr val="000000"/>
                </a:solidFill>
                <a:latin typeface="Consolas"/>
                <a:ea typeface="Consolas"/>
                <a:cs typeface="Consolas"/>
              </a:rPr>
              <a:t>(*) </a:t>
            </a:r>
            <a:r>
              <a:rPr sz="1000" b="0" u="none">
                <a:solidFill>
                  <a:srgbClr val="0000FF"/>
                </a:solidFill>
                <a:latin typeface="Consolas"/>
                <a:ea typeface="Consolas"/>
                <a:cs typeface="Consolas"/>
              </a:rPr>
              <a:t>AS</a:t>
            </a:r>
            <a:r>
              <a:rPr sz="1000" b="0" u="none">
                <a:solidFill>
                  <a:srgbClr val="000000"/>
                </a:solidFill>
                <a:latin typeface="Consolas"/>
                <a:ea typeface="Consolas"/>
                <a:cs typeface="Consolas"/>
              </a:rPr>
              <a:t> view_count,</a:t>
            </a:r>
          </a:p>
          <a:p xmlns:a="http://schemas.openxmlformats.org/drawingml/2006/main">
            <a:pPr>
              <a:lnSpc>
                <a:spcPct val="100000"/>
              </a:lnSpc>
              <a:buNone/>
            </a:pPr>
            <a:r>
              <a:rPr sz="1000" b="0" u="none">
                <a:solidFill>
                  <a:srgbClr val="000000"/>
                </a:solidFill>
                <a:latin typeface="Consolas"/>
                <a:ea typeface="Consolas"/>
                <a:cs typeface="Consolas"/>
              </a:rPr>
              <a:t>         WINDOWSTART </a:t>
            </a:r>
          </a:p>
          <a:p xmlns:a="http://schemas.openxmlformats.org/drawingml/2006/main">
            <a:pPr>
              <a:lnSpc>
                <a:spcPct val="100000"/>
              </a:lnSpc>
              <a:buNone/>
            </a:pPr>
            <a:r>
              <a:rPr sz="1000" b="0" u="none">
                <a:solidFill>
                  <a:srgbClr val="0000FF"/>
                </a:solidFill>
                <a:latin typeface="Consolas"/>
                <a:ea typeface="Consolas"/>
                <a:cs typeface="Consolas"/>
              </a:rPr>
              <a:t>AS</a:t>
            </a:r>
            <a:r>
              <a:rPr sz="1000" b="0" u="none">
                <a:solidFill>
                  <a:srgbClr val="000000"/>
                </a:solidFill>
                <a:latin typeface="Consolas"/>
                <a:ea typeface="Consolas"/>
                <a:cs typeface="Consolas"/>
              </a:rPr>
              <a:t> window_start,</a:t>
            </a:r>
          </a:p>
          <a:p xmlns:a="http://schemas.openxmlformats.org/drawingml/2006/main">
            <a:pPr>
              <a:lnSpc>
                <a:spcPct val="100000"/>
              </a:lnSpc>
              <a:buNone/>
            </a:pPr>
            <a:r>
              <a:rPr sz="1000" b="0" u="none">
                <a:solidFill>
                  <a:srgbClr val="000000"/>
                </a:solidFill>
                <a:latin typeface="Consolas"/>
                <a:ea typeface="Consolas"/>
                <a:cs typeface="Consolas"/>
              </a:rPr>
              <a:t>         WINDOWEND </a:t>
            </a:r>
          </a:p>
          <a:p xmlns:a="http://schemas.openxmlformats.org/drawingml/2006/main">
            <a:pPr>
              <a:lnSpc>
                <a:spcPct val="100000"/>
              </a:lnSpc>
              <a:buNone/>
            </a:pPr>
            <a:r>
              <a:rPr sz="1000" b="0" u="none">
                <a:solidFill>
                  <a:srgbClr val="0000FF"/>
                </a:solidFill>
                <a:latin typeface="Consolas"/>
                <a:ea typeface="Consolas"/>
                <a:cs typeface="Consolas"/>
              </a:rPr>
              <a:t>AS</a:t>
            </a:r>
            <a:r>
              <a:rPr sz="1000" b="0" u="none">
                <a:solidFill>
                  <a:srgbClr val="000000"/>
                </a:solidFill>
                <a:latin typeface="Consolas"/>
                <a:ea typeface="Consolas"/>
                <a:cs typeface="Consolas"/>
              </a:rPr>
              <a:t> window_end</a:t>
            </a:r>
          </a:p>
          <a:p xmlns:a="http://schemas.openxmlformats.org/drawingml/2006/main">
            <a:pPr>
              <a:lnSpc>
                <a:spcPct val="100000"/>
              </a:lnSpc>
              <a:buNone/>
            </a:pPr>
            <a:r>
              <a:rPr sz="1000" b="0" u="none">
                <a:solidFill>
                  <a:srgbClr val="000000"/>
                </a:solidFill>
                <a:latin typeface="Consolas"/>
                <a:ea typeface="Consolas"/>
                <a:cs typeface="Consolas"/>
              </a:rPr>
              <a:t>  </a:t>
            </a:r>
          </a:p>
          <a:p xmlns:a="http://schemas.openxmlformats.org/drawingml/2006/main">
            <a:pPr>
              <a:lnSpc>
                <a:spcPct val="100000"/>
              </a:lnSpc>
              <a:buNone/>
            </a:pPr>
            <a:r>
              <a:rPr sz="1000" b="0" u="none">
                <a:solidFill>
                  <a:srgbClr val="0000FF"/>
                </a:solidFill>
                <a:latin typeface="Consolas"/>
                <a:ea typeface="Consolas"/>
                <a:cs typeface="Consolas"/>
              </a:rPr>
              <a:t>FROM</a:t>
            </a:r>
            <a:r>
              <a:rPr sz="1000" b="0" u="none">
                <a:solidFill>
                  <a:srgbClr val="000000"/>
                </a:solidFill>
                <a:latin typeface="Consolas"/>
                <a:ea typeface="Consolas"/>
                <a:cs typeface="Consolas"/>
              </a:rPr>
              <a:t> page_views</a:t>
            </a:r>
          </a:p>
          <a:p xmlns:a="http://schemas.openxmlformats.org/drawingml/2006/main">
            <a:pPr>
              <a:lnSpc>
                <a:spcPct val="100000"/>
              </a:lnSpc>
              <a:buNone/>
            </a:pPr>
            <a:r>
              <a:rPr sz="1000" b="0" u="none">
                <a:solidFill>
                  <a:srgbClr val="000000"/>
                </a:solidFill>
                <a:latin typeface="Consolas"/>
                <a:ea typeface="Consolas"/>
                <a:cs typeface="Consolas"/>
              </a:rPr>
              <a:t>  WINDOW TUMBLING </a:t>
            </a:r>
          </a:p>
          <a:p xmlns:a="http://schemas.openxmlformats.org/drawingml/2006/main">
            <a:pPr>
              <a:lnSpc>
                <a:spcPct val="100000"/>
              </a:lnSpc>
              <a:buNone/>
            </a:pPr>
            <a:r>
              <a:rPr sz="1000" b="0" u="none">
                <a:solidFill>
                  <a:srgbClr val="000000"/>
                </a:solidFill>
                <a:latin typeface="Consolas"/>
                <a:ea typeface="Consolas"/>
                <a:cs typeface="Consolas"/>
              </a:rPr>
              <a:t>(SIZE </a:t>
            </a:r>
            <a:r>
              <a:rPr sz="1000" b="0" u="none">
                <a:solidFill>
                  <a:srgbClr val="098658"/>
                </a:solidFill>
                <a:latin typeface="Consolas"/>
                <a:ea typeface="Consolas"/>
                <a:cs typeface="Consolas"/>
              </a:rPr>
              <a:t>1</a:t>
            </a:r>
            <a:r>
              <a:rPr sz="1000" b="0" u="none">
                <a:solidFill>
                  <a:srgbClr val="000000"/>
                </a:solidFill>
                <a:latin typeface="Consolas"/>
                <a:ea typeface="Consolas"/>
                <a:cs typeface="Consolas"/>
              </a:rPr>
              <a:t> </a:t>
            </a:r>
            <a:r>
              <a:rPr sz="1000" b="0" u="none">
                <a:solidFill>
                  <a:srgbClr val="0000FF"/>
                </a:solidFill>
                <a:latin typeface="Consolas"/>
                <a:ea typeface="Consolas"/>
                <a:cs typeface="Consolas"/>
              </a:rPr>
              <a:t>HOUR</a:t>
            </a:r>
            <a:r>
              <a:rPr sz="1000" b="0" u="none">
                <a:solidFill>
                  <a:srgbClr val="000000"/>
                </a:solidFill>
                <a:latin typeface="Consolas"/>
                <a:ea typeface="Consolas"/>
                <a:cs typeface="Consolas"/>
              </a:rPr>
              <a:t>)</a:t>
            </a:r>
          </a:p>
          <a:p xmlns:a="http://schemas.openxmlformats.org/drawingml/2006/main">
            <a:pPr>
              <a:lnSpc>
                <a:spcPct val="100000"/>
              </a:lnSpc>
              <a:buNone/>
            </a:pPr>
            <a:r>
              <a:rPr sz="1000" b="0" u="none">
                <a:solidFill>
                  <a:srgbClr val="000000"/>
                </a:solidFill>
                <a:latin typeface="Consolas"/>
                <a:ea typeface="Consolas"/>
                <a:cs typeface="Consolas"/>
              </a:rPr>
              <a:t>  </a:t>
            </a:r>
          </a:p>
          <a:p xmlns:a="http://schemas.openxmlformats.org/drawingml/2006/main">
            <a:pPr>
              <a:lnSpc>
                <a:spcPct val="100000"/>
              </a:lnSpc>
              <a:buNone/>
            </a:pPr>
            <a:r>
              <a:rPr sz="1000" b="0" u="none">
                <a:solidFill>
                  <a:srgbClr val="0000FF"/>
                </a:solidFill>
                <a:latin typeface="Consolas"/>
                <a:ea typeface="Consolas"/>
                <a:cs typeface="Consolas"/>
              </a:rPr>
              <a:t>GROUP</a:t>
            </a:r>
            <a:r>
              <a:rPr sz="1000" b="0" u="none">
                <a:solidFill>
                  <a:srgbClr val="000000"/>
                </a:solidFill>
                <a:latin typeface="Consolas"/>
                <a:ea typeface="Consolas"/>
                <a:cs typeface="Consolas"/>
              </a:rPr>
              <a:t> </a:t>
            </a:r>
            <a:r>
              <a:rPr sz="1000" b="0" u="none">
                <a:solidFill>
                  <a:srgbClr val="0000FF"/>
                </a:solidFill>
                <a:latin typeface="Consolas"/>
                <a:ea typeface="Consolas"/>
                <a:cs typeface="Consolas"/>
              </a:rPr>
              <a:t>BY</a:t>
            </a:r>
            <a:r>
              <a:rPr sz="1000" b="0" u="none">
                <a:solidFill>
                  <a:srgbClr val="000000"/>
                </a:solidFill>
                <a:latin typeface="Consolas"/>
                <a:ea typeface="Consolas"/>
                <a:cs typeface="Consolas"/>
              </a:rPr>
              <a:t> page_url</a:t>
            </a:r>
          </a:p>
          <a:p xmlns:a="http://schemas.openxmlformats.org/drawingml/2006/main">
            <a:pPr>
              <a:lnSpc>
                <a:spcPct val="100000"/>
              </a:lnSpc>
              <a:buNone/>
            </a:pPr>
            <a:r>
              <a:rPr sz="1000" b="0" u="none">
                <a:solidFill>
                  <a:srgbClr val="000000"/>
                </a:solidFill>
                <a:latin typeface="Consolas"/>
                <a:ea typeface="Consolas"/>
                <a:cs typeface="Consolas"/>
              </a:rPr>
              <a:t>  EMIT CHANGES</a:t>
            </a:r>
          </a:p>
          <a:p xmlns:a="http://schemas.openxmlformats.org/drawingml/2006/main">
            <a:pPr>
              <a:lnSpc>
                <a:spcPct val="100000"/>
              </a:lnSpc>
              <a:buNone/>
            </a:pPr>
            <a:r>
              <a:rPr sz="1000" b="0" u="none">
                <a:solidFill>
                  <a:srgbClr val="000000"/>
                </a:solidFill>
                <a:latin typeface="Consolas"/>
                <a:ea typeface="Consolas"/>
                <a:cs typeface="Consolas"/>
              </a:rPr>
              <a:t>;</a:t>
            </a:r>
          </a:p>
        </p:txBody>
      </p:sp>
      <p:sp>
        <p:nvSpPr>
          <p:cNvPr id="188" name="Text 5">
            <a:extLst xmlns:a="http://schemas.openxmlformats.org/drawingml/2006/main">
              <a:ext uri="{FF2B5EF4-FFF2-40B4-BE49-F238E27FC236}">
                <a16:creationId xmlns:a16="http://schemas.microsoft.com/office/drawing/2014/main" id="{8E6010A2-18E8-48B6-BF43-8C68C8EF026A}"/>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2eb817e5c7ba4610"/>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7d3aacb969934956"/>
              </a:rPr>
              <a:t>[2]</a:t>
            </a:r>
          </a:p>
        </p:txBody>
      </p:sp>
    </p:spTree>
    <p:extLst>
      <p:ext uri="{BB962C8B-B14F-4D97-AF65-F5344CB8AC3E}">
        <p14:creationId xmlns:p14="http://schemas.microsoft.com/office/powerpoint/2010/main" val="182957937"/>
      </p:ext>
    </p:extLst>
  </p:cSld>
</p:sld>
</file>

<file path=ppt/slides/slide11.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189" name="Shape 0">
            <a:extLst xmlns:a="http://schemas.openxmlformats.org/drawingml/2006/main">
              <a:ext uri="{FF2B5EF4-FFF2-40B4-BE49-F238E27FC236}">
                <a16:creationId xmlns:a16="http://schemas.microsoft.com/office/drawing/2014/main" id="{2DFCFF8D-2AFE-40F9-BE3E-0B8469590D05}"/>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90" name="Text 1">
            <a:extLst xmlns:a="http://schemas.openxmlformats.org/drawingml/2006/main">
              <a:ext uri="{FF2B5EF4-FFF2-40B4-BE49-F238E27FC236}">
                <a16:creationId xmlns:a16="http://schemas.microsoft.com/office/drawing/2014/main" id="{98A89766-B003-4C43-AFFB-2025468FA3A6}"/>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Stream‑Table Joins &amp; Enrichment</a:t>
            </a:r>
          </a:p>
        </p:txBody>
      </p:sp>
      <p:sp>
        <p:nvSpPr>
          <p:cNvPr id="191" name="Text 2">
            <a:extLst xmlns:a="http://schemas.openxmlformats.org/drawingml/2006/main">
              <a:ext uri="{FF2B5EF4-FFF2-40B4-BE49-F238E27FC236}">
                <a16:creationId xmlns:a16="http://schemas.microsoft.com/office/drawing/2014/main" id="{AF142E54-0BE3-4686-ACF2-1E41587D5C1E}"/>
              </a:ext>
            </a:extLst>
          </p:cNvPr>
          <p:cNvSpPr>
            <a:spLocks xmlns:a="http://schemas.openxmlformats.org/drawingml/2006/main" noGrp="1"/>
          </p:cNvSpPr>
          <p:nvPr/>
        </p:nvSpPr>
        <p:spPr>
          <a:xfrm xmlns:a="http://schemas.openxmlformats.org/drawingml/2006/main">
            <a:off x="457200" y="731520"/>
            <a:ext cx="4114440" cy="1371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100" b="1" u="none">
                <a:solidFill>
                  <a:srgbClr val="003C54"/>
                </a:solidFill>
                <a:latin typeface="Calibri"/>
                <a:ea typeface="Calibri"/>
                <a:cs typeface="Calibri"/>
              </a:rPr>
              <a:t>• Join streams with tables to enrich events</a:t>
            </a:r>
          </a:p>
          <a:p xmlns:a="http://schemas.openxmlformats.org/drawingml/2006/main">
            <a:r>
              <a:rPr sz="1000" b="0" u="none">
                <a:solidFill>
                  <a:srgbClr val="003C54"/>
                </a:solidFill>
                <a:latin typeface="Calibri"/>
                <a:ea typeface="Calibri"/>
                <a:cs typeface="Calibri"/>
              </a:rPr>
              <a:t>• Tables provide lookup/reference data (e.g., user profiles, accounts)</a:t>
            </a:r>
          </a:p>
          <a:p xmlns:a="http://schemas.openxmlformats.org/drawingml/2006/main">
            <a:r>
              <a:rPr sz="1000" b="0" u="none">
                <a:solidFill>
                  <a:srgbClr val="003C54"/>
                </a:solidFill>
                <a:latin typeface="Calibri"/>
                <a:ea typeface="Calibri"/>
                <a:cs typeface="Calibri"/>
              </a:rPr>
              <a:t>• Supports inner, left &amp; outer joins; equi-join on key columns</a:t>
            </a:r>
          </a:p>
          <a:p xmlns:a="http://schemas.openxmlformats.org/drawingml/2006/main">
            <a:pPr>
              <a:lnSpc>
                <a:spcPct val="100000"/>
              </a:lnSpc>
              <a:buNone/>
            </a:pPr>
            <a:r>
              <a:rPr sz="1000" b="0" u="none">
                <a:solidFill>
                  <a:srgbClr val="003C54"/>
                </a:solidFill>
                <a:latin typeface="Calibri"/>
                <a:ea typeface="Calibri"/>
                <a:cs typeface="Calibri"/>
              </a:rPr>
              <a:t>• Great for fraud detection, anomaly enrichment &amp; personalization</a:t>
            </a:r>
          </a:p>
        </p:txBody>
      </p:sp>
      <p:sp>
        <p:nvSpPr>
          <p:cNvPr id="192" name="Shape 3">
            <a:extLst xmlns:a="http://schemas.openxmlformats.org/drawingml/2006/main">
              <a:ext uri="{FF2B5EF4-FFF2-40B4-BE49-F238E27FC236}">
                <a16:creationId xmlns:a16="http://schemas.microsoft.com/office/drawing/2014/main" id="{C5429E05-FFD6-48A9-9A47-64EF7884AED4}"/>
              </a:ext>
            </a:extLst>
          </p:cNvPr>
          <p:cNvSpPr>
            <a:spLocks xmlns:a="http://schemas.openxmlformats.org/drawingml/2006/main" noGrp="1"/>
          </p:cNvSpPr>
          <p:nvPr/>
        </p:nvSpPr>
        <p:spPr>
          <a:xfrm xmlns:a="http://schemas.openxmlformats.org/drawingml/2006/main">
            <a:off x="4754880" y="360000"/>
            <a:ext cx="3931560" cy="2160000"/>
          </a:xfrm>
          <a:prstGeom xmlns:a="http://schemas.openxmlformats.org/drawingml/2006/main" prst="roundRect">
            <a:avLst>
              <a:gd name="adj" fmla="val 3333"/>
            </a:avLst>
          </a:prstGeom>
          <a:solidFill xmlns:a="http://schemas.openxmlformats.org/drawingml/2006/main">
            <a:srgbClr val="F5F5F5"/>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93" name="Text 4">
            <a:extLst xmlns:a="http://schemas.openxmlformats.org/drawingml/2006/main">
              <a:ext uri="{FF2B5EF4-FFF2-40B4-BE49-F238E27FC236}">
                <a16:creationId xmlns:a16="http://schemas.microsoft.com/office/drawing/2014/main" id="{074C071D-5AB2-42C6-A7B0-93BE779F03FD}"/>
              </a:ext>
            </a:extLst>
          </p:cNvPr>
          <p:cNvSpPr>
            <a:spLocks xmlns:a="http://schemas.openxmlformats.org/drawingml/2006/main" noGrp="1"/>
          </p:cNvSpPr>
          <p:nvPr/>
        </p:nvSpPr>
        <p:spPr>
          <a:xfrm xmlns:a="http://schemas.openxmlformats.org/drawingml/2006/main">
            <a:off x="4800600" y="749880"/>
            <a:ext cx="3840120" cy="1334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440" tIns="1440" rIns="1440" bIns="1440" anchor="ctr">
            <a:noAutofit/>
          </a:bodyPr>
          <a:lstStyle xmlns:a="http://schemas.openxmlformats.org/drawingml/2006/main"/>
          <a:p xmlns:a="http://schemas.openxmlformats.org/drawingml/2006/main">
            <a:pPr>
              <a:lnSpc>
                <a:spcPct val="100000"/>
              </a:lnSpc>
              <a:buNone/>
            </a:pPr>
            <a:r>
              <a:rPr sz="1000" b="0" u="none">
                <a:solidFill>
                  <a:srgbClr val="0000FF"/>
                </a:solidFill>
                <a:latin typeface="Consolas"/>
                <a:ea typeface="Consolas"/>
                <a:cs typeface="Consolas"/>
              </a:rPr>
              <a:t>CREATE</a:t>
            </a:r>
            <a:r>
              <a:rPr sz="1000" b="0" u="none">
                <a:solidFill>
                  <a:srgbClr val="000000"/>
                </a:solidFill>
                <a:latin typeface="Consolas"/>
                <a:ea typeface="Consolas"/>
                <a:cs typeface="Consolas"/>
              </a:rPr>
              <a:t> STREAM suspicious_transactions </a:t>
            </a:r>
            <a:r>
              <a:rPr sz="1000" b="0" u="none">
                <a:solidFill>
                  <a:srgbClr val="0000FF"/>
                </a:solidFill>
                <a:latin typeface="Consolas"/>
                <a:ea typeface="Consolas"/>
                <a:cs typeface="Consolas"/>
              </a:rPr>
              <a:t>AS</a:t>
            </a:r>
          </a:p>
          <a:p xmlns:a="http://schemas.openxmlformats.org/drawingml/2006/main">
            <a:pPr>
              <a:lnSpc>
                <a:spcPct val="100000"/>
              </a:lnSpc>
              <a:buNone/>
            </a:pPr>
            <a:r>
              <a:rPr sz="1000" b="0" u="none">
                <a:solidFill>
                  <a:srgbClr val="000000"/>
                </a:solidFill>
                <a:latin typeface="Consolas"/>
                <a:ea typeface="Consolas"/>
                <a:cs typeface="Consolas"/>
              </a:rPr>
              <a:t>  </a:t>
            </a:r>
          </a:p>
          <a:p xmlns:a="http://schemas.openxmlformats.org/drawingml/2006/main">
            <a:pPr>
              <a:lnSpc>
                <a:spcPct val="100000"/>
              </a:lnSpc>
              <a:buNone/>
            </a:pPr>
            <a:r>
              <a:rPr sz="1000" b="0" u="none">
                <a:solidFill>
                  <a:srgbClr val="0000FF"/>
                </a:solidFill>
                <a:latin typeface="Consolas"/>
                <a:ea typeface="Consolas"/>
                <a:cs typeface="Consolas"/>
              </a:rPr>
              <a:t>SELECT</a:t>
            </a:r>
            <a:r>
              <a:rPr sz="1000" b="0" u="none">
                <a:solidFill>
                  <a:srgbClr val="000000"/>
                </a:solidFill>
                <a:latin typeface="Consolas"/>
                <a:ea typeface="Consolas"/>
                <a:cs typeface="Consolas"/>
              </a:rPr>
              <a:t> t.transaction_id, t.amount, a.account_type, a.risk_score</a:t>
            </a:r>
          </a:p>
          <a:p xmlns:a="http://schemas.openxmlformats.org/drawingml/2006/main">
            <a:pPr>
              <a:lnSpc>
                <a:spcPct val="100000"/>
              </a:lnSpc>
              <a:buNone/>
            </a:pPr>
            <a:r>
              <a:rPr sz="1000" b="0" u="none">
                <a:solidFill>
                  <a:srgbClr val="000000"/>
                </a:solidFill>
                <a:latin typeface="Consolas"/>
                <a:ea typeface="Consolas"/>
                <a:cs typeface="Consolas"/>
              </a:rPr>
              <a:t>  </a:t>
            </a:r>
          </a:p>
          <a:p xmlns:a="http://schemas.openxmlformats.org/drawingml/2006/main">
            <a:pPr>
              <a:lnSpc>
                <a:spcPct val="100000"/>
              </a:lnSpc>
              <a:buNone/>
            </a:pPr>
            <a:r>
              <a:rPr sz="1000" b="0" u="none">
                <a:solidFill>
                  <a:srgbClr val="0000FF"/>
                </a:solidFill>
                <a:latin typeface="Consolas"/>
                <a:ea typeface="Consolas"/>
                <a:cs typeface="Consolas"/>
              </a:rPr>
              <a:t>FROM</a:t>
            </a:r>
            <a:r>
              <a:rPr sz="1000" b="0" u="none">
                <a:solidFill>
                  <a:srgbClr val="000000"/>
                </a:solidFill>
                <a:latin typeface="Consolas"/>
                <a:ea typeface="Consolas"/>
                <a:cs typeface="Consolas"/>
              </a:rPr>
              <a:t> </a:t>
            </a:r>
            <a:r>
              <a:rPr sz="1000" b="0" u="none">
                <a:solidFill>
                  <a:srgbClr val="0000FF"/>
                </a:solidFill>
                <a:latin typeface="Consolas"/>
                <a:ea typeface="Consolas"/>
                <a:cs typeface="Consolas"/>
              </a:rPr>
              <a:t>transactions</a:t>
            </a:r>
            <a:r>
              <a:rPr sz="1000" b="0" u="none">
                <a:solidFill>
                  <a:srgbClr val="000000"/>
                </a:solidFill>
                <a:latin typeface="Consolas"/>
                <a:ea typeface="Consolas"/>
                <a:cs typeface="Consolas"/>
              </a:rPr>
              <a:t> t</a:t>
            </a:r>
          </a:p>
          <a:p xmlns:a="http://schemas.openxmlformats.org/drawingml/2006/main">
            <a:pPr>
              <a:lnSpc>
                <a:spcPct val="100000"/>
              </a:lnSpc>
              <a:buNone/>
            </a:pPr>
            <a:r>
              <a:rPr sz="1000" b="0" u="none">
                <a:solidFill>
                  <a:srgbClr val="000000"/>
                </a:solidFill>
                <a:latin typeface="Consolas"/>
                <a:ea typeface="Consolas"/>
                <a:cs typeface="Consolas"/>
              </a:rPr>
              <a:t>  </a:t>
            </a:r>
          </a:p>
          <a:p xmlns:a="http://schemas.openxmlformats.org/drawingml/2006/main">
            <a:pPr>
              <a:lnSpc>
                <a:spcPct val="100000"/>
              </a:lnSpc>
              <a:buNone/>
            </a:pPr>
            <a:r>
              <a:rPr sz="1000" b="0" u="none">
                <a:solidFill>
                  <a:srgbClr val="0000FF"/>
                </a:solidFill>
                <a:latin typeface="Consolas"/>
                <a:ea typeface="Consolas"/>
                <a:cs typeface="Consolas"/>
              </a:rPr>
              <a:t>LEFT</a:t>
            </a:r>
            <a:r>
              <a:rPr sz="1000" b="0" u="none">
                <a:solidFill>
                  <a:srgbClr val="000000"/>
                </a:solidFill>
                <a:latin typeface="Consolas"/>
                <a:ea typeface="Consolas"/>
                <a:cs typeface="Consolas"/>
              </a:rPr>
              <a:t> </a:t>
            </a:r>
            <a:r>
              <a:rPr sz="1000" b="0" u="none">
                <a:solidFill>
                  <a:srgbClr val="0000FF"/>
                </a:solidFill>
                <a:latin typeface="Consolas"/>
                <a:ea typeface="Consolas"/>
                <a:cs typeface="Consolas"/>
              </a:rPr>
              <a:t>JOIN</a:t>
            </a:r>
            <a:r>
              <a:rPr sz="1000" b="0" u="none">
                <a:solidFill>
                  <a:srgbClr val="000000"/>
                </a:solidFill>
                <a:latin typeface="Consolas"/>
                <a:ea typeface="Consolas"/>
                <a:cs typeface="Consolas"/>
              </a:rPr>
              <a:t> accounts a</a:t>
            </a:r>
          </a:p>
          <a:p xmlns:a="http://schemas.openxmlformats.org/drawingml/2006/main">
            <a:pPr>
              <a:lnSpc>
                <a:spcPct val="100000"/>
              </a:lnSpc>
              <a:buNone/>
            </a:pPr>
            <a:r>
              <a:rPr sz="1000" b="0" u="none">
                <a:solidFill>
                  <a:srgbClr val="000000"/>
                </a:solidFill>
                <a:latin typeface="Consolas"/>
                <a:ea typeface="Consolas"/>
                <a:cs typeface="Consolas"/>
              </a:rPr>
              <a:t>    </a:t>
            </a:r>
          </a:p>
          <a:p xmlns:a="http://schemas.openxmlformats.org/drawingml/2006/main">
            <a:pPr>
              <a:lnSpc>
                <a:spcPct val="100000"/>
              </a:lnSpc>
              <a:buNone/>
            </a:pPr>
            <a:r>
              <a:rPr sz="1000" b="0" u="none">
                <a:solidFill>
                  <a:srgbClr val="0000FF"/>
                </a:solidFill>
                <a:latin typeface="Consolas"/>
                <a:ea typeface="Consolas"/>
                <a:cs typeface="Consolas"/>
              </a:rPr>
              <a:t>ON</a:t>
            </a:r>
            <a:r>
              <a:rPr sz="1000" b="0" u="none">
                <a:solidFill>
                  <a:srgbClr val="000000"/>
                </a:solidFill>
                <a:latin typeface="Consolas"/>
                <a:ea typeface="Consolas"/>
                <a:cs typeface="Consolas"/>
              </a:rPr>
              <a:t> t.account_id = a.account_id</a:t>
            </a:r>
          </a:p>
          <a:p xmlns:a="http://schemas.openxmlformats.org/drawingml/2006/main">
            <a:pPr>
              <a:lnSpc>
                <a:spcPct val="100000"/>
              </a:lnSpc>
              <a:buNone/>
            </a:pPr>
            <a:r>
              <a:rPr sz="1000" b="0" u="none">
                <a:solidFill>
                  <a:srgbClr val="000000"/>
                </a:solidFill>
                <a:latin typeface="Consolas"/>
                <a:ea typeface="Consolas"/>
                <a:cs typeface="Consolas"/>
              </a:rPr>
              <a:t>  </a:t>
            </a:r>
          </a:p>
          <a:p xmlns:a="http://schemas.openxmlformats.org/drawingml/2006/main">
            <a:pPr>
              <a:lnSpc>
                <a:spcPct val="100000"/>
              </a:lnSpc>
              <a:buNone/>
            </a:pPr>
            <a:r>
              <a:rPr sz="1000" b="0" u="none">
                <a:solidFill>
                  <a:srgbClr val="0000FF"/>
                </a:solidFill>
                <a:latin typeface="Consolas"/>
                <a:ea typeface="Consolas"/>
                <a:cs typeface="Consolas"/>
              </a:rPr>
              <a:t>WHERE</a:t>
            </a:r>
            <a:r>
              <a:rPr sz="1000" b="0" u="none">
                <a:solidFill>
                  <a:srgbClr val="000000"/>
                </a:solidFill>
                <a:latin typeface="Consolas"/>
                <a:ea typeface="Consolas"/>
                <a:cs typeface="Consolas"/>
              </a:rPr>
              <a:t> t.amount &gt; </a:t>
            </a:r>
            <a:r>
              <a:rPr sz="1000" b="0" u="none">
                <a:solidFill>
                  <a:srgbClr val="098658"/>
                </a:solidFill>
                <a:latin typeface="Consolas"/>
                <a:ea typeface="Consolas"/>
                <a:cs typeface="Consolas"/>
              </a:rPr>
              <a:t>10000</a:t>
            </a:r>
            <a:r>
              <a:rPr sz="1000" b="0" u="none">
                <a:solidFill>
                  <a:srgbClr val="000000"/>
                </a:solidFill>
                <a:latin typeface="Consolas"/>
                <a:ea typeface="Consolas"/>
                <a:cs typeface="Consolas"/>
              </a:rPr>
              <a:t> OR a.risk_score &gt; </a:t>
            </a:r>
            <a:r>
              <a:rPr sz="1000" b="0" u="none">
                <a:solidFill>
                  <a:srgbClr val="098658"/>
                </a:solidFill>
                <a:latin typeface="Consolas"/>
                <a:ea typeface="Consolas"/>
                <a:cs typeface="Consolas"/>
              </a:rPr>
              <a:t>75</a:t>
            </a:r>
            <a:r>
              <a:rPr sz="1000" b="0" u="none">
                <a:solidFill>
                  <a:srgbClr val="000000"/>
                </a:solidFill>
                <a:latin typeface="Consolas"/>
                <a:ea typeface="Consolas"/>
                <a:cs typeface="Consolas"/>
              </a:rPr>
              <a:t>;</a:t>
            </a:r>
          </a:p>
        </p:txBody>
      </p:sp>
      <p:sp>
        <p:nvSpPr>
          <p:cNvPr id="194" name="Text 5">
            <a:extLst xmlns:a="http://schemas.openxmlformats.org/drawingml/2006/main">
              <a:ext uri="{FF2B5EF4-FFF2-40B4-BE49-F238E27FC236}">
                <a16:creationId xmlns:a16="http://schemas.microsoft.com/office/drawing/2014/main" id="{F974711D-C0BF-4A0E-8DA7-5E801DAB32A7}"/>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d504555cfb5a413f"/>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c41af834f4204762"/>
              </a:rPr>
              <a:t>[2]</a:t>
            </a:r>
          </a:p>
        </p:txBody>
      </p:sp>
    </p:spTree>
    <p:extLst>
      <p:ext uri="{BB962C8B-B14F-4D97-AF65-F5344CB8AC3E}">
        <p14:creationId xmlns:p14="http://schemas.microsoft.com/office/powerpoint/2010/main" val="1843652910"/>
      </p:ext>
    </p:extLst>
  </p:cSld>
</p:sld>
</file>

<file path=ppt/slides/slide12.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195" name="Shape 0">
            <a:extLst xmlns:a="http://schemas.openxmlformats.org/drawingml/2006/main">
              <a:ext uri="{FF2B5EF4-FFF2-40B4-BE49-F238E27FC236}">
                <a16:creationId xmlns:a16="http://schemas.microsoft.com/office/drawing/2014/main" id="{CA76C9BC-EDC6-4EFE-A4FE-6EF7D7E13696}"/>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96" name="Text 1">
            <a:extLst xmlns:a="http://schemas.openxmlformats.org/drawingml/2006/main">
              <a:ext uri="{FF2B5EF4-FFF2-40B4-BE49-F238E27FC236}">
                <a16:creationId xmlns:a16="http://schemas.microsoft.com/office/drawing/2014/main" id="{769BCCA6-296E-4B9C-A2CF-8EA065CFE253}"/>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Materialized Views &amp; Serving</a:t>
            </a:r>
          </a:p>
        </p:txBody>
      </p:sp>
      <p:sp>
        <p:nvSpPr>
          <p:cNvPr id="197" name="Text 2">
            <a:extLst xmlns:a="http://schemas.openxmlformats.org/drawingml/2006/main">
              <a:ext uri="{FF2B5EF4-FFF2-40B4-BE49-F238E27FC236}">
                <a16:creationId xmlns:a16="http://schemas.microsoft.com/office/drawing/2014/main" id="{930A6D8D-927C-43C4-996D-717E4F9452F7}"/>
              </a:ext>
            </a:extLst>
          </p:cNvPr>
          <p:cNvSpPr>
            <a:spLocks xmlns:a="http://schemas.openxmlformats.org/drawingml/2006/main" noGrp="1"/>
          </p:cNvSpPr>
          <p:nvPr/>
        </p:nvSpPr>
        <p:spPr>
          <a:xfrm xmlns:a="http://schemas.openxmlformats.org/drawingml/2006/main">
            <a:off x="457200" y="731520"/>
            <a:ext cx="5028840" cy="11883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100" b="1" u="none">
                <a:solidFill>
                  <a:srgbClr val="003C54"/>
                </a:solidFill>
                <a:latin typeface="Calibri"/>
                <a:ea typeface="Calibri"/>
                <a:cs typeface="Calibri"/>
              </a:rPr>
              <a:t>Materialized views are tables created by persistent queries.</a:t>
            </a:r>
          </a:p>
          <a:p xmlns:a="http://schemas.openxmlformats.org/drawingml/2006/main">
            <a:r>
              <a:rPr sz="1000" b="0" u="none">
                <a:solidFill>
                  <a:srgbClr val="003C54"/>
                </a:solidFill>
                <a:latin typeface="Calibri"/>
                <a:ea typeface="Calibri"/>
                <a:cs typeface="Calibri"/>
              </a:rPr>
              <a:t>They maintain aggregated state in memory and on disk via RocksDB &amp; changelog topics.</a:t>
            </a:r>
          </a:p>
          <a:p xmlns:a="http://schemas.openxmlformats.org/drawingml/2006/main">
            <a:pPr>
              <a:lnSpc>
                <a:spcPct val="100000"/>
              </a:lnSpc>
              <a:buNone/>
            </a:pPr>
            <a:r>
              <a:rPr sz="1000" b="0" u="none">
                <a:solidFill>
                  <a:srgbClr val="003C54"/>
                </a:solidFill>
                <a:latin typeface="Calibri"/>
                <a:ea typeface="Calibri"/>
                <a:cs typeface="Calibri"/>
              </a:rPr>
              <a:t>ksqlDB 0.29+ provides pull queries with high availability: standby replicas serve queries even if a node fails.</a:t>
            </a:r>
          </a:p>
        </p:txBody>
      </p:sp>
      <p:sp>
        <p:nvSpPr>
          <p:cNvPr id="198" name="Shape 3">
            <a:extLst xmlns:a="http://schemas.openxmlformats.org/drawingml/2006/main">
              <a:ext uri="{FF2B5EF4-FFF2-40B4-BE49-F238E27FC236}">
                <a16:creationId xmlns:a16="http://schemas.microsoft.com/office/drawing/2014/main" id="{DE2E0322-27B5-47B8-AD17-DA340C72610E}"/>
              </a:ext>
            </a:extLst>
          </p:cNvPr>
          <p:cNvSpPr>
            <a:spLocks xmlns:a="http://schemas.openxmlformats.org/drawingml/2006/main" noGrp="1"/>
          </p:cNvSpPr>
          <p:nvPr/>
        </p:nvSpPr>
        <p:spPr>
          <a:xfrm xmlns:a="http://schemas.openxmlformats.org/drawingml/2006/main">
            <a:off x="5760720" y="540000"/>
            <a:ext cx="3382920" cy="900000"/>
          </a:xfrm>
          <a:prstGeom xmlns:a="http://schemas.openxmlformats.org/drawingml/2006/main" prst="roundRect">
            <a:avLst>
              <a:gd name="adj" fmla="val 7143"/>
            </a:avLst>
          </a:prstGeom>
          <a:solidFill xmlns:a="http://schemas.openxmlformats.org/drawingml/2006/main">
            <a:srgbClr val="F5F5F5"/>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199" name="Text 4">
            <a:extLst xmlns:a="http://schemas.openxmlformats.org/drawingml/2006/main">
              <a:ext uri="{FF2B5EF4-FFF2-40B4-BE49-F238E27FC236}">
                <a16:creationId xmlns:a16="http://schemas.microsoft.com/office/drawing/2014/main" id="{BFF91152-54BB-4EA0-9D5B-4A373C66A011}"/>
              </a:ext>
            </a:extLst>
          </p:cNvPr>
          <p:cNvSpPr>
            <a:spLocks xmlns:a="http://schemas.openxmlformats.org/drawingml/2006/main" noGrp="1"/>
          </p:cNvSpPr>
          <p:nvPr/>
        </p:nvSpPr>
        <p:spPr>
          <a:xfrm xmlns:a="http://schemas.openxmlformats.org/drawingml/2006/main">
            <a:off x="5806440" y="749880"/>
            <a:ext cx="329148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720" tIns="720" rIns="720" bIns="720" anchor="ctr">
            <a:noAutofit/>
          </a:bodyPr>
          <a:lstStyle xmlns:a="http://schemas.openxmlformats.org/drawingml/2006/main"/>
          <a:p xmlns:a="http://schemas.openxmlformats.org/drawingml/2006/main">
            <a:r>
              <a:rPr sz="1000" b="0" u="none">
                <a:solidFill>
                  <a:srgbClr val="008000"/>
                </a:solidFill>
                <a:latin typeface="Consolas"/>
                <a:ea typeface="Consolas"/>
                <a:cs typeface="Consolas"/>
              </a:rPr>
              <a:t>-- Push query</a:t>
            </a:r>
          </a:p>
          <a:p xmlns:a="http://schemas.openxmlformats.org/drawingml/2006/main">
            <a:r>
              <a:rPr sz="1000" b="0" u="none">
                <a:solidFill>
                  <a:srgbClr val="0000FF"/>
                </a:solidFill>
                <a:latin typeface="Consolas"/>
                <a:ea typeface="Consolas"/>
                <a:cs typeface="Consolas"/>
              </a:rPr>
              <a:t>SELECT</a:t>
            </a:r>
            <a:r>
              <a:rPr sz="1000" b="0" u="none">
                <a:solidFill>
                  <a:srgbClr val="000000"/>
                </a:solidFill>
                <a:latin typeface="Consolas"/>
                <a:ea typeface="Consolas"/>
                <a:cs typeface="Consolas"/>
              </a:rPr>
              <a:t> page_url, view_count</a:t>
            </a:r>
          </a:p>
          <a:p xmlns:a="http://schemas.openxmlformats.org/drawingml/2006/main">
            <a:pPr>
              <a:lnSpc>
                <a:spcPct val="100000"/>
              </a:lnSpc>
              <a:buNone/>
            </a:pPr>
            <a:r>
              <a:rPr sz="1000" b="0" u="none">
                <a:solidFill>
                  <a:srgbClr val="0000FF"/>
                </a:solidFill>
                <a:latin typeface="Consolas"/>
                <a:ea typeface="Consolas"/>
                <a:cs typeface="Consolas"/>
              </a:rPr>
              <a:t>FROM</a:t>
            </a:r>
            <a:r>
              <a:rPr sz="1000" b="0" u="none">
                <a:solidFill>
                  <a:srgbClr val="000000"/>
                </a:solidFill>
                <a:latin typeface="Consolas"/>
                <a:ea typeface="Consolas"/>
                <a:cs typeface="Consolas"/>
              </a:rPr>
              <a:t> page_view_counts</a:t>
            </a:r>
          </a:p>
          <a:p xmlns:a="http://schemas.openxmlformats.org/drawingml/2006/main">
            <a:pPr>
              <a:lnSpc>
                <a:spcPct val="100000"/>
              </a:lnSpc>
              <a:buNone/>
            </a:pPr>
            <a:r>
              <a:rPr sz="1000" b="0" u="none">
                <a:solidFill>
                  <a:srgbClr val="000000"/>
                </a:solidFill>
                <a:latin typeface="Consolas"/>
                <a:ea typeface="Consolas"/>
                <a:cs typeface="Consolas"/>
              </a:rPr>
              <a:t>EMIT CHANGES</a:t>
            </a:r>
          </a:p>
          <a:p xmlns:a="http://schemas.openxmlformats.org/drawingml/2006/main">
            <a:pPr>
              <a:lnSpc>
                <a:spcPct val="100000"/>
              </a:lnSpc>
              <a:buNone/>
            </a:pPr>
            <a:r>
              <a:rPr sz="1000" b="0" u="none">
                <a:solidFill>
                  <a:srgbClr val="000000"/>
                </a:solidFill>
                <a:latin typeface="Consolas"/>
                <a:ea typeface="Consolas"/>
                <a:cs typeface="Consolas"/>
              </a:rPr>
              <a:t>;</a:t>
            </a:r>
          </a:p>
        </p:txBody>
      </p:sp>
      <p:sp>
        <p:nvSpPr>
          <p:cNvPr id="200" name="Shape 5">
            <a:extLst xmlns:a="http://schemas.openxmlformats.org/drawingml/2006/main">
              <a:ext uri="{FF2B5EF4-FFF2-40B4-BE49-F238E27FC236}">
                <a16:creationId xmlns:a16="http://schemas.microsoft.com/office/drawing/2014/main" id="{4A4C5AE5-3295-4E5A-B4F6-EBB72A051D37}"/>
              </a:ext>
            </a:extLst>
          </p:cNvPr>
          <p:cNvSpPr>
            <a:spLocks xmlns:a="http://schemas.openxmlformats.org/drawingml/2006/main" noGrp="1"/>
          </p:cNvSpPr>
          <p:nvPr/>
        </p:nvSpPr>
        <p:spPr>
          <a:xfrm xmlns:a="http://schemas.openxmlformats.org/drawingml/2006/main">
            <a:off x="5760720" y="1463040"/>
            <a:ext cx="3382920" cy="639720"/>
          </a:xfrm>
          <a:prstGeom xmlns:a="http://schemas.openxmlformats.org/drawingml/2006/main" prst="roundRect">
            <a:avLst>
              <a:gd name="adj" fmla="val 7143"/>
            </a:avLst>
          </a:prstGeom>
          <a:solidFill xmlns:a="http://schemas.openxmlformats.org/drawingml/2006/main">
            <a:srgbClr val="F5F5F5"/>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01" name="Text 6">
            <a:extLst xmlns:a="http://schemas.openxmlformats.org/drawingml/2006/main">
              <a:ext uri="{FF2B5EF4-FFF2-40B4-BE49-F238E27FC236}">
                <a16:creationId xmlns:a16="http://schemas.microsoft.com/office/drawing/2014/main" id="{D5E10E41-9784-4B18-AF9A-5236AA6869D5}"/>
              </a:ext>
            </a:extLst>
          </p:cNvPr>
          <p:cNvSpPr>
            <a:spLocks xmlns:a="http://schemas.openxmlformats.org/drawingml/2006/main" noGrp="1"/>
          </p:cNvSpPr>
          <p:nvPr/>
        </p:nvSpPr>
        <p:spPr>
          <a:xfrm xmlns:a="http://schemas.openxmlformats.org/drawingml/2006/main">
            <a:off x="5806440" y="1481400"/>
            <a:ext cx="329148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720" tIns="720" rIns="720" bIns="720" anchor="ctr">
            <a:noAutofit/>
          </a:bodyPr>
          <a:lstStyle xmlns:a="http://schemas.openxmlformats.org/drawingml/2006/main"/>
          <a:p xmlns:a="http://schemas.openxmlformats.org/drawingml/2006/main">
            <a:r>
              <a:rPr sz="1000" b="0" u="none">
                <a:solidFill>
                  <a:srgbClr val="008000"/>
                </a:solidFill>
                <a:latin typeface="Consolas"/>
                <a:ea typeface="Consolas"/>
                <a:cs typeface="Consolas"/>
              </a:rPr>
              <a:t>-- Pull query</a:t>
            </a:r>
          </a:p>
          <a:p xmlns:a="http://schemas.openxmlformats.org/drawingml/2006/main">
            <a:r>
              <a:rPr sz="1000" b="0" u="none">
                <a:solidFill>
                  <a:srgbClr val="0000FF"/>
                </a:solidFill>
                <a:latin typeface="Consolas"/>
                <a:ea typeface="Consolas"/>
                <a:cs typeface="Consolas"/>
              </a:rPr>
              <a:t>SELECT</a:t>
            </a:r>
            <a:r>
              <a:rPr sz="1000" b="0" u="none">
                <a:solidFill>
                  <a:srgbClr val="000000"/>
                </a:solidFill>
                <a:latin typeface="Consolas"/>
                <a:ea typeface="Consolas"/>
                <a:cs typeface="Consolas"/>
              </a:rPr>
              <a:t> view_count, last_activity</a:t>
            </a:r>
          </a:p>
          <a:p xmlns:a="http://schemas.openxmlformats.org/drawingml/2006/main">
            <a:r>
              <a:rPr sz="1000" b="0" u="none">
                <a:solidFill>
                  <a:srgbClr val="0000FF"/>
                </a:solidFill>
                <a:latin typeface="Consolas"/>
                <a:ea typeface="Consolas"/>
                <a:cs typeface="Consolas"/>
              </a:rPr>
              <a:t>FROM</a:t>
            </a:r>
            <a:r>
              <a:rPr sz="1000" b="0" u="none">
                <a:solidFill>
                  <a:srgbClr val="000000"/>
                </a:solidFill>
                <a:latin typeface="Consolas"/>
                <a:ea typeface="Consolas"/>
                <a:cs typeface="Consolas"/>
              </a:rPr>
              <a:t> user_activity_summary</a:t>
            </a:r>
          </a:p>
          <a:p xmlns:a="http://schemas.openxmlformats.org/drawingml/2006/main">
            <a:pPr>
              <a:lnSpc>
                <a:spcPct val="100000"/>
              </a:lnSpc>
              <a:buNone/>
            </a:pPr>
            <a:r>
              <a:rPr sz="1000" b="0" u="none">
                <a:solidFill>
                  <a:srgbClr val="0000FF"/>
                </a:solidFill>
                <a:latin typeface="Consolas"/>
                <a:ea typeface="Consolas"/>
                <a:cs typeface="Consolas"/>
              </a:rPr>
              <a:t>WHERE</a:t>
            </a:r>
            <a:r>
              <a:rPr sz="1000" b="0" u="none">
                <a:solidFill>
                  <a:srgbClr val="000000"/>
                </a:solidFill>
                <a:latin typeface="Consolas"/>
                <a:ea typeface="Consolas"/>
                <a:cs typeface="Consolas"/>
              </a:rPr>
              <a:t> user_id = </a:t>
            </a:r>
            <a:r>
              <a:rPr sz="1000" b="0" u="none">
                <a:solidFill>
                  <a:srgbClr val="A31515"/>
                </a:solidFill>
                <a:latin typeface="Consolas"/>
                <a:ea typeface="Consolas"/>
                <a:cs typeface="Consolas"/>
              </a:rPr>
              <a:t>'user_12345'</a:t>
            </a:r>
            <a:r>
              <a:rPr sz="1000" b="0" u="none">
                <a:solidFill>
                  <a:srgbClr val="000000"/>
                </a:solidFill>
                <a:latin typeface="Consolas"/>
                <a:ea typeface="Consolas"/>
                <a:cs typeface="Consolas"/>
              </a:rPr>
              <a:t>;</a:t>
            </a:r>
          </a:p>
        </p:txBody>
      </p:sp>
      <p:sp>
        <p:nvSpPr>
          <p:cNvPr id="202" name="Text 7">
            <a:extLst xmlns:a="http://schemas.openxmlformats.org/drawingml/2006/main">
              <a:ext uri="{FF2B5EF4-FFF2-40B4-BE49-F238E27FC236}">
                <a16:creationId xmlns:a16="http://schemas.microsoft.com/office/drawing/2014/main" id="{847DFCCE-AEF3-471E-95F3-A85D11983153}"/>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c5a495da2e2a4f93"/>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71ae9d7340d941e9"/>
              </a:rPr>
              <a:t>[2]</a:t>
            </a:r>
          </a:p>
        </p:txBody>
      </p:sp>
    </p:spTree>
    <p:extLst>
      <p:ext uri="{BB962C8B-B14F-4D97-AF65-F5344CB8AC3E}">
        <p14:creationId xmlns:p14="http://schemas.microsoft.com/office/powerpoint/2010/main" val="698332316"/>
      </p:ext>
    </p:extLst>
  </p:cSld>
</p:sld>
</file>

<file path=ppt/slides/slide13.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03" name="Shape 0">
            <a:extLst xmlns:a="http://schemas.openxmlformats.org/drawingml/2006/main">
              <a:ext uri="{FF2B5EF4-FFF2-40B4-BE49-F238E27FC236}">
                <a16:creationId xmlns:a16="http://schemas.microsoft.com/office/drawing/2014/main" id="{DCEF2CD7-D0A6-429D-83DA-7276AB111D4E}"/>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04" name="Text 1">
            <a:extLst xmlns:a="http://schemas.openxmlformats.org/drawingml/2006/main">
              <a:ext uri="{FF2B5EF4-FFF2-40B4-BE49-F238E27FC236}">
                <a16:creationId xmlns:a16="http://schemas.microsoft.com/office/drawing/2014/main" id="{9A655964-4998-4102-8E6B-B9DB99FC88A1}"/>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Choosing ksqlDB, Kafka Streams or Flink</a:t>
            </a:r>
          </a:p>
        </p:txBody>
      </p:sp>
      <p:sp>
        <p:nvSpPr>
          <p:cNvPr id="205" name="Shape 2">
            <a:extLst xmlns:a="http://schemas.openxmlformats.org/drawingml/2006/main">
              <a:ext uri="{FF2B5EF4-FFF2-40B4-BE49-F238E27FC236}">
                <a16:creationId xmlns:a16="http://schemas.microsoft.com/office/drawing/2014/main" id="{2E1D35A0-2081-4FCE-B792-3D771795EE54}"/>
              </a:ext>
            </a:extLst>
          </p:cNvPr>
          <p:cNvSpPr>
            <a:spLocks xmlns:a="http://schemas.openxmlformats.org/drawingml/2006/main" noGrp="1"/>
          </p:cNvSpPr>
          <p:nvPr/>
        </p:nvSpPr>
        <p:spPr>
          <a:xfrm xmlns:a="http://schemas.openxmlformats.org/drawingml/2006/main">
            <a:off x="457200" y="731520"/>
            <a:ext cx="2834280" cy="365400"/>
          </a:xfrm>
          <a:prstGeom xmlns:a="http://schemas.openxmlformats.org/drawingml/2006/main" prst="rect">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06" name="Text 3">
            <a:extLst xmlns:a="http://schemas.openxmlformats.org/drawingml/2006/main">
              <a:ext uri="{FF2B5EF4-FFF2-40B4-BE49-F238E27FC236}">
                <a16:creationId xmlns:a16="http://schemas.microsoft.com/office/drawing/2014/main" id="{AE20D962-8D13-4D10-B817-DCC7845EED60}"/>
              </a:ext>
            </a:extLst>
          </p:cNvPr>
          <p:cNvSpPr>
            <a:spLocks xmlns:a="http://schemas.openxmlformats.org/drawingml/2006/main" noGrp="1"/>
          </p:cNvSpPr>
          <p:nvPr/>
        </p:nvSpPr>
        <p:spPr>
          <a:xfrm xmlns:a="http://schemas.openxmlformats.org/drawingml/2006/main">
            <a:off x="502920" y="749880"/>
            <a:ext cx="2742840" cy="328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FFFFFF"/>
                </a:solidFill>
                <a:latin typeface="Calibri"/>
                <a:ea typeface="Calibri"/>
                <a:cs typeface="Calibri"/>
              </a:rPr>
              <a:t>Platform</a:t>
            </a:r>
          </a:p>
        </p:txBody>
      </p:sp>
      <p:sp>
        <p:nvSpPr>
          <p:cNvPr id="207" name="Shape 4">
            <a:extLst xmlns:a="http://schemas.openxmlformats.org/drawingml/2006/main">
              <a:ext uri="{FF2B5EF4-FFF2-40B4-BE49-F238E27FC236}">
                <a16:creationId xmlns:a16="http://schemas.microsoft.com/office/drawing/2014/main" id="{A35D189C-D526-4CF8-A8E6-E08A962A2DBA}"/>
              </a:ext>
            </a:extLst>
          </p:cNvPr>
          <p:cNvSpPr>
            <a:spLocks xmlns:a="http://schemas.openxmlformats.org/drawingml/2006/main" noGrp="1"/>
          </p:cNvSpPr>
          <p:nvPr/>
        </p:nvSpPr>
        <p:spPr>
          <a:xfrm xmlns:a="http://schemas.openxmlformats.org/drawingml/2006/main">
            <a:off x="3291840" y="731520"/>
            <a:ext cx="2834280" cy="365400"/>
          </a:xfrm>
          <a:prstGeom xmlns:a="http://schemas.openxmlformats.org/drawingml/2006/main" prst="rect">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08" name="Text 5">
            <a:extLst xmlns:a="http://schemas.openxmlformats.org/drawingml/2006/main">
              <a:ext uri="{FF2B5EF4-FFF2-40B4-BE49-F238E27FC236}">
                <a16:creationId xmlns:a16="http://schemas.microsoft.com/office/drawing/2014/main" id="{97AFCFCC-964B-4DF2-AA6C-990CDB07550C}"/>
              </a:ext>
            </a:extLst>
          </p:cNvPr>
          <p:cNvSpPr>
            <a:spLocks xmlns:a="http://schemas.openxmlformats.org/drawingml/2006/main" noGrp="1"/>
          </p:cNvSpPr>
          <p:nvPr/>
        </p:nvSpPr>
        <p:spPr>
          <a:xfrm xmlns:a="http://schemas.openxmlformats.org/drawingml/2006/main">
            <a:off x="3337560" y="749880"/>
            <a:ext cx="2742840" cy="328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FFFFFF"/>
                </a:solidFill>
                <a:latin typeface="Calibri"/>
                <a:ea typeface="Calibri"/>
                <a:cs typeface="Calibri"/>
              </a:rPr>
              <a:t>Strengths</a:t>
            </a:r>
          </a:p>
        </p:txBody>
      </p:sp>
      <p:sp>
        <p:nvSpPr>
          <p:cNvPr id="209" name="Shape 6">
            <a:extLst xmlns:a="http://schemas.openxmlformats.org/drawingml/2006/main">
              <a:ext uri="{FF2B5EF4-FFF2-40B4-BE49-F238E27FC236}">
                <a16:creationId xmlns:a16="http://schemas.microsoft.com/office/drawing/2014/main" id="{1D1CE898-AF15-49EE-B5E7-2EE90E4D300C}"/>
              </a:ext>
            </a:extLst>
          </p:cNvPr>
          <p:cNvSpPr>
            <a:spLocks xmlns:a="http://schemas.openxmlformats.org/drawingml/2006/main" noGrp="1"/>
          </p:cNvSpPr>
          <p:nvPr/>
        </p:nvSpPr>
        <p:spPr>
          <a:xfrm xmlns:a="http://schemas.openxmlformats.org/drawingml/2006/main">
            <a:off x="6126480" y="731520"/>
            <a:ext cx="2925720" cy="365400"/>
          </a:xfrm>
          <a:prstGeom xmlns:a="http://schemas.openxmlformats.org/drawingml/2006/main" prst="rect">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10" name="Text 7">
            <a:extLst xmlns:a="http://schemas.openxmlformats.org/drawingml/2006/main">
              <a:ext uri="{FF2B5EF4-FFF2-40B4-BE49-F238E27FC236}">
                <a16:creationId xmlns:a16="http://schemas.microsoft.com/office/drawing/2014/main" id="{D8E8F65D-6438-48BB-B353-4CA29C3818D1}"/>
              </a:ext>
            </a:extLst>
          </p:cNvPr>
          <p:cNvSpPr>
            <a:spLocks xmlns:a="http://schemas.openxmlformats.org/drawingml/2006/main" noGrp="1"/>
          </p:cNvSpPr>
          <p:nvPr/>
        </p:nvSpPr>
        <p:spPr>
          <a:xfrm xmlns:a="http://schemas.openxmlformats.org/drawingml/2006/main">
            <a:off x="6172200" y="749880"/>
            <a:ext cx="2834280" cy="328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FFFFFF"/>
                </a:solidFill>
                <a:latin typeface="Calibri"/>
                <a:ea typeface="Calibri"/>
                <a:cs typeface="Calibri"/>
              </a:rPr>
              <a:t>When to Use</a:t>
            </a:r>
          </a:p>
        </p:txBody>
      </p:sp>
      <p:sp>
        <p:nvSpPr>
          <p:cNvPr id="211" name="Shape 8">
            <a:extLst xmlns:a="http://schemas.openxmlformats.org/drawingml/2006/main">
              <a:ext uri="{FF2B5EF4-FFF2-40B4-BE49-F238E27FC236}">
                <a16:creationId xmlns:a16="http://schemas.microsoft.com/office/drawing/2014/main" id="{BE8D39D1-AF6D-4C4B-8148-C0638691A04B}"/>
              </a:ext>
            </a:extLst>
          </p:cNvPr>
          <p:cNvSpPr>
            <a:spLocks xmlns:a="http://schemas.openxmlformats.org/drawingml/2006/main" noGrp="1"/>
          </p:cNvSpPr>
          <p:nvPr/>
        </p:nvSpPr>
        <p:spPr>
          <a:xfrm xmlns:a="http://schemas.openxmlformats.org/drawingml/2006/main">
            <a:off x="457200" y="1097280"/>
            <a:ext cx="2834280" cy="548280"/>
          </a:xfrm>
          <a:prstGeom xmlns:a="http://schemas.openxmlformats.org/drawingml/2006/main" prst="rect">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12" name="Text 9">
            <a:extLst xmlns:a="http://schemas.openxmlformats.org/drawingml/2006/main">
              <a:ext uri="{FF2B5EF4-FFF2-40B4-BE49-F238E27FC236}">
                <a16:creationId xmlns:a16="http://schemas.microsoft.com/office/drawing/2014/main" id="{B275CB6B-FCC8-4CA9-836C-5DE33EDA056E}"/>
              </a:ext>
            </a:extLst>
          </p:cNvPr>
          <p:cNvSpPr>
            <a:spLocks xmlns:a="http://schemas.openxmlformats.org/drawingml/2006/main" noGrp="1"/>
          </p:cNvSpPr>
          <p:nvPr/>
        </p:nvSpPr>
        <p:spPr>
          <a:xfrm xmlns:a="http://schemas.openxmlformats.org/drawingml/2006/main">
            <a:off x="502920" y="1170360"/>
            <a:ext cx="2742840" cy="456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FFFFFF"/>
                </a:solidFill>
                <a:latin typeface="Calibri"/>
                <a:ea typeface="Calibri"/>
                <a:cs typeface="Calibri"/>
              </a:rPr>
              <a:t>ksqlDB</a:t>
            </a:r>
          </a:p>
        </p:txBody>
      </p:sp>
      <p:sp>
        <p:nvSpPr>
          <p:cNvPr id="213" name="Shape 10">
            <a:extLst xmlns:a="http://schemas.openxmlformats.org/drawingml/2006/main">
              <a:ext uri="{FF2B5EF4-FFF2-40B4-BE49-F238E27FC236}">
                <a16:creationId xmlns:a16="http://schemas.microsoft.com/office/drawing/2014/main" id="{43A95080-47D7-43D0-A1A3-ED45795EEA0B}"/>
              </a:ext>
            </a:extLst>
          </p:cNvPr>
          <p:cNvSpPr>
            <a:spLocks xmlns:a="http://schemas.openxmlformats.org/drawingml/2006/main" noGrp="1"/>
          </p:cNvSpPr>
          <p:nvPr/>
        </p:nvSpPr>
        <p:spPr>
          <a:xfrm xmlns:a="http://schemas.openxmlformats.org/drawingml/2006/main">
            <a:off x="3291840" y="1097280"/>
            <a:ext cx="2834280" cy="548280"/>
          </a:xfrm>
          <a:prstGeom xmlns:a="http://schemas.openxmlformats.org/drawingml/2006/main" prst="rect">
            <a:avLst/>
          </a:prstGeom>
          <a:solidFill xmlns:a="http://schemas.openxmlformats.org/drawingml/2006/main">
            <a:srgbClr val="F9FBFC"/>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14" name="Text 11">
            <a:extLst xmlns:a="http://schemas.openxmlformats.org/drawingml/2006/main">
              <a:ext uri="{FF2B5EF4-FFF2-40B4-BE49-F238E27FC236}">
                <a16:creationId xmlns:a16="http://schemas.microsoft.com/office/drawing/2014/main" id="{A844FD14-F045-4EA7-81AD-1590B7015679}"/>
              </a:ext>
            </a:extLst>
          </p:cNvPr>
          <p:cNvSpPr>
            <a:spLocks xmlns:a="http://schemas.openxmlformats.org/drawingml/2006/main" noGrp="1"/>
          </p:cNvSpPr>
          <p:nvPr/>
        </p:nvSpPr>
        <p:spPr>
          <a:xfrm xmlns:a="http://schemas.openxmlformats.org/drawingml/2006/main">
            <a:off x="3337560" y="1143000"/>
            <a:ext cx="2742840" cy="456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003C54"/>
                </a:solidFill>
                <a:latin typeface="Calibri"/>
                <a:ea typeface="Calibri"/>
                <a:cs typeface="Calibri"/>
              </a:rPr>
              <a:t>SQL interface; rapid development; windowing &amp; joins; built-in materialized views; no extra cluster</a:t>
            </a:r>
          </a:p>
        </p:txBody>
      </p:sp>
      <p:sp>
        <p:nvSpPr>
          <p:cNvPr id="215" name="Shape 12">
            <a:extLst xmlns:a="http://schemas.openxmlformats.org/drawingml/2006/main">
              <a:ext uri="{FF2B5EF4-FFF2-40B4-BE49-F238E27FC236}">
                <a16:creationId xmlns:a16="http://schemas.microsoft.com/office/drawing/2014/main" id="{0699CFA6-FC0D-4800-BC31-9D04844C68AE}"/>
              </a:ext>
            </a:extLst>
          </p:cNvPr>
          <p:cNvSpPr>
            <a:spLocks xmlns:a="http://schemas.openxmlformats.org/drawingml/2006/main" noGrp="1"/>
          </p:cNvSpPr>
          <p:nvPr/>
        </p:nvSpPr>
        <p:spPr>
          <a:xfrm xmlns:a="http://schemas.openxmlformats.org/drawingml/2006/main">
            <a:off x="6126480" y="1097280"/>
            <a:ext cx="2925720" cy="548280"/>
          </a:xfrm>
          <a:prstGeom xmlns:a="http://schemas.openxmlformats.org/drawingml/2006/main" prst="rect">
            <a:avLst/>
          </a:prstGeom>
          <a:solidFill xmlns:a="http://schemas.openxmlformats.org/drawingml/2006/main">
            <a:srgbClr val="F9FBFC"/>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16" name="Text 13">
            <a:extLst xmlns:a="http://schemas.openxmlformats.org/drawingml/2006/main">
              <a:ext uri="{FF2B5EF4-FFF2-40B4-BE49-F238E27FC236}">
                <a16:creationId xmlns:a16="http://schemas.microsoft.com/office/drawing/2014/main" id="{94F62EBE-7ECF-4B23-ADED-0E3E455FD379}"/>
              </a:ext>
            </a:extLst>
          </p:cNvPr>
          <p:cNvSpPr>
            <a:spLocks xmlns:a="http://schemas.openxmlformats.org/drawingml/2006/main" noGrp="1"/>
          </p:cNvSpPr>
          <p:nvPr/>
        </p:nvSpPr>
        <p:spPr>
          <a:xfrm xmlns:a="http://schemas.openxmlformats.org/drawingml/2006/main">
            <a:off x="6172200" y="1143000"/>
            <a:ext cx="2834280" cy="456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003C54"/>
                </a:solidFill>
                <a:latin typeface="Calibri"/>
                <a:ea typeface="Calibri"/>
                <a:cs typeface="Calibri"/>
              </a:rPr>
              <a:t>Analysts prefer SQL; need quick stream transformations &amp; low operational overhead; dashboards via pull queries</a:t>
            </a:r>
          </a:p>
        </p:txBody>
      </p:sp>
      <p:sp>
        <p:nvSpPr>
          <p:cNvPr id="217" name="Shape 14">
            <a:extLst xmlns:a="http://schemas.openxmlformats.org/drawingml/2006/main">
              <a:ext uri="{FF2B5EF4-FFF2-40B4-BE49-F238E27FC236}">
                <a16:creationId xmlns:a16="http://schemas.microsoft.com/office/drawing/2014/main" id="{B35A43E1-907B-4E7D-9459-F8EA43DF69C2}"/>
              </a:ext>
            </a:extLst>
          </p:cNvPr>
          <p:cNvSpPr>
            <a:spLocks xmlns:a="http://schemas.openxmlformats.org/drawingml/2006/main" noGrp="1"/>
          </p:cNvSpPr>
          <p:nvPr/>
        </p:nvSpPr>
        <p:spPr>
          <a:xfrm xmlns:a="http://schemas.openxmlformats.org/drawingml/2006/main">
            <a:off x="457200" y="1737360"/>
            <a:ext cx="2834280" cy="548280"/>
          </a:xfrm>
          <a:prstGeom xmlns:a="http://schemas.openxmlformats.org/drawingml/2006/main" prst="rect">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18" name="Text 15">
            <a:extLst xmlns:a="http://schemas.openxmlformats.org/drawingml/2006/main">
              <a:ext uri="{FF2B5EF4-FFF2-40B4-BE49-F238E27FC236}">
                <a16:creationId xmlns:a16="http://schemas.microsoft.com/office/drawing/2014/main" id="{FE41369D-D1C3-4C47-BC0F-51E99B758236}"/>
              </a:ext>
            </a:extLst>
          </p:cNvPr>
          <p:cNvSpPr>
            <a:spLocks xmlns:a="http://schemas.openxmlformats.org/drawingml/2006/main" noGrp="1"/>
          </p:cNvSpPr>
          <p:nvPr/>
        </p:nvSpPr>
        <p:spPr>
          <a:xfrm xmlns:a="http://schemas.openxmlformats.org/drawingml/2006/main">
            <a:off x="502920" y="1810440"/>
            <a:ext cx="2742840" cy="456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FFFFFF"/>
                </a:solidFill>
                <a:latin typeface="Calibri"/>
                <a:ea typeface="Calibri"/>
                <a:cs typeface="Calibri"/>
              </a:rPr>
              <a:t>Kafka Streams</a:t>
            </a:r>
          </a:p>
        </p:txBody>
      </p:sp>
      <p:sp>
        <p:nvSpPr>
          <p:cNvPr id="219" name="Shape 16">
            <a:extLst xmlns:a="http://schemas.openxmlformats.org/drawingml/2006/main">
              <a:ext uri="{FF2B5EF4-FFF2-40B4-BE49-F238E27FC236}">
                <a16:creationId xmlns:a16="http://schemas.microsoft.com/office/drawing/2014/main" id="{018A5B82-FDF0-4D30-AC3D-0142C25E84F0}"/>
              </a:ext>
            </a:extLst>
          </p:cNvPr>
          <p:cNvSpPr>
            <a:spLocks xmlns:a="http://schemas.openxmlformats.org/drawingml/2006/main" noGrp="1"/>
          </p:cNvSpPr>
          <p:nvPr/>
        </p:nvSpPr>
        <p:spPr>
          <a:xfrm xmlns:a="http://schemas.openxmlformats.org/drawingml/2006/main">
            <a:off x="3291840" y="1737360"/>
            <a:ext cx="2834280" cy="548280"/>
          </a:xfrm>
          <a:prstGeom xmlns:a="http://schemas.openxmlformats.org/drawingml/2006/main" prst="rect">
            <a:avLst/>
          </a:prstGeom>
          <a:solidFill xmlns:a="http://schemas.openxmlformats.org/drawingml/2006/main">
            <a:srgbClr val="F9FBFC"/>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20" name="Text 17">
            <a:extLst xmlns:a="http://schemas.openxmlformats.org/drawingml/2006/main">
              <a:ext uri="{FF2B5EF4-FFF2-40B4-BE49-F238E27FC236}">
                <a16:creationId xmlns:a16="http://schemas.microsoft.com/office/drawing/2014/main" id="{04E0B1E5-1202-495B-B927-028E453D4CE1}"/>
              </a:ext>
            </a:extLst>
          </p:cNvPr>
          <p:cNvSpPr>
            <a:spLocks xmlns:a="http://schemas.openxmlformats.org/drawingml/2006/main" noGrp="1"/>
          </p:cNvSpPr>
          <p:nvPr/>
        </p:nvSpPr>
        <p:spPr>
          <a:xfrm xmlns:a="http://schemas.openxmlformats.org/drawingml/2006/main">
            <a:off x="3337560" y="1783080"/>
            <a:ext cx="2742840" cy="456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003C54"/>
                </a:solidFill>
                <a:latin typeface="Calibri"/>
                <a:ea typeface="Calibri"/>
                <a:cs typeface="Calibri"/>
              </a:rPr>
              <a:t>Programmatic control; embedded in microservices; custom logic; stateful operations; interactive queries</a:t>
            </a:r>
          </a:p>
        </p:txBody>
      </p:sp>
      <p:sp>
        <p:nvSpPr>
          <p:cNvPr id="221" name="Shape 18">
            <a:extLst xmlns:a="http://schemas.openxmlformats.org/drawingml/2006/main">
              <a:ext uri="{FF2B5EF4-FFF2-40B4-BE49-F238E27FC236}">
                <a16:creationId xmlns:a16="http://schemas.microsoft.com/office/drawing/2014/main" id="{1BF2E784-4B29-4559-8B65-8B927421FF93}"/>
              </a:ext>
            </a:extLst>
          </p:cNvPr>
          <p:cNvSpPr>
            <a:spLocks xmlns:a="http://schemas.openxmlformats.org/drawingml/2006/main" noGrp="1"/>
          </p:cNvSpPr>
          <p:nvPr/>
        </p:nvSpPr>
        <p:spPr>
          <a:xfrm xmlns:a="http://schemas.openxmlformats.org/drawingml/2006/main">
            <a:off x="6126480" y="1737360"/>
            <a:ext cx="2925720" cy="548280"/>
          </a:xfrm>
          <a:prstGeom xmlns:a="http://schemas.openxmlformats.org/drawingml/2006/main" prst="rect">
            <a:avLst/>
          </a:prstGeom>
          <a:solidFill xmlns:a="http://schemas.openxmlformats.org/drawingml/2006/main">
            <a:srgbClr val="F9FBFC"/>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22" name="Text 19">
            <a:extLst xmlns:a="http://schemas.openxmlformats.org/drawingml/2006/main">
              <a:ext uri="{FF2B5EF4-FFF2-40B4-BE49-F238E27FC236}">
                <a16:creationId xmlns:a16="http://schemas.microsoft.com/office/drawing/2014/main" id="{B773B6DF-C95B-41FA-8184-C885F7BE3BE5}"/>
              </a:ext>
            </a:extLst>
          </p:cNvPr>
          <p:cNvSpPr>
            <a:spLocks xmlns:a="http://schemas.openxmlformats.org/drawingml/2006/main" noGrp="1"/>
          </p:cNvSpPr>
          <p:nvPr/>
        </p:nvSpPr>
        <p:spPr>
          <a:xfrm xmlns:a="http://schemas.openxmlformats.org/drawingml/2006/main">
            <a:off x="6172200" y="1783080"/>
            <a:ext cx="2834280" cy="456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003C54"/>
                </a:solidFill>
                <a:latin typeface="Calibri"/>
                <a:ea typeface="Calibri"/>
                <a:cs typeface="Calibri"/>
              </a:rPr>
              <a:t>Complex stateful processing; microservices integration; existing Java/Scala codebase</a:t>
            </a:r>
          </a:p>
        </p:txBody>
      </p:sp>
      <p:sp>
        <p:nvSpPr>
          <p:cNvPr id="223" name="Shape 20">
            <a:extLst xmlns:a="http://schemas.openxmlformats.org/drawingml/2006/main">
              <a:ext uri="{FF2B5EF4-FFF2-40B4-BE49-F238E27FC236}">
                <a16:creationId xmlns:a16="http://schemas.microsoft.com/office/drawing/2014/main" id="{E9F44272-A02A-491E-B4DB-D9DE4EF513F2}"/>
              </a:ext>
            </a:extLst>
          </p:cNvPr>
          <p:cNvSpPr>
            <a:spLocks xmlns:a="http://schemas.openxmlformats.org/drawingml/2006/main" noGrp="1"/>
          </p:cNvSpPr>
          <p:nvPr/>
        </p:nvSpPr>
        <p:spPr>
          <a:xfrm xmlns:a="http://schemas.openxmlformats.org/drawingml/2006/main">
            <a:off x="457200" y="2377440"/>
            <a:ext cx="2834280" cy="548280"/>
          </a:xfrm>
          <a:prstGeom xmlns:a="http://schemas.openxmlformats.org/drawingml/2006/main" prst="rect">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24" name="Text 21">
            <a:extLst xmlns:a="http://schemas.openxmlformats.org/drawingml/2006/main">
              <a:ext uri="{FF2B5EF4-FFF2-40B4-BE49-F238E27FC236}">
                <a16:creationId xmlns:a16="http://schemas.microsoft.com/office/drawing/2014/main" id="{0500386B-7C72-40C8-A351-242A79492301}"/>
              </a:ext>
            </a:extLst>
          </p:cNvPr>
          <p:cNvSpPr>
            <a:spLocks xmlns:a="http://schemas.openxmlformats.org/drawingml/2006/main" noGrp="1"/>
          </p:cNvSpPr>
          <p:nvPr/>
        </p:nvSpPr>
        <p:spPr>
          <a:xfrm xmlns:a="http://schemas.openxmlformats.org/drawingml/2006/main">
            <a:off x="502920" y="2450520"/>
            <a:ext cx="2742840" cy="456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FFFFFF"/>
                </a:solidFill>
                <a:latin typeface="Calibri"/>
                <a:ea typeface="Calibri"/>
                <a:cs typeface="Calibri"/>
              </a:rPr>
              <a:t>Apache Flink</a:t>
            </a:r>
          </a:p>
        </p:txBody>
      </p:sp>
      <p:sp>
        <p:nvSpPr>
          <p:cNvPr id="225" name="Shape 22">
            <a:extLst xmlns:a="http://schemas.openxmlformats.org/drawingml/2006/main">
              <a:ext uri="{FF2B5EF4-FFF2-40B4-BE49-F238E27FC236}">
                <a16:creationId xmlns:a16="http://schemas.microsoft.com/office/drawing/2014/main" id="{56C857F7-9D37-41A5-B23F-ED0033C1B7CB}"/>
              </a:ext>
            </a:extLst>
          </p:cNvPr>
          <p:cNvSpPr>
            <a:spLocks xmlns:a="http://schemas.openxmlformats.org/drawingml/2006/main" noGrp="1"/>
          </p:cNvSpPr>
          <p:nvPr/>
        </p:nvSpPr>
        <p:spPr>
          <a:xfrm xmlns:a="http://schemas.openxmlformats.org/drawingml/2006/main">
            <a:off x="3291840" y="2377440"/>
            <a:ext cx="2834280" cy="548280"/>
          </a:xfrm>
          <a:prstGeom xmlns:a="http://schemas.openxmlformats.org/drawingml/2006/main" prst="rect">
            <a:avLst/>
          </a:prstGeom>
          <a:solidFill xmlns:a="http://schemas.openxmlformats.org/drawingml/2006/main">
            <a:srgbClr val="F9FBFC"/>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26" name="Text 23">
            <a:extLst xmlns:a="http://schemas.openxmlformats.org/drawingml/2006/main">
              <a:ext uri="{FF2B5EF4-FFF2-40B4-BE49-F238E27FC236}">
                <a16:creationId xmlns:a16="http://schemas.microsoft.com/office/drawing/2014/main" id="{66BD72B0-7451-457D-BB07-E5B9F283B6B7}"/>
              </a:ext>
            </a:extLst>
          </p:cNvPr>
          <p:cNvSpPr>
            <a:spLocks xmlns:a="http://schemas.openxmlformats.org/drawingml/2006/main" noGrp="1"/>
          </p:cNvSpPr>
          <p:nvPr/>
        </p:nvSpPr>
        <p:spPr>
          <a:xfrm xmlns:a="http://schemas.openxmlformats.org/drawingml/2006/main">
            <a:off x="3337560" y="2423160"/>
            <a:ext cx="2742840" cy="456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003C54"/>
                </a:solidFill>
                <a:latin typeface="Calibri"/>
                <a:ea typeface="Calibri"/>
                <a:cs typeface="Calibri"/>
              </a:rPr>
              <a:t>CEP &amp; iterative algorithms; huge state; supports sources beyond Kafka; unifies batch &amp; stream</a:t>
            </a:r>
          </a:p>
        </p:txBody>
      </p:sp>
      <p:sp>
        <p:nvSpPr>
          <p:cNvPr id="227" name="Shape 24">
            <a:extLst xmlns:a="http://schemas.openxmlformats.org/drawingml/2006/main">
              <a:ext uri="{FF2B5EF4-FFF2-40B4-BE49-F238E27FC236}">
                <a16:creationId xmlns:a16="http://schemas.microsoft.com/office/drawing/2014/main" id="{DD718F86-F8C5-4F75-BAF1-9AF42BE3AA27}"/>
              </a:ext>
            </a:extLst>
          </p:cNvPr>
          <p:cNvSpPr>
            <a:spLocks xmlns:a="http://schemas.openxmlformats.org/drawingml/2006/main" noGrp="1"/>
          </p:cNvSpPr>
          <p:nvPr/>
        </p:nvSpPr>
        <p:spPr>
          <a:xfrm xmlns:a="http://schemas.openxmlformats.org/drawingml/2006/main">
            <a:off x="6126480" y="2377440"/>
            <a:ext cx="2925720" cy="548280"/>
          </a:xfrm>
          <a:prstGeom xmlns:a="http://schemas.openxmlformats.org/drawingml/2006/main" prst="rect">
            <a:avLst/>
          </a:prstGeom>
          <a:solidFill xmlns:a="http://schemas.openxmlformats.org/drawingml/2006/main">
            <a:srgbClr val="F9FBFC"/>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28" name="Text 25">
            <a:extLst xmlns:a="http://schemas.openxmlformats.org/drawingml/2006/main">
              <a:ext uri="{FF2B5EF4-FFF2-40B4-BE49-F238E27FC236}">
                <a16:creationId xmlns:a16="http://schemas.microsoft.com/office/drawing/2014/main" id="{5482A8DF-7E6A-4A2C-9540-9A142ED35262}"/>
              </a:ext>
            </a:extLst>
          </p:cNvPr>
          <p:cNvSpPr>
            <a:spLocks xmlns:a="http://schemas.openxmlformats.org/drawingml/2006/main" noGrp="1"/>
          </p:cNvSpPr>
          <p:nvPr/>
        </p:nvSpPr>
        <p:spPr>
          <a:xfrm xmlns:a="http://schemas.openxmlformats.org/drawingml/2006/main">
            <a:off x="6172200" y="2423160"/>
            <a:ext cx="2834280" cy="456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800" b="0" u="none">
                <a:solidFill>
                  <a:srgbClr val="003C54"/>
                </a:solidFill>
                <a:latin typeface="Calibri"/>
                <a:ea typeface="Calibri"/>
                <a:cs typeface="Calibri"/>
              </a:rPr>
              <a:t>Large-scale analytics; CEP; multiple data sources; need for unified batch/stream engine</a:t>
            </a:r>
          </a:p>
        </p:txBody>
      </p:sp>
      <p:sp>
        <p:nvSpPr>
          <p:cNvPr id="229" name="Text 26">
            <a:extLst xmlns:a="http://schemas.openxmlformats.org/drawingml/2006/main">
              <a:ext uri="{FF2B5EF4-FFF2-40B4-BE49-F238E27FC236}">
                <a16:creationId xmlns:a16="http://schemas.microsoft.com/office/drawing/2014/main" id="{AB33D076-DD86-400B-B05F-AEF1FD3C4906}"/>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cd39f4f3fb4746a7"/>
              </a:rPr>
              <a:t>[1]</a:t>
            </a:r>
          </a:p>
        </p:txBody>
      </p:sp>
    </p:spTree>
    <p:extLst>
      <p:ext uri="{BB962C8B-B14F-4D97-AF65-F5344CB8AC3E}">
        <p14:creationId xmlns:p14="http://schemas.microsoft.com/office/powerpoint/2010/main" val="2076912766"/>
      </p:ext>
    </p:extLst>
  </p:cSld>
</p:sld>
</file>

<file path=ppt/slides/slide14.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30" name="Shape 0">
            <a:extLst xmlns:a="http://schemas.openxmlformats.org/drawingml/2006/main">
              <a:ext uri="{FF2B5EF4-FFF2-40B4-BE49-F238E27FC236}">
                <a16:creationId xmlns:a16="http://schemas.microsoft.com/office/drawing/2014/main" id="{C33B2D87-956A-474F-B601-72A35CEBF81B}"/>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31" name="Text 1">
            <a:extLst xmlns:a="http://schemas.openxmlformats.org/drawingml/2006/main">
              <a:ext uri="{FF2B5EF4-FFF2-40B4-BE49-F238E27FC236}">
                <a16:creationId xmlns:a16="http://schemas.microsoft.com/office/drawing/2014/main" id="{BB3C7956-1CDF-4382-B403-150705103B93}"/>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Baseline the Observable Pipeline</a:t>
            </a:r>
          </a:p>
        </p:txBody>
      </p:sp>
      <p:sp>
        <p:nvSpPr>
          <p:cNvPr id="232" name="Shape 2">
            <a:extLst xmlns:a="http://schemas.openxmlformats.org/drawingml/2006/main">
              <a:ext uri="{FF2B5EF4-FFF2-40B4-BE49-F238E27FC236}">
                <a16:creationId xmlns:a16="http://schemas.microsoft.com/office/drawing/2014/main" id="{BB4ABEA4-1E7D-4947-B8A3-7BAFF844113F}"/>
              </a:ext>
            </a:extLst>
          </p:cNvPr>
          <p:cNvSpPr>
            <a:spLocks xmlns:a="http://schemas.openxmlformats.org/drawingml/2006/main" noGrp="1"/>
          </p:cNvSpPr>
          <p:nvPr/>
        </p:nvSpPr>
        <p:spPr>
          <a:xfrm xmlns:a="http://schemas.openxmlformats.org/drawingml/2006/main">
            <a:off x="182880" y="914400"/>
            <a:ext cx="1279800" cy="319680"/>
          </a:xfrm>
          <a:prstGeom xmlns:a="http://schemas.openxmlformats.org/drawingml/2006/main" prst="roundRect">
            <a:avLst>
              <a:gd name="adj" fmla="val 28571"/>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33" name="Text 3">
            <a:extLst xmlns:a="http://schemas.openxmlformats.org/drawingml/2006/main">
              <a:ext uri="{FF2B5EF4-FFF2-40B4-BE49-F238E27FC236}">
                <a16:creationId xmlns:a16="http://schemas.microsoft.com/office/drawing/2014/main" id="{44FDDF4E-2D3D-4A65-A073-2B6425F0EC75}"/>
              </a:ext>
            </a:extLst>
          </p:cNvPr>
          <p:cNvSpPr>
            <a:spLocks xmlns:a="http://schemas.openxmlformats.org/drawingml/2006/main" noGrp="1"/>
          </p:cNvSpPr>
          <p:nvPr/>
        </p:nvSpPr>
        <p:spPr>
          <a:xfrm xmlns:a="http://schemas.openxmlformats.org/drawingml/2006/main">
            <a:off x="228600" y="1005840"/>
            <a:ext cx="118836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orders.cdc</a:t>
            </a:r>
          </a:p>
        </p:txBody>
      </p:sp>
      <p:sp>
        <p:nvSpPr>
          <p:cNvPr id="234" name="Shape 4">
            <a:extLst xmlns:a="http://schemas.openxmlformats.org/drawingml/2006/main">
              <a:ext uri="{FF2B5EF4-FFF2-40B4-BE49-F238E27FC236}">
                <a16:creationId xmlns:a16="http://schemas.microsoft.com/office/drawing/2014/main" id="{AFD3ADEB-CCD1-428D-8035-B59BD445B60E}"/>
              </a:ext>
            </a:extLst>
          </p:cNvPr>
          <p:cNvSpPr>
            <a:spLocks xmlns:a="http://schemas.openxmlformats.org/drawingml/2006/main" noGrp="1"/>
          </p:cNvSpPr>
          <p:nvPr/>
        </p:nvSpPr>
        <p:spPr>
          <a:xfrm xmlns:a="http://schemas.openxmlformats.org/drawingml/2006/main">
            <a:off x="1463040" y="1024200"/>
            <a:ext cx="27396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235" name="Shape 5">
            <a:extLst xmlns:a="http://schemas.openxmlformats.org/drawingml/2006/main">
              <a:ext uri="{FF2B5EF4-FFF2-40B4-BE49-F238E27FC236}">
                <a16:creationId xmlns:a16="http://schemas.microsoft.com/office/drawing/2014/main" id="{ED3233B1-C811-470D-9FC6-B30959516744}"/>
              </a:ext>
            </a:extLst>
          </p:cNvPr>
          <p:cNvSpPr>
            <a:spLocks xmlns:a="http://schemas.openxmlformats.org/drawingml/2006/main" noGrp="1"/>
          </p:cNvSpPr>
          <p:nvPr/>
        </p:nvSpPr>
        <p:spPr>
          <a:xfrm xmlns:a="http://schemas.openxmlformats.org/drawingml/2006/main">
            <a:off x="182880" y="1371600"/>
            <a:ext cx="1279800" cy="319680"/>
          </a:xfrm>
          <a:prstGeom xmlns:a="http://schemas.openxmlformats.org/drawingml/2006/main" prst="roundRect">
            <a:avLst>
              <a:gd name="adj" fmla="val 28571"/>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36" name="Text 6">
            <a:extLst xmlns:a="http://schemas.openxmlformats.org/drawingml/2006/main">
              <a:ext uri="{FF2B5EF4-FFF2-40B4-BE49-F238E27FC236}">
                <a16:creationId xmlns:a16="http://schemas.microsoft.com/office/drawing/2014/main" id="{77BC2CBF-E4E5-409A-8BE6-ABF99EEA2003}"/>
              </a:ext>
            </a:extLst>
          </p:cNvPr>
          <p:cNvSpPr>
            <a:spLocks xmlns:a="http://schemas.openxmlformats.org/drawingml/2006/main" noGrp="1"/>
          </p:cNvSpPr>
          <p:nvPr/>
        </p:nvSpPr>
        <p:spPr>
          <a:xfrm xmlns:a="http://schemas.openxmlformats.org/drawingml/2006/main">
            <a:off x="228600" y="1463040"/>
            <a:ext cx="118836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inventory.cdc</a:t>
            </a:r>
          </a:p>
        </p:txBody>
      </p:sp>
      <p:sp>
        <p:nvSpPr>
          <p:cNvPr id="237" name="Shape 7">
            <a:extLst xmlns:a="http://schemas.openxmlformats.org/drawingml/2006/main">
              <a:ext uri="{FF2B5EF4-FFF2-40B4-BE49-F238E27FC236}">
                <a16:creationId xmlns:a16="http://schemas.microsoft.com/office/drawing/2014/main" id="{FCE35334-B1E3-4BD1-B0D4-7B5FEDD2BE56}"/>
              </a:ext>
            </a:extLst>
          </p:cNvPr>
          <p:cNvSpPr>
            <a:spLocks xmlns:a="http://schemas.openxmlformats.org/drawingml/2006/main" noGrp="1"/>
          </p:cNvSpPr>
          <p:nvPr/>
        </p:nvSpPr>
        <p:spPr>
          <a:xfrm xmlns:a="http://schemas.openxmlformats.org/drawingml/2006/main">
            <a:off x="1463040" y="1481400"/>
            <a:ext cx="27396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238" name="Shape 8">
            <a:extLst xmlns:a="http://schemas.openxmlformats.org/drawingml/2006/main">
              <a:ext uri="{FF2B5EF4-FFF2-40B4-BE49-F238E27FC236}">
                <a16:creationId xmlns:a16="http://schemas.microsoft.com/office/drawing/2014/main" id="{3FAF9396-B234-495A-9B41-42D38E5E199E}"/>
              </a:ext>
            </a:extLst>
          </p:cNvPr>
          <p:cNvSpPr>
            <a:spLocks xmlns:a="http://schemas.openxmlformats.org/drawingml/2006/main" noGrp="1"/>
          </p:cNvSpPr>
          <p:nvPr/>
        </p:nvSpPr>
        <p:spPr>
          <a:xfrm xmlns:a="http://schemas.openxmlformats.org/drawingml/2006/main">
            <a:off x="182880" y="1828800"/>
            <a:ext cx="1279800" cy="319680"/>
          </a:xfrm>
          <a:prstGeom xmlns:a="http://schemas.openxmlformats.org/drawingml/2006/main" prst="roundRect">
            <a:avLst>
              <a:gd name="adj" fmla="val 28571"/>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39" name="Text 9">
            <a:extLst xmlns:a="http://schemas.openxmlformats.org/drawingml/2006/main">
              <a:ext uri="{FF2B5EF4-FFF2-40B4-BE49-F238E27FC236}">
                <a16:creationId xmlns:a16="http://schemas.microsoft.com/office/drawing/2014/main" id="{08785666-25B1-496D-8D84-70B59C153443}"/>
              </a:ext>
            </a:extLst>
          </p:cNvPr>
          <p:cNvSpPr>
            <a:spLocks xmlns:a="http://schemas.openxmlformats.org/drawingml/2006/main" noGrp="1"/>
          </p:cNvSpPr>
          <p:nvPr/>
        </p:nvSpPr>
        <p:spPr>
          <a:xfrm xmlns:a="http://schemas.openxmlformats.org/drawingml/2006/main">
            <a:off x="228600" y="1920240"/>
            <a:ext cx="118836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clickstream</a:t>
            </a:r>
          </a:p>
        </p:txBody>
      </p:sp>
      <p:sp>
        <p:nvSpPr>
          <p:cNvPr id="240" name="Shape 10">
            <a:extLst xmlns:a="http://schemas.openxmlformats.org/drawingml/2006/main">
              <a:ext uri="{FF2B5EF4-FFF2-40B4-BE49-F238E27FC236}">
                <a16:creationId xmlns:a16="http://schemas.microsoft.com/office/drawing/2014/main" id="{E6B7584A-6B9B-4761-9FDE-BCB611A90F1E}"/>
              </a:ext>
            </a:extLst>
          </p:cNvPr>
          <p:cNvSpPr>
            <a:spLocks xmlns:a="http://schemas.openxmlformats.org/drawingml/2006/main" noGrp="1"/>
          </p:cNvSpPr>
          <p:nvPr/>
        </p:nvSpPr>
        <p:spPr>
          <a:xfrm xmlns:a="http://schemas.openxmlformats.org/drawingml/2006/main">
            <a:off x="1463040" y="1938600"/>
            <a:ext cx="27396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241" name="Shape 11">
            <a:extLst xmlns:a="http://schemas.openxmlformats.org/drawingml/2006/main">
              <a:ext uri="{FF2B5EF4-FFF2-40B4-BE49-F238E27FC236}">
                <a16:creationId xmlns:a16="http://schemas.microsoft.com/office/drawing/2014/main" id="{510757D9-7013-407A-9F0E-6C2C1ADCDD14}"/>
              </a:ext>
            </a:extLst>
          </p:cNvPr>
          <p:cNvSpPr>
            <a:spLocks xmlns:a="http://schemas.openxmlformats.org/drawingml/2006/main" noGrp="1"/>
          </p:cNvSpPr>
          <p:nvPr/>
        </p:nvSpPr>
        <p:spPr>
          <a:xfrm xmlns:a="http://schemas.openxmlformats.org/drawingml/2006/main">
            <a:off x="182880" y="2286000"/>
            <a:ext cx="1279800" cy="319680"/>
          </a:xfrm>
          <a:prstGeom xmlns:a="http://schemas.openxmlformats.org/drawingml/2006/main" prst="roundRect">
            <a:avLst>
              <a:gd name="adj" fmla="val 28571"/>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42" name="Text 12">
            <a:extLst xmlns:a="http://schemas.openxmlformats.org/drawingml/2006/main">
              <a:ext uri="{FF2B5EF4-FFF2-40B4-BE49-F238E27FC236}">
                <a16:creationId xmlns:a16="http://schemas.microsoft.com/office/drawing/2014/main" id="{9E9F95E4-C407-479E-B5B9-76DC06D95250}"/>
              </a:ext>
            </a:extLst>
          </p:cNvPr>
          <p:cNvSpPr>
            <a:spLocks xmlns:a="http://schemas.openxmlformats.org/drawingml/2006/main" noGrp="1"/>
          </p:cNvSpPr>
          <p:nvPr/>
        </p:nvSpPr>
        <p:spPr>
          <a:xfrm xmlns:a="http://schemas.openxmlformats.org/drawingml/2006/main">
            <a:off x="228600" y="2377440"/>
            <a:ext cx="118836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logistics.csv</a:t>
            </a:r>
          </a:p>
        </p:txBody>
      </p:sp>
      <p:sp>
        <p:nvSpPr>
          <p:cNvPr id="243" name="Shape 13">
            <a:extLst xmlns:a="http://schemas.openxmlformats.org/drawingml/2006/main">
              <a:ext uri="{FF2B5EF4-FFF2-40B4-BE49-F238E27FC236}">
                <a16:creationId xmlns:a16="http://schemas.microsoft.com/office/drawing/2014/main" id="{31249FD9-8938-41D2-8C8E-6A2A08458371}"/>
              </a:ext>
            </a:extLst>
          </p:cNvPr>
          <p:cNvSpPr>
            <a:spLocks xmlns:a="http://schemas.openxmlformats.org/drawingml/2006/main" noGrp="1"/>
          </p:cNvSpPr>
          <p:nvPr/>
        </p:nvSpPr>
        <p:spPr>
          <a:xfrm xmlns:a="http://schemas.openxmlformats.org/drawingml/2006/main">
            <a:off x="1463040" y="2395800"/>
            <a:ext cx="27396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244" name="Shape 14">
            <a:extLst xmlns:a="http://schemas.openxmlformats.org/drawingml/2006/main">
              <a:ext uri="{FF2B5EF4-FFF2-40B4-BE49-F238E27FC236}">
                <a16:creationId xmlns:a16="http://schemas.microsoft.com/office/drawing/2014/main" id="{88A9FDB2-F0B1-46FA-89F3-5AD0319E293F}"/>
              </a:ext>
            </a:extLst>
          </p:cNvPr>
          <p:cNvSpPr>
            <a:spLocks xmlns:a="http://schemas.openxmlformats.org/drawingml/2006/main" noGrp="1"/>
          </p:cNvSpPr>
          <p:nvPr/>
        </p:nvSpPr>
        <p:spPr>
          <a:xfrm xmlns:a="http://schemas.openxmlformats.org/drawingml/2006/main">
            <a:off x="1737360" y="914400"/>
            <a:ext cx="2011320" cy="1462680"/>
          </a:xfrm>
          <a:prstGeom xmlns:a="http://schemas.openxmlformats.org/drawingml/2006/main" prst="rect">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45" name="Text 15">
            <a:extLst xmlns:a="http://schemas.openxmlformats.org/drawingml/2006/main">
              <a:ext uri="{FF2B5EF4-FFF2-40B4-BE49-F238E27FC236}">
                <a16:creationId xmlns:a16="http://schemas.microsoft.com/office/drawing/2014/main" id="{281BD703-1E52-4DC5-AD1E-A7C64DB790E5}"/>
              </a:ext>
            </a:extLst>
          </p:cNvPr>
          <p:cNvSpPr>
            <a:spLocks xmlns:a="http://schemas.openxmlformats.org/drawingml/2006/main" noGrp="1"/>
          </p:cNvSpPr>
          <p:nvPr/>
        </p:nvSpPr>
        <p:spPr>
          <a:xfrm xmlns:a="http://schemas.openxmlformats.org/drawingml/2006/main">
            <a:off x="1828800" y="914400"/>
            <a:ext cx="1828440" cy="1462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1000" b="0" u="none">
                <a:solidFill>
                  <a:srgbClr val="FFFFFF"/>
                </a:solidFill>
                <a:latin typeface="Calibri"/>
                <a:ea typeface="Calibri"/>
                <a:cs typeface="Calibri"/>
              </a:rPr>
              <a:t>ksqlDB</a:t>
            </a:r>
          </a:p>
          <a:p xmlns:a="http://schemas.openxmlformats.org/drawingml/2006/main">
            <a:pPr algn="ctr">
              <a:lnSpc>
                <a:spcPct val="100000"/>
              </a:lnSpc>
              <a:buNone/>
            </a:pPr>
            <a:r>
              <a:rPr sz="1000" b="0" u="none">
                <a:solidFill>
                  <a:srgbClr val="FFFFFF"/>
                </a:solidFill>
                <a:latin typeface="Calibri"/>
                <a:ea typeface="Calibri"/>
                <a:cs typeface="Calibri"/>
              </a:rPr>
              <a:t>Persistent Queries</a:t>
            </a:r>
          </a:p>
        </p:txBody>
      </p:sp>
      <p:sp>
        <p:nvSpPr>
          <p:cNvPr id="246" name="Shape 16">
            <a:extLst xmlns:a="http://schemas.openxmlformats.org/drawingml/2006/main">
              <a:ext uri="{FF2B5EF4-FFF2-40B4-BE49-F238E27FC236}">
                <a16:creationId xmlns:a16="http://schemas.microsoft.com/office/drawing/2014/main" id="{B3C9A798-B2CF-4A34-8B99-4F00718D720A}"/>
              </a:ext>
            </a:extLst>
          </p:cNvPr>
          <p:cNvSpPr>
            <a:spLocks xmlns:a="http://schemas.openxmlformats.org/drawingml/2006/main" noGrp="1"/>
          </p:cNvSpPr>
          <p:nvPr/>
        </p:nvSpPr>
        <p:spPr>
          <a:xfrm xmlns:a="http://schemas.openxmlformats.org/drawingml/2006/main">
            <a:off x="3749040" y="1188720"/>
            <a:ext cx="36540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247" name="Shape 17">
            <a:extLst xmlns:a="http://schemas.openxmlformats.org/drawingml/2006/main">
              <a:ext uri="{FF2B5EF4-FFF2-40B4-BE49-F238E27FC236}">
                <a16:creationId xmlns:a16="http://schemas.microsoft.com/office/drawing/2014/main" id="{4EFC91BB-6667-4094-A787-DD2561749908}"/>
              </a:ext>
            </a:extLst>
          </p:cNvPr>
          <p:cNvSpPr>
            <a:spLocks xmlns:a="http://schemas.openxmlformats.org/drawingml/2006/main" noGrp="1"/>
          </p:cNvSpPr>
          <p:nvPr/>
        </p:nvSpPr>
        <p:spPr>
          <a:xfrm xmlns:a="http://schemas.openxmlformats.org/drawingml/2006/main">
            <a:off x="4114800" y="1051560"/>
            <a:ext cx="1371240" cy="319680"/>
          </a:xfrm>
          <a:prstGeom xmlns:a="http://schemas.openxmlformats.org/drawingml/2006/main" prst="roundRect">
            <a:avLst>
              <a:gd name="adj" fmla="val 28571"/>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48" name="Text 18">
            <a:extLst xmlns:a="http://schemas.openxmlformats.org/drawingml/2006/main">
              <a:ext uri="{FF2B5EF4-FFF2-40B4-BE49-F238E27FC236}">
                <a16:creationId xmlns:a16="http://schemas.microsoft.com/office/drawing/2014/main" id="{0A29974E-5B33-4150-BB51-3977F07AE984}"/>
              </a:ext>
            </a:extLst>
          </p:cNvPr>
          <p:cNvSpPr>
            <a:spLocks xmlns:a="http://schemas.openxmlformats.org/drawingml/2006/main" noGrp="1"/>
          </p:cNvSpPr>
          <p:nvPr/>
        </p:nvSpPr>
        <p:spPr>
          <a:xfrm xmlns:a="http://schemas.openxmlformats.org/drawingml/2006/main">
            <a:off x="4160520" y="1143000"/>
            <a:ext cx="127980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enriched_orders</a:t>
            </a:r>
          </a:p>
        </p:txBody>
      </p:sp>
      <p:sp>
        <p:nvSpPr>
          <p:cNvPr id="249" name="Shape 19">
            <a:extLst xmlns:a="http://schemas.openxmlformats.org/drawingml/2006/main">
              <a:ext uri="{FF2B5EF4-FFF2-40B4-BE49-F238E27FC236}">
                <a16:creationId xmlns:a16="http://schemas.microsoft.com/office/drawing/2014/main" id="{254D244B-1147-4280-9830-1B931DAC3512}"/>
              </a:ext>
            </a:extLst>
          </p:cNvPr>
          <p:cNvSpPr>
            <a:spLocks xmlns:a="http://schemas.openxmlformats.org/drawingml/2006/main" noGrp="1"/>
          </p:cNvSpPr>
          <p:nvPr/>
        </p:nvSpPr>
        <p:spPr>
          <a:xfrm xmlns:a="http://schemas.openxmlformats.org/drawingml/2006/main">
            <a:off x="3749040" y="1645920"/>
            <a:ext cx="36540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250" name="Shape 20">
            <a:extLst xmlns:a="http://schemas.openxmlformats.org/drawingml/2006/main">
              <a:ext uri="{FF2B5EF4-FFF2-40B4-BE49-F238E27FC236}">
                <a16:creationId xmlns:a16="http://schemas.microsoft.com/office/drawing/2014/main" id="{FCF24F93-7899-4DD7-8CA6-8A28ABDB5D8D}"/>
              </a:ext>
            </a:extLst>
          </p:cNvPr>
          <p:cNvSpPr>
            <a:spLocks xmlns:a="http://schemas.openxmlformats.org/drawingml/2006/main" noGrp="1"/>
          </p:cNvSpPr>
          <p:nvPr/>
        </p:nvSpPr>
        <p:spPr>
          <a:xfrm xmlns:a="http://schemas.openxmlformats.org/drawingml/2006/main">
            <a:off x="4114800" y="1508760"/>
            <a:ext cx="1371240" cy="319680"/>
          </a:xfrm>
          <a:prstGeom xmlns:a="http://schemas.openxmlformats.org/drawingml/2006/main" prst="roundRect">
            <a:avLst>
              <a:gd name="adj" fmla="val 28571"/>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51" name="Text 21">
            <a:extLst xmlns:a="http://schemas.openxmlformats.org/drawingml/2006/main">
              <a:ext uri="{FF2B5EF4-FFF2-40B4-BE49-F238E27FC236}">
                <a16:creationId xmlns:a16="http://schemas.microsoft.com/office/drawing/2014/main" id="{D0E80760-916A-4E5E-88CC-EFBACF2D1F90}"/>
              </a:ext>
            </a:extLst>
          </p:cNvPr>
          <p:cNvSpPr>
            <a:spLocks xmlns:a="http://schemas.openxmlformats.org/drawingml/2006/main" noGrp="1"/>
          </p:cNvSpPr>
          <p:nvPr/>
        </p:nvSpPr>
        <p:spPr>
          <a:xfrm xmlns:a="http://schemas.openxmlformats.org/drawingml/2006/main">
            <a:off x="4160520" y="1600200"/>
            <a:ext cx="127980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stock_alerts</a:t>
            </a:r>
          </a:p>
        </p:txBody>
      </p:sp>
      <p:sp>
        <p:nvSpPr>
          <p:cNvPr id="252" name="Shape 22">
            <a:extLst xmlns:a="http://schemas.openxmlformats.org/drawingml/2006/main">
              <a:ext uri="{FF2B5EF4-FFF2-40B4-BE49-F238E27FC236}">
                <a16:creationId xmlns:a16="http://schemas.microsoft.com/office/drawing/2014/main" id="{43EA6C3E-4366-484D-869B-D91E9C24CEFE}"/>
              </a:ext>
            </a:extLst>
          </p:cNvPr>
          <p:cNvSpPr>
            <a:spLocks xmlns:a="http://schemas.openxmlformats.org/drawingml/2006/main" noGrp="1"/>
          </p:cNvSpPr>
          <p:nvPr/>
        </p:nvSpPr>
        <p:spPr>
          <a:xfrm xmlns:a="http://schemas.openxmlformats.org/drawingml/2006/main">
            <a:off x="3749040" y="2103120"/>
            <a:ext cx="36540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253" name="Shape 23">
            <a:extLst xmlns:a="http://schemas.openxmlformats.org/drawingml/2006/main">
              <a:ext uri="{FF2B5EF4-FFF2-40B4-BE49-F238E27FC236}">
                <a16:creationId xmlns:a16="http://schemas.microsoft.com/office/drawing/2014/main" id="{569D8CF5-6ED0-4E1E-9519-C3132E00F4C9}"/>
              </a:ext>
            </a:extLst>
          </p:cNvPr>
          <p:cNvSpPr>
            <a:spLocks xmlns:a="http://schemas.openxmlformats.org/drawingml/2006/main" noGrp="1"/>
          </p:cNvSpPr>
          <p:nvPr/>
        </p:nvSpPr>
        <p:spPr>
          <a:xfrm xmlns:a="http://schemas.openxmlformats.org/drawingml/2006/main">
            <a:off x="4114800" y="1965960"/>
            <a:ext cx="1371240" cy="319680"/>
          </a:xfrm>
          <a:prstGeom xmlns:a="http://schemas.openxmlformats.org/drawingml/2006/main" prst="roundRect">
            <a:avLst>
              <a:gd name="adj" fmla="val 28571"/>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54" name="Text 24">
            <a:extLst xmlns:a="http://schemas.openxmlformats.org/drawingml/2006/main">
              <a:ext uri="{FF2B5EF4-FFF2-40B4-BE49-F238E27FC236}">
                <a16:creationId xmlns:a16="http://schemas.microsoft.com/office/drawing/2014/main" id="{6F34218E-3B31-47C1-8AEA-45C62EE9989E}"/>
              </a:ext>
            </a:extLst>
          </p:cNvPr>
          <p:cNvSpPr>
            <a:spLocks xmlns:a="http://schemas.openxmlformats.org/drawingml/2006/main" noGrp="1"/>
          </p:cNvSpPr>
          <p:nvPr/>
        </p:nvSpPr>
        <p:spPr>
          <a:xfrm xmlns:a="http://schemas.openxmlformats.org/drawingml/2006/main">
            <a:off x="4160520" y="2057400"/>
            <a:ext cx="127980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real_time_metrics</a:t>
            </a:r>
          </a:p>
        </p:txBody>
      </p:sp>
      <p:sp>
        <p:nvSpPr>
          <p:cNvPr id="255" name="Shape 25">
            <a:extLst xmlns:a="http://schemas.openxmlformats.org/drawingml/2006/main">
              <a:ext uri="{FF2B5EF4-FFF2-40B4-BE49-F238E27FC236}">
                <a16:creationId xmlns:a16="http://schemas.microsoft.com/office/drawing/2014/main" id="{AA9F0DEF-BBD9-4B3F-B169-661DF1B8FFAA}"/>
              </a:ext>
            </a:extLst>
          </p:cNvPr>
          <p:cNvSpPr>
            <a:spLocks xmlns:a="http://schemas.openxmlformats.org/drawingml/2006/main" noGrp="1"/>
          </p:cNvSpPr>
          <p:nvPr/>
        </p:nvSpPr>
        <p:spPr>
          <a:xfrm xmlns:a="http://schemas.openxmlformats.org/drawingml/2006/main">
            <a:off x="5577840" y="1508760"/>
            <a:ext cx="36540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256" name="Shape 26">
            <a:extLst xmlns:a="http://schemas.openxmlformats.org/drawingml/2006/main">
              <a:ext uri="{FF2B5EF4-FFF2-40B4-BE49-F238E27FC236}">
                <a16:creationId xmlns:a16="http://schemas.microsoft.com/office/drawing/2014/main" id="{A4D158A4-FBD8-4731-B30B-6CE6DFE45E11}"/>
              </a:ext>
            </a:extLst>
          </p:cNvPr>
          <p:cNvSpPr>
            <a:spLocks xmlns:a="http://schemas.openxmlformats.org/drawingml/2006/main" noGrp="1"/>
          </p:cNvSpPr>
          <p:nvPr/>
        </p:nvSpPr>
        <p:spPr>
          <a:xfrm xmlns:a="http://schemas.openxmlformats.org/drawingml/2006/main">
            <a:off x="5943600" y="1371600"/>
            <a:ext cx="2194200" cy="456840"/>
          </a:xfrm>
          <a:prstGeom xmlns:a="http://schemas.openxmlformats.org/drawingml/2006/main" prst="roundRect">
            <a:avLst>
              <a:gd name="adj" fmla="val 20000"/>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57" name="Text 27">
            <a:extLst xmlns:a="http://schemas.openxmlformats.org/drawingml/2006/main">
              <a:ext uri="{FF2B5EF4-FFF2-40B4-BE49-F238E27FC236}">
                <a16:creationId xmlns:a16="http://schemas.microsoft.com/office/drawing/2014/main" id="{F14FF030-12FC-48BD-B919-0A4F1F24B2B5}"/>
              </a:ext>
            </a:extLst>
          </p:cNvPr>
          <p:cNvSpPr>
            <a:spLocks xmlns:a="http://schemas.openxmlformats.org/drawingml/2006/main" noGrp="1"/>
          </p:cNvSpPr>
          <p:nvPr/>
        </p:nvSpPr>
        <p:spPr>
          <a:xfrm xmlns:a="http://schemas.openxmlformats.org/drawingml/2006/main">
            <a:off x="5989320" y="1417320"/>
            <a:ext cx="210276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Materialized View</a:t>
            </a:r>
          </a:p>
          <a:p xmlns:a="http://schemas.openxmlformats.org/drawingml/2006/main">
            <a:pPr algn="ctr">
              <a:lnSpc>
                <a:spcPct val="100000"/>
              </a:lnSpc>
              <a:buNone/>
            </a:pPr>
            <a:r>
              <a:rPr sz="800" b="0" u="none">
                <a:solidFill>
                  <a:srgbClr val="FFFFFF"/>
                </a:solidFill>
                <a:latin typeface="Calibri"/>
                <a:ea typeface="Calibri"/>
                <a:cs typeface="Calibri"/>
              </a:rPr>
              <a:t>(e.g., page_view_counts)</a:t>
            </a:r>
          </a:p>
        </p:txBody>
      </p:sp>
      <p:sp>
        <p:nvSpPr>
          <p:cNvPr id="258" name="Shape 28">
            <a:extLst xmlns:a="http://schemas.openxmlformats.org/drawingml/2006/main">
              <a:ext uri="{FF2B5EF4-FFF2-40B4-BE49-F238E27FC236}">
                <a16:creationId xmlns:a16="http://schemas.microsoft.com/office/drawing/2014/main" id="{6BED17AD-F209-430B-AC5C-E7021D0F44D8}"/>
              </a:ext>
            </a:extLst>
          </p:cNvPr>
          <p:cNvSpPr>
            <a:spLocks xmlns:a="http://schemas.openxmlformats.org/drawingml/2006/main" noGrp="1"/>
          </p:cNvSpPr>
          <p:nvPr/>
        </p:nvSpPr>
        <p:spPr>
          <a:xfrm xmlns:a="http://schemas.openxmlformats.org/drawingml/2006/main">
            <a:off x="8138160" y="1508760"/>
            <a:ext cx="36540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259" name="Shape 29">
            <a:extLst xmlns:a="http://schemas.openxmlformats.org/drawingml/2006/main">
              <a:ext uri="{FF2B5EF4-FFF2-40B4-BE49-F238E27FC236}">
                <a16:creationId xmlns:a16="http://schemas.microsoft.com/office/drawing/2014/main" id="{E17D94A1-55EF-450C-867F-23DCA64157B7}"/>
              </a:ext>
            </a:extLst>
          </p:cNvPr>
          <p:cNvSpPr>
            <a:spLocks xmlns:a="http://schemas.openxmlformats.org/drawingml/2006/main" noGrp="1"/>
          </p:cNvSpPr>
          <p:nvPr/>
        </p:nvSpPr>
        <p:spPr>
          <a:xfrm xmlns:a="http://schemas.openxmlformats.org/drawingml/2006/main">
            <a:off x="8503920" y="1371600"/>
            <a:ext cx="1096920" cy="456840"/>
          </a:xfrm>
          <a:prstGeom xmlns:a="http://schemas.openxmlformats.org/drawingml/2006/main" prst="roundRect">
            <a:avLst>
              <a:gd name="adj" fmla="val 20000"/>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60" name="Text 30">
            <a:extLst xmlns:a="http://schemas.openxmlformats.org/drawingml/2006/main">
              <a:ext uri="{FF2B5EF4-FFF2-40B4-BE49-F238E27FC236}">
                <a16:creationId xmlns:a16="http://schemas.microsoft.com/office/drawing/2014/main" id="{85CC285C-15B2-4C7E-8741-0111A9D113AB}"/>
              </a:ext>
            </a:extLst>
          </p:cNvPr>
          <p:cNvSpPr>
            <a:spLocks xmlns:a="http://schemas.openxmlformats.org/drawingml/2006/main" noGrp="1"/>
          </p:cNvSpPr>
          <p:nvPr/>
        </p:nvSpPr>
        <p:spPr>
          <a:xfrm xmlns:a="http://schemas.openxmlformats.org/drawingml/2006/main">
            <a:off x="8522280" y="1417320"/>
            <a:ext cx="106020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Freshness / Alerts</a:t>
            </a:r>
          </a:p>
        </p:txBody>
      </p:sp>
      <p:sp>
        <p:nvSpPr>
          <p:cNvPr id="261" name="Text 31">
            <a:extLst xmlns:a="http://schemas.openxmlformats.org/drawingml/2006/main">
              <a:ext uri="{FF2B5EF4-FFF2-40B4-BE49-F238E27FC236}">
                <a16:creationId xmlns:a16="http://schemas.microsoft.com/office/drawing/2014/main" id="{90BE4944-D29C-416F-AF05-545A147E160A}"/>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81ad760a0d11458b"/>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333608c5931d4ff6"/>
              </a:rPr>
              <a:t>[2]</a:t>
            </a:r>
          </a:p>
        </p:txBody>
      </p:sp>
    </p:spTree>
    <p:extLst>
      <p:ext uri="{BB962C8B-B14F-4D97-AF65-F5344CB8AC3E}">
        <p14:creationId xmlns:p14="http://schemas.microsoft.com/office/powerpoint/2010/main" val="1903971141"/>
      </p:ext>
    </p:extLst>
  </p:cSld>
</p:sld>
</file>

<file path=ppt/slides/slide15.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62" name="Shape 0">
            <a:extLst xmlns:a="http://schemas.openxmlformats.org/drawingml/2006/main">
              <a:ext uri="{FF2B5EF4-FFF2-40B4-BE49-F238E27FC236}">
                <a16:creationId xmlns:a16="http://schemas.microsoft.com/office/drawing/2014/main" id="{88442DA9-02E2-4BB9-906F-34D28349000B}"/>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63" name="Text 1">
            <a:extLst xmlns:a="http://schemas.openxmlformats.org/drawingml/2006/main">
              <a:ext uri="{FF2B5EF4-FFF2-40B4-BE49-F238E27FC236}">
                <a16:creationId xmlns:a16="http://schemas.microsoft.com/office/drawing/2014/main" id="{394C5804-2967-4C26-B4B7-80503B95F68F}"/>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Lab Part A: Establish a Healthy Baseline</a:t>
            </a:r>
          </a:p>
        </p:txBody>
      </p:sp>
      <p:sp>
        <p:nvSpPr>
          <p:cNvPr id="264" name="Shape 2">
            <a:extLst xmlns:a="http://schemas.openxmlformats.org/drawingml/2006/main">
              <a:ext uri="{FF2B5EF4-FFF2-40B4-BE49-F238E27FC236}">
                <a16:creationId xmlns:a16="http://schemas.microsoft.com/office/drawing/2014/main" id="{08E7F60D-604C-4130-A139-A37A6483A7CC}"/>
              </a:ext>
            </a:extLst>
          </p:cNvPr>
          <p:cNvSpPr>
            <a:spLocks xmlns:a="http://schemas.openxmlformats.org/drawingml/2006/main" noGrp="1"/>
          </p:cNvSpPr>
          <p:nvPr/>
        </p:nvSpPr>
        <p:spPr>
          <a:xfrm xmlns:a="http://schemas.openxmlformats.org/drawingml/2006/main">
            <a:off x="457200" y="731520"/>
            <a:ext cx="319680" cy="319680"/>
          </a:xfrm>
          <a:prstGeom xmlns:a="http://schemas.openxmlformats.org/drawingml/2006/main" prst="roundRect">
            <a:avLst>
              <a:gd name="adj" fmla="val 28571"/>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65" name="Text 3">
            <a:extLst xmlns:a="http://schemas.openxmlformats.org/drawingml/2006/main">
              <a:ext uri="{FF2B5EF4-FFF2-40B4-BE49-F238E27FC236}">
                <a16:creationId xmlns:a16="http://schemas.microsoft.com/office/drawing/2014/main" id="{6A27A76A-63D4-4978-AFD0-BDB61606862C}"/>
              </a:ext>
            </a:extLst>
          </p:cNvPr>
          <p:cNvSpPr>
            <a:spLocks xmlns:a="http://schemas.openxmlformats.org/drawingml/2006/main" noGrp="1"/>
          </p:cNvSpPr>
          <p:nvPr/>
        </p:nvSpPr>
        <p:spPr>
          <a:xfrm xmlns:a="http://schemas.openxmlformats.org/drawingml/2006/main">
            <a:off x="457200" y="731520"/>
            <a:ext cx="319680" cy="319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1200" b="1" u="none">
                <a:solidFill>
                  <a:srgbClr val="FFFFFF"/>
                </a:solidFill>
                <a:latin typeface="Calibri"/>
                <a:ea typeface="Calibri"/>
                <a:cs typeface="Calibri"/>
              </a:rPr>
              <a:t>1</a:t>
            </a:r>
          </a:p>
        </p:txBody>
      </p:sp>
      <p:sp>
        <p:nvSpPr>
          <p:cNvPr id="266" name="Text 4">
            <a:extLst xmlns:a="http://schemas.openxmlformats.org/drawingml/2006/main">
              <a:ext uri="{FF2B5EF4-FFF2-40B4-BE49-F238E27FC236}">
                <a16:creationId xmlns:a16="http://schemas.microsoft.com/office/drawing/2014/main" id="{354677A3-62B9-46FD-9461-A16CAB9B5799}"/>
              </a:ext>
            </a:extLst>
          </p:cNvPr>
          <p:cNvSpPr>
            <a:spLocks xmlns:a="http://schemas.openxmlformats.org/drawingml/2006/main" noGrp="1"/>
          </p:cNvSpPr>
          <p:nvPr/>
        </p:nvSpPr>
        <p:spPr>
          <a:xfrm xmlns:a="http://schemas.openxmlformats.org/drawingml/2006/main">
            <a:off x="822960" y="777240"/>
            <a:ext cx="7772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Start the supplied Kafka, Schema Registry, ksqlDB and Kafka UI stack</a:t>
            </a:r>
          </a:p>
        </p:txBody>
      </p:sp>
      <p:sp>
        <p:nvSpPr>
          <p:cNvPr id="267" name="Shape 5">
            <a:extLst xmlns:a="http://schemas.openxmlformats.org/drawingml/2006/main">
              <a:ext uri="{FF2B5EF4-FFF2-40B4-BE49-F238E27FC236}">
                <a16:creationId xmlns:a16="http://schemas.microsoft.com/office/drawing/2014/main" id="{D4538C83-C9A0-4FA5-B0FE-6CCBA529483A}"/>
              </a:ext>
            </a:extLst>
          </p:cNvPr>
          <p:cNvSpPr>
            <a:spLocks xmlns:a="http://schemas.openxmlformats.org/drawingml/2006/main" noGrp="1"/>
          </p:cNvSpPr>
          <p:nvPr/>
        </p:nvSpPr>
        <p:spPr>
          <a:xfrm xmlns:a="http://schemas.openxmlformats.org/drawingml/2006/main">
            <a:off x="457200" y="1143000"/>
            <a:ext cx="319680" cy="319680"/>
          </a:xfrm>
          <a:prstGeom xmlns:a="http://schemas.openxmlformats.org/drawingml/2006/main" prst="roundRect">
            <a:avLst>
              <a:gd name="adj" fmla="val 28571"/>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68" name="Text 6">
            <a:extLst xmlns:a="http://schemas.openxmlformats.org/drawingml/2006/main">
              <a:ext uri="{FF2B5EF4-FFF2-40B4-BE49-F238E27FC236}">
                <a16:creationId xmlns:a16="http://schemas.microsoft.com/office/drawing/2014/main" id="{B2660667-4C55-4D2F-8E15-66D5BBBAC0AE}"/>
              </a:ext>
            </a:extLst>
          </p:cNvPr>
          <p:cNvSpPr>
            <a:spLocks xmlns:a="http://schemas.openxmlformats.org/drawingml/2006/main" noGrp="1"/>
          </p:cNvSpPr>
          <p:nvPr/>
        </p:nvSpPr>
        <p:spPr>
          <a:xfrm xmlns:a="http://schemas.openxmlformats.org/drawingml/2006/main">
            <a:off x="457200" y="1143000"/>
            <a:ext cx="319680" cy="319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1200" b="1" u="none">
                <a:solidFill>
                  <a:srgbClr val="FFFFFF"/>
                </a:solidFill>
                <a:latin typeface="Calibri"/>
                <a:ea typeface="Calibri"/>
                <a:cs typeface="Calibri"/>
              </a:rPr>
              <a:t>2</a:t>
            </a:r>
          </a:p>
        </p:txBody>
      </p:sp>
      <p:sp>
        <p:nvSpPr>
          <p:cNvPr id="269" name="Text 7">
            <a:extLst xmlns:a="http://schemas.openxmlformats.org/drawingml/2006/main">
              <a:ext uri="{FF2B5EF4-FFF2-40B4-BE49-F238E27FC236}">
                <a16:creationId xmlns:a16="http://schemas.microsoft.com/office/drawing/2014/main" id="{3EE6AC28-1C37-4E65-8926-256D07E8FD10}"/>
              </a:ext>
            </a:extLst>
          </p:cNvPr>
          <p:cNvSpPr>
            <a:spLocks xmlns:a="http://schemas.openxmlformats.org/drawingml/2006/main" noGrp="1"/>
          </p:cNvSpPr>
          <p:nvPr/>
        </p:nvSpPr>
        <p:spPr>
          <a:xfrm xmlns:a="http://schemas.openxmlformats.org/drawingml/2006/main">
            <a:off x="822960" y="1188720"/>
            <a:ext cx="7772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Create the provided orders stream and generate test events</a:t>
            </a:r>
          </a:p>
        </p:txBody>
      </p:sp>
      <p:sp>
        <p:nvSpPr>
          <p:cNvPr id="270" name="Shape 8">
            <a:extLst xmlns:a="http://schemas.openxmlformats.org/drawingml/2006/main">
              <a:ext uri="{FF2B5EF4-FFF2-40B4-BE49-F238E27FC236}">
                <a16:creationId xmlns:a16="http://schemas.microsoft.com/office/drawing/2014/main" id="{C074BFBB-1095-4DA1-A3B3-73A33850F29A}"/>
              </a:ext>
            </a:extLst>
          </p:cNvPr>
          <p:cNvSpPr>
            <a:spLocks xmlns:a="http://schemas.openxmlformats.org/drawingml/2006/main" noGrp="1"/>
          </p:cNvSpPr>
          <p:nvPr/>
        </p:nvSpPr>
        <p:spPr>
          <a:xfrm xmlns:a="http://schemas.openxmlformats.org/drawingml/2006/main">
            <a:off x="457200" y="1554480"/>
            <a:ext cx="319680" cy="319680"/>
          </a:xfrm>
          <a:prstGeom xmlns:a="http://schemas.openxmlformats.org/drawingml/2006/main" prst="roundRect">
            <a:avLst>
              <a:gd name="adj" fmla="val 28571"/>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71" name="Text 9">
            <a:extLst xmlns:a="http://schemas.openxmlformats.org/drawingml/2006/main">
              <a:ext uri="{FF2B5EF4-FFF2-40B4-BE49-F238E27FC236}">
                <a16:creationId xmlns:a16="http://schemas.microsoft.com/office/drawing/2014/main" id="{68705F17-F626-4458-911F-ADC8EE158FD7}"/>
              </a:ext>
            </a:extLst>
          </p:cNvPr>
          <p:cNvSpPr>
            <a:spLocks xmlns:a="http://schemas.openxmlformats.org/drawingml/2006/main" noGrp="1"/>
          </p:cNvSpPr>
          <p:nvPr/>
        </p:nvSpPr>
        <p:spPr>
          <a:xfrm xmlns:a="http://schemas.openxmlformats.org/drawingml/2006/main">
            <a:off x="457200" y="1554480"/>
            <a:ext cx="319680" cy="319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1200" b="1" u="none">
                <a:solidFill>
                  <a:srgbClr val="FFFFFF"/>
                </a:solidFill>
                <a:latin typeface="Calibri"/>
                <a:ea typeface="Calibri"/>
                <a:cs typeface="Calibri"/>
              </a:rPr>
              <a:t>3</a:t>
            </a:r>
          </a:p>
        </p:txBody>
      </p:sp>
      <p:sp>
        <p:nvSpPr>
          <p:cNvPr id="272" name="Text 10">
            <a:extLst xmlns:a="http://schemas.openxmlformats.org/drawingml/2006/main">
              <a:ext uri="{FF2B5EF4-FFF2-40B4-BE49-F238E27FC236}">
                <a16:creationId xmlns:a16="http://schemas.microsoft.com/office/drawing/2014/main" id="{7736DE80-8EFA-4697-9C79-D0C01D070A7D}"/>
              </a:ext>
            </a:extLst>
          </p:cNvPr>
          <p:cNvSpPr>
            <a:spLocks xmlns:a="http://schemas.openxmlformats.org/drawingml/2006/main" noGrp="1"/>
          </p:cNvSpPr>
          <p:nvPr/>
        </p:nvSpPr>
        <p:spPr>
          <a:xfrm xmlns:a="http://schemas.openxmlformats.org/drawingml/2006/main">
            <a:off x="822960" y="1600200"/>
            <a:ext cx="7772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Run an aggregate query and capture expected output evidence</a:t>
            </a:r>
          </a:p>
        </p:txBody>
      </p:sp>
      <p:sp>
        <p:nvSpPr>
          <p:cNvPr id="273" name="Shape 11">
            <a:extLst xmlns:a="http://schemas.openxmlformats.org/drawingml/2006/main">
              <a:ext uri="{FF2B5EF4-FFF2-40B4-BE49-F238E27FC236}">
                <a16:creationId xmlns:a16="http://schemas.microsoft.com/office/drawing/2014/main" id="{D7313EF9-C60C-4AFD-B30D-599569C6AB43}"/>
              </a:ext>
            </a:extLst>
          </p:cNvPr>
          <p:cNvSpPr>
            <a:spLocks xmlns:a="http://schemas.openxmlformats.org/drawingml/2006/main" noGrp="1"/>
          </p:cNvSpPr>
          <p:nvPr/>
        </p:nvSpPr>
        <p:spPr>
          <a:xfrm xmlns:a="http://schemas.openxmlformats.org/drawingml/2006/main">
            <a:off x="457200" y="1965960"/>
            <a:ext cx="319680" cy="319680"/>
          </a:xfrm>
          <a:prstGeom xmlns:a="http://schemas.openxmlformats.org/drawingml/2006/main" prst="roundRect">
            <a:avLst>
              <a:gd name="adj" fmla="val 28571"/>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74" name="Text 12">
            <a:extLst xmlns:a="http://schemas.openxmlformats.org/drawingml/2006/main">
              <a:ext uri="{FF2B5EF4-FFF2-40B4-BE49-F238E27FC236}">
                <a16:creationId xmlns:a16="http://schemas.microsoft.com/office/drawing/2014/main" id="{0544A9A2-5454-4CF8-963E-D6D3C8FD8037}"/>
              </a:ext>
            </a:extLst>
          </p:cNvPr>
          <p:cNvSpPr>
            <a:spLocks xmlns:a="http://schemas.openxmlformats.org/drawingml/2006/main" noGrp="1"/>
          </p:cNvSpPr>
          <p:nvPr/>
        </p:nvSpPr>
        <p:spPr>
          <a:xfrm xmlns:a="http://schemas.openxmlformats.org/drawingml/2006/main">
            <a:off x="457200" y="1965960"/>
            <a:ext cx="319680" cy="319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1200" b="1" u="none">
                <a:solidFill>
                  <a:srgbClr val="FFFFFF"/>
                </a:solidFill>
                <a:latin typeface="Calibri"/>
                <a:ea typeface="Calibri"/>
                <a:cs typeface="Calibri"/>
              </a:rPr>
              <a:t>4</a:t>
            </a:r>
          </a:p>
        </p:txBody>
      </p:sp>
      <p:sp>
        <p:nvSpPr>
          <p:cNvPr id="275" name="Text 13">
            <a:extLst xmlns:a="http://schemas.openxmlformats.org/drawingml/2006/main">
              <a:ext uri="{FF2B5EF4-FFF2-40B4-BE49-F238E27FC236}">
                <a16:creationId xmlns:a16="http://schemas.microsoft.com/office/drawing/2014/main" id="{8B39EDBF-1380-4BDB-9D80-A9019CE7638D}"/>
              </a:ext>
            </a:extLst>
          </p:cNvPr>
          <p:cNvSpPr>
            <a:spLocks xmlns:a="http://schemas.openxmlformats.org/drawingml/2006/main" noGrp="1"/>
          </p:cNvSpPr>
          <p:nvPr/>
        </p:nvSpPr>
        <p:spPr>
          <a:xfrm xmlns:a="http://schemas.openxmlformats.org/drawingml/2006/main">
            <a:off x="822960" y="2011680"/>
            <a:ext cx="7772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Record topic names, message count and processing timestamp</a:t>
            </a:r>
          </a:p>
        </p:txBody>
      </p:sp>
      <p:sp>
        <p:nvSpPr>
          <p:cNvPr id="276" name="Shape 14">
            <a:extLst xmlns:a="http://schemas.openxmlformats.org/drawingml/2006/main">
              <a:ext uri="{FF2B5EF4-FFF2-40B4-BE49-F238E27FC236}">
                <a16:creationId xmlns:a16="http://schemas.microsoft.com/office/drawing/2014/main" id="{CB6DF88C-4EE4-4EF9-9377-1A7CF6319C60}"/>
              </a:ext>
            </a:extLst>
          </p:cNvPr>
          <p:cNvSpPr>
            <a:spLocks xmlns:a="http://schemas.openxmlformats.org/drawingml/2006/main" noGrp="1"/>
          </p:cNvSpPr>
          <p:nvPr/>
        </p:nvSpPr>
        <p:spPr>
          <a:xfrm xmlns:a="http://schemas.openxmlformats.org/drawingml/2006/main">
            <a:off x="457200" y="2377440"/>
            <a:ext cx="319680" cy="319680"/>
          </a:xfrm>
          <a:prstGeom xmlns:a="http://schemas.openxmlformats.org/drawingml/2006/main" prst="roundRect">
            <a:avLst>
              <a:gd name="adj" fmla="val 28571"/>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77" name="Text 15">
            <a:extLst xmlns:a="http://schemas.openxmlformats.org/drawingml/2006/main">
              <a:ext uri="{FF2B5EF4-FFF2-40B4-BE49-F238E27FC236}">
                <a16:creationId xmlns:a16="http://schemas.microsoft.com/office/drawing/2014/main" id="{E3B60651-F284-4435-B32D-F4AF88926C3C}"/>
              </a:ext>
            </a:extLst>
          </p:cNvPr>
          <p:cNvSpPr>
            <a:spLocks xmlns:a="http://schemas.openxmlformats.org/drawingml/2006/main" noGrp="1"/>
          </p:cNvSpPr>
          <p:nvPr/>
        </p:nvSpPr>
        <p:spPr>
          <a:xfrm xmlns:a="http://schemas.openxmlformats.org/drawingml/2006/main">
            <a:off x="457200" y="2377440"/>
            <a:ext cx="319680" cy="319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1200" b="1" u="none">
                <a:solidFill>
                  <a:srgbClr val="FFFFFF"/>
                </a:solidFill>
                <a:latin typeface="Calibri"/>
                <a:ea typeface="Calibri"/>
                <a:cs typeface="Calibri"/>
              </a:rPr>
              <a:t>5</a:t>
            </a:r>
          </a:p>
        </p:txBody>
      </p:sp>
      <p:sp>
        <p:nvSpPr>
          <p:cNvPr id="278" name="Text 16">
            <a:extLst xmlns:a="http://schemas.openxmlformats.org/drawingml/2006/main">
              <a:ext uri="{FF2B5EF4-FFF2-40B4-BE49-F238E27FC236}">
                <a16:creationId xmlns:a16="http://schemas.microsoft.com/office/drawing/2014/main" id="{2889376B-8AF5-475D-9CA9-AC3E2902F164}"/>
              </a:ext>
            </a:extLst>
          </p:cNvPr>
          <p:cNvSpPr>
            <a:spLocks xmlns:a="http://schemas.openxmlformats.org/drawingml/2006/main" noGrp="1"/>
          </p:cNvSpPr>
          <p:nvPr/>
        </p:nvSpPr>
        <p:spPr>
          <a:xfrm xmlns:a="http://schemas.openxmlformats.org/drawingml/2006/main">
            <a:off x="822960" y="2423160"/>
            <a:ext cx="7772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Identify one freshness or correctness expectation</a:t>
            </a:r>
          </a:p>
        </p:txBody>
      </p:sp>
      <p:sp>
        <p:nvSpPr>
          <p:cNvPr id="279" name="Shape 17">
            <a:extLst xmlns:a="http://schemas.openxmlformats.org/drawingml/2006/main">
              <a:ext uri="{FF2B5EF4-FFF2-40B4-BE49-F238E27FC236}">
                <a16:creationId xmlns:a16="http://schemas.microsoft.com/office/drawing/2014/main" id="{FF45275A-CF5C-4D4F-9321-EF0D8724D0D9}"/>
              </a:ext>
            </a:extLst>
          </p:cNvPr>
          <p:cNvSpPr>
            <a:spLocks xmlns:a="http://schemas.openxmlformats.org/drawingml/2006/main" noGrp="1"/>
          </p:cNvSpPr>
          <p:nvPr/>
        </p:nvSpPr>
        <p:spPr>
          <a:xfrm xmlns:a="http://schemas.openxmlformats.org/drawingml/2006/main">
            <a:off x="457200" y="2788920"/>
            <a:ext cx="319680" cy="319680"/>
          </a:xfrm>
          <a:prstGeom xmlns:a="http://schemas.openxmlformats.org/drawingml/2006/main" prst="roundRect">
            <a:avLst>
              <a:gd name="adj" fmla="val 28571"/>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80" name="Text 18">
            <a:extLst xmlns:a="http://schemas.openxmlformats.org/drawingml/2006/main">
              <a:ext uri="{FF2B5EF4-FFF2-40B4-BE49-F238E27FC236}">
                <a16:creationId xmlns:a16="http://schemas.microsoft.com/office/drawing/2014/main" id="{0A242F7C-7F3E-4BD7-8694-16879D1CB739}"/>
              </a:ext>
            </a:extLst>
          </p:cNvPr>
          <p:cNvSpPr>
            <a:spLocks xmlns:a="http://schemas.openxmlformats.org/drawingml/2006/main" noGrp="1"/>
          </p:cNvSpPr>
          <p:nvPr/>
        </p:nvSpPr>
        <p:spPr>
          <a:xfrm xmlns:a="http://schemas.openxmlformats.org/drawingml/2006/main">
            <a:off x="457200" y="2788920"/>
            <a:ext cx="319680" cy="319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1200" b="1" u="none">
                <a:solidFill>
                  <a:srgbClr val="FFFFFF"/>
                </a:solidFill>
                <a:latin typeface="Calibri"/>
                <a:ea typeface="Calibri"/>
                <a:cs typeface="Calibri"/>
              </a:rPr>
              <a:t>6</a:t>
            </a:r>
          </a:p>
        </p:txBody>
      </p:sp>
      <p:sp>
        <p:nvSpPr>
          <p:cNvPr id="281" name="Text 19">
            <a:extLst xmlns:a="http://schemas.openxmlformats.org/drawingml/2006/main">
              <a:ext uri="{FF2B5EF4-FFF2-40B4-BE49-F238E27FC236}">
                <a16:creationId xmlns:a16="http://schemas.microsoft.com/office/drawing/2014/main" id="{665D0C08-E071-4C86-9DCB-D7095F752755}"/>
              </a:ext>
            </a:extLst>
          </p:cNvPr>
          <p:cNvSpPr>
            <a:spLocks xmlns:a="http://schemas.openxmlformats.org/drawingml/2006/main" noGrp="1"/>
          </p:cNvSpPr>
          <p:nvPr/>
        </p:nvSpPr>
        <p:spPr>
          <a:xfrm xmlns:a="http://schemas.openxmlformats.org/drawingml/2006/main">
            <a:off x="822960" y="2834640"/>
            <a:ext cx="7772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Save the baseline before introducing an incident</a:t>
            </a:r>
          </a:p>
        </p:txBody>
      </p:sp>
      <p:sp>
        <p:nvSpPr>
          <p:cNvPr id="282" name="Text 20">
            <a:extLst xmlns:a="http://schemas.openxmlformats.org/drawingml/2006/main">
              <a:ext uri="{FF2B5EF4-FFF2-40B4-BE49-F238E27FC236}">
                <a16:creationId xmlns:a16="http://schemas.microsoft.com/office/drawing/2014/main" id="{938933FC-BC7D-4E12-AC68-5C541535D2FD}"/>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25cb970f0abd42b8"/>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fbf2b47467cf48f4"/>
              </a:rPr>
              <a:t>[2]</a:t>
            </a:r>
          </a:p>
        </p:txBody>
      </p:sp>
    </p:spTree>
    <p:extLst>
      <p:ext uri="{BB962C8B-B14F-4D97-AF65-F5344CB8AC3E}">
        <p14:creationId xmlns:p14="http://schemas.microsoft.com/office/powerpoint/2010/main" val="1866989003"/>
      </p:ext>
    </p:extLst>
  </p:cSld>
</p:sld>
</file>

<file path=ppt/slides/slide16.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83" name="Shape 0">
            <a:extLst xmlns:a="http://schemas.openxmlformats.org/drawingml/2006/main">
              <a:ext uri="{FF2B5EF4-FFF2-40B4-BE49-F238E27FC236}">
                <a16:creationId xmlns:a16="http://schemas.microsoft.com/office/drawing/2014/main" id="{E5C38269-BF87-43BC-8468-A68278F063DC}"/>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84" name="Text 1">
            <a:extLst xmlns:a="http://schemas.openxmlformats.org/drawingml/2006/main">
              <a:ext uri="{FF2B5EF4-FFF2-40B4-BE49-F238E27FC236}">
                <a16:creationId xmlns:a16="http://schemas.microsoft.com/office/drawing/2014/main" id="{B193F5FF-B961-4741-865D-541062D715DD}"/>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Mini Exercise 1: Build a Query</a:t>
            </a:r>
          </a:p>
        </p:txBody>
      </p:sp>
      <p:sp>
        <p:nvSpPr>
          <p:cNvPr id="285" name="Text 2">
            <a:extLst xmlns:a="http://schemas.openxmlformats.org/drawingml/2006/main">
              <a:ext uri="{FF2B5EF4-FFF2-40B4-BE49-F238E27FC236}">
                <a16:creationId xmlns:a16="http://schemas.microsoft.com/office/drawing/2014/main" id="{313E2863-DFF3-49F9-B264-78FFF0B32715}"/>
              </a:ext>
            </a:extLst>
          </p:cNvPr>
          <p:cNvSpPr>
            <a:spLocks xmlns:a="http://schemas.openxmlformats.org/drawingml/2006/main" noGrp="1"/>
          </p:cNvSpPr>
          <p:nvPr/>
        </p:nvSpPr>
        <p:spPr>
          <a:xfrm xmlns:a="http://schemas.openxmlformats.org/drawingml/2006/main">
            <a:off x="457200" y="731520"/>
            <a:ext cx="4114440" cy="1371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200" b="1" u="none">
                <a:solidFill>
                  <a:srgbClr val="003C54"/>
                </a:solidFill>
                <a:latin typeface="Calibri"/>
                <a:ea typeface="Calibri"/>
                <a:cs typeface="Calibri"/>
              </a:rPr>
              <a:t>Scenario:</a:t>
            </a:r>
          </a:p>
          <a:p xmlns:a="http://schemas.openxmlformats.org/drawingml/2006/main">
            <a:r>
              <a:rPr sz="1000" b="0" u="none">
                <a:solidFill>
                  <a:srgbClr val="003C54"/>
                </a:solidFill>
                <a:latin typeface="Calibri"/>
                <a:ea typeface="Calibri"/>
                <a:cs typeface="Calibri"/>
              </a:rPr>
              <a:t>You have a stream of web events (page_views) and need to count visits per page every 5 minutes, only for purchases.</a:t>
            </a:r>
          </a:p>
          <a:p xmlns:a="http://schemas.openxmlformats.org/drawingml/2006/main"/>
          <a:p xmlns:a="http://schemas.openxmlformats.org/drawingml/2006/main">
            <a:pPr>
              <a:lnSpc>
                <a:spcPct val="100000"/>
              </a:lnSpc>
              <a:buNone/>
            </a:pPr>
            <a:r>
              <a:rPr sz="1000" b="0" i="1" u="none">
                <a:solidFill>
                  <a:srgbClr val="6A6A6A"/>
                </a:solidFill>
                <a:latin typeface="Calibri"/>
                <a:ea typeface="Calibri"/>
                <a:cs typeface="Calibri"/>
              </a:rPr>
              <a:t>Complete the missing parts of the query:</a:t>
            </a:r>
          </a:p>
        </p:txBody>
      </p:sp>
      <p:sp>
        <p:nvSpPr>
          <p:cNvPr id="286" name="Shape 3">
            <a:extLst xmlns:a="http://schemas.openxmlformats.org/drawingml/2006/main">
              <a:ext uri="{FF2B5EF4-FFF2-40B4-BE49-F238E27FC236}">
                <a16:creationId xmlns:a16="http://schemas.microsoft.com/office/drawing/2014/main" id="{FCE5955F-8E42-40AD-9630-77BCB95E8D53}"/>
              </a:ext>
            </a:extLst>
          </p:cNvPr>
          <p:cNvSpPr>
            <a:spLocks xmlns:a="http://schemas.openxmlformats.org/drawingml/2006/main" noGrp="1"/>
          </p:cNvSpPr>
          <p:nvPr/>
        </p:nvSpPr>
        <p:spPr>
          <a:xfrm xmlns:a="http://schemas.openxmlformats.org/drawingml/2006/main">
            <a:off x="4846320" y="360000"/>
            <a:ext cx="3840120" cy="2340000"/>
          </a:xfrm>
          <a:prstGeom xmlns:a="http://schemas.openxmlformats.org/drawingml/2006/main" prst="roundRect">
            <a:avLst>
              <a:gd name="adj" fmla="val 3125"/>
            </a:avLst>
          </a:prstGeom>
          <a:solidFill xmlns:a="http://schemas.openxmlformats.org/drawingml/2006/main">
            <a:srgbClr val="F5F5F5"/>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87" name="Text 4">
            <a:extLst xmlns:a="http://schemas.openxmlformats.org/drawingml/2006/main">
              <a:ext uri="{FF2B5EF4-FFF2-40B4-BE49-F238E27FC236}">
                <a16:creationId xmlns:a16="http://schemas.microsoft.com/office/drawing/2014/main" id="{6F51D471-6CCA-469F-9022-9164A7F303AC}"/>
              </a:ext>
            </a:extLst>
          </p:cNvPr>
          <p:cNvSpPr>
            <a:spLocks xmlns:a="http://schemas.openxmlformats.org/drawingml/2006/main" noGrp="1"/>
          </p:cNvSpPr>
          <p:nvPr/>
        </p:nvSpPr>
        <p:spPr>
          <a:xfrm xmlns:a="http://schemas.openxmlformats.org/drawingml/2006/main">
            <a:off x="4892040" y="749880"/>
            <a:ext cx="3748680" cy="1425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440" tIns="1440" rIns="1440" bIns="1440" anchor="ctr">
            <a:noAutofit/>
          </a:bodyPr>
          <a:lstStyle xmlns:a="http://schemas.openxmlformats.org/drawingml/2006/main"/>
          <a:p xmlns:a="http://schemas.openxmlformats.org/drawingml/2006/main">
            <a:pPr>
              <a:lnSpc>
                <a:spcPct val="100000"/>
              </a:lnSpc>
              <a:buNone/>
            </a:pPr>
            <a:r>
              <a:rPr sz="1000" b="0" u="none">
                <a:solidFill>
                  <a:srgbClr val="0000FF"/>
                </a:solidFill>
                <a:latin typeface="Consolas"/>
                <a:ea typeface="Consolas"/>
                <a:cs typeface="Consolas"/>
              </a:rPr>
              <a:t>CREATE</a:t>
            </a:r>
            <a:r>
              <a:rPr sz="1000" b="0" u="none">
                <a:solidFill>
                  <a:srgbClr val="000000"/>
                </a:solidFill>
                <a:latin typeface="Consolas"/>
                <a:ea typeface="Consolas"/>
                <a:cs typeface="Consolas"/>
              </a:rPr>
              <a:t> </a:t>
            </a:r>
            <a:r>
              <a:rPr sz="1000" b="0" u="none">
                <a:solidFill>
                  <a:srgbClr val="0000FF"/>
                </a:solidFill>
                <a:latin typeface="Consolas"/>
                <a:ea typeface="Consolas"/>
                <a:cs typeface="Consolas"/>
              </a:rPr>
              <a:t>TABLE</a:t>
            </a:r>
            <a:r>
              <a:rPr sz="1000" b="0" u="none">
                <a:solidFill>
                  <a:srgbClr val="000000"/>
                </a:solidFill>
                <a:latin typeface="Consolas"/>
                <a:ea typeface="Consolas"/>
                <a:cs typeface="Consolas"/>
              </a:rPr>
              <a:t> page_purchase_counts </a:t>
            </a:r>
            <a:r>
              <a:rPr sz="1000" b="0" u="none">
                <a:solidFill>
                  <a:srgbClr val="0000FF"/>
                </a:solidFill>
                <a:latin typeface="Consolas"/>
                <a:ea typeface="Consolas"/>
                <a:cs typeface="Consolas"/>
              </a:rPr>
              <a:t>AS</a:t>
            </a:r>
          </a:p>
          <a:p xmlns:a="http://schemas.openxmlformats.org/drawingml/2006/main">
            <a:pPr>
              <a:lnSpc>
                <a:spcPct val="100000"/>
              </a:lnSpc>
              <a:buNone/>
            </a:pPr>
            <a:r>
              <a:rPr sz="1000" b="0" u="none">
                <a:solidFill>
                  <a:srgbClr val="000000"/>
                </a:solidFill>
                <a:latin typeface="Consolas"/>
                <a:ea typeface="Consolas"/>
                <a:cs typeface="Consolas"/>
              </a:rPr>
              <a:t>  </a:t>
            </a:r>
          </a:p>
          <a:p xmlns:a="http://schemas.openxmlformats.org/drawingml/2006/main">
            <a:pPr>
              <a:lnSpc>
                <a:spcPct val="100000"/>
              </a:lnSpc>
              <a:buNone/>
            </a:pPr>
            <a:r>
              <a:rPr sz="1000" b="0" u="none">
                <a:solidFill>
                  <a:srgbClr val="0000FF"/>
                </a:solidFill>
                <a:latin typeface="Consolas"/>
                <a:ea typeface="Consolas"/>
                <a:cs typeface="Consolas"/>
              </a:rPr>
              <a:t>SELECT</a:t>
            </a:r>
            <a:r>
              <a:rPr sz="1000" b="0" u="none">
                <a:solidFill>
                  <a:srgbClr val="000000"/>
                </a:solidFill>
                <a:latin typeface="Consolas"/>
                <a:ea typeface="Consolas"/>
                <a:cs typeface="Consolas"/>
              </a:rPr>
              <a:t> page_url, </a:t>
            </a:r>
            <a:r>
              <a:rPr sz="1000" b="0" u="none">
                <a:solidFill>
                  <a:srgbClr val="795E26"/>
                </a:solidFill>
                <a:latin typeface="Consolas"/>
                <a:ea typeface="Consolas"/>
                <a:cs typeface="Consolas"/>
              </a:rPr>
              <a:t>COUNT</a:t>
            </a:r>
            <a:r>
              <a:rPr sz="1000" b="0" u="none">
                <a:solidFill>
                  <a:srgbClr val="000000"/>
                </a:solidFill>
                <a:latin typeface="Consolas"/>
                <a:ea typeface="Consolas"/>
                <a:cs typeface="Consolas"/>
              </a:rPr>
              <a:t>(*) </a:t>
            </a:r>
            <a:r>
              <a:rPr sz="1000" b="0" u="none">
                <a:solidFill>
                  <a:srgbClr val="0000FF"/>
                </a:solidFill>
                <a:latin typeface="Consolas"/>
                <a:ea typeface="Consolas"/>
                <a:cs typeface="Consolas"/>
              </a:rPr>
              <a:t>AS</a:t>
            </a:r>
            <a:r>
              <a:rPr sz="1000" b="0" u="none">
                <a:solidFill>
                  <a:srgbClr val="000000"/>
                </a:solidFill>
                <a:latin typeface="Consolas"/>
                <a:ea typeface="Consolas"/>
                <a:cs typeface="Consolas"/>
              </a:rPr>
              <a:t> purchase_count</a:t>
            </a:r>
          </a:p>
          <a:p xmlns:a="http://schemas.openxmlformats.org/drawingml/2006/main">
            <a:pPr>
              <a:lnSpc>
                <a:spcPct val="100000"/>
              </a:lnSpc>
              <a:buNone/>
            </a:pPr>
            <a:r>
              <a:rPr sz="1000" b="0" u="none">
                <a:solidFill>
                  <a:srgbClr val="000000"/>
                </a:solidFill>
                <a:latin typeface="Consolas"/>
                <a:ea typeface="Consolas"/>
                <a:cs typeface="Consolas"/>
              </a:rPr>
              <a:t>  </a:t>
            </a:r>
          </a:p>
          <a:p xmlns:a="http://schemas.openxmlformats.org/drawingml/2006/main">
            <a:pPr>
              <a:lnSpc>
                <a:spcPct val="100000"/>
              </a:lnSpc>
              <a:buNone/>
            </a:pPr>
            <a:r>
              <a:rPr sz="1000" b="0" u="none">
                <a:solidFill>
                  <a:srgbClr val="0000FF"/>
                </a:solidFill>
                <a:latin typeface="Consolas"/>
                <a:ea typeface="Consolas"/>
                <a:cs typeface="Consolas"/>
              </a:rPr>
              <a:t>FROM</a:t>
            </a:r>
            <a:r>
              <a:rPr sz="1000" b="0" u="none">
                <a:solidFill>
                  <a:srgbClr val="000000"/>
                </a:solidFill>
                <a:latin typeface="Consolas"/>
                <a:ea typeface="Consolas"/>
                <a:cs typeface="Consolas"/>
              </a:rPr>
              <a:t> page_views</a:t>
            </a:r>
          </a:p>
          <a:p xmlns:a="http://schemas.openxmlformats.org/drawingml/2006/main">
            <a:pPr>
              <a:lnSpc>
                <a:spcPct val="100000"/>
              </a:lnSpc>
              <a:buNone/>
            </a:pPr>
            <a:r>
              <a:rPr sz="1000" b="0" u="none">
                <a:solidFill>
                  <a:srgbClr val="000000"/>
                </a:solidFill>
                <a:latin typeface="Consolas"/>
                <a:ea typeface="Consolas"/>
                <a:cs typeface="Consolas"/>
              </a:rPr>
              <a:t>  WINDOW TUMBLING </a:t>
            </a:r>
          </a:p>
          <a:p xmlns:a="http://schemas.openxmlformats.org/drawingml/2006/main">
            <a:pPr>
              <a:lnSpc>
                <a:spcPct val="100000"/>
              </a:lnSpc>
              <a:buNone/>
            </a:pPr>
            <a:r>
              <a:rPr sz="1000" b="0" u="none">
                <a:solidFill>
                  <a:srgbClr val="000000"/>
                </a:solidFill>
                <a:latin typeface="Consolas"/>
                <a:ea typeface="Consolas"/>
                <a:cs typeface="Consolas"/>
              </a:rPr>
              <a:t>(SIZE </a:t>
            </a:r>
            <a:r>
              <a:rPr sz="1000" b="0" u="none">
                <a:solidFill>
                  <a:srgbClr val="098658"/>
                </a:solidFill>
                <a:latin typeface="Consolas"/>
                <a:ea typeface="Consolas"/>
                <a:cs typeface="Consolas"/>
              </a:rPr>
              <a:t>5</a:t>
            </a:r>
            <a:r>
              <a:rPr sz="1000" b="0" u="none">
                <a:solidFill>
                  <a:srgbClr val="000000"/>
                </a:solidFill>
                <a:latin typeface="Consolas"/>
                <a:ea typeface="Consolas"/>
                <a:cs typeface="Consolas"/>
              </a:rPr>
              <a:t> MINUTES)</a:t>
            </a:r>
          </a:p>
          <a:p xmlns:a="http://schemas.openxmlformats.org/drawingml/2006/main">
            <a:pPr>
              <a:lnSpc>
                <a:spcPct val="100000"/>
              </a:lnSpc>
              <a:buNone/>
            </a:pPr>
            <a:r>
              <a:rPr sz="1000" b="0" u="none">
                <a:solidFill>
                  <a:srgbClr val="000000"/>
                </a:solidFill>
                <a:latin typeface="Consolas"/>
                <a:ea typeface="Consolas"/>
                <a:cs typeface="Consolas"/>
              </a:rPr>
              <a:t>  </a:t>
            </a:r>
          </a:p>
          <a:p xmlns:a="http://schemas.openxmlformats.org/drawingml/2006/main">
            <a:pPr>
              <a:lnSpc>
                <a:spcPct val="100000"/>
              </a:lnSpc>
              <a:buNone/>
            </a:pPr>
            <a:r>
              <a:rPr sz="1000" b="0" u="none">
                <a:solidFill>
                  <a:srgbClr val="0000FF"/>
                </a:solidFill>
                <a:latin typeface="Consolas"/>
                <a:ea typeface="Consolas"/>
                <a:cs typeface="Consolas"/>
              </a:rPr>
              <a:t>WHERE</a:t>
            </a:r>
            <a:r>
              <a:rPr sz="1000" b="0" u="none">
                <a:solidFill>
                  <a:srgbClr val="000000"/>
                </a:solidFill>
                <a:latin typeface="Consolas"/>
                <a:ea typeface="Consolas"/>
                <a:cs typeface="Consolas"/>
              </a:rPr>
              <a:t> </a:t>
            </a:r>
            <a:r>
              <a:rPr sz="1000" b="0" u="none">
                <a:solidFill>
                  <a:srgbClr val="008000"/>
                </a:solidFill>
                <a:latin typeface="Consolas"/>
                <a:ea typeface="Consolas"/>
                <a:cs typeface="Consolas"/>
              </a:rPr>
              <a:t>/* your filter here */</a:t>
            </a:r>
          </a:p>
          <a:p xmlns:a="http://schemas.openxmlformats.org/drawingml/2006/main">
            <a:pPr>
              <a:lnSpc>
                <a:spcPct val="100000"/>
              </a:lnSpc>
              <a:buNone/>
            </a:pPr>
            <a:r>
              <a:rPr sz="1000" b="0" u="none">
                <a:solidFill>
                  <a:srgbClr val="000000"/>
                </a:solidFill>
                <a:latin typeface="Consolas"/>
                <a:ea typeface="Consolas"/>
                <a:cs typeface="Consolas"/>
              </a:rPr>
              <a:t>  </a:t>
            </a:r>
          </a:p>
          <a:p xmlns:a="http://schemas.openxmlformats.org/drawingml/2006/main">
            <a:pPr>
              <a:lnSpc>
                <a:spcPct val="100000"/>
              </a:lnSpc>
              <a:buNone/>
            </a:pPr>
            <a:r>
              <a:rPr sz="1000" b="0" u="none">
                <a:solidFill>
                  <a:srgbClr val="0000FF"/>
                </a:solidFill>
                <a:latin typeface="Consolas"/>
                <a:ea typeface="Consolas"/>
                <a:cs typeface="Consolas"/>
              </a:rPr>
              <a:t>GROUP</a:t>
            </a:r>
            <a:r>
              <a:rPr sz="1000" b="0" u="none">
                <a:solidFill>
                  <a:srgbClr val="000000"/>
                </a:solidFill>
                <a:latin typeface="Consolas"/>
                <a:ea typeface="Consolas"/>
                <a:cs typeface="Consolas"/>
              </a:rPr>
              <a:t> </a:t>
            </a:r>
            <a:r>
              <a:rPr sz="1000" b="0" u="none">
                <a:solidFill>
                  <a:srgbClr val="0000FF"/>
                </a:solidFill>
                <a:latin typeface="Consolas"/>
                <a:ea typeface="Consolas"/>
                <a:cs typeface="Consolas"/>
              </a:rPr>
              <a:t>BY</a:t>
            </a:r>
            <a:r>
              <a:rPr sz="1000" b="0" u="none">
                <a:solidFill>
                  <a:srgbClr val="000000"/>
                </a:solidFill>
                <a:latin typeface="Consolas"/>
                <a:ea typeface="Consolas"/>
                <a:cs typeface="Consolas"/>
              </a:rPr>
              <a:t> page_url</a:t>
            </a:r>
          </a:p>
          <a:p xmlns:a="http://schemas.openxmlformats.org/drawingml/2006/main">
            <a:pPr>
              <a:lnSpc>
                <a:spcPct val="100000"/>
              </a:lnSpc>
              <a:buNone/>
            </a:pPr>
            <a:r>
              <a:rPr sz="1000" b="0" u="none">
                <a:solidFill>
                  <a:srgbClr val="000000"/>
                </a:solidFill>
                <a:latin typeface="Consolas"/>
                <a:ea typeface="Consolas"/>
                <a:cs typeface="Consolas"/>
              </a:rPr>
              <a:t>  EMIT CHANGES</a:t>
            </a:r>
          </a:p>
          <a:p xmlns:a="http://schemas.openxmlformats.org/drawingml/2006/main">
            <a:pPr>
              <a:lnSpc>
                <a:spcPct val="100000"/>
              </a:lnSpc>
              <a:buNone/>
            </a:pPr>
            <a:r>
              <a:rPr sz="1000" b="0" u="none">
                <a:solidFill>
                  <a:srgbClr val="000000"/>
                </a:solidFill>
                <a:latin typeface="Consolas"/>
                <a:ea typeface="Consolas"/>
                <a:cs typeface="Consolas"/>
              </a:rPr>
              <a:t>;</a:t>
            </a:r>
          </a:p>
        </p:txBody>
      </p:sp>
      <p:sp>
        <p:nvSpPr>
          <p:cNvPr id="288" name="Text 5">
            <a:extLst xmlns:a="http://schemas.openxmlformats.org/drawingml/2006/main">
              <a:ext uri="{FF2B5EF4-FFF2-40B4-BE49-F238E27FC236}">
                <a16:creationId xmlns:a16="http://schemas.microsoft.com/office/drawing/2014/main" id="{AA6C0F2D-6C55-4834-B8B3-9E6BE4F9F88B}"/>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b975cd7db80f48ac"/>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cf28230141e84ddb"/>
              </a:rPr>
              <a:t>[2]</a:t>
            </a:r>
          </a:p>
        </p:txBody>
      </p:sp>
    </p:spTree>
    <p:extLst>
      <p:ext uri="{BB962C8B-B14F-4D97-AF65-F5344CB8AC3E}">
        <p14:creationId xmlns:p14="http://schemas.microsoft.com/office/powerpoint/2010/main" val="1196976970"/>
      </p:ext>
    </p:extLst>
  </p:cSld>
</p:sld>
</file>

<file path=ppt/slides/slide17.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89" name="Shape 0">
            <a:extLst xmlns:a="http://schemas.openxmlformats.org/drawingml/2006/main">
              <a:ext uri="{FF2B5EF4-FFF2-40B4-BE49-F238E27FC236}">
                <a16:creationId xmlns:a16="http://schemas.microsoft.com/office/drawing/2014/main" id="{B8BF49AE-B015-4C0F-A38E-1CF9E1038E66}"/>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90" name="Text 1">
            <a:extLst xmlns:a="http://schemas.openxmlformats.org/drawingml/2006/main">
              <a:ext uri="{FF2B5EF4-FFF2-40B4-BE49-F238E27FC236}">
                <a16:creationId xmlns:a16="http://schemas.microsoft.com/office/drawing/2014/main" id="{A15BFA89-50F1-442E-B27E-6922BBB00662}"/>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The Supplied Processor as a Failure Target</a:t>
            </a:r>
          </a:p>
        </p:txBody>
      </p:sp>
      <p:sp>
        <p:nvSpPr>
          <p:cNvPr id="291" name="Text 2">
            <a:extLst xmlns:a="http://schemas.openxmlformats.org/drawingml/2006/main">
              <a:ext uri="{FF2B5EF4-FFF2-40B4-BE49-F238E27FC236}">
                <a16:creationId xmlns:a16="http://schemas.microsoft.com/office/drawing/2014/main" id="{F585D3EA-6C44-4C3F-BC7D-A3B105FCA09D}"/>
              </a:ext>
            </a:extLst>
          </p:cNvPr>
          <p:cNvSpPr>
            <a:spLocks xmlns:a="http://schemas.openxmlformats.org/drawingml/2006/main" noGrp="1"/>
          </p:cNvSpPr>
          <p:nvPr/>
        </p:nvSpPr>
        <p:spPr>
          <a:xfrm xmlns:a="http://schemas.openxmlformats.org/drawingml/2006/main">
            <a:off x="457200" y="731520"/>
            <a:ext cx="5028840" cy="12798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200" b="1" u="none">
                <a:solidFill>
                  <a:srgbClr val="003C54"/>
                </a:solidFill>
                <a:latin typeface="Calibri"/>
                <a:ea typeface="Calibri"/>
                <a:cs typeface="Calibri"/>
              </a:rPr>
              <a:t>The included streams_app.py is a Python learning stand-in, not a production Kafka Streams application. It consumes orders, keeps memory-only aggregates and writes order_counts. Use it to create observable lag, restart and data-quality scenarios.</a:t>
            </a:r>
          </a:p>
        </p:txBody>
      </p:sp>
      <p:sp>
        <p:nvSpPr>
          <p:cNvPr id="292" name="Shape 3">
            <a:extLst xmlns:a="http://schemas.openxmlformats.org/drawingml/2006/main">
              <a:ext uri="{FF2B5EF4-FFF2-40B4-BE49-F238E27FC236}">
                <a16:creationId xmlns:a16="http://schemas.microsoft.com/office/drawing/2014/main" id="{EC14AA99-35B8-4494-AA0D-8BCA5396CBAF}"/>
              </a:ext>
            </a:extLst>
          </p:cNvPr>
          <p:cNvSpPr>
            <a:spLocks xmlns:a="http://schemas.openxmlformats.org/drawingml/2006/main" noGrp="1"/>
          </p:cNvSpPr>
          <p:nvPr/>
        </p:nvSpPr>
        <p:spPr>
          <a:xfrm xmlns:a="http://schemas.openxmlformats.org/drawingml/2006/main">
            <a:off x="349200" y="2531520"/>
            <a:ext cx="731160" cy="273960"/>
          </a:xfrm>
          <a:prstGeom xmlns:a="http://schemas.openxmlformats.org/drawingml/2006/main" prst="roundRect">
            <a:avLst>
              <a:gd name="adj" fmla="val 16667"/>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93" name="Text 4">
            <a:extLst xmlns:a="http://schemas.openxmlformats.org/drawingml/2006/main">
              <a:ext uri="{FF2B5EF4-FFF2-40B4-BE49-F238E27FC236}">
                <a16:creationId xmlns:a16="http://schemas.microsoft.com/office/drawing/2014/main" id="{16C42BE2-E4A0-4AAC-967A-BB628B2468F0}"/>
              </a:ext>
            </a:extLst>
          </p:cNvPr>
          <p:cNvSpPr>
            <a:spLocks xmlns:a="http://schemas.openxmlformats.org/drawingml/2006/main" noGrp="1"/>
          </p:cNvSpPr>
          <p:nvPr/>
        </p:nvSpPr>
        <p:spPr>
          <a:xfrm xmlns:a="http://schemas.openxmlformats.org/drawingml/2006/main">
            <a:off x="349200" y="2531520"/>
            <a:ext cx="73116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700" b="0" u="none">
                <a:solidFill>
                  <a:srgbClr val="FFFFFF"/>
                </a:solidFill>
                <a:latin typeface="Calibri"/>
                <a:ea typeface="Calibri"/>
                <a:cs typeface="Calibri"/>
              </a:rPr>
              <a:t>orders</a:t>
            </a:r>
          </a:p>
        </p:txBody>
      </p:sp>
      <p:sp>
        <p:nvSpPr>
          <p:cNvPr id="294" name="Shape 5">
            <a:extLst xmlns:a="http://schemas.openxmlformats.org/drawingml/2006/main">
              <a:ext uri="{FF2B5EF4-FFF2-40B4-BE49-F238E27FC236}">
                <a16:creationId xmlns:a16="http://schemas.microsoft.com/office/drawing/2014/main" id="{E36FFF4B-734A-425F-8084-064A01BFFB50}"/>
              </a:ext>
            </a:extLst>
          </p:cNvPr>
          <p:cNvSpPr>
            <a:spLocks xmlns:a="http://schemas.openxmlformats.org/drawingml/2006/main" noGrp="1"/>
          </p:cNvSpPr>
          <p:nvPr/>
        </p:nvSpPr>
        <p:spPr>
          <a:xfrm xmlns:a="http://schemas.openxmlformats.org/drawingml/2006/main">
            <a:off x="1080720" y="2622960"/>
            <a:ext cx="22824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295" name="Shape 6">
            <a:extLst xmlns:a="http://schemas.openxmlformats.org/drawingml/2006/main">
              <a:ext uri="{FF2B5EF4-FFF2-40B4-BE49-F238E27FC236}">
                <a16:creationId xmlns:a16="http://schemas.microsoft.com/office/drawing/2014/main" id="{453735A4-E995-4BD2-8E8A-66FFE309E794}"/>
              </a:ext>
            </a:extLst>
          </p:cNvPr>
          <p:cNvSpPr>
            <a:spLocks xmlns:a="http://schemas.openxmlformats.org/drawingml/2006/main" noGrp="1"/>
          </p:cNvSpPr>
          <p:nvPr/>
        </p:nvSpPr>
        <p:spPr>
          <a:xfrm xmlns:a="http://schemas.openxmlformats.org/drawingml/2006/main">
            <a:off x="1309320" y="2171520"/>
            <a:ext cx="2285640" cy="914040"/>
          </a:xfrm>
          <a:prstGeom xmlns:a="http://schemas.openxmlformats.org/drawingml/2006/main" prst="roundRect">
            <a:avLst>
              <a:gd name="adj" fmla="val 10000"/>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96" name="Text 7">
            <a:extLst xmlns:a="http://schemas.openxmlformats.org/drawingml/2006/main">
              <a:ext uri="{FF2B5EF4-FFF2-40B4-BE49-F238E27FC236}">
                <a16:creationId xmlns:a16="http://schemas.microsoft.com/office/drawing/2014/main" id="{82F02D2F-35D9-4F35-936A-4CB747A99380}"/>
              </a:ext>
            </a:extLst>
          </p:cNvPr>
          <p:cNvSpPr>
            <a:spLocks xmlns:a="http://schemas.openxmlformats.org/drawingml/2006/main" noGrp="1"/>
          </p:cNvSpPr>
          <p:nvPr/>
        </p:nvSpPr>
        <p:spPr>
          <a:xfrm xmlns:a="http://schemas.openxmlformats.org/drawingml/2006/main">
            <a:off x="1355040" y="2262960"/>
            <a:ext cx="21942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Python processor</a:t>
            </a:r>
          </a:p>
        </p:txBody>
      </p:sp>
      <p:sp>
        <p:nvSpPr>
          <p:cNvPr id="297" name="Shape 8">
            <a:extLst xmlns:a="http://schemas.openxmlformats.org/drawingml/2006/main">
              <a:ext uri="{FF2B5EF4-FFF2-40B4-BE49-F238E27FC236}">
                <a16:creationId xmlns:a16="http://schemas.microsoft.com/office/drawing/2014/main" id="{63CB8D32-41D9-4D84-8B88-8691879E02D5}"/>
              </a:ext>
            </a:extLst>
          </p:cNvPr>
          <p:cNvSpPr>
            <a:spLocks xmlns:a="http://schemas.openxmlformats.org/drawingml/2006/main" noGrp="1"/>
          </p:cNvSpPr>
          <p:nvPr/>
        </p:nvSpPr>
        <p:spPr>
          <a:xfrm xmlns:a="http://schemas.openxmlformats.org/drawingml/2006/main">
            <a:off x="3595320" y="2622960"/>
            <a:ext cx="22824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298" name="Shape 9">
            <a:extLst xmlns:a="http://schemas.openxmlformats.org/drawingml/2006/main">
              <a:ext uri="{FF2B5EF4-FFF2-40B4-BE49-F238E27FC236}">
                <a16:creationId xmlns:a16="http://schemas.microsoft.com/office/drawing/2014/main" id="{7EA07D65-2F4C-40D3-8263-421FF0701D93}"/>
              </a:ext>
            </a:extLst>
          </p:cNvPr>
          <p:cNvSpPr>
            <a:spLocks xmlns:a="http://schemas.openxmlformats.org/drawingml/2006/main" noGrp="1"/>
          </p:cNvSpPr>
          <p:nvPr/>
        </p:nvSpPr>
        <p:spPr>
          <a:xfrm xmlns:a="http://schemas.openxmlformats.org/drawingml/2006/main">
            <a:off x="3823920" y="2531520"/>
            <a:ext cx="731160" cy="273960"/>
          </a:xfrm>
          <a:prstGeom xmlns:a="http://schemas.openxmlformats.org/drawingml/2006/main" prst="roundRect">
            <a:avLst>
              <a:gd name="adj" fmla="val 16667"/>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299" name="Text 10">
            <a:extLst xmlns:a="http://schemas.openxmlformats.org/drawingml/2006/main">
              <a:ext uri="{FF2B5EF4-FFF2-40B4-BE49-F238E27FC236}">
                <a16:creationId xmlns:a16="http://schemas.microsoft.com/office/drawing/2014/main" id="{66327B61-C683-41AC-8D0B-0BA9A32EA01E}"/>
              </a:ext>
            </a:extLst>
          </p:cNvPr>
          <p:cNvSpPr>
            <a:spLocks xmlns:a="http://schemas.openxmlformats.org/drawingml/2006/main" noGrp="1"/>
          </p:cNvSpPr>
          <p:nvPr/>
        </p:nvSpPr>
        <p:spPr>
          <a:xfrm xmlns:a="http://schemas.openxmlformats.org/drawingml/2006/main">
            <a:off x="3823920" y="2531520"/>
            <a:ext cx="73116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700" b="0" u="none">
                <a:solidFill>
                  <a:srgbClr val="FFFFFF"/>
                </a:solidFill>
                <a:latin typeface="Calibri"/>
                <a:ea typeface="Calibri"/>
                <a:cs typeface="Calibri"/>
              </a:rPr>
              <a:t>order_counts</a:t>
            </a:r>
          </a:p>
        </p:txBody>
      </p:sp>
      <p:sp>
        <p:nvSpPr>
          <p:cNvPr id="300" name="Text 11">
            <a:extLst xmlns:a="http://schemas.openxmlformats.org/drawingml/2006/main">
              <a:ext uri="{FF2B5EF4-FFF2-40B4-BE49-F238E27FC236}">
                <a16:creationId xmlns:a16="http://schemas.microsoft.com/office/drawing/2014/main" id="{C8232B5F-66BA-4223-9112-D76252145A27}"/>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3f0fccdb9f494216"/>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44b9ef8168884f3f"/>
              </a:rPr>
              <a:t>[2]</a:t>
            </a:r>
          </a:p>
        </p:txBody>
      </p:sp>
    </p:spTree>
    <p:extLst>
      <p:ext uri="{BB962C8B-B14F-4D97-AF65-F5344CB8AC3E}">
        <p14:creationId xmlns:p14="http://schemas.microsoft.com/office/powerpoint/2010/main" val="649869801"/>
      </p:ext>
    </p:extLst>
  </p:cSld>
</p:sld>
</file>

<file path=ppt/slides/slide18.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301" name="Shape 0">
            <a:extLst xmlns:a="http://schemas.openxmlformats.org/drawingml/2006/main">
              <a:ext uri="{FF2B5EF4-FFF2-40B4-BE49-F238E27FC236}">
                <a16:creationId xmlns:a16="http://schemas.microsoft.com/office/drawing/2014/main" id="{8597BF5A-5512-4093-9C01-0A9A9C9CAEB4}"/>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02" name="Text 1">
            <a:extLst xmlns:a="http://schemas.openxmlformats.org/drawingml/2006/main">
              <a:ext uri="{FF2B5EF4-FFF2-40B4-BE49-F238E27FC236}">
                <a16:creationId xmlns:a16="http://schemas.microsoft.com/office/drawing/2014/main" id="{8CF5967C-16D6-4B24-941F-88FE14FE5161}"/>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Four Health Signals</a:t>
            </a:r>
          </a:p>
        </p:txBody>
      </p:sp>
      <p:pic>
        <p:nvPicPr>
          <p:cNvPr id="303" name="Image 0"/>
          <p:cNvPicPr>
            <a:picLocks xmlns:a="http://schemas.openxmlformats.org/drawingml/2006/main" noChangeAspect="1"/>
          </p:cNvPicPr>
          <p:nvPr/>
        </p:nvPicPr>
        <p:blipFill>
          <a:blip xmlns:r="http://schemas.openxmlformats.org/officeDocument/2006/relationships" xmlns:a="http://schemas.openxmlformats.org/drawingml/2006/main" r:embed="R9cc9788743024e48"/>
          <a:stretch xmlns:a="http://schemas.openxmlformats.org/drawingml/2006/main"/>
        </p:blipFill>
        <p:spPr>
          <a:xfrm xmlns:a="http://schemas.openxmlformats.org/drawingml/2006/main">
            <a:off x="457200" y="731520"/>
            <a:ext cx="273960" cy="273960"/>
          </a:xfrm>
          <a:prstGeom xmlns:a="http://schemas.openxmlformats.org/drawingml/2006/main" prst="rect">
            <a:avLst/>
          </a:prstGeom>
        </p:spPr>
      </p:pic>
      <p:sp>
        <p:nvSpPr>
          <p:cNvPr id="304" name="Text 2">
            <a:extLst xmlns:a="http://schemas.openxmlformats.org/drawingml/2006/main">
              <a:ext uri="{FF2B5EF4-FFF2-40B4-BE49-F238E27FC236}">
                <a16:creationId xmlns:a16="http://schemas.microsoft.com/office/drawing/2014/main" id="{342BAA45-D1D8-4278-B5C3-DBF563BC1146}"/>
              </a:ext>
            </a:extLst>
          </p:cNvPr>
          <p:cNvSpPr>
            <a:spLocks xmlns:a="http://schemas.openxmlformats.org/drawingml/2006/main" noGrp="1"/>
          </p:cNvSpPr>
          <p:nvPr/>
        </p:nvSpPr>
        <p:spPr>
          <a:xfrm xmlns:a="http://schemas.openxmlformats.org/drawingml/2006/main">
            <a:off x="777240" y="777240"/>
            <a:ext cx="7863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Freshness: latest output timestamp stays within the agreed SLA</a:t>
            </a:r>
          </a:p>
        </p:txBody>
      </p:sp>
      <p:sp>
        <p:nvSpPr>
          <p:cNvPr id="305" name="Text 3">
            <a:extLst xmlns:a="http://schemas.openxmlformats.org/drawingml/2006/main">
              <a:ext uri="{FF2B5EF4-FFF2-40B4-BE49-F238E27FC236}">
                <a16:creationId xmlns:a16="http://schemas.microsoft.com/office/drawing/2014/main" id="{0EE5E0B8-F1B2-42F6-BD7C-016C7369E6CF}"/>
              </a:ext>
            </a:extLst>
          </p:cNvPr>
          <p:cNvSpPr>
            <a:spLocks xmlns:a="http://schemas.openxmlformats.org/drawingml/2006/main" noGrp="1"/>
          </p:cNvSpPr>
          <p:nvPr/>
        </p:nvSpPr>
        <p:spPr>
          <a:xfrm xmlns:a="http://schemas.openxmlformats.org/drawingml/2006/main">
            <a:off x="777240" y="1143000"/>
            <a:ext cx="7863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Completeness: consumed and accepted records reconcile to output</a:t>
            </a:r>
          </a:p>
        </p:txBody>
      </p:sp>
      <p:pic>
        <p:nvPicPr>
          <p:cNvPr id="306" name="Image 1"/>
          <p:cNvPicPr>
            <a:picLocks xmlns:a="http://schemas.openxmlformats.org/drawingml/2006/main" noChangeAspect="1"/>
          </p:cNvPicPr>
          <p:nvPr/>
        </p:nvPicPr>
        <p:blipFill>
          <a:blip xmlns:r="http://schemas.openxmlformats.org/officeDocument/2006/relationships" xmlns:a="http://schemas.openxmlformats.org/drawingml/2006/main" r:embed="R6b37ef4ce8504a37"/>
          <a:stretch xmlns:a="http://schemas.openxmlformats.org/drawingml/2006/main"/>
        </p:blipFill>
        <p:spPr>
          <a:xfrm xmlns:a="http://schemas.openxmlformats.org/drawingml/2006/main">
            <a:off x="457200" y="1463040"/>
            <a:ext cx="273960" cy="273960"/>
          </a:xfrm>
          <a:prstGeom xmlns:a="http://schemas.openxmlformats.org/drawingml/2006/main" prst="rect">
            <a:avLst/>
          </a:prstGeom>
        </p:spPr>
      </p:pic>
      <p:sp>
        <p:nvSpPr>
          <p:cNvPr id="307" name="Text 4">
            <a:extLst xmlns:a="http://schemas.openxmlformats.org/drawingml/2006/main">
              <a:ext uri="{FF2B5EF4-FFF2-40B4-BE49-F238E27FC236}">
                <a16:creationId xmlns:a16="http://schemas.microsoft.com/office/drawing/2014/main" id="{4E7E51C4-D654-4CE5-874A-82B92D644649}"/>
              </a:ext>
            </a:extLst>
          </p:cNvPr>
          <p:cNvSpPr>
            <a:spLocks xmlns:a="http://schemas.openxmlformats.org/drawingml/2006/main" noGrp="1"/>
          </p:cNvSpPr>
          <p:nvPr/>
        </p:nvSpPr>
        <p:spPr>
          <a:xfrm xmlns:a="http://schemas.openxmlformats.org/drawingml/2006/main">
            <a:off x="777240" y="1508760"/>
            <a:ext cx="7863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Quality: malformed or rejected data is counted and explained</a:t>
            </a:r>
          </a:p>
        </p:txBody>
      </p:sp>
      <p:pic>
        <p:nvPicPr>
          <p:cNvPr id="308" name="Image 2"/>
          <p:cNvPicPr>
            <a:picLocks xmlns:a="http://schemas.openxmlformats.org/drawingml/2006/main" noChangeAspect="1"/>
          </p:cNvPicPr>
          <p:nvPr/>
        </p:nvPicPr>
        <p:blipFill>
          <a:blip xmlns:r="http://schemas.openxmlformats.org/officeDocument/2006/relationships" xmlns:a="http://schemas.openxmlformats.org/drawingml/2006/main" r:embed="Re6e19ffd40154e16"/>
          <a:stretch xmlns:a="http://schemas.openxmlformats.org/drawingml/2006/main"/>
        </p:blipFill>
        <p:spPr>
          <a:xfrm xmlns:a="http://schemas.openxmlformats.org/drawingml/2006/main">
            <a:off x="457200" y="1828800"/>
            <a:ext cx="273960" cy="273960"/>
          </a:xfrm>
          <a:prstGeom xmlns:a="http://schemas.openxmlformats.org/drawingml/2006/main" prst="rect">
            <a:avLst/>
          </a:prstGeom>
        </p:spPr>
      </p:pic>
      <p:sp>
        <p:nvSpPr>
          <p:cNvPr id="309" name="Text 5">
            <a:extLst xmlns:a="http://schemas.openxmlformats.org/drawingml/2006/main">
              <a:ext uri="{FF2B5EF4-FFF2-40B4-BE49-F238E27FC236}">
                <a16:creationId xmlns:a16="http://schemas.microsoft.com/office/drawing/2014/main" id="{3FE66FFA-B9CD-43BA-A736-05EBD2CAE033}"/>
              </a:ext>
            </a:extLst>
          </p:cNvPr>
          <p:cNvSpPr>
            <a:spLocks xmlns:a="http://schemas.openxmlformats.org/drawingml/2006/main" noGrp="1"/>
          </p:cNvSpPr>
          <p:nvPr/>
        </p:nvSpPr>
        <p:spPr>
          <a:xfrm xmlns:a="http://schemas.openxmlformats.org/drawingml/2006/main">
            <a:off x="777240" y="1874520"/>
            <a:ext cx="7863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Availability: services and queries report healthy status</a:t>
            </a:r>
          </a:p>
        </p:txBody>
      </p:sp>
      <p:pic>
        <p:nvPicPr>
          <p:cNvPr id="310" name="Image 3"/>
          <p:cNvPicPr>
            <a:picLocks xmlns:a="http://schemas.openxmlformats.org/drawingml/2006/main" noChangeAspect="1"/>
          </p:cNvPicPr>
          <p:nvPr/>
        </p:nvPicPr>
        <p:blipFill>
          <a:blip xmlns:r="http://schemas.openxmlformats.org/officeDocument/2006/relationships" xmlns:a="http://schemas.openxmlformats.org/drawingml/2006/main" r:embed="Rec6f4697326445c3"/>
          <a:stretch xmlns:a="http://schemas.openxmlformats.org/drawingml/2006/main"/>
        </p:blipFill>
        <p:spPr>
          <a:xfrm xmlns:a="http://schemas.openxmlformats.org/drawingml/2006/main">
            <a:off x="457200" y="2194560"/>
            <a:ext cx="273960" cy="273960"/>
          </a:xfrm>
          <a:prstGeom xmlns:a="http://schemas.openxmlformats.org/drawingml/2006/main" prst="rect">
            <a:avLst/>
          </a:prstGeom>
        </p:spPr>
      </p:pic>
      <p:sp>
        <p:nvSpPr>
          <p:cNvPr id="311" name="Text 6">
            <a:extLst xmlns:a="http://schemas.openxmlformats.org/drawingml/2006/main">
              <a:ext uri="{FF2B5EF4-FFF2-40B4-BE49-F238E27FC236}">
                <a16:creationId xmlns:a16="http://schemas.microsoft.com/office/drawing/2014/main" id="{73DF8EDF-549E-48BC-AEEA-2C048E0962C4}"/>
              </a:ext>
            </a:extLst>
          </p:cNvPr>
          <p:cNvSpPr>
            <a:spLocks xmlns:a="http://schemas.openxmlformats.org/drawingml/2006/main" noGrp="1"/>
          </p:cNvSpPr>
          <p:nvPr/>
        </p:nvSpPr>
        <p:spPr>
          <a:xfrm xmlns:a="http://schemas.openxmlformats.org/drawingml/2006/main">
            <a:off x="777240" y="2240280"/>
            <a:ext cx="7863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Recovery: restart does not create unplanned double counts</a:t>
            </a:r>
          </a:p>
        </p:txBody>
      </p:sp>
      <p:pic>
        <p:nvPicPr>
          <p:cNvPr id="312" name="Image 4"/>
          <p:cNvPicPr>
            <a:picLocks xmlns:a="http://schemas.openxmlformats.org/drawingml/2006/main" noChangeAspect="1"/>
          </p:cNvPicPr>
          <p:nvPr/>
        </p:nvPicPr>
        <p:blipFill>
          <a:blip xmlns:r="http://schemas.openxmlformats.org/officeDocument/2006/relationships" xmlns:a="http://schemas.openxmlformats.org/drawingml/2006/main" r:embed="R3141af4e4c364fec"/>
          <a:stretch xmlns:a="http://schemas.openxmlformats.org/drawingml/2006/main"/>
        </p:blipFill>
        <p:spPr>
          <a:xfrm xmlns:a="http://schemas.openxmlformats.org/drawingml/2006/main">
            <a:off x="446040" y="1080000"/>
            <a:ext cx="273960" cy="273960"/>
          </a:xfrm>
          <a:prstGeom xmlns:a="http://schemas.openxmlformats.org/drawingml/2006/main" prst="rect">
            <a:avLst/>
          </a:prstGeom>
        </p:spPr>
      </p:pic>
      <p:sp>
        <p:nvSpPr>
          <p:cNvPr id="313" name="Text 7">
            <a:extLst xmlns:a="http://schemas.openxmlformats.org/drawingml/2006/main">
              <a:ext uri="{FF2B5EF4-FFF2-40B4-BE49-F238E27FC236}">
                <a16:creationId xmlns:a16="http://schemas.microsoft.com/office/drawing/2014/main" id="{BEF059F4-4A5C-4CC8-B382-F4A3D4EA6046}"/>
              </a:ext>
            </a:extLst>
          </p:cNvPr>
          <p:cNvSpPr>
            <a:spLocks xmlns:a="http://schemas.openxmlformats.org/drawingml/2006/main" noGrp="1"/>
          </p:cNvSpPr>
          <p:nvPr/>
        </p:nvSpPr>
        <p:spPr>
          <a:xfrm xmlns:a="http://schemas.openxmlformats.org/drawingml/2006/main">
            <a:off x="777240" y="2606040"/>
            <a:ext cx="7863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Capacity: lag trend identifies when processing cannot keep up</a:t>
            </a:r>
          </a:p>
        </p:txBody>
      </p:sp>
      <p:sp>
        <p:nvSpPr>
          <p:cNvPr id="314" name="Text 8">
            <a:extLst xmlns:a="http://schemas.openxmlformats.org/drawingml/2006/main">
              <a:ext uri="{FF2B5EF4-FFF2-40B4-BE49-F238E27FC236}">
                <a16:creationId xmlns:a16="http://schemas.microsoft.com/office/drawing/2014/main" id="{48A4EE0B-B7EE-4A13-B888-E51192B55AD7}"/>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f8f40dff18fd4c06"/>
              </a:rPr>
              <a:t>[1]</a:t>
            </a:r>
          </a:p>
        </p:txBody>
      </p:sp>
      <p:pic>
        <p:nvPicPr>
          <p:cNvPr id="315" name="Image 9"/>
          <p:cNvPicPr>
            <a:picLocks xmlns:a="http://schemas.openxmlformats.org/drawingml/2006/main" noChangeAspect="1"/>
          </p:cNvPicPr>
          <p:nvPr/>
        </p:nvPicPr>
        <p:blipFill>
          <a:blip xmlns:r="http://schemas.openxmlformats.org/officeDocument/2006/relationships" xmlns:a="http://schemas.openxmlformats.org/drawingml/2006/main" r:embed="R5b43360588034a8e"/>
          <a:stretch xmlns:a="http://schemas.openxmlformats.org/drawingml/2006/main"/>
        </p:blipFill>
        <p:spPr>
          <a:xfrm xmlns:a="http://schemas.openxmlformats.org/drawingml/2006/main">
            <a:off x="457200" y="2596320"/>
            <a:ext cx="228240" cy="228240"/>
          </a:xfrm>
          <a:prstGeom xmlns:a="http://schemas.openxmlformats.org/drawingml/2006/main" prst="rect">
            <a:avLst/>
          </a:prstGeom>
        </p:spPr>
      </p:pic>
    </p:spTree>
    <p:extLst>
      <p:ext uri="{BB962C8B-B14F-4D97-AF65-F5344CB8AC3E}">
        <p14:creationId xmlns:p14="http://schemas.microsoft.com/office/powerpoint/2010/main" val="1497131376"/>
      </p:ext>
    </p:extLst>
  </p:cSld>
</p:sld>
</file>

<file path=ppt/slides/slide19.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316" name="Shape 0">
            <a:extLst xmlns:a="http://schemas.openxmlformats.org/drawingml/2006/main">
              <a:ext uri="{FF2B5EF4-FFF2-40B4-BE49-F238E27FC236}">
                <a16:creationId xmlns:a16="http://schemas.microsoft.com/office/drawing/2014/main" id="{74B00FA6-7A97-402E-841C-B0828A5021C7}"/>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17" name="Text 1">
            <a:extLst xmlns:a="http://schemas.openxmlformats.org/drawingml/2006/main">
              <a:ext uri="{FF2B5EF4-FFF2-40B4-BE49-F238E27FC236}">
                <a16:creationId xmlns:a16="http://schemas.microsoft.com/office/drawing/2014/main" id="{14AC9128-AA1A-44C6-B200-A2CC0FF27174}"/>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Signal Versus Symptom</a:t>
            </a:r>
          </a:p>
        </p:txBody>
      </p:sp>
      <p:sp>
        <p:nvSpPr>
          <p:cNvPr id="318" name="Text 2">
            <a:extLst xmlns:a="http://schemas.openxmlformats.org/drawingml/2006/main">
              <a:ext uri="{FF2B5EF4-FFF2-40B4-BE49-F238E27FC236}">
                <a16:creationId xmlns:a16="http://schemas.microsoft.com/office/drawing/2014/main" id="{401ADBC4-6209-4D20-85BA-5FD023AB96F7}"/>
              </a:ext>
            </a:extLst>
          </p:cNvPr>
          <p:cNvSpPr>
            <a:spLocks xmlns:a="http://schemas.openxmlformats.org/drawingml/2006/main" noGrp="1"/>
          </p:cNvSpPr>
          <p:nvPr/>
        </p:nvSpPr>
        <p:spPr>
          <a:xfrm xmlns:a="http://schemas.openxmlformats.org/drawingml/2006/main">
            <a:off x="457200" y="731520"/>
            <a:ext cx="4114440" cy="1096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200" b="1" u="none">
                <a:solidFill>
                  <a:srgbClr val="003C54"/>
                </a:solidFill>
                <a:latin typeface="Calibri"/>
                <a:ea typeface="Calibri"/>
                <a:cs typeface="Calibri"/>
              </a:rPr>
              <a:t>Symptom: a dashboard or output topic stops advancing.</a:t>
            </a:r>
          </a:p>
          <a:p xmlns:a="http://schemas.openxmlformats.org/drawingml/2006/main">
            <a:pPr>
              <a:lnSpc>
                <a:spcPct val="100000"/>
              </a:lnSpc>
              <a:buNone/>
            </a:pPr>
            <a:r>
              <a:rPr sz="1200" b="1" u="none">
                <a:solidFill>
                  <a:srgbClr val="003C54"/>
                </a:solidFill>
                <a:latin typeface="Calibri"/>
                <a:ea typeface="Calibri"/>
                <a:cs typeface="Calibri"/>
              </a:rPr>
              <a:t>Signals to inspect: input arrival, processing/query status, consumer lag, rejected data and latest successful output timestamp.</a:t>
            </a:r>
          </a:p>
        </p:txBody>
      </p:sp>
      <p:sp>
        <p:nvSpPr>
          <p:cNvPr id="319" name="Shape 3">
            <a:extLst xmlns:a="http://schemas.openxmlformats.org/drawingml/2006/main">
              <a:ext uri="{FF2B5EF4-FFF2-40B4-BE49-F238E27FC236}">
                <a16:creationId xmlns:a16="http://schemas.microsoft.com/office/drawing/2014/main" id="{44646FDD-CAF6-49CC-B382-4D6B74BFA84B}"/>
              </a:ext>
            </a:extLst>
          </p:cNvPr>
          <p:cNvSpPr>
            <a:spLocks xmlns:a="http://schemas.openxmlformats.org/drawingml/2006/main" noGrp="1"/>
          </p:cNvSpPr>
          <p:nvPr/>
        </p:nvSpPr>
        <p:spPr>
          <a:xfrm xmlns:a="http://schemas.openxmlformats.org/drawingml/2006/main">
            <a:off x="5029200" y="731520"/>
            <a:ext cx="1371240" cy="456840"/>
          </a:xfrm>
          <a:prstGeom xmlns:a="http://schemas.openxmlformats.org/drawingml/2006/main" prst="roundRect">
            <a:avLst>
              <a:gd name="adj" fmla="val 20000"/>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20" name="Text 4">
            <a:extLst xmlns:a="http://schemas.openxmlformats.org/drawingml/2006/main">
              <a:ext uri="{FF2B5EF4-FFF2-40B4-BE49-F238E27FC236}">
                <a16:creationId xmlns:a16="http://schemas.microsoft.com/office/drawing/2014/main" id="{6339EB56-A824-4B09-85B8-4DF7EA809453}"/>
              </a:ext>
            </a:extLst>
          </p:cNvPr>
          <p:cNvSpPr>
            <a:spLocks xmlns:a="http://schemas.openxmlformats.org/drawingml/2006/main" noGrp="1"/>
          </p:cNvSpPr>
          <p:nvPr/>
        </p:nvSpPr>
        <p:spPr>
          <a:xfrm xmlns:a="http://schemas.openxmlformats.org/drawingml/2006/main">
            <a:off x="5074920" y="749880"/>
            <a:ext cx="1279800" cy="420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Symptom</a:t>
            </a:r>
          </a:p>
        </p:txBody>
      </p:sp>
      <p:sp>
        <p:nvSpPr>
          <p:cNvPr id="321" name="Shape 5">
            <a:extLst xmlns:a="http://schemas.openxmlformats.org/drawingml/2006/main">
              <a:ext uri="{FF2B5EF4-FFF2-40B4-BE49-F238E27FC236}">
                <a16:creationId xmlns:a16="http://schemas.microsoft.com/office/drawing/2014/main" id="{AACFCD87-EB0F-45FE-8EE1-55D8021448C2}"/>
              </a:ext>
            </a:extLst>
          </p:cNvPr>
          <p:cNvSpPr>
            <a:spLocks xmlns:a="http://schemas.openxmlformats.org/drawingml/2006/main" noGrp="1"/>
          </p:cNvSpPr>
          <p:nvPr/>
        </p:nvSpPr>
        <p:spPr>
          <a:xfrm xmlns:a="http://schemas.openxmlformats.org/drawingml/2006/main">
            <a:off x="5623560" y="1188720"/>
            <a:ext cx="273960" cy="456840"/>
          </a:xfrm>
          <a:prstGeom xmlns:a="http://schemas.openxmlformats.org/drawingml/2006/main" prst="down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22" name="Shape 6">
            <a:extLst xmlns:a="http://schemas.openxmlformats.org/drawingml/2006/main">
              <a:ext uri="{FF2B5EF4-FFF2-40B4-BE49-F238E27FC236}">
                <a16:creationId xmlns:a16="http://schemas.microsoft.com/office/drawing/2014/main" id="{92C551FD-1AC2-44EF-B9B0-A91EA798E327}"/>
              </a:ext>
            </a:extLst>
          </p:cNvPr>
          <p:cNvSpPr>
            <a:spLocks xmlns:a="http://schemas.openxmlformats.org/drawingml/2006/main" noGrp="1"/>
          </p:cNvSpPr>
          <p:nvPr/>
        </p:nvSpPr>
        <p:spPr>
          <a:xfrm xmlns:a="http://schemas.openxmlformats.org/drawingml/2006/main">
            <a:off x="4846320" y="1645920"/>
            <a:ext cx="1828440" cy="548280"/>
          </a:xfrm>
          <a:prstGeom xmlns:a="http://schemas.openxmlformats.org/drawingml/2006/main" prst="rect">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23" name="Text 7">
            <a:extLst xmlns:a="http://schemas.openxmlformats.org/drawingml/2006/main">
              <a:ext uri="{FF2B5EF4-FFF2-40B4-BE49-F238E27FC236}">
                <a16:creationId xmlns:a16="http://schemas.microsoft.com/office/drawing/2014/main" id="{A5EA758A-AB19-4411-BEA6-71540B2155DD}"/>
              </a:ext>
            </a:extLst>
          </p:cNvPr>
          <p:cNvSpPr>
            <a:spLocks xmlns:a="http://schemas.openxmlformats.org/drawingml/2006/main" noGrp="1"/>
          </p:cNvSpPr>
          <p:nvPr/>
        </p:nvSpPr>
        <p:spPr>
          <a:xfrm xmlns:a="http://schemas.openxmlformats.org/drawingml/2006/main">
            <a:off x="4892040" y="1645920"/>
            <a:ext cx="17370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Root signal</a:t>
            </a:r>
          </a:p>
        </p:txBody>
      </p:sp>
      <p:sp>
        <p:nvSpPr>
          <p:cNvPr id="324" name="Text 8">
            <a:extLst xmlns:a="http://schemas.openxmlformats.org/drawingml/2006/main">
              <a:ext uri="{FF2B5EF4-FFF2-40B4-BE49-F238E27FC236}">
                <a16:creationId xmlns:a16="http://schemas.microsoft.com/office/drawing/2014/main" id="{4E3D0FAD-628F-4D9F-AFC1-575FC22F1AF1}"/>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6de32b7ff2c2448b"/>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f319d86f7f814a7a"/>
              </a:rPr>
              <a:t>[2]</a:t>
            </a:r>
          </a:p>
        </p:txBody>
      </p:sp>
    </p:spTree>
    <p:extLst>
      <p:ext uri="{BB962C8B-B14F-4D97-AF65-F5344CB8AC3E}">
        <p14:creationId xmlns:p14="http://schemas.microsoft.com/office/powerpoint/2010/main" val="206941927"/>
      </p:ext>
    </p:extLst>
  </p:cSld>
</p:sld>
</file>

<file path=ppt/slides/slide20.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325" name="Shape 0">
            <a:extLst xmlns:a="http://schemas.openxmlformats.org/drawingml/2006/main">
              <a:ext uri="{FF2B5EF4-FFF2-40B4-BE49-F238E27FC236}">
                <a16:creationId xmlns:a16="http://schemas.microsoft.com/office/drawing/2014/main" id="{B35CBB63-A98C-45F9-BAEA-B732F717C966}"/>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26" name="Text 1">
            <a:extLst xmlns:a="http://schemas.openxmlformats.org/drawingml/2006/main">
              <a:ext uri="{FF2B5EF4-FFF2-40B4-BE49-F238E27FC236}">
                <a16:creationId xmlns:a16="http://schemas.microsoft.com/office/drawing/2014/main" id="{BD44E719-860D-45B4-8646-3A178D74CD0C}"/>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Minimum Investigation Commands</a:t>
            </a:r>
          </a:p>
        </p:txBody>
      </p:sp>
      <p:sp>
        <p:nvSpPr>
          <p:cNvPr id="327" name="Text 2">
            <a:extLst xmlns:a="http://schemas.openxmlformats.org/drawingml/2006/main">
              <a:ext uri="{FF2B5EF4-FFF2-40B4-BE49-F238E27FC236}">
                <a16:creationId xmlns:a16="http://schemas.microsoft.com/office/drawing/2014/main" id="{46BCCE84-40EC-4CC2-A4B4-E1CE1B96376C}"/>
              </a:ext>
            </a:extLst>
          </p:cNvPr>
          <p:cNvSpPr>
            <a:spLocks xmlns:a="http://schemas.openxmlformats.org/drawingml/2006/main" noGrp="1"/>
          </p:cNvSpPr>
          <p:nvPr/>
        </p:nvSpPr>
        <p:spPr>
          <a:xfrm xmlns:a="http://schemas.openxmlformats.org/drawingml/2006/main">
            <a:off x="457200" y="731520"/>
            <a:ext cx="4571640" cy="1005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200" b="1" u="none">
                <a:solidFill>
                  <a:srgbClr val="003C54"/>
                </a:solidFill>
                <a:latin typeface="Calibri"/>
                <a:ea typeface="Calibri"/>
                <a:cs typeface="Calibri"/>
              </a:rPr>
              <a:t>Start with reproducible evidence. Check container health, service logs and consumer progress before changing configuration.</a:t>
            </a:r>
          </a:p>
        </p:txBody>
      </p:sp>
      <p:sp>
        <p:nvSpPr>
          <p:cNvPr id="328" name="Shape 3">
            <a:extLst xmlns:a="http://schemas.openxmlformats.org/drawingml/2006/main">
              <a:ext uri="{FF2B5EF4-FFF2-40B4-BE49-F238E27FC236}">
                <a16:creationId xmlns:a16="http://schemas.microsoft.com/office/drawing/2014/main" id="{3C0945A2-1DF8-43EE-9E6D-C6F87D266B32}"/>
              </a:ext>
            </a:extLst>
          </p:cNvPr>
          <p:cNvSpPr>
            <a:spLocks xmlns:a="http://schemas.openxmlformats.org/drawingml/2006/main" noGrp="1"/>
          </p:cNvSpPr>
          <p:nvPr/>
        </p:nvSpPr>
        <p:spPr>
          <a:xfrm xmlns:a="http://schemas.openxmlformats.org/drawingml/2006/main">
            <a:off x="5120640" y="731520"/>
            <a:ext cx="3474360" cy="1279800"/>
          </a:xfrm>
          <a:prstGeom xmlns:a="http://schemas.openxmlformats.org/drawingml/2006/main" prst="roundRect">
            <a:avLst>
              <a:gd name="adj" fmla="val 3571"/>
            </a:avLst>
          </a:prstGeom>
          <a:solidFill xmlns:a="http://schemas.openxmlformats.org/drawingml/2006/main">
            <a:srgbClr val="F5F5F5"/>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29" name="Text 4">
            <a:extLst xmlns:a="http://schemas.openxmlformats.org/drawingml/2006/main">
              <a:ext uri="{FF2B5EF4-FFF2-40B4-BE49-F238E27FC236}">
                <a16:creationId xmlns:a16="http://schemas.microsoft.com/office/drawing/2014/main" id="{18FCD282-22DF-4E33-8168-D56E9D76227C}"/>
              </a:ext>
            </a:extLst>
          </p:cNvPr>
          <p:cNvSpPr>
            <a:spLocks xmlns:a="http://schemas.openxmlformats.org/drawingml/2006/main" noGrp="1"/>
          </p:cNvSpPr>
          <p:nvPr/>
        </p:nvSpPr>
        <p:spPr>
          <a:xfrm xmlns:a="http://schemas.openxmlformats.org/drawingml/2006/main">
            <a:off x="5166360" y="749880"/>
            <a:ext cx="3382920" cy="1243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440" tIns="1440" rIns="1440" bIns="1440" anchor="ctr">
            <a:noAutofit/>
          </a:bodyPr>
          <a:lstStyle xmlns:a="http://schemas.openxmlformats.org/drawingml/2006/main"/>
          <a:p xmlns:a="http://schemas.openxmlformats.org/drawingml/2006/main">
            <a:r>
              <a:rPr sz="1000" b="0" u="none">
                <a:solidFill>
                  <a:srgbClr val="000000"/>
                </a:solidFill>
                <a:latin typeface="Consolas"/>
                <a:ea typeface="Consolas"/>
                <a:cs typeface="Consolas"/>
              </a:rPr>
              <a:t>docker compose ps</a:t>
            </a:r>
          </a:p>
          <a:p xmlns:a="http://schemas.openxmlformats.org/drawingml/2006/main">
            <a:r>
              <a:rPr sz="1000" b="0" u="none">
                <a:solidFill>
                  <a:srgbClr val="000000"/>
                </a:solidFill>
                <a:latin typeface="Consolas"/>
                <a:ea typeface="Consolas"/>
                <a:cs typeface="Consolas"/>
              </a:rPr>
              <a:t/>
            </a:r>
          </a:p>
          <a:p xmlns:a="http://schemas.openxmlformats.org/drawingml/2006/main">
            <a:pPr>
              <a:lnSpc>
                <a:spcPct val="100000"/>
              </a:lnSpc>
              <a:buNone/>
            </a:pPr>
            <a:r>
              <a:rPr sz="1000" b="0" u="none">
                <a:solidFill>
                  <a:srgbClr val="000000"/>
                </a:solidFill>
                <a:latin typeface="Consolas"/>
                <a:ea typeface="Consolas"/>
                <a:cs typeface="Consolas"/>
              </a:rPr>
              <a:t>docker logs ksqldb-server --tail 50</a:t>
            </a:r>
          </a:p>
          <a:p xmlns:a="http://schemas.openxmlformats.org/drawingml/2006/main">
            <a:pPr>
              <a:lnSpc>
                <a:spcPct val="100000"/>
              </a:lnSpc>
              <a:buNone/>
            </a:pPr>
            <a:r>
              <a:rPr sz="1000" b="0" u="none">
                <a:solidFill>
                  <a:srgbClr val="000000"/>
                </a:solidFill>
                <a:latin typeface="Consolas"/>
                <a:ea typeface="Consolas"/>
                <a:cs typeface="Consolas"/>
              </a:rPr>
              <a:t/>
            </a:r>
          </a:p>
          <a:p xmlns:a="http://schemas.openxmlformats.org/drawingml/2006/main">
            <a:pPr>
              <a:lnSpc>
                <a:spcPct val="100000"/>
              </a:lnSpc>
              <a:buNone/>
            </a:pPr>
            <a:r>
              <a:rPr sz="1000" b="0" u="none">
                <a:solidFill>
                  <a:srgbClr val="000000"/>
                </a:solidFill>
                <a:latin typeface="Consolas"/>
                <a:ea typeface="Consolas"/>
                <a:cs typeface="Consolas"/>
              </a:rPr>
              <a:t>docker exec kafka kafka-consumer-groups \</a:t>
            </a:r>
          </a:p>
          <a:p xmlns:a="http://schemas.openxmlformats.org/drawingml/2006/main">
            <a:pPr>
              <a:lnSpc>
                <a:spcPct val="100000"/>
              </a:lnSpc>
              <a:buNone/>
            </a:pPr>
            <a:r>
              <a:rPr sz="1000" b="0" u="none">
                <a:solidFill>
                  <a:srgbClr val="000000"/>
                </a:solidFill>
                <a:latin typeface="Consolas"/>
                <a:ea typeface="Consolas"/>
                <a:cs typeface="Consolas"/>
              </a:rPr>
              <a:t>  --bootstrap-server kafka:29092 --describe \</a:t>
            </a:r>
          </a:p>
          <a:p xmlns:a="http://schemas.openxmlformats.org/drawingml/2006/main">
            <a:pPr>
              <a:lnSpc>
                <a:spcPct val="100000"/>
              </a:lnSpc>
              <a:buNone/>
            </a:pPr>
            <a:r>
              <a:rPr sz="1000" b="0" u="none">
                <a:solidFill>
                  <a:srgbClr val="000000"/>
                </a:solidFill>
                <a:latin typeface="Consolas"/>
                <a:ea typeface="Consolas"/>
                <a:cs typeface="Consolas"/>
              </a:rPr>
              <a:t>  --group orders-aggregator</a:t>
            </a:r>
          </a:p>
        </p:txBody>
      </p:sp>
      <p:sp>
        <p:nvSpPr>
          <p:cNvPr id="330" name="Text 5">
            <a:extLst xmlns:a="http://schemas.openxmlformats.org/drawingml/2006/main">
              <a:ext uri="{FF2B5EF4-FFF2-40B4-BE49-F238E27FC236}">
                <a16:creationId xmlns:a16="http://schemas.microsoft.com/office/drawing/2014/main" id="{8DAF2CEB-EF91-4F79-BB3F-EA40B92AFBC9}"/>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d3dee30ac054443e"/>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2a87baa8804241d2"/>
              </a:rPr>
              <a:t>[2]</a:t>
            </a:r>
          </a:p>
        </p:txBody>
      </p:sp>
    </p:spTree>
    <p:extLst>
      <p:ext uri="{BB962C8B-B14F-4D97-AF65-F5344CB8AC3E}">
        <p14:creationId xmlns:p14="http://schemas.microsoft.com/office/powerpoint/2010/main" val="1409456642"/>
      </p:ext>
    </p:extLst>
  </p:cSld>
</p:sld>
</file>

<file path=ppt/slides/slide21.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331" name="Shape 0">
            <a:extLst xmlns:a="http://schemas.openxmlformats.org/drawingml/2006/main">
              <a:ext uri="{FF2B5EF4-FFF2-40B4-BE49-F238E27FC236}">
                <a16:creationId xmlns:a16="http://schemas.microsoft.com/office/drawing/2014/main" id="{D07E3D08-27AD-4224-BDA4-AC2EC9A4FC1B}"/>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32" name="Text 1">
            <a:extLst xmlns:a="http://schemas.openxmlformats.org/drawingml/2006/main">
              <a:ext uri="{FF2B5EF4-FFF2-40B4-BE49-F238E27FC236}">
                <a16:creationId xmlns:a16="http://schemas.microsoft.com/office/drawing/2014/main" id="{4C83BB23-E7B7-4842-B10D-0118BDB85349}"/>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State, Restart and Recovery</a:t>
            </a:r>
          </a:p>
        </p:txBody>
      </p:sp>
      <p:sp>
        <p:nvSpPr>
          <p:cNvPr id="333" name="Text 2">
            <a:extLst xmlns:a="http://schemas.openxmlformats.org/drawingml/2006/main">
              <a:ext uri="{FF2B5EF4-FFF2-40B4-BE49-F238E27FC236}">
                <a16:creationId xmlns:a16="http://schemas.microsoft.com/office/drawing/2014/main" id="{3D106058-7343-47BB-940F-9323DBCDB821}"/>
              </a:ext>
            </a:extLst>
          </p:cNvPr>
          <p:cNvSpPr>
            <a:spLocks xmlns:a="http://schemas.openxmlformats.org/drawingml/2006/main" noGrp="1"/>
          </p:cNvSpPr>
          <p:nvPr/>
        </p:nvSpPr>
        <p:spPr>
          <a:xfrm xmlns:a="http://schemas.openxmlformats.org/drawingml/2006/main">
            <a:off x="457200" y="731520"/>
            <a:ext cx="4571640" cy="1828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100" b="1" u="none">
                <a:solidFill>
                  <a:srgbClr val="003C54"/>
                </a:solidFill>
                <a:latin typeface="Calibri"/>
                <a:ea typeface="Calibri"/>
                <a:cs typeface="Calibri"/>
              </a:rPr>
              <a:t>State determines whether restarting a processor resumes accurately or loses intermediate progress. The supplied Python app keeps memory-only aggregates; after restart, learners must document the reset behavior and why production designs use durable state/checkpoints.</a:t>
            </a:r>
          </a:p>
        </p:txBody>
      </p:sp>
      <p:sp>
        <p:nvSpPr>
          <p:cNvPr id="334" name="Shape 3">
            <a:extLst xmlns:a="http://schemas.openxmlformats.org/drawingml/2006/main">
              <a:ext uri="{FF2B5EF4-FFF2-40B4-BE49-F238E27FC236}">
                <a16:creationId xmlns:a16="http://schemas.microsoft.com/office/drawing/2014/main" id="{6FD63721-9133-469A-85EF-92B35EF7AFD1}"/>
              </a:ext>
            </a:extLst>
          </p:cNvPr>
          <p:cNvSpPr>
            <a:spLocks xmlns:a="http://schemas.openxmlformats.org/drawingml/2006/main" noGrp="1"/>
          </p:cNvSpPr>
          <p:nvPr/>
        </p:nvSpPr>
        <p:spPr>
          <a:xfrm xmlns:a="http://schemas.openxmlformats.org/drawingml/2006/main">
            <a:off x="5486400" y="731520"/>
            <a:ext cx="1645560" cy="548280"/>
          </a:xfrm>
          <a:prstGeom xmlns:a="http://schemas.openxmlformats.org/drawingml/2006/main" prst="roundRect">
            <a:avLst>
              <a:gd name="adj" fmla="val 16667"/>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35" name="Text 4">
            <a:extLst xmlns:a="http://schemas.openxmlformats.org/drawingml/2006/main">
              <a:ext uri="{FF2B5EF4-FFF2-40B4-BE49-F238E27FC236}">
                <a16:creationId xmlns:a16="http://schemas.microsoft.com/office/drawing/2014/main" id="{BDDED05C-8DFF-4F4D-B472-29D4CDAE4960}"/>
              </a:ext>
            </a:extLst>
          </p:cNvPr>
          <p:cNvSpPr>
            <a:spLocks xmlns:a="http://schemas.openxmlformats.org/drawingml/2006/main" noGrp="1"/>
          </p:cNvSpPr>
          <p:nvPr/>
        </p:nvSpPr>
        <p:spPr>
          <a:xfrm xmlns:a="http://schemas.openxmlformats.org/drawingml/2006/main">
            <a:off x="5486400" y="777240"/>
            <a:ext cx="1645560" cy="456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Process state</a:t>
            </a:r>
          </a:p>
        </p:txBody>
      </p:sp>
      <p:sp>
        <p:nvSpPr>
          <p:cNvPr id="336" name="Shape 5">
            <a:extLst xmlns:a="http://schemas.openxmlformats.org/drawingml/2006/main">
              <a:ext uri="{FF2B5EF4-FFF2-40B4-BE49-F238E27FC236}">
                <a16:creationId xmlns:a16="http://schemas.microsoft.com/office/drawing/2014/main" id="{54B39BCE-3908-48A0-B293-1DA48A72845A}"/>
              </a:ext>
            </a:extLst>
          </p:cNvPr>
          <p:cNvSpPr>
            <a:spLocks xmlns:a="http://schemas.openxmlformats.org/drawingml/2006/main" noGrp="1"/>
          </p:cNvSpPr>
          <p:nvPr/>
        </p:nvSpPr>
        <p:spPr>
          <a:xfrm xmlns:a="http://schemas.openxmlformats.org/drawingml/2006/main">
            <a:off x="6217920" y="1280160"/>
            <a:ext cx="273960" cy="273960"/>
          </a:xfrm>
          <a:prstGeom xmlns:a="http://schemas.openxmlformats.org/drawingml/2006/main" prst="down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37" name="Shape 6">
            <a:extLst xmlns:a="http://schemas.openxmlformats.org/drawingml/2006/main">
              <a:ext uri="{FF2B5EF4-FFF2-40B4-BE49-F238E27FC236}">
                <a16:creationId xmlns:a16="http://schemas.microsoft.com/office/drawing/2014/main" id="{8E4A3D7A-074E-454A-A0F9-8212DED4CAFC}"/>
              </a:ext>
            </a:extLst>
          </p:cNvPr>
          <p:cNvSpPr>
            <a:spLocks xmlns:a="http://schemas.openxmlformats.org/drawingml/2006/main" noGrp="1"/>
          </p:cNvSpPr>
          <p:nvPr/>
        </p:nvSpPr>
        <p:spPr>
          <a:xfrm xmlns:a="http://schemas.openxmlformats.org/drawingml/2006/main">
            <a:off x="5303520" y="1554480"/>
            <a:ext cx="2011320" cy="639720"/>
          </a:xfrm>
          <a:prstGeom xmlns:a="http://schemas.openxmlformats.org/drawingml/2006/main" prst="roundRect">
            <a:avLst>
              <a:gd name="adj" fmla="val 14286"/>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38" name="Text 7">
            <a:extLst xmlns:a="http://schemas.openxmlformats.org/drawingml/2006/main">
              <a:ext uri="{FF2B5EF4-FFF2-40B4-BE49-F238E27FC236}">
                <a16:creationId xmlns:a16="http://schemas.microsoft.com/office/drawing/2014/main" id="{886CC47F-689F-4DC4-8233-A465BF3C759B}"/>
              </a:ext>
            </a:extLst>
          </p:cNvPr>
          <p:cNvSpPr>
            <a:spLocks xmlns:a="http://schemas.openxmlformats.org/drawingml/2006/main" noGrp="1"/>
          </p:cNvSpPr>
          <p:nvPr/>
        </p:nvSpPr>
        <p:spPr>
          <a:xfrm xmlns:a="http://schemas.openxmlformats.org/drawingml/2006/main">
            <a:off x="5303520" y="1591200"/>
            <a:ext cx="201132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800" b="0" u="none">
                <a:solidFill>
                  <a:srgbClr val="FFFFFF"/>
                </a:solidFill>
                <a:latin typeface="Calibri"/>
                <a:ea typeface="Calibri"/>
                <a:cs typeface="Calibri"/>
              </a:rPr>
              <a:t>Durable recovery</a:t>
            </a:r>
          </a:p>
        </p:txBody>
      </p:sp>
      <p:sp>
        <p:nvSpPr>
          <p:cNvPr id="339" name="Text 8">
            <a:extLst xmlns:a="http://schemas.openxmlformats.org/drawingml/2006/main">
              <a:ext uri="{FF2B5EF4-FFF2-40B4-BE49-F238E27FC236}">
                <a16:creationId xmlns:a16="http://schemas.microsoft.com/office/drawing/2014/main" id="{4C54931B-5CEF-451C-A50A-41B67CDBE151}"/>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3ad90778f623430a"/>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ac6d422d18cb42c4"/>
              </a:rPr>
              <a:t>[2]</a:t>
            </a:r>
          </a:p>
        </p:txBody>
      </p:sp>
    </p:spTree>
    <p:extLst>
      <p:ext uri="{BB962C8B-B14F-4D97-AF65-F5344CB8AC3E}">
        <p14:creationId xmlns:p14="http://schemas.microsoft.com/office/powerpoint/2010/main" val="790416366"/>
      </p:ext>
    </p:extLst>
  </p:cSld>
</p:sld>
</file>

<file path=ppt/slides/slide22.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340" name="Shape 0">
            <a:extLst xmlns:a="http://schemas.openxmlformats.org/drawingml/2006/main">
              <a:ext uri="{FF2B5EF4-FFF2-40B4-BE49-F238E27FC236}">
                <a16:creationId xmlns:a16="http://schemas.microsoft.com/office/drawing/2014/main" id="{212D32CB-C190-4CC5-8D02-5166723A49F3}"/>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41" name="Text 1">
            <a:extLst xmlns:a="http://schemas.openxmlformats.org/drawingml/2006/main">
              <a:ext uri="{FF2B5EF4-FFF2-40B4-BE49-F238E27FC236}">
                <a16:creationId xmlns:a16="http://schemas.microsoft.com/office/drawing/2014/main" id="{C5897185-17D5-4A5A-9AF0-F7736B84B417}"/>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Consumer Lag and Backpressure</a:t>
            </a:r>
          </a:p>
        </p:txBody>
      </p:sp>
      <p:sp>
        <p:nvSpPr>
          <p:cNvPr id="342" name="Text 2">
            <a:extLst xmlns:a="http://schemas.openxmlformats.org/drawingml/2006/main">
              <a:ext uri="{FF2B5EF4-FFF2-40B4-BE49-F238E27FC236}">
                <a16:creationId xmlns:a16="http://schemas.microsoft.com/office/drawing/2014/main" id="{01B0DEF2-E225-4A7D-99F6-1CEB170C9C70}"/>
              </a:ext>
            </a:extLst>
          </p:cNvPr>
          <p:cNvSpPr>
            <a:spLocks xmlns:a="http://schemas.openxmlformats.org/drawingml/2006/main" noGrp="1"/>
          </p:cNvSpPr>
          <p:nvPr/>
        </p:nvSpPr>
        <p:spPr>
          <a:xfrm xmlns:a="http://schemas.openxmlformats.org/drawingml/2006/main">
            <a:off x="457200" y="731520"/>
            <a:ext cx="4388760" cy="1828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100" b="1" u="none">
                <a:solidFill>
                  <a:srgbClr val="003C54"/>
                </a:solidFill>
                <a:latin typeface="Calibri"/>
                <a:ea typeface="Calibri"/>
                <a:cs typeface="Calibri"/>
              </a:rPr>
              <a:t>Lag is the distance between records available and records processed. Rising lag means processing is slower than arrival or is stalled. Investigate throughput, slow processing, partition parallelism and downstream failures before scaling blindly.</a:t>
            </a:r>
          </a:p>
        </p:txBody>
      </p:sp>
      <p:sp>
        <p:nvSpPr>
          <p:cNvPr id="343" name="Shape 3">
            <a:extLst xmlns:a="http://schemas.openxmlformats.org/drawingml/2006/main">
              <a:ext uri="{FF2B5EF4-FFF2-40B4-BE49-F238E27FC236}">
                <a16:creationId xmlns:a16="http://schemas.microsoft.com/office/drawing/2014/main" id="{E5EB6A68-BC10-40B0-AB0F-2E23B30E1801}"/>
              </a:ext>
            </a:extLst>
          </p:cNvPr>
          <p:cNvSpPr>
            <a:spLocks xmlns:a="http://schemas.openxmlformats.org/drawingml/2006/main" noGrp="1"/>
          </p:cNvSpPr>
          <p:nvPr/>
        </p:nvSpPr>
        <p:spPr>
          <a:xfrm xmlns:a="http://schemas.openxmlformats.org/drawingml/2006/main">
            <a:off x="5120640" y="731520"/>
            <a:ext cx="3474360" cy="456840"/>
          </a:xfrm>
          <a:prstGeom xmlns:a="http://schemas.openxmlformats.org/drawingml/2006/main" prst="roundRect">
            <a:avLst>
              <a:gd name="adj" fmla="val 10000"/>
            </a:avLst>
          </a:prstGeom>
          <a:solidFill xmlns:a="http://schemas.openxmlformats.org/drawingml/2006/main">
            <a:srgbClr val="F5F5F5"/>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44" name="Text 4">
            <a:extLst xmlns:a="http://schemas.openxmlformats.org/drawingml/2006/main">
              <a:ext uri="{FF2B5EF4-FFF2-40B4-BE49-F238E27FC236}">
                <a16:creationId xmlns:a16="http://schemas.microsoft.com/office/drawing/2014/main" id="{C85AF033-4A34-4D51-B8C7-F233E07913FF}"/>
              </a:ext>
            </a:extLst>
          </p:cNvPr>
          <p:cNvSpPr>
            <a:spLocks xmlns:a="http://schemas.openxmlformats.org/drawingml/2006/main" noGrp="1"/>
          </p:cNvSpPr>
          <p:nvPr/>
        </p:nvSpPr>
        <p:spPr>
          <a:xfrm xmlns:a="http://schemas.openxmlformats.org/drawingml/2006/main">
            <a:off x="5166360" y="749880"/>
            <a:ext cx="3382920" cy="420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720" tIns="720" rIns="720" bIns="720" anchor="ctr">
            <a:noAutofit/>
          </a:bodyPr>
          <a:lstStyle xmlns:a="http://schemas.openxmlformats.org/drawingml/2006/main"/>
          <a:p xmlns:a="http://schemas.openxmlformats.org/drawingml/2006/main">
            <a:pPr>
              <a:lnSpc>
                <a:spcPct val="100000"/>
              </a:lnSpc>
              <a:buNone/>
            </a:pPr>
            <a:r>
              <a:rPr sz="1000" b="0" u="none">
                <a:solidFill>
                  <a:srgbClr val="000000"/>
                </a:solidFill>
                <a:latin typeface="Consolas"/>
                <a:ea typeface="Consolas"/>
                <a:cs typeface="Consolas"/>
              </a:rPr>
              <a:t>Health rule:</a:t>
            </a:r>
          </a:p>
          <a:p xmlns:a="http://schemas.openxmlformats.org/drawingml/2006/main">
            <a:pPr>
              <a:lnSpc>
                <a:spcPct val="100000"/>
              </a:lnSpc>
              <a:buNone/>
            </a:pPr>
            <a:r>
              <a:rPr sz="1000" b="0" u="none">
                <a:solidFill>
                  <a:srgbClr val="000000"/>
                </a:solidFill>
                <a:latin typeface="Consolas"/>
                <a:ea typeface="Consolas"/>
                <a:cs typeface="Consolas"/>
              </a:rPr>
              <a:t>lag rising + stale output = incident</a:t>
            </a:r>
          </a:p>
          <a:p xmlns:a="http://schemas.openxmlformats.org/drawingml/2006/main">
            <a:pPr>
              <a:lnSpc>
                <a:spcPct val="100000"/>
              </a:lnSpc>
              <a:buNone/>
            </a:pPr>
            <a:r>
              <a:rPr sz="1000" b="0" u="none">
                <a:solidFill>
                  <a:srgbClr val="000000"/>
                </a:solidFill>
                <a:latin typeface="Consolas"/>
                <a:ea typeface="Consolas"/>
                <a:cs typeface="Consolas"/>
              </a:rPr>
              <a:t>lag stable + fresh output = healthy baseline</a:t>
            </a:r>
          </a:p>
        </p:txBody>
      </p:sp>
      <p:sp>
        <p:nvSpPr>
          <p:cNvPr id="345" name="Shape 5">
            <a:extLst xmlns:a="http://schemas.openxmlformats.org/drawingml/2006/main">
              <a:ext uri="{FF2B5EF4-FFF2-40B4-BE49-F238E27FC236}">
                <a16:creationId xmlns:a16="http://schemas.microsoft.com/office/drawing/2014/main" id="{C82186C8-31D9-454D-B36D-AE517159C6E2}"/>
              </a:ext>
            </a:extLst>
          </p:cNvPr>
          <p:cNvSpPr>
            <a:spLocks xmlns:a="http://schemas.openxmlformats.org/drawingml/2006/main" noGrp="1"/>
          </p:cNvSpPr>
          <p:nvPr/>
        </p:nvSpPr>
        <p:spPr>
          <a:xfrm xmlns:a="http://schemas.openxmlformats.org/drawingml/2006/main">
            <a:off x="5120640" y="1371600"/>
            <a:ext cx="548280" cy="182520"/>
          </a:xfrm>
          <a:prstGeom xmlns:a="http://schemas.openxmlformats.org/drawingml/2006/main" prst="rect">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46" name="Shape 6">
            <a:extLst xmlns:a="http://schemas.openxmlformats.org/drawingml/2006/main">
              <a:ext uri="{FF2B5EF4-FFF2-40B4-BE49-F238E27FC236}">
                <a16:creationId xmlns:a16="http://schemas.microsoft.com/office/drawing/2014/main" id="{D9472EAC-CAB7-4044-9E33-CE7DD8A7A2F9}"/>
              </a:ext>
            </a:extLst>
          </p:cNvPr>
          <p:cNvSpPr>
            <a:spLocks xmlns:a="http://schemas.openxmlformats.org/drawingml/2006/main" noGrp="1"/>
          </p:cNvSpPr>
          <p:nvPr/>
        </p:nvSpPr>
        <p:spPr>
          <a:xfrm xmlns:a="http://schemas.openxmlformats.org/drawingml/2006/main">
            <a:off x="5715000" y="1371600"/>
            <a:ext cx="548280" cy="182520"/>
          </a:xfrm>
          <a:prstGeom xmlns:a="http://schemas.openxmlformats.org/drawingml/2006/main" prst="rect">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47" name="Shape 7">
            <a:extLst xmlns:a="http://schemas.openxmlformats.org/drawingml/2006/main">
              <a:ext uri="{FF2B5EF4-FFF2-40B4-BE49-F238E27FC236}">
                <a16:creationId xmlns:a16="http://schemas.microsoft.com/office/drawing/2014/main" id="{A5232E65-D35B-4557-B691-A386F9023E71}"/>
              </a:ext>
            </a:extLst>
          </p:cNvPr>
          <p:cNvSpPr>
            <a:spLocks xmlns:a="http://schemas.openxmlformats.org/drawingml/2006/main" noGrp="1"/>
          </p:cNvSpPr>
          <p:nvPr/>
        </p:nvSpPr>
        <p:spPr>
          <a:xfrm xmlns:a="http://schemas.openxmlformats.org/drawingml/2006/main">
            <a:off x="6309360" y="1371600"/>
            <a:ext cx="548280" cy="182520"/>
          </a:xfrm>
          <a:prstGeom xmlns:a="http://schemas.openxmlformats.org/drawingml/2006/main" prst="rect">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48" name="Shape 8">
            <a:extLst xmlns:a="http://schemas.openxmlformats.org/drawingml/2006/main">
              <a:ext uri="{FF2B5EF4-FFF2-40B4-BE49-F238E27FC236}">
                <a16:creationId xmlns:a16="http://schemas.microsoft.com/office/drawing/2014/main" id="{11C14118-9E39-4A8C-96BC-1D1171E979E3}"/>
              </a:ext>
            </a:extLst>
          </p:cNvPr>
          <p:cNvSpPr>
            <a:spLocks xmlns:a="http://schemas.openxmlformats.org/drawingml/2006/main" noGrp="1"/>
          </p:cNvSpPr>
          <p:nvPr/>
        </p:nvSpPr>
        <p:spPr>
          <a:xfrm xmlns:a="http://schemas.openxmlformats.org/drawingml/2006/main">
            <a:off x="6903720" y="1371600"/>
            <a:ext cx="548280" cy="182520"/>
          </a:xfrm>
          <a:prstGeom xmlns:a="http://schemas.openxmlformats.org/drawingml/2006/main" prst="rect">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49" name="Shape 9">
            <a:extLst xmlns:a="http://schemas.openxmlformats.org/drawingml/2006/main">
              <a:ext uri="{FF2B5EF4-FFF2-40B4-BE49-F238E27FC236}">
                <a16:creationId xmlns:a16="http://schemas.microsoft.com/office/drawing/2014/main" id="{EA012F64-40FC-4E09-B937-55A4C4C20494}"/>
              </a:ext>
            </a:extLst>
          </p:cNvPr>
          <p:cNvSpPr>
            <a:spLocks xmlns:a="http://schemas.openxmlformats.org/drawingml/2006/main" noGrp="1"/>
          </p:cNvSpPr>
          <p:nvPr/>
        </p:nvSpPr>
        <p:spPr>
          <a:xfrm xmlns:a="http://schemas.openxmlformats.org/drawingml/2006/main">
            <a:off x="7498080" y="1371600"/>
            <a:ext cx="548280" cy="182520"/>
          </a:xfrm>
          <a:prstGeom xmlns:a="http://schemas.openxmlformats.org/drawingml/2006/main" prst="rect">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50" name="Shape 10">
            <a:extLst xmlns:a="http://schemas.openxmlformats.org/drawingml/2006/main">
              <a:ext uri="{FF2B5EF4-FFF2-40B4-BE49-F238E27FC236}">
                <a16:creationId xmlns:a16="http://schemas.microsoft.com/office/drawing/2014/main" id="{3C2DF4B0-3E24-4C0B-A6BD-9CCE8F9D902F}"/>
              </a:ext>
            </a:extLst>
          </p:cNvPr>
          <p:cNvSpPr>
            <a:spLocks xmlns:a="http://schemas.openxmlformats.org/drawingml/2006/main" noGrp="1"/>
          </p:cNvSpPr>
          <p:nvPr/>
        </p:nvSpPr>
        <p:spPr>
          <a:xfrm xmlns:a="http://schemas.openxmlformats.org/drawingml/2006/main">
            <a:off x="7772400" y="1417320"/>
            <a:ext cx="136800" cy="136800"/>
          </a:xfrm>
          <a:prstGeom xmlns:a="http://schemas.openxmlformats.org/drawingml/2006/main" prst="ellipse">
            <a:avLst/>
          </a:prstGeom>
          <a:solidFill xmlns:a="http://schemas.openxmlformats.org/drawingml/2006/main">
            <a:srgbClr val="FFFFD7"/>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51" name="Text 11">
            <a:extLst xmlns:a="http://schemas.openxmlformats.org/drawingml/2006/main">
              <a:ext uri="{FF2B5EF4-FFF2-40B4-BE49-F238E27FC236}">
                <a16:creationId xmlns:a16="http://schemas.microsoft.com/office/drawing/2014/main" id="{DF5D8354-E123-4DAE-BDF2-626039F1B2E1}"/>
              </a:ext>
            </a:extLst>
          </p:cNvPr>
          <p:cNvSpPr>
            <a:spLocks xmlns:a="http://schemas.openxmlformats.org/drawingml/2006/main" noGrp="1"/>
          </p:cNvSpPr>
          <p:nvPr/>
        </p:nvSpPr>
        <p:spPr>
          <a:xfrm xmlns:a="http://schemas.openxmlformats.org/drawingml/2006/main">
            <a:off x="7699320" y="1554480"/>
            <a:ext cx="1371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700" b="0" u="none">
                <a:solidFill>
                  <a:srgbClr val="003C54"/>
                </a:solidFill>
                <a:latin typeface="Calibri"/>
                <a:ea typeface="Calibri"/>
                <a:cs typeface="Calibri"/>
              </a:rPr>
              <a:t>SLA breach</a:t>
            </a:r>
          </a:p>
        </p:txBody>
      </p:sp>
      <p:sp>
        <p:nvSpPr>
          <p:cNvPr id="352" name="Text 12">
            <a:extLst xmlns:a="http://schemas.openxmlformats.org/drawingml/2006/main">
              <a:ext uri="{FF2B5EF4-FFF2-40B4-BE49-F238E27FC236}">
                <a16:creationId xmlns:a16="http://schemas.microsoft.com/office/drawing/2014/main" id="{6B2247E0-0B07-4398-8932-7DEAB5EFE808}"/>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23b0afb24bb945c4"/>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d0f688eb48934d44"/>
              </a:rPr>
              <a:t>[2]</a:t>
            </a:r>
          </a:p>
        </p:txBody>
      </p:sp>
    </p:spTree>
    <p:extLst>
      <p:ext uri="{BB962C8B-B14F-4D97-AF65-F5344CB8AC3E}">
        <p14:creationId xmlns:p14="http://schemas.microsoft.com/office/powerpoint/2010/main" val="1820502830"/>
      </p:ext>
    </p:extLst>
  </p:cSld>
</p:sld>
</file>

<file path=ppt/slides/slide23.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353" name="Shape 0">
            <a:extLst xmlns:a="http://schemas.openxmlformats.org/drawingml/2006/main">
              <a:ext uri="{FF2B5EF4-FFF2-40B4-BE49-F238E27FC236}">
                <a16:creationId xmlns:a16="http://schemas.microsoft.com/office/drawing/2014/main" id="{C35DB0F6-4954-47EF-8887-FCE62CFE290B}"/>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54" name="Text 1">
            <a:extLst xmlns:a="http://schemas.openxmlformats.org/drawingml/2006/main">
              <a:ext uri="{FF2B5EF4-FFF2-40B4-BE49-F238E27FC236}">
                <a16:creationId xmlns:a16="http://schemas.microsoft.com/office/drawing/2014/main" id="{9D127469-F3AE-45F5-9BAB-44973A09D9E3}"/>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Logs, Status and Evidence</a:t>
            </a:r>
          </a:p>
        </p:txBody>
      </p:sp>
      <p:sp>
        <p:nvSpPr>
          <p:cNvPr id="355" name="Text 2">
            <a:extLst xmlns:a="http://schemas.openxmlformats.org/drawingml/2006/main">
              <a:ext uri="{FF2B5EF4-FFF2-40B4-BE49-F238E27FC236}">
                <a16:creationId xmlns:a16="http://schemas.microsoft.com/office/drawing/2014/main" id="{48C718FF-8B32-46D4-ACEF-434E84CA0428}"/>
              </a:ext>
            </a:extLst>
          </p:cNvPr>
          <p:cNvSpPr>
            <a:spLocks xmlns:a="http://schemas.openxmlformats.org/drawingml/2006/main" noGrp="1"/>
          </p:cNvSpPr>
          <p:nvPr/>
        </p:nvSpPr>
        <p:spPr>
          <a:xfrm xmlns:a="http://schemas.openxmlformats.org/drawingml/2006/main">
            <a:off x="457200" y="731520"/>
            <a:ext cx="4114440" cy="1828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100" b="1" u="none">
                <a:solidFill>
                  <a:srgbClr val="003C54"/>
                </a:solidFill>
                <a:latin typeface="Calibri"/>
                <a:ea typeface="Calibri"/>
                <a:cs typeface="Calibri"/>
              </a:rPr>
              <a:t>An incident report needs timestamps, commands, observations and a recovery test. Record the last good output, failure symptom, log clue, action taken and proof that output advances correctly again.</a:t>
            </a:r>
          </a:p>
        </p:txBody>
      </p:sp>
      <p:sp>
        <p:nvSpPr>
          <p:cNvPr id="356" name="Shape 3">
            <a:extLst xmlns:a="http://schemas.openxmlformats.org/drawingml/2006/main">
              <a:ext uri="{FF2B5EF4-FFF2-40B4-BE49-F238E27FC236}">
                <a16:creationId xmlns:a16="http://schemas.microsoft.com/office/drawing/2014/main" id="{6B8AF890-CDE7-475B-9F2D-F73AADEEF1DF}"/>
              </a:ext>
            </a:extLst>
          </p:cNvPr>
          <p:cNvSpPr>
            <a:spLocks xmlns:a="http://schemas.openxmlformats.org/drawingml/2006/main" noGrp="1"/>
          </p:cNvSpPr>
          <p:nvPr/>
        </p:nvSpPr>
        <p:spPr>
          <a:xfrm xmlns:a="http://schemas.openxmlformats.org/drawingml/2006/main">
            <a:off x="4846320" y="731520"/>
            <a:ext cx="3840120" cy="1279800"/>
          </a:xfrm>
          <a:prstGeom xmlns:a="http://schemas.openxmlformats.org/drawingml/2006/main" prst="roundRect">
            <a:avLst>
              <a:gd name="adj" fmla="val 3571"/>
            </a:avLst>
          </a:prstGeom>
          <a:solidFill xmlns:a="http://schemas.openxmlformats.org/drawingml/2006/main">
            <a:srgbClr val="F5F5F5"/>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57" name="Text 4">
            <a:extLst xmlns:a="http://schemas.openxmlformats.org/drawingml/2006/main">
              <a:ext uri="{FF2B5EF4-FFF2-40B4-BE49-F238E27FC236}">
                <a16:creationId xmlns:a16="http://schemas.microsoft.com/office/drawing/2014/main" id="{5A58FEAD-E52F-465D-880B-9C6477F2833B}"/>
              </a:ext>
            </a:extLst>
          </p:cNvPr>
          <p:cNvSpPr>
            <a:spLocks xmlns:a="http://schemas.openxmlformats.org/drawingml/2006/main" noGrp="1"/>
          </p:cNvSpPr>
          <p:nvPr/>
        </p:nvSpPr>
        <p:spPr>
          <a:xfrm xmlns:a="http://schemas.openxmlformats.org/drawingml/2006/main">
            <a:off x="4892040" y="749880"/>
            <a:ext cx="3748680" cy="1243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440" tIns="1440" rIns="1440" bIns="1440" anchor="ctr">
            <a:noAutofit/>
          </a:bodyPr>
          <a:lstStyle xmlns:a="http://schemas.openxmlformats.org/drawingml/2006/main"/>
          <a:p xmlns:a="http://schemas.openxmlformats.org/drawingml/2006/main">
            <a:pPr>
              <a:lnSpc>
                <a:spcPct val="100000"/>
              </a:lnSpc>
              <a:buNone/>
            </a:pPr>
            <a:r>
              <a:rPr sz="1000" b="0" u="none">
                <a:solidFill>
                  <a:srgbClr val="000000"/>
                </a:solidFill>
                <a:latin typeface="Consolas"/>
                <a:ea typeface="Consolas"/>
                <a:cs typeface="Consolas"/>
              </a:rPr>
              <a:t>Evidence checklist:</a:t>
            </a:r>
          </a:p>
          <a:p xmlns:a="http://schemas.openxmlformats.org/drawingml/2006/main">
            <a:pPr>
              <a:lnSpc>
                <a:spcPct val="100000"/>
              </a:lnSpc>
              <a:buNone/>
            </a:pPr>
            <a:r>
              <a:rPr sz="1000" b="0" u="none">
                <a:solidFill>
                  <a:srgbClr val="000000"/>
                </a:solidFill>
                <a:latin typeface="Consolas"/>
                <a:ea typeface="Consolas"/>
                <a:cs typeface="Consolas"/>
              </a:rPr>
              <a:t>- docker compose ps output</a:t>
            </a:r>
          </a:p>
          <a:p xmlns:a="http://schemas.openxmlformats.org/drawingml/2006/main">
            <a:pPr>
              <a:lnSpc>
                <a:spcPct val="100000"/>
              </a:lnSpc>
              <a:buNone/>
            </a:pPr>
            <a:r>
              <a:rPr sz="1000" b="0" u="none">
                <a:solidFill>
                  <a:srgbClr val="000000"/>
                </a:solidFill>
                <a:latin typeface="Consolas"/>
                <a:ea typeface="Consolas"/>
                <a:cs typeface="Consolas"/>
              </a:rPr>
              <a:t>- relevant service log lines</a:t>
            </a:r>
          </a:p>
          <a:p xmlns:a="http://schemas.openxmlformats.org/drawingml/2006/main">
            <a:pPr>
              <a:lnSpc>
                <a:spcPct val="100000"/>
              </a:lnSpc>
              <a:buNone/>
            </a:pPr>
            <a:r>
              <a:rPr sz="1000" b="0" u="none">
                <a:solidFill>
                  <a:srgbClr val="000000"/>
                </a:solidFill>
                <a:latin typeface="Consolas"/>
                <a:ea typeface="Consolas"/>
                <a:cs typeface="Consolas"/>
              </a:rPr>
              <a:t>- topic/output timestamp before and after fix</a:t>
            </a:r>
          </a:p>
          <a:p xmlns:a="http://schemas.openxmlformats.org/drawingml/2006/main">
            <a:pPr>
              <a:lnSpc>
                <a:spcPct val="100000"/>
              </a:lnSpc>
              <a:buNone/>
            </a:pPr>
            <a:r>
              <a:rPr sz="1000" b="0" u="none">
                <a:solidFill>
                  <a:srgbClr val="A31515"/>
                </a:solidFill>
                <a:latin typeface="Consolas"/>
                <a:ea typeface="Consolas"/>
                <a:cs typeface="Consolas"/>
              </a:rPr>
              <a:t>- lag observation or message count</a:t>
            </a:r>
          </a:p>
          <a:p xmlns:a="http://schemas.openxmlformats.org/drawingml/2006/main">
            <a:pPr>
              <a:lnSpc>
                <a:spcPct val="100000"/>
              </a:lnSpc>
              <a:buNone/>
            </a:pPr>
            <a:r>
              <a:rPr sz="1000" b="0" u="none">
                <a:solidFill>
                  <a:srgbClr val="000000"/>
                </a:solidFill>
                <a:latin typeface="Consolas"/>
                <a:ea typeface="Consolas"/>
                <a:cs typeface="Consolas"/>
              </a:rPr>
              <a:t>- rerun or restart result</a:t>
            </a:r>
          </a:p>
        </p:txBody>
      </p:sp>
      <p:sp>
        <p:nvSpPr>
          <p:cNvPr id="358" name="Text 5">
            <a:extLst xmlns:a="http://schemas.openxmlformats.org/drawingml/2006/main">
              <a:ext uri="{FF2B5EF4-FFF2-40B4-BE49-F238E27FC236}">
                <a16:creationId xmlns:a16="http://schemas.microsoft.com/office/drawing/2014/main" id="{9852C8C8-8DE5-4A90-AFD4-8B52CFDA8530}"/>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fae84c285e774e74"/>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2857ecb7aa9042a9"/>
              </a:rPr>
              <a:t>[2]</a:t>
            </a:r>
          </a:p>
        </p:txBody>
      </p:sp>
    </p:spTree>
    <p:extLst>
      <p:ext uri="{BB962C8B-B14F-4D97-AF65-F5344CB8AC3E}">
        <p14:creationId xmlns:p14="http://schemas.microsoft.com/office/powerpoint/2010/main" val="1997284712"/>
      </p:ext>
    </p:extLst>
  </p:cSld>
</p:sld>
</file>

<file path=ppt/slides/slide24.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359" name="Shape 0">
            <a:extLst xmlns:a="http://schemas.openxmlformats.org/drawingml/2006/main">
              <a:ext uri="{FF2B5EF4-FFF2-40B4-BE49-F238E27FC236}">
                <a16:creationId xmlns:a16="http://schemas.microsoft.com/office/drawing/2014/main" id="{6E80281F-15B5-44F2-AF9F-8C04B088A6D1}"/>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60" name="Text 1">
            <a:extLst xmlns:a="http://schemas.openxmlformats.org/drawingml/2006/main">
              <a:ext uri="{FF2B5EF4-FFF2-40B4-BE49-F238E27FC236}">
                <a16:creationId xmlns:a16="http://schemas.microsoft.com/office/drawing/2014/main" id="{F3480FCD-55D7-468E-9ADE-A8BA018F3E66}"/>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A Practical Runbook</a:t>
            </a:r>
          </a:p>
        </p:txBody>
      </p:sp>
      <p:sp>
        <p:nvSpPr>
          <p:cNvPr id="361" name="Text 2">
            <a:extLst xmlns:a="http://schemas.openxmlformats.org/drawingml/2006/main">
              <a:ext uri="{FF2B5EF4-FFF2-40B4-BE49-F238E27FC236}">
                <a16:creationId xmlns:a16="http://schemas.microsoft.com/office/drawing/2014/main" id="{10078621-F9CA-40C4-8CE1-30DA60F0495D}"/>
              </a:ext>
            </a:extLst>
          </p:cNvPr>
          <p:cNvSpPr>
            <a:spLocks xmlns:a="http://schemas.openxmlformats.org/drawingml/2006/main" noGrp="1"/>
          </p:cNvSpPr>
          <p:nvPr/>
        </p:nvSpPr>
        <p:spPr>
          <a:xfrm xmlns:a="http://schemas.openxmlformats.org/drawingml/2006/main">
            <a:off x="457200" y="731520"/>
            <a:ext cx="4388760" cy="1828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100" b="1" u="none">
                <a:solidFill>
                  <a:srgbClr val="003C54"/>
                </a:solidFill>
                <a:latin typeface="Calibri"/>
                <a:ea typeface="Calibri"/>
                <a:cs typeface="Calibri"/>
              </a:rPr>
              <a:t>1. Confirm symptom and business impact.</a:t>
            </a:r>
          </a:p>
          <a:p xmlns:a="http://schemas.openxmlformats.org/drawingml/2006/main">
            <a:r>
              <a:rPr sz="1000" b="0" u="none">
                <a:solidFill>
                  <a:srgbClr val="003C54"/>
                </a:solidFill>
                <a:latin typeface="Calibri"/>
                <a:ea typeface="Calibri"/>
                <a:cs typeface="Calibri"/>
              </a:rPr>
              <a:t>2. Check source/input arrival.</a:t>
            </a:r>
          </a:p>
          <a:p xmlns:a="http://schemas.openxmlformats.org/drawingml/2006/main">
            <a:r>
              <a:rPr sz="1000" b="0" u="none">
                <a:solidFill>
                  <a:srgbClr val="003C54"/>
                </a:solidFill>
                <a:latin typeface="Calibri"/>
                <a:ea typeface="Calibri"/>
                <a:cs typeface="Calibri"/>
              </a:rPr>
              <a:t>3. Check processor health and logs.</a:t>
            </a:r>
          </a:p>
          <a:p xmlns:a="http://schemas.openxmlformats.org/drawingml/2006/main">
            <a:r>
              <a:rPr sz="1000" b="0" u="none">
                <a:solidFill>
                  <a:srgbClr val="003C54"/>
                </a:solidFill>
                <a:latin typeface="Calibri"/>
                <a:ea typeface="Calibri"/>
                <a:cs typeface="Calibri"/>
              </a:rPr>
              <a:t>4. Inspect lag and bad records.</a:t>
            </a:r>
          </a:p>
          <a:p xmlns:a="http://schemas.openxmlformats.org/drawingml/2006/main">
            <a:pPr>
              <a:lnSpc>
                <a:spcPct val="100000"/>
              </a:lnSpc>
              <a:buNone/>
            </a:pPr>
            <a:r>
              <a:rPr sz="1000" b="0" u="none">
                <a:solidFill>
                  <a:srgbClr val="003C54"/>
                </a:solidFill>
                <a:latin typeface="Calibri"/>
                <a:ea typeface="Calibri"/>
                <a:cs typeface="Calibri"/>
              </a:rPr>
              <a:t>5. Apply one controlled fix.</a:t>
            </a:r>
          </a:p>
          <a:p xmlns:a="http://schemas.openxmlformats.org/drawingml/2006/main">
            <a:pPr>
              <a:lnSpc>
                <a:spcPct val="100000"/>
              </a:lnSpc>
              <a:buNone/>
            </a:pPr>
            <a:r>
              <a:rPr sz="1000" b="0" u="none">
                <a:solidFill>
                  <a:srgbClr val="003C54"/>
                </a:solidFill>
                <a:latin typeface="Calibri"/>
                <a:ea typeface="Calibri"/>
                <a:cs typeface="Calibri"/>
              </a:rPr>
              <a:t>6. Validate recovery and document prevention.</a:t>
            </a:r>
          </a:p>
        </p:txBody>
      </p:sp>
      <p:sp>
        <p:nvSpPr>
          <p:cNvPr id="362" name="Shape 3">
            <a:extLst xmlns:a="http://schemas.openxmlformats.org/drawingml/2006/main">
              <a:ext uri="{FF2B5EF4-FFF2-40B4-BE49-F238E27FC236}">
                <a16:creationId xmlns:a16="http://schemas.microsoft.com/office/drawing/2014/main" id="{6A40D739-32F0-4928-AFE8-7B6455F3C200}"/>
              </a:ext>
            </a:extLst>
          </p:cNvPr>
          <p:cNvSpPr>
            <a:spLocks xmlns:a="http://schemas.openxmlformats.org/drawingml/2006/main" noGrp="1"/>
          </p:cNvSpPr>
          <p:nvPr/>
        </p:nvSpPr>
        <p:spPr>
          <a:xfrm xmlns:a="http://schemas.openxmlformats.org/drawingml/2006/main">
            <a:off x="5162400" y="1451520"/>
            <a:ext cx="1462680" cy="456840"/>
          </a:xfrm>
          <a:prstGeom xmlns:a="http://schemas.openxmlformats.org/drawingml/2006/main" prst="roundRect">
            <a:avLst>
              <a:gd name="adj" fmla="val 20000"/>
            </a:avLst>
          </a:prstGeom>
          <a:solidFill xmlns:a="http://schemas.openxmlformats.org/drawingml/2006/main">
            <a:srgbClr val="009E60"/>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63" name="Text 4">
            <a:extLst xmlns:a="http://schemas.openxmlformats.org/drawingml/2006/main">
              <a:ext uri="{FF2B5EF4-FFF2-40B4-BE49-F238E27FC236}">
                <a16:creationId xmlns:a16="http://schemas.microsoft.com/office/drawing/2014/main" id="{4243578E-DC9A-4784-B0B9-8BE88364A9F9}"/>
              </a:ext>
            </a:extLst>
          </p:cNvPr>
          <p:cNvSpPr>
            <a:spLocks xmlns:a="http://schemas.openxmlformats.org/drawingml/2006/main" noGrp="1"/>
          </p:cNvSpPr>
          <p:nvPr/>
        </p:nvSpPr>
        <p:spPr>
          <a:xfrm xmlns:a="http://schemas.openxmlformats.org/drawingml/2006/main">
            <a:off x="5162400" y="1451520"/>
            <a:ext cx="1462680" cy="456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900" b="0" u="none">
                <a:solidFill>
                  <a:srgbClr val="FFFFFF"/>
                </a:solidFill>
                <a:latin typeface="Calibri"/>
                <a:ea typeface="Calibri"/>
                <a:cs typeface="Calibri"/>
              </a:rPr>
              <a:t>Symptom</a:t>
            </a:r>
          </a:p>
        </p:txBody>
      </p:sp>
      <p:sp>
        <p:nvSpPr>
          <p:cNvPr id="364" name="Shape 5">
            <a:extLst xmlns:a="http://schemas.openxmlformats.org/drawingml/2006/main">
              <a:ext uri="{FF2B5EF4-FFF2-40B4-BE49-F238E27FC236}">
                <a16:creationId xmlns:a16="http://schemas.microsoft.com/office/drawing/2014/main" id="{30FC3419-B9C8-484F-BD84-45330A3C1DE2}"/>
              </a:ext>
            </a:extLst>
          </p:cNvPr>
          <p:cNvSpPr>
            <a:spLocks xmlns:a="http://schemas.openxmlformats.org/drawingml/2006/main" noGrp="1"/>
          </p:cNvSpPr>
          <p:nvPr/>
        </p:nvSpPr>
        <p:spPr>
          <a:xfrm xmlns:a="http://schemas.openxmlformats.org/drawingml/2006/main">
            <a:off x="6949440" y="914400"/>
            <a:ext cx="36540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365" name="Shape 6">
            <a:extLst xmlns:a="http://schemas.openxmlformats.org/drawingml/2006/main">
              <a:ext uri="{FF2B5EF4-FFF2-40B4-BE49-F238E27FC236}">
                <a16:creationId xmlns:a16="http://schemas.microsoft.com/office/drawing/2014/main" id="{888C1263-6A36-418A-B0B5-843D649B4F58}"/>
              </a:ext>
            </a:extLst>
          </p:cNvPr>
          <p:cNvSpPr>
            <a:spLocks xmlns:a="http://schemas.openxmlformats.org/drawingml/2006/main" noGrp="1"/>
          </p:cNvSpPr>
          <p:nvPr/>
        </p:nvSpPr>
        <p:spPr>
          <a:xfrm xmlns:a="http://schemas.openxmlformats.org/drawingml/2006/main">
            <a:off x="7406640" y="777240"/>
            <a:ext cx="1645560" cy="273960"/>
          </a:xfrm>
          <a:prstGeom xmlns:a="http://schemas.openxmlformats.org/drawingml/2006/main" prst="roundRect">
            <a:avLst>
              <a:gd name="adj" fmla="val 33333"/>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66" name="Text 7">
            <a:extLst xmlns:a="http://schemas.openxmlformats.org/drawingml/2006/main">
              <a:ext uri="{FF2B5EF4-FFF2-40B4-BE49-F238E27FC236}">
                <a16:creationId xmlns:a16="http://schemas.microsoft.com/office/drawing/2014/main" id="{89A56A7E-CE2A-43B7-9F4E-5F923016EE15}"/>
              </a:ext>
            </a:extLst>
          </p:cNvPr>
          <p:cNvSpPr>
            <a:spLocks xmlns:a="http://schemas.openxmlformats.org/drawingml/2006/main" noGrp="1"/>
          </p:cNvSpPr>
          <p:nvPr/>
        </p:nvSpPr>
        <p:spPr>
          <a:xfrm xmlns:a="http://schemas.openxmlformats.org/drawingml/2006/main">
            <a:off x="7425000" y="777240"/>
            <a:ext cx="1608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700" b="0" u="none">
                <a:solidFill>
                  <a:srgbClr val="FFFFFF"/>
                </a:solidFill>
                <a:latin typeface="Calibri"/>
                <a:ea typeface="Calibri"/>
                <a:cs typeface="Calibri"/>
              </a:rPr>
              <a:t>Input</a:t>
            </a:r>
          </a:p>
        </p:txBody>
      </p:sp>
      <p:sp>
        <p:nvSpPr>
          <p:cNvPr id="367" name="Shape 8">
            <a:extLst xmlns:a="http://schemas.openxmlformats.org/drawingml/2006/main">
              <a:ext uri="{FF2B5EF4-FFF2-40B4-BE49-F238E27FC236}">
                <a16:creationId xmlns:a16="http://schemas.microsoft.com/office/drawing/2014/main" id="{29A55A61-0ADB-40F7-8261-E516CBDCA92C}"/>
              </a:ext>
            </a:extLst>
          </p:cNvPr>
          <p:cNvSpPr>
            <a:spLocks xmlns:a="http://schemas.openxmlformats.org/drawingml/2006/main" noGrp="1"/>
          </p:cNvSpPr>
          <p:nvPr/>
        </p:nvSpPr>
        <p:spPr>
          <a:xfrm xmlns:a="http://schemas.openxmlformats.org/drawingml/2006/main">
            <a:off x="6949440" y="1371600"/>
            <a:ext cx="36540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368" name="Shape 9">
            <a:extLst xmlns:a="http://schemas.openxmlformats.org/drawingml/2006/main">
              <a:ext uri="{FF2B5EF4-FFF2-40B4-BE49-F238E27FC236}">
                <a16:creationId xmlns:a16="http://schemas.microsoft.com/office/drawing/2014/main" id="{9206AFC1-2BC6-4DCB-BDB3-76A41F244B1A}"/>
              </a:ext>
            </a:extLst>
          </p:cNvPr>
          <p:cNvSpPr>
            <a:spLocks xmlns:a="http://schemas.openxmlformats.org/drawingml/2006/main" noGrp="1"/>
          </p:cNvSpPr>
          <p:nvPr/>
        </p:nvSpPr>
        <p:spPr>
          <a:xfrm xmlns:a="http://schemas.openxmlformats.org/drawingml/2006/main">
            <a:off x="7406640" y="1234440"/>
            <a:ext cx="1645560" cy="273960"/>
          </a:xfrm>
          <a:prstGeom xmlns:a="http://schemas.openxmlformats.org/drawingml/2006/main" prst="roundRect">
            <a:avLst>
              <a:gd name="adj" fmla="val 33333"/>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69" name="Text 10">
            <a:extLst xmlns:a="http://schemas.openxmlformats.org/drawingml/2006/main">
              <a:ext uri="{FF2B5EF4-FFF2-40B4-BE49-F238E27FC236}">
                <a16:creationId xmlns:a16="http://schemas.microsoft.com/office/drawing/2014/main" id="{071937D7-82D5-4D78-BEB3-DA6BD2747A14}"/>
              </a:ext>
            </a:extLst>
          </p:cNvPr>
          <p:cNvSpPr>
            <a:spLocks xmlns:a="http://schemas.openxmlformats.org/drawingml/2006/main" noGrp="1"/>
          </p:cNvSpPr>
          <p:nvPr/>
        </p:nvSpPr>
        <p:spPr>
          <a:xfrm xmlns:a="http://schemas.openxmlformats.org/drawingml/2006/main">
            <a:off x="7425000" y="1234440"/>
            <a:ext cx="1608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700" b="0" u="none">
                <a:solidFill>
                  <a:srgbClr val="FFFFFF"/>
                </a:solidFill>
                <a:latin typeface="Calibri"/>
                <a:ea typeface="Calibri"/>
                <a:cs typeface="Calibri"/>
              </a:rPr>
              <a:t>Service</a:t>
            </a:r>
          </a:p>
        </p:txBody>
      </p:sp>
      <p:sp>
        <p:nvSpPr>
          <p:cNvPr id="370" name="Shape 11">
            <a:extLst xmlns:a="http://schemas.openxmlformats.org/drawingml/2006/main">
              <a:ext uri="{FF2B5EF4-FFF2-40B4-BE49-F238E27FC236}">
                <a16:creationId xmlns:a16="http://schemas.microsoft.com/office/drawing/2014/main" id="{9524D12D-687B-4006-A407-D9BDD9952DE1}"/>
              </a:ext>
            </a:extLst>
          </p:cNvPr>
          <p:cNvSpPr>
            <a:spLocks xmlns:a="http://schemas.openxmlformats.org/drawingml/2006/main" noGrp="1"/>
          </p:cNvSpPr>
          <p:nvPr/>
        </p:nvSpPr>
        <p:spPr>
          <a:xfrm xmlns:a="http://schemas.openxmlformats.org/drawingml/2006/main">
            <a:off x="6949440" y="1828800"/>
            <a:ext cx="36540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371" name="Shape 12">
            <a:extLst xmlns:a="http://schemas.openxmlformats.org/drawingml/2006/main">
              <a:ext uri="{FF2B5EF4-FFF2-40B4-BE49-F238E27FC236}">
                <a16:creationId xmlns:a16="http://schemas.microsoft.com/office/drawing/2014/main" id="{DF79C5FE-E79E-470C-9594-CA4AD2F5EFD4}"/>
              </a:ext>
            </a:extLst>
          </p:cNvPr>
          <p:cNvSpPr>
            <a:spLocks xmlns:a="http://schemas.openxmlformats.org/drawingml/2006/main" noGrp="1"/>
          </p:cNvSpPr>
          <p:nvPr/>
        </p:nvSpPr>
        <p:spPr>
          <a:xfrm xmlns:a="http://schemas.openxmlformats.org/drawingml/2006/main">
            <a:off x="7406640" y="1691640"/>
            <a:ext cx="1645560" cy="273960"/>
          </a:xfrm>
          <a:prstGeom xmlns:a="http://schemas.openxmlformats.org/drawingml/2006/main" prst="roundRect">
            <a:avLst>
              <a:gd name="adj" fmla="val 33333"/>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72" name="Text 13">
            <a:extLst xmlns:a="http://schemas.openxmlformats.org/drawingml/2006/main">
              <a:ext uri="{FF2B5EF4-FFF2-40B4-BE49-F238E27FC236}">
                <a16:creationId xmlns:a16="http://schemas.microsoft.com/office/drawing/2014/main" id="{1936E4B9-BF5F-48A6-9A2C-556249ADD266}"/>
              </a:ext>
            </a:extLst>
          </p:cNvPr>
          <p:cNvSpPr>
            <a:spLocks xmlns:a="http://schemas.openxmlformats.org/drawingml/2006/main" noGrp="1"/>
          </p:cNvSpPr>
          <p:nvPr/>
        </p:nvSpPr>
        <p:spPr>
          <a:xfrm xmlns:a="http://schemas.openxmlformats.org/drawingml/2006/main">
            <a:off x="7425000" y="1691640"/>
            <a:ext cx="1608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700" b="0" u="none">
                <a:solidFill>
                  <a:srgbClr val="FFFFFF"/>
                </a:solidFill>
                <a:latin typeface="Calibri"/>
                <a:ea typeface="Calibri"/>
                <a:cs typeface="Calibri"/>
              </a:rPr>
              <a:t>Lag</a:t>
            </a:r>
          </a:p>
        </p:txBody>
      </p:sp>
      <p:sp>
        <p:nvSpPr>
          <p:cNvPr id="373" name="Shape 14">
            <a:extLst xmlns:a="http://schemas.openxmlformats.org/drawingml/2006/main">
              <a:ext uri="{FF2B5EF4-FFF2-40B4-BE49-F238E27FC236}">
                <a16:creationId xmlns:a16="http://schemas.microsoft.com/office/drawing/2014/main" id="{225E24B6-FF4A-435B-80FD-4060AE17E507}"/>
              </a:ext>
            </a:extLst>
          </p:cNvPr>
          <p:cNvSpPr>
            <a:spLocks xmlns:a="http://schemas.openxmlformats.org/drawingml/2006/main" noGrp="1"/>
          </p:cNvSpPr>
          <p:nvPr/>
        </p:nvSpPr>
        <p:spPr>
          <a:xfrm xmlns:a="http://schemas.openxmlformats.org/drawingml/2006/main">
            <a:off x="6949440" y="2286000"/>
            <a:ext cx="365400" cy="91080"/>
          </a:xfrm>
          <a:prstGeom xmlns:a="http://schemas.openxmlformats.org/drawingml/2006/main" prst="rightArrow">
            <a:avLst>
              <a:gd name="adj1" fmla="val 50000"/>
              <a:gd name="adj2" fmla="val 50000"/>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720" rIns="90000" bIns="720" anchor="t">
            <a:noAutofit/>
          </a:bodyPr>
          <a:lstStyle xmlns:a="http://schemas.openxmlformats.org/drawingml/2006/main"/>
          <a:p xmlns:a="http://schemas.openxmlformats.org/drawingml/2006/main"/>
        </p:txBody>
      </p:sp>
      <p:sp>
        <p:nvSpPr>
          <p:cNvPr id="374" name="Shape 15">
            <a:extLst xmlns:a="http://schemas.openxmlformats.org/drawingml/2006/main">
              <a:ext uri="{FF2B5EF4-FFF2-40B4-BE49-F238E27FC236}">
                <a16:creationId xmlns:a16="http://schemas.microsoft.com/office/drawing/2014/main" id="{234C3F96-8C51-40E2-B38A-01656CAAFAB7}"/>
              </a:ext>
            </a:extLst>
          </p:cNvPr>
          <p:cNvSpPr>
            <a:spLocks xmlns:a="http://schemas.openxmlformats.org/drawingml/2006/main" noGrp="1"/>
          </p:cNvSpPr>
          <p:nvPr/>
        </p:nvSpPr>
        <p:spPr>
          <a:xfrm xmlns:a="http://schemas.openxmlformats.org/drawingml/2006/main">
            <a:off x="7406640" y="2148840"/>
            <a:ext cx="1645560" cy="273960"/>
          </a:xfrm>
          <a:prstGeom xmlns:a="http://schemas.openxmlformats.org/drawingml/2006/main" prst="roundRect">
            <a:avLst>
              <a:gd name="adj" fmla="val 33333"/>
            </a:avLst>
          </a:prstGeom>
          <a:solidFill xmlns:a="http://schemas.openxmlformats.org/drawingml/2006/main">
            <a:srgbClr val="E68200"/>
          </a:solidFill>
          <a:ln xmlns:a="http://schemas.openxmlformats.org/drawingml/2006/main" w="12700">
            <a:solidFill>
              <a:srgbClr val="E682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75" name="Text 16">
            <a:extLst xmlns:a="http://schemas.openxmlformats.org/drawingml/2006/main">
              <a:ext uri="{FF2B5EF4-FFF2-40B4-BE49-F238E27FC236}">
                <a16:creationId xmlns:a16="http://schemas.microsoft.com/office/drawing/2014/main" id="{6F349F6A-652A-499E-9F1B-13DF24C22A5D}"/>
              </a:ext>
            </a:extLst>
          </p:cNvPr>
          <p:cNvSpPr>
            <a:spLocks xmlns:a="http://schemas.openxmlformats.org/drawingml/2006/main" noGrp="1"/>
          </p:cNvSpPr>
          <p:nvPr/>
        </p:nvSpPr>
        <p:spPr>
          <a:xfrm xmlns:a="http://schemas.openxmlformats.org/drawingml/2006/main">
            <a:off x="7425000" y="2148840"/>
            <a:ext cx="1608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700" b="0" u="none">
                <a:solidFill>
                  <a:srgbClr val="FFFFFF"/>
                </a:solidFill>
                <a:latin typeface="Calibri"/>
                <a:ea typeface="Calibri"/>
                <a:cs typeface="Calibri"/>
              </a:rPr>
              <a:t>Recovery</a:t>
            </a:r>
          </a:p>
        </p:txBody>
      </p:sp>
      <p:sp>
        <p:nvSpPr>
          <p:cNvPr id="376" name="Text 17">
            <a:extLst xmlns:a="http://schemas.openxmlformats.org/drawingml/2006/main">
              <a:ext uri="{FF2B5EF4-FFF2-40B4-BE49-F238E27FC236}">
                <a16:creationId xmlns:a16="http://schemas.microsoft.com/office/drawing/2014/main" id="{45D7285C-58E8-4779-9E69-78ABC11B8757}"/>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62808d7e1f144c50"/>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0edca1b208e34c59"/>
              </a:rPr>
              <a:t>[2]</a:t>
            </a:r>
          </a:p>
        </p:txBody>
      </p:sp>
    </p:spTree>
    <p:extLst>
      <p:ext uri="{BB962C8B-B14F-4D97-AF65-F5344CB8AC3E}">
        <p14:creationId xmlns:p14="http://schemas.microsoft.com/office/powerpoint/2010/main" val="220373805"/>
      </p:ext>
    </p:extLst>
  </p:cSld>
</p:sld>
</file>

<file path=ppt/slides/slide25.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377" name="Shape 0">
            <a:extLst xmlns:a="http://schemas.openxmlformats.org/drawingml/2006/main">
              <a:ext uri="{FF2B5EF4-FFF2-40B4-BE49-F238E27FC236}">
                <a16:creationId xmlns:a16="http://schemas.microsoft.com/office/drawing/2014/main" id="{B51EC502-7EF0-46B9-8AAC-B9CCF6FCF536}"/>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78" name="Text 1">
            <a:extLst xmlns:a="http://schemas.openxmlformats.org/drawingml/2006/main">
              <a:ext uri="{FF2B5EF4-FFF2-40B4-BE49-F238E27FC236}">
                <a16:creationId xmlns:a16="http://schemas.microsoft.com/office/drawing/2014/main" id="{81D22E8B-1844-42FF-81C5-111DD900EB08}"/>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Lab Part B: Incident Investigation and RCA</a:t>
            </a:r>
          </a:p>
        </p:txBody>
      </p:sp>
      <p:sp>
        <p:nvSpPr>
          <p:cNvPr id="379" name="Shape 2">
            <a:extLst xmlns:a="http://schemas.openxmlformats.org/drawingml/2006/main">
              <a:ext uri="{FF2B5EF4-FFF2-40B4-BE49-F238E27FC236}">
                <a16:creationId xmlns:a16="http://schemas.microsoft.com/office/drawing/2014/main" id="{84C0741D-3F32-4448-A8A5-232EF0B69549}"/>
              </a:ext>
            </a:extLst>
          </p:cNvPr>
          <p:cNvSpPr>
            <a:spLocks xmlns:a="http://schemas.openxmlformats.org/drawingml/2006/main" noGrp="1"/>
          </p:cNvSpPr>
          <p:nvPr/>
        </p:nvSpPr>
        <p:spPr>
          <a:xfrm xmlns:a="http://schemas.openxmlformats.org/drawingml/2006/main">
            <a:off x="457200" y="731520"/>
            <a:ext cx="319680" cy="319680"/>
          </a:xfrm>
          <a:prstGeom xmlns:a="http://schemas.openxmlformats.org/drawingml/2006/main" prst="roundRect">
            <a:avLst>
              <a:gd name="adj" fmla="val 28571"/>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80" name="Text 3">
            <a:extLst xmlns:a="http://schemas.openxmlformats.org/drawingml/2006/main">
              <a:ext uri="{FF2B5EF4-FFF2-40B4-BE49-F238E27FC236}">
                <a16:creationId xmlns:a16="http://schemas.microsoft.com/office/drawing/2014/main" id="{245C7DC0-2509-4516-A4F4-4337CAC258B4}"/>
              </a:ext>
            </a:extLst>
          </p:cNvPr>
          <p:cNvSpPr>
            <a:spLocks xmlns:a="http://schemas.openxmlformats.org/drawingml/2006/main" noGrp="1"/>
          </p:cNvSpPr>
          <p:nvPr/>
        </p:nvSpPr>
        <p:spPr>
          <a:xfrm xmlns:a="http://schemas.openxmlformats.org/drawingml/2006/main">
            <a:off x="457200" y="731520"/>
            <a:ext cx="319680" cy="319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1200" b="1" u="none">
                <a:solidFill>
                  <a:srgbClr val="FFFFFF"/>
                </a:solidFill>
                <a:latin typeface="Calibri"/>
                <a:ea typeface="Calibri"/>
                <a:cs typeface="Calibri"/>
              </a:rPr>
              <a:t>1</a:t>
            </a:r>
          </a:p>
        </p:txBody>
      </p:sp>
      <p:sp>
        <p:nvSpPr>
          <p:cNvPr id="381" name="Text 4">
            <a:extLst xmlns:a="http://schemas.openxmlformats.org/drawingml/2006/main">
              <a:ext uri="{FF2B5EF4-FFF2-40B4-BE49-F238E27FC236}">
                <a16:creationId xmlns:a16="http://schemas.microsoft.com/office/drawing/2014/main" id="{17B5F72F-620A-485A-9677-763373F9AC81}"/>
              </a:ext>
            </a:extLst>
          </p:cNvPr>
          <p:cNvSpPr>
            <a:spLocks xmlns:a="http://schemas.openxmlformats.org/drawingml/2006/main" noGrp="1"/>
          </p:cNvSpPr>
          <p:nvPr/>
        </p:nvSpPr>
        <p:spPr>
          <a:xfrm xmlns:a="http://schemas.openxmlformats.org/drawingml/2006/main">
            <a:off x="822960" y="777240"/>
            <a:ext cx="7772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Capture a healthy baseline from orders and order_counts</a:t>
            </a:r>
          </a:p>
        </p:txBody>
      </p:sp>
      <p:sp>
        <p:nvSpPr>
          <p:cNvPr id="382" name="Shape 5">
            <a:extLst xmlns:a="http://schemas.openxmlformats.org/drawingml/2006/main">
              <a:ext uri="{FF2B5EF4-FFF2-40B4-BE49-F238E27FC236}">
                <a16:creationId xmlns:a16="http://schemas.microsoft.com/office/drawing/2014/main" id="{E97A4233-DA5D-4603-8EBE-82BF4EB22FB3}"/>
              </a:ext>
            </a:extLst>
          </p:cNvPr>
          <p:cNvSpPr>
            <a:spLocks xmlns:a="http://schemas.openxmlformats.org/drawingml/2006/main" noGrp="1"/>
          </p:cNvSpPr>
          <p:nvPr/>
        </p:nvSpPr>
        <p:spPr>
          <a:xfrm xmlns:a="http://schemas.openxmlformats.org/drawingml/2006/main">
            <a:off x="457200" y="1143000"/>
            <a:ext cx="319680" cy="319680"/>
          </a:xfrm>
          <a:prstGeom xmlns:a="http://schemas.openxmlformats.org/drawingml/2006/main" prst="roundRect">
            <a:avLst>
              <a:gd name="adj" fmla="val 28571"/>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83" name="Text 6">
            <a:extLst xmlns:a="http://schemas.openxmlformats.org/drawingml/2006/main">
              <a:ext uri="{FF2B5EF4-FFF2-40B4-BE49-F238E27FC236}">
                <a16:creationId xmlns:a16="http://schemas.microsoft.com/office/drawing/2014/main" id="{7FAB083B-BA74-489B-8578-6BCD4B49F4C8}"/>
              </a:ext>
            </a:extLst>
          </p:cNvPr>
          <p:cNvSpPr>
            <a:spLocks xmlns:a="http://schemas.openxmlformats.org/drawingml/2006/main" noGrp="1"/>
          </p:cNvSpPr>
          <p:nvPr/>
        </p:nvSpPr>
        <p:spPr>
          <a:xfrm xmlns:a="http://schemas.openxmlformats.org/drawingml/2006/main">
            <a:off x="457200" y="1143000"/>
            <a:ext cx="319680" cy="319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1200" b="1" u="none">
                <a:solidFill>
                  <a:srgbClr val="FFFFFF"/>
                </a:solidFill>
                <a:latin typeface="Calibri"/>
                <a:ea typeface="Calibri"/>
                <a:cs typeface="Calibri"/>
              </a:rPr>
              <a:t>2</a:t>
            </a:r>
          </a:p>
        </p:txBody>
      </p:sp>
      <p:sp>
        <p:nvSpPr>
          <p:cNvPr id="384" name="Text 7">
            <a:extLst xmlns:a="http://schemas.openxmlformats.org/drawingml/2006/main">
              <a:ext uri="{FF2B5EF4-FFF2-40B4-BE49-F238E27FC236}">
                <a16:creationId xmlns:a16="http://schemas.microsoft.com/office/drawing/2014/main" id="{0B4CDE4F-D797-4618-977C-5BE0FEBD5530}"/>
              </a:ext>
            </a:extLst>
          </p:cNvPr>
          <p:cNvSpPr>
            <a:spLocks xmlns:a="http://schemas.openxmlformats.org/drawingml/2006/main" noGrp="1"/>
          </p:cNvSpPr>
          <p:nvPr/>
        </p:nvSpPr>
        <p:spPr>
          <a:xfrm xmlns:a="http://schemas.openxmlformats.org/drawingml/2006/main">
            <a:off x="822960" y="1188720"/>
            <a:ext cx="7772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Stop or misconfigure one processing step to create stale output</a:t>
            </a:r>
          </a:p>
        </p:txBody>
      </p:sp>
      <p:sp>
        <p:nvSpPr>
          <p:cNvPr id="385" name="Shape 8">
            <a:extLst xmlns:a="http://schemas.openxmlformats.org/drawingml/2006/main">
              <a:ext uri="{FF2B5EF4-FFF2-40B4-BE49-F238E27FC236}">
                <a16:creationId xmlns:a16="http://schemas.microsoft.com/office/drawing/2014/main" id="{A40D5C86-9901-4FF7-B51E-699E02682634}"/>
              </a:ext>
            </a:extLst>
          </p:cNvPr>
          <p:cNvSpPr>
            <a:spLocks xmlns:a="http://schemas.openxmlformats.org/drawingml/2006/main" noGrp="1"/>
          </p:cNvSpPr>
          <p:nvPr/>
        </p:nvSpPr>
        <p:spPr>
          <a:xfrm xmlns:a="http://schemas.openxmlformats.org/drawingml/2006/main">
            <a:off x="457200" y="1554480"/>
            <a:ext cx="319680" cy="319680"/>
          </a:xfrm>
          <a:prstGeom xmlns:a="http://schemas.openxmlformats.org/drawingml/2006/main" prst="roundRect">
            <a:avLst>
              <a:gd name="adj" fmla="val 28571"/>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86" name="Text 9">
            <a:extLst xmlns:a="http://schemas.openxmlformats.org/drawingml/2006/main">
              <a:ext uri="{FF2B5EF4-FFF2-40B4-BE49-F238E27FC236}">
                <a16:creationId xmlns:a16="http://schemas.microsoft.com/office/drawing/2014/main" id="{BE3A376E-78A4-44BC-9494-443DDD418439}"/>
              </a:ext>
            </a:extLst>
          </p:cNvPr>
          <p:cNvSpPr>
            <a:spLocks xmlns:a="http://schemas.openxmlformats.org/drawingml/2006/main" noGrp="1"/>
          </p:cNvSpPr>
          <p:nvPr/>
        </p:nvSpPr>
        <p:spPr>
          <a:xfrm xmlns:a="http://schemas.openxmlformats.org/drawingml/2006/main">
            <a:off x="457200" y="1554480"/>
            <a:ext cx="319680" cy="319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1200" b="1" u="none">
                <a:solidFill>
                  <a:srgbClr val="FFFFFF"/>
                </a:solidFill>
                <a:latin typeface="Calibri"/>
                <a:ea typeface="Calibri"/>
                <a:cs typeface="Calibri"/>
              </a:rPr>
              <a:t>3</a:t>
            </a:r>
          </a:p>
        </p:txBody>
      </p:sp>
      <p:sp>
        <p:nvSpPr>
          <p:cNvPr id="387" name="Text 10">
            <a:extLst xmlns:a="http://schemas.openxmlformats.org/drawingml/2006/main">
              <a:ext uri="{FF2B5EF4-FFF2-40B4-BE49-F238E27FC236}">
                <a16:creationId xmlns:a16="http://schemas.microsoft.com/office/drawing/2014/main" id="{60DB2C1F-8496-41AC-94B5-BC61E923E883}"/>
              </a:ext>
            </a:extLst>
          </p:cNvPr>
          <p:cNvSpPr>
            <a:spLocks xmlns:a="http://schemas.openxmlformats.org/drawingml/2006/main" noGrp="1"/>
          </p:cNvSpPr>
          <p:nvPr/>
        </p:nvSpPr>
        <p:spPr>
          <a:xfrm xmlns:a="http://schemas.openxmlformats.org/drawingml/2006/main">
            <a:off x="822960" y="1600200"/>
            <a:ext cx="7772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Use status, logs and topic observations to isolate the cause</a:t>
            </a:r>
          </a:p>
        </p:txBody>
      </p:sp>
      <p:sp>
        <p:nvSpPr>
          <p:cNvPr id="388" name="Shape 11">
            <a:extLst xmlns:a="http://schemas.openxmlformats.org/drawingml/2006/main">
              <a:ext uri="{FF2B5EF4-FFF2-40B4-BE49-F238E27FC236}">
                <a16:creationId xmlns:a16="http://schemas.microsoft.com/office/drawing/2014/main" id="{75AFA41C-6853-4055-81D1-1E884E0399DB}"/>
              </a:ext>
            </a:extLst>
          </p:cNvPr>
          <p:cNvSpPr>
            <a:spLocks xmlns:a="http://schemas.openxmlformats.org/drawingml/2006/main" noGrp="1"/>
          </p:cNvSpPr>
          <p:nvPr/>
        </p:nvSpPr>
        <p:spPr>
          <a:xfrm xmlns:a="http://schemas.openxmlformats.org/drawingml/2006/main">
            <a:off x="457200" y="1965960"/>
            <a:ext cx="319680" cy="319680"/>
          </a:xfrm>
          <a:prstGeom xmlns:a="http://schemas.openxmlformats.org/drawingml/2006/main" prst="roundRect">
            <a:avLst>
              <a:gd name="adj" fmla="val 28571"/>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89" name="Text 12">
            <a:extLst xmlns:a="http://schemas.openxmlformats.org/drawingml/2006/main">
              <a:ext uri="{FF2B5EF4-FFF2-40B4-BE49-F238E27FC236}">
                <a16:creationId xmlns:a16="http://schemas.microsoft.com/office/drawing/2014/main" id="{492B8325-2656-4961-AF81-97262A9FE0B3}"/>
              </a:ext>
            </a:extLst>
          </p:cNvPr>
          <p:cNvSpPr>
            <a:spLocks xmlns:a="http://schemas.openxmlformats.org/drawingml/2006/main" noGrp="1"/>
          </p:cNvSpPr>
          <p:nvPr/>
        </p:nvSpPr>
        <p:spPr>
          <a:xfrm xmlns:a="http://schemas.openxmlformats.org/drawingml/2006/main">
            <a:off x="457200" y="1965960"/>
            <a:ext cx="319680" cy="319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1200" b="1" u="none">
                <a:solidFill>
                  <a:srgbClr val="FFFFFF"/>
                </a:solidFill>
                <a:latin typeface="Calibri"/>
                <a:ea typeface="Calibri"/>
                <a:cs typeface="Calibri"/>
              </a:rPr>
              <a:t>4</a:t>
            </a:r>
          </a:p>
        </p:txBody>
      </p:sp>
      <p:sp>
        <p:nvSpPr>
          <p:cNvPr id="390" name="Text 13">
            <a:extLst xmlns:a="http://schemas.openxmlformats.org/drawingml/2006/main">
              <a:ext uri="{FF2B5EF4-FFF2-40B4-BE49-F238E27FC236}">
                <a16:creationId xmlns:a16="http://schemas.microsoft.com/office/drawing/2014/main" id="{1A864B9B-5C6C-4A76-9E91-FB7C493F688E}"/>
              </a:ext>
            </a:extLst>
          </p:cNvPr>
          <p:cNvSpPr>
            <a:spLocks xmlns:a="http://schemas.openxmlformats.org/drawingml/2006/main" noGrp="1"/>
          </p:cNvSpPr>
          <p:nvPr/>
        </p:nvSpPr>
        <p:spPr>
          <a:xfrm xmlns:a="http://schemas.openxmlformats.org/drawingml/2006/main">
            <a:off x="822960" y="2011680"/>
            <a:ext cx="7772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Recover the workload and prove output advances again</a:t>
            </a:r>
          </a:p>
        </p:txBody>
      </p:sp>
      <p:sp>
        <p:nvSpPr>
          <p:cNvPr id="391" name="Shape 14">
            <a:extLst xmlns:a="http://schemas.openxmlformats.org/drawingml/2006/main">
              <a:ext uri="{FF2B5EF4-FFF2-40B4-BE49-F238E27FC236}">
                <a16:creationId xmlns:a16="http://schemas.microsoft.com/office/drawing/2014/main" id="{F96F746D-90D0-482E-AE58-017A4827F275}"/>
              </a:ext>
            </a:extLst>
          </p:cNvPr>
          <p:cNvSpPr>
            <a:spLocks xmlns:a="http://schemas.openxmlformats.org/drawingml/2006/main" noGrp="1"/>
          </p:cNvSpPr>
          <p:nvPr/>
        </p:nvSpPr>
        <p:spPr>
          <a:xfrm xmlns:a="http://schemas.openxmlformats.org/drawingml/2006/main">
            <a:off x="457200" y="2377440"/>
            <a:ext cx="319680" cy="319680"/>
          </a:xfrm>
          <a:prstGeom xmlns:a="http://schemas.openxmlformats.org/drawingml/2006/main" prst="roundRect">
            <a:avLst>
              <a:gd name="adj" fmla="val 28571"/>
            </a:avLst>
          </a:prstGeom>
          <a:solidFill xmlns:a="http://schemas.openxmlformats.org/drawingml/2006/main">
            <a:srgbClr val="0077CC"/>
          </a:solidFill>
          <a:ln xmlns:a="http://schemas.openxmlformats.org/drawingml/2006/main" w="12700">
            <a:solidFill>
              <a:srgbClr val="0077CC"/>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92" name="Text 15">
            <a:extLst xmlns:a="http://schemas.openxmlformats.org/drawingml/2006/main">
              <a:ext uri="{FF2B5EF4-FFF2-40B4-BE49-F238E27FC236}">
                <a16:creationId xmlns:a16="http://schemas.microsoft.com/office/drawing/2014/main" id="{B9D0A458-71D1-4A7B-8E28-C74CA6894703}"/>
              </a:ext>
            </a:extLst>
          </p:cNvPr>
          <p:cNvSpPr>
            <a:spLocks xmlns:a="http://schemas.openxmlformats.org/drawingml/2006/main" noGrp="1"/>
          </p:cNvSpPr>
          <p:nvPr/>
        </p:nvSpPr>
        <p:spPr>
          <a:xfrm xmlns:a="http://schemas.openxmlformats.org/drawingml/2006/main">
            <a:off x="457200" y="2377440"/>
            <a:ext cx="319680" cy="319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a:lnSpc>
                <a:spcPct val="100000"/>
              </a:lnSpc>
              <a:buNone/>
            </a:pPr>
            <a:r>
              <a:rPr sz="1200" b="1" u="none">
                <a:solidFill>
                  <a:srgbClr val="FFFFFF"/>
                </a:solidFill>
                <a:latin typeface="Calibri"/>
                <a:ea typeface="Calibri"/>
                <a:cs typeface="Calibri"/>
              </a:rPr>
              <a:t>5</a:t>
            </a:r>
          </a:p>
        </p:txBody>
      </p:sp>
      <p:sp>
        <p:nvSpPr>
          <p:cNvPr id="393" name="Text 16">
            <a:extLst xmlns:a="http://schemas.openxmlformats.org/drawingml/2006/main">
              <a:ext uri="{FF2B5EF4-FFF2-40B4-BE49-F238E27FC236}">
                <a16:creationId xmlns:a16="http://schemas.microsoft.com/office/drawing/2014/main" id="{11D4957A-D96D-42D9-A3DB-B3A294099D04}"/>
              </a:ext>
            </a:extLst>
          </p:cNvPr>
          <p:cNvSpPr>
            <a:spLocks xmlns:a="http://schemas.openxmlformats.org/drawingml/2006/main" noGrp="1"/>
          </p:cNvSpPr>
          <p:nvPr/>
        </p:nvSpPr>
        <p:spPr>
          <a:xfrm xmlns:a="http://schemas.openxmlformats.org/drawingml/2006/main">
            <a:off x="822960" y="2423160"/>
            <a:ext cx="7772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0" u="none">
                <a:solidFill>
                  <a:srgbClr val="003C54"/>
                </a:solidFill>
                <a:latin typeface="Calibri"/>
                <a:ea typeface="Calibri"/>
                <a:cs typeface="Calibri"/>
              </a:rPr>
              <a:t>Submit a one-page RCA: symptom, cause, fix and prevention</a:t>
            </a:r>
          </a:p>
        </p:txBody>
      </p:sp>
      <p:sp>
        <p:nvSpPr>
          <p:cNvPr id="394" name="Text 17">
            <a:extLst xmlns:a="http://schemas.openxmlformats.org/drawingml/2006/main">
              <a:ext uri="{FF2B5EF4-FFF2-40B4-BE49-F238E27FC236}">
                <a16:creationId xmlns:a16="http://schemas.microsoft.com/office/drawing/2014/main" id="{D6A61CA8-7635-4B3D-B609-6166755BE535}"/>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f4815810747e4382"/>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afe1e3d0596c4f55"/>
              </a:rPr>
              <a:t>[2]</a:t>
            </a:r>
          </a:p>
        </p:txBody>
      </p:sp>
    </p:spTree>
    <p:extLst>
      <p:ext uri="{BB962C8B-B14F-4D97-AF65-F5344CB8AC3E}">
        <p14:creationId xmlns:p14="http://schemas.microsoft.com/office/powerpoint/2010/main" val="190341090"/>
      </p:ext>
    </p:extLst>
  </p:cSld>
</p:sld>
</file>

<file path=ppt/slides/slide26.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395" name="Shape 0">
            <a:extLst xmlns:a="http://schemas.openxmlformats.org/drawingml/2006/main">
              <a:ext uri="{FF2B5EF4-FFF2-40B4-BE49-F238E27FC236}">
                <a16:creationId xmlns:a16="http://schemas.microsoft.com/office/drawing/2014/main" id="{0EE50728-FEE8-41D5-AD93-43DB01A507FF}"/>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96" name="Text 1">
            <a:extLst xmlns:a="http://schemas.openxmlformats.org/drawingml/2006/main">
              <a:ext uri="{FF2B5EF4-FFF2-40B4-BE49-F238E27FC236}">
                <a16:creationId xmlns:a16="http://schemas.microsoft.com/office/drawing/2014/main" id="{6E22A76F-CB1B-4B1A-BDD8-55B1ECD2CCF4}"/>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Mini Exercise 2: Connector or Processor Failure</a:t>
            </a:r>
          </a:p>
        </p:txBody>
      </p:sp>
      <p:sp>
        <p:nvSpPr>
          <p:cNvPr id="397" name="Text 2">
            <a:extLst xmlns:a="http://schemas.openxmlformats.org/drawingml/2006/main">
              <a:ext uri="{FF2B5EF4-FFF2-40B4-BE49-F238E27FC236}">
                <a16:creationId xmlns:a16="http://schemas.microsoft.com/office/drawing/2014/main" id="{D96447AB-999B-4FF1-85F5-EE9A2F4DD501}"/>
              </a:ext>
            </a:extLst>
          </p:cNvPr>
          <p:cNvSpPr>
            <a:spLocks xmlns:a="http://schemas.openxmlformats.org/drawingml/2006/main" noGrp="1"/>
          </p:cNvSpPr>
          <p:nvPr/>
        </p:nvSpPr>
        <p:spPr>
          <a:xfrm xmlns:a="http://schemas.openxmlformats.org/drawingml/2006/main">
            <a:off x="457200" y="731520"/>
            <a:ext cx="4571640" cy="1371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200" b="1" u="none">
                <a:solidFill>
                  <a:srgbClr val="003C54"/>
                </a:solidFill>
                <a:latin typeface="Calibri"/>
                <a:ea typeface="Calibri"/>
                <a:cs typeface="Calibri"/>
              </a:rPr>
              <a:t>Scenario:</a:t>
            </a:r>
          </a:p>
          <a:p xmlns:a="http://schemas.openxmlformats.org/drawingml/2006/main">
            <a:r>
              <a:rPr sz="1000" b="0" u="none">
                <a:solidFill>
                  <a:srgbClr val="003C54"/>
                </a:solidFill>
                <a:latin typeface="Calibri"/>
                <a:ea typeface="Calibri"/>
                <a:cs typeface="Calibri"/>
              </a:rPr>
              <a:t>The input topic receives orders, but the derived topic is no longer advancing. List the first three checks you perform and the evidence that distinguishes no input from processing failure.</a:t>
            </a:r>
          </a:p>
        </p:txBody>
      </p:sp>
      <p:sp>
        <p:nvSpPr>
          <p:cNvPr id="398" name="Shape 3">
            <a:extLst xmlns:a="http://schemas.openxmlformats.org/drawingml/2006/main">
              <a:ext uri="{FF2B5EF4-FFF2-40B4-BE49-F238E27FC236}">
                <a16:creationId xmlns:a16="http://schemas.microsoft.com/office/drawing/2014/main" id="{D25B9D8E-F6DE-447D-A1FE-D9E2465CB6A0}"/>
              </a:ext>
            </a:extLst>
          </p:cNvPr>
          <p:cNvSpPr>
            <a:spLocks xmlns:a="http://schemas.openxmlformats.org/drawingml/2006/main" noGrp="1"/>
          </p:cNvSpPr>
          <p:nvPr/>
        </p:nvSpPr>
        <p:spPr>
          <a:xfrm xmlns:a="http://schemas.openxmlformats.org/drawingml/2006/main">
            <a:off x="5120640" y="396000"/>
            <a:ext cx="3474360" cy="2160000"/>
          </a:xfrm>
          <a:prstGeom xmlns:a="http://schemas.openxmlformats.org/drawingml/2006/main" prst="roundRect">
            <a:avLst>
              <a:gd name="adj" fmla="val 3125"/>
            </a:avLst>
          </a:prstGeom>
          <a:solidFill xmlns:a="http://schemas.openxmlformats.org/drawingml/2006/main">
            <a:srgbClr val="F5F5F5"/>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399" name="Text 4">
            <a:extLst xmlns:a="http://schemas.openxmlformats.org/drawingml/2006/main">
              <a:ext uri="{FF2B5EF4-FFF2-40B4-BE49-F238E27FC236}">
                <a16:creationId xmlns:a16="http://schemas.microsoft.com/office/drawing/2014/main" id="{C23C6F0F-D7FC-4964-B118-85CA17B1187F}"/>
              </a:ext>
            </a:extLst>
          </p:cNvPr>
          <p:cNvSpPr>
            <a:spLocks xmlns:a="http://schemas.openxmlformats.org/drawingml/2006/main" noGrp="1"/>
          </p:cNvSpPr>
          <p:nvPr/>
        </p:nvSpPr>
        <p:spPr>
          <a:xfrm xmlns:a="http://schemas.openxmlformats.org/drawingml/2006/main">
            <a:off x="5166360" y="749880"/>
            <a:ext cx="3382920" cy="1425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440" tIns="1440" rIns="1440" bIns="1440" anchor="ctr">
            <a:noAutofit/>
          </a:bodyPr>
          <a:lstStyle xmlns:a="http://schemas.openxmlformats.org/drawingml/2006/main"/>
          <a:p xmlns:a="http://schemas.openxmlformats.org/drawingml/2006/main">
            <a:r>
              <a:rPr sz="1000" b="0" u="none">
                <a:solidFill>
                  <a:srgbClr val="000000"/>
                </a:solidFill>
                <a:latin typeface="Consolas"/>
                <a:ea typeface="Consolas"/>
                <a:cs typeface="Consolas"/>
              </a:rPr>
              <a:t>Incident evidence:</a:t>
            </a:r>
          </a:p>
          <a:p xmlns:a="http://schemas.openxmlformats.org/drawingml/2006/main">
            <a:r>
              <a:rPr sz="1000" b="0" u="none">
                <a:solidFill>
                  <a:srgbClr val="000000"/>
                </a:solidFill>
                <a:latin typeface="Consolas"/>
                <a:ea typeface="Consolas"/>
                <a:cs typeface="Consolas"/>
              </a:rPr>
              <a:t>1. Input progressing? __________________</a:t>
            </a:r>
          </a:p>
          <a:p xmlns:a="http://schemas.openxmlformats.org/drawingml/2006/main">
            <a:r>
              <a:rPr sz="1000" b="0" u="none">
                <a:solidFill>
                  <a:srgbClr val="008000"/>
                </a:solidFill>
                <a:latin typeface="Consolas"/>
                <a:ea typeface="Consolas"/>
                <a:cs typeface="Consolas"/>
              </a:rPr>
              <a:t>2. Processor/service status? ___________</a:t>
            </a:r>
          </a:p>
          <a:p xmlns:a="http://schemas.openxmlformats.org/drawingml/2006/main">
            <a:pPr>
              <a:lnSpc>
                <a:spcPct val="100000"/>
              </a:lnSpc>
              <a:buNone/>
            </a:pPr>
            <a:r>
              <a:rPr sz="1000" b="0" u="none">
                <a:solidFill>
                  <a:srgbClr val="000000"/>
                </a:solidFill>
                <a:latin typeface="Consolas"/>
                <a:ea typeface="Consolas"/>
                <a:cs typeface="Consolas"/>
              </a:rPr>
              <a:t>3. Error log clue? ____________________</a:t>
            </a:r>
          </a:p>
          <a:p xmlns:a="http://schemas.openxmlformats.org/drawingml/2006/main">
            <a:pPr>
              <a:lnSpc>
                <a:spcPct val="100000"/>
              </a:lnSpc>
              <a:buNone/>
            </a:pPr>
            <a:r>
              <a:rPr sz="1000" b="0" u="none">
                <a:solidFill>
                  <a:srgbClr val="000000"/>
                </a:solidFill>
                <a:latin typeface="Consolas"/>
                <a:ea typeface="Consolas"/>
                <a:cs typeface="Consolas"/>
              </a:rPr>
              <a:t>Likely cause: _________________________</a:t>
            </a:r>
          </a:p>
          <a:p xmlns:a="http://schemas.openxmlformats.org/drawingml/2006/main">
            <a:pPr>
              <a:lnSpc>
                <a:spcPct val="100000"/>
              </a:lnSpc>
              <a:buNone/>
            </a:pPr>
            <a:r>
              <a:rPr sz="1000" b="0" u="none">
                <a:solidFill>
                  <a:srgbClr val="008000"/>
                </a:solidFill>
                <a:latin typeface="Consolas"/>
                <a:ea typeface="Consolas"/>
                <a:cs typeface="Consolas"/>
              </a:rPr>
              <a:t>Recovery proof: ______________________</a:t>
            </a:r>
          </a:p>
        </p:txBody>
      </p:sp>
      <p:sp>
        <p:nvSpPr>
          <p:cNvPr id="400" name="Text 5">
            <a:extLst xmlns:a="http://schemas.openxmlformats.org/drawingml/2006/main">
              <a:ext uri="{FF2B5EF4-FFF2-40B4-BE49-F238E27FC236}">
                <a16:creationId xmlns:a16="http://schemas.microsoft.com/office/drawing/2014/main" id="{C180D31A-BD3F-47C5-A891-C6563D654750}"/>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39cb0efe66ea4da3"/>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865f9a4d8d954804"/>
              </a:rPr>
              <a:t>[2]</a:t>
            </a:r>
          </a:p>
        </p:txBody>
      </p:sp>
    </p:spTree>
    <p:extLst>
      <p:ext uri="{BB962C8B-B14F-4D97-AF65-F5344CB8AC3E}">
        <p14:creationId xmlns:p14="http://schemas.microsoft.com/office/powerpoint/2010/main" val="41364488"/>
      </p:ext>
    </p:extLst>
  </p:cSld>
</p:sld>
</file>

<file path=ppt/slides/slide27.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401" name="Shape 0">
            <a:extLst xmlns:a="http://schemas.openxmlformats.org/drawingml/2006/main">
              <a:ext uri="{FF2B5EF4-FFF2-40B4-BE49-F238E27FC236}">
                <a16:creationId xmlns:a16="http://schemas.microsoft.com/office/drawing/2014/main" id="{9373CB0B-A12D-4928-889C-01193FD04976}"/>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402" name="Text 1">
            <a:extLst xmlns:a="http://schemas.openxmlformats.org/drawingml/2006/main">
              <a:ext uri="{FF2B5EF4-FFF2-40B4-BE49-F238E27FC236}">
                <a16:creationId xmlns:a16="http://schemas.microsoft.com/office/drawing/2014/main" id="{9C844858-5777-47E4-A4A9-0D5F9282FFFE}"/>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Mini Exercise 3: Lag and Capacity</a:t>
            </a:r>
          </a:p>
        </p:txBody>
      </p:sp>
      <p:sp>
        <p:nvSpPr>
          <p:cNvPr id="403" name="Text 2">
            <a:extLst xmlns:a="http://schemas.openxmlformats.org/drawingml/2006/main">
              <a:ext uri="{FF2B5EF4-FFF2-40B4-BE49-F238E27FC236}">
                <a16:creationId xmlns:a16="http://schemas.microsoft.com/office/drawing/2014/main" id="{5E8EC60F-F708-47D2-94CD-606C00B515E4}"/>
              </a:ext>
            </a:extLst>
          </p:cNvPr>
          <p:cNvSpPr>
            <a:spLocks xmlns:a="http://schemas.openxmlformats.org/drawingml/2006/main" noGrp="1"/>
          </p:cNvSpPr>
          <p:nvPr/>
        </p:nvSpPr>
        <p:spPr>
          <a:xfrm xmlns:a="http://schemas.openxmlformats.org/drawingml/2006/main">
            <a:off x="457200" y="731520"/>
            <a:ext cx="4571640" cy="1462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200" b="1" u="none">
                <a:solidFill>
                  <a:srgbClr val="003C54"/>
                </a:solidFill>
                <a:latin typeface="Calibri"/>
                <a:ea typeface="Calibri"/>
                <a:cs typeface="Calibri"/>
              </a:rPr>
              <a:t>Scenario:</a:t>
            </a:r>
          </a:p>
          <a:p xmlns:a="http://schemas.openxmlformats.org/drawingml/2006/main">
            <a:r>
              <a:rPr sz="1000" b="0" u="none">
                <a:solidFill>
                  <a:srgbClr val="003C54"/>
                </a:solidFill>
                <a:latin typeface="Calibri"/>
                <a:ea typeface="Calibri"/>
                <a:cs typeface="Calibri"/>
              </a:rPr>
              <a:t>Consumer lag grows steadily during peak order traffic while services remain running. Propose two measurements and two safe capacity or throughput changes. Explain the trade-off of adding partitions.</a:t>
            </a:r>
          </a:p>
        </p:txBody>
      </p:sp>
      <p:sp>
        <p:nvSpPr>
          <p:cNvPr id="404" name="Shape 3">
            <a:extLst xmlns:a="http://schemas.openxmlformats.org/drawingml/2006/main">
              <a:ext uri="{FF2B5EF4-FFF2-40B4-BE49-F238E27FC236}">
                <a16:creationId xmlns:a16="http://schemas.microsoft.com/office/drawing/2014/main" id="{9956CED9-23D3-4F06-B68C-E41ADBF13FDE}"/>
              </a:ext>
            </a:extLst>
          </p:cNvPr>
          <p:cNvSpPr>
            <a:spLocks xmlns:a="http://schemas.openxmlformats.org/drawingml/2006/main" noGrp="1"/>
          </p:cNvSpPr>
          <p:nvPr/>
        </p:nvSpPr>
        <p:spPr>
          <a:xfrm xmlns:a="http://schemas.openxmlformats.org/drawingml/2006/main">
            <a:off x="5120640" y="731520"/>
            <a:ext cx="3474360" cy="1462680"/>
          </a:xfrm>
          <a:prstGeom xmlns:a="http://schemas.openxmlformats.org/drawingml/2006/main" prst="roundRect">
            <a:avLst>
              <a:gd name="adj" fmla="val 3125"/>
            </a:avLst>
          </a:prstGeom>
          <a:solidFill xmlns:a="http://schemas.openxmlformats.org/drawingml/2006/main">
            <a:srgbClr val="F5F5F5"/>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405" name="Text 4">
            <a:extLst xmlns:a="http://schemas.openxmlformats.org/drawingml/2006/main">
              <a:ext uri="{FF2B5EF4-FFF2-40B4-BE49-F238E27FC236}">
                <a16:creationId xmlns:a16="http://schemas.microsoft.com/office/drawing/2014/main" id="{61534D0D-D6C3-4F63-A388-33A4C3B1BA1E}"/>
              </a:ext>
            </a:extLst>
          </p:cNvPr>
          <p:cNvSpPr>
            <a:spLocks xmlns:a="http://schemas.openxmlformats.org/drawingml/2006/main" noGrp="1"/>
          </p:cNvSpPr>
          <p:nvPr/>
        </p:nvSpPr>
        <p:spPr>
          <a:xfrm xmlns:a="http://schemas.openxmlformats.org/drawingml/2006/main">
            <a:off x="5166360" y="749880"/>
            <a:ext cx="3382920" cy="1425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440" tIns="1440" rIns="1440" bIns="1440" anchor="ctr">
            <a:noAutofit/>
          </a:bodyPr>
          <a:lstStyle xmlns:a="http://schemas.openxmlformats.org/drawingml/2006/main"/>
          <a:p xmlns:a="http://schemas.openxmlformats.org/drawingml/2006/main">
            <a:r>
              <a:rPr sz="1000" b="0" u="none">
                <a:solidFill>
                  <a:srgbClr val="000000"/>
                </a:solidFill>
                <a:latin typeface="Consolas"/>
                <a:ea typeface="Consolas"/>
                <a:cs typeface="Consolas"/>
              </a:rPr>
              <a:t>Observe:</a:t>
            </a:r>
          </a:p>
          <a:p xmlns:a="http://schemas.openxmlformats.org/drawingml/2006/main">
            <a:pPr>
              <a:lnSpc>
                <a:spcPct val="100000"/>
              </a:lnSpc>
              <a:buNone/>
            </a:pPr>
            <a:r>
              <a:rPr sz="1000" b="0" u="none">
                <a:solidFill>
                  <a:srgbClr val="000000"/>
                </a:solidFill>
                <a:latin typeface="Consolas"/>
                <a:ea typeface="Consolas"/>
                <a:cs typeface="Consolas"/>
              </a:rPr>
              <a:t>arrival rate = ______ records/s</a:t>
            </a:r>
          </a:p>
          <a:p xmlns:a="http://schemas.openxmlformats.org/drawingml/2006/main">
            <a:pPr>
              <a:lnSpc>
                <a:spcPct val="100000"/>
              </a:lnSpc>
              <a:buNone/>
            </a:pPr>
            <a:r>
              <a:rPr sz="1000" b="0" u="none">
                <a:solidFill>
                  <a:srgbClr val="000000"/>
                </a:solidFill>
                <a:latin typeface="Consolas"/>
                <a:ea typeface="Consolas"/>
                <a:cs typeface="Consolas"/>
              </a:rPr>
              <a:t>processing rate = ______ records/s</a:t>
            </a:r>
          </a:p>
          <a:p xmlns:a="http://schemas.openxmlformats.org/drawingml/2006/main">
            <a:pPr>
              <a:lnSpc>
                <a:spcPct val="100000"/>
              </a:lnSpc>
              <a:buNone/>
            </a:pPr>
            <a:r>
              <a:rPr sz="1000" b="0" u="none">
                <a:solidFill>
                  <a:srgbClr val="000000"/>
                </a:solidFill>
                <a:latin typeface="Consolas"/>
                <a:ea typeface="Consolas"/>
                <a:cs typeface="Consolas"/>
              </a:rPr>
              <a:t>lag trend = ______</a:t>
            </a:r>
          </a:p>
          <a:p xmlns:a="http://schemas.openxmlformats.org/drawingml/2006/main">
            <a:pPr>
              <a:lnSpc>
                <a:spcPct val="100000"/>
              </a:lnSpc>
              <a:buNone/>
            </a:pPr>
            <a:r>
              <a:rPr sz="1000" b="0" u="none">
                <a:solidFill>
                  <a:srgbClr val="000000"/>
                </a:solidFill>
                <a:latin typeface="Consolas"/>
                <a:ea typeface="Consolas"/>
                <a:cs typeface="Consolas"/>
              </a:rPr>
              <a:t>Action 1 = ______</a:t>
            </a:r>
          </a:p>
          <a:p xmlns:a="http://schemas.openxmlformats.org/drawingml/2006/main">
            <a:pPr>
              <a:lnSpc>
                <a:spcPct val="100000"/>
              </a:lnSpc>
              <a:buNone/>
            </a:pPr>
            <a:r>
              <a:rPr sz="1000" b="0" u="none">
                <a:solidFill>
                  <a:srgbClr val="000000"/>
                </a:solidFill>
                <a:latin typeface="Consolas"/>
                <a:ea typeface="Consolas"/>
                <a:cs typeface="Consolas"/>
              </a:rPr>
              <a:t>Action 2 = ______</a:t>
            </a:r>
          </a:p>
          <a:p xmlns:a="http://schemas.openxmlformats.org/drawingml/2006/main">
            <a:pPr>
              <a:lnSpc>
                <a:spcPct val="100000"/>
              </a:lnSpc>
              <a:buNone/>
            </a:pPr>
            <a:r>
              <a:rPr sz="1000" b="0" u="none">
                <a:solidFill>
                  <a:srgbClr val="000000"/>
                </a:solidFill>
                <a:latin typeface="Consolas"/>
                <a:ea typeface="Consolas"/>
                <a:cs typeface="Consolas"/>
              </a:rPr>
              <a:t>Validation = ______</a:t>
            </a:r>
          </a:p>
        </p:txBody>
      </p:sp>
      <p:sp>
        <p:nvSpPr>
          <p:cNvPr id="406" name="Text 5">
            <a:extLst xmlns:a="http://schemas.openxmlformats.org/drawingml/2006/main">
              <a:ext uri="{FF2B5EF4-FFF2-40B4-BE49-F238E27FC236}">
                <a16:creationId xmlns:a16="http://schemas.microsoft.com/office/drawing/2014/main" id="{9C6FF712-B96C-45F2-A6F5-A9F6356ECA10}"/>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803d7fd584a14636"/>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ea6e8ab508854cb4"/>
              </a:rPr>
              <a:t>[2]</a:t>
            </a:r>
          </a:p>
        </p:txBody>
      </p:sp>
    </p:spTree>
    <p:extLst>
      <p:ext uri="{BB962C8B-B14F-4D97-AF65-F5344CB8AC3E}">
        <p14:creationId xmlns:p14="http://schemas.microsoft.com/office/powerpoint/2010/main" val="1745124033"/>
      </p:ext>
    </p:extLst>
  </p:cSld>
</p:sld>
</file>

<file path=ppt/slides/slide28.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407" name="Shape 0">
            <a:extLst xmlns:a="http://schemas.openxmlformats.org/drawingml/2006/main">
              <a:ext uri="{FF2B5EF4-FFF2-40B4-BE49-F238E27FC236}">
                <a16:creationId xmlns:a16="http://schemas.microsoft.com/office/drawing/2014/main" id="{01D0FFD4-5CA3-45B5-83F1-C13F0065E5A0}"/>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408" name="Text 1">
            <a:extLst xmlns:a="http://schemas.openxmlformats.org/drawingml/2006/main">
              <a:ext uri="{FF2B5EF4-FFF2-40B4-BE49-F238E27FC236}">
                <a16:creationId xmlns:a16="http://schemas.microsoft.com/office/drawing/2014/main" id="{DDACDF8B-7A5E-4D66-A48D-D7A496F545D3}"/>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Mini Exercise 4: Root Cause Analysis</a:t>
            </a:r>
          </a:p>
        </p:txBody>
      </p:sp>
      <p:sp>
        <p:nvSpPr>
          <p:cNvPr id="409" name="Text 2">
            <a:extLst xmlns:a="http://schemas.openxmlformats.org/drawingml/2006/main">
              <a:ext uri="{FF2B5EF4-FFF2-40B4-BE49-F238E27FC236}">
                <a16:creationId xmlns:a16="http://schemas.microsoft.com/office/drawing/2014/main" id="{686D3EED-7730-4374-B71A-4B977DB942A4}"/>
              </a:ext>
            </a:extLst>
          </p:cNvPr>
          <p:cNvSpPr>
            <a:spLocks xmlns:a="http://schemas.openxmlformats.org/drawingml/2006/main" noGrp="1"/>
          </p:cNvSpPr>
          <p:nvPr/>
        </p:nvSpPr>
        <p:spPr>
          <a:xfrm xmlns:a="http://schemas.openxmlformats.org/drawingml/2006/main">
            <a:off x="457200" y="731520"/>
            <a:ext cx="4754520" cy="1462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200" b="1" u="none">
                <a:solidFill>
                  <a:srgbClr val="003C54"/>
                </a:solidFill>
                <a:latin typeface="Calibri"/>
                <a:ea typeface="Calibri"/>
                <a:cs typeface="Calibri"/>
              </a:rPr>
              <a:t>Scenario:</a:t>
            </a:r>
          </a:p>
          <a:p xmlns:a="http://schemas.openxmlformats.org/drawingml/2006/main">
            <a:r>
              <a:rPr sz="1000" b="0" u="none">
                <a:solidFill>
                  <a:srgbClr val="003C54"/>
                </a:solidFill>
                <a:latin typeface="Calibri"/>
                <a:ea typeface="Calibri"/>
                <a:cs typeface="Calibri"/>
              </a:rPr>
              <a:t>A scheduled validation reports stale Gold output. Write an RCA that connects the symptom to a failed source, processing or orchestration stage and defines one prevention control.</a:t>
            </a:r>
          </a:p>
        </p:txBody>
      </p:sp>
      <p:sp>
        <p:nvSpPr>
          <p:cNvPr id="410" name="Shape 3">
            <a:extLst xmlns:a="http://schemas.openxmlformats.org/drawingml/2006/main">
              <a:ext uri="{FF2B5EF4-FFF2-40B4-BE49-F238E27FC236}">
                <a16:creationId xmlns:a16="http://schemas.microsoft.com/office/drawing/2014/main" id="{4D0AFB47-43EA-4F99-84ED-004292C813B8}"/>
              </a:ext>
            </a:extLst>
          </p:cNvPr>
          <p:cNvSpPr>
            <a:spLocks xmlns:a="http://schemas.openxmlformats.org/drawingml/2006/main" noGrp="1"/>
          </p:cNvSpPr>
          <p:nvPr/>
        </p:nvSpPr>
        <p:spPr>
          <a:xfrm xmlns:a="http://schemas.openxmlformats.org/drawingml/2006/main">
            <a:off x="5303520" y="731520"/>
            <a:ext cx="3291480" cy="1462680"/>
          </a:xfrm>
          <a:prstGeom xmlns:a="http://schemas.openxmlformats.org/drawingml/2006/main" prst="roundRect">
            <a:avLst>
              <a:gd name="adj" fmla="val 3125"/>
            </a:avLst>
          </a:prstGeom>
          <a:solidFill xmlns:a="http://schemas.openxmlformats.org/drawingml/2006/main">
            <a:srgbClr val="F5F5F5"/>
          </a:solidFill>
          <a:ln xmlns:a="http://schemas.openxmlformats.org/drawingml/2006/main" w="12700">
            <a:solidFill>
              <a:srgbClr val="009E6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411" name="Text 4">
            <a:extLst xmlns:a="http://schemas.openxmlformats.org/drawingml/2006/main">
              <a:ext uri="{FF2B5EF4-FFF2-40B4-BE49-F238E27FC236}">
                <a16:creationId xmlns:a16="http://schemas.microsoft.com/office/drawing/2014/main" id="{E3DDA09F-F0AF-4A9B-B414-928025063412}"/>
              </a:ext>
            </a:extLst>
          </p:cNvPr>
          <p:cNvSpPr>
            <a:spLocks xmlns:a="http://schemas.openxmlformats.org/drawingml/2006/main" noGrp="1"/>
          </p:cNvSpPr>
          <p:nvPr/>
        </p:nvSpPr>
        <p:spPr>
          <a:xfrm xmlns:a="http://schemas.openxmlformats.org/drawingml/2006/main">
            <a:off x="5349240" y="749880"/>
            <a:ext cx="3200040" cy="1425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440" tIns="1440" rIns="1440" bIns="1440" anchor="ctr">
            <a:noAutofit/>
          </a:bodyPr>
          <a:lstStyle xmlns:a="http://schemas.openxmlformats.org/drawingml/2006/main"/>
          <a:p xmlns:a="http://schemas.openxmlformats.org/drawingml/2006/main">
            <a:r>
              <a:rPr sz="1000" b="0" u="none">
                <a:solidFill>
                  <a:srgbClr val="000000"/>
                </a:solidFill>
                <a:latin typeface="Consolas"/>
                <a:ea typeface="Consolas"/>
                <a:cs typeface="Consolas"/>
              </a:rPr>
              <a:t>RCA template:</a:t>
            </a:r>
          </a:p>
          <a:p xmlns:a="http://schemas.openxmlformats.org/drawingml/2006/main">
            <a:pPr>
              <a:lnSpc>
                <a:spcPct val="100000"/>
              </a:lnSpc>
              <a:buNone/>
            </a:pPr>
            <a:r>
              <a:rPr sz="1000" b="0" u="none">
                <a:solidFill>
                  <a:srgbClr val="0000FF"/>
                </a:solidFill>
                <a:latin typeface="Consolas"/>
                <a:ea typeface="Consolas"/>
                <a:cs typeface="Consolas"/>
              </a:rPr>
              <a:t>Impact: ______________________________</a:t>
            </a:r>
          </a:p>
          <a:p xmlns:a="http://schemas.openxmlformats.org/drawingml/2006/main">
            <a:pPr>
              <a:lnSpc>
                <a:spcPct val="100000"/>
              </a:lnSpc>
              <a:buNone/>
            </a:pPr>
            <a:r>
              <a:rPr sz="1000" b="0" u="none">
                <a:solidFill>
                  <a:srgbClr val="000000"/>
                </a:solidFill>
                <a:latin typeface="Consolas"/>
                <a:ea typeface="Consolas"/>
                <a:cs typeface="Consolas"/>
              </a:rPr>
              <a:t>Timeline: ____________________________</a:t>
            </a:r>
          </a:p>
          <a:p xmlns:a="http://schemas.openxmlformats.org/drawingml/2006/main">
            <a:pPr>
              <a:lnSpc>
                <a:spcPct val="100000"/>
              </a:lnSpc>
              <a:buNone/>
            </a:pPr>
            <a:r>
              <a:rPr sz="1000" b="0" u="none">
                <a:solidFill>
                  <a:srgbClr val="000000"/>
                </a:solidFill>
                <a:latin typeface="Consolas"/>
                <a:ea typeface="Consolas"/>
                <a:cs typeface="Consolas"/>
              </a:rPr>
              <a:t>Root cause: __________________________</a:t>
            </a:r>
          </a:p>
          <a:p xmlns:a="http://schemas.openxmlformats.org/drawingml/2006/main">
            <a:pPr>
              <a:lnSpc>
                <a:spcPct val="100000"/>
              </a:lnSpc>
              <a:buNone/>
            </a:pPr>
            <a:r>
              <a:rPr sz="1000" b="0" u="none">
                <a:solidFill>
                  <a:srgbClr val="000000"/>
                </a:solidFill>
                <a:latin typeface="Consolas"/>
                <a:ea typeface="Consolas"/>
                <a:cs typeface="Consolas"/>
              </a:rPr>
              <a:t>Recovery action: _____________________</a:t>
            </a:r>
          </a:p>
          <a:p xmlns:a="http://schemas.openxmlformats.org/drawingml/2006/main">
            <a:pPr>
              <a:lnSpc>
                <a:spcPct val="100000"/>
              </a:lnSpc>
              <a:buNone/>
            </a:pPr>
            <a:r>
              <a:rPr sz="1000" b="0" u="none">
                <a:solidFill>
                  <a:srgbClr val="000000"/>
                </a:solidFill>
                <a:latin typeface="Consolas"/>
                <a:ea typeface="Consolas"/>
                <a:cs typeface="Consolas"/>
              </a:rPr>
              <a:t>Preventive control: __________________</a:t>
            </a:r>
          </a:p>
          <a:p xmlns:a="http://schemas.openxmlformats.org/drawingml/2006/main">
            <a:pPr>
              <a:lnSpc>
                <a:spcPct val="100000"/>
              </a:lnSpc>
              <a:buNone/>
            </a:pPr>
            <a:r>
              <a:rPr sz="1000" b="0" u="none">
                <a:solidFill>
                  <a:srgbClr val="000000"/>
                </a:solidFill>
                <a:latin typeface="Consolas"/>
                <a:ea typeface="Consolas"/>
                <a:cs typeface="Consolas"/>
              </a:rPr>
              <a:t>Owner / evidence: ____________________</a:t>
            </a:r>
          </a:p>
        </p:txBody>
      </p:sp>
      <p:sp>
        <p:nvSpPr>
          <p:cNvPr id="412" name="Text 5">
            <a:extLst xmlns:a="http://schemas.openxmlformats.org/drawingml/2006/main">
              <a:ext uri="{FF2B5EF4-FFF2-40B4-BE49-F238E27FC236}">
                <a16:creationId xmlns:a16="http://schemas.microsoft.com/office/drawing/2014/main" id="{84408178-E1F7-45E2-B4A7-A764701547D8}"/>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0e3aa508cde84ebe"/>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2519c8e232c74e76"/>
              </a:rPr>
              <a:t>[2]</a:t>
            </a:r>
          </a:p>
        </p:txBody>
      </p:sp>
    </p:spTree>
    <p:extLst>
      <p:ext uri="{BB962C8B-B14F-4D97-AF65-F5344CB8AC3E}">
        <p14:creationId xmlns:p14="http://schemas.microsoft.com/office/powerpoint/2010/main" val="784500873"/>
      </p:ext>
    </p:extLst>
  </p:cSld>
</p:sld>
</file>

<file path=ppt/slides/slide29.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413" name="Shape 0">
            <a:extLst xmlns:a="http://schemas.openxmlformats.org/drawingml/2006/main">
              <a:ext uri="{FF2B5EF4-FFF2-40B4-BE49-F238E27FC236}">
                <a16:creationId xmlns:a16="http://schemas.microsoft.com/office/drawing/2014/main" id="{3E087B87-0326-457D-A2AF-071CD8907B86}"/>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414" name="Text 1">
            <a:extLst xmlns:a="http://schemas.openxmlformats.org/drawingml/2006/main">
              <a:ext uri="{FF2B5EF4-FFF2-40B4-BE49-F238E27FC236}">
                <a16:creationId xmlns:a16="http://schemas.microsoft.com/office/drawing/2014/main" id="{D9301743-932E-41DB-8918-65CD0D8234A5}"/>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Knowledge Check - Part 1</a:t>
            </a:r>
          </a:p>
        </p:txBody>
      </p:sp>
      <p:sp>
        <p:nvSpPr>
          <p:cNvPr id="415" name="Text 2">
            <a:extLst xmlns:a="http://schemas.openxmlformats.org/drawingml/2006/main">
              <a:ext uri="{FF2B5EF4-FFF2-40B4-BE49-F238E27FC236}">
                <a16:creationId xmlns:a16="http://schemas.microsoft.com/office/drawing/2014/main" id="{61A5034F-DF07-4B20-AFB0-6AB464925A06}"/>
              </a:ext>
            </a:extLst>
          </p:cNvPr>
          <p:cNvSpPr>
            <a:spLocks xmlns:a="http://schemas.openxmlformats.org/drawingml/2006/main" noGrp="1"/>
          </p:cNvSpPr>
          <p:nvPr/>
        </p:nvSpPr>
        <p:spPr>
          <a:xfrm xmlns:a="http://schemas.openxmlformats.org/drawingml/2006/main">
            <a:off x="457200" y="731520"/>
            <a:ext cx="86864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003C54"/>
                </a:solidFill>
                <a:latin typeface="Calibri"/>
                <a:ea typeface="Calibri"/>
                <a:cs typeface="Calibri"/>
              </a:rPr>
              <a:t>1. Which signal most directly shows a consumer falling behind?</a:t>
            </a:r>
          </a:p>
        </p:txBody>
      </p:sp>
      <p:sp>
        <p:nvSpPr>
          <p:cNvPr id="416" name="Text 3">
            <a:extLst xmlns:a="http://schemas.openxmlformats.org/drawingml/2006/main">
              <a:ext uri="{FF2B5EF4-FFF2-40B4-BE49-F238E27FC236}">
                <a16:creationId xmlns:a16="http://schemas.microsoft.com/office/drawing/2014/main" id="{0A9D8F25-3FCE-4EE6-9009-6BDF31819000}"/>
              </a:ext>
            </a:extLst>
          </p:cNvPr>
          <p:cNvSpPr>
            <a:spLocks xmlns:a="http://schemas.openxmlformats.org/drawingml/2006/main" noGrp="1"/>
          </p:cNvSpPr>
          <p:nvPr/>
        </p:nvSpPr>
        <p:spPr>
          <a:xfrm xmlns:a="http://schemas.openxmlformats.org/drawingml/2006/main">
            <a:off x="731520" y="93276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A) Consumer lag</a:t>
            </a:r>
          </a:p>
        </p:txBody>
      </p:sp>
      <p:sp>
        <p:nvSpPr>
          <p:cNvPr id="417" name="Text 4">
            <a:extLst xmlns:a="http://schemas.openxmlformats.org/drawingml/2006/main">
              <a:ext uri="{FF2B5EF4-FFF2-40B4-BE49-F238E27FC236}">
                <a16:creationId xmlns:a16="http://schemas.microsoft.com/office/drawing/2014/main" id="{E9395BBE-F807-45C8-A974-C43C29945B5E}"/>
              </a:ext>
            </a:extLst>
          </p:cNvPr>
          <p:cNvSpPr>
            <a:spLocks xmlns:a="http://schemas.openxmlformats.org/drawingml/2006/main" noGrp="1"/>
          </p:cNvSpPr>
          <p:nvPr/>
        </p:nvSpPr>
        <p:spPr>
          <a:xfrm xmlns:a="http://schemas.openxmlformats.org/drawingml/2006/main">
            <a:off x="731520" y="109728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B) Slide count</a:t>
            </a:r>
          </a:p>
        </p:txBody>
      </p:sp>
      <p:sp>
        <p:nvSpPr>
          <p:cNvPr id="418" name="Text 5">
            <a:extLst xmlns:a="http://schemas.openxmlformats.org/drawingml/2006/main">
              <a:ext uri="{FF2B5EF4-FFF2-40B4-BE49-F238E27FC236}">
                <a16:creationId xmlns:a16="http://schemas.microsoft.com/office/drawing/2014/main" id="{3BE638A6-294F-4A27-B7E3-38C0276F15B6}"/>
              </a:ext>
            </a:extLst>
          </p:cNvPr>
          <p:cNvSpPr>
            <a:spLocks xmlns:a="http://schemas.openxmlformats.org/drawingml/2006/main" noGrp="1"/>
          </p:cNvSpPr>
          <p:nvPr/>
        </p:nvSpPr>
        <p:spPr>
          <a:xfrm xmlns:a="http://schemas.openxmlformats.org/drawingml/2006/main">
            <a:off x="731520" y="126180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C) Dashboard color</a:t>
            </a:r>
          </a:p>
        </p:txBody>
      </p:sp>
      <p:sp>
        <p:nvSpPr>
          <p:cNvPr id="419" name="Text 6">
            <a:extLst xmlns:a="http://schemas.openxmlformats.org/drawingml/2006/main">
              <a:ext uri="{FF2B5EF4-FFF2-40B4-BE49-F238E27FC236}">
                <a16:creationId xmlns:a16="http://schemas.microsoft.com/office/drawing/2014/main" id="{24A793F4-4C5D-4F03-8080-339D10F7AF47}"/>
              </a:ext>
            </a:extLst>
          </p:cNvPr>
          <p:cNvSpPr>
            <a:spLocks xmlns:a="http://schemas.openxmlformats.org/drawingml/2006/main" noGrp="1"/>
          </p:cNvSpPr>
          <p:nvPr/>
        </p:nvSpPr>
        <p:spPr>
          <a:xfrm xmlns:a="http://schemas.openxmlformats.org/drawingml/2006/main">
            <a:off x="731520" y="142632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D) Table name</a:t>
            </a:r>
          </a:p>
        </p:txBody>
      </p:sp>
      <p:sp>
        <p:nvSpPr>
          <p:cNvPr id="420" name="Text 7">
            <a:extLst xmlns:a="http://schemas.openxmlformats.org/drawingml/2006/main">
              <a:ext uri="{FF2B5EF4-FFF2-40B4-BE49-F238E27FC236}">
                <a16:creationId xmlns:a16="http://schemas.microsoft.com/office/drawing/2014/main" id="{13CF7E3A-84D2-409B-9105-93514432E220}"/>
              </a:ext>
            </a:extLst>
          </p:cNvPr>
          <p:cNvSpPr>
            <a:spLocks xmlns:a="http://schemas.openxmlformats.org/drawingml/2006/main" noGrp="1"/>
          </p:cNvSpPr>
          <p:nvPr/>
        </p:nvSpPr>
        <p:spPr>
          <a:xfrm xmlns:a="http://schemas.openxmlformats.org/drawingml/2006/main">
            <a:off x="457200" y="1682640"/>
            <a:ext cx="86864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003C54"/>
                </a:solidFill>
                <a:latin typeface="Calibri"/>
                <a:ea typeface="Calibri"/>
                <a:cs typeface="Calibri"/>
              </a:rPr>
              <a:t>2. Why must a retryable task be idempotent?</a:t>
            </a:r>
          </a:p>
        </p:txBody>
      </p:sp>
      <p:sp>
        <p:nvSpPr>
          <p:cNvPr id="421" name="Text 8">
            <a:extLst xmlns:a="http://schemas.openxmlformats.org/drawingml/2006/main">
              <a:ext uri="{FF2B5EF4-FFF2-40B4-BE49-F238E27FC236}">
                <a16:creationId xmlns:a16="http://schemas.microsoft.com/office/drawing/2014/main" id="{6F077B1D-153B-4C24-8D49-6DAC11EA69A5}"/>
              </a:ext>
            </a:extLst>
          </p:cNvPr>
          <p:cNvSpPr>
            <a:spLocks xmlns:a="http://schemas.openxmlformats.org/drawingml/2006/main" noGrp="1"/>
          </p:cNvSpPr>
          <p:nvPr/>
        </p:nvSpPr>
        <p:spPr>
          <a:xfrm xmlns:a="http://schemas.openxmlformats.org/drawingml/2006/main">
            <a:off x="731520" y="188352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A) To avoid duplicate side effects after rerun</a:t>
            </a:r>
          </a:p>
        </p:txBody>
      </p:sp>
      <p:sp>
        <p:nvSpPr>
          <p:cNvPr id="422" name="Text 9">
            <a:extLst xmlns:a="http://schemas.openxmlformats.org/drawingml/2006/main">
              <a:ext uri="{FF2B5EF4-FFF2-40B4-BE49-F238E27FC236}">
                <a16:creationId xmlns:a16="http://schemas.microsoft.com/office/drawing/2014/main" id="{49939B94-76F6-4E32-9CF6-D3B86DFC2D08}"/>
              </a:ext>
            </a:extLst>
          </p:cNvPr>
          <p:cNvSpPr>
            <a:spLocks xmlns:a="http://schemas.openxmlformats.org/drawingml/2006/main" noGrp="1"/>
          </p:cNvSpPr>
          <p:nvPr/>
        </p:nvSpPr>
        <p:spPr>
          <a:xfrm xmlns:a="http://schemas.openxmlformats.org/drawingml/2006/main">
            <a:off x="731520" y="204840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B) To create more partitions</a:t>
            </a:r>
          </a:p>
        </p:txBody>
      </p:sp>
      <p:sp>
        <p:nvSpPr>
          <p:cNvPr id="423" name="Text 10">
            <a:extLst xmlns:a="http://schemas.openxmlformats.org/drawingml/2006/main">
              <a:ext uri="{FF2B5EF4-FFF2-40B4-BE49-F238E27FC236}">
                <a16:creationId xmlns:a16="http://schemas.microsoft.com/office/drawing/2014/main" id="{668C1A69-63AA-4582-BBF6-5034A9033925}"/>
              </a:ext>
            </a:extLst>
          </p:cNvPr>
          <p:cNvSpPr>
            <a:spLocks xmlns:a="http://schemas.openxmlformats.org/drawingml/2006/main" noGrp="1"/>
          </p:cNvSpPr>
          <p:nvPr/>
        </p:nvSpPr>
        <p:spPr>
          <a:xfrm xmlns:a="http://schemas.openxmlformats.org/drawingml/2006/main">
            <a:off x="731520" y="221292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C) To suppress logs</a:t>
            </a:r>
          </a:p>
        </p:txBody>
      </p:sp>
      <p:sp>
        <p:nvSpPr>
          <p:cNvPr id="424" name="Text 11">
            <a:extLst xmlns:a="http://schemas.openxmlformats.org/drawingml/2006/main">
              <a:ext uri="{FF2B5EF4-FFF2-40B4-BE49-F238E27FC236}">
                <a16:creationId xmlns:a16="http://schemas.microsoft.com/office/drawing/2014/main" id="{C63C8092-9534-4E16-AC23-7E6CCCF40462}"/>
              </a:ext>
            </a:extLst>
          </p:cNvPr>
          <p:cNvSpPr>
            <a:spLocks xmlns:a="http://schemas.openxmlformats.org/drawingml/2006/main" noGrp="1"/>
          </p:cNvSpPr>
          <p:nvPr/>
        </p:nvSpPr>
        <p:spPr>
          <a:xfrm xmlns:a="http://schemas.openxmlformats.org/drawingml/2006/main">
            <a:off x="731520" y="237744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D) To disable monitoring</a:t>
            </a:r>
          </a:p>
        </p:txBody>
      </p:sp>
      <p:sp>
        <p:nvSpPr>
          <p:cNvPr id="425" name="Text 12">
            <a:extLst xmlns:a="http://schemas.openxmlformats.org/drawingml/2006/main">
              <a:ext uri="{FF2B5EF4-FFF2-40B4-BE49-F238E27FC236}">
                <a16:creationId xmlns:a16="http://schemas.microsoft.com/office/drawing/2014/main" id="{1577F079-8143-4051-8FE2-C371862975D8}"/>
              </a:ext>
            </a:extLst>
          </p:cNvPr>
          <p:cNvSpPr>
            <a:spLocks xmlns:a="http://schemas.openxmlformats.org/drawingml/2006/main" noGrp="1"/>
          </p:cNvSpPr>
          <p:nvPr/>
        </p:nvSpPr>
        <p:spPr>
          <a:xfrm xmlns:a="http://schemas.openxmlformats.org/drawingml/2006/main">
            <a:off x="457200" y="2633400"/>
            <a:ext cx="86864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003C54"/>
                </a:solidFill>
                <a:latin typeface="Calibri"/>
                <a:ea typeface="Calibri"/>
                <a:cs typeface="Calibri"/>
              </a:rPr>
              <a:t>3. What belongs in an RCA?</a:t>
            </a:r>
          </a:p>
        </p:txBody>
      </p:sp>
      <p:sp>
        <p:nvSpPr>
          <p:cNvPr id="426" name="Text 13">
            <a:extLst xmlns:a="http://schemas.openxmlformats.org/drawingml/2006/main">
              <a:ext uri="{FF2B5EF4-FFF2-40B4-BE49-F238E27FC236}">
                <a16:creationId xmlns:a16="http://schemas.microsoft.com/office/drawing/2014/main" id="{83597946-1503-4411-8AFF-FFF147A9A248}"/>
              </a:ext>
            </a:extLst>
          </p:cNvPr>
          <p:cNvSpPr>
            <a:spLocks xmlns:a="http://schemas.openxmlformats.org/drawingml/2006/main" noGrp="1"/>
          </p:cNvSpPr>
          <p:nvPr/>
        </p:nvSpPr>
        <p:spPr>
          <a:xfrm xmlns:a="http://schemas.openxmlformats.org/drawingml/2006/main">
            <a:off x="731520" y="283464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A) Only the fix</a:t>
            </a:r>
          </a:p>
        </p:txBody>
      </p:sp>
      <p:sp>
        <p:nvSpPr>
          <p:cNvPr id="427" name="Text 14">
            <a:extLst xmlns:a="http://schemas.openxmlformats.org/drawingml/2006/main">
              <a:ext uri="{FF2B5EF4-FFF2-40B4-BE49-F238E27FC236}">
                <a16:creationId xmlns:a16="http://schemas.microsoft.com/office/drawing/2014/main" id="{64403EEC-D1A0-40A3-A5D1-9909F0F2E87E}"/>
              </a:ext>
            </a:extLst>
          </p:cNvPr>
          <p:cNvSpPr>
            <a:spLocks xmlns:a="http://schemas.openxmlformats.org/drawingml/2006/main" noGrp="1"/>
          </p:cNvSpPr>
          <p:nvPr/>
        </p:nvSpPr>
        <p:spPr>
          <a:xfrm xmlns:a="http://schemas.openxmlformats.org/drawingml/2006/main">
            <a:off x="731520" y="299916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B) Symptom, cause, recovery evidence and prevention</a:t>
            </a:r>
          </a:p>
        </p:txBody>
      </p:sp>
      <p:sp>
        <p:nvSpPr>
          <p:cNvPr id="428" name="Text 15">
            <a:extLst xmlns:a="http://schemas.openxmlformats.org/drawingml/2006/main">
              <a:ext uri="{FF2B5EF4-FFF2-40B4-BE49-F238E27FC236}">
                <a16:creationId xmlns:a16="http://schemas.microsoft.com/office/drawing/2014/main" id="{653F1E28-B577-4D41-9343-49FD4C66ED6C}"/>
              </a:ext>
            </a:extLst>
          </p:cNvPr>
          <p:cNvSpPr>
            <a:spLocks xmlns:a="http://schemas.openxmlformats.org/drawingml/2006/main" noGrp="1"/>
          </p:cNvSpPr>
          <p:nvPr/>
        </p:nvSpPr>
        <p:spPr>
          <a:xfrm xmlns:a="http://schemas.openxmlformats.org/drawingml/2006/main">
            <a:off x="731520" y="316368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C) Only screenshots</a:t>
            </a:r>
          </a:p>
        </p:txBody>
      </p:sp>
      <p:sp>
        <p:nvSpPr>
          <p:cNvPr id="429" name="Text 16">
            <a:extLst xmlns:a="http://schemas.openxmlformats.org/drawingml/2006/main">
              <a:ext uri="{FF2B5EF4-FFF2-40B4-BE49-F238E27FC236}">
                <a16:creationId xmlns:a16="http://schemas.microsoft.com/office/drawing/2014/main" id="{DDC6AF84-A2DB-4CB9-83AA-7A528D123411}"/>
              </a:ext>
            </a:extLst>
          </p:cNvPr>
          <p:cNvSpPr>
            <a:spLocks xmlns:a="http://schemas.openxmlformats.org/drawingml/2006/main" noGrp="1"/>
          </p:cNvSpPr>
          <p:nvPr/>
        </p:nvSpPr>
        <p:spPr>
          <a:xfrm xmlns:a="http://schemas.openxmlformats.org/drawingml/2006/main">
            <a:off x="731520" y="332856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D) Only configuration names</a:t>
            </a:r>
          </a:p>
        </p:txBody>
      </p:sp>
      <p:sp>
        <p:nvSpPr>
          <p:cNvPr id="430" name="Text 17">
            <a:extLst xmlns:a="http://schemas.openxmlformats.org/drawingml/2006/main">
              <a:ext uri="{FF2B5EF4-FFF2-40B4-BE49-F238E27FC236}">
                <a16:creationId xmlns:a16="http://schemas.microsoft.com/office/drawing/2014/main" id="{55775195-328A-430C-B42C-BFB1CDE22A80}"/>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4d5fdfe670e04e0b"/>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994465b027d24f88"/>
              </a:rPr>
              <a:t>[2]</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58ec0c746e7f464f"/>
              </a:rPr>
              <a:t>[3]</a:t>
            </a:r>
          </a:p>
        </p:txBody>
      </p:sp>
    </p:spTree>
    <p:extLst>
      <p:ext uri="{BB962C8B-B14F-4D97-AF65-F5344CB8AC3E}">
        <p14:creationId xmlns:p14="http://schemas.microsoft.com/office/powerpoint/2010/main" val="1301646870"/>
      </p:ext>
    </p:extLst>
  </p:cSld>
</p:sld>
</file>

<file path=ppt/slides/slide30.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431" name="Shape 0">
            <a:extLst xmlns:a="http://schemas.openxmlformats.org/drawingml/2006/main">
              <a:ext uri="{FF2B5EF4-FFF2-40B4-BE49-F238E27FC236}">
                <a16:creationId xmlns:a16="http://schemas.microsoft.com/office/drawing/2014/main" id="{08BAE8F3-59A5-4804-ADE2-596B3A8BD041}"/>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432" name="Text 1">
            <a:extLst xmlns:a="http://schemas.openxmlformats.org/drawingml/2006/main">
              <a:ext uri="{FF2B5EF4-FFF2-40B4-BE49-F238E27FC236}">
                <a16:creationId xmlns:a16="http://schemas.microsoft.com/office/drawing/2014/main" id="{ED2FB4FD-F6AC-47B1-8CF2-0B93D368B0FC}"/>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Knowledge Check - Part 2</a:t>
            </a:r>
          </a:p>
        </p:txBody>
      </p:sp>
      <p:sp>
        <p:nvSpPr>
          <p:cNvPr id="433" name="Text 2">
            <a:extLst xmlns:a="http://schemas.openxmlformats.org/drawingml/2006/main">
              <a:ext uri="{FF2B5EF4-FFF2-40B4-BE49-F238E27FC236}">
                <a16:creationId xmlns:a16="http://schemas.microsoft.com/office/drawing/2014/main" id="{0B99D530-DE59-41E1-B73A-63865C9F3FD2}"/>
              </a:ext>
            </a:extLst>
          </p:cNvPr>
          <p:cNvSpPr>
            <a:spLocks xmlns:a="http://schemas.openxmlformats.org/drawingml/2006/main" noGrp="1"/>
          </p:cNvSpPr>
          <p:nvPr/>
        </p:nvSpPr>
        <p:spPr>
          <a:xfrm xmlns:a="http://schemas.openxmlformats.org/drawingml/2006/main">
            <a:off x="457200" y="731520"/>
            <a:ext cx="86864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003C54"/>
                </a:solidFill>
                <a:latin typeface="Calibri"/>
                <a:ea typeface="Calibri"/>
                <a:cs typeface="Calibri"/>
              </a:rPr>
              <a:t>4. Rising lag while input continues usually means:</a:t>
            </a:r>
          </a:p>
        </p:txBody>
      </p:sp>
      <p:sp>
        <p:nvSpPr>
          <p:cNvPr id="434" name="Text 3">
            <a:extLst xmlns:a="http://schemas.openxmlformats.org/drawingml/2006/main">
              <a:ext uri="{FF2B5EF4-FFF2-40B4-BE49-F238E27FC236}">
                <a16:creationId xmlns:a16="http://schemas.microsoft.com/office/drawing/2014/main" id="{2CBBE9DB-6B05-4324-A10D-AD1AD8829CAE}"/>
              </a:ext>
            </a:extLst>
          </p:cNvPr>
          <p:cNvSpPr>
            <a:spLocks xmlns:a="http://schemas.openxmlformats.org/drawingml/2006/main" noGrp="1"/>
          </p:cNvSpPr>
          <p:nvPr/>
        </p:nvSpPr>
        <p:spPr>
          <a:xfrm xmlns:a="http://schemas.openxmlformats.org/drawingml/2006/main">
            <a:off x="731520" y="93276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A) Processing cannot keep up or is blocked</a:t>
            </a:r>
          </a:p>
        </p:txBody>
      </p:sp>
      <p:sp>
        <p:nvSpPr>
          <p:cNvPr id="435" name="Text 4">
            <a:extLst xmlns:a="http://schemas.openxmlformats.org/drawingml/2006/main">
              <a:ext uri="{FF2B5EF4-FFF2-40B4-BE49-F238E27FC236}">
                <a16:creationId xmlns:a16="http://schemas.microsoft.com/office/drawing/2014/main" id="{E9C515B3-D60D-4BE2-85EA-29BB0FA8BB8F}"/>
              </a:ext>
            </a:extLst>
          </p:cNvPr>
          <p:cNvSpPr>
            <a:spLocks xmlns:a="http://schemas.openxmlformats.org/drawingml/2006/main" noGrp="1"/>
          </p:cNvSpPr>
          <p:nvPr/>
        </p:nvSpPr>
        <p:spPr>
          <a:xfrm xmlns:a="http://schemas.openxmlformats.org/drawingml/2006/main">
            <a:off x="731520" y="109728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B) No events exist</a:t>
            </a:r>
          </a:p>
        </p:txBody>
      </p:sp>
      <p:sp>
        <p:nvSpPr>
          <p:cNvPr id="436" name="Text 5">
            <a:extLst xmlns:a="http://schemas.openxmlformats.org/drawingml/2006/main">
              <a:ext uri="{FF2B5EF4-FFF2-40B4-BE49-F238E27FC236}">
                <a16:creationId xmlns:a16="http://schemas.microsoft.com/office/drawing/2014/main" id="{B4BC92A0-3EEF-475F-8A74-B5063909953D}"/>
              </a:ext>
            </a:extLst>
          </p:cNvPr>
          <p:cNvSpPr>
            <a:spLocks xmlns:a="http://schemas.openxmlformats.org/drawingml/2006/main" noGrp="1"/>
          </p:cNvSpPr>
          <p:nvPr/>
        </p:nvSpPr>
        <p:spPr>
          <a:xfrm xmlns:a="http://schemas.openxmlformats.org/drawingml/2006/main">
            <a:off x="731520" y="126180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C) Dashboard is healthy by definition</a:t>
            </a:r>
          </a:p>
        </p:txBody>
      </p:sp>
      <p:sp>
        <p:nvSpPr>
          <p:cNvPr id="437" name="Text 6">
            <a:extLst xmlns:a="http://schemas.openxmlformats.org/drawingml/2006/main">
              <a:ext uri="{FF2B5EF4-FFF2-40B4-BE49-F238E27FC236}">
                <a16:creationId xmlns:a16="http://schemas.microsoft.com/office/drawing/2014/main" id="{1267F3D9-77B1-466E-9889-D18C682C282C}"/>
              </a:ext>
            </a:extLst>
          </p:cNvPr>
          <p:cNvSpPr>
            <a:spLocks xmlns:a="http://schemas.openxmlformats.org/drawingml/2006/main" noGrp="1"/>
          </p:cNvSpPr>
          <p:nvPr/>
        </p:nvSpPr>
        <p:spPr>
          <a:xfrm xmlns:a="http://schemas.openxmlformats.org/drawingml/2006/main">
            <a:off x="731520" y="142632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D) Monitoring is unnecessary</a:t>
            </a:r>
          </a:p>
        </p:txBody>
      </p:sp>
      <p:sp>
        <p:nvSpPr>
          <p:cNvPr id="438" name="Text 7">
            <a:extLst xmlns:a="http://schemas.openxmlformats.org/drawingml/2006/main">
              <a:ext uri="{FF2B5EF4-FFF2-40B4-BE49-F238E27FC236}">
                <a16:creationId xmlns:a16="http://schemas.microsoft.com/office/drawing/2014/main" id="{20C73282-6D62-4713-AF4C-5EEEB31B6693}"/>
              </a:ext>
            </a:extLst>
          </p:cNvPr>
          <p:cNvSpPr>
            <a:spLocks xmlns:a="http://schemas.openxmlformats.org/drawingml/2006/main" noGrp="1"/>
          </p:cNvSpPr>
          <p:nvPr/>
        </p:nvSpPr>
        <p:spPr>
          <a:xfrm xmlns:a="http://schemas.openxmlformats.org/drawingml/2006/main">
            <a:off x="457200" y="1682640"/>
            <a:ext cx="86864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003C54"/>
                </a:solidFill>
                <a:latin typeface="Calibri"/>
                <a:ea typeface="Calibri"/>
                <a:cs typeface="Calibri"/>
              </a:rPr>
              <a:t>5. After applying a fix, what proves recovery?</a:t>
            </a:r>
          </a:p>
        </p:txBody>
      </p:sp>
      <p:sp>
        <p:nvSpPr>
          <p:cNvPr id="439" name="Text 8">
            <a:extLst xmlns:a="http://schemas.openxmlformats.org/drawingml/2006/main">
              <a:ext uri="{FF2B5EF4-FFF2-40B4-BE49-F238E27FC236}">
                <a16:creationId xmlns:a16="http://schemas.microsoft.com/office/drawing/2014/main" id="{07E65A9B-FB2A-4F74-B510-288B5D88042B}"/>
              </a:ext>
            </a:extLst>
          </p:cNvPr>
          <p:cNvSpPr>
            <a:spLocks xmlns:a="http://schemas.openxmlformats.org/drawingml/2006/main" noGrp="1"/>
          </p:cNvSpPr>
          <p:nvPr/>
        </p:nvSpPr>
        <p:spPr>
          <a:xfrm xmlns:a="http://schemas.openxmlformats.org/drawingml/2006/main">
            <a:off x="731520" y="188352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A) A configuration edit alone</a:t>
            </a:r>
          </a:p>
        </p:txBody>
      </p:sp>
      <p:sp>
        <p:nvSpPr>
          <p:cNvPr id="440" name="Text 9">
            <a:extLst xmlns:a="http://schemas.openxmlformats.org/drawingml/2006/main">
              <a:ext uri="{FF2B5EF4-FFF2-40B4-BE49-F238E27FC236}">
                <a16:creationId xmlns:a16="http://schemas.microsoft.com/office/drawing/2014/main" id="{7F7F58E7-7C70-4C04-9514-180E94D2A5D1}"/>
              </a:ext>
            </a:extLst>
          </p:cNvPr>
          <p:cNvSpPr>
            <a:spLocks xmlns:a="http://schemas.openxmlformats.org/drawingml/2006/main" noGrp="1"/>
          </p:cNvSpPr>
          <p:nvPr/>
        </p:nvSpPr>
        <p:spPr>
          <a:xfrm xmlns:a="http://schemas.openxmlformats.org/drawingml/2006/main">
            <a:off x="731520" y="204840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B) Fresh correct output and controlled rerun evidence</a:t>
            </a:r>
          </a:p>
        </p:txBody>
      </p:sp>
      <p:sp>
        <p:nvSpPr>
          <p:cNvPr id="441" name="Text 10">
            <a:extLst xmlns:a="http://schemas.openxmlformats.org/drawingml/2006/main">
              <a:ext uri="{FF2B5EF4-FFF2-40B4-BE49-F238E27FC236}">
                <a16:creationId xmlns:a16="http://schemas.microsoft.com/office/drawing/2014/main" id="{826F2820-1E90-4A80-BDC1-8BF9178BAE4F}"/>
              </a:ext>
            </a:extLst>
          </p:cNvPr>
          <p:cNvSpPr>
            <a:spLocks xmlns:a="http://schemas.openxmlformats.org/drawingml/2006/main" noGrp="1"/>
          </p:cNvSpPr>
          <p:nvPr/>
        </p:nvSpPr>
        <p:spPr>
          <a:xfrm xmlns:a="http://schemas.openxmlformats.org/drawingml/2006/main">
            <a:off x="731520" y="221292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C) A restarted laptop</a:t>
            </a:r>
          </a:p>
        </p:txBody>
      </p:sp>
      <p:sp>
        <p:nvSpPr>
          <p:cNvPr id="442" name="Text 11">
            <a:extLst xmlns:a="http://schemas.openxmlformats.org/drawingml/2006/main">
              <a:ext uri="{FF2B5EF4-FFF2-40B4-BE49-F238E27FC236}">
                <a16:creationId xmlns:a16="http://schemas.microsoft.com/office/drawing/2014/main" id="{44FB8336-10F6-4D4B-B936-E03F7DF084D0}"/>
              </a:ext>
            </a:extLst>
          </p:cNvPr>
          <p:cNvSpPr>
            <a:spLocks xmlns:a="http://schemas.openxmlformats.org/drawingml/2006/main" noGrp="1"/>
          </p:cNvSpPr>
          <p:nvPr/>
        </p:nvSpPr>
        <p:spPr>
          <a:xfrm xmlns:a="http://schemas.openxmlformats.org/drawingml/2006/main">
            <a:off x="731520" y="237744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D) A renamed topic</a:t>
            </a:r>
          </a:p>
        </p:txBody>
      </p:sp>
      <p:sp>
        <p:nvSpPr>
          <p:cNvPr id="443" name="Text 12">
            <a:extLst xmlns:a="http://schemas.openxmlformats.org/drawingml/2006/main">
              <a:ext uri="{FF2B5EF4-FFF2-40B4-BE49-F238E27FC236}">
                <a16:creationId xmlns:a16="http://schemas.microsoft.com/office/drawing/2014/main" id="{B202D6D1-802E-4081-9109-F7506D716102}"/>
              </a:ext>
            </a:extLst>
          </p:cNvPr>
          <p:cNvSpPr>
            <a:spLocks xmlns:a="http://schemas.openxmlformats.org/drawingml/2006/main" noGrp="1"/>
          </p:cNvSpPr>
          <p:nvPr/>
        </p:nvSpPr>
        <p:spPr>
          <a:xfrm xmlns:a="http://schemas.openxmlformats.org/drawingml/2006/main">
            <a:off x="457200" y="2633400"/>
            <a:ext cx="86864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1000" b="1" u="none">
                <a:solidFill>
                  <a:srgbClr val="003C54"/>
                </a:solidFill>
                <a:latin typeface="Calibri"/>
                <a:ea typeface="Calibri"/>
                <a:cs typeface="Calibri"/>
              </a:rPr>
              <a:t>6. Which is a capacity-planning input?</a:t>
            </a:r>
          </a:p>
        </p:txBody>
      </p:sp>
      <p:sp>
        <p:nvSpPr>
          <p:cNvPr id="444" name="Text 13">
            <a:extLst xmlns:a="http://schemas.openxmlformats.org/drawingml/2006/main">
              <a:ext uri="{FF2B5EF4-FFF2-40B4-BE49-F238E27FC236}">
                <a16:creationId xmlns:a16="http://schemas.microsoft.com/office/drawing/2014/main" id="{880A19C6-D62E-445A-9AE8-9ACC17EECC59}"/>
              </a:ext>
            </a:extLst>
          </p:cNvPr>
          <p:cNvSpPr>
            <a:spLocks xmlns:a="http://schemas.openxmlformats.org/drawingml/2006/main" noGrp="1"/>
          </p:cNvSpPr>
          <p:nvPr/>
        </p:nvSpPr>
        <p:spPr>
          <a:xfrm xmlns:a="http://schemas.openxmlformats.org/drawingml/2006/main">
            <a:off x="731520" y="283464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A) Partition count, arrival rate, processing rate and retention</a:t>
            </a:r>
          </a:p>
        </p:txBody>
      </p:sp>
      <p:sp>
        <p:nvSpPr>
          <p:cNvPr id="445" name="Text 14">
            <a:extLst xmlns:a="http://schemas.openxmlformats.org/drawingml/2006/main">
              <a:ext uri="{FF2B5EF4-FFF2-40B4-BE49-F238E27FC236}">
                <a16:creationId xmlns:a16="http://schemas.microsoft.com/office/drawing/2014/main" id="{DC5217A2-2AD1-4697-87C6-71CCB806B61C}"/>
              </a:ext>
            </a:extLst>
          </p:cNvPr>
          <p:cNvSpPr>
            <a:spLocks xmlns:a="http://schemas.openxmlformats.org/drawingml/2006/main" noGrp="1"/>
          </p:cNvSpPr>
          <p:nvPr/>
        </p:nvSpPr>
        <p:spPr>
          <a:xfrm xmlns:a="http://schemas.openxmlformats.org/drawingml/2006/main">
            <a:off x="731520" y="299916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B) Font size</a:t>
            </a:r>
          </a:p>
        </p:txBody>
      </p:sp>
      <p:sp>
        <p:nvSpPr>
          <p:cNvPr id="446" name="Text 15">
            <a:extLst xmlns:a="http://schemas.openxmlformats.org/drawingml/2006/main">
              <a:ext uri="{FF2B5EF4-FFF2-40B4-BE49-F238E27FC236}">
                <a16:creationId xmlns:a16="http://schemas.microsoft.com/office/drawing/2014/main" id="{58313195-8B15-424A-B841-72A31B6BC36A}"/>
              </a:ext>
            </a:extLst>
          </p:cNvPr>
          <p:cNvSpPr>
            <a:spLocks xmlns:a="http://schemas.openxmlformats.org/drawingml/2006/main" noGrp="1"/>
          </p:cNvSpPr>
          <p:nvPr/>
        </p:nvSpPr>
        <p:spPr>
          <a:xfrm xmlns:a="http://schemas.openxmlformats.org/drawingml/2006/main">
            <a:off x="731520" y="316368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C) Slide order</a:t>
            </a:r>
          </a:p>
        </p:txBody>
      </p:sp>
      <p:sp>
        <p:nvSpPr>
          <p:cNvPr id="447" name="Text 16">
            <a:extLst xmlns:a="http://schemas.openxmlformats.org/drawingml/2006/main">
              <a:ext uri="{FF2B5EF4-FFF2-40B4-BE49-F238E27FC236}">
                <a16:creationId xmlns:a16="http://schemas.microsoft.com/office/drawing/2014/main" id="{FBE6B439-A83B-4051-A1CC-D89FB80265DB}"/>
              </a:ext>
            </a:extLst>
          </p:cNvPr>
          <p:cNvSpPr>
            <a:spLocks xmlns:a="http://schemas.openxmlformats.org/drawingml/2006/main" noGrp="1"/>
          </p:cNvSpPr>
          <p:nvPr/>
        </p:nvSpPr>
        <p:spPr>
          <a:xfrm xmlns:a="http://schemas.openxmlformats.org/drawingml/2006/main">
            <a:off x="731520" y="3328560"/>
            <a:ext cx="822924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D) Instructor name</a:t>
            </a:r>
          </a:p>
        </p:txBody>
      </p:sp>
      <p:sp>
        <p:nvSpPr>
          <p:cNvPr id="448" name="Text 17">
            <a:extLst xmlns:a="http://schemas.openxmlformats.org/drawingml/2006/main">
              <a:ext uri="{FF2B5EF4-FFF2-40B4-BE49-F238E27FC236}">
                <a16:creationId xmlns:a16="http://schemas.microsoft.com/office/drawing/2014/main" id="{83682E5F-07BD-402F-ADFA-3FB7492BD94A}"/>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b70202ca548e426a"/>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f918dc292c3243d1"/>
              </a:rPr>
              <a:t>[2]</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ccc855c31f824371"/>
              </a:rPr>
              <a:t>[3]</a:t>
            </a:r>
          </a:p>
        </p:txBody>
      </p:sp>
    </p:spTree>
    <p:extLst>
      <p:ext uri="{BB962C8B-B14F-4D97-AF65-F5344CB8AC3E}">
        <p14:creationId xmlns:p14="http://schemas.microsoft.com/office/powerpoint/2010/main" val="1547271038"/>
      </p:ext>
    </p:extLst>
  </p:cSld>
</p:sld>
</file>

<file path=ppt/slides/slide31.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449" name="Shape 0">
            <a:extLst xmlns:a="http://schemas.openxmlformats.org/drawingml/2006/main">
              <a:ext uri="{FF2B5EF4-FFF2-40B4-BE49-F238E27FC236}">
                <a16:creationId xmlns:a16="http://schemas.microsoft.com/office/drawing/2014/main" id="{66319E70-3EE8-44EF-9F07-F80A7AD08AF0}"/>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450" name="Text 1">
            <a:extLst xmlns:a="http://schemas.openxmlformats.org/drawingml/2006/main">
              <a:ext uri="{FF2B5EF4-FFF2-40B4-BE49-F238E27FC236}">
                <a16:creationId xmlns:a16="http://schemas.microsoft.com/office/drawing/2014/main" id="{C4C78D75-C1BA-48AE-8478-45198E3AC38E}"/>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Answers</a:t>
            </a:r>
          </a:p>
        </p:txBody>
      </p:sp>
      <p:pic>
        <p:nvPicPr>
          <p:cNvPr id="451" name="Image 0"/>
          <p:cNvPicPr>
            <a:picLocks xmlns:a="http://schemas.openxmlformats.org/drawingml/2006/main" noChangeAspect="1"/>
          </p:cNvPicPr>
          <p:nvPr/>
        </p:nvPicPr>
        <p:blipFill>
          <a:blip xmlns:r="http://schemas.openxmlformats.org/officeDocument/2006/relationships" xmlns:a="http://schemas.openxmlformats.org/drawingml/2006/main" r:embed="R4dfbe4039f4e4151"/>
          <a:stretch xmlns:a="http://schemas.openxmlformats.org/drawingml/2006/main"/>
        </p:blipFill>
        <p:spPr>
          <a:xfrm xmlns:a="http://schemas.openxmlformats.org/drawingml/2006/main">
            <a:off x="457200" y="731520"/>
            <a:ext cx="182520" cy="182520"/>
          </a:xfrm>
          <a:prstGeom xmlns:a="http://schemas.openxmlformats.org/drawingml/2006/main" prst="rect">
            <a:avLst/>
          </a:prstGeom>
        </p:spPr>
      </p:pic>
      <p:sp>
        <p:nvSpPr>
          <p:cNvPr id="452" name="Text 2">
            <a:extLst xmlns:a="http://schemas.openxmlformats.org/drawingml/2006/main">
              <a:ext uri="{FF2B5EF4-FFF2-40B4-BE49-F238E27FC236}">
                <a16:creationId xmlns:a16="http://schemas.microsoft.com/office/drawing/2014/main" id="{3AFC87D8-0A91-4F8D-BE4C-3BA825B4FA8E}"/>
              </a:ext>
            </a:extLst>
          </p:cNvPr>
          <p:cNvSpPr>
            <a:spLocks xmlns:a="http://schemas.openxmlformats.org/drawingml/2006/main" noGrp="1"/>
          </p:cNvSpPr>
          <p:nvPr/>
        </p:nvSpPr>
        <p:spPr>
          <a:xfrm xmlns:a="http://schemas.openxmlformats.org/drawingml/2006/main">
            <a:off x="685800" y="73152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1. Answer: A</a:t>
            </a:r>
          </a:p>
          <a:p xmlns:a="http://schemas.openxmlformats.org/drawingml/2006/main">
            <a:pPr>
              <a:lnSpc>
                <a:spcPct val="100000"/>
              </a:lnSpc>
              <a:buNone/>
            </a:pPr>
            <a:r>
              <a:rPr sz="900" b="0" u="none">
                <a:solidFill>
                  <a:srgbClr val="003C54"/>
                </a:solidFill>
                <a:latin typeface="Calibri"/>
                <a:ea typeface="Calibri"/>
                <a:cs typeface="Calibri"/>
              </a:rPr>
              <a:t>Consumer lag directly measures backlog for a consumer group.</a:t>
            </a:r>
          </a:p>
        </p:txBody>
      </p:sp>
      <p:pic>
        <p:nvPicPr>
          <p:cNvPr id="453" name="Image 1"/>
          <p:cNvPicPr>
            <a:picLocks xmlns:a="http://schemas.openxmlformats.org/drawingml/2006/main" noChangeAspect="1"/>
          </p:cNvPicPr>
          <p:nvPr/>
        </p:nvPicPr>
        <p:blipFill>
          <a:blip xmlns:r="http://schemas.openxmlformats.org/officeDocument/2006/relationships" xmlns:a="http://schemas.openxmlformats.org/drawingml/2006/main" r:embed="R4dfbe4039f4e4151"/>
          <a:stretch xmlns:a="http://schemas.openxmlformats.org/drawingml/2006/main"/>
        </p:blipFill>
        <p:spPr>
          <a:xfrm xmlns:a="http://schemas.openxmlformats.org/drawingml/2006/main">
            <a:off x="457200" y="1024200"/>
            <a:ext cx="182520" cy="182520"/>
          </a:xfrm>
          <a:prstGeom xmlns:a="http://schemas.openxmlformats.org/drawingml/2006/main" prst="rect">
            <a:avLst/>
          </a:prstGeom>
        </p:spPr>
      </p:pic>
      <p:sp>
        <p:nvSpPr>
          <p:cNvPr id="454" name="Text 3">
            <a:extLst xmlns:a="http://schemas.openxmlformats.org/drawingml/2006/main">
              <a:ext uri="{FF2B5EF4-FFF2-40B4-BE49-F238E27FC236}">
                <a16:creationId xmlns:a16="http://schemas.microsoft.com/office/drawing/2014/main" id="{01F993B0-5431-432F-9955-73F855C43EBB}"/>
              </a:ext>
            </a:extLst>
          </p:cNvPr>
          <p:cNvSpPr>
            <a:spLocks xmlns:a="http://schemas.openxmlformats.org/drawingml/2006/main" noGrp="1"/>
          </p:cNvSpPr>
          <p:nvPr/>
        </p:nvSpPr>
        <p:spPr>
          <a:xfrm xmlns:a="http://schemas.openxmlformats.org/drawingml/2006/main">
            <a:off x="685800" y="102420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2. Answer: A</a:t>
            </a:r>
          </a:p>
          <a:p xmlns:a="http://schemas.openxmlformats.org/drawingml/2006/main">
            <a:pPr>
              <a:lnSpc>
                <a:spcPct val="100000"/>
              </a:lnSpc>
              <a:buNone/>
            </a:pPr>
            <a:r>
              <a:rPr sz="900" b="0" u="none">
                <a:solidFill>
                  <a:srgbClr val="003C54"/>
                </a:solidFill>
                <a:latin typeface="Calibri"/>
                <a:ea typeface="Calibri"/>
                <a:cs typeface="Calibri"/>
              </a:rPr>
              <a:t>Idempotency prevents reruns from corrupting or double counting output.</a:t>
            </a:r>
          </a:p>
        </p:txBody>
      </p:sp>
      <p:pic>
        <p:nvPicPr>
          <p:cNvPr id="455" name="Image 2"/>
          <p:cNvPicPr>
            <a:picLocks xmlns:a="http://schemas.openxmlformats.org/drawingml/2006/main" noChangeAspect="1"/>
          </p:cNvPicPr>
          <p:nvPr/>
        </p:nvPicPr>
        <p:blipFill>
          <a:blip xmlns:r="http://schemas.openxmlformats.org/officeDocument/2006/relationships" xmlns:a="http://schemas.openxmlformats.org/drawingml/2006/main" r:embed="R4dfbe4039f4e4151"/>
          <a:stretch xmlns:a="http://schemas.openxmlformats.org/drawingml/2006/main"/>
        </p:blipFill>
        <p:spPr>
          <a:xfrm xmlns:a="http://schemas.openxmlformats.org/drawingml/2006/main">
            <a:off x="457200" y="1316880"/>
            <a:ext cx="182520" cy="182520"/>
          </a:xfrm>
          <a:prstGeom xmlns:a="http://schemas.openxmlformats.org/drawingml/2006/main" prst="rect">
            <a:avLst/>
          </a:prstGeom>
        </p:spPr>
      </p:pic>
      <p:sp>
        <p:nvSpPr>
          <p:cNvPr id="456" name="Text 4">
            <a:extLst xmlns:a="http://schemas.openxmlformats.org/drawingml/2006/main">
              <a:ext uri="{FF2B5EF4-FFF2-40B4-BE49-F238E27FC236}">
                <a16:creationId xmlns:a16="http://schemas.microsoft.com/office/drawing/2014/main" id="{82657491-EF89-4DB0-9881-30FB9DC582B8}"/>
              </a:ext>
            </a:extLst>
          </p:cNvPr>
          <p:cNvSpPr>
            <a:spLocks xmlns:a="http://schemas.openxmlformats.org/drawingml/2006/main" noGrp="1"/>
          </p:cNvSpPr>
          <p:nvPr/>
        </p:nvSpPr>
        <p:spPr>
          <a:xfrm xmlns:a="http://schemas.openxmlformats.org/drawingml/2006/main">
            <a:off x="685800" y="131688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3. Answer: B</a:t>
            </a:r>
          </a:p>
          <a:p xmlns:a="http://schemas.openxmlformats.org/drawingml/2006/main">
            <a:pPr>
              <a:lnSpc>
                <a:spcPct val="100000"/>
              </a:lnSpc>
              <a:buNone/>
            </a:pPr>
            <a:r>
              <a:rPr sz="900" b="0" u="none">
                <a:solidFill>
                  <a:srgbClr val="003C54"/>
                </a:solidFill>
                <a:latin typeface="Calibri"/>
                <a:ea typeface="Calibri"/>
                <a:cs typeface="Calibri"/>
              </a:rPr>
              <a:t>A useful RCA records impact, evidence, cause, fix and prevention.</a:t>
            </a:r>
          </a:p>
        </p:txBody>
      </p:sp>
      <p:pic>
        <p:nvPicPr>
          <p:cNvPr id="457" name="Image 3"/>
          <p:cNvPicPr>
            <a:picLocks xmlns:a="http://schemas.openxmlformats.org/drawingml/2006/main" noChangeAspect="1"/>
          </p:cNvPicPr>
          <p:nvPr/>
        </p:nvPicPr>
        <p:blipFill>
          <a:blip xmlns:r="http://schemas.openxmlformats.org/officeDocument/2006/relationships" xmlns:a="http://schemas.openxmlformats.org/drawingml/2006/main" r:embed="R4dfbe4039f4e4151"/>
          <a:stretch xmlns:a="http://schemas.openxmlformats.org/drawingml/2006/main"/>
        </p:blipFill>
        <p:spPr>
          <a:xfrm xmlns:a="http://schemas.openxmlformats.org/drawingml/2006/main">
            <a:off x="457200" y="1609200"/>
            <a:ext cx="182520" cy="182520"/>
          </a:xfrm>
          <a:prstGeom xmlns:a="http://schemas.openxmlformats.org/drawingml/2006/main" prst="rect">
            <a:avLst/>
          </a:prstGeom>
        </p:spPr>
      </p:pic>
      <p:sp>
        <p:nvSpPr>
          <p:cNvPr id="458" name="Text 5">
            <a:extLst xmlns:a="http://schemas.openxmlformats.org/drawingml/2006/main">
              <a:ext uri="{FF2B5EF4-FFF2-40B4-BE49-F238E27FC236}">
                <a16:creationId xmlns:a16="http://schemas.microsoft.com/office/drawing/2014/main" id="{817AE472-F2A1-4105-822E-2E80FAA3A0D7}"/>
              </a:ext>
            </a:extLst>
          </p:cNvPr>
          <p:cNvSpPr>
            <a:spLocks xmlns:a="http://schemas.openxmlformats.org/drawingml/2006/main" noGrp="1"/>
          </p:cNvSpPr>
          <p:nvPr/>
        </p:nvSpPr>
        <p:spPr>
          <a:xfrm xmlns:a="http://schemas.openxmlformats.org/drawingml/2006/main">
            <a:off x="685800" y="160920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4. Answer: A</a:t>
            </a:r>
          </a:p>
          <a:p xmlns:a="http://schemas.openxmlformats.org/drawingml/2006/main">
            <a:pPr>
              <a:lnSpc>
                <a:spcPct val="100000"/>
              </a:lnSpc>
              <a:buNone/>
            </a:pPr>
            <a:r>
              <a:rPr sz="900" b="0" u="none">
                <a:solidFill>
                  <a:srgbClr val="003C54"/>
                </a:solidFill>
                <a:latin typeface="Calibri"/>
                <a:ea typeface="Calibri"/>
                <a:cs typeface="Calibri"/>
              </a:rPr>
              <a:t>Growing lag indicates a throughput or processing blockage to investigate.</a:t>
            </a:r>
          </a:p>
        </p:txBody>
      </p:sp>
      <p:pic>
        <p:nvPicPr>
          <p:cNvPr id="459" name="Image 4"/>
          <p:cNvPicPr>
            <a:picLocks xmlns:a="http://schemas.openxmlformats.org/drawingml/2006/main" noChangeAspect="1"/>
          </p:cNvPicPr>
          <p:nvPr/>
        </p:nvPicPr>
        <p:blipFill>
          <a:blip xmlns:r="http://schemas.openxmlformats.org/officeDocument/2006/relationships" xmlns:a="http://schemas.openxmlformats.org/drawingml/2006/main" r:embed="R4dfbe4039f4e4151"/>
          <a:stretch xmlns:a="http://schemas.openxmlformats.org/drawingml/2006/main"/>
        </p:blipFill>
        <p:spPr>
          <a:xfrm xmlns:a="http://schemas.openxmlformats.org/drawingml/2006/main">
            <a:off x="457200" y="1901880"/>
            <a:ext cx="182520" cy="182520"/>
          </a:xfrm>
          <a:prstGeom xmlns:a="http://schemas.openxmlformats.org/drawingml/2006/main" prst="rect">
            <a:avLst/>
          </a:prstGeom>
        </p:spPr>
      </p:pic>
      <p:sp>
        <p:nvSpPr>
          <p:cNvPr id="460" name="Text 6">
            <a:extLst xmlns:a="http://schemas.openxmlformats.org/drawingml/2006/main">
              <a:ext uri="{FF2B5EF4-FFF2-40B4-BE49-F238E27FC236}">
                <a16:creationId xmlns:a16="http://schemas.microsoft.com/office/drawing/2014/main" id="{AB2F60F7-9A96-4DE8-9D3A-B1B106254593}"/>
              </a:ext>
            </a:extLst>
          </p:cNvPr>
          <p:cNvSpPr>
            <a:spLocks xmlns:a="http://schemas.openxmlformats.org/drawingml/2006/main" noGrp="1"/>
          </p:cNvSpPr>
          <p:nvPr/>
        </p:nvSpPr>
        <p:spPr>
          <a:xfrm xmlns:a="http://schemas.openxmlformats.org/drawingml/2006/main">
            <a:off x="685800" y="190188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5. Answer: B</a:t>
            </a:r>
          </a:p>
          <a:p xmlns:a="http://schemas.openxmlformats.org/drawingml/2006/main">
            <a:pPr>
              <a:lnSpc>
                <a:spcPct val="100000"/>
              </a:lnSpc>
              <a:buNone/>
            </a:pPr>
            <a:r>
              <a:rPr sz="900" b="0" u="none">
                <a:solidFill>
                  <a:srgbClr val="003C54"/>
                </a:solidFill>
                <a:latin typeface="Calibri"/>
                <a:ea typeface="Calibri"/>
                <a:cs typeface="Calibri"/>
              </a:rPr>
              <a:t>Recovery is proven with advancing, correct output and safe rerun behavior.</a:t>
            </a:r>
          </a:p>
        </p:txBody>
      </p:sp>
      <p:pic>
        <p:nvPicPr>
          <p:cNvPr id="461" name="Image 5"/>
          <p:cNvPicPr>
            <a:picLocks xmlns:a="http://schemas.openxmlformats.org/drawingml/2006/main" noChangeAspect="1"/>
          </p:cNvPicPr>
          <p:nvPr/>
        </p:nvPicPr>
        <p:blipFill>
          <a:blip xmlns:r="http://schemas.openxmlformats.org/officeDocument/2006/relationships" xmlns:a="http://schemas.openxmlformats.org/drawingml/2006/main" r:embed="R4dfbe4039f4e4151"/>
          <a:stretch xmlns:a="http://schemas.openxmlformats.org/drawingml/2006/main"/>
        </p:blipFill>
        <p:spPr>
          <a:xfrm xmlns:a="http://schemas.openxmlformats.org/drawingml/2006/main">
            <a:off x="457200" y="2194560"/>
            <a:ext cx="182520" cy="182520"/>
          </a:xfrm>
          <a:prstGeom xmlns:a="http://schemas.openxmlformats.org/drawingml/2006/main" prst="rect">
            <a:avLst/>
          </a:prstGeom>
        </p:spPr>
      </p:pic>
      <p:sp>
        <p:nvSpPr>
          <p:cNvPr id="462" name="Text 7">
            <a:extLst xmlns:a="http://schemas.openxmlformats.org/drawingml/2006/main">
              <a:ext uri="{FF2B5EF4-FFF2-40B4-BE49-F238E27FC236}">
                <a16:creationId xmlns:a16="http://schemas.microsoft.com/office/drawing/2014/main" id="{713C80A1-DCBF-4335-ABA8-D4288AE3A2BB}"/>
              </a:ext>
            </a:extLst>
          </p:cNvPr>
          <p:cNvSpPr>
            <a:spLocks xmlns:a="http://schemas.openxmlformats.org/drawingml/2006/main" noGrp="1"/>
          </p:cNvSpPr>
          <p:nvPr/>
        </p:nvSpPr>
        <p:spPr>
          <a:xfrm xmlns:a="http://schemas.openxmlformats.org/drawingml/2006/main">
            <a:off x="685800" y="219456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900" b="0" u="none">
                <a:solidFill>
                  <a:srgbClr val="003C54"/>
                </a:solidFill>
                <a:latin typeface="Calibri"/>
                <a:ea typeface="Calibri"/>
                <a:cs typeface="Calibri"/>
              </a:rPr>
              <a:t>6. Answer: A</a:t>
            </a:r>
          </a:p>
          <a:p xmlns:a="http://schemas.openxmlformats.org/drawingml/2006/main">
            <a:pPr>
              <a:lnSpc>
                <a:spcPct val="100000"/>
              </a:lnSpc>
              <a:buNone/>
            </a:pPr>
            <a:r>
              <a:rPr sz="900" b="0" u="none">
                <a:solidFill>
                  <a:srgbClr val="003C54"/>
                </a:solidFill>
                <a:latin typeface="Calibri"/>
                <a:ea typeface="Calibri"/>
                <a:cs typeface="Calibri"/>
              </a:rPr>
              <a:t>Capacity decisions require measurable load, throughput and retention facts.</a:t>
            </a:r>
          </a:p>
        </p:txBody>
      </p:sp>
      <p:sp>
        <p:nvSpPr>
          <p:cNvPr id="463" name="Text 8">
            <a:extLst xmlns:a="http://schemas.openxmlformats.org/drawingml/2006/main">
              <a:ext uri="{FF2B5EF4-FFF2-40B4-BE49-F238E27FC236}">
                <a16:creationId xmlns:a16="http://schemas.microsoft.com/office/drawing/2014/main" id="{78DE9FF8-1889-4E2E-A98E-9A4CB01ED4F8}"/>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p>
        </p:txBody>
      </p:sp>
    </p:spTree>
    <p:extLst>
      <p:ext uri="{BB962C8B-B14F-4D97-AF65-F5344CB8AC3E}">
        <p14:creationId xmlns:p14="http://schemas.microsoft.com/office/powerpoint/2010/main" val="1707592680"/>
      </p:ext>
    </p:extLst>
  </p:cSld>
</p:sld>
</file>

<file path=ppt/slides/slide32.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464" name="Shape 0">
            <a:extLst xmlns:a="http://schemas.openxmlformats.org/drawingml/2006/main">
              <a:ext uri="{FF2B5EF4-FFF2-40B4-BE49-F238E27FC236}">
                <a16:creationId xmlns:a16="http://schemas.microsoft.com/office/drawing/2014/main" id="{08DCE079-ED35-47FB-89F4-318FFF2B7087}"/>
              </a:ext>
            </a:extLst>
          </p:cNvPr>
          <p:cNvSpPr>
            <a:spLocks xmlns:a="http://schemas.openxmlformats.org/drawingml/2006/main" noGrp="1"/>
          </p:cNvSpPr>
          <p:nvPr/>
        </p:nvSpPr>
        <p:spPr>
          <a:xfrm xmlns:a="http://schemas.openxmlformats.org/drawingml/2006/main">
            <a:off x="0" y="0"/>
            <a:ext cx="9143640" cy="4568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p:txBody>
      </p:sp>
      <p:sp>
        <p:nvSpPr>
          <p:cNvPr id="465" name="Text 1">
            <a:extLst xmlns:a="http://schemas.openxmlformats.org/drawingml/2006/main">
              <a:ext uri="{FF2B5EF4-FFF2-40B4-BE49-F238E27FC236}">
                <a16:creationId xmlns:a16="http://schemas.microsoft.com/office/drawing/2014/main" id="{913FB263-0F0B-4535-8E1A-D0F2534F1662}"/>
              </a:ext>
            </a:extLst>
          </p:cNvPr>
          <p:cNvSpPr>
            <a:spLocks xmlns:a="http://schemas.openxmlformats.org/drawingml/2006/main" noGrp="1"/>
          </p:cNvSpPr>
          <p:nvPr/>
        </p:nvSpPr>
        <p:spPr>
          <a:xfrm xmlns:a="http://schemas.openxmlformats.org/drawingml/2006/main">
            <a:off x="457200" y="91440"/>
            <a:ext cx="82292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nSpc>
                <a:spcPct val="100000"/>
              </a:lnSpc>
              <a:buNone/>
            </a:pPr>
            <a:r>
              <a:rPr sz="2000" b="1" u="none">
                <a:solidFill>
                  <a:srgbClr val="FFFFFF"/>
                </a:solidFill>
                <a:latin typeface="Calibri"/>
                <a:ea typeface="Calibri"/>
                <a:cs typeface="Calibri"/>
              </a:rPr>
              <a:t>Recap &amp; Next Steps</a:t>
            </a:r>
          </a:p>
        </p:txBody>
      </p:sp>
      <p:sp>
        <p:nvSpPr>
          <p:cNvPr id="466" name="Text 2">
            <a:extLst xmlns:a="http://schemas.openxmlformats.org/drawingml/2006/main">
              <a:ext uri="{FF2B5EF4-FFF2-40B4-BE49-F238E27FC236}">
                <a16:creationId xmlns:a16="http://schemas.microsoft.com/office/drawing/2014/main" id="{5A6075D0-5888-40D3-9BB2-75996EDD1EE6}"/>
              </a:ext>
            </a:extLst>
          </p:cNvPr>
          <p:cNvSpPr>
            <a:spLocks xmlns:a="http://schemas.openxmlformats.org/drawingml/2006/main" noGrp="1"/>
          </p:cNvSpPr>
          <p:nvPr/>
        </p:nvSpPr>
        <p:spPr>
          <a:xfrm xmlns:a="http://schemas.openxmlformats.org/drawingml/2006/main">
            <a:off x="457200" y="731520"/>
            <a:ext cx="8229240" cy="22856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r>
              <a:rPr sz="1400" b="1" u="none">
                <a:solidFill>
                  <a:srgbClr val="003C54"/>
                </a:solidFill>
                <a:latin typeface="Calibri"/>
                <a:ea typeface="Calibri"/>
                <a:cs typeface="Calibri"/>
              </a:rPr>
              <a:t>Today</a:t>
            </a:r>
          </a:p>
          <a:p xmlns:a="http://schemas.openxmlformats.org/drawingml/2006/main">
            <a:r>
              <a:rPr sz="1000" b="0" u="none">
                <a:solidFill>
                  <a:srgbClr val="003C54"/>
                </a:solidFill>
                <a:latin typeface="Calibri"/>
                <a:ea typeface="Calibri"/>
                <a:cs typeface="Calibri"/>
              </a:rPr>
              <a:t>- Used a small streaming workload to establish a healthy baseline.</a:t>
            </a:r>
          </a:p>
          <a:p xmlns:a="http://schemas.openxmlformats.org/drawingml/2006/main">
            <a:r>
              <a:rPr sz="1000" b="0" u="none">
                <a:solidFill>
                  <a:srgbClr val="003C54"/>
                </a:solidFill>
                <a:latin typeface="Calibri"/>
                <a:ea typeface="Calibri"/>
                <a:cs typeface="Calibri"/>
              </a:rPr>
              <a:t>- Investigated service logs, consumer progress, lag and output freshness.</a:t>
            </a:r>
          </a:p>
          <a:p xmlns:a="http://schemas.openxmlformats.org/drawingml/2006/main">
            <a:r>
              <a:rPr sz="1000" b="0" u="none">
                <a:solidFill>
                  <a:srgbClr val="003C54"/>
                </a:solidFill>
                <a:latin typeface="Calibri"/>
                <a:ea typeface="Calibri"/>
                <a:cs typeface="Calibri"/>
              </a:rPr>
              <a:t>- Connected idempotent recovery and capacity choices to operational readiness.</a:t>
            </a:r>
          </a:p>
          <a:p xmlns:a="http://schemas.openxmlformats.org/drawingml/2006/main">
            <a:r>
              <a:rPr sz="1000" b="0" u="none">
                <a:solidFill>
                  <a:srgbClr val="003C54"/>
                </a:solidFill>
                <a:latin typeface="Calibri"/>
                <a:ea typeface="Calibri"/>
                <a:cs typeface="Calibri"/>
              </a:rPr>
              <a:t>- Produced an incident/RCA evidence checklist rather than another feature demo.</a:t>
            </a:r>
          </a:p>
          <a:p xmlns:a="http://schemas.openxmlformats.org/drawingml/2006/main">
            <a:r>
              <a:rPr sz="1000" b="0" u="none">
                <a:solidFill>
                  <a:srgbClr val="003C54"/>
                </a:solidFill>
                <a:latin typeface="Calibri"/>
                <a:ea typeface="Calibri"/>
                <a:cs typeface="Calibri"/>
              </a:rPr>
              <a:t/>
            </a:r>
          </a:p>
          <a:p xmlns:a="http://schemas.openxmlformats.org/drawingml/2006/main">
            <a:r>
              <a:t>Next</a:t>
            </a:r>
          </a:p>
          <a:p xmlns:a="http://schemas.openxmlformats.org/drawingml/2006/main">
            <a:r>
              <a:rPr sz="1400" b="1" u="none">
                <a:solidFill>
                  <a:srgbClr val="003C54"/>
                </a:solidFill>
                <a:latin typeface="Calibri"/>
                <a:ea typeface="Calibri"/>
                <a:cs typeface="Calibri"/>
              </a:rPr>
              <a:t>Day 10 combines the pipeline components and proves Gold-layer consumption with a final dashboard deliverable.</a:t>
            </a:r>
          </a:p>
        </p:txBody>
      </p:sp>
      <p:sp>
        <p:nvSpPr>
          <p:cNvPr id="467" name="Text 3">
            <a:extLst xmlns:a="http://schemas.openxmlformats.org/drawingml/2006/main">
              <a:ext uri="{FF2B5EF4-FFF2-40B4-BE49-F238E27FC236}">
                <a16:creationId xmlns:a16="http://schemas.microsoft.com/office/drawing/2014/main" id="{D4A4ED69-38DD-41C4-8621-9C84CE192CA5}"/>
              </a:ext>
            </a:extLst>
          </p:cNvPr>
          <p:cNvSpPr>
            <a:spLocks xmlns:a="http://schemas.openxmlformats.org/drawingml/2006/main" noGrp="1"/>
          </p:cNvSpPr>
          <p:nvPr/>
        </p:nvSpPr>
        <p:spPr>
          <a:xfrm xmlns:a="http://schemas.openxmlformats.org/drawingml/2006/main">
            <a:off x="457200" y="4892040"/>
            <a:ext cx="8229240" cy="18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nSpc>
                <a:spcPct val="100000"/>
              </a:lnSpc>
              <a:buNone/>
            </a:pPr>
            <a:r>
              <a:rPr sz="600" b="0" u="sng">
                <a:solidFill>
                  <a:srgbClr val="0066CC"/>
                </a:solidFill>
                <a:latin typeface="Calibri"/>
                <a:ea typeface="Calibri"/>
                <a:cs typeface="Calibri"/>
                <a:hlinkClick xmlns:r="http://schemas.openxmlformats.org/officeDocument/2006/relationships" r:id="Ra32b9a07ae80463c"/>
              </a:rPr>
              <a:t>[1]</a:t>
            </a:r>
            <a:r>
              <a:rPr sz="600" b="0" u="none">
                <a:solidFill>
                  <a:srgbClr val="000000"/>
                </a:solidFill>
                <a:latin typeface="Calibri"/>
                <a:ea typeface="Calibri"/>
                <a:cs typeface="Calibri"/>
              </a:rPr>
              <a:t>   </a:t>
            </a:r>
            <a:r>
              <a:rPr sz="600" b="0" u="sng">
                <a:solidFill>
                  <a:srgbClr val="0066CC"/>
                </a:solidFill>
                <a:latin typeface="Calibri"/>
                <a:ea typeface="Calibri"/>
                <a:cs typeface="Calibri"/>
                <a:hlinkClick xmlns:r="http://schemas.openxmlformats.org/officeDocument/2006/relationships" r:id="R68bb3dfe8c6647f8"/>
              </a:rPr>
              <a:t>[2]</a:t>
            </a:r>
          </a:p>
        </p:txBody>
      </p:sp>
    </p:spTree>
    <p:extLst>
      <p:ext uri="{BB962C8B-B14F-4D97-AF65-F5344CB8AC3E}">
        <p14:creationId xmlns:p14="http://schemas.microsoft.com/office/powerpoint/2010/main" val="920613661"/>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600206305"/>
      </p:ext>
    </p:extLst>
  </p:cSld>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dk1"/>
        </a:solidFill>
        <a:solidFill>
          <a:schemeClr val="accent1"/>
        </a:soli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2026-05-26T10:17:53.2390000Z</dcterms:created>
  <dcterms:modified xsi:type="dcterms:W3CDTF">2026-05-26T10:17:53.2390000Z</dcterms:modified>
</coreProperties>
</file>