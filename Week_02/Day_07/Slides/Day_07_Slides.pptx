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6"/>
  </p:notesMasterIdLst>
  <p:sldIdLst>
    <p:sldId id="256" r:id="rId2"/>
    <p:sldId id="257" r:id="rId3"/>
    <p:sldId id="258" r:id="rId4"/>
    <p:sldId id="259" r:id="rId5"/>
    <p:sldId id="260" r:id="rId6"/>
    <p:sldId id="261" r:id="rId7"/>
    <p:sldId id="262" r:id="rId8"/>
    <p:sldId id="263" r:id="rId9"/>
    <p:sldId id="264" r:id="rId10"/>
    <p:sldId id="265" r:id="rId11"/>
    <p:sldId id="399" r:id="rId12"/>
    <p:sldId id="268" r:id="rId13"/>
    <p:sldId id="397" r:id="rId14"/>
    <p:sldId id="398" r:id="rId15"/>
    <p:sldId id="266" r:id="rId16"/>
    <p:sldId id="267" r:id="rId17"/>
    <p:sldId id="269" r:id="rId18"/>
    <p:sldId id="270" r:id="rId19"/>
    <p:sldId id="271" r:id="rId20"/>
    <p:sldId id="282" r:id="rId21"/>
    <p:sldId id="283" r:id="rId22"/>
    <p:sldId id="400" r:id="rId23"/>
    <p:sldId id="401" r:id="rId24"/>
    <p:sldId id="272" r:id="rId25"/>
    <p:sldId id="402" r:id="rId26"/>
    <p:sldId id="273" r:id="rId27"/>
    <p:sldId id="274" r:id="rId28"/>
    <p:sldId id="275" r:id="rId29"/>
    <p:sldId id="276" r:id="rId30"/>
    <p:sldId id="277" r:id="rId31"/>
    <p:sldId id="278" r:id="rId32"/>
    <p:sldId id="279" r:id="rId33"/>
    <p:sldId id="280" r:id="rId34"/>
    <p:sldId id="281" r:id="rId35"/>
    <p:sldId id="284" r:id="rId36"/>
    <p:sldId id="285" r:id="rId37"/>
    <p:sldId id="286" r:id="rId38"/>
    <p:sldId id="287" r:id="rId39"/>
    <p:sldId id="288" r:id="rId40"/>
    <p:sldId id="289" r:id="rId41"/>
    <p:sldId id="290" r:id="rId42"/>
    <p:sldId id="291" r:id="rId43"/>
    <p:sldId id="292" r:id="rId44"/>
    <p:sldId id="294" r:id="rId45"/>
    <p:sldId id="295" r:id="rId46"/>
    <p:sldId id="299" r:id="rId47"/>
    <p:sldId id="296" r:id="rId48"/>
    <p:sldId id="297" r:id="rId49"/>
    <p:sldId id="298"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90" r:id="rId139"/>
    <p:sldId id="404" r:id="rId140"/>
    <p:sldId id="403" r:id="rId141"/>
    <p:sldId id="391" r:id="rId142"/>
    <p:sldId id="392" r:id="rId143"/>
    <p:sldId id="393" r:id="rId144"/>
    <p:sldId id="394" r:id="rId14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758D23-D6AB-423F-87DB-E4E41A126FFD}" v="96" dt="2026-06-09T02:06:01.2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66" d="100"/>
          <a:sy n="66" d="100"/>
        </p:scale>
        <p:origin x="1280" y="1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theme" Target="theme/theme1.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microsoft.com/office/2016/11/relationships/changesInfo" Target="changesInfos/changesInfo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Quidzohar Morbiwala" userId="f81cb7ee-5d40-432c-afb4-7a45cdcbf1f0" providerId="ADAL" clId="{18C95B19-C288-47ED-99FD-F2B82B1F8389}"/>
    <pc:docChg chg="undo custSel mod addSld delSld modSld sldOrd modMainMaster">
      <pc:chgData name="Quidzohar Morbiwala" userId="f81cb7ee-5d40-432c-afb4-7a45cdcbf1f0" providerId="ADAL" clId="{18C95B19-C288-47ED-99FD-F2B82B1F8389}" dt="2026-06-09T02:06:08.827" v="603" actId="20577"/>
      <pc:docMkLst>
        <pc:docMk/>
      </pc:docMkLst>
      <pc:sldChg chg="modSp mod">
        <pc:chgData name="Quidzohar Morbiwala" userId="f81cb7ee-5d40-432c-afb4-7a45cdcbf1f0" providerId="ADAL" clId="{18C95B19-C288-47ED-99FD-F2B82B1F8389}" dt="2026-06-09T00:49:42.880" v="0" actId="20577"/>
        <pc:sldMkLst>
          <pc:docMk/>
          <pc:sldMk cId="0" sldId="266"/>
        </pc:sldMkLst>
        <pc:spChg chg="mod">
          <ac:chgData name="Quidzohar Morbiwala" userId="f81cb7ee-5d40-432c-afb4-7a45cdcbf1f0" providerId="ADAL" clId="{18C95B19-C288-47ED-99FD-F2B82B1F8389}" dt="2026-06-09T00:49:42.880" v="0" actId="20577"/>
          <ac:spMkLst>
            <pc:docMk/>
            <pc:sldMk cId="0" sldId="266"/>
            <ac:spMk id="3" creationId="{00000000-0000-0000-0000-000000000000}"/>
          </ac:spMkLst>
        </pc:spChg>
      </pc:sldChg>
      <pc:sldChg chg="ord">
        <pc:chgData name="Quidzohar Morbiwala" userId="f81cb7ee-5d40-432c-afb4-7a45cdcbf1f0" providerId="ADAL" clId="{18C95B19-C288-47ED-99FD-F2B82B1F8389}" dt="2026-06-09T00:59:24.058" v="86"/>
        <pc:sldMkLst>
          <pc:docMk/>
          <pc:sldMk cId="0" sldId="268"/>
        </pc:sldMkLst>
      </pc:sldChg>
      <pc:sldChg chg="addSp delSp modSp mod">
        <pc:chgData name="Quidzohar Morbiwala" userId="f81cb7ee-5d40-432c-afb4-7a45cdcbf1f0" providerId="ADAL" clId="{18C95B19-C288-47ED-99FD-F2B82B1F8389}" dt="2026-06-09T01:10:52.757" v="136" actId="14100"/>
        <pc:sldMkLst>
          <pc:docMk/>
          <pc:sldMk cId="0" sldId="270"/>
        </pc:sldMkLst>
        <pc:spChg chg="mod">
          <ac:chgData name="Quidzohar Morbiwala" userId="f81cb7ee-5d40-432c-afb4-7a45cdcbf1f0" providerId="ADAL" clId="{18C95B19-C288-47ED-99FD-F2B82B1F8389}" dt="2026-06-09T01:10:09.446" v="128" actId="1076"/>
          <ac:spMkLst>
            <pc:docMk/>
            <pc:sldMk cId="0" sldId="270"/>
            <ac:spMk id="4" creationId="{00000000-0000-0000-0000-000000000000}"/>
          </ac:spMkLst>
        </pc:spChg>
        <pc:spChg chg="add del">
          <ac:chgData name="Quidzohar Morbiwala" userId="f81cb7ee-5d40-432c-afb4-7a45cdcbf1f0" providerId="ADAL" clId="{18C95B19-C288-47ED-99FD-F2B82B1F8389}" dt="2026-06-09T01:10:17.281" v="130" actId="478"/>
          <ac:spMkLst>
            <pc:docMk/>
            <pc:sldMk cId="0" sldId="270"/>
            <ac:spMk id="5" creationId="{00000000-0000-0000-0000-000000000000}"/>
          </ac:spMkLst>
        </pc:spChg>
        <pc:spChg chg="del">
          <ac:chgData name="Quidzohar Morbiwala" userId="f81cb7ee-5d40-432c-afb4-7a45cdcbf1f0" providerId="ADAL" clId="{18C95B19-C288-47ED-99FD-F2B82B1F8389}" dt="2026-06-09T01:10:24.634" v="131" actId="478"/>
          <ac:spMkLst>
            <pc:docMk/>
            <pc:sldMk cId="0" sldId="270"/>
            <ac:spMk id="8" creationId="{00000000-0000-0000-0000-000000000000}"/>
          </ac:spMkLst>
        </pc:spChg>
        <pc:spChg chg="del">
          <ac:chgData name="Quidzohar Morbiwala" userId="f81cb7ee-5d40-432c-afb4-7a45cdcbf1f0" providerId="ADAL" clId="{18C95B19-C288-47ED-99FD-F2B82B1F8389}" dt="2026-06-09T01:10:24.634" v="131" actId="478"/>
          <ac:spMkLst>
            <pc:docMk/>
            <pc:sldMk cId="0" sldId="270"/>
            <ac:spMk id="9" creationId="{00000000-0000-0000-0000-000000000000}"/>
          </ac:spMkLst>
        </pc:spChg>
        <pc:spChg chg="del">
          <ac:chgData name="Quidzohar Morbiwala" userId="f81cb7ee-5d40-432c-afb4-7a45cdcbf1f0" providerId="ADAL" clId="{18C95B19-C288-47ED-99FD-F2B82B1F8389}" dt="2026-06-09T01:10:24.634" v="131" actId="478"/>
          <ac:spMkLst>
            <pc:docMk/>
            <pc:sldMk cId="0" sldId="270"/>
            <ac:spMk id="10" creationId="{00000000-0000-0000-0000-000000000000}"/>
          </ac:spMkLst>
        </pc:spChg>
        <pc:spChg chg="del">
          <ac:chgData name="Quidzohar Morbiwala" userId="f81cb7ee-5d40-432c-afb4-7a45cdcbf1f0" providerId="ADAL" clId="{18C95B19-C288-47ED-99FD-F2B82B1F8389}" dt="2026-06-09T01:10:24.634" v="131" actId="478"/>
          <ac:spMkLst>
            <pc:docMk/>
            <pc:sldMk cId="0" sldId="270"/>
            <ac:spMk id="17" creationId="{00000000-0000-0000-0000-000000000000}"/>
          </ac:spMkLst>
        </pc:spChg>
        <pc:spChg chg="del">
          <ac:chgData name="Quidzohar Morbiwala" userId="f81cb7ee-5d40-432c-afb4-7a45cdcbf1f0" providerId="ADAL" clId="{18C95B19-C288-47ED-99FD-F2B82B1F8389}" dt="2026-06-09T01:10:24.634" v="131" actId="478"/>
          <ac:spMkLst>
            <pc:docMk/>
            <pc:sldMk cId="0" sldId="270"/>
            <ac:spMk id="20" creationId="{00000000-0000-0000-0000-000000000000}"/>
          </ac:spMkLst>
        </pc:spChg>
        <pc:spChg chg="del">
          <ac:chgData name="Quidzohar Morbiwala" userId="f81cb7ee-5d40-432c-afb4-7a45cdcbf1f0" providerId="ADAL" clId="{18C95B19-C288-47ED-99FD-F2B82B1F8389}" dt="2026-06-09T01:10:24.634" v="131" actId="478"/>
          <ac:spMkLst>
            <pc:docMk/>
            <pc:sldMk cId="0" sldId="270"/>
            <ac:spMk id="21" creationId="{00000000-0000-0000-0000-000000000000}"/>
          </ac:spMkLst>
        </pc:spChg>
        <pc:spChg chg="del mod">
          <ac:chgData name="Quidzohar Morbiwala" userId="f81cb7ee-5d40-432c-afb4-7a45cdcbf1f0" providerId="ADAL" clId="{18C95B19-C288-47ED-99FD-F2B82B1F8389}" dt="2026-06-09T01:10:24.634" v="131" actId="478"/>
          <ac:spMkLst>
            <pc:docMk/>
            <pc:sldMk cId="0" sldId="270"/>
            <ac:spMk id="27" creationId="{00000000-0000-0000-0000-000000000000}"/>
          </ac:spMkLst>
        </pc:spChg>
        <pc:spChg chg="del">
          <ac:chgData name="Quidzohar Morbiwala" userId="f81cb7ee-5d40-432c-afb4-7a45cdcbf1f0" providerId="ADAL" clId="{18C95B19-C288-47ED-99FD-F2B82B1F8389}" dt="2026-06-09T01:10:24.634" v="131" actId="478"/>
          <ac:spMkLst>
            <pc:docMk/>
            <pc:sldMk cId="0" sldId="270"/>
            <ac:spMk id="28" creationId="{00000000-0000-0000-0000-000000000000}"/>
          </ac:spMkLst>
        </pc:spChg>
        <pc:spChg chg="del">
          <ac:chgData name="Quidzohar Morbiwala" userId="f81cb7ee-5d40-432c-afb4-7a45cdcbf1f0" providerId="ADAL" clId="{18C95B19-C288-47ED-99FD-F2B82B1F8389}" dt="2026-06-09T01:10:24.634" v="131" actId="478"/>
          <ac:spMkLst>
            <pc:docMk/>
            <pc:sldMk cId="0" sldId="270"/>
            <ac:spMk id="30" creationId="{00000000-0000-0000-0000-000000000000}"/>
          </ac:spMkLst>
        </pc:spChg>
        <pc:spChg chg="del">
          <ac:chgData name="Quidzohar Morbiwala" userId="f81cb7ee-5d40-432c-afb4-7a45cdcbf1f0" providerId="ADAL" clId="{18C95B19-C288-47ED-99FD-F2B82B1F8389}" dt="2026-06-09T01:10:24.634" v="131" actId="478"/>
          <ac:spMkLst>
            <pc:docMk/>
            <pc:sldMk cId="0" sldId="270"/>
            <ac:spMk id="35" creationId="{00000000-0000-0000-0000-000000000000}"/>
          </ac:spMkLst>
        </pc:spChg>
        <pc:spChg chg="add">
          <ac:chgData name="Quidzohar Morbiwala" userId="f81cb7ee-5d40-432c-afb4-7a45cdcbf1f0" providerId="ADAL" clId="{18C95B19-C288-47ED-99FD-F2B82B1F8389}" dt="2026-06-09T01:10:27.436" v="132"/>
          <ac:spMkLst>
            <pc:docMk/>
            <pc:sldMk cId="0" sldId="270"/>
            <ac:spMk id="38" creationId="{FB37600A-37D6-B1AC-A6AC-83FD4830F50F}"/>
          </ac:spMkLst>
        </pc:spChg>
        <pc:picChg chg="add mod">
          <ac:chgData name="Quidzohar Morbiwala" userId="f81cb7ee-5d40-432c-afb4-7a45cdcbf1f0" providerId="ADAL" clId="{18C95B19-C288-47ED-99FD-F2B82B1F8389}" dt="2026-06-09T01:10:52.757" v="136" actId="14100"/>
          <ac:picMkLst>
            <pc:docMk/>
            <pc:sldMk cId="0" sldId="270"/>
            <ac:picMk id="4100" creationId="{872ADAE0-D923-D52C-76C0-1C490D14F4A8}"/>
          </ac:picMkLst>
        </pc:picChg>
      </pc:sldChg>
      <pc:sldChg chg="addSp delSp modSp add del mod">
        <pc:chgData name="Quidzohar Morbiwala" userId="f81cb7ee-5d40-432c-afb4-7a45cdcbf1f0" providerId="ADAL" clId="{18C95B19-C288-47ED-99FD-F2B82B1F8389}" dt="2026-06-09T01:37:08.215" v="493" actId="14100"/>
        <pc:sldMkLst>
          <pc:docMk/>
          <pc:sldMk cId="0" sldId="272"/>
        </pc:sldMkLst>
        <pc:spChg chg="del">
          <ac:chgData name="Quidzohar Morbiwala" userId="f81cb7ee-5d40-432c-afb4-7a45cdcbf1f0" providerId="ADAL" clId="{18C95B19-C288-47ED-99FD-F2B82B1F8389}" dt="2026-06-09T01:36:32.926" v="489" actId="478"/>
          <ac:spMkLst>
            <pc:docMk/>
            <pc:sldMk cId="0" sldId="272"/>
            <ac:spMk id="5" creationId="{00000000-0000-0000-0000-000000000000}"/>
          </ac:spMkLst>
        </pc:spChg>
        <pc:spChg chg="del">
          <ac:chgData name="Quidzohar Morbiwala" userId="f81cb7ee-5d40-432c-afb4-7a45cdcbf1f0" providerId="ADAL" clId="{18C95B19-C288-47ED-99FD-F2B82B1F8389}" dt="2026-06-09T01:36:32.926" v="489" actId="478"/>
          <ac:spMkLst>
            <pc:docMk/>
            <pc:sldMk cId="0" sldId="272"/>
            <ac:spMk id="6" creationId="{00000000-0000-0000-0000-000000000000}"/>
          </ac:spMkLst>
        </pc:spChg>
        <pc:spChg chg="del">
          <ac:chgData name="Quidzohar Morbiwala" userId="f81cb7ee-5d40-432c-afb4-7a45cdcbf1f0" providerId="ADAL" clId="{18C95B19-C288-47ED-99FD-F2B82B1F8389}" dt="2026-06-09T01:36:32.926" v="489" actId="478"/>
          <ac:spMkLst>
            <pc:docMk/>
            <pc:sldMk cId="0" sldId="272"/>
            <ac:spMk id="7" creationId="{00000000-0000-0000-0000-000000000000}"/>
          </ac:spMkLst>
        </pc:spChg>
        <pc:spChg chg="del">
          <ac:chgData name="Quidzohar Morbiwala" userId="f81cb7ee-5d40-432c-afb4-7a45cdcbf1f0" providerId="ADAL" clId="{18C95B19-C288-47ED-99FD-F2B82B1F8389}" dt="2026-06-09T01:36:32.926" v="489" actId="478"/>
          <ac:spMkLst>
            <pc:docMk/>
            <pc:sldMk cId="0" sldId="272"/>
            <ac:spMk id="8" creationId="{00000000-0000-0000-0000-000000000000}"/>
          </ac:spMkLst>
        </pc:spChg>
        <pc:spChg chg="del">
          <ac:chgData name="Quidzohar Morbiwala" userId="f81cb7ee-5d40-432c-afb4-7a45cdcbf1f0" providerId="ADAL" clId="{18C95B19-C288-47ED-99FD-F2B82B1F8389}" dt="2026-06-09T01:36:32.926" v="489" actId="478"/>
          <ac:spMkLst>
            <pc:docMk/>
            <pc:sldMk cId="0" sldId="272"/>
            <ac:spMk id="9" creationId="{00000000-0000-0000-0000-000000000000}"/>
          </ac:spMkLst>
        </pc:spChg>
        <pc:spChg chg="del">
          <ac:chgData name="Quidzohar Morbiwala" userId="f81cb7ee-5d40-432c-afb4-7a45cdcbf1f0" providerId="ADAL" clId="{18C95B19-C288-47ED-99FD-F2B82B1F8389}" dt="2026-06-09T01:36:32.926" v="489" actId="478"/>
          <ac:spMkLst>
            <pc:docMk/>
            <pc:sldMk cId="0" sldId="272"/>
            <ac:spMk id="10" creationId="{00000000-0000-0000-0000-000000000000}"/>
          </ac:spMkLst>
        </pc:spChg>
        <pc:spChg chg="del">
          <ac:chgData name="Quidzohar Morbiwala" userId="f81cb7ee-5d40-432c-afb4-7a45cdcbf1f0" providerId="ADAL" clId="{18C95B19-C288-47ED-99FD-F2B82B1F8389}" dt="2026-06-09T01:36:32.926" v="489" actId="478"/>
          <ac:spMkLst>
            <pc:docMk/>
            <pc:sldMk cId="0" sldId="272"/>
            <ac:spMk id="11" creationId="{00000000-0000-0000-0000-000000000000}"/>
          </ac:spMkLst>
        </pc:spChg>
        <pc:spChg chg="del">
          <ac:chgData name="Quidzohar Morbiwala" userId="f81cb7ee-5d40-432c-afb4-7a45cdcbf1f0" providerId="ADAL" clId="{18C95B19-C288-47ED-99FD-F2B82B1F8389}" dt="2026-06-09T01:36:32.926" v="489" actId="478"/>
          <ac:spMkLst>
            <pc:docMk/>
            <pc:sldMk cId="0" sldId="272"/>
            <ac:spMk id="12" creationId="{00000000-0000-0000-0000-000000000000}"/>
          </ac:spMkLst>
        </pc:spChg>
        <pc:picChg chg="add mod">
          <ac:chgData name="Quidzohar Morbiwala" userId="f81cb7ee-5d40-432c-afb4-7a45cdcbf1f0" providerId="ADAL" clId="{18C95B19-C288-47ED-99FD-F2B82B1F8389}" dt="2026-06-09T01:37:08.215" v="493" actId="14100"/>
          <ac:picMkLst>
            <pc:docMk/>
            <pc:sldMk cId="0" sldId="272"/>
            <ac:picMk id="6146" creationId="{FF03F6DD-5429-0D5F-F6AC-61A1CBD5EB52}"/>
          </ac:picMkLst>
        </pc:picChg>
      </pc:sldChg>
      <pc:sldChg chg="addSp delSp modSp del mod">
        <pc:chgData name="Quidzohar Morbiwala" userId="f81cb7ee-5d40-432c-afb4-7a45cdcbf1f0" providerId="ADAL" clId="{18C95B19-C288-47ED-99FD-F2B82B1F8389}" dt="2026-06-09T01:28:49.018" v="397" actId="2696"/>
        <pc:sldMkLst>
          <pc:docMk/>
          <pc:sldMk cId="0" sldId="282"/>
        </pc:sldMkLst>
        <pc:spChg chg="del">
          <ac:chgData name="Quidzohar Morbiwala" userId="f81cb7ee-5d40-432c-afb4-7a45cdcbf1f0" providerId="ADAL" clId="{18C95B19-C288-47ED-99FD-F2B82B1F8389}" dt="2026-06-09T01:12:11.629" v="137" actId="478"/>
          <ac:spMkLst>
            <pc:docMk/>
            <pc:sldMk cId="0" sldId="282"/>
            <ac:spMk id="3" creationId="{00000000-0000-0000-0000-000000000000}"/>
          </ac:spMkLst>
        </pc:spChg>
        <pc:spChg chg="mod">
          <ac:chgData name="Quidzohar Morbiwala" userId="f81cb7ee-5d40-432c-afb4-7a45cdcbf1f0" providerId="ADAL" clId="{18C95B19-C288-47ED-99FD-F2B82B1F8389}" dt="2026-06-09T01:19:48.792" v="202" actId="20577"/>
          <ac:spMkLst>
            <pc:docMk/>
            <pc:sldMk cId="0" sldId="282"/>
            <ac:spMk id="4" creationId="{00000000-0000-0000-0000-000000000000}"/>
          </ac:spMkLst>
        </pc:spChg>
        <pc:spChg chg="del mod">
          <ac:chgData name="Quidzohar Morbiwala" userId="f81cb7ee-5d40-432c-afb4-7a45cdcbf1f0" providerId="ADAL" clId="{18C95B19-C288-47ED-99FD-F2B82B1F8389}" dt="2026-06-09T01:12:18.185" v="140"/>
          <ac:spMkLst>
            <pc:docMk/>
            <pc:sldMk cId="0" sldId="282"/>
            <ac:spMk id="5" creationId="{00000000-0000-0000-0000-000000000000}"/>
          </ac:spMkLst>
        </pc:spChg>
        <pc:spChg chg="del">
          <ac:chgData name="Quidzohar Morbiwala" userId="f81cb7ee-5d40-432c-afb4-7a45cdcbf1f0" providerId="ADAL" clId="{18C95B19-C288-47ED-99FD-F2B82B1F8389}" dt="2026-06-09T01:12:21.472" v="141" actId="478"/>
          <ac:spMkLst>
            <pc:docMk/>
            <pc:sldMk cId="0" sldId="282"/>
            <ac:spMk id="6" creationId="{00000000-0000-0000-0000-000000000000}"/>
          </ac:spMkLst>
        </pc:spChg>
        <pc:spChg chg="del">
          <ac:chgData name="Quidzohar Morbiwala" userId="f81cb7ee-5d40-432c-afb4-7a45cdcbf1f0" providerId="ADAL" clId="{18C95B19-C288-47ED-99FD-F2B82B1F8389}" dt="2026-06-09T01:12:21.472" v="141" actId="478"/>
          <ac:spMkLst>
            <pc:docMk/>
            <pc:sldMk cId="0" sldId="282"/>
            <ac:spMk id="7" creationId="{00000000-0000-0000-0000-000000000000}"/>
          </ac:spMkLst>
        </pc:spChg>
        <pc:spChg chg="del">
          <ac:chgData name="Quidzohar Morbiwala" userId="f81cb7ee-5d40-432c-afb4-7a45cdcbf1f0" providerId="ADAL" clId="{18C95B19-C288-47ED-99FD-F2B82B1F8389}" dt="2026-06-09T01:12:21.472" v="141" actId="478"/>
          <ac:spMkLst>
            <pc:docMk/>
            <pc:sldMk cId="0" sldId="282"/>
            <ac:spMk id="8" creationId="{00000000-0000-0000-0000-000000000000}"/>
          </ac:spMkLst>
        </pc:spChg>
        <pc:spChg chg="del">
          <ac:chgData name="Quidzohar Morbiwala" userId="f81cb7ee-5d40-432c-afb4-7a45cdcbf1f0" providerId="ADAL" clId="{18C95B19-C288-47ED-99FD-F2B82B1F8389}" dt="2026-06-09T01:12:21.472" v="141" actId="478"/>
          <ac:spMkLst>
            <pc:docMk/>
            <pc:sldMk cId="0" sldId="282"/>
            <ac:spMk id="9" creationId="{00000000-0000-0000-0000-000000000000}"/>
          </ac:spMkLst>
        </pc:spChg>
        <pc:spChg chg="add mod">
          <ac:chgData name="Quidzohar Morbiwala" userId="f81cb7ee-5d40-432c-afb4-7a45cdcbf1f0" providerId="ADAL" clId="{18C95B19-C288-47ED-99FD-F2B82B1F8389}" dt="2026-06-09T01:28:15.331" v="396" actId="20577"/>
          <ac:spMkLst>
            <pc:docMk/>
            <pc:sldMk cId="0" sldId="282"/>
            <ac:spMk id="13" creationId="{E32A7E5D-EA9C-C98C-F5EB-1752180DA243}"/>
          </ac:spMkLst>
        </pc:spChg>
        <pc:graphicFrameChg chg="add mod">
          <ac:chgData name="Quidzohar Morbiwala" userId="f81cb7ee-5d40-432c-afb4-7a45cdcbf1f0" providerId="ADAL" clId="{18C95B19-C288-47ED-99FD-F2B82B1F8389}" dt="2026-06-09T01:20:15.255" v="203"/>
          <ac:graphicFrameMkLst>
            <pc:docMk/>
            <pc:sldMk cId="0" sldId="282"/>
            <ac:graphicFrameMk id="10" creationId="{DCECFD19-489E-59C6-4657-7EA4469B178E}"/>
          </ac:graphicFrameMkLst>
        </pc:graphicFrameChg>
        <pc:graphicFrameChg chg="add mod">
          <ac:chgData name="Quidzohar Morbiwala" userId="f81cb7ee-5d40-432c-afb4-7a45cdcbf1f0" providerId="ADAL" clId="{18C95B19-C288-47ED-99FD-F2B82B1F8389}" dt="2026-06-09T01:20:55.522" v="204"/>
          <ac:graphicFrameMkLst>
            <pc:docMk/>
            <pc:sldMk cId="0" sldId="282"/>
            <ac:graphicFrameMk id="11" creationId="{9CE0827E-B0F2-E047-CDE8-5BE5A8FAD14B}"/>
          </ac:graphicFrameMkLst>
        </pc:graphicFrameChg>
        <pc:graphicFrameChg chg="add mod modGraphic">
          <ac:chgData name="Quidzohar Morbiwala" userId="f81cb7ee-5d40-432c-afb4-7a45cdcbf1f0" providerId="ADAL" clId="{18C95B19-C288-47ED-99FD-F2B82B1F8389}" dt="2026-06-09T01:21:59.805" v="213" actId="1076"/>
          <ac:graphicFrameMkLst>
            <pc:docMk/>
            <pc:sldMk cId="0" sldId="282"/>
            <ac:graphicFrameMk id="14" creationId="{61958A80-7CCF-A173-DA15-096D2C5F5853}"/>
          </ac:graphicFrameMkLst>
        </pc:graphicFrameChg>
      </pc:sldChg>
      <pc:sldChg chg="modSp add mod setBg">
        <pc:chgData name="Quidzohar Morbiwala" userId="f81cb7ee-5d40-432c-afb4-7a45cdcbf1f0" providerId="ADAL" clId="{18C95B19-C288-47ED-99FD-F2B82B1F8389}" dt="2026-06-09T01:29:05.140" v="399" actId="1076"/>
        <pc:sldMkLst>
          <pc:docMk/>
          <pc:sldMk cId="1075432094" sldId="282"/>
        </pc:sldMkLst>
        <pc:spChg chg="mod">
          <ac:chgData name="Quidzohar Morbiwala" userId="f81cb7ee-5d40-432c-afb4-7a45cdcbf1f0" providerId="ADAL" clId="{18C95B19-C288-47ED-99FD-F2B82B1F8389}" dt="2026-06-09T01:29:05.140" v="399" actId="1076"/>
          <ac:spMkLst>
            <pc:docMk/>
            <pc:sldMk cId="1075432094" sldId="282"/>
            <ac:spMk id="13" creationId="{E32A7E5D-EA9C-C98C-F5EB-1752180DA243}"/>
          </ac:spMkLst>
        </pc:spChg>
      </pc:sldChg>
      <pc:sldChg chg="addSp delSp modSp del mod ord">
        <pc:chgData name="Quidzohar Morbiwala" userId="f81cb7ee-5d40-432c-afb4-7a45cdcbf1f0" providerId="ADAL" clId="{18C95B19-C288-47ED-99FD-F2B82B1F8389}" dt="2026-06-09T01:28:49.018" v="397" actId="2696"/>
        <pc:sldMkLst>
          <pc:docMk/>
          <pc:sldMk cId="0" sldId="283"/>
        </pc:sldMkLst>
        <pc:spChg chg="del">
          <ac:chgData name="Quidzohar Morbiwala" userId="f81cb7ee-5d40-432c-afb4-7a45cdcbf1f0" providerId="ADAL" clId="{18C95B19-C288-47ED-99FD-F2B82B1F8389}" dt="2026-06-09T01:22:58.844" v="264" actId="478"/>
          <ac:spMkLst>
            <pc:docMk/>
            <pc:sldMk cId="0" sldId="283"/>
            <ac:spMk id="3" creationId="{00000000-0000-0000-0000-000000000000}"/>
          </ac:spMkLst>
        </pc:spChg>
        <pc:spChg chg="add del mod">
          <ac:chgData name="Quidzohar Morbiwala" userId="f81cb7ee-5d40-432c-afb4-7a45cdcbf1f0" providerId="ADAL" clId="{18C95B19-C288-47ED-99FD-F2B82B1F8389}" dt="2026-06-09T01:22:52.726" v="263" actId="20577"/>
          <ac:spMkLst>
            <pc:docMk/>
            <pc:sldMk cId="0" sldId="283"/>
            <ac:spMk id="4" creationId="{00000000-0000-0000-0000-000000000000}"/>
          </ac:spMkLst>
        </pc:spChg>
        <pc:spChg chg="add del">
          <ac:chgData name="Quidzohar Morbiwala" userId="f81cb7ee-5d40-432c-afb4-7a45cdcbf1f0" providerId="ADAL" clId="{18C95B19-C288-47ED-99FD-F2B82B1F8389}" dt="2026-06-09T01:22:58.844" v="264" actId="478"/>
          <ac:spMkLst>
            <pc:docMk/>
            <pc:sldMk cId="0" sldId="283"/>
            <ac:spMk id="5" creationId="{00000000-0000-0000-0000-000000000000}"/>
          </ac:spMkLst>
        </pc:spChg>
        <pc:spChg chg="add del">
          <ac:chgData name="Quidzohar Morbiwala" userId="f81cb7ee-5d40-432c-afb4-7a45cdcbf1f0" providerId="ADAL" clId="{18C95B19-C288-47ED-99FD-F2B82B1F8389}" dt="2026-06-09T01:22:58.844" v="264" actId="478"/>
          <ac:spMkLst>
            <pc:docMk/>
            <pc:sldMk cId="0" sldId="283"/>
            <ac:spMk id="6" creationId="{00000000-0000-0000-0000-000000000000}"/>
          </ac:spMkLst>
        </pc:spChg>
        <pc:spChg chg="add del">
          <ac:chgData name="Quidzohar Morbiwala" userId="f81cb7ee-5d40-432c-afb4-7a45cdcbf1f0" providerId="ADAL" clId="{18C95B19-C288-47ED-99FD-F2B82B1F8389}" dt="2026-06-09T01:22:58.844" v="264" actId="478"/>
          <ac:spMkLst>
            <pc:docMk/>
            <pc:sldMk cId="0" sldId="283"/>
            <ac:spMk id="7" creationId="{00000000-0000-0000-0000-000000000000}"/>
          </ac:spMkLst>
        </pc:spChg>
        <pc:spChg chg="add del">
          <ac:chgData name="Quidzohar Morbiwala" userId="f81cb7ee-5d40-432c-afb4-7a45cdcbf1f0" providerId="ADAL" clId="{18C95B19-C288-47ED-99FD-F2B82B1F8389}" dt="2026-06-09T01:22:58.844" v="264" actId="478"/>
          <ac:spMkLst>
            <pc:docMk/>
            <pc:sldMk cId="0" sldId="283"/>
            <ac:spMk id="8" creationId="{00000000-0000-0000-0000-000000000000}"/>
          </ac:spMkLst>
        </pc:spChg>
        <pc:spChg chg="add mod">
          <ac:chgData name="Quidzohar Morbiwala" userId="f81cb7ee-5d40-432c-afb4-7a45cdcbf1f0" providerId="ADAL" clId="{18C95B19-C288-47ED-99FD-F2B82B1F8389}" dt="2026-06-09T01:27:34.911" v="391" actId="20577"/>
          <ac:spMkLst>
            <pc:docMk/>
            <pc:sldMk cId="0" sldId="283"/>
            <ac:spMk id="10" creationId="{CB24F560-36C1-00BC-C918-69E1CC6260BC}"/>
          </ac:spMkLst>
        </pc:spChg>
      </pc:sldChg>
      <pc:sldChg chg="add setBg">
        <pc:chgData name="Quidzohar Morbiwala" userId="f81cb7ee-5d40-432c-afb4-7a45cdcbf1f0" providerId="ADAL" clId="{18C95B19-C288-47ED-99FD-F2B82B1F8389}" dt="2026-06-09T01:28:57.587" v="398"/>
        <pc:sldMkLst>
          <pc:docMk/>
          <pc:sldMk cId="3173613713" sldId="283"/>
        </pc:sldMkLst>
      </pc:sldChg>
      <pc:sldChg chg="del">
        <pc:chgData name="Quidzohar Morbiwala" userId="f81cb7ee-5d40-432c-afb4-7a45cdcbf1f0" providerId="ADAL" clId="{18C95B19-C288-47ED-99FD-F2B82B1F8389}" dt="2026-06-09T01:38:42.031" v="494" actId="47"/>
        <pc:sldMkLst>
          <pc:docMk/>
          <pc:sldMk cId="0" sldId="293"/>
        </pc:sldMkLst>
      </pc:sldChg>
      <pc:sldChg chg="modSp mod">
        <pc:chgData name="Quidzohar Morbiwala" userId="f81cb7ee-5d40-432c-afb4-7a45cdcbf1f0" providerId="ADAL" clId="{18C95B19-C288-47ED-99FD-F2B82B1F8389}" dt="2026-06-09T01:46:44.221" v="527" actId="1076"/>
        <pc:sldMkLst>
          <pc:docMk/>
          <pc:sldMk cId="0" sldId="296"/>
        </pc:sldMkLst>
        <pc:picChg chg="mod">
          <ac:chgData name="Quidzohar Morbiwala" userId="f81cb7ee-5d40-432c-afb4-7a45cdcbf1f0" providerId="ADAL" clId="{18C95B19-C288-47ED-99FD-F2B82B1F8389}" dt="2026-06-09T01:46:44.221" v="527" actId="1076"/>
          <ac:picMkLst>
            <pc:docMk/>
            <pc:sldMk cId="0" sldId="296"/>
            <ac:picMk id="5" creationId="{00000000-0000-0000-0000-000000000000}"/>
          </ac:picMkLst>
        </pc:picChg>
      </pc:sldChg>
      <pc:sldChg chg="ord">
        <pc:chgData name="Quidzohar Morbiwala" userId="f81cb7ee-5d40-432c-afb4-7a45cdcbf1f0" providerId="ADAL" clId="{18C95B19-C288-47ED-99FD-F2B82B1F8389}" dt="2026-06-09T00:59:29.235" v="88"/>
        <pc:sldMkLst>
          <pc:docMk/>
          <pc:sldMk cId="0" sldId="299"/>
        </pc:sldMkLst>
      </pc:sldChg>
      <pc:sldChg chg="modSp mod">
        <pc:chgData name="Quidzohar Morbiwala" userId="f81cb7ee-5d40-432c-afb4-7a45cdcbf1f0" providerId="ADAL" clId="{18C95B19-C288-47ED-99FD-F2B82B1F8389}" dt="2026-06-09T01:47:47.192" v="530" actId="255"/>
        <pc:sldMkLst>
          <pc:docMk/>
          <pc:sldMk cId="0" sldId="327"/>
        </pc:sldMkLst>
        <pc:spChg chg="mod">
          <ac:chgData name="Quidzohar Morbiwala" userId="f81cb7ee-5d40-432c-afb4-7a45cdcbf1f0" providerId="ADAL" clId="{18C95B19-C288-47ED-99FD-F2B82B1F8389}" dt="2026-06-09T01:47:47.192" v="530" actId="255"/>
          <ac:spMkLst>
            <pc:docMk/>
            <pc:sldMk cId="0" sldId="327"/>
            <ac:spMk id="5" creationId="{00000000-0000-0000-0000-000000000000}"/>
          </ac:spMkLst>
        </pc:spChg>
      </pc:sldChg>
      <pc:sldChg chg="modSp mod">
        <pc:chgData name="Quidzohar Morbiwala" userId="f81cb7ee-5d40-432c-afb4-7a45cdcbf1f0" providerId="ADAL" clId="{18C95B19-C288-47ED-99FD-F2B82B1F8389}" dt="2026-06-09T01:47:35.159" v="529" actId="255"/>
        <pc:sldMkLst>
          <pc:docMk/>
          <pc:sldMk cId="0" sldId="328"/>
        </pc:sldMkLst>
        <pc:spChg chg="mod">
          <ac:chgData name="Quidzohar Morbiwala" userId="f81cb7ee-5d40-432c-afb4-7a45cdcbf1f0" providerId="ADAL" clId="{18C95B19-C288-47ED-99FD-F2B82B1F8389}" dt="2026-06-09T01:47:35.159" v="529" actId="255"/>
          <ac:spMkLst>
            <pc:docMk/>
            <pc:sldMk cId="0" sldId="328"/>
            <ac:spMk id="5" creationId="{00000000-0000-0000-0000-000000000000}"/>
          </ac:spMkLst>
        </pc:spChg>
      </pc:sldChg>
      <pc:sldChg chg="modSp mod">
        <pc:chgData name="Quidzohar Morbiwala" userId="f81cb7ee-5d40-432c-afb4-7a45cdcbf1f0" providerId="ADAL" clId="{18C95B19-C288-47ED-99FD-F2B82B1F8389}" dt="2026-06-09T01:48:31.681" v="532" actId="255"/>
        <pc:sldMkLst>
          <pc:docMk/>
          <pc:sldMk cId="0" sldId="341"/>
        </pc:sldMkLst>
        <pc:spChg chg="mod">
          <ac:chgData name="Quidzohar Morbiwala" userId="f81cb7ee-5d40-432c-afb4-7a45cdcbf1f0" providerId="ADAL" clId="{18C95B19-C288-47ED-99FD-F2B82B1F8389}" dt="2026-06-09T01:48:18.253" v="531" actId="1076"/>
          <ac:spMkLst>
            <pc:docMk/>
            <pc:sldMk cId="0" sldId="341"/>
            <ac:spMk id="4" creationId="{00000000-0000-0000-0000-000000000000}"/>
          </ac:spMkLst>
        </pc:spChg>
        <pc:spChg chg="mod">
          <ac:chgData name="Quidzohar Morbiwala" userId="f81cb7ee-5d40-432c-afb4-7a45cdcbf1f0" providerId="ADAL" clId="{18C95B19-C288-47ED-99FD-F2B82B1F8389}" dt="2026-06-09T01:48:31.681" v="532" actId="255"/>
          <ac:spMkLst>
            <pc:docMk/>
            <pc:sldMk cId="0" sldId="341"/>
            <ac:spMk id="5" creationId="{00000000-0000-0000-0000-000000000000}"/>
          </ac:spMkLst>
        </pc:spChg>
      </pc:sldChg>
      <pc:sldChg chg="modSp mod">
        <pc:chgData name="Quidzohar Morbiwala" userId="f81cb7ee-5d40-432c-afb4-7a45cdcbf1f0" providerId="ADAL" clId="{18C95B19-C288-47ED-99FD-F2B82B1F8389}" dt="2026-06-09T01:48:54.712" v="535" actId="14100"/>
        <pc:sldMkLst>
          <pc:docMk/>
          <pc:sldMk cId="0" sldId="342"/>
        </pc:sldMkLst>
        <pc:graphicFrameChg chg="mod modGraphic">
          <ac:chgData name="Quidzohar Morbiwala" userId="f81cb7ee-5d40-432c-afb4-7a45cdcbf1f0" providerId="ADAL" clId="{18C95B19-C288-47ED-99FD-F2B82B1F8389}" dt="2026-06-09T01:48:54.712" v="535" actId="14100"/>
          <ac:graphicFrameMkLst>
            <pc:docMk/>
            <pc:sldMk cId="0" sldId="342"/>
            <ac:graphicFrameMk id="8" creationId="{00000000-0000-0000-0000-000000000000}"/>
          </ac:graphicFrameMkLst>
        </pc:graphicFrameChg>
      </pc:sldChg>
      <pc:sldChg chg="modSp mod">
        <pc:chgData name="Quidzohar Morbiwala" userId="f81cb7ee-5d40-432c-afb4-7a45cdcbf1f0" providerId="ADAL" clId="{18C95B19-C288-47ED-99FD-F2B82B1F8389}" dt="2026-06-09T01:49:20.635" v="539" actId="122"/>
        <pc:sldMkLst>
          <pc:docMk/>
          <pc:sldMk cId="0" sldId="343"/>
        </pc:sldMkLst>
        <pc:spChg chg="mod">
          <ac:chgData name="Quidzohar Morbiwala" userId="f81cb7ee-5d40-432c-afb4-7a45cdcbf1f0" providerId="ADAL" clId="{18C95B19-C288-47ED-99FD-F2B82B1F8389}" dt="2026-06-09T01:49:20.635" v="539" actId="122"/>
          <ac:spMkLst>
            <pc:docMk/>
            <pc:sldMk cId="0" sldId="343"/>
            <ac:spMk id="5" creationId="{00000000-0000-0000-0000-000000000000}"/>
          </ac:spMkLst>
        </pc:spChg>
      </pc:sldChg>
      <pc:sldChg chg="del">
        <pc:chgData name="Quidzohar Morbiwala" userId="f81cb7ee-5d40-432c-afb4-7a45cdcbf1f0" providerId="ADAL" clId="{18C95B19-C288-47ED-99FD-F2B82B1F8389}" dt="2026-06-09T01:51:12.382" v="540" actId="47"/>
        <pc:sldMkLst>
          <pc:docMk/>
          <pc:sldMk cId="0" sldId="388"/>
        </pc:sldMkLst>
      </pc:sldChg>
      <pc:sldChg chg="del">
        <pc:chgData name="Quidzohar Morbiwala" userId="f81cb7ee-5d40-432c-afb4-7a45cdcbf1f0" providerId="ADAL" clId="{18C95B19-C288-47ED-99FD-F2B82B1F8389}" dt="2026-06-09T01:51:12.382" v="540" actId="47"/>
        <pc:sldMkLst>
          <pc:docMk/>
          <pc:sldMk cId="0" sldId="389"/>
        </pc:sldMkLst>
      </pc:sldChg>
      <pc:sldChg chg="modSp mod">
        <pc:chgData name="Quidzohar Morbiwala" userId="f81cb7ee-5d40-432c-afb4-7a45cdcbf1f0" providerId="ADAL" clId="{18C95B19-C288-47ED-99FD-F2B82B1F8389}" dt="2026-06-09T01:55:14.420" v="583" actId="20577"/>
        <pc:sldMkLst>
          <pc:docMk/>
          <pc:sldMk cId="0" sldId="390"/>
        </pc:sldMkLst>
        <pc:spChg chg="mod">
          <ac:chgData name="Quidzohar Morbiwala" userId="f81cb7ee-5d40-432c-afb4-7a45cdcbf1f0" providerId="ADAL" clId="{18C95B19-C288-47ED-99FD-F2B82B1F8389}" dt="2026-06-09T01:55:05.085" v="577" actId="313"/>
          <ac:spMkLst>
            <pc:docMk/>
            <pc:sldMk cId="0" sldId="390"/>
            <ac:spMk id="4" creationId="{00000000-0000-0000-0000-000000000000}"/>
          </ac:spMkLst>
        </pc:spChg>
        <pc:spChg chg="mod">
          <ac:chgData name="Quidzohar Morbiwala" userId="f81cb7ee-5d40-432c-afb4-7a45cdcbf1f0" providerId="ADAL" clId="{18C95B19-C288-47ED-99FD-F2B82B1F8389}" dt="2026-06-09T01:55:14.420" v="583" actId="20577"/>
          <ac:spMkLst>
            <pc:docMk/>
            <pc:sldMk cId="0" sldId="390"/>
            <ac:spMk id="5" creationId="{00000000-0000-0000-0000-000000000000}"/>
          </ac:spMkLst>
        </pc:spChg>
      </pc:sldChg>
      <pc:sldChg chg="modSp mod">
        <pc:chgData name="Quidzohar Morbiwala" userId="f81cb7ee-5d40-432c-afb4-7a45cdcbf1f0" providerId="ADAL" clId="{18C95B19-C288-47ED-99FD-F2B82B1F8389}" dt="2026-06-09T01:51:52.764" v="554" actId="20577"/>
        <pc:sldMkLst>
          <pc:docMk/>
          <pc:sldMk cId="0" sldId="394"/>
        </pc:sldMkLst>
        <pc:spChg chg="mod">
          <ac:chgData name="Quidzohar Morbiwala" userId="f81cb7ee-5d40-432c-afb4-7a45cdcbf1f0" providerId="ADAL" clId="{18C95B19-C288-47ED-99FD-F2B82B1F8389}" dt="2026-06-09T01:51:52.764" v="554" actId="20577"/>
          <ac:spMkLst>
            <pc:docMk/>
            <pc:sldMk cId="0" sldId="394"/>
            <ac:spMk id="3" creationId="{00000000-0000-0000-0000-000000000000}"/>
          </ac:spMkLst>
        </pc:spChg>
      </pc:sldChg>
      <pc:sldChg chg="del">
        <pc:chgData name="Quidzohar Morbiwala" userId="f81cb7ee-5d40-432c-afb4-7a45cdcbf1f0" providerId="ADAL" clId="{18C95B19-C288-47ED-99FD-F2B82B1F8389}" dt="2026-06-09T01:51:31.727" v="541" actId="47"/>
        <pc:sldMkLst>
          <pc:docMk/>
          <pc:sldMk cId="0" sldId="395"/>
        </pc:sldMkLst>
      </pc:sldChg>
      <pc:sldChg chg="new del">
        <pc:chgData name="Quidzohar Morbiwala" userId="f81cb7ee-5d40-432c-afb4-7a45cdcbf1f0" providerId="ADAL" clId="{18C95B19-C288-47ED-99FD-F2B82B1F8389}" dt="2026-06-09T00:56:09.920" v="53" actId="47"/>
        <pc:sldMkLst>
          <pc:docMk/>
          <pc:sldMk cId="291097570" sldId="396"/>
        </pc:sldMkLst>
      </pc:sldChg>
      <pc:sldChg chg="addSp delSp modSp add mod setBg">
        <pc:chgData name="Quidzohar Morbiwala" userId="f81cb7ee-5d40-432c-afb4-7a45cdcbf1f0" providerId="ADAL" clId="{18C95B19-C288-47ED-99FD-F2B82B1F8389}" dt="2026-06-09T00:55:54.448" v="51" actId="1076"/>
        <pc:sldMkLst>
          <pc:docMk/>
          <pc:sldMk cId="564102567" sldId="397"/>
        </pc:sldMkLst>
        <pc:spChg chg="mod">
          <ac:chgData name="Quidzohar Morbiwala" userId="f81cb7ee-5d40-432c-afb4-7a45cdcbf1f0" providerId="ADAL" clId="{18C95B19-C288-47ED-99FD-F2B82B1F8389}" dt="2026-06-09T00:51:05.246" v="18" actId="20577"/>
          <ac:spMkLst>
            <pc:docMk/>
            <pc:sldMk cId="564102567" sldId="397"/>
            <ac:spMk id="3" creationId="{A25A331F-8763-1232-FC8A-FE567C298289}"/>
          </ac:spMkLst>
        </pc:spChg>
        <pc:spChg chg="mod">
          <ac:chgData name="Quidzohar Morbiwala" userId="f81cb7ee-5d40-432c-afb4-7a45cdcbf1f0" providerId="ADAL" clId="{18C95B19-C288-47ED-99FD-F2B82B1F8389}" dt="2026-06-09T00:54:55.836" v="47" actId="20577"/>
          <ac:spMkLst>
            <pc:docMk/>
            <pc:sldMk cId="564102567" sldId="397"/>
            <ac:spMk id="4" creationId="{F173E9FF-068C-4C91-E587-4D23D7303E65}"/>
          </ac:spMkLst>
        </pc:spChg>
        <pc:spChg chg="del">
          <ac:chgData name="Quidzohar Morbiwala" userId="f81cb7ee-5d40-432c-afb4-7a45cdcbf1f0" providerId="ADAL" clId="{18C95B19-C288-47ED-99FD-F2B82B1F8389}" dt="2026-06-09T00:51:24.643" v="24" actId="478"/>
          <ac:spMkLst>
            <pc:docMk/>
            <pc:sldMk cId="564102567" sldId="397"/>
            <ac:spMk id="5" creationId="{F550092B-6233-6692-7352-84DD978190B5}"/>
          </ac:spMkLst>
        </pc:spChg>
        <pc:spChg chg="add">
          <ac:chgData name="Quidzohar Morbiwala" userId="f81cb7ee-5d40-432c-afb4-7a45cdcbf1f0" providerId="ADAL" clId="{18C95B19-C288-47ED-99FD-F2B82B1F8389}" dt="2026-06-09T00:51:39.698" v="25"/>
          <ac:spMkLst>
            <pc:docMk/>
            <pc:sldMk cId="564102567" sldId="397"/>
            <ac:spMk id="6" creationId="{FCF3CAF5-FAAB-7EC8-FA79-EC9598E0515D}"/>
          </ac:spMkLst>
        </pc:spChg>
        <pc:spChg chg="add">
          <ac:chgData name="Quidzohar Morbiwala" userId="f81cb7ee-5d40-432c-afb4-7a45cdcbf1f0" providerId="ADAL" clId="{18C95B19-C288-47ED-99FD-F2B82B1F8389}" dt="2026-06-09T00:52:16.981" v="26"/>
          <ac:spMkLst>
            <pc:docMk/>
            <pc:sldMk cId="564102567" sldId="397"/>
            <ac:spMk id="7" creationId="{C958B501-2A69-1067-F5AE-600B39EE4686}"/>
          </ac:spMkLst>
        </pc:spChg>
        <pc:spChg chg="add">
          <ac:chgData name="Quidzohar Morbiwala" userId="f81cb7ee-5d40-432c-afb4-7a45cdcbf1f0" providerId="ADAL" clId="{18C95B19-C288-47ED-99FD-F2B82B1F8389}" dt="2026-06-09T00:53:24.019" v="33"/>
          <ac:spMkLst>
            <pc:docMk/>
            <pc:sldMk cId="564102567" sldId="397"/>
            <ac:spMk id="8" creationId="{A661BE4B-1A58-45B0-3078-4F842BD55000}"/>
          </ac:spMkLst>
        </pc:spChg>
        <pc:picChg chg="add mod">
          <ac:chgData name="Quidzohar Morbiwala" userId="f81cb7ee-5d40-432c-afb4-7a45cdcbf1f0" providerId="ADAL" clId="{18C95B19-C288-47ED-99FD-F2B82B1F8389}" dt="2026-06-09T00:55:54.448" v="51" actId="1076"/>
          <ac:picMkLst>
            <pc:docMk/>
            <pc:sldMk cId="564102567" sldId="397"/>
            <ac:picMk id="10" creationId="{1527C304-05E0-6140-FDE0-FEBF9EF5D13E}"/>
          </ac:picMkLst>
        </pc:picChg>
      </pc:sldChg>
      <pc:sldChg chg="addSp delSp modSp add mod">
        <pc:chgData name="Quidzohar Morbiwala" userId="f81cb7ee-5d40-432c-afb4-7a45cdcbf1f0" providerId="ADAL" clId="{18C95B19-C288-47ED-99FD-F2B82B1F8389}" dt="2026-06-09T01:08:40.428" v="125" actId="14100"/>
        <pc:sldMkLst>
          <pc:docMk/>
          <pc:sldMk cId="864043672" sldId="398"/>
        </pc:sldMkLst>
        <pc:spChg chg="mod">
          <ac:chgData name="Quidzohar Morbiwala" userId="f81cb7ee-5d40-432c-afb4-7a45cdcbf1f0" providerId="ADAL" clId="{18C95B19-C288-47ED-99FD-F2B82B1F8389}" dt="2026-06-09T00:57:07.909" v="67" actId="20577"/>
          <ac:spMkLst>
            <pc:docMk/>
            <pc:sldMk cId="864043672" sldId="398"/>
            <ac:spMk id="3" creationId="{4DF46A49-79C7-1447-B178-9E833CF506F1}"/>
          </ac:spMkLst>
        </pc:spChg>
        <pc:spChg chg="del mod">
          <ac:chgData name="Quidzohar Morbiwala" userId="f81cb7ee-5d40-432c-afb4-7a45cdcbf1f0" providerId="ADAL" clId="{18C95B19-C288-47ED-99FD-F2B82B1F8389}" dt="2026-06-09T00:57:09.020" v="69"/>
          <ac:spMkLst>
            <pc:docMk/>
            <pc:sldMk cId="864043672" sldId="398"/>
            <ac:spMk id="4" creationId="{4CB81296-45DA-2EC6-CD3D-758E8C1F1205}"/>
          </ac:spMkLst>
        </pc:spChg>
        <pc:spChg chg="add">
          <ac:chgData name="Quidzohar Morbiwala" userId="f81cb7ee-5d40-432c-afb4-7a45cdcbf1f0" providerId="ADAL" clId="{18C95B19-C288-47ED-99FD-F2B82B1F8389}" dt="2026-06-09T00:56:35.190" v="54"/>
          <ac:spMkLst>
            <pc:docMk/>
            <pc:sldMk cId="864043672" sldId="398"/>
            <ac:spMk id="5" creationId="{844D03C5-BC4A-B807-CD16-44BB82BB3ACF}"/>
          </ac:spMkLst>
        </pc:spChg>
        <pc:spChg chg="add mod">
          <ac:chgData name="Quidzohar Morbiwala" userId="f81cb7ee-5d40-432c-afb4-7a45cdcbf1f0" providerId="ADAL" clId="{18C95B19-C288-47ED-99FD-F2B82B1F8389}" dt="2026-06-09T00:57:00.276" v="60" actId="2711"/>
          <ac:spMkLst>
            <pc:docMk/>
            <pc:sldMk cId="864043672" sldId="398"/>
            <ac:spMk id="6" creationId="{2AE65156-801A-DFAF-0606-956778D6B4EB}"/>
          </ac:spMkLst>
        </pc:spChg>
        <pc:spChg chg="add mod">
          <ac:chgData name="Quidzohar Morbiwala" userId="f81cb7ee-5d40-432c-afb4-7a45cdcbf1f0" providerId="ADAL" clId="{18C95B19-C288-47ED-99FD-F2B82B1F8389}" dt="2026-06-09T00:58:15.917" v="83" actId="2711"/>
          <ac:spMkLst>
            <pc:docMk/>
            <pc:sldMk cId="864043672" sldId="398"/>
            <ac:spMk id="8" creationId="{F649C3C3-9A3A-9F7D-B289-C00B02FD1997}"/>
          </ac:spMkLst>
        </pc:spChg>
        <pc:spChg chg="add">
          <ac:chgData name="Quidzohar Morbiwala" userId="f81cb7ee-5d40-432c-afb4-7a45cdcbf1f0" providerId="ADAL" clId="{18C95B19-C288-47ED-99FD-F2B82B1F8389}" dt="2026-06-09T01:01:04.651" v="89"/>
          <ac:spMkLst>
            <pc:docMk/>
            <pc:sldMk cId="864043672" sldId="398"/>
            <ac:spMk id="9" creationId="{A7AD7E3F-6EC6-8D3C-1CC9-1196FA213821}"/>
          </ac:spMkLst>
        </pc:spChg>
        <pc:picChg chg="del">
          <ac:chgData name="Quidzohar Morbiwala" userId="f81cb7ee-5d40-432c-afb4-7a45cdcbf1f0" providerId="ADAL" clId="{18C95B19-C288-47ED-99FD-F2B82B1F8389}" dt="2026-06-09T00:58:20.293" v="84" actId="478"/>
          <ac:picMkLst>
            <pc:docMk/>
            <pc:sldMk cId="864043672" sldId="398"/>
            <ac:picMk id="10" creationId="{72EFAEF6-C0A0-CC9F-0808-0E9368219D92}"/>
          </ac:picMkLst>
        </pc:picChg>
        <pc:picChg chg="add mod">
          <ac:chgData name="Quidzohar Morbiwala" userId="f81cb7ee-5d40-432c-afb4-7a45cdcbf1f0" providerId="ADAL" clId="{18C95B19-C288-47ED-99FD-F2B82B1F8389}" dt="2026-06-09T01:08:40.428" v="125" actId="14100"/>
          <ac:picMkLst>
            <pc:docMk/>
            <pc:sldMk cId="864043672" sldId="398"/>
            <ac:picMk id="2054" creationId="{7AEA4A68-F9F4-093F-5D13-626A8EB3BE85}"/>
          </ac:picMkLst>
        </pc:picChg>
      </pc:sldChg>
      <pc:sldChg chg="new del">
        <pc:chgData name="Quidzohar Morbiwala" userId="f81cb7ee-5d40-432c-afb4-7a45cdcbf1f0" providerId="ADAL" clId="{18C95B19-C288-47ED-99FD-F2B82B1F8389}" dt="2026-06-09T01:02:30.860" v="94" actId="680"/>
        <pc:sldMkLst>
          <pc:docMk/>
          <pc:sldMk cId="2995964717" sldId="399"/>
        </pc:sldMkLst>
      </pc:sldChg>
      <pc:sldChg chg="addSp delSp modSp add mod setBg">
        <pc:chgData name="Quidzohar Morbiwala" userId="f81cb7ee-5d40-432c-afb4-7a45cdcbf1f0" providerId="ADAL" clId="{18C95B19-C288-47ED-99FD-F2B82B1F8389}" dt="2026-06-09T01:07:28.390" v="122" actId="1076"/>
        <pc:sldMkLst>
          <pc:docMk/>
          <pc:sldMk cId="3670125884" sldId="399"/>
        </pc:sldMkLst>
        <pc:spChg chg="mod">
          <ac:chgData name="Quidzohar Morbiwala" userId="f81cb7ee-5d40-432c-afb4-7a45cdcbf1f0" providerId="ADAL" clId="{18C95B19-C288-47ED-99FD-F2B82B1F8389}" dt="2026-06-09T01:04:01.514" v="103"/>
          <ac:spMkLst>
            <pc:docMk/>
            <pc:sldMk cId="3670125884" sldId="399"/>
            <ac:spMk id="3" creationId="{E8247F8F-CB86-FF88-5174-E8BDBECAD527}"/>
          </ac:spMkLst>
        </pc:spChg>
        <pc:spChg chg="mod">
          <ac:chgData name="Quidzohar Morbiwala" userId="f81cb7ee-5d40-432c-afb4-7a45cdcbf1f0" providerId="ADAL" clId="{18C95B19-C288-47ED-99FD-F2B82B1F8389}" dt="2026-06-09T01:07:17.430" v="120" actId="14100"/>
          <ac:spMkLst>
            <pc:docMk/>
            <pc:sldMk cId="3670125884" sldId="399"/>
            <ac:spMk id="4" creationId="{851724A0-7D0B-2D0C-ADAD-0413CCF4A257}"/>
          </ac:spMkLst>
        </pc:spChg>
        <pc:spChg chg="del mod">
          <ac:chgData name="Quidzohar Morbiwala" userId="f81cb7ee-5d40-432c-afb4-7a45cdcbf1f0" providerId="ADAL" clId="{18C95B19-C288-47ED-99FD-F2B82B1F8389}" dt="2026-06-09T01:03:52.060" v="102" actId="478"/>
          <ac:spMkLst>
            <pc:docMk/>
            <pc:sldMk cId="3670125884" sldId="399"/>
            <ac:spMk id="5" creationId="{B4C287DC-8EE9-3B05-C5EE-1F7DF3D95D2B}"/>
          </ac:spMkLst>
        </pc:spChg>
        <pc:picChg chg="add mod">
          <ac:chgData name="Quidzohar Morbiwala" userId="f81cb7ee-5d40-432c-afb4-7a45cdcbf1f0" providerId="ADAL" clId="{18C95B19-C288-47ED-99FD-F2B82B1F8389}" dt="2026-06-09T01:07:28.390" v="122" actId="1076"/>
          <ac:picMkLst>
            <pc:docMk/>
            <pc:sldMk cId="3670125884" sldId="399"/>
            <ac:picMk id="3074" creationId="{4B357438-FBC2-49B0-5205-A446398E0165}"/>
          </ac:picMkLst>
        </pc:picChg>
      </pc:sldChg>
      <pc:sldChg chg="modSp add mod">
        <pc:chgData name="Quidzohar Morbiwala" userId="f81cb7ee-5d40-432c-afb4-7a45cdcbf1f0" providerId="ADAL" clId="{18C95B19-C288-47ED-99FD-F2B82B1F8389}" dt="2026-06-09T01:34:15.903" v="488" actId="20577"/>
        <pc:sldMkLst>
          <pc:docMk/>
          <pc:sldMk cId="938733295" sldId="400"/>
        </pc:sldMkLst>
        <pc:spChg chg="mod">
          <ac:chgData name="Quidzohar Morbiwala" userId="f81cb7ee-5d40-432c-afb4-7a45cdcbf1f0" providerId="ADAL" clId="{18C95B19-C288-47ED-99FD-F2B82B1F8389}" dt="2026-06-09T01:34:15.903" v="488" actId="20577"/>
          <ac:spMkLst>
            <pc:docMk/>
            <pc:sldMk cId="938733295" sldId="400"/>
            <ac:spMk id="4" creationId="{7FE2170B-32A1-B1F5-85E2-F4ECD164E67A}"/>
          </ac:spMkLst>
        </pc:spChg>
        <pc:spChg chg="mod">
          <ac:chgData name="Quidzohar Morbiwala" userId="f81cb7ee-5d40-432c-afb4-7a45cdcbf1f0" providerId="ADAL" clId="{18C95B19-C288-47ED-99FD-F2B82B1F8389}" dt="2026-06-09T01:33:59.851" v="437" actId="20577"/>
          <ac:spMkLst>
            <pc:docMk/>
            <pc:sldMk cId="938733295" sldId="400"/>
            <ac:spMk id="10" creationId="{CD45F884-4E48-4D9B-8224-7670D75DDF6B}"/>
          </ac:spMkLst>
        </pc:spChg>
      </pc:sldChg>
      <pc:sldChg chg="modSp add del mod">
        <pc:chgData name="Quidzohar Morbiwala" userId="f81cb7ee-5d40-432c-afb4-7a45cdcbf1f0" providerId="ADAL" clId="{18C95B19-C288-47ED-99FD-F2B82B1F8389}" dt="2026-06-09T01:33:55.599" v="435" actId="20577"/>
        <pc:sldMkLst>
          <pc:docMk/>
          <pc:sldMk cId="1718291080" sldId="401"/>
        </pc:sldMkLst>
        <pc:spChg chg="mod">
          <ac:chgData name="Quidzohar Morbiwala" userId="f81cb7ee-5d40-432c-afb4-7a45cdcbf1f0" providerId="ADAL" clId="{18C95B19-C288-47ED-99FD-F2B82B1F8389}" dt="2026-06-09T01:33:55.599" v="435" actId="20577"/>
          <ac:spMkLst>
            <pc:docMk/>
            <pc:sldMk cId="1718291080" sldId="401"/>
            <ac:spMk id="10" creationId="{FD6BB3A5-77CF-622F-724A-5B3B5E3148BB}"/>
          </ac:spMkLst>
        </pc:spChg>
      </pc:sldChg>
      <pc:sldChg chg="addSp delSp modSp add mod setBg">
        <pc:chgData name="Quidzohar Morbiwala" userId="f81cb7ee-5d40-432c-afb4-7a45cdcbf1f0" providerId="ADAL" clId="{18C95B19-C288-47ED-99FD-F2B82B1F8389}" dt="2026-06-09T01:45:54.552" v="523" actId="255"/>
        <pc:sldMkLst>
          <pc:docMk/>
          <pc:sldMk cId="3321505712" sldId="402"/>
        </pc:sldMkLst>
        <pc:spChg chg="mod">
          <ac:chgData name="Quidzohar Morbiwala" userId="f81cb7ee-5d40-432c-afb4-7a45cdcbf1f0" providerId="ADAL" clId="{18C95B19-C288-47ED-99FD-F2B82B1F8389}" dt="2026-06-09T01:43:15.115" v="508" actId="20577"/>
          <ac:spMkLst>
            <pc:docMk/>
            <pc:sldMk cId="3321505712" sldId="402"/>
            <ac:spMk id="3" creationId="{63A30459-4E72-7BC8-443C-7D5076394E66}"/>
          </ac:spMkLst>
        </pc:spChg>
        <pc:spChg chg="del mod">
          <ac:chgData name="Quidzohar Morbiwala" userId="f81cb7ee-5d40-432c-afb4-7a45cdcbf1f0" providerId="ADAL" clId="{18C95B19-C288-47ED-99FD-F2B82B1F8389}" dt="2026-06-09T01:43:24.114" v="511"/>
          <ac:spMkLst>
            <pc:docMk/>
            <pc:sldMk cId="3321505712" sldId="402"/>
            <ac:spMk id="4" creationId="{87CC0571-4F43-61BA-10D7-C4AF97298C66}"/>
          </ac:spMkLst>
        </pc:spChg>
        <pc:spChg chg="add del">
          <ac:chgData name="Quidzohar Morbiwala" userId="f81cb7ee-5d40-432c-afb4-7a45cdcbf1f0" providerId="ADAL" clId="{18C95B19-C288-47ED-99FD-F2B82B1F8389}" dt="2026-06-09T01:44:06.036" v="513" actId="478"/>
          <ac:spMkLst>
            <pc:docMk/>
            <pc:sldMk cId="3321505712" sldId="402"/>
            <ac:spMk id="5" creationId="{CD009EC3-0884-9EFB-8BA2-1557BCFBE04A}"/>
          </ac:spMkLst>
        </pc:spChg>
        <pc:spChg chg="add mod">
          <ac:chgData name="Quidzohar Morbiwala" userId="f81cb7ee-5d40-432c-afb4-7a45cdcbf1f0" providerId="ADAL" clId="{18C95B19-C288-47ED-99FD-F2B82B1F8389}" dt="2026-06-09T01:45:54.552" v="523" actId="255"/>
          <ac:spMkLst>
            <pc:docMk/>
            <pc:sldMk cId="3321505712" sldId="402"/>
            <ac:spMk id="7" creationId="{96E43745-8D99-E8F2-C2C4-C5B45DFB174D}"/>
          </ac:spMkLst>
        </pc:spChg>
        <pc:picChg chg="del">
          <ac:chgData name="Quidzohar Morbiwala" userId="f81cb7ee-5d40-432c-afb4-7a45cdcbf1f0" providerId="ADAL" clId="{18C95B19-C288-47ED-99FD-F2B82B1F8389}" dt="2026-06-09T01:43:09.559" v="496" actId="478"/>
          <ac:picMkLst>
            <pc:docMk/>
            <pc:sldMk cId="3321505712" sldId="402"/>
            <ac:picMk id="6146" creationId="{E2EF391E-BB7F-E145-813D-B22528E2701E}"/>
          </ac:picMkLst>
        </pc:picChg>
        <pc:picChg chg="add mod">
          <ac:chgData name="Quidzohar Morbiwala" userId="f81cb7ee-5d40-432c-afb4-7a45cdcbf1f0" providerId="ADAL" clId="{18C95B19-C288-47ED-99FD-F2B82B1F8389}" dt="2026-06-09T01:45:42.263" v="521" actId="1076"/>
          <ac:picMkLst>
            <pc:docMk/>
            <pc:sldMk cId="3321505712" sldId="402"/>
            <ac:picMk id="8196" creationId="{E86216B9-5150-84C5-8D4F-A73BA332BE56}"/>
          </ac:picMkLst>
        </pc:picChg>
      </pc:sldChg>
      <pc:sldChg chg="add setBg">
        <pc:chgData name="Quidzohar Morbiwala" userId="f81cb7ee-5d40-432c-afb4-7a45cdcbf1f0" providerId="ADAL" clId="{18C95B19-C288-47ED-99FD-F2B82B1F8389}" dt="2026-06-09T01:53:12.324" v="555"/>
        <pc:sldMkLst>
          <pc:docMk/>
          <pc:sldMk cId="4159372269" sldId="403"/>
        </pc:sldMkLst>
      </pc:sldChg>
      <pc:sldChg chg="modSp add mod setBg">
        <pc:chgData name="Quidzohar Morbiwala" userId="f81cb7ee-5d40-432c-afb4-7a45cdcbf1f0" providerId="ADAL" clId="{18C95B19-C288-47ED-99FD-F2B82B1F8389}" dt="2026-06-09T02:06:08.827" v="603" actId="20577"/>
        <pc:sldMkLst>
          <pc:docMk/>
          <pc:sldMk cId="2887288456" sldId="404"/>
        </pc:sldMkLst>
        <pc:spChg chg="mod">
          <ac:chgData name="Quidzohar Morbiwala" userId="f81cb7ee-5d40-432c-afb4-7a45cdcbf1f0" providerId="ADAL" clId="{18C95B19-C288-47ED-99FD-F2B82B1F8389}" dt="2026-06-09T01:55:25.290" v="591" actId="20577"/>
          <ac:spMkLst>
            <pc:docMk/>
            <pc:sldMk cId="2887288456" sldId="404"/>
            <ac:spMk id="4" creationId="{358DE9BC-2A27-B41F-2F3B-B1EA01CA5FFD}"/>
          </ac:spMkLst>
        </pc:spChg>
        <pc:spChg chg="mod">
          <ac:chgData name="Quidzohar Morbiwala" userId="f81cb7ee-5d40-432c-afb4-7a45cdcbf1f0" providerId="ADAL" clId="{18C95B19-C288-47ED-99FD-F2B82B1F8389}" dt="2026-06-09T02:06:08.827" v="603" actId="20577"/>
          <ac:spMkLst>
            <pc:docMk/>
            <pc:sldMk cId="2887288456" sldId="404"/>
            <ac:spMk id="5" creationId="{7A05A133-55EB-D19D-D6F0-9E5AD0CDF245}"/>
          </ac:spMkLst>
        </pc:spChg>
      </pc:sldChg>
      <pc:sldMasterChg chg="addSp mod">
        <pc:chgData name="Quidzohar Morbiwala" userId="f81cb7ee-5d40-432c-afb4-7a45cdcbf1f0" providerId="ADAL" clId="{18C95B19-C288-47ED-99FD-F2B82B1F8389}" dt="2026-06-09T00:49:53.915" v="1" actId="33475"/>
        <pc:sldMasterMkLst>
          <pc:docMk/>
          <pc:sldMasterMk cId="2209977519" sldId="2147483648"/>
        </pc:sldMasterMkLst>
        <pc:spChg chg="add">
          <ac:chgData name="Quidzohar Morbiwala" userId="f81cb7ee-5d40-432c-afb4-7a45cdcbf1f0" providerId="ADAL" clId="{18C95B19-C288-47ED-99FD-F2B82B1F8389}" dt="2026-06-09T00:49:53.915" v="1" actId="33475"/>
          <ac:spMkLst>
            <pc:docMk/>
            <pc:sldMasterMk cId="2209977519" sldId="2147483648"/>
            <ac:spMk id="8" creationId="{CE4EE81C-0DA5-C021-8DE3-2D377D2852D8}"/>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EA3D44-4152-4828-AB0D-7F7BBD1F7102}" type="datetimeFigureOut">
              <a:rPr lang="en-US" smtClean="0"/>
              <a:t>6/9/2026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83DE59-BE91-4E0C-B7F0-4CD4B705F180}" type="slidenum">
              <a:rPr lang="en-US" smtClean="0"/>
              <a:t>‹#›</a:t>
            </a:fld>
            <a:endParaRPr lang="en-US"/>
          </a:p>
        </p:txBody>
      </p:sp>
    </p:spTree>
    <p:extLst>
      <p:ext uri="{BB962C8B-B14F-4D97-AF65-F5344CB8AC3E}">
        <p14:creationId xmlns:p14="http://schemas.microsoft.com/office/powerpoint/2010/main" val="1315685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83DE59-BE91-4E0C-B7F0-4CD4B705F180}" type="slidenum">
              <a:rPr lang="en-US" smtClean="0"/>
              <a:t>22</a:t>
            </a:fld>
            <a:endParaRPr lang="en-US"/>
          </a:p>
        </p:txBody>
      </p:sp>
    </p:spTree>
    <p:extLst>
      <p:ext uri="{BB962C8B-B14F-4D97-AF65-F5344CB8AC3E}">
        <p14:creationId xmlns:p14="http://schemas.microsoft.com/office/powerpoint/2010/main" val="16463226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TextBox 7">
            <a:extLst>
              <a:ext uri="{FF2B5EF4-FFF2-40B4-BE49-F238E27FC236}">
                <a16:creationId xmlns:a16="http://schemas.microsoft.com/office/drawing/2014/main" id="{CE4EE81C-0DA5-C021-8DE3-2D377D2852D8}"/>
              </a:ext>
            </a:extLst>
          </p:cNvPr>
          <p:cNvSpPr txBox="1"/>
          <p:nvPr userDrawn="1">
            <p:extLst>
              <p:ext uri="{1162E1C5-73C7-4A58-AE30-91384D911F3F}">
                <p184:classification xmlns:p184="http://schemas.microsoft.com/office/powerpoint/2018/4/main" val="ftr"/>
              </p:ext>
            </p:extLst>
          </p:nvPr>
        </p:nvSpPr>
        <p:spPr>
          <a:xfrm>
            <a:off x="3992563" y="6672580"/>
            <a:ext cx="1187450" cy="121920"/>
          </a:xfrm>
          <a:prstGeom prst="rect">
            <a:avLst/>
          </a:prstGeom>
        </p:spPr>
        <p:txBody>
          <a:bodyPr horzOverflow="overflow" lIns="0" tIns="0" rIns="0" bIns="0">
            <a:spAutoFit/>
          </a:bodyPr>
          <a:lstStyle/>
          <a:p>
            <a:pPr algn="l"/>
            <a:r>
              <a:rPr lang="en-US" sz="800">
                <a:solidFill>
                  <a:srgbClr val="2E404D">
                    <a:alpha val="50000"/>
                  </a:srgbClr>
                </a:solidFill>
                <a:latin typeface="Arial" panose="020B0604020202020204" pitchFamily="34" charset="0"/>
                <a:cs typeface="Arial" panose="020B0604020202020204" pitchFamily="34" charset="0"/>
              </a:rPr>
              <a:t>Sensitivity Label: General</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a:t>
            </a:r>
          </a:p>
        </p:txBody>
      </p:sp>
      <p:sp>
        <p:nvSpPr>
          <p:cNvPr id="3" name="TextBox 2"/>
          <p:cNvSpPr txBox="1"/>
          <p:nvPr/>
        </p:nvSpPr>
        <p:spPr>
          <a:xfrm>
            <a:off x="457200" y="1051560"/>
            <a:ext cx="8229600" cy="502920"/>
          </a:xfrm>
          <a:prstGeom prst="rect">
            <a:avLst/>
          </a:prstGeom>
          <a:noFill/>
        </p:spPr>
        <p:txBody>
          <a:bodyPr wrap="square" lIns="73152" tIns="36576" rIns="73152" bIns="36576" anchor="t">
            <a:spAutoFit/>
          </a:bodyPr>
          <a:lstStyle/>
          <a:p>
            <a:pPr algn="ctr"/>
            <a:r>
              <a:rPr sz="2400" b="1">
                <a:solidFill>
                  <a:srgbClr val="002060"/>
                </a:solidFill>
                <a:latin typeface="Calibri"/>
              </a:rPr>
              <a:t>Day 7: Building Medallion Architecture Pipelines</a:t>
            </a:r>
          </a:p>
        </p:txBody>
      </p:sp>
      <p:sp>
        <p:nvSpPr>
          <p:cNvPr id="4" name="TextBox 3"/>
          <p:cNvSpPr txBox="1"/>
          <p:nvPr/>
        </p:nvSpPr>
        <p:spPr>
          <a:xfrm>
            <a:off x="640080" y="1691640"/>
            <a:ext cx="7863840" cy="320040"/>
          </a:xfrm>
          <a:prstGeom prst="rect">
            <a:avLst/>
          </a:prstGeom>
          <a:noFill/>
        </p:spPr>
        <p:txBody>
          <a:bodyPr wrap="square" lIns="73152" tIns="36576" rIns="73152" bIns="36576" anchor="t">
            <a:spAutoFit/>
          </a:bodyPr>
          <a:lstStyle/>
          <a:p>
            <a:pPr algn="ctr"/>
            <a:r>
              <a:rPr sz="1600" b="0">
                <a:solidFill>
                  <a:srgbClr val="585858"/>
                </a:solidFill>
                <a:latin typeface="Calibri"/>
              </a:rPr>
              <a:t>Medallion Pipeline Training — Week 2</a:t>
            </a:r>
          </a:p>
        </p:txBody>
      </p:sp>
      <p:sp>
        <p:nvSpPr>
          <p:cNvPr id="5" name="TextBox 4"/>
          <p:cNvSpPr txBox="1"/>
          <p:nvPr/>
        </p:nvSpPr>
        <p:spPr>
          <a:xfrm>
            <a:off x="640080" y="2148840"/>
            <a:ext cx="7863840" cy="274320"/>
          </a:xfrm>
          <a:prstGeom prst="rect">
            <a:avLst/>
          </a:prstGeom>
          <a:noFill/>
        </p:spPr>
        <p:txBody>
          <a:bodyPr wrap="square" lIns="73152" tIns="36576" rIns="73152" bIns="36576" anchor="t">
            <a:spAutoFit/>
          </a:bodyPr>
          <a:lstStyle/>
          <a:p>
            <a:pPr algn="ctr"/>
            <a:r>
              <a:rPr sz="1600" b="0">
                <a:solidFill>
                  <a:srgbClr val="585858"/>
                </a:solidFill>
                <a:latin typeface="Calibri"/>
              </a:rPr>
              <a:t>Spark Fundamentals · Bronze · Silver · Gold · Labs</a:t>
            </a:r>
          </a:p>
        </p:txBody>
      </p:sp>
      <p:sp>
        <p:nvSpPr>
          <p:cNvPr id="6" name="Rounded Rectangle 5"/>
          <p:cNvSpPr/>
          <p:nvPr/>
        </p:nvSpPr>
        <p:spPr>
          <a:xfrm>
            <a:off x="1005840" y="3703320"/>
            <a:ext cx="2103120" cy="1143000"/>
          </a:xfrm>
          <a:prstGeom prst="roundRect">
            <a:avLst/>
          </a:prstGeom>
          <a:solidFill>
            <a:srgbClr val="CD7F32"/>
          </a:solidFill>
          <a:ln w="12700">
            <a:solidFill>
              <a:srgbClr val="8C8C8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1B1B1B"/>
                </a:solidFill>
                <a:latin typeface="Calibri"/>
              </a:rPr>
              <a:t>Bronze
Raw, immutable
full fidelity</a:t>
            </a:r>
          </a:p>
        </p:txBody>
      </p:sp>
      <p:sp>
        <p:nvSpPr>
          <p:cNvPr id="7" name="Rectangle 6"/>
          <p:cNvSpPr/>
          <p:nvPr/>
        </p:nvSpPr>
        <p:spPr>
          <a:xfrm>
            <a:off x="3182112" y="4183380"/>
            <a:ext cx="274320" cy="18288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002060"/>
                </a:solidFill>
                <a:latin typeface="Calibri"/>
              </a:rPr>
              <a:t>→</a:t>
            </a:r>
          </a:p>
        </p:txBody>
      </p:sp>
      <p:sp>
        <p:nvSpPr>
          <p:cNvPr id="8" name="Rounded Rectangle 7"/>
          <p:cNvSpPr/>
          <p:nvPr/>
        </p:nvSpPr>
        <p:spPr>
          <a:xfrm>
            <a:off x="3520440" y="3703320"/>
            <a:ext cx="2103120" cy="1143000"/>
          </a:xfrm>
          <a:prstGeom prst="roundRect">
            <a:avLst/>
          </a:prstGeom>
          <a:solidFill>
            <a:srgbClr val="C0C0C0"/>
          </a:solidFill>
          <a:ln w="12700">
            <a:solidFill>
              <a:srgbClr val="8C8C8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1B1B1B"/>
                </a:solidFill>
                <a:latin typeface="Calibri"/>
              </a:rPr>
              <a:t>Silver
Cleaned, conformed
quality checked</a:t>
            </a:r>
          </a:p>
        </p:txBody>
      </p:sp>
      <p:sp>
        <p:nvSpPr>
          <p:cNvPr id="9" name="Rectangle 8"/>
          <p:cNvSpPr/>
          <p:nvPr/>
        </p:nvSpPr>
        <p:spPr>
          <a:xfrm>
            <a:off x="5696712" y="4183380"/>
            <a:ext cx="274320" cy="18288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002060"/>
                </a:solidFill>
                <a:latin typeface="Calibri"/>
              </a:rPr>
              <a:t>→</a:t>
            </a:r>
          </a:p>
        </p:txBody>
      </p:sp>
      <p:sp>
        <p:nvSpPr>
          <p:cNvPr id="10" name="Rounded Rectangle 9"/>
          <p:cNvSpPr/>
          <p:nvPr/>
        </p:nvSpPr>
        <p:spPr>
          <a:xfrm>
            <a:off x="6035040" y="3703320"/>
            <a:ext cx="2103120" cy="1143000"/>
          </a:xfrm>
          <a:prstGeom prst="roundRect">
            <a:avLst/>
          </a:prstGeom>
          <a:solidFill>
            <a:srgbClr val="FFD700"/>
          </a:solidFill>
          <a:ln w="12700">
            <a:solidFill>
              <a:srgbClr val="8C8C8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1B1B1B"/>
                </a:solidFill>
                <a:latin typeface="Calibri"/>
              </a:rPr>
              <a:t>Gold
Business-ready
KPIs and marts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2</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Learning Objectives</a:t>
            </a:r>
          </a:p>
        </p:txBody>
      </p:sp>
      <p:sp>
        <p:nvSpPr>
          <p:cNvPr id="4" name="Rounded Rectangle 3"/>
          <p:cNvSpPr/>
          <p:nvPr/>
        </p:nvSpPr>
        <p:spPr>
          <a:xfrm>
            <a:off x="713232" y="932688"/>
            <a:ext cx="384048" cy="384048"/>
          </a:xfrm>
          <a:prstGeom prst="roundRect">
            <a:avLst/>
          </a:prstGeom>
          <a:solidFill>
            <a:srgbClr val="002060"/>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FFFFFF"/>
                </a:solidFill>
                <a:latin typeface="Calibri"/>
              </a:rPr>
              <a:t>1</a:t>
            </a:r>
          </a:p>
        </p:txBody>
      </p:sp>
      <p:sp>
        <p:nvSpPr>
          <p:cNvPr id="5" name="TextBox 4"/>
          <p:cNvSpPr txBox="1"/>
          <p:nvPr/>
        </p:nvSpPr>
        <p:spPr>
          <a:xfrm>
            <a:off x="1243584" y="960120"/>
            <a:ext cx="7223760" cy="310896"/>
          </a:xfrm>
          <a:prstGeom prst="rect">
            <a:avLst/>
          </a:prstGeom>
          <a:noFill/>
        </p:spPr>
        <p:txBody>
          <a:bodyPr wrap="square" lIns="73152" tIns="36576" rIns="73152" bIns="36576" anchor="t">
            <a:spAutoFit/>
          </a:bodyPr>
          <a:lstStyle/>
          <a:p>
            <a:pPr algn="l"/>
            <a:r>
              <a:rPr sz="1400" b="0">
                <a:solidFill>
                  <a:srgbClr val="333333"/>
                </a:solidFill>
                <a:latin typeface="Calibri"/>
              </a:rPr>
              <a:t>Understand Apache Spark architecture and distributed computing</a:t>
            </a:r>
          </a:p>
        </p:txBody>
      </p:sp>
      <p:sp>
        <p:nvSpPr>
          <p:cNvPr id="6" name="Rounded Rectangle 5"/>
          <p:cNvSpPr/>
          <p:nvPr/>
        </p:nvSpPr>
        <p:spPr>
          <a:xfrm>
            <a:off x="713232" y="1645920"/>
            <a:ext cx="384048" cy="384048"/>
          </a:xfrm>
          <a:prstGeom prst="roundRect">
            <a:avLst/>
          </a:prstGeom>
          <a:solidFill>
            <a:srgbClr val="002060"/>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FFFFFF"/>
                </a:solidFill>
                <a:latin typeface="Calibri"/>
              </a:rPr>
              <a:t>2</a:t>
            </a:r>
          </a:p>
        </p:txBody>
      </p:sp>
      <p:sp>
        <p:nvSpPr>
          <p:cNvPr id="7" name="TextBox 6"/>
          <p:cNvSpPr txBox="1"/>
          <p:nvPr/>
        </p:nvSpPr>
        <p:spPr>
          <a:xfrm>
            <a:off x="1243584" y="1673352"/>
            <a:ext cx="7223760" cy="310896"/>
          </a:xfrm>
          <a:prstGeom prst="rect">
            <a:avLst/>
          </a:prstGeom>
          <a:noFill/>
        </p:spPr>
        <p:txBody>
          <a:bodyPr wrap="square" lIns="73152" tIns="36576" rIns="73152" bIns="36576" anchor="t">
            <a:spAutoFit/>
          </a:bodyPr>
          <a:lstStyle/>
          <a:p>
            <a:pPr algn="l"/>
            <a:r>
              <a:rPr sz="1400" b="0">
                <a:solidFill>
                  <a:srgbClr val="333333"/>
                </a:solidFill>
                <a:latin typeface="Calibri"/>
              </a:rPr>
              <a:t>Work with DataFrames, SQL, and Spark transformations</a:t>
            </a:r>
          </a:p>
        </p:txBody>
      </p:sp>
      <p:sp>
        <p:nvSpPr>
          <p:cNvPr id="8" name="Rounded Rectangle 7"/>
          <p:cNvSpPr/>
          <p:nvPr/>
        </p:nvSpPr>
        <p:spPr>
          <a:xfrm>
            <a:off x="713232" y="2359152"/>
            <a:ext cx="384048" cy="384048"/>
          </a:xfrm>
          <a:prstGeom prst="roundRect">
            <a:avLst/>
          </a:prstGeom>
          <a:solidFill>
            <a:srgbClr val="002060"/>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FFFFFF"/>
                </a:solidFill>
                <a:latin typeface="Calibri"/>
              </a:rPr>
              <a:t>3</a:t>
            </a:r>
          </a:p>
        </p:txBody>
      </p:sp>
      <p:sp>
        <p:nvSpPr>
          <p:cNvPr id="9" name="TextBox 8"/>
          <p:cNvSpPr txBox="1"/>
          <p:nvPr/>
        </p:nvSpPr>
        <p:spPr>
          <a:xfrm>
            <a:off x="1243584" y="2386584"/>
            <a:ext cx="7223760" cy="310896"/>
          </a:xfrm>
          <a:prstGeom prst="rect">
            <a:avLst/>
          </a:prstGeom>
          <a:noFill/>
        </p:spPr>
        <p:txBody>
          <a:bodyPr wrap="square" lIns="73152" tIns="36576" rIns="73152" bIns="36576" anchor="t">
            <a:spAutoFit/>
          </a:bodyPr>
          <a:lstStyle/>
          <a:p>
            <a:pPr algn="l"/>
            <a:r>
              <a:rPr sz="1400" b="0">
                <a:solidFill>
                  <a:srgbClr val="333333"/>
                </a:solidFill>
                <a:latin typeface="Calibri"/>
              </a:rPr>
              <a:t>Explain storage formats (Parquet, JSON, CSV) and partitioning</a:t>
            </a:r>
          </a:p>
        </p:txBody>
      </p:sp>
      <p:sp>
        <p:nvSpPr>
          <p:cNvPr id="10" name="Rounded Rectangle 9"/>
          <p:cNvSpPr/>
          <p:nvPr/>
        </p:nvSpPr>
        <p:spPr>
          <a:xfrm>
            <a:off x="713232" y="3072384"/>
            <a:ext cx="384048" cy="384048"/>
          </a:xfrm>
          <a:prstGeom prst="roundRect">
            <a:avLst/>
          </a:prstGeom>
          <a:solidFill>
            <a:srgbClr val="002060"/>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FFFFFF"/>
                </a:solidFill>
                <a:latin typeface="Calibri"/>
              </a:rPr>
              <a:t>4</a:t>
            </a:r>
          </a:p>
        </p:txBody>
      </p:sp>
      <p:sp>
        <p:nvSpPr>
          <p:cNvPr id="11" name="TextBox 10"/>
          <p:cNvSpPr txBox="1"/>
          <p:nvPr/>
        </p:nvSpPr>
        <p:spPr>
          <a:xfrm>
            <a:off x="1243584" y="3099816"/>
            <a:ext cx="7223760" cy="310896"/>
          </a:xfrm>
          <a:prstGeom prst="rect">
            <a:avLst/>
          </a:prstGeom>
          <a:noFill/>
        </p:spPr>
        <p:txBody>
          <a:bodyPr wrap="square" lIns="73152" tIns="36576" rIns="73152" bIns="36576" anchor="t">
            <a:spAutoFit/>
          </a:bodyPr>
          <a:lstStyle/>
          <a:p>
            <a:pPr algn="l"/>
            <a:r>
              <a:rPr sz="1400" b="0">
                <a:solidFill>
                  <a:srgbClr val="333333"/>
                </a:solidFill>
                <a:latin typeface="Calibri"/>
              </a:rPr>
              <a:t>Build Bronze layer with raw ingestion and metadata tracking</a:t>
            </a:r>
          </a:p>
        </p:txBody>
      </p:sp>
      <p:sp>
        <p:nvSpPr>
          <p:cNvPr id="12" name="Rounded Rectangle 11"/>
          <p:cNvSpPr/>
          <p:nvPr/>
        </p:nvSpPr>
        <p:spPr>
          <a:xfrm>
            <a:off x="713232" y="3785616"/>
            <a:ext cx="384048" cy="384048"/>
          </a:xfrm>
          <a:prstGeom prst="roundRect">
            <a:avLst/>
          </a:prstGeom>
          <a:solidFill>
            <a:srgbClr val="002060"/>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FFFFFF"/>
                </a:solidFill>
                <a:latin typeface="Calibri"/>
              </a:rPr>
              <a:t>5</a:t>
            </a:r>
          </a:p>
        </p:txBody>
      </p:sp>
      <p:sp>
        <p:nvSpPr>
          <p:cNvPr id="13" name="TextBox 12"/>
          <p:cNvSpPr txBox="1"/>
          <p:nvPr/>
        </p:nvSpPr>
        <p:spPr>
          <a:xfrm>
            <a:off x="1243584" y="3813048"/>
            <a:ext cx="7223760" cy="310896"/>
          </a:xfrm>
          <a:prstGeom prst="rect">
            <a:avLst/>
          </a:prstGeom>
          <a:noFill/>
        </p:spPr>
        <p:txBody>
          <a:bodyPr wrap="square" lIns="73152" tIns="36576" rIns="73152" bIns="36576" anchor="t">
            <a:spAutoFit/>
          </a:bodyPr>
          <a:lstStyle/>
          <a:p>
            <a:pPr algn="l"/>
            <a:r>
              <a:rPr sz="1400" b="0">
                <a:solidFill>
                  <a:srgbClr val="333333"/>
                </a:solidFill>
                <a:latin typeface="Calibri"/>
              </a:rPr>
              <a:t>Implement Silver layer with cleaning, quality gates, and CDC</a:t>
            </a:r>
          </a:p>
        </p:txBody>
      </p:sp>
      <p:sp>
        <p:nvSpPr>
          <p:cNvPr id="14" name="Rounded Rectangle 13"/>
          <p:cNvSpPr/>
          <p:nvPr/>
        </p:nvSpPr>
        <p:spPr>
          <a:xfrm>
            <a:off x="713232" y="4498848"/>
            <a:ext cx="384048" cy="384048"/>
          </a:xfrm>
          <a:prstGeom prst="roundRect">
            <a:avLst/>
          </a:prstGeom>
          <a:solidFill>
            <a:srgbClr val="002060"/>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FFFFFF"/>
                </a:solidFill>
                <a:latin typeface="Calibri"/>
              </a:rPr>
              <a:t>6</a:t>
            </a:r>
          </a:p>
        </p:txBody>
      </p:sp>
      <p:sp>
        <p:nvSpPr>
          <p:cNvPr id="15" name="TextBox 14"/>
          <p:cNvSpPr txBox="1"/>
          <p:nvPr/>
        </p:nvSpPr>
        <p:spPr>
          <a:xfrm>
            <a:off x="1243584" y="4526280"/>
            <a:ext cx="7223760" cy="310896"/>
          </a:xfrm>
          <a:prstGeom prst="rect">
            <a:avLst/>
          </a:prstGeom>
          <a:noFill/>
        </p:spPr>
        <p:txBody>
          <a:bodyPr wrap="square" lIns="73152" tIns="36576" rIns="73152" bIns="36576" anchor="t">
            <a:spAutoFit/>
          </a:bodyPr>
          <a:lstStyle/>
          <a:p>
            <a:pPr algn="l"/>
            <a:r>
              <a:rPr sz="1400" b="0">
                <a:solidFill>
                  <a:srgbClr val="333333"/>
                </a:solidFill>
                <a:latin typeface="Calibri"/>
              </a:rPr>
              <a:t>Create Gold layer with business KPIs and aggregations</a:t>
            </a:r>
          </a:p>
        </p:txBody>
      </p:sp>
      <p:sp>
        <p:nvSpPr>
          <p:cNvPr id="16" name="Rounded Rectangle 15"/>
          <p:cNvSpPr/>
          <p:nvPr/>
        </p:nvSpPr>
        <p:spPr>
          <a:xfrm>
            <a:off x="713232" y="5212080"/>
            <a:ext cx="384048" cy="384048"/>
          </a:xfrm>
          <a:prstGeom prst="roundRect">
            <a:avLst/>
          </a:prstGeom>
          <a:solidFill>
            <a:srgbClr val="002060"/>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FFFFFF"/>
                </a:solidFill>
                <a:latin typeface="Calibri"/>
              </a:rPr>
              <a:t>7</a:t>
            </a:r>
          </a:p>
        </p:txBody>
      </p:sp>
      <p:sp>
        <p:nvSpPr>
          <p:cNvPr id="17" name="TextBox 16"/>
          <p:cNvSpPr txBox="1"/>
          <p:nvPr/>
        </p:nvSpPr>
        <p:spPr>
          <a:xfrm>
            <a:off x="1243584" y="5239512"/>
            <a:ext cx="7223760" cy="310896"/>
          </a:xfrm>
          <a:prstGeom prst="rect">
            <a:avLst/>
          </a:prstGeom>
          <a:noFill/>
        </p:spPr>
        <p:txBody>
          <a:bodyPr wrap="square" lIns="73152" tIns="36576" rIns="73152" bIns="36576" anchor="t">
            <a:spAutoFit/>
          </a:bodyPr>
          <a:lstStyle/>
          <a:p>
            <a:pPr algn="l"/>
            <a:r>
              <a:rPr sz="1400" b="0">
                <a:solidFill>
                  <a:srgbClr val="333333"/>
                </a:solidFill>
                <a:latin typeface="Calibri"/>
              </a:rPr>
              <a:t>Publish Bronze, Silver, Gold, and quarantine outputs into MinIO buckets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3</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Agenda</a:t>
            </a:r>
          </a:p>
        </p:txBody>
      </p:sp>
      <p:sp>
        <p:nvSpPr>
          <p:cNvPr id="4" name="Rounded Rectangle 3"/>
          <p:cNvSpPr/>
          <p:nvPr/>
        </p:nvSpPr>
        <p:spPr>
          <a:xfrm>
            <a:off x="594360" y="950976"/>
            <a:ext cx="841248" cy="347472"/>
          </a:xfrm>
          <a:prstGeom prst="roundRect">
            <a:avLst/>
          </a:prstGeom>
          <a:solidFill>
            <a:srgbClr val="002060"/>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FFFFFF"/>
                </a:solidFill>
                <a:latin typeface="Calibri"/>
              </a:rPr>
              <a:t>09:00</a:t>
            </a:r>
          </a:p>
        </p:txBody>
      </p:sp>
      <p:sp>
        <p:nvSpPr>
          <p:cNvPr id="5" name="TextBox 4"/>
          <p:cNvSpPr txBox="1"/>
          <p:nvPr/>
        </p:nvSpPr>
        <p:spPr>
          <a:xfrm>
            <a:off x="1563624" y="941832"/>
            <a:ext cx="3154680" cy="201168"/>
          </a:xfrm>
          <a:prstGeom prst="rect">
            <a:avLst/>
          </a:prstGeom>
          <a:noFill/>
        </p:spPr>
        <p:txBody>
          <a:bodyPr wrap="square" lIns="73152" tIns="36576" rIns="73152" bIns="36576" anchor="t">
            <a:spAutoFit/>
          </a:bodyPr>
          <a:lstStyle/>
          <a:p>
            <a:pPr algn="l"/>
            <a:r>
              <a:rPr sz="1140" b="1">
                <a:solidFill>
                  <a:srgbClr val="333333"/>
                </a:solidFill>
                <a:latin typeface="Calibri"/>
              </a:rPr>
              <a:t>Welcome, Recap of Day 6 &amp; Objectives</a:t>
            </a:r>
          </a:p>
        </p:txBody>
      </p:sp>
      <p:sp>
        <p:nvSpPr>
          <p:cNvPr id="6" name="TextBox 5"/>
          <p:cNvSpPr txBox="1"/>
          <p:nvPr/>
        </p:nvSpPr>
        <p:spPr>
          <a:xfrm>
            <a:off x="1563624" y="1170432"/>
            <a:ext cx="3154680" cy="182880"/>
          </a:xfrm>
          <a:prstGeom prst="rect">
            <a:avLst/>
          </a:prstGeom>
          <a:noFill/>
        </p:spPr>
        <p:txBody>
          <a:bodyPr wrap="square" lIns="73152" tIns="36576" rIns="73152" bIns="36576" anchor="t">
            <a:spAutoFit/>
          </a:bodyPr>
          <a:lstStyle/>
          <a:p>
            <a:pPr algn="l"/>
            <a:r>
              <a:rPr sz="950" b="0">
                <a:solidFill>
                  <a:srgbClr val="585858"/>
                </a:solidFill>
                <a:latin typeface="Calibri"/>
              </a:rPr>
              <a:t>30 min</a:t>
            </a:r>
          </a:p>
        </p:txBody>
      </p:sp>
      <p:sp>
        <p:nvSpPr>
          <p:cNvPr id="7" name="Rounded Rectangle 6"/>
          <p:cNvSpPr/>
          <p:nvPr/>
        </p:nvSpPr>
        <p:spPr>
          <a:xfrm>
            <a:off x="594360" y="1655064"/>
            <a:ext cx="841248" cy="347472"/>
          </a:xfrm>
          <a:prstGeom prst="roundRect">
            <a:avLst/>
          </a:prstGeom>
          <a:solidFill>
            <a:srgbClr val="002060"/>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FFFFFF"/>
                </a:solidFill>
                <a:latin typeface="Calibri"/>
              </a:rPr>
              <a:t>09:30</a:t>
            </a:r>
          </a:p>
        </p:txBody>
      </p:sp>
      <p:sp>
        <p:nvSpPr>
          <p:cNvPr id="8" name="TextBox 7"/>
          <p:cNvSpPr txBox="1"/>
          <p:nvPr/>
        </p:nvSpPr>
        <p:spPr>
          <a:xfrm>
            <a:off x="1563624" y="1645920"/>
            <a:ext cx="3154680" cy="201168"/>
          </a:xfrm>
          <a:prstGeom prst="rect">
            <a:avLst/>
          </a:prstGeom>
          <a:noFill/>
        </p:spPr>
        <p:txBody>
          <a:bodyPr wrap="square" lIns="73152" tIns="36576" rIns="73152" bIns="36576" anchor="t">
            <a:spAutoFit/>
          </a:bodyPr>
          <a:lstStyle/>
          <a:p>
            <a:pPr algn="l"/>
            <a:r>
              <a:rPr sz="1140" b="1">
                <a:solidFill>
                  <a:srgbClr val="333333"/>
                </a:solidFill>
                <a:latin typeface="Calibri"/>
              </a:rPr>
              <a:t>Module 1: Apache Spark Fundamentals</a:t>
            </a:r>
          </a:p>
        </p:txBody>
      </p:sp>
      <p:sp>
        <p:nvSpPr>
          <p:cNvPr id="9" name="TextBox 8"/>
          <p:cNvSpPr txBox="1"/>
          <p:nvPr/>
        </p:nvSpPr>
        <p:spPr>
          <a:xfrm>
            <a:off x="1563624" y="1874519"/>
            <a:ext cx="3154680" cy="182880"/>
          </a:xfrm>
          <a:prstGeom prst="rect">
            <a:avLst/>
          </a:prstGeom>
          <a:noFill/>
        </p:spPr>
        <p:txBody>
          <a:bodyPr wrap="square" lIns="73152" tIns="36576" rIns="73152" bIns="36576" anchor="t">
            <a:spAutoFit/>
          </a:bodyPr>
          <a:lstStyle/>
          <a:p>
            <a:pPr algn="l"/>
            <a:r>
              <a:rPr sz="950" b="0">
                <a:solidFill>
                  <a:srgbClr val="585858"/>
                </a:solidFill>
                <a:latin typeface="Calibri"/>
              </a:rPr>
              <a:t>60 min</a:t>
            </a:r>
          </a:p>
        </p:txBody>
      </p:sp>
      <p:sp>
        <p:nvSpPr>
          <p:cNvPr id="10" name="Rounded Rectangle 9"/>
          <p:cNvSpPr/>
          <p:nvPr/>
        </p:nvSpPr>
        <p:spPr>
          <a:xfrm>
            <a:off x="594360" y="2359152"/>
            <a:ext cx="841248" cy="347472"/>
          </a:xfrm>
          <a:prstGeom prst="roundRect">
            <a:avLst/>
          </a:prstGeom>
          <a:solidFill>
            <a:srgbClr val="7F8C8D"/>
          </a:solidFill>
          <a:ln w="12700">
            <a:solidFill>
              <a:srgbClr val="7F8C8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FFFFFF"/>
                </a:solidFill>
                <a:latin typeface="Calibri"/>
              </a:rPr>
              <a:t>10:30</a:t>
            </a:r>
          </a:p>
        </p:txBody>
      </p:sp>
      <p:sp>
        <p:nvSpPr>
          <p:cNvPr id="11" name="TextBox 10"/>
          <p:cNvSpPr txBox="1"/>
          <p:nvPr/>
        </p:nvSpPr>
        <p:spPr>
          <a:xfrm>
            <a:off x="1563624" y="2350008"/>
            <a:ext cx="3154680" cy="201168"/>
          </a:xfrm>
          <a:prstGeom prst="rect">
            <a:avLst/>
          </a:prstGeom>
          <a:noFill/>
        </p:spPr>
        <p:txBody>
          <a:bodyPr wrap="square" lIns="73152" tIns="36576" rIns="73152" bIns="36576" anchor="t">
            <a:spAutoFit/>
          </a:bodyPr>
          <a:lstStyle/>
          <a:p>
            <a:pPr algn="l"/>
            <a:r>
              <a:rPr sz="1140" b="1">
                <a:solidFill>
                  <a:srgbClr val="333333"/>
                </a:solidFill>
                <a:latin typeface="Calibri"/>
              </a:rPr>
              <a:t>Break</a:t>
            </a:r>
          </a:p>
        </p:txBody>
      </p:sp>
      <p:sp>
        <p:nvSpPr>
          <p:cNvPr id="12" name="TextBox 11"/>
          <p:cNvSpPr txBox="1"/>
          <p:nvPr/>
        </p:nvSpPr>
        <p:spPr>
          <a:xfrm>
            <a:off x="1563624" y="2578608"/>
            <a:ext cx="3154680" cy="182880"/>
          </a:xfrm>
          <a:prstGeom prst="rect">
            <a:avLst/>
          </a:prstGeom>
          <a:noFill/>
        </p:spPr>
        <p:txBody>
          <a:bodyPr wrap="square" lIns="73152" tIns="36576" rIns="73152" bIns="36576" anchor="t">
            <a:spAutoFit/>
          </a:bodyPr>
          <a:lstStyle/>
          <a:p>
            <a:pPr algn="l"/>
            <a:r>
              <a:rPr sz="950" b="0">
                <a:solidFill>
                  <a:srgbClr val="585858"/>
                </a:solidFill>
                <a:latin typeface="Calibri"/>
              </a:rPr>
              <a:t>15 min</a:t>
            </a:r>
          </a:p>
        </p:txBody>
      </p:sp>
      <p:sp>
        <p:nvSpPr>
          <p:cNvPr id="13" name="Rounded Rectangle 12"/>
          <p:cNvSpPr/>
          <p:nvPr/>
        </p:nvSpPr>
        <p:spPr>
          <a:xfrm>
            <a:off x="594360" y="3063240"/>
            <a:ext cx="841248" cy="347472"/>
          </a:xfrm>
          <a:prstGeom prst="roundRect">
            <a:avLst/>
          </a:prstGeom>
          <a:solidFill>
            <a:srgbClr val="CD7F32"/>
          </a:solidFill>
          <a:ln w="12700">
            <a:solidFill>
              <a:srgbClr val="CD7F3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FFFFFF"/>
                </a:solidFill>
                <a:latin typeface="Calibri"/>
              </a:rPr>
              <a:t>10:45</a:t>
            </a:r>
          </a:p>
        </p:txBody>
      </p:sp>
      <p:sp>
        <p:nvSpPr>
          <p:cNvPr id="14" name="TextBox 13"/>
          <p:cNvSpPr txBox="1"/>
          <p:nvPr/>
        </p:nvSpPr>
        <p:spPr>
          <a:xfrm>
            <a:off x="1563624" y="3054096"/>
            <a:ext cx="3154680" cy="201168"/>
          </a:xfrm>
          <a:prstGeom prst="rect">
            <a:avLst/>
          </a:prstGeom>
          <a:noFill/>
        </p:spPr>
        <p:txBody>
          <a:bodyPr wrap="square" lIns="73152" tIns="36576" rIns="73152" bIns="36576" anchor="t">
            <a:spAutoFit/>
          </a:bodyPr>
          <a:lstStyle/>
          <a:p>
            <a:pPr algn="l"/>
            <a:r>
              <a:rPr sz="1140" b="1">
                <a:solidFill>
                  <a:srgbClr val="333333"/>
                </a:solidFill>
                <a:latin typeface="Calibri"/>
              </a:rPr>
              <a:t>Module 2: Bronze Layer — Raw Data Ingestion</a:t>
            </a:r>
          </a:p>
        </p:txBody>
      </p:sp>
      <p:sp>
        <p:nvSpPr>
          <p:cNvPr id="15" name="TextBox 14"/>
          <p:cNvSpPr txBox="1"/>
          <p:nvPr/>
        </p:nvSpPr>
        <p:spPr>
          <a:xfrm>
            <a:off x="1563624" y="3282696"/>
            <a:ext cx="3154680" cy="182880"/>
          </a:xfrm>
          <a:prstGeom prst="rect">
            <a:avLst/>
          </a:prstGeom>
          <a:noFill/>
        </p:spPr>
        <p:txBody>
          <a:bodyPr wrap="square" lIns="73152" tIns="36576" rIns="73152" bIns="36576" anchor="t">
            <a:spAutoFit/>
          </a:bodyPr>
          <a:lstStyle/>
          <a:p>
            <a:pPr algn="l"/>
            <a:r>
              <a:rPr sz="950" b="0">
                <a:solidFill>
                  <a:srgbClr val="585858"/>
                </a:solidFill>
                <a:latin typeface="Calibri"/>
              </a:rPr>
              <a:t>60 min</a:t>
            </a:r>
          </a:p>
        </p:txBody>
      </p:sp>
      <p:sp>
        <p:nvSpPr>
          <p:cNvPr id="16" name="Rounded Rectangle 15"/>
          <p:cNvSpPr/>
          <p:nvPr/>
        </p:nvSpPr>
        <p:spPr>
          <a:xfrm>
            <a:off x="594360" y="3767328"/>
            <a:ext cx="841248" cy="347472"/>
          </a:xfrm>
          <a:prstGeom prst="roundRect">
            <a:avLst/>
          </a:prstGeom>
          <a:solidFill>
            <a:srgbClr val="7F8C8D"/>
          </a:solidFill>
          <a:ln w="12700">
            <a:solidFill>
              <a:srgbClr val="7F8C8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FFFFFF"/>
                </a:solidFill>
                <a:latin typeface="Calibri"/>
              </a:rPr>
              <a:t>11:45</a:t>
            </a:r>
          </a:p>
        </p:txBody>
      </p:sp>
      <p:sp>
        <p:nvSpPr>
          <p:cNvPr id="17" name="TextBox 16"/>
          <p:cNvSpPr txBox="1"/>
          <p:nvPr/>
        </p:nvSpPr>
        <p:spPr>
          <a:xfrm>
            <a:off x="1563624" y="3758184"/>
            <a:ext cx="3154680" cy="201168"/>
          </a:xfrm>
          <a:prstGeom prst="rect">
            <a:avLst/>
          </a:prstGeom>
          <a:noFill/>
        </p:spPr>
        <p:txBody>
          <a:bodyPr wrap="square" lIns="73152" tIns="36576" rIns="73152" bIns="36576" anchor="t">
            <a:spAutoFit/>
          </a:bodyPr>
          <a:lstStyle/>
          <a:p>
            <a:pPr algn="l"/>
            <a:r>
              <a:rPr sz="1140" b="1">
                <a:solidFill>
                  <a:srgbClr val="333333"/>
                </a:solidFill>
                <a:latin typeface="Calibri"/>
              </a:rPr>
              <a:t>Break</a:t>
            </a:r>
          </a:p>
        </p:txBody>
      </p:sp>
      <p:sp>
        <p:nvSpPr>
          <p:cNvPr id="18" name="TextBox 17"/>
          <p:cNvSpPr txBox="1"/>
          <p:nvPr/>
        </p:nvSpPr>
        <p:spPr>
          <a:xfrm>
            <a:off x="1563624" y="3986784"/>
            <a:ext cx="3154680" cy="182880"/>
          </a:xfrm>
          <a:prstGeom prst="rect">
            <a:avLst/>
          </a:prstGeom>
          <a:noFill/>
        </p:spPr>
        <p:txBody>
          <a:bodyPr wrap="square" lIns="73152" tIns="36576" rIns="73152" bIns="36576" anchor="t">
            <a:spAutoFit/>
          </a:bodyPr>
          <a:lstStyle/>
          <a:p>
            <a:pPr algn="l"/>
            <a:r>
              <a:rPr sz="950" b="0">
                <a:solidFill>
                  <a:srgbClr val="585858"/>
                </a:solidFill>
                <a:latin typeface="Calibri"/>
              </a:rPr>
              <a:t>15 min</a:t>
            </a:r>
          </a:p>
        </p:txBody>
      </p:sp>
      <p:sp>
        <p:nvSpPr>
          <p:cNvPr id="19" name="Rounded Rectangle 18"/>
          <p:cNvSpPr/>
          <p:nvPr/>
        </p:nvSpPr>
        <p:spPr>
          <a:xfrm>
            <a:off x="594360" y="4471416"/>
            <a:ext cx="841248" cy="347472"/>
          </a:xfrm>
          <a:prstGeom prst="roundRect">
            <a:avLst/>
          </a:prstGeom>
          <a:solidFill>
            <a:srgbClr val="8E8E8E"/>
          </a:solidFill>
          <a:ln w="12700">
            <a:solidFill>
              <a:srgbClr val="8E8E8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FFFFFF"/>
                </a:solidFill>
                <a:latin typeface="Calibri"/>
              </a:rPr>
              <a:t>12:00</a:t>
            </a:r>
          </a:p>
        </p:txBody>
      </p:sp>
      <p:sp>
        <p:nvSpPr>
          <p:cNvPr id="20" name="TextBox 19"/>
          <p:cNvSpPr txBox="1"/>
          <p:nvPr/>
        </p:nvSpPr>
        <p:spPr>
          <a:xfrm>
            <a:off x="1563624" y="4462272"/>
            <a:ext cx="3154680" cy="201168"/>
          </a:xfrm>
          <a:prstGeom prst="rect">
            <a:avLst/>
          </a:prstGeom>
          <a:noFill/>
        </p:spPr>
        <p:txBody>
          <a:bodyPr wrap="square" lIns="73152" tIns="36576" rIns="73152" bIns="36576" anchor="t">
            <a:spAutoFit/>
          </a:bodyPr>
          <a:lstStyle/>
          <a:p>
            <a:pPr algn="l"/>
            <a:r>
              <a:rPr sz="1140" b="1">
                <a:solidFill>
                  <a:srgbClr val="333333"/>
                </a:solidFill>
                <a:latin typeface="Calibri"/>
              </a:rPr>
              <a:t>Module 3: Silver Layer — Cleaning &amp; Quality</a:t>
            </a:r>
          </a:p>
        </p:txBody>
      </p:sp>
      <p:sp>
        <p:nvSpPr>
          <p:cNvPr id="21" name="TextBox 20"/>
          <p:cNvSpPr txBox="1"/>
          <p:nvPr/>
        </p:nvSpPr>
        <p:spPr>
          <a:xfrm>
            <a:off x="1563624" y="4690872"/>
            <a:ext cx="3154680" cy="182880"/>
          </a:xfrm>
          <a:prstGeom prst="rect">
            <a:avLst/>
          </a:prstGeom>
          <a:noFill/>
        </p:spPr>
        <p:txBody>
          <a:bodyPr wrap="square" lIns="73152" tIns="36576" rIns="73152" bIns="36576" anchor="t">
            <a:spAutoFit/>
          </a:bodyPr>
          <a:lstStyle/>
          <a:p>
            <a:pPr algn="l"/>
            <a:r>
              <a:rPr sz="950" b="0">
                <a:solidFill>
                  <a:srgbClr val="585858"/>
                </a:solidFill>
                <a:latin typeface="Calibri"/>
              </a:rPr>
              <a:t>60 min</a:t>
            </a:r>
          </a:p>
        </p:txBody>
      </p:sp>
      <p:sp>
        <p:nvSpPr>
          <p:cNvPr id="22" name="Rounded Rectangle 21"/>
          <p:cNvSpPr/>
          <p:nvPr/>
        </p:nvSpPr>
        <p:spPr>
          <a:xfrm>
            <a:off x="594360" y="5175504"/>
            <a:ext cx="841248" cy="347472"/>
          </a:xfrm>
          <a:prstGeom prst="roundRect">
            <a:avLst/>
          </a:prstGeom>
          <a:solidFill>
            <a:srgbClr val="27AE60"/>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FFFFFF"/>
                </a:solidFill>
                <a:latin typeface="Calibri"/>
              </a:rPr>
              <a:t>13:00</a:t>
            </a:r>
          </a:p>
        </p:txBody>
      </p:sp>
      <p:sp>
        <p:nvSpPr>
          <p:cNvPr id="23" name="TextBox 22"/>
          <p:cNvSpPr txBox="1"/>
          <p:nvPr/>
        </p:nvSpPr>
        <p:spPr>
          <a:xfrm>
            <a:off x="1563624" y="5166360"/>
            <a:ext cx="3154680" cy="201168"/>
          </a:xfrm>
          <a:prstGeom prst="rect">
            <a:avLst/>
          </a:prstGeom>
          <a:noFill/>
        </p:spPr>
        <p:txBody>
          <a:bodyPr wrap="square" lIns="73152" tIns="36576" rIns="73152" bIns="36576" anchor="t">
            <a:spAutoFit/>
          </a:bodyPr>
          <a:lstStyle/>
          <a:p>
            <a:pPr algn="l"/>
            <a:r>
              <a:rPr sz="1140" b="1">
                <a:solidFill>
                  <a:srgbClr val="333333"/>
                </a:solidFill>
                <a:latin typeface="Calibri"/>
              </a:rPr>
              <a:t>Lunch Break</a:t>
            </a:r>
          </a:p>
        </p:txBody>
      </p:sp>
      <p:sp>
        <p:nvSpPr>
          <p:cNvPr id="24" name="TextBox 23"/>
          <p:cNvSpPr txBox="1"/>
          <p:nvPr/>
        </p:nvSpPr>
        <p:spPr>
          <a:xfrm>
            <a:off x="1563624" y="5394960"/>
            <a:ext cx="3154680" cy="182880"/>
          </a:xfrm>
          <a:prstGeom prst="rect">
            <a:avLst/>
          </a:prstGeom>
          <a:noFill/>
        </p:spPr>
        <p:txBody>
          <a:bodyPr wrap="square" lIns="73152" tIns="36576" rIns="73152" bIns="36576" anchor="t">
            <a:spAutoFit/>
          </a:bodyPr>
          <a:lstStyle/>
          <a:p>
            <a:pPr algn="l"/>
            <a:r>
              <a:rPr sz="950" b="0">
                <a:solidFill>
                  <a:srgbClr val="585858"/>
                </a:solidFill>
                <a:latin typeface="Calibri"/>
              </a:rPr>
              <a:t>60 min</a:t>
            </a:r>
          </a:p>
        </p:txBody>
      </p:sp>
      <p:sp>
        <p:nvSpPr>
          <p:cNvPr id="25" name="Rounded Rectangle 24"/>
          <p:cNvSpPr/>
          <p:nvPr/>
        </p:nvSpPr>
        <p:spPr>
          <a:xfrm>
            <a:off x="4910328" y="950976"/>
            <a:ext cx="841248" cy="347472"/>
          </a:xfrm>
          <a:prstGeom prst="roundRect">
            <a:avLst/>
          </a:prstGeom>
          <a:solidFill>
            <a:srgbClr val="8E8E8E"/>
          </a:solidFill>
          <a:ln w="12700">
            <a:solidFill>
              <a:srgbClr val="8E8E8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FFFFFF"/>
                </a:solidFill>
                <a:latin typeface="Calibri"/>
              </a:rPr>
              <a:t>14:00</a:t>
            </a:r>
          </a:p>
        </p:txBody>
      </p:sp>
      <p:sp>
        <p:nvSpPr>
          <p:cNvPr id="26" name="TextBox 25"/>
          <p:cNvSpPr txBox="1"/>
          <p:nvPr/>
        </p:nvSpPr>
        <p:spPr>
          <a:xfrm>
            <a:off x="5879592" y="941832"/>
            <a:ext cx="3154680" cy="201168"/>
          </a:xfrm>
          <a:prstGeom prst="rect">
            <a:avLst/>
          </a:prstGeom>
          <a:noFill/>
        </p:spPr>
        <p:txBody>
          <a:bodyPr wrap="square" lIns="73152" tIns="36576" rIns="73152" bIns="36576" anchor="t">
            <a:spAutoFit/>
          </a:bodyPr>
          <a:lstStyle/>
          <a:p>
            <a:pPr algn="l"/>
            <a:r>
              <a:rPr sz="1140" b="1">
                <a:solidFill>
                  <a:srgbClr val="333333"/>
                </a:solidFill>
                <a:latin typeface="Calibri"/>
              </a:rPr>
              <a:t>Module 4: Silver Layer — CDC &amp; Enrichment</a:t>
            </a:r>
          </a:p>
        </p:txBody>
      </p:sp>
      <p:sp>
        <p:nvSpPr>
          <p:cNvPr id="27" name="TextBox 26"/>
          <p:cNvSpPr txBox="1"/>
          <p:nvPr/>
        </p:nvSpPr>
        <p:spPr>
          <a:xfrm>
            <a:off x="5879592" y="1170432"/>
            <a:ext cx="3154680" cy="182880"/>
          </a:xfrm>
          <a:prstGeom prst="rect">
            <a:avLst/>
          </a:prstGeom>
          <a:noFill/>
        </p:spPr>
        <p:txBody>
          <a:bodyPr wrap="square" lIns="73152" tIns="36576" rIns="73152" bIns="36576" anchor="t">
            <a:spAutoFit/>
          </a:bodyPr>
          <a:lstStyle/>
          <a:p>
            <a:pPr algn="l"/>
            <a:r>
              <a:rPr sz="950" b="0">
                <a:solidFill>
                  <a:srgbClr val="585858"/>
                </a:solidFill>
                <a:latin typeface="Calibri"/>
              </a:rPr>
              <a:t>60 min</a:t>
            </a:r>
          </a:p>
        </p:txBody>
      </p:sp>
      <p:sp>
        <p:nvSpPr>
          <p:cNvPr id="28" name="Rounded Rectangle 27"/>
          <p:cNvSpPr/>
          <p:nvPr/>
        </p:nvSpPr>
        <p:spPr>
          <a:xfrm>
            <a:off x="4910328" y="1655064"/>
            <a:ext cx="841248" cy="347472"/>
          </a:xfrm>
          <a:prstGeom prst="roundRect">
            <a:avLst/>
          </a:prstGeom>
          <a:solidFill>
            <a:srgbClr val="7F8C8D"/>
          </a:solidFill>
          <a:ln w="12700">
            <a:solidFill>
              <a:srgbClr val="7F8C8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FFFFFF"/>
                </a:solidFill>
                <a:latin typeface="Calibri"/>
              </a:rPr>
              <a:t>15:00</a:t>
            </a:r>
          </a:p>
        </p:txBody>
      </p:sp>
      <p:sp>
        <p:nvSpPr>
          <p:cNvPr id="29" name="TextBox 28"/>
          <p:cNvSpPr txBox="1"/>
          <p:nvPr/>
        </p:nvSpPr>
        <p:spPr>
          <a:xfrm>
            <a:off x="5879592" y="1645920"/>
            <a:ext cx="3154680" cy="201168"/>
          </a:xfrm>
          <a:prstGeom prst="rect">
            <a:avLst/>
          </a:prstGeom>
          <a:noFill/>
        </p:spPr>
        <p:txBody>
          <a:bodyPr wrap="square" lIns="73152" tIns="36576" rIns="73152" bIns="36576" anchor="t">
            <a:spAutoFit/>
          </a:bodyPr>
          <a:lstStyle/>
          <a:p>
            <a:pPr algn="l"/>
            <a:r>
              <a:rPr sz="1140" b="1">
                <a:solidFill>
                  <a:srgbClr val="333333"/>
                </a:solidFill>
                <a:latin typeface="Calibri"/>
              </a:rPr>
              <a:t>Break</a:t>
            </a:r>
          </a:p>
        </p:txBody>
      </p:sp>
      <p:sp>
        <p:nvSpPr>
          <p:cNvPr id="30" name="TextBox 29"/>
          <p:cNvSpPr txBox="1"/>
          <p:nvPr/>
        </p:nvSpPr>
        <p:spPr>
          <a:xfrm>
            <a:off x="5879592" y="1874519"/>
            <a:ext cx="3154680" cy="182880"/>
          </a:xfrm>
          <a:prstGeom prst="rect">
            <a:avLst/>
          </a:prstGeom>
          <a:noFill/>
        </p:spPr>
        <p:txBody>
          <a:bodyPr wrap="square" lIns="73152" tIns="36576" rIns="73152" bIns="36576" anchor="t">
            <a:spAutoFit/>
          </a:bodyPr>
          <a:lstStyle/>
          <a:p>
            <a:pPr algn="l"/>
            <a:r>
              <a:rPr sz="950" b="0">
                <a:solidFill>
                  <a:srgbClr val="585858"/>
                </a:solidFill>
                <a:latin typeface="Calibri"/>
              </a:rPr>
              <a:t>15 min</a:t>
            </a:r>
          </a:p>
        </p:txBody>
      </p:sp>
      <p:sp>
        <p:nvSpPr>
          <p:cNvPr id="31" name="Rounded Rectangle 30"/>
          <p:cNvSpPr/>
          <p:nvPr/>
        </p:nvSpPr>
        <p:spPr>
          <a:xfrm>
            <a:off x="4910328" y="2359152"/>
            <a:ext cx="841248" cy="347472"/>
          </a:xfrm>
          <a:prstGeom prst="roundRect">
            <a:avLst/>
          </a:prstGeom>
          <a:solidFill>
            <a:srgbClr val="B7950B"/>
          </a:solidFill>
          <a:ln w="12700">
            <a:solidFill>
              <a:srgbClr val="B7950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FFFFFF"/>
                </a:solidFill>
                <a:latin typeface="Calibri"/>
              </a:rPr>
              <a:t>15:15</a:t>
            </a:r>
          </a:p>
        </p:txBody>
      </p:sp>
      <p:sp>
        <p:nvSpPr>
          <p:cNvPr id="32" name="TextBox 31"/>
          <p:cNvSpPr txBox="1"/>
          <p:nvPr/>
        </p:nvSpPr>
        <p:spPr>
          <a:xfrm>
            <a:off x="5879592" y="2350008"/>
            <a:ext cx="3154680" cy="201168"/>
          </a:xfrm>
          <a:prstGeom prst="rect">
            <a:avLst/>
          </a:prstGeom>
          <a:noFill/>
        </p:spPr>
        <p:txBody>
          <a:bodyPr wrap="square" lIns="73152" tIns="36576" rIns="73152" bIns="36576" anchor="t">
            <a:spAutoFit/>
          </a:bodyPr>
          <a:lstStyle/>
          <a:p>
            <a:pPr algn="l"/>
            <a:r>
              <a:rPr sz="1140" b="1">
                <a:solidFill>
                  <a:srgbClr val="333333"/>
                </a:solidFill>
                <a:latin typeface="Calibri"/>
              </a:rPr>
              <a:t>Module 5: Gold Layer — KPIs &amp; Aggregations</a:t>
            </a:r>
          </a:p>
        </p:txBody>
      </p:sp>
      <p:sp>
        <p:nvSpPr>
          <p:cNvPr id="33" name="TextBox 32"/>
          <p:cNvSpPr txBox="1"/>
          <p:nvPr/>
        </p:nvSpPr>
        <p:spPr>
          <a:xfrm>
            <a:off x="5879592" y="2578608"/>
            <a:ext cx="3154680" cy="182880"/>
          </a:xfrm>
          <a:prstGeom prst="rect">
            <a:avLst/>
          </a:prstGeom>
          <a:noFill/>
        </p:spPr>
        <p:txBody>
          <a:bodyPr wrap="square" lIns="73152" tIns="36576" rIns="73152" bIns="36576" anchor="t">
            <a:spAutoFit/>
          </a:bodyPr>
          <a:lstStyle/>
          <a:p>
            <a:pPr algn="l"/>
            <a:r>
              <a:rPr sz="950" b="0">
                <a:solidFill>
                  <a:srgbClr val="585858"/>
                </a:solidFill>
                <a:latin typeface="Calibri"/>
              </a:rPr>
              <a:t>60 min</a:t>
            </a:r>
          </a:p>
        </p:txBody>
      </p:sp>
      <p:sp>
        <p:nvSpPr>
          <p:cNvPr id="34" name="Rounded Rectangle 33"/>
          <p:cNvSpPr/>
          <p:nvPr/>
        </p:nvSpPr>
        <p:spPr>
          <a:xfrm>
            <a:off x="4910328" y="3063240"/>
            <a:ext cx="841248" cy="347472"/>
          </a:xfrm>
          <a:prstGeom prst="roundRect">
            <a:avLst/>
          </a:prstGeom>
          <a:solidFill>
            <a:srgbClr val="7F8C8D"/>
          </a:solidFill>
          <a:ln w="12700">
            <a:solidFill>
              <a:srgbClr val="7F8C8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FFFFFF"/>
                </a:solidFill>
                <a:latin typeface="Calibri"/>
              </a:rPr>
              <a:t>16:15</a:t>
            </a:r>
          </a:p>
        </p:txBody>
      </p:sp>
      <p:sp>
        <p:nvSpPr>
          <p:cNvPr id="35" name="TextBox 34"/>
          <p:cNvSpPr txBox="1"/>
          <p:nvPr/>
        </p:nvSpPr>
        <p:spPr>
          <a:xfrm>
            <a:off x="5879592" y="3054096"/>
            <a:ext cx="3154680" cy="201168"/>
          </a:xfrm>
          <a:prstGeom prst="rect">
            <a:avLst/>
          </a:prstGeom>
          <a:noFill/>
        </p:spPr>
        <p:txBody>
          <a:bodyPr wrap="square" lIns="73152" tIns="36576" rIns="73152" bIns="36576" anchor="t">
            <a:spAutoFit/>
          </a:bodyPr>
          <a:lstStyle/>
          <a:p>
            <a:pPr algn="l"/>
            <a:r>
              <a:rPr sz="1140" b="1">
                <a:solidFill>
                  <a:srgbClr val="333333"/>
                </a:solidFill>
                <a:latin typeface="Calibri"/>
              </a:rPr>
              <a:t>Break</a:t>
            </a:r>
          </a:p>
        </p:txBody>
      </p:sp>
      <p:sp>
        <p:nvSpPr>
          <p:cNvPr id="36" name="TextBox 35"/>
          <p:cNvSpPr txBox="1"/>
          <p:nvPr/>
        </p:nvSpPr>
        <p:spPr>
          <a:xfrm>
            <a:off x="5879592" y="3282696"/>
            <a:ext cx="3154680" cy="182880"/>
          </a:xfrm>
          <a:prstGeom prst="rect">
            <a:avLst/>
          </a:prstGeom>
          <a:noFill/>
        </p:spPr>
        <p:txBody>
          <a:bodyPr wrap="square" lIns="73152" tIns="36576" rIns="73152" bIns="36576" anchor="t">
            <a:spAutoFit/>
          </a:bodyPr>
          <a:lstStyle/>
          <a:p>
            <a:pPr algn="l"/>
            <a:r>
              <a:rPr sz="950" b="0">
                <a:solidFill>
                  <a:srgbClr val="585858"/>
                </a:solidFill>
                <a:latin typeface="Calibri"/>
              </a:rPr>
              <a:t>15 min</a:t>
            </a:r>
          </a:p>
        </p:txBody>
      </p:sp>
      <p:sp>
        <p:nvSpPr>
          <p:cNvPr id="37" name="Rounded Rectangle 36"/>
          <p:cNvSpPr/>
          <p:nvPr/>
        </p:nvSpPr>
        <p:spPr>
          <a:xfrm>
            <a:off x="4910328" y="3767328"/>
            <a:ext cx="841248" cy="347472"/>
          </a:xfrm>
          <a:prstGeom prst="roundRect">
            <a:avLst/>
          </a:prstGeom>
          <a:solidFill>
            <a:srgbClr val="002060"/>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FFFFFF"/>
                </a:solidFill>
                <a:latin typeface="Calibri"/>
              </a:rPr>
              <a:t>16:30</a:t>
            </a:r>
          </a:p>
        </p:txBody>
      </p:sp>
      <p:sp>
        <p:nvSpPr>
          <p:cNvPr id="38" name="TextBox 37"/>
          <p:cNvSpPr txBox="1"/>
          <p:nvPr/>
        </p:nvSpPr>
        <p:spPr>
          <a:xfrm>
            <a:off x="5879592" y="3758184"/>
            <a:ext cx="3154680" cy="201168"/>
          </a:xfrm>
          <a:prstGeom prst="rect">
            <a:avLst/>
          </a:prstGeom>
          <a:noFill/>
        </p:spPr>
        <p:txBody>
          <a:bodyPr wrap="square" lIns="73152" tIns="36576" rIns="73152" bIns="36576" anchor="t">
            <a:spAutoFit/>
          </a:bodyPr>
          <a:lstStyle/>
          <a:p>
            <a:pPr algn="l"/>
            <a:r>
              <a:rPr sz="1140" b="1">
                <a:solidFill>
                  <a:srgbClr val="333333"/>
                </a:solidFill>
                <a:latin typeface="Calibri"/>
              </a:rPr>
              <a:t>Module 6: Full Pipeline, MinIO &amp; Incremental Processing</a:t>
            </a:r>
          </a:p>
        </p:txBody>
      </p:sp>
      <p:sp>
        <p:nvSpPr>
          <p:cNvPr id="39" name="TextBox 38"/>
          <p:cNvSpPr txBox="1"/>
          <p:nvPr/>
        </p:nvSpPr>
        <p:spPr>
          <a:xfrm>
            <a:off x="5879592" y="3986784"/>
            <a:ext cx="3154680" cy="182880"/>
          </a:xfrm>
          <a:prstGeom prst="rect">
            <a:avLst/>
          </a:prstGeom>
          <a:noFill/>
        </p:spPr>
        <p:txBody>
          <a:bodyPr wrap="square" lIns="73152" tIns="36576" rIns="73152" bIns="36576" anchor="t">
            <a:spAutoFit/>
          </a:bodyPr>
          <a:lstStyle/>
          <a:p>
            <a:pPr algn="l"/>
            <a:r>
              <a:rPr sz="950" b="0">
                <a:solidFill>
                  <a:srgbClr val="585858"/>
                </a:solidFill>
                <a:latin typeface="Calibri"/>
              </a:rPr>
              <a:t>20 min</a:t>
            </a:r>
          </a:p>
        </p:txBody>
      </p:sp>
      <p:sp>
        <p:nvSpPr>
          <p:cNvPr id="40" name="Rounded Rectangle 39"/>
          <p:cNvSpPr/>
          <p:nvPr/>
        </p:nvSpPr>
        <p:spPr>
          <a:xfrm>
            <a:off x="4910328" y="4471416"/>
            <a:ext cx="841248" cy="347472"/>
          </a:xfrm>
          <a:prstGeom prst="roundRect">
            <a:avLst/>
          </a:prstGeom>
          <a:solidFill>
            <a:srgbClr val="002060"/>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FFFFFF"/>
                </a:solidFill>
                <a:latin typeface="Calibri"/>
              </a:rPr>
              <a:t>16:50</a:t>
            </a:r>
          </a:p>
        </p:txBody>
      </p:sp>
      <p:sp>
        <p:nvSpPr>
          <p:cNvPr id="41" name="TextBox 40"/>
          <p:cNvSpPr txBox="1"/>
          <p:nvPr/>
        </p:nvSpPr>
        <p:spPr>
          <a:xfrm>
            <a:off x="5879592" y="4462272"/>
            <a:ext cx="3154680" cy="201168"/>
          </a:xfrm>
          <a:prstGeom prst="rect">
            <a:avLst/>
          </a:prstGeom>
          <a:noFill/>
        </p:spPr>
        <p:txBody>
          <a:bodyPr wrap="square" lIns="73152" tIns="36576" rIns="73152" bIns="36576" anchor="t">
            <a:spAutoFit/>
          </a:bodyPr>
          <a:lstStyle/>
          <a:p>
            <a:pPr algn="l"/>
            <a:r>
              <a:rPr sz="1140" b="1">
                <a:solidFill>
                  <a:srgbClr val="333333"/>
                </a:solidFill>
                <a:latin typeface="Calibri"/>
              </a:rPr>
              <a:t>Wrap-up, Q&amp;A &amp; Day 8 Preview</a:t>
            </a:r>
          </a:p>
        </p:txBody>
      </p:sp>
      <p:sp>
        <p:nvSpPr>
          <p:cNvPr id="42" name="TextBox 41"/>
          <p:cNvSpPr txBox="1"/>
          <p:nvPr/>
        </p:nvSpPr>
        <p:spPr>
          <a:xfrm>
            <a:off x="5879592" y="4690872"/>
            <a:ext cx="3154680" cy="182880"/>
          </a:xfrm>
          <a:prstGeom prst="rect">
            <a:avLst/>
          </a:prstGeom>
          <a:noFill/>
        </p:spPr>
        <p:txBody>
          <a:bodyPr wrap="square" lIns="73152" tIns="36576" rIns="73152" bIns="36576" anchor="t">
            <a:spAutoFit/>
          </a:bodyPr>
          <a:lstStyle/>
          <a:p>
            <a:pPr algn="l"/>
            <a:r>
              <a:rPr sz="950" b="0">
                <a:solidFill>
                  <a:srgbClr val="585858"/>
                </a:solidFill>
                <a:latin typeface="Calibri"/>
              </a:rPr>
              <a:t>10 min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4</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Recap: Day 6 — Apache Hop</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Built visual Hop pipelines to move data through repeatable ETL steps.</a:t>
            </a:r>
          </a:p>
          <a:p>
            <a:pPr>
              <a:spcAft>
                <a:spcPts val="500"/>
              </a:spcAft>
              <a:defRPr sz="1300">
                <a:solidFill>
                  <a:srgbClr val="333333"/>
                </a:solidFill>
                <a:latin typeface="Calibri"/>
              </a:defRPr>
            </a:pPr>
            <a:r>
              <a:t>• Used workflows to orchestrate dependencies and handle execution order.</a:t>
            </a:r>
          </a:p>
          <a:p>
            <a:pPr>
              <a:spcAft>
                <a:spcPts val="500"/>
              </a:spcAft>
              <a:defRPr sz="1300">
                <a:solidFill>
                  <a:srgbClr val="333333"/>
                </a:solidFill>
                <a:latin typeface="Calibri"/>
              </a:defRPr>
            </a:pPr>
            <a:r>
              <a:t>• Connected PostgreSQL sources and targets for structured relational data.</a:t>
            </a:r>
          </a:p>
          <a:p>
            <a:pPr>
              <a:spcAft>
                <a:spcPts val="500"/>
              </a:spcAft>
              <a:defRPr sz="1300">
                <a:solidFill>
                  <a:srgbClr val="333333"/>
                </a:solidFill>
                <a:latin typeface="Calibri"/>
              </a:defRPr>
            </a:pPr>
            <a:r>
              <a:t>• Introduced Kafka as a streaming source for event-driven ingestion.</a:t>
            </a:r>
          </a:p>
        </p:txBody>
      </p:sp>
      <p:sp>
        <p:nvSpPr>
          <p:cNvPr id="5" name="Rounded Rectangle 4"/>
          <p:cNvSpPr/>
          <p:nvPr/>
        </p:nvSpPr>
        <p:spPr>
          <a:xfrm>
            <a:off x="594360" y="3566160"/>
            <a:ext cx="1700784" cy="621792"/>
          </a:xfrm>
          <a:prstGeom prst="roundRect">
            <a:avLst/>
          </a:prstGeom>
          <a:solidFill>
            <a:srgbClr val="FFFFFF"/>
          </a:solidFill>
          <a:ln w="12700">
            <a:solidFill>
              <a:srgbClr val="90A4A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333333"/>
                </a:solidFill>
                <a:latin typeface="Calibri"/>
              </a:rPr>
              <a:t>CSV / JSON</a:t>
            </a:r>
          </a:p>
        </p:txBody>
      </p:sp>
      <p:sp>
        <p:nvSpPr>
          <p:cNvPr id="6" name="Rectangle 5"/>
          <p:cNvSpPr/>
          <p:nvPr/>
        </p:nvSpPr>
        <p:spPr>
          <a:xfrm>
            <a:off x="2359151" y="3776472"/>
            <a:ext cx="256032" cy="164592"/>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002060"/>
                </a:solidFill>
                <a:latin typeface="Calibri"/>
              </a:rPr>
              <a:t>→</a:t>
            </a:r>
          </a:p>
        </p:txBody>
      </p:sp>
      <p:sp>
        <p:nvSpPr>
          <p:cNvPr id="7" name="Rounded Rectangle 6"/>
          <p:cNvSpPr/>
          <p:nvPr/>
        </p:nvSpPr>
        <p:spPr>
          <a:xfrm>
            <a:off x="2679191" y="3566160"/>
            <a:ext cx="1700784" cy="621792"/>
          </a:xfrm>
          <a:prstGeom prst="roundRect">
            <a:avLst/>
          </a:prstGeom>
          <a:solidFill>
            <a:srgbClr val="E3F2FD"/>
          </a:solidFill>
          <a:ln w="12700">
            <a:solidFill>
              <a:srgbClr val="90A4A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333333"/>
                </a:solidFill>
                <a:latin typeface="Calibri"/>
              </a:rPr>
              <a:t>Hop Pipeline</a:t>
            </a:r>
          </a:p>
        </p:txBody>
      </p:sp>
      <p:sp>
        <p:nvSpPr>
          <p:cNvPr id="8" name="Rectangle 7"/>
          <p:cNvSpPr/>
          <p:nvPr/>
        </p:nvSpPr>
        <p:spPr>
          <a:xfrm>
            <a:off x="4443983" y="3776472"/>
            <a:ext cx="256032" cy="164592"/>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002060"/>
                </a:solidFill>
                <a:latin typeface="Calibri"/>
              </a:rPr>
              <a:t>→</a:t>
            </a:r>
          </a:p>
        </p:txBody>
      </p:sp>
      <p:sp>
        <p:nvSpPr>
          <p:cNvPr id="9" name="Rounded Rectangle 8"/>
          <p:cNvSpPr/>
          <p:nvPr/>
        </p:nvSpPr>
        <p:spPr>
          <a:xfrm>
            <a:off x="4764024" y="3566160"/>
            <a:ext cx="1700784" cy="621792"/>
          </a:xfrm>
          <a:prstGeom prst="roundRect">
            <a:avLst/>
          </a:prstGeom>
          <a:solidFill>
            <a:srgbClr val="FFF8E1"/>
          </a:solidFill>
          <a:ln w="12700">
            <a:solidFill>
              <a:srgbClr val="90A4A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333333"/>
                </a:solidFill>
                <a:latin typeface="Calibri"/>
              </a:rPr>
              <a:t>Transforms</a:t>
            </a:r>
          </a:p>
        </p:txBody>
      </p:sp>
      <p:sp>
        <p:nvSpPr>
          <p:cNvPr id="10" name="Rectangle 9"/>
          <p:cNvSpPr/>
          <p:nvPr/>
        </p:nvSpPr>
        <p:spPr>
          <a:xfrm>
            <a:off x="6528816" y="3776472"/>
            <a:ext cx="256032" cy="164592"/>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002060"/>
                </a:solidFill>
                <a:latin typeface="Calibri"/>
              </a:rPr>
              <a:t>→</a:t>
            </a:r>
          </a:p>
        </p:txBody>
      </p:sp>
      <p:sp>
        <p:nvSpPr>
          <p:cNvPr id="11" name="Rounded Rectangle 10"/>
          <p:cNvSpPr/>
          <p:nvPr/>
        </p:nvSpPr>
        <p:spPr>
          <a:xfrm>
            <a:off x="6848856" y="3566160"/>
            <a:ext cx="1700784" cy="621792"/>
          </a:xfrm>
          <a:prstGeom prst="roundRect">
            <a:avLst/>
          </a:prstGeom>
          <a:solidFill>
            <a:srgbClr val="F1F8E9"/>
          </a:solidFill>
          <a:ln w="12700">
            <a:solidFill>
              <a:srgbClr val="90A4A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333333"/>
                </a:solidFill>
                <a:latin typeface="Calibri"/>
              </a:rPr>
              <a:t>PostgreSQL</a:t>
            </a:r>
          </a:p>
        </p:txBody>
      </p:sp>
      <p:sp>
        <p:nvSpPr>
          <p:cNvPr id="12" name="Rounded Rectangle 11"/>
          <p:cNvSpPr/>
          <p:nvPr/>
        </p:nvSpPr>
        <p:spPr>
          <a:xfrm>
            <a:off x="594360" y="4617720"/>
            <a:ext cx="1700784" cy="621792"/>
          </a:xfrm>
          <a:prstGeom prst="roundRect">
            <a:avLst/>
          </a:prstGeom>
          <a:solidFill>
            <a:srgbClr val="FFFFFF"/>
          </a:solidFill>
          <a:ln w="12700">
            <a:solidFill>
              <a:srgbClr val="90A4A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333333"/>
                </a:solidFill>
                <a:latin typeface="Calibri"/>
              </a:rPr>
              <a:t>Kafka Topic</a:t>
            </a:r>
          </a:p>
        </p:txBody>
      </p:sp>
      <p:sp>
        <p:nvSpPr>
          <p:cNvPr id="13" name="Rectangle 12"/>
          <p:cNvSpPr/>
          <p:nvPr/>
        </p:nvSpPr>
        <p:spPr>
          <a:xfrm>
            <a:off x="2359151" y="4828032"/>
            <a:ext cx="256032" cy="164592"/>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002060"/>
                </a:solidFill>
                <a:latin typeface="Calibri"/>
              </a:rPr>
              <a:t>→</a:t>
            </a:r>
          </a:p>
        </p:txBody>
      </p:sp>
      <p:sp>
        <p:nvSpPr>
          <p:cNvPr id="14" name="Rounded Rectangle 13"/>
          <p:cNvSpPr/>
          <p:nvPr/>
        </p:nvSpPr>
        <p:spPr>
          <a:xfrm>
            <a:off x="2679191" y="4617720"/>
            <a:ext cx="1700784" cy="621792"/>
          </a:xfrm>
          <a:prstGeom prst="roundRect">
            <a:avLst/>
          </a:prstGeom>
          <a:solidFill>
            <a:srgbClr val="E3F2FD"/>
          </a:solidFill>
          <a:ln w="12700">
            <a:solidFill>
              <a:srgbClr val="90A4A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333333"/>
                </a:solidFill>
                <a:latin typeface="Calibri"/>
              </a:rPr>
              <a:t>Hop Streaming</a:t>
            </a:r>
          </a:p>
        </p:txBody>
      </p:sp>
      <p:sp>
        <p:nvSpPr>
          <p:cNvPr id="15" name="Rectangle 14"/>
          <p:cNvSpPr/>
          <p:nvPr/>
        </p:nvSpPr>
        <p:spPr>
          <a:xfrm>
            <a:off x="4443983" y="4828032"/>
            <a:ext cx="256032" cy="164592"/>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002060"/>
                </a:solidFill>
                <a:latin typeface="Calibri"/>
              </a:rPr>
              <a:t>→</a:t>
            </a:r>
          </a:p>
        </p:txBody>
      </p:sp>
      <p:sp>
        <p:nvSpPr>
          <p:cNvPr id="16" name="Rounded Rectangle 15"/>
          <p:cNvSpPr/>
          <p:nvPr/>
        </p:nvSpPr>
        <p:spPr>
          <a:xfrm>
            <a:off x="4764024" y="4617720"/>
            <a:ext cx="1700784" cy="621792"/>
          </a:xfrm>
          <a:prstGeom prst="roundRect">
            <a:avLst/>
          </a:prstGeom>
          <a:solidFill>
            <a:srgbClr val="FFF8E1"/>
          </a:solidFill>
          <a:ln w="12700">
            <a:solidFill>
              <a:srgbClr val="90A4A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333333"/>
                </a:solidFill>
                <a:latin typeface="Calibri"/>
              </a:rPr>
              <a:t>Transform</a:t>
            </a:r>
          </a:p>
        </p:txBody>
      </p:sp>
      <p:sp>
        <p:nvSpPr>
          <p:cNvPr id="17" name="Rectangle 16"/>
          <p:cNvSpPr/>
          <p:nvPr/>
        </p:nvSpPr>
        <p:spPr>
          <a:xfrm>
            <a:off x="6528816" y="4828032"/>
            <a:ext cx="256032" cy="164592"/>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002060"/>
                </a:solidFill>
                <a:latin typeface="Calibri"/>
              </a:rPr>
              <a:t>→</a:t>
            </a:r>
          </a:p>
        </p:txBody>
      </p:sp>
      <p:sp>
        <p:nvSpPr>
          <p:cNvPr id="18" name="Rounded Rectangle 17"/>
          <p:cNvSpPr/>
          <p:nvPr/>
        </p:nvSpPr>
        <p:spPr>
          <a:xfrm>
            <a:off x="6848856" y="4617720"/>
            <a:ext cx="1700784" cy="621792"/>
          </a:xfrm>
          <a:prstGeom prst="roundRect">
            <a:avLst/>
          </a:prstGeom>
          <a:solidFill>
            <a:srgbClr val="F1F8E9"/>
          </a:solidFill>
          <a:ln w="12700">
            <a:solidFill>
              <a:srgbClr val="90A4A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333333"/>
                </a:solidFill>
                <a:latin typeface="Calibri"/>
              </a:rPr>
              <a:t>Target Table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5</a:t>
            </a:r>
          </a:p>
        </p:txBody>
      </p:sp>
      <p:sp>
        <p:nvSpPr>
          <p:cNvPr id="3" name="Rectangle 2"/>
          <p:cNvSpPr/>
          <p:nvPr/>
        </p:nvSpPr>
        <p:spPr>
          <a:xfrm>
            <a:off x="0" y="0"/>
            <a:ext cx="9144000" cy="777240"/>
          </a:xfrm>
          <a:prstGeom prst="rect">
            <a:avLst/>
          </a:prstGeom>
          <a:solidFill>
            <a:srgbClr val="002060"/>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82880"/>
            <a:ext cx="8138160" cy="384048"/>
          </a:xfrm>
          <a:prstGeom prst="rect">
            <a:avLst/>
          </a:prstGeom>
          <a:noFill/>
        </p:spPr>
        <p:txBody>
          <a:bodyPr wrap="square" lIns="73152" tIns="36576" rIns="73152" bIns="36576" anchor="t">
            <a:spAutoFit/>
          </a:bodyPr>
          <a:lstStyle/>
          <a:p>
            <a:pPr algn="ctr"/>
            <a:r>
              <a:rPr sz="2000" b="1">
                <a:solidFill>
                  <a:srgbClr val="FFFFFF"/>
                </a:solidFill>
                <a:latin typeface="Calibri"/>
              </a:rPr>
              <a:t>MODULE 1: Apache Spark Fundamentals</a:t>
            </a:r>
          </a:p>
        </p:txBody>
      </p:sp>
      <p:sp>
        <p:nvSpPr>
          <p:cNvPr id="5" name="TextBox 4"/>
          <p:cNvSpPr txBox="1"/>
          <p:nvPr/>
        </p:nvSpPr>
        <p:spPr>
          <a:xfrm>
            <a:off x="822960" y="2487168"/>
            <a:ext cx="7498079" cy="457200"/>
          </a:xfrm>
          <a:prstGeom prst="rect">
            <a:avLst/>
          </a:prstGeom>
          <a:noFill/>
        </p:spPr>
        <p:txBody>
          <a:bodyPr wrap="square" lIns="73152" tIns="36576" rIns="73152" bIns="36576" anchor="t">
            <a:spAutoFit/>
          </a:bodyPr>
          <a:lstStyle/>
          <a:p>
            <a:pPr algn="ctr"/>
            <a:r>
              <a:rPr sz="2400" b="1">
                <a:solidFill>
                  <a:srgbClr val="002060"/>
                </a:solidFill>
                <a:latin typeface="Calibri"/>
              </a:rPr>
              <a:t>MODULE 1: Apache Spark Fundamentals</a:t>
            </a:r>
          </a:p>
        </p:txBody>
      </p:sp>
      <p:sp>
        <p:nvSpPr>
          <p:cNvPr id="6" name="Rectangle 5"/>
          <p:cNvSpPr/>
          <p:nvPr/>
        </p:nvSpPr>
        <p:spPr>
          <a:xfrm>
            <a:off x="2926080" y="3291840"/>
            <a:ext cx="3291840" cy="73152"/>
          </a:xfrm>
          <a:prstGeom prst="rect">
            <a:avLst/>
          </a:prstGeom>
          <a:solidFill>
            <a:srgbClr val="002060"/>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6</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What is Apache Spark?</a:t>
            </a:r>
          </a:p>
        </p:txBody>
      </p:sp>
      <p:sp>
        <p:nvSpPr>
          <p:cNvPr id="4" name="TextBox 3"/>
          <p:cNvSpPr txBox="1"/>
          <p:nvPr/>
        </p:nvSpPr>
        <p:spPr>
          <a:xfrm>
            <a:off x="658368" y="868680"/>
            <a:ext cx="7909560" cy="2057400"/>
          </a:xfrm>
          <a:prstGeom prst="rect">
            <a:avLst/>
          </a:prstGeom>
          <a:noFill/>
        </p:spPr>
        <p:txBody>
          <a:bodyPr wrap="square" lIns="27432" tIns="18288" rIns="27432">
            <a:spAutoFit/>
          </a:bodyPr>
          <a:lstStyle/>
          <a:p>
            <a:pPr>
              <a:spcAft>
                <a:spcPts val="300"/>
              </a:spcAft>
              <a:defRPr sz="1150">
                <a:solidFill>
                  <a:srgbClr val="333333"/>
                </a:solidFill>
                <a:latin typeface="Calibri"/>
              </a:defRPr>
            </a:pPr>
            <a:r>
              <a:t>• Open-source distributed processing engine for large-scale data workloads.</a:t>
            </a:r>
          </a:p>
          <a:p>
            <a:pPr>
              <a:spcAft>
                <a:spcPts val="300"/>
              </a:spcAft>
              <a:defRPr sz="1150">
                <a:solidFill>
                  <a:srgbClr val="333333"/>
                </a:solidFill>
                <a:latin typeface="Calibri"/>
              </a:defRPr>
            </a:pPr>
            <a:r>
              <a:t>• Started at UC Berkeley AMPLab in 2009 and became an Apache top-level project.</a:t>
            </a:r>
          </a:p>
          <a:p>
            <a:pPr>
              <a:spcAft>
                <a:spcPts val="300"/>
              </a:spcAft>
              <a:defRPr sz="1150">
                <a:solidFill>
                  <a:srgbClr val="333333"/>
                </a:solidFill>
                <a:latin typeface="Calibri"/>
              </a:defRPr>
            </a:pPr>
            <a:r>
              <a:t>• Keeps intermediate data in memory to reduce repeated disk reads.</a:t>
            </a:r>
          </a:p>
          <a:p>
            <a:pPr>
              <a:spcAft>
                <a:spcPts val="300"/>
              </a:spcAft>
              <a:defRPr sz="1150">
                <a:solidFill>
                  <a:srgbClr val="333333"/>
                </a:solidFill>
                <a:latin typeface="Calibri"/>
              </a:defRPr>
            </a:pPr>
            <a:r>
              <a:t>• Unifies batch, SQL, streaming, machine learning, and graph processing.</a:t>
            </a:r>
          </a:p>
          <a:p>
            <a:pPr>
              <a:spcAft>
                <a:spcPts val="300"/>
              </a:spcAft>
              <a:defRPr sz="1150">
                <a:solidFill>
                  <a:srgbClr val="333333"/>
                </a:solidFill>
                <a:latin typeface="Calibri"/>
              </a:defRPr>
            </a:pPr>
            <a:r>
              <a:t>• Replaced many MapReduce workloads because it is faster and easier to compose.</a:t>
            </a:r>
          </a:p>
        </p:txBody>
      </p:sp>
      <p:sp>
        <p:nvSpPr>
          <p:cNvPr id="5" name="Rounded Rectangle 4"/>
          <p:cNvSpPr/>
          <p:nvPr/>
        </p:nvSpPr>
        <p:spPr>
          <a:xfrm>
            <a:off x="914400" y="3200400"/>
            <a:ext cx="7315200" cy="457200"/>
          </a:xfrm>
          <a:prstGeom prst="roundRect">
            <a:avLst/>
          </a:prstGeom>
          <a:solidFill>
            <a:srgbClr val="E3F2FD"/>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002060"/>
                </a:solidFill>
                <a:latin typeface="Calibri"/>
              </a:rPr>
              <a:t>Spark Web UI — Jobs | Stages | Storage | Environment | Executors</a:t>
            </a:r>
          </a:p>
        </p:txBody>
      </p:sp>
      <p:sp>
        <p:nvSpPr>
          <p:cNvPr id="6" name="Rounded Rectangle 5"/>
          <p:cNvSpPr/>
          <p:nvPr/>
        </p:nvSpPr>
        <p:spPr>
          <a:xfrm>
            <a:off x="914400" y="3931920"/>
            <a:ext cx="3291840" cy="1097280"/>
          </a:xfrm>
          <a:prstGeom prst="roundRect">
            <a:avLst/>
          </a:prstGeom>
          <a:solidFill>
            <a:srgbClr val="FFFFFF"/>
          </a:solidFill>
          <a:ln w="12700">
            <a:solidFill>
              <a:srgbClr val="9E9E9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0">
                <a:solidFill>
                  <a:srgbClr val="333333"/>
                </a:solidFill>
                <a:latin typeface="Calibri"/>
              </a:rPr>
              <a:t>Active Jobs: 1
Completed: 14
Failed: 0</a:t>
            </a:r>
          </a:p>
        </p:txBody>
      </p:sp>
      <p:sp>
        <p:nvSpPr>
          <p:cNvPr id="7" name="Rounded Rectangle 6"/>
          <p:cNvSpPr/>
          <p:nvPr/>
        </p:nvSpPr>
        <p:spPr>
          <a:xfrm>
            <a:off x="4937760" y="3931920"/>
            <a:ext cx="3291840" cy="1097280"/>
          </a:xfrm>
          <a:prstGeom prst="roundRect">
            <a:avLst/>
          </a:prstGeom>
          <a:solidFill>
            <a:srgbClr val="FFFFFF"/>
          </a:solidFill>
          <a:ln w="12700">
            <a:solidFill>
              <a:srgbClr val="9E9E9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0">
                <a:solidFill>
                  <a:srgbClr val="333333"/>
                </a:solidFill>
                <a:latin typeface="Calibri"/>
              </a:rPr>
              <a:t>Executors: 4
Cores: 8
Memory: 8 GB</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7</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Spark Ecosystem Overview</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Spark Core schedules distributed work and manages memory.</a:t>
            </a:r>
          </a:p>
          <a:p>
            <a:pPr>
              <a:spcAft>
                <a:spcPts val="500"/>
              </a:spcAft>
              <a:defRPr sz="1300">
                <a:solidFill>
                  <a:srgbClr val="333333"/>
                </a:solidFill>
                <a:latin typeface="Calibri"/>
              </a:defRPr>
            </a:pPr>
            <a:r>
              <a:t>• Spark SQL provides DataFrames, SQL parsing, and query optimization.</a:t>
            </a:r>
          </a:p>
          <a:p>
            <a:pPr>
              <a:spcAft>
                <a:spcPts val="500"/>
              </a:spcAft>
              <a:defRPr sz="1300">
                <a:solidFill>
                  <a:srgbClr val="333333"/>
                </a:solidFill>
                <a:latin typeface="Calibri"/>
              </a:defRPr>
            </a:pPr>
            <a:r>
              <a:t>• Streaming, MLlib, and GraphX extend Spark into specialized workloads.</a:t>
            </a:r>
          </a:p>
        </p:txBody>
      </p:sp>
      <p:sp>
        <p:nvSpPr>
          <p:cNvPr id="5" name="Rounded Rectangle 4"/>
          <p:cNvSpPr/>
          <p:nvPr/>
        </p:nvSpPr>
        <p:spPr>
          <a:xfrm>
            <a:off x="3429000" y="3063240"/>
            <a:ext cx="2286000" cy="749808"/>
          </a:xfrm>
          <a:prstGeom prst="roundRect">
            <a:avLst/>
          </a:prstGeom>
          <a:solidFill>
            <a:srgbClr val="E3F2FD"/>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50" b="1">
                <a:solidFill>
                  <a:srgbClr val="002060"/>
                </a:solidFill>
                <a:latin typeface="Calibri"/>
              </a:rPr>
              <a:t>Spark Core Engine</a:t>
            </a:r>
          </a:p>
        </p:txBody>
      </p:sp>
      <p:sp>
        <p:nvSpPr>
          <p:cNvPr id="6" name="Rounded Rectangle 5"/>
          <p:cNvSpPr/>
          <p:nvPr/>
        </p:nvSpPr>
        <p:spPr>
          <a:xfrm>
            <a:off x="685800" y="2487168"/>
            <a:ext cx="2011680" cy="621792"/>
          </a:xfrm>
          <a:prstGeom prst="roundRect">
            <a:avLst/>
          </a:prstGeom>
          <a:solidFill>
            <a:srgbClr val="FFFFFF"/>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19" b="1">
                <a:solidFill>
                  <a:srgbClr val="333333"/>
                </a:solidFill>
                <a:latin typeface="Calibri"/>
              </a:rPr>
              <a:t>Spark SQL
DataFrames, Datasets</a:t>
            </a:r>
          </a:p>
        </p:txBody>
      </p:sp>
      <p:sp>
        <p:nvSpPr>
          <p:cNvPr id="7" name="Rounded Rectangle 6"/>
          <p:cNvSpPr/>
          <p:nvPr/>
        </p:nvSpPr>
        <p:spPr>
          <a:xfrm>
            <a:off x="6355080" y="2487168"/>
            <a:ext cx="2011680" cy="621792"/>
          </a:xfrm>
          <a:prstGeom prst="roundRect">
            <a:avLst/>
          </a:prstGeom>
          <a:solidFill>
            <a:srgbClr val="FFFFFF"/>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19" b="1">
                <a:solidFill>
                  <a:srgbClr val="333333"/>
                </a:solidFill>
                <a:latin typeface="Calibri"/>
              </a:rPr>
              <a:t>Spark Streaming
Micro-batching</a:t>
            </a:r>
          </a:p>
        </p:txBody>
      </p:sp>
      <p:sp>
        <p:nvSpPr>
          <p:cNvPr id="8" name="Rounded Rectangle 7"/>
          <p:cNvSpPr/>
          <p:nvPr/>
        </p:nvSpPr>
        <p:spPr>
          <a:xfrm>
            <a:off x="685800" y="4343400"/>
            <a:ext cx="2011680" cy="621792"/>
          </a:xfrm>
          <a:prstGeom prst="roundRect">
            <a:avLst/>
          </a:prstGeom>
          <a:solidFill>
            <a:srgbClr val="FFFFFF"/>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19" b="1">
                <a:solidFill>
                  <a:srgbClr val="333333"/>
                </a:solidFill>
                <a:latin typeface="Calibri"/>
              </a:rPr>
              <a:t>MLlib
ML pipelines</a:t>
            </a:r>
          </a:p>
        </p:txBody>
      </p:sp>
      <p:sp>
        <p:nvSpPr>
          <p:cNvPr id="9" name="Rounded Rectangle 8"/>
          <p:cNvSpPr/>
          <p:nvPr/>
        </p:nvSpPr>
        <p:spPr>
          <a:xfrm>
            <a:off x="6355080" y="4343400"/>
            <a:ext cx="2011680" cy="621792"/>
          </a:xfrm>
          <a:prstGeom prst="roundRect">
            <a:avLst/>
          </a:prstGeom>
          <a:solidFill>
            <a:srgbClr val="FFFFFF"/>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19" b="1">
                <a:solidFill>
                  <a:srgbClr val="333333"/>
                </a:solidFill>
                <a:latin typeface="Calibri"/>
              </a:rPr>
              <a:t>GraphX
Graph computation</a:t>
            </a:r>
          </a:p>
        </p:txBody>
      </p:sp>
      <p:sp>
        <p:nvSpPr>
          <p:cNvPr id="10" name="TextBox 9"/>
          <p:cNvSpPr txBox="1"/>
          <p:nvPr/>
        </p:nvSpPr>
        <p:spPr>
          <a:xfrm>
            <a:off x="2743200" y="2706624"/>
            <a:ext cx="3657600" cy="256032"/>
          </a:xfrm>
          <a:prstGeom prst="rect">
            <a:avLst/>
          </a:prstGeom>
          <a:noFill/>
        </p:spPr>
        <p:txBody>
          <a:bodyPr wrap="square" lIns="73152" tIns="36576" rIns="73152" bIns="36576" anchor="t">
            <a:spAutoFit/>
          </a:bodyPr>
          <a:lstStyle/>
          <a:p>
            <a:pPr algn="ctr"/>
            <a:r>
              <a:rPr sz="1150" b="0">
                <a:solidFill>
                  <a:srgbClr val="585858"/>
                </a:solidFill>
                <a:latin typeface="Calibri"/>
              </a:rPr>
              <a:t>One engine, multiple workload libraries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8</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Spark Architecture Diagram</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The driver builds the logical plan and asks the cluster manager for resources.</a:t>
            </a:r>
          </a:p>
          <a:p>
            <a:pPr>
              <a:spcAft>
                <a:spcPts val="500"/>
              </a:spcAft>
              <a:defRPr sz="1300">
                <a:solidFill>
                  <a:srgbClr val="333333"/>
                </a:solidFill>
                <a:latin typeface="Calibri"/>
              </a:defRPr>
            </a:pPr>
            <a:r>
              <a:t>• Executors run tasks, cache data, and report results back to the driver.</a:t>
            </a:r>
          </a:p>
          <a:p>
            <a:pPr>
              <a:spcAft>
                <a:spcPts val="500"/>
              </a:spcAft>
              <a:defRPr sz="1300">
                <a:solidFill>
                  <a:srgbClr val="333333"/>
                </a:solidFill>
                <a:latin typeface="Calibri"/>
              </a:defRPr>
            </a:pPr>
            <a:r>
              <a:t>• Workers host executors and provide CPU, memory, and local storage.</a:t>
            </a:r>
          </a:p>
        </p:txBody>
      </p:sp>
      <p:sp>
        <p:nvSpPr>
          <p:cNvPr id="5" name="Rounded Rectangle 4"/>
          <p:cNvSpPr/>
          <p:nvPr/>
        </p:nvSpPr>
        <p:spPr>
          <a:xfrm>
            <a:off x="685800" y="2743200"/>
            <a:ext cx="1783080" cy="713232"/>
          </a:xfrm>
          <a:prstGeom prst="roundRect">
            <a:avLst/>
          </a:prstGeom>
          <a:solidFill>
            <a:srgbClr val="E3F2FD"/>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333333"/>
                </a:solidFill>
                <a:latin typeface="Calibri"/>
              </a:rPr>
              <a:t>Driver Program
SparkSession</a:t>
            </a:r>
          </a:p>
        </p:txBody>
      </p:sp>
      <p:sp>
        <p:nvSpPr>
          <p:cNvPr id="6" name="Rounded Rectangle 5"/>
          <p:cNvSpPr/>
          <p:nvPr/>
        </p:nvSpPr>
        <p:spPr>
          <a:xfrm>
            <a:off x="3566160" y="2743200"/>
            <a:ext cx="1828800" cy="713232"/>
          </a:xfrm>
          <a:prstGeom prst="roundRect">
            <a:avLst/>
          </a:prstGeom>
          <a:solidFill>
            <a:srgbClr val="FFF8E1"/>
          </a:solidFill>
          <a:ln w="12700">
            <a:solidFill>
              <a:srgbClr val="F9A82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20" b="1">
                <a:solidFill>
                  <a:srgbClr val="333333"/>
                </a:solidFill>
                <a:latin typeface="Calibri"/>
              </a:rPr>
              <a:t>Cluster Manager
Standalone / YARN / K8s</a:t>
            </a:r>
          </a:p>
        </p:txBody>
      </p:sp>
      <p:sp>
        <p:nvSpPr>
          <p:cNvPr id="7" name="Rounded Rectangle 6"/>
          <p:cNvSpPr/>
          <p:nvPr/>
        </p:nvSpPr>
        <p:spPr>
          <a:xfrm>
            <a:off x="6446520" y="2331720"/>
            <a:ext cx="1874519" cy="512064"/>
          </a:xfrm>
          <a:prstGeom prst="roundRect">
            <a:avLst/>
          </a:prstGeom>
          <a:solidFill>
            <a:srgbClr val="F1F8E9"/>
          </a:solidFill>
          <a:ln w="12700">
            <a:solidFill>
              <a:srgbClr val="7CB34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333333"/>
                </a:solidFill>
                <a:latin typeface="Calibri"/>
              </a:rPr>
              <a:t>Worker 1: Executor</a:t>
            </a:r>
          </a:p>
        </p:txBody>
      </p:sp>
      <p:sp>
        <p:nvSpPr>
          <p:cNvPr id="8" name="Rounded Rectangle 7"/>
          <p:cNvSpPr/>
          <p:nvPr/>
        </p:nvSpPr>
        <p:spPr>
          <a:xfrm>
            <a:off x="6446520" y="3246120"/>
            <a:ext cx="1874519" cy="512064"/>
          </a:xfrm>
          <a:prstGeom prst="roundRect">
            <a:avLst/>
          </a:prstGeom>
          <a:solidFill>
            <a:srgbClr val="F1F8E9"/>
          </a:solidFill>
          <a:ln w="12700">
            <a:solidFill>
              <a:srgbClr val="7CB34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333333"/>
                </a:solidFill>
                <a:latin typeface="Calibri"/>
              </a:rPr>
              <a:t>Worker 2: Executor</a:t>
            </a:r>
          </a:p>
        </p:txBody>
      </p:sp>
      <p:sp>
        <p:nvSpPr>
          <p:cNvPr id="9" name="Rounded Rectangle 8"/>
          <p:cNvSpPr/>
          <p:nvPr/>
        </p:nvSpPr>
        <p:spPr>
          <a:xfrm>
            <a:off x="6446520" y="4160520"/>
            <a:ext cx="1874519" cy="512064"/>
          </a:xfrm>
          <a:prstGeom prst="roundRect">
            <a:avLst/>
          </a:prstGeom>
          <a:solidFill>
            <a:srgbClr val="F1F8E9"/>
          </a:solidFill>
          <a:ln w="12700">
            <a:solidFill>
              <a:srgbClr val="7CB34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333333"/>
                </a:solidFill>
                <a:latin typeface="Calibri"/>
              </a:rPr>
              <a:t>Worker 3: Executor</a:t>
            </a:r>
          </a:p>
        </p:txBody>
      </p:sp>
      <p:sp>
        <p:nvSpPr>
          <p:cNvPr id="10" name="TextBox 9"/>
          <p:cNvSpPr txBox="1"/>
          <p:nvPr/>
        </p:nvSpPr>
        <p:spPr>
          <a:xfrm>
            <a:off x="2542032" y="2971800"/>
            <a:ext cx="731520" cy="256032"/>
          </a:xfrm>
          <a:prstGeom prst="rect">
            <a:avLst/>
          </a:prstGeom>
          <a:noFill/>
        </p:spPr>
        <p:txBody>
          <a:bodyPr wrap="square" lIns="73152" tIns="36576" rIns="73152" bIns="36576" anchor="t">
            <a:spAutoFit/>
          </a:bodyPr>
          <a:lstStyle/>
          <a:p>
            <a:pPr algn="ctr"/>
            <a:r>
              <a:rPr sz="1800" b="1">
                <a:solidFill>
                  <a:srgbClr val="002060"/>
                </a:solidFill>
                <a:latin typeface="Calibri"/>
              </a:rPr>
              <a:t>→</a:t>
            </a:r>
          </a:p>
        </p:txBody>
      </p:sp>
      <p:sp>
        <p:nvSpPr>
          <p:cNvPr id="11" name="TextBox 10"/>
          <p:cNvSpPr txBox="1"/>
          <p:nvPr/>
        </p:nvSpPr>
        <p:spPr>
          <a:xfrm>
            <a:off x="5577840" y="2971800"/>
            <a:ext cx="731520" cy="256032"/>
          </a:xfrm>
          <a:prstGeom prst="rect">
            <a:avLst/>
          </a:prstGeom>
          <a:noFill/>
        </p:spPr>
        <p:txBody>
          <a:bodyPr wrap="square" lIns="73152" tIns="36576" rIns="73152" bIns="36576" anchor="t">
            <a:spAutoFit/>
          </a:bodyPr>
          <a:lstStyle/>
          <a:p>
            <a:pPr algn="ctr"/>
            <a:r>
              <a:rPr sz="1800" b="1">
                <a:solidFill>
                  <a:srgbClr val="002060"/>
                </a:solidFill>
                <a:latin typeface="Calibri"/>
              </a:rPr>
              <a:t>→</a:t>
            </a:r>
          </a:p>
        </p:txBody>
      </p:sp>
      <p:sp>
        <p:nvSpPr>
          <p:cNvPr id="12" name="Rounded Rectangle 11"/>
          <p:cNvSpPr/>
          <p:nvPr/>
        </p:nvSpPr>
        <p:spPr>
          <a:xfrm>
            <a:off x="1828800" y="5047488"/>
            <a:ext cx="1572768" cy="621792"/>
          </a:xfrm>
          <a:prstGeom prst="roundRect">
            <a:avLst/>
          </a:prstGeom>
          <a:solidFill>
            <a:srgbClr val="E3F2FD"/>
          </a:solidFill>
          <a:ln w="12700">
            <a:solidFill>
              <a:srgbClr val="90A4A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333333"/>
                </a:solidFill>
                <a:latin typeface="Calibri"/>
              </a:rPr>
              <a:t>Job</a:t>
            </a:r>
          </a:p>
        </p:txBody>
      </p:sp>
      <p:sp>
        <p:nvSpPr>
          <p:cNvPr id="13" name="Rectangle 12"/>
          <p:cNvSpPr/>
          <p:nvPr/>
        </p:nvSpPr>
        <p:spPr>
          <a:xfrm>
            <a:off x="3465575" y="5257800"/>
            <a:ext cx="256032" cy="164592"/>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002060"/>
                </a:solidFill>
                <a:latin typeface="Calibri"/>
              </a:rPr>
              <a:t>→</a:t>
            </a:r>
          </a:p>
        </p:txBody>
      </p:sp>
      <p:sp>
        <p:nvSpPr>
          <p:cNvPr id="14" name="Rounded Rectangle 13"/>
          <p:cNvSpPr/>
          <p:nvPr/>
        </p:nvSpPr>
        <p:spPr>
          <a:xfrm>
            <a:off x="3785616" y="5047488"/>
            <a:ext cx="1572768" cy="621792"/>
          </a:xfrm>
          <a:prstGeom prst="roundRect">
            <a:avLst/>
          </a:prstGeom>
          <a:solidFill>
            <a:srgbClr val="E3F2FD"/>
          </a:solidFill>
          <a:ln w="12700">
            <a:solidFill>
              <a:srgbClr val="90A4A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333333"/>
                </a:solidFill>
                <a:latin typeface="Calibri"/>
              </a:rPr>
              <a:t>Stage</a:t>
            </a:r>
          </a:p>
        </p:txBody>
      </p:sp>
      <p:sp>
        <p:nvSpPr>
          <p:cNvPr id="15" name="Rectangle 14"/>
          <p:cNvSpPr/>
          <p:nvPr/>
        </p:nvSpPr>
        <p:spPr>
          <a:xfrm>
            <a:off x="5422392" y="5257800"/>
            <a:ext cx="256032" cy="164592"/>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002060"/>
                </a:solidFill>
                <a:latin typeface="Calibri"/>
              </a:rPr>
              <a:t>→</a:t>
            </a:r>
          </a:p>
        </p:txBody>
      </p:sp>
      <p:sp>
        <p:nvSpPr>
          <p:cNvPr id="16" name="Rounded Rectangle 15"/>
          <p:cNvSpPr/>
          <p:nvPr/>
        </p:nvSpPr>
        <p:spPr>
          <a:xfrm>
            <a:off x="5742432" y="5047488"/>
            <a:ext cx="1572768" cy="621792"/>
          </a:xfrm>
          <a:prstGeom prst="roundRect">
            <a:avLst/>
          </a:prstGeom>
          <a:solidFill>
            <a:srgbClr val="E3F2FD"/>
          </a:solidFill>
          <a:ln w="12700">
            <a:solidFill>
              <a:srgbClr val="90A4A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333333"/>
                </a:solidFill>
                <a:latin typeface="Calibri"/>
              </a:rPr>
              <a:t>Task partitions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9</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How a Spark Cluster Works</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The driver converts user code into jobs and stages.</a:t>
            </a:r>
          </a:p>
          <a:p>
            <a:pPr>
              <a:spcAft>
                <a:spcPts val="500"/>
              </a:spcAft>
              <a:defRPr sz="1300">
                <a:solidFill>
                  <a:srgbClr val="333333"/>
                </a:solidFill>
                <a:latin typeface="Calibri"/>
              </a:defRPr>
            </a:pPr>
            <a:r>
              <a:t>• The cluster manager allocates executors across worker nodes.</a:t>
            </a:r>
          </a:p>
          <a:p>
            <a:pPr>
              <a:spcAft>
                <a:spcPts val="500"/>
              </a:spcAft>
              <a:defRPr sz="1300">
                <a:solidFill>
                  <a:srgbClr val="333333"/>
                </a:solidFill>
                <a:latin typeface="Calibri"/>
              </a:defRPr>
            </a:pPr>
            <a:r>
              <a:t>• Executors process partitions in parallel and shuffle data when needed.</a:t>
            </a:r>
          </a:p>
        </p:txBody>
      </p:sp>
      <p:pic>
        <p:nvPicPr>
          <p:cNvPr id="5" name="Picture 4" descr="cluster-overview.png"/>
          <p:cNvPicPr>
            <a:picLocks noChangeAspect="1"/>
          </p:cNvPicPr>
          <p:nvPr/>
        </p:nvPicPr>
        <p:blipFill>
          <a:blip r:embed="rId2"/>
          <a:stretch>
            <a:fillRect/>
          </a:stretch>
        </p:blipFill>
        <p:spPr>
          <a:xfrm>
            <a:off x="822960" y="2331720"/>
            <a:ext cx="7498079" cy="36118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10</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SparkSession — the Unified Entry Point</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Creates the Spark application and exposes DataFrame, SQL, and catalog APIs.</a:t>
            </a:r>
          </a:p>
          <a:p>
            <a:pPr>
              <a:spcAft>
                <a:spcPts val="500"/>
              </a:spcAft>
              <a:defRPr sz="1300">
                <a:solidFill>
                  <a:srgbClr val="333333"/>
                </a:solidFill>
                <a:latin typeface="Calibri"/>
              </a:defRPr>
            </a:pPr>
            <a:r>
              <a:t>• Replaces older separate SQLContext and HiveContext entry points.</a:t>
            </a:r>
          </a:p>
          <a:p>
            <a:pPr>
              <a:spcAft>
                <a:spcPts val="500"/>
              </a:spcAft>
              <a:defRPr sz="1300">
                <a:solidFill>
                  <a:srgbClr val="333333"/>
                </a:solidFill>
                <a:latin typeface="Calibri"/>
              </a:defRPr>
            </a:pPr>
            <a:r>
              <a:t>• The same SparkSession is reused across the labs for consistent configuration.</a:t>
            </a:r>
          </a:p>
        </p:txBody>
      </p:sp>
      <p:sp>
        <p:nvSpPr>
          <p:cNvPr id="5" name="Rounded Rectangle 4"/>
          <p:cNvSpPr/>
          <p:nvPr/>
        </p:nvSpPr>
        <p:spPr>
          <a:xfrm>
            <a:off x="594360" y="2633472"/>
            <a:ext cx="7955279" cy="3337560"/>
          </a:xfrm>
          <a:prstGeom prst="roundRect">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100">
                <a:solidFill>
                  <a:srgbClr val="1B1B1B"/>
                </a:solidFill>
                <a:latin typeface="Consolas"/>
              </a:rPr>
              <a:t>from pyspark.sql import SparkSession
spark = (
    SparkSession.builder
    .appName("day7-medallion")
    .master("local[*]")
    .getOrCreate()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351E1-0C1E-5D5E-A93D-968FEA8B08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E99B3CB-422E-D6D4-5D8A-2D534D956FDC}"/>
              </a:ext>
            </a:extLst>
          </p:cNvPr>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10</a:t>
            </a:r>
          </a:p>
        </p:txBody>
      </p:sp>
      <p:sp>
        <p:nvSpPr>
          <p:cNvPr id="3" name="TextBox 2">
            <a:extLst>
              <a:ext uri="{FF2B5EF4-FFF2-40B4-BE49-F238E27FC236}">
                <a16:creationId xmlns:a16="http://schemas.microsoft.com/office/drawing/2014/main" id="{E8247F8F-CB86-FF88-5174-E8BDBECAD527}"/>
              </a:ext>
            </a:extLst>
          </p:cNvPr>
          <p:cNvSpPr txBox="1"/>
          <p:nvPr/>
        </p:nvSpPr>
        <p:spPr>
          <a:xfrm>
            <a:off x="457200" y="274320"/>
            <a:ext cx="8229600" cy="443198"/>
          </a:xfrm>
          <a:prstGeom prst="rect">
            <a:avLst/>
          </a:prstGeom>
          <a:noFill/>
        </p:spPr>
        <p:txBody>
          <a:bodyPr wrap="square" lIns="73152" tIns="36576" rIns="73152" bIns="36576" anchor="t">
            <a:spAutoFit/>
          </a:bodyPr>
          <a:lstStyle/>
          <a:p>
            <a:r>
              <a:rPr lang="en-US" sz="2400" b="1" dirty="0"/>
              <a:t>Resilient Distributed Datasets (RDDs)</a:t>
            </a:r>
            <a:r>
              <a:rPr lang="en-US" sz="2400" dirty="0"/>
              <a:t> </a:t>
            </a:r>
            <a:endParaRPr sz="2400" b="1" dirty="0">
              <a:solidFill>
                <a:srgbClr val="002060"/>
              </a:solidFill>
              <a:latin typeface="Calibri"/>
            </a:endParaRPr>
          </a:p>
        </p:txBody>
      </p:sp>
      <p:sp>
        <p:nvSpPr>
          <p:cNvPr id="4" name="TextBox 3">
            <a:extLst>
              <a:ext uri="{FF2B5EF4-FFF2-40B4-BE49-F238E27FC236}">
                <a16:creationId xmlns:a16="http://schemas.microsoft.com/office/drawing/2014/main" id="{851724A0-7D0B-2D0C-ADAD-0413CCF4A257}"/>
              </a:ext>
            </a:extLst>
          </p:cNvPr>
          <p:cNvSpPr txBox="1"/>
          <p:nvPr/>
        </p:nvSpPr>
        <p:spPr>
          <a:xfrm>
            <a:off x="529389" y="868680"/>
            <a:ext cx="8038539" cy="3111621"/>
          </a:xfrm>
          <a:prstGeom prst="rect">
            <a:avLst/>
          </a:prstGeom>
          <a:noFill/>
        </p:spPr>
        <p:txBody>
          <a:bodyPr wrap="square" lIns="27432" tIns="18288" rIns="27432">
            <a:spAutoFit/>
          </a:bodyPr>
          <a:lstStyle/>
          <a:p>
            <a:r>
              <a:rPr lang="en-US" b="1" dirty="0"/>
              <a:t>Resilient Distributed Datasets (RDDs)</a:t>
            </a:r>
            <a:r>
              <a:rPr lang="en-US" dirty="0"/>
              <a:t> are a fundamental data structure in Apache Spark. They represent a fault-tolerant collection of elements that can be operated on in parallel across a cluster. RDDs are immutable, meaning once created, they cannot be changed. Instead, transformations on RDDs produce new RDDs.</a:t>
            </a:r>
          </a:p>
          <a:p>
            <a:r>
              <a:rPr lang="en-US" b="1" dirty="0"/>
              <a:t>Key Principles of RDDs</a:t>
            </a:r>
          </a:p>
          <a:p>
            <a:r>
              <a:rPr lang="en-US" b="1" dirty="0"/>
              <a:t>Fault Tolerance</a:t>
            </a:r>
            <a:r>
              <a:rPr lang="en-US" dirty="0"/>
              <a:t>: RDDs automatically recover from node failures. If a partition of an RDD is lost, it can be recomputed using the lineage information.</a:t>
            </a:r>
          </a:p>
          <a:p>
            <a:r>
              <a:rPr lang="en-US" b="1" dirty="0"/>
              <a:t>Immutability</a:t>
            </a:r>
            <a:r>
              <a:rPr lang="en-US" dirty="0"/>
              <a:t>: Once an RDD is created, it cannot be modified. This immutability ensures consistency and fault tolerance.</a:t>
            </a:r>
          </a:p>
          <a:p>
            <a:r>
              <a:rPr lang="en-US" b="1" dirty="0"/>
              <a:t>Partitioning</a:t>
            </a:r>
            <a:r>
              <a:rPr lang="en-US" dirty="0"/>
              <a:t>: RDDs are divided into logical partitions, which can be computed on different nodes of the cluster. This allows for parallel processing.</a:t>
            </a:r>
          </a:p>
        </p:txBody>
      </p:sp>
      <p:pic>
        <p:nvPicPr>
          <p:cNvPr id="3074" name="Picture 2" descr="Pyspark RDD. Resilient Distributed Datasets (RDDs)… | by Muttineni Sai ...">
            <a:extLst>
              <a:ext uri="{FF2B5EF4-FFF2-40B4-BE49-F238E27FC236}">
                <a16:creationId xmlns:a16="http://schemas.microsoft.com/office/drawing/2014/main" id="{4B357438-FBC2-49B0-5205-A446398E016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689" t="9235" r="5774" b="12596"/>
          <a:stretch>
            <a:fillRect/>
          </a:stretch>
        </p:blipFill>
        <p:spPr bwMode="auto">
          <a:xfrm>
            <a:off x="1848051" y="4036086"/>
            <a:ext cx="4469731" cy="25475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01258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13</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RDDs vs DataFrames vs Datasets</a:t>
            </a:r>
          </a:p>
        </p:txBody>
      </p:sp>
      <p:graphicFrame>
        <p:nvGraphicFramePr>
          <p:cNvPr id="4" name="Table 3"/>
          <p:cNvGraphicFramePr>
            <a:graphicFrameLocks noGrp="1"/>
          </p:cNvGraphicFramePr>
          <p:nvPr/>
        </p:nvGraphicFramePr>
        <p:xfrm>
          <a:off x="530352" y="1143000"/>
          <a:ext cx="8092440" cy="4983480"/>
        </p:xfrm>
        <a:graphic>
          <a:graphicData uri="http://schemas.openxmlformats.org/drawingml/2006/table">
            <a:tbl>
              <a:tblPr firstRow="1" bandRow="1">
                <a:tableStyleId>{5C22544A-7EE6-4342-B048-85BDC9FD1C3A}</a:tableStyleId>
              </a:tblPr>
              <a:tblGrid>
                <a:gridCol w="2023110">
                  <a:extLst>
                    <a:ext uri="{9D8B030D-6E8A-4147-A177-3AD203B41FA5}">
                      <a16:colId xmlns:a16="http://schemas.microsoft.com/office/drawing/2014/main" val="20000"/>
                    </a:ext>
                  </a:extLst>
                </a:gridCol>
                <a:gridCol w="2023110">
                  <a:extLst>
                    <a:ext uri="{9D8B030D-6E8A-4147-A177-3AD203B41FA5}">
                      <a16:colId xmlns:a16="http://schemas.microsoft.com/office/drawing/2014/main" val="20001"/>
                    </a:ext>
                  </a:extLst>
                </a:gridCol>
                <a:gridCol w="2023110">
                  <a:extLst>
                    <a:ext uri="{9D8B030D-6E8A-4147-A177-3AD203B41FA5}">
                      <a16:colId xmlns:a16="http://schemas.microsoft.com/office/drawing/2014/main" val="20002"/>
                    </a:ext>
                  </a:extLst>
                </a:gridCol>
                <a:gridCol w="2023110">
                  <a:extLst>
                    <a:ext uri="{9D8B030D-6E8A-4147-A177-3AD203B41FA5}">
                      <a16:colId xmlns:a16="http://schemas.microsoft.com/office/drawing/2014/main" val="20003"/>
                    </a:ext>
                  </a:extLst>
                </a:gridCol>
              </a:tblGrid>
              <a:tr h="711925">
                <a:tc>
                  <a:txBody>
                    <a:bodyPr/>
                    <a:lstStyle/>
                    <a:p>
                      <a:pPr algn="ctr"/>
                      <a:r>
                        <a:rPr sz="860" b="1">
                          <a:solidFill>
                            <a:srgbClr val="FFFFFF"/>
                          </a:solidFill>
                          <a:latin typeface="Calibri"/>
                        </a:rPr>
                        <a:t>Dimension</a:t>
                      </a:r>
                    </a:p>
                  </a:txBody>
                  <a:tcPr>
                    <a:solidFill>
                      <a:srgbClr val="002060"/>
                    </a:solidFill>
                  </a:tcPr>
                </a:tc>
                <a:tc>
                  <a:txBody>
                    <a:bodyPr/>
                    <a:lstStyle/>
                    <a:p>
                      <a:pPr algn="ctr"/>
                      <a:r>
                        <a:rPr sz="860" b="1">
                          <a:solidFill>
                            <a:srgbClr val="FFFFFF"/>
                          </a:solidFill>
                          <a:latin typeface="Calibri"/>
                        </a:rPr>
                        <a:t>RDD</a:t>
                      </a:r>
                    </a:p>
                  </a:txBody>
                  <a:tcPr>
                    <a:solidFill>
                      <a:srgbClr val="002060"/>
                    </a:solidFill>
                  </a:tcPr>
                </a:tc>
                <a:tc>
                  <a:txBody>
                    <a:bodyPr/>
                    <a:lstStyle/>
                    <a:p>
                      <a:pPr algn="ctr"/>
                      <a:r>
                        <a:rPr sz="860" b="1">
                          <a:solidFill>
                            <a:srgbClr val="FFFFFF"/>
                          </a:solidFill>
                          <a:latin typeface="Calibri"/>
                        </a:rPr>
                        <a:t>DataFrame</a:t>
                      </a:r>
                    </a:p>
                  </a:txBody>
                  <a:tcPr>
                    <a:solidFill>
                      <a:srgbClr val="002060"/>
                    </a:solidFill>
                  </a:tcPr>
                </a:tc>
                <a:tc>
                  <a:txBody>
                    <a:bodyPr/>
                    <a:lstStyle/>
                    <a:p>
                      <a:pPr algn="ctr"/>
                      <a:r>
                        <a:rPr sz="860" b="1">
                          <a:solidFill>
                            <a:srgbClr val="FFFFFF"/>
                          </a:solidFill>
                          <a:latin typeface="Calibri"/>
                        </a:rPr>
                        <a:t>Dataset</a:t>
                      </a:r>
                    </a:p>
                  </a:txBody>
                  <a:tcPr>
                    <a:solidFill>
                      <a:srgbClr val="002060"/>
                    </a:solidFill>
                  </a:tcPr>
                </a:tc>
                <a:extLst>
                  <a:ext uri="{0D108BD9-81ED-4DB2-BD59-A6C34878D82A}">
                    <a16:rowId xmlns:a16="http://schemas.microsoft.com/office/drawing/2014/main" val="10000"/>
                  </a:ext>
                </a:extLst>
              </a:tr>
              <a:tr h="711925">
                <a:tc>
                  <a:txBody>
                    <a:bodyPr/>
                    <a:lstStyle/>
                    <a:p>
                      <a:pPr algn="l"/>
                      <a:r>
                        <a:rPr sz="860" b="0">
                          <a:solidFill>
                            <a:srgbClr val="333333"/>
                          </a:solidFill>
                          <a:latin typeface="Calibri"/>
                        </a:rPr>
                        <a:t>Type safety</a:t>
                      </a:r>
                    </a:p>
                  </a:txBody>
                  <a:tcPr>
                    <a:solidFill>
                      <a:srgbClr val="FFFFFF"/>
                    </a:solidFill>
                  </a:tcPr>
                </a:tc>
                <a:tc>
                  <a:txBody>
                    <a:bodyPr/>
                    <a:lstStyle/>
                    <a:p>
                      <a:pPr algn="l"/>
                      <a:r>
                        <a:rPr sz="860" b="0">
                          <a:solidFill>
                            <a:srgbClr val="333333"/>
                          </a:solidFill>
                          <a:latin typeface="Calibri"/>
                        </a:rPr>
                        <a:t>Yes</a:t>
                      </a:r>
                    </a:p>
                  </a:txBody>
                  <a:tcPr>
                    <a:solidFill>
                      <a:srgbClr val="FFFFFF"/>
                    </a:solidFill>
                  </a:tcPr>
                </a:tc>
                <a:tc>
                  <a:txBody>
                    <a:bodyPr/>
                    <a:lstStyle/>
                    <a:p>
                      <a:pPr algn="l"/>
                      <a:r>
                        <a:rPr sz="860" b="0">
                          <a:solidFill>
                            <a:srgbClr val="333333"/>
                          </a:solidFill>
                          <a:latin typeface="Calibri"/>
                        </a:rPr>
                        <a:t>No</a:t>
                      </a:r>
                    </a:p>
                  </a:txBody>
                  <a:tcPr>
                    <a:solidFill>
                      <a:srgbClr val="FFFFFF"/>
                    </a:solidFill>
                  </a:tcPr>
                </a:tc>
                <a:tc>
                  <a:txBody>
                    <a:bodyPr/>
                    <a:lstStyle/>
                    <a:p>
                      <a:pPr algn="l"/>
                      <a:r>
                        <a:rPr sz="860" b="0">
                          <a:solidFill>
                            <a:srgbClr val="333333"/>
                          </a:solidFill>
                          <a:latin typeface="Calibri"/>
                        </a:rPr>
                        <a:t>Yes</a:t>
                      </a:r>
                    </a:p>
                  </a:txBody>
                  <a:tcPr>
                    <a:solidFill>
                      <a:srgbClr val="FFFFFF"/>
                    </a:solidFill>
                  </a:tcPr>
                </a:tc>
                <a:extLst>
                  <a:ext uri="{0D108BD9-81ED-4DB2-BD59-A6C34878D82A}">
                    <a16:rowId xmlns:a16="http://schemas.microsoft.com/office/drawing/2014/main" val="10001"/>
                  </a:ext>
                </a:extLst>
              </a:tr>
              <a:tr h="711925">
                <a:tc>
                  <a:txBody>
                    <a:bodyPr/>
                    <a:lstStyle/>
                    <a:p>
                      <a:pPr algn="l"/>
                      <a:r>
                        <a:rPr sz="860" b="0">
                          <a:solidFill>
                            <a:srgbClr val="333333"/>
                          </a:solidFill>
                          <a:latin typeface="Calibri"/>
                        </a:rPr>
                        <a:t>Optimization</a:t>
                      </a:r>
                    </a:p>
                  </a:txBody>
                  <a:tcPr>
                    <a:solidFill>
                      <a:srgbClr val="F0F4FA"/>
                    </a:solidFill>
                  </a:tcPr>
                </a:tc>
                <a:tc>
                  <a:txBody>
                    <a:bodyPr/>
                    <a:lstStyle/>
                    <a:p>
                      <a:pPr algn="l"/>
                      <a:r>
                        <a:rPr sz="860" b="0">
                          <a:solidFill>
                            <a:srgbClr val="333333"/>
                          </a:solidFill>
                          <a:latin typeface="Calibri"/>
                        </a:rPr>
                        <a:t>No</a:t>
                      </a:r>
                    </a:p>
                  </a:txBody>
                  <a:tcPr>
                    <a:solidFill>
                      <a:srgbClr val="F0F4FA"/>
                    </a:solidFill>
                  </a:tcPr>
                </a:tc>
                <a:tc>
                  <a:txBody>
                    <a:bodyPr/>
                    <a:lstStyle/>
                    <a:p>
                      <a:pPr algn="l"/>
                      <a:r>
                        <a:rPr sz="860" b="0">
                          <a:solidFill>
                            <a:srgbClr val="333333"/>
                          </a:solidFill>
                          <a:latin typeface="Calibri"/>
                        </a:rPr>
                        <a:t>Yes: Catalyst</a:t>
                      </a:r>
                    </a:p>
                  </a:txBody>
                  <a:tcPr>
                    <a:solidFill>
                      <a:srgbClr val="F0F4FA"/>
                    </a:solidFill>
                  </a:tcPr>
                </a:tc>
                <a:tc>
                  <a:txBody>
                    <a:bodyPr/>
                    <a:lstStyle/>
                    <a:p>
                      <a:pPr algn="l"/>
                      <a:r>
                        <a:rPr sz="860" b="0">
                          <a:solidFill>
                            <a:srgbClr val="333333"/>
                          </a:solidFill>
                          <a:latin typeface="Calibri"/>
                        </a:rPr>
                        <a:t>Yes</a:t>
                      </a:r>
                    </a:p>
                  </a:txBody>
                  <a:tcPr>
                    <a:solidFill>
                      <a:srgbClr val="F0F4FA"/>
                    </a:solidFill>
                  </a:tcPr>
                </a:tc>
                <a:extLst>
                  <a:ext uri="{0D108BD9-81ED-4DB2-BD59-A6C34878D82A}">
                    <a16:rowId xmlns:a16="http://schemas.microsoft.com/office/drawing/2014/main" val="10002"/>
                  </a:ext>
                </a:extLst>
              </a:tr>
              <a:tr h="711925">
                <a:tc>
                  <a:txBody>
                    <a:bodyPr/>
                    <a:lstStyle/>
                    <a:p>
                      <a:pPr algn="l"/>
                      <a:r>
                        <a:rPr sz="860" b="0">
                          <a:solidFill>
                            <a:srgbClr val="333333"/>
                          </a:solidFill>
                          <a:latin typeface="Calibri"/>
                        </a:rPr>
                        <a:t>API</a:t>
                      </a:r>
                    </a:p>
                  </a:txBody>
                  <a:tcPr>
                    <a:solidFill>
                      <a:srgbClr val="FFFFFF"/>
                    </a:solidFill>
                  </a:tcPr>
                </a:tc>
                <a:tc>
                  <a:txBody>
                    <a:bodyPr/>
                    <a:lstStyle/>
                    <a:p>
                      <a:pPr algn="l"/>
                      <a:r>
                        <a:rPr sz="860" b="0">
                          <a:solidFill>
                            <a:srgbClr val="333333"/>
                          </a:solidFill>
                          <a:latin typeface="Calibri"/>
                        </a:rPr>
                        <a:t>Functional</a:t>
                      </a:r>
                    </a:p>
                  </a:txBody>
                  <a:tcPr>
                    <a:solidFill>
                      <a:srgbClr val="FFFFFF"/>
                    </a:solidFill>
                  </a:tcPr>
                </a:tc>
                <a:tc>
                  <a:txBody>
                    <a:bodyPr/>
                    <a:lstStyle/>
                    <a:p>
                      <a:pPr algn="l"/>
                      <a:r>
                        <a:rPr sz="860" b="0">
                          <a:solidFill>
                            <a:srgbClr val="333333"/>
                          </a:solidFill>
                          <a:latin typeface="Calibri"/>
                        </a:rPr>
                        <a:t>Declarative</a:t>
                      </a:r>
                    </a:p>
                  </a:txBody>
                  <a:tcPr>
                    <a:solidFill>
                      <a:srgbClr val="FFFFFF"/>
                    </a:solidFill>
                  </a:tcPr>
                </a:tc>
                <a:tc>
                  <a:txBody>
                    <a:bodyPr/>
                    <a:lstStyle/>
                    <a:p>
                      <a:pPr algn="l"/>
                      <a:r>
                        <a:rPr sz="860" b="0">
                          <a:solidFill>
                            <a:srgbClr val="333333"/>
                          </a:solidFill>
                          <a:latin typeface="Calibri"/>
                        </a:rPr>
                        <a:t>Both</a:t>
                      </a:r>
                    </a:p>
                  </a:txBody>
                  <a:tcPr>
                    <a:solidFill>
                      <a:srgbClr val="FFFFFF"/>
                    </a:solidFill>
                  </a:tcPr>
                </a:tc>
                <a:extLst>
                  <a:ext uri="{0D108BD9-81ED-4DB2-BD59-A6C34878D82A}">
                    <a16:rowId xmlns:a16="http://schemas.microsoft.com/office/drawing/2014/main" val="10003"/>
                  </a:ext>
                </a:extLst>
              </a:tr>
              <a:tr h="711925">
                <a:tc>
                  <a:txBody>
                    <a:bodyPr/>
                    <a:lstStyle/>
                    <a:p>
                      <a:pPr algn="l"/>
                      <a:r>
                        <a:rPr sz="860" b="0">
                          <a:solidFill>
                            <a:srgbClr val="333333"/>
                          </a:solidFill>
                          <a:latin typeface="Calibri"/>
                        </a:rPr>
                        <a:t>Schema</a:t>
                      </a:r>
                    </a:p>
                  </a:txBody>
                  <a:tcPr>
                    <a:solidFill>
                      <a:srgbClr val="F0F4FA"/>
                    </a:solidFill>
                  </a:tcPr>
                </a:tc>
                <a:tc>
                  <a:txBody>
                    <a:bodyPr/>
                    <a:lstStyle/>
                    <a:p>
                      <a:pPr algn="l"/>
                      <a:r>
                        <a:rPr sz="860" b="0">
                          <a:solidFill>
                            <a:srgbClr val="333333"/>
                          </a:solidFill>
                          <a:latin typeface="Calibri"/>
                        </a:rPr>
                        <a:t>None</a:t>
                      </a:r>
                    </a:p>
                  </a:txBody>
                  <a:tcPr>
                    <a:solidFill>
                      <a:srgbClr val="F0F4FA"/>
                    </a:solidFill>
                  </a:tcPr>
                </a:tc>
                <a:tc>
                  <a:txBody>
                    <a:bodyPr/>
                    <a:lstStyle/>
                    <a:p>
                      <a:pPr algn="l"/>
                      <a:r>
                        <a:rPr sz="860" b="0">
                          <a:solidFill>
                            <a:srgbClr val="333333"/>
                          </a:solidFill>
                          <a:latin typeface="Calibri"/>
                        </a:rPr>
                        <a:t>Inferred or explicit</a:t>
                      </a:r>
                    </a:p>
                  </a:txBody>
                  <a:tcPr>
                    <a:solidFill>
                      <a:srgbClr val="F0F4FA"/>
                    </a:solidFill>
                  </a:tcPr>
                </a:tc>
                <a:tc>
                  <a:txBody>
                    <a:bodyPr/>
                    <a:lstStyle/>
                    <a:p>
                      <a:pPr algn="l"/>
                      <a:r>
                        <a:rPr sz="860" b="0">
                          <a:solidFill>
                            <a:srgbClr val="333333"/>
                          </a:solidFill>
                          <a:latin typeface="Calibri"/>
                        </a:rPr>
                        <a:t>Explicit</a:t>
                      </a:r>
                    </a:p>
                  </a:txBody>
                  <a:tcPr>
                    <a:solidFill>
                      <a:srgbClr val="F0F4FA"/>
                    </a:solidFill>
                  </a:tcPr>
                </a:tc>
                <a:extLst>
                  <a:ext uri="{0D108BD9-81ED-4DB2-BD59-A6C34878D82A}">
                    <a16:rowId xmlns:a16="http://schemas.microsoft.com/office/drawing/2014/main" val="10004"/>
                  </a:ext>
                </a:extLst>
              </a:tr>
              <a:tr h="711925">
                <a:tc>
                  <a:txBody>
                    <a:bodyPr/>
                    <a:lstStyle/>
                    <a:p>
                      <a:pPr algn="l"/>
                      <a:r>
                        <a:rPr sz="860" b="0">
                          <a:solidFill>
                            <a:srgbClr val="333333"/>
                          </a:solidFill>
                          <a:latin typeface="Calibri"/>
                        </a:rPr>
                        <a:t>Language</a:t>
                      </a:r>
                    </a:p>
                  </a:txBody>
                  <a:tcPr>
                    <a:solidFill>
                      <a:srgbClr val="FFFFFF"/>
                    </a:solidFill>
                  </a:tcPr>
                </a:tc>
                <a:tc>
                  <a:txBody>
                    <a:bodyPr/>
                    <a:lstStyle/>
                    <a:p>
                      <a:pPr algn="l"/>
                      <a:r>
                        <a:rPr sz="860" b="0">
                          <a:solidFill>
                            <a:srgbClr val="333333"/>
                          </a:solidFill>
                          <a:latin typeface="Calibri"/>
                        </a:rPr>
                        <a:t>All</a:t>
                      </a:r>
                    </a:p>
                  </a:txBody>
                  <a:tcPr>
                    <a:solidFill>
                      <a:srgbClr val="FFFFFF"/>
                    </a:solidFill>
                  </a:tcPr>
                </a:tc>
                <a:tc>
                  <a:txBody>
                    <a:bodyPr/>
                    <a:lstStyle/>
                    <a:p>
                      <a:pPr algn="l"/>
                      <a:r>
                        <a:rPr sz="860" b="0">
                          <a:solidFill>
                            <a:srgbClr val="333333"/>
                          </a:solidFill>
                          <a:latin typeface="Calibri"/>
                        </a:rPr>
                        <a:t>All</a:t>
                      </a:r>
                    </a:p>
                  </a:txBody>
                  <a:tcPr>
                    <a:solidFill>
                      <a:srgbClr val="FFFFFF"/>
                    </a:solidFill>
                  </a:tcPr>
                </a:tc>
                <a:tc>
                  <a:txBody>
                    <a:bodyPr/>
                    <a:lstStyle/>
                    <a:p>
                      <a:pPr algn="l"/>
                      <a:r>
                        <a:rPr sz="860" b="0">
                          <a:solidFill>
                            <a:srgbClr val="333333"/>
                          </a:solidFill>
                          <a:latin typeface="Calibri"/>
                        </a:rPr>
                        <a:t>Scala/Java only</a:t>
                      </a:r>
                    </a:p>
                  </a:txBody>
                  <a:tcPr>
                    <a:solidFill>
                      <a:srgbClr val="FFFFFF"/>
                    </a:solidFill>
                  </a:tcPr>
                </a:tc>
                <a:extLst>
                  <a:ext uri="{0D108BD9-81ED-4DB2-BD59-A6C34878D82A}">
                    <a16:rowId xmlns:a16="http://schemas.microsoft.com/office/drawing/2014/main" val="10005"/>
                  </a:ext>
                </a:extLst>
              </a:tr>
              <a:tr h="711930">
                <a:tc>
                  <a:txBody>
                    <a:bodyPr/>
                    <a:lstStyle/>
                    <a:p>
                      <a:pPr algn="l"/>
                      <a:r>
                        <a:rPr sz="860" b="0">
                          <a:solidFill>
                            <a:srgbClr val="333333"/>
                          </a:solidFill>
                          <a:latin typeface="Calibri"/>
                        </a:rPr>
                        <a:t>Performance</a:t>
                      </a:r>
                    </a:p>
                  </a:txBody>
                  <a:tcPr>
                    <a:solidFill>
                      <a:srgbClr val="F0F4FA"/>
                    </a:solidFill>
                  </a:tcPr>
                </a:tc>
                <a:tc>
                  <a:txBody>
                    <a:bodyPr/>
                    <a:lstStyle/>
                    <a:p>
                      <a:pPr algn="l"/>
                      <a:r>
                        <a:rPr sz="860" b="0">
                          <a:solidFill>
                            <a:srgbClr val="333333"/>
                          </a:solidFill>
                          <a:latin typeface="Calibri"/>
                        </a:rPr>
                        <a:t>Lowest</a:t>
                      </a:r>
                    </a:p>
                  </a:txBody>
                  <a:tcPr>
                    <a:solidFill>
                      <a:srgbClr val="F0F4FA"/>
                    </a:solidFill>
                  </a:tcPr>
                </a:tc>
                <a:tc>
                  <a:txBody>
                    <a:bodyPr/>
                    <a:lstStyle/>
                    <a:p>
                      <a:pPr algn="l"/>
                      <a:r>
                        <a:rPr sz="860" b="0">
                          <a:solidFill>
                            <a:srgbClr val="333333"/>
                          </a:solidFill>
                          <a:latin typeface="Calibri"/>
                        </a:rPr>
                        <a:t>Highest</a:t>
                      </a:r>
                    </a:p>
                  </a:txBody>
                  <a:tcPr>
                    <a:solidFill>
                      <a:srgbClr val="F0F4FA"/>
                    </a:solidFill>
                  </a:tcPr>
                </a:tc>
                <a:tc>
                  <a:txBody>
                    <a:bodyPr/>
                    <a:lstStyle/>
                    <a:p>
                      <a:pPr algn="l"/>
                      <a:r>
                        <a:rPr sz="860" b="0">
                          <a:solidFill>
                            <a:srgbClr val="333333"/>
                          </a:solidFill>
                          <a:latin typeface="Calibri"/>
                        </a:rPr>
                        <a:t>High</a:t>
                      </a:r>
                    </a:p>
                  </a:txBody>
                  <a:tcPr>
                    <a:solidFill>
                      <a:srgbClr val="F0F4FA"/>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348CF-EF6A-2053-77A7-F3180582F73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E7A03EC-161E-4FD8-E5FE-9222AACA14DF}"/>
              </a:ext>
            </a:extLst>
          </p:cNvPr>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10</a:t>
            </a:r>
          </a:p>
        </p:txBody>
      </p:sp>
      <p:sp>
        <p:nvSpPr>
          <p:cNvPr id="3" name="TextBox 2">
            <a:extLst>
              <a:ext uri="{FF2B5EF4-FFF2-40B4-BE49-F238E27FC236}">
                <a16:creationId xmlns:a16="http://schemas.microsoft.com/office/drawing/2014/main" id="{A25A331F-8763-1232-FC8A-FE567C298289}"/>
              </a:ext>
            </a:extLst>
          </p:cNvPr>
          <p:cNvSpPr txBox="1"/>
          <p:nvPr/>
        </p:nvSpPr>
        <p:spPr>
          <a:xfrm>
            <a:off x="457200" y="274320"/>
            <a:ext cx="8229600" cy="443198"/>
          </a:xfrm>
          <a:prstGeom prst="rect">
            <a:avLst/>
          </a:prstGeom>
          <a:noFill/>
        </p:spPr>
        <p:txBody>
          <a:bodyPr wrap="square" lIns="73152" tIns="36576" rIns="73152" bIns="36576" anchor="t">
            <a:spAutoFit/>
          </a:bodyPr>
          <a:lstStyle/>
          <a:p>
            <a:pPr algn="l"/>
            <a:r>
              <a:rPr lang="en-US" sz="2400" b="1" dirty="0">
                <a:solidFill>
                  <a:srgbClr val="002060"/>
                </a:solidFill>
                <a:latin typeface="Calibri"/>
              </a:rPr>
              <a:t>Transformation</a:t>
            </a:r>
            <a:endParaRPr sz="2400" b="1" dirty="0">
              <a:solidFill>
                <a:srgbClr val="002060"/>
              </a:solidFill>
              <a:latin typeface="Calibri"/>
            </a:endParaRPr>
          </a:p>
        </p:txBody>
      </p:sp>
      <p:sp>
        <p:nvSpPr>
          <p:cNvPr id="4" name="TextBox 3">
            <a:extLst>
              <a:ext uri="{FF2B5EF4-FFF2-40B4-BE49-F238E27FC236}">
                <a16:creationId xmlns:a16="http://schemas.microsoft.com/office/drawing/2014/main" id="{F173E9FF-068C-4C91-E587-4D23D7303E65}"/>
              </a:ext>
            </a:extLst>
          </p:cNvPr>
          <p:cNvSpPr txBox="1"/>
          <p:nvPr/>
        </p:nvSpPr>
        <p:spPr>
          <a:xfrm>
            <a:off x="658368" y="868680"/>
            <a:ext cx="7909560" cy="2773067"/>
          </a:xfrm>
          <a:prstGeom prst="rect">
            <a:avLst/>
          </a:prstGeom>
          <a:noFill/>
        </p:spPr>
        <p:txBody>
          <a:bodyPr wrap="square" lIns="27432" tIns="18288" rIns="27432">
            <a:spAutoFit/>
          </a:bodyPr>
          <a:lstStyle/>
          <a:p>
            <a:r>
              <a:rPr lang="en-US" sz="1600" dirty="0"/>
              <a:t>Transformations are functions that produce new RDDs from existing ones. </a:t>
            </a:r>
          </a:p>
          <a:p>
            <a:r>
              <a:rPr lang="en-US" sz="1600" dirty="0"/>
              <a:t>They are </a:t>
            </a:r>
            <a:r>
              <a:rPr lang="en-US" sz="1600" b="1" dirty="0"/>
              <a:t>lazy</a:t>
            </a:r>
            <a:r>
              <a:rPr lang="en-US" sz="1600" dirty="0"/>
              <a:t> in nature, meaning they do not execute immediately but build up a logical execution plan known as the Directed Acyclic Graph (DAG). Transformations are only executed when an action is called. Some common transformations include:</a:t>
            </a:r>
          </a:p>
          <a:p>
            <a:pPr marL="285750" indent="-285750">
              <a:buFont typeface="Arial" panose="020B0604020202020204" pitchFamily="34" charset="0"/>
              <a:buChar char="•"/>
            </a:pPr>
            <a:r>
              <a:rPr lang="en-US" sz="1600" b="1" dirty="0"/>
              <a:t>map(</a:t>
            </a:r>
            <a:r>
              <a:rPr lang="en-US" sz="1600" b="1" dirty="0" err="1"/>
              <a:t>func</a:t>
            </a:r>
            <a:r>
              <a:rPr lang="en-US" sz="1600" b="1" dirty="0"/>
              <a:t>)</a:t>
            </a:r>
            <a:r>
              <a:rPr lang="en-US" sz="1600" dirty="0"/>
              <a:t>: Applies a function to each element of the RDD and returns a new RDD.</a:t>
            </a:r>
          </a:p>
          <a:p>
            <a:pPr marL="285750" indent="-285750">
              <a:buFont typeface="Arial" panose="020B0604020202020204" pitchFamily="34" charset="0"/>
              <a:buChar char="•"/>
            </a:pPr>
            <a:r>
              <a:rPr lang="en-US" sz="1600" b="1" dirty="0" err="1"/>
              <a:t>flatMap</a:t>
            </a:r>
            <a:r>
              <a:rPr lang="en-US" sz="1600" b="1" dirty="0"/>
              <a:t>(</a:t>
            </a:r>
            <a:r>
              <a:rPr lang="en-US" sz="1600" b="1" dirty="0" err="1"/>
              <a:t>func</a:t>
            </a:r>
            <a:r>
              <a:rPr lang="en-US" sz="1600" b="1" dirty="0"/>
              <a:t>)</a:t>
            </a:r>
            <a:r>
              <a:rPr lang="en-US" sz="1600" dirty="0"/>
              <a:t>: Similar to map, but each input item can be mapped to zero or more output items.</a:t>
            </a:r>
          </a:p>
          <a:p>
            <a:pPr marL="285750" indent="-285750">
              <a:buFont typeface="Arial" panose="020B0604020202020204" pitchFamily="34" charset="0"/>
              <a:buChar char="•"/>
            </a:pPr>
            <a:r>
              <a:rPr lang="en-US" sz="1600" b="1" dirty="0"/>
              <a:t>filter(</a:t>
            </a:r>
            <a:r>
              <a:rPr lang="en-US" sz="1600" b="1" dirty="0" err="1"/>
              <a:t>func</a:t>
            </a:r>
            <a:r>
              <a:rPr lang="en-US" sz="1600" b="1" dirty="0"/>
              <a:t>)</a:t>
            </a:r>
            <a:r>
              <a:rPr lang="en-US" sz="1600" dirty="0"/>
              <a:t>: Returns a new RDD containing only the elements that satisfy a predicate.</a:t>
            </a:r>
          </a:p>
          <a:p>
            <a:r>
              <a:rPr lang="en-US" sz="1600" dirty="0"/>
              <a:t>Transformations can be further categorized into </a:t>
            </a:r>
            <a:r>
              <a:rPr lang="en-US" sz="1600" b="1" dirty="0"/>
              <a:t>narrow</a:t>
            </a:r>
            <a:r>
              <a:rPr lang="en-US" sz="1600" dirty="0"/>
              <a:t> and </a:t>
            </a:r>
            <a:r>
              <a:rPr lang="en-US" sz="1600" b="1" dirty="0"/>
              <a:t>wide</a:t>
            </a:r>
            <a:r>
              <a:rPr lang="en-US" sz="1600" dirty="0"/>
              <a:t> transformations. Narrow transformations (e.g., map, filter) do not require data shuffling across partitions, while wide transformations (e.g., </a:t>
            </a:r>
            <a:r>
              <a:rPr lang="en-US" sz="1600" dirty="0" err="1"/>
              <a:t>groupByKey</a:t>
            </a:r>
            <a:r>
              <a:rPr lang="en-US" sz="1600" dirty="0"/>
              <a:t>, </a:t>
            </a:r>
            <a:r>
              <a:rPr lang="en-US" sz="1600" dirty="0" err="1"/>
              <a:t>reduceByKey</a:t>
            </a:r>
            <a:r>
              <a:rPr lang="en-US" sz="1600" dirty="0"/>
              <a:t>) involve shuffling data across partitions.</a:t>
            </a:r>
          </a:p>
        </p:txBody>
      </p:sp>
      <p:pic>
        <p:nvPicPr>
          <p:cNvPr id="10" name="Picture 9">
            <a:extLst>
              <a:ext uri="{FF2B5EF4-FFF2-40B4-BE49-F238E27FC236}">
                <a16:creationId xmlns:a16="http://schemas.microsoft.com/office/drawing/2014/main" id="{1527C304-05E0-6140-FDE0-FEBF9EF5D13E}"/>
              </a:ext>
            </a:extLst>
          </p:cNvPr>
          <p:cNvPicPr>
            <a:picLocks noChangeAspect="1"/>
          </p:cNvPicPr>
          <p:nvPr/>
        </p:nvPicPr>
        <p:blipFill>
          <a:blip r:embed="rId2"/>
          <a:stretch>
            <a:fillRect/>
          </a:stretch>
        </p:blipFill>
        <p:spPr>
          <a:xfrm>
            <a:off x="866272" y="3641747"/>
            <a:ext cx="7113069" cy="2729972"/>
          </a:xfrm>
          <a:prstGeom prst="rect">
            <a:avLst/>
          </a:prstGeom>
        </p:spPr>
      </p:pic>
    </p:spTree>
    <p:extLst>
      <p:ext uri="{BB962C8B-B14F-4D97-AF65-F5344CB8AC3E}">
        <p14:creationId xmlns:p14="http://schemas.microsoft.com/office/powerpoint/2010/main" val="5641025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3DF58-D819-BDE3-3210-2E4F26BDF01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0AFEA6D-4A1A-3600-30DA-240733F9932F}"/>
              </a:ext>
            </a:extLst>
          </p:cNvPr>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10</a:t>
            </a:r>
          </a:p>
        </p:txBody>
      </p:sp>
      <p:sp>
        <p:nvSpPr>
          <p:cNvPr id="3" name="TextBox 2">
            <a:extLst>
              <a:ext uri="{FF2B5EF4-FFF2-40B4-BE49-F238E27FC236}">
                <a16:creationId xmlns:a16="http://schemas.microsoft.com/office/drawing/2014/main" id="{4DF46A49-79C7-1447-B178-9E833CF506F1}"/>
              </a:ext>
            </a:extLst>
          </p:cNvPr>
          <p:cNvSpPr txBox="1"/>
          <p:nvPr/>
        </p:nvSpPr>
        <p:spPr>
          <a:xfrm>
            <a:off x="457200" y="274320"/>
            <a:ext cx="8229600" cy="443198"/>
          </a:xfrm>
          <a:prstGeom prst="rect">
            <a:avLst/>
          </a:prstGeom>
          <a:noFill/>
        </p:spPr>
        <p:txBody>
          <a:bodyPr wrap="square" lIns="73152" tIns="36576" rIns="73152" bIns="36576" anchor="t">
            <a:spAutoFit/>
          </a:bodyPr>
          <a:lstStyle/>
          <a:p>
            <a:pPr algn="l"/>
            <a:r>
              <a:rPr lang="en-US" sz="2400" b="1" dirty="0">
                <a:solidFill>
                  <a:srgbClr val="002060"/>
                </a:solidFill>
                <a:latin typeface="Calibri"/>
              </a:rPr>
              <a:t>Actions</a:t>
            </a:r>
            <a:endParaRPr sz="2400" b="1" dirty="0">
              <a:solidFill>
                <a:srgbClr val="002060"/>
              </a:solidFill>
              <a:latin typeface="Calibri"/>
            </a:endParaRPr>
          </a:p>
        </p:txBody>
      </p:sp>
      <p:sp>
        <p:nvSpPr>
          <p:cNvPr id="8" name="TextBox 7">
            <a:extLst>
              <a:ext uri="{FF2B5EF4-FFF2-40B4-BE49-F238E27FC236}">
                <a16:creationId xmlns:a16="http://schemas.microsoft.com/office/drawing/2014/main" id="{F649C3C3-9A3A-9F7D-B289-C00B02FD1997}"/>
              </a:ext>
            </a:extLst>
          </p:cNvPr>
          <p:cNvSpPr txBox="1"/>
          <p:nvPr/>
        </p:nvSpPr>
        <p:spPr>
          <a:xfrm>
            <a:off x="457200" y="892903"/>
            <a:ext cx="8311415" cy="2921313"/>
          </a:xfrm>
          <a:prstGeom prst="rect">
            <a:avLst/>
          </a:prstGeom>
          <a:noFill/>
        </p:spPr>
        <p:txBody>
          <a:bodyPr wrap="square">
            <a:spAutoFit/>
          </a:bodyPr>
          <a:lstStyle/>
          <a:p>
            <a:pPr algn="l">
              <a:lnSpc>
                <a:spcPts val="1650"/>
              </a:lnSpc>
              <a:spcBef>
                <a:spcPts val="600"/>
              </a:spcBef>
              <a:buNone/>
            </a:pPr>
            <a:r>
              <a:rPr lang="en-US" b="0" i="0" dirty="0">
                <a:solidFill>
                  <a:srgbClr val="000000"/>
                </a:solidFill>
                <a:effectLst/>
                <a:latin typeface="+mj-lt"/>
              </a:rPr>
              <a:t>Actions trigger the execution of the transformations and return a value to the driver program or write data to an external storage system. Actions are responsible for materializing the RDDs and bringing the laziness of transformations into motion. Some common actions include:</a:t>
            </a:r>
          </a:p>
          <a:p>
            <a:pPr marL="285750" indent="-285750" algn="l">
              <a:lnSpc>
                <a:spcPts val="1650"/>
              </a:lnSpc>
              <a:spcBef>
                <a:spcPts val="600"/>
              </a:spcBef>
              <a:buFont typeface="Arial" panose="020B0604020202020204" pitchFamily="34" charset="0"/>
              <a:buChar char="•"/>
            </a:pPr>
            <a:r>
              <a:rPr lang="en-US" i="0" dirty="0">
                <a:solidFill>
                  <a:srgbClr val="000000"/>
                </a:solidFill>
                <a:effectLst/>
                <a:latin typeface="+mj-lt"/>
              </a:rPr>
              <a:t>count(): Returns the number of elements in the RDD.</a:t>
            </a:r>
          </a:p>
          <a:p>
            <a:pPr marL="285750" indent="-285750">
              <a:buFont typeface="Arial" panose="020B0604020202020204" pitchFamily="34" charset="0"/>
              <a:buChar char="•"/>
            </a:pPr>
            <a:r>
              <a:rPr lang="en-US" dirty="0">
                <a:latin typeface="+mj-lt"/>
              </a:rPr>
              <a:t>collect(): Returns all the elements of the RDD as an array to the driver program.</a:t>
            </a:r>
          </a:p>
          <a:p>
            <a:pPr marL="285750" indent="-285750">
              <a:buFont typeface="Arial" panose="020B0604020202020204" pitchFamily="34" charset="0"/>
              <a:buChar char="•"/>
            </a:pPr>
            <a:r>
              <a:rPr lang="en-US" dirty="0">
                <a:latin typeface="+mj-lt"/>
              </a:rPr>
              <a:t>take(n): Returns the first n elements of the RDD.</a:t>
            </a:r>
          </a:p>
          <a:p>
            <a:r>
              <a:rPr lang="en-US" dirty="0">
                <a:latin typeface="+mj-lt"/>
              </a:rPr>
              <a:t>Actions are essential for triggering the execution of the DAG and obtaining the final results.</a:t>
            </a:r>
          </a:p>
          <a:p>
            <a:br>
              <a:rPr lang="en-US" dirty="0"/>
            </a:br>
            <a:endParaRPr lang="en-US" b="0" i="0" dirty="0">
              <a:solidFill>
                <a:srgbClr val="000000"/>
              </a:solidFill>
              <a:effectLst/>
              <a:latin typeface="Roboto" panose="02000000000000000000" pitchFamily="2" charset="0"/>
            </a:endParaRPr>
          </a:p>
        </p:txBody>
      </p:sp>
      <p:pic>
        <p:nvPicPr>
          <p:cNvPr id="2054" name="Picture 6" descr="Big Data Processing in Apache Spark: Serialization">
            <a:extLst>
              <a:ext uri="{FF2B5EF4-FFF2-40B4-BE49-F238E27FC236}">
                <a16:creationId xmlns:a16="http://schemas.microsoft.com/office/drawing/2014/main" id="{7AEA4A68-F9F4-093F-5D13-626A8EB3BE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3336" y="3179057"/>
            <a:ext cx="7338731" cy="3404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4043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11</a:t>
            </a:r>
          </a:p>
        </p:txBody>
      </p:sp>
      <p:sp>
        <p:nvSpPr>
          <p:cNvPr id="3" name="TextBox 2"/>
          <p:cNvSpPr txBox="1"/>
          <p:nvPr/>
        </p:nvSpPr>
        <p:spPr>
          <a:xfrm>
            <a:off x="457200" y="274320"/>
            <a:ext cx="8229600" cy="443198"/>
          </a:xfrm>
          <a:prstGeom prst="rect">
            <a:avLst/>
          </a:prstGeom>
          <a:noFill/>
        </p:spPr>
        <p:txBody>
          <a:bodyPr wrap="square" lIns="73152" tIns="36576" rIns="73152" bIns="36576" anchor="t">
            <a:spAutoFit/>
          </a:bodyPr>
          <a:lstStyle/>
          <a:p>
            <a:pPr algn="l"/>
            <a:r>
              <a:rPr sz="2400" b="1" dirty="0">
                <a:solidFill>
                  <a:srgbClr val="002060"/>
                </a:solidFill>
                <a:latin typeface="Calibri"/>
              </a:rPr>
              <a:t>Transformations vs Actions</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Transformation = Spark records the next step in a plan; no cluster work yet.</a:t>
            </a:r>
          </a:p>
          <a:p>
            <a:pPr>
              <a:spcAft>
                <a:spcPts val="500"/>
              </a:spcAft>
              <a:defRPr sz="1300">
                <a:solidFill>
                  <a:srgbClr val="333333"/>
                </a:solidFill>
                <a:latin typeface="Calibri"/>
              </a:defRPr>
            </a:pPr>
            <a:r>
              <a:t>• Action = Spark must return or write a result; a job starts in the Spark UI.</a:t>
            </a:r>
          </a:p>
          <a:p>
            <a:pPr>
              <a:spcAft>
                <a:spcPts val="500"/>
              </a:spcAft>
              <a:defRPr sz="1300">
                <a:solidFill>
                  <a:srgbClr val="333333"/>
                </a:solidFill>
                <a:latin typeface="Calibri"/>
              </a:defRPr>
            </a:pPr>
            <a:r>
              <a:t>• Ask: does this line produce data for the driver or storage?</a:t>
            </a:r>
          </a:p>
        </p:txBody>
      </p:sp>
      <p:graphicFrame>
        <p:nvGraphicFramePr>
          <p:cNvPr id="5" name="Table 4"/>
          <p:cNvGraphicFramePr>
            <a:graphicFrameLocks noGrp="1"/>
          </p:cNvGraphicFramePr>
          <p:nvPr/>
        </p:nvGraphicFramePr>
        <p:xfrm>
          <a:off x="530352" y="2633472"/>
          <a:ext cx="8092437" cy="3429000"/>
        </p:xfrm>
        <a:graphic>
          <a:graphicData uri="http://schemas.openxmlformats.org/drawingml/2006/table">
            <a:tbl>
              <a:tblPr firstRow="1" bandRow="1">
                <a:tableStyleId>{5C22544A-7EE6-4342-B048-85BDC9FD1C3A}</a:tableStyleId>
              </a:tblPr>
              <a:tblGrid>
                <a:gridCol w="2697479">
                  <a:extLst>
                    <a:ext uri="{9D8B030D-6E8A-4147-A177-3AD203B41FA5}">
                      <a16:colId xmlns:a16="http://schemas.microsoft.com/office/drawing/2014/main" val="20000"/>
                    </a:ext>
                  </a:extLst>
                </a:gridCol>
                <a:gridCol w="2697479">
                  <a:extLst>
                    <a:ext uri="{9D8B030D-6E8A-4147-A177-3AD203B41FA5}">
                      <a16:colId xmlns:a16="http://schemas.microsoft.com/office/drawing/2014/main" val="20001"/>
                    </a:ext>
                  </a:extLst>
                </a:gridCol>
                <a:gridCol w="2697479">
                  <a:extLst>
                    <a:ext uri="{9D8B030D-6E8A-4147-A177-3AD203B41FA5}">
                      <a16:colId xmlns:a16="http://schemas.microsoft.com/office/drawing/2014/main" val="20002"/>
                    </a:ext>
                  </a:extLst>
                </a:gridCol>
              </a:tblGrid>
              <a:tr h="571500">
                <a:tc>
                  <a:txBody>
                    <a:bodyPr/>
                    <a:lstStyle/>
                    <a:p>
                      <a:pPr algn="ctr"/>
                      <a:r>
                        <a:rPr sz="800" b="1">
                          <a:solidFill>
                            <a:srgbClr val="FFFFFF"/>
                          </a:solidFill>
                          <a:latin typeface="Calibri"/>
                        </a:rPr>
                        <a:t>Code line</a:t>
                      </a:r>
                    </a:p>
                  </a:txBody>
                  <a:tcPr>
                    <a:solidFill>
                      <a:srgbClr val="002060"/>
                    </a:solidFill>
                  </a:tcPr>
                </a:tc>
                <a:tc>
                  <a:txBody>
                    <a:bodyPr/>
                    <a:lstStyle/>
                    <a:p>
                      <a:pPr algn="ctr"/>
                      <a:r>
                        <a:rPr sz="800" b="1">
                          <a:solidFill>
                            <a:srgbClr val="FFFFFF"/>
                          </a:solidFill>
                          <a:latin typeface="Calibri"/>
                        </a:rPr>
                        <a:t>Type</a:t>
                      </a:r>
                    </a:p>
                  </a:txBody>
                  <a:tcPr>
                    <a:solidFill>
                      <a:srgbClr val="002060"/>
                    </a:solidFill>
                  </a:tcPr>
                </a:tc>
                <a:tc>
                  <a:txBody>
                    <a:bodyPr/>
                    <a:lstStyle/>
                    <a:p>
                      <a:pPr algn="ctr"/>
                      <a:r>
                        <a:rPr sz="800" b="1">
                          <a:solidFill>
                            <a:srgbClr val="FFFFFF"/>
                          </a:solidFill>
                          <a:latin typeface="Calibri"/>
                        </a:rPr>
                        <a:t>What happens</a:t>
                      </a:r>
                    </a:p>
                  </a:txBody>
                  <a:tcPr>
                    <a:solidFill>
                      <a:srgbClr val="002060"/>
                    </a:solidFill>
                  </a:tcPr>
                </a:tc>
                <a:extLst>
                  <a:ext uri="{0D108BD9-81ED-4DB2-BD59-A6C34878D82A}">
                    <a16:rowId xmlns:a16="http://schemas.microsoft.com/office/drawing/2014/main" val="10000"/>
                  </a:ext>
                </a:extLst>
              </a:tr>
              <a:tr h="571500">
                <a:tc>
                  <a:txBody>
                    <a:bodyPr/>
                    <a:lstStyle/>
                    <a:p>
                      <a:pPr algn="l"/>
                      <a:r>
                        <a:rPr sz="800" b="0">
                          <a:solidFill>
                            <a:srgbClr val="333333"/>
                          </a:solidFill>
                          <a:latin typeface="Calibri"/>
                        </a:rPr>
                        <a:t>orders.filter(status != 'CANCELLED')</a:t>
                      </a:r>
                    </a:p>
                  </a:txBody>
                  <a:tcPr>
                    <a:solidFill>
                      <a:srgbClr val="FFFFFF"/>
                    </a:solidFill>
                  </a:tcPr>
                </a:tc>
                <a:tc>
                  <a:txBody>
                    <a:bodyPr/>
                    <a:lstStyle/>
                    <a:p>
                      <a:pPr algn="l"/>
                      <a:r>
                        <a:rPr sz="800" b="0">
                          <a:solidFill>
                            <a:srgbClr val="333333"/>
                          </a:solidFill>
                          <a:latin typeface="Calibri"/>
                        </a:rPr>
                        <a:t>Transformation</a:t>
                      </a:r>
                    </a:p>
                  </a:txBody>
                  <a:tcPr>
                    <a:solidFill>
                      <a:srgbClr val="FFFFFF"/>
                    </a:solidFill>
                  </a:tcPr>
                </a:tc>
                <a:tc>
                  <a:txBody>
                    <a:bodyPr/>
                    <a:lstStyle/>
                    <a:p>
                      <a:pPr algn="l"/>
                      <a:r>
                        <a:rPr sz="800" b="0">
                          <a:solidFill>
                            <a:srgbClr val="333333"/>
                          </a:solidFill>
                          <a:latin typeface="Calibri"/>
                        </a:rPr>
                        <a:t>Adds a filter node to the plan</a:t>
                      </a:r>
                    </a:p>
                  </a:txBody>
                  <a:tcPr>
                    <a:solidFill>
                      <a:srgbClr val="FFFFFF"/>
                    </a:solidFill>
                  </a:tcPr>
                </a:tc>
                <a:extLst>
                  <a:ext uri="{0D108BD9-81ED-4DB2-BD59-A6C34878D82A}">
                    <a16:rowId xmlns:a16="http://schemas.microsoft.com/office/drawing/2014/main" val="10001"/>
                  </a:ext>
                </a:extLst>
              </a:tr>
              <a:tr h="571500">
                <a:tc>
                  <a:txBody>
                    <a:bodyPr/>
                    <a:lstStyle/>
                    <a:p>
                      <a:pPr algn="l"/>
                      <a:r>
                        <a:rPr sz="800" b="0">
                          <a:solidFill>
                            <a:srgbClr val="333333"/>
                          </a:solidFill>
                          <a:latin typeface="Calibri"/>
                        </a:rPr>
                        <a:t>orders.withColumn('event_date', ...)</a:t>
                      </a:r>
                    </a:p>
                  </a:txBody>
                  <a:tcPr>
                    <a:solidFill>
                      <a:srgbClr val="F0F4FA"/>
                    </a:solidFill>
                  </a:tcPr>
                </a:tc>
                <a:tc>
                  <a:txBody>
                    <a:bodyPr/>
                    <a:lstStyle/>
                    <a:p>
                      <a:pPr algn="l"/>
                      <a:r>
                        <a:rPr sz="800" b="0">
                          <a:solidFill>
                            <a:srgbClr val="333333"/>
                          </a:solidFill>
                          <a:latin typeface="Calibri"/>
                        </a:rPr>
                        <a:t>Transformation</a:t>
                      </a:r>
                    </a:p>
                  </a:txBody>
                  <a:tcPr>
                    <a:solidFill>
                      <a:srgbClr val="F0F4FA"/>
                    </a:solidFill>
                  </a:tcPr>
                </a:tc>
                <a:tc>
                  <a:txBody>
                    <a:bodyPr/>
                    <a:lstStyle/>
                    <a:p>
                      <a:pPr algn="l"/>
                      <a:r>
                        <a:rPr sz="800" b="0">
                          <a:solidFill>
                            <a:srgbClr val="333333"/>
                          </a:solidFill>
                          <a:latin typeface="Calibri"/>
                        </a:rPr>
                        <a:t>Adds a derived column to the plan</a:t>
                      </a:r>
                    </a:p>
                  </a:txBody>
                  <a:tcPr>
                    <a:solidFill>
                      <a:srgbClr val="F0F4FA"/>
                    </a:solidFill>
                  </a:tcPr>
                </a:tc>
                <a:extLst>
                  <a:ext uri="{0D108BD9-81ED-4DB2-BD59-A6C34878D82A}">
                    <a16:rowId xmlns:a16="http://schemas.microsoft.com/office/drawing/2014/main" val="10002"/>
                  </a:ext>
                </a:extLst>
              </a:tr>
              <a:tr h="571500">
                <a:tc>
                  <a:txBody>
                    <a:bodyPr/>
                    <a:lstStyle/>
                    <a:p>
                      <a:pPr algn="l"/>
                      <a:r>
                        <a:rPr sz="800" b="0">
                          <a:solidFill>
                            <a:srgbClr val="333333"/>
                          </a:solidFill>
                          <a:latin typeface="Calibri"/>
                        </a:rPr>
                        <a:t>orders.groupBy('event_date').sum()</a:t>
                      </a:r>
                    </a:p>
                  </a:txBody>
                  <a:tcPr>
                    <a:solidFill>
                      <a:srgbClr val="FFFFFF"/>
                    </a:solidFill>
                  </a:tcPr>
                </a:tc>
                <a:tc>
                  <a:txBody>
                    <a:bodyPr/>
                    <a:lstStyle/>
                    <a:p>
                      <a:pPr algn="l"/>
                      <a:r>
                        <a:rPr sz="800" b="0">
                          <a:solidFill>
                            <a:srgbClr val="333333"/>
                          </a:solidFill>
                          <a:latin typeface="Calibri"/>
                        </a:rPr>
                        <a:t>Transformation</a:t>
                      </a:r>
                    </a:p>
                  </a:txBody>
                  <a:tcPr>
                    <a:solidFill>
                      <a:srgbClr val="FFFFFF"/>
                    </a:solidFill>
                  </a:tcPr>
                </a:tc>
                <a:tc>
                  <a:txBody>
                    <a:bodyPr/>
                    <a:lstStyle/>
                    <a:p>
                      <a:pPr algn="l"/>
                      <a:r>
                        <a:rPr sz="800" b="0">
                          <a:solidFill>
                            <a:srgbClr val="333333"/>
                          </a:solidFill>
                          <a:latin typeface="Calibri"/>
                        </a:rPr>
                        <a:t>Adds an aggregate and future shuffle</a:t>
                      </a:r>
                    </a:p>
                  </a:txBody>
                  <a:tcPr>
                    <a:solidFill>
                      <a:srgbClr val="FFFFFF"/>
                    </a:solidFill>
                  </a:tcPr>
                </a:tc>
                <a:extLst>
                  <a:ext uri="{0D108BD9-81ED-4DB2-BD59-A6C34878D82A}">
                    <a16:rowId xmlns:a16="http://schemas.microsoft.com/office/drawing/2014/main" val="10003"/>
                  </a:ext>
                </a:extLst>
              </a:tr>
              <a:tr h="571500">
                <a:tc>
                  <a:txBody>
                    <a:bodyPr/>
                    <a:lstStyle/>
                    <a:p>
                      <a:pPr algn="l"/>
                      <a:r>
                        <a:rPr sz="800" b="0">
                          <a:solidFill>
                            <a:srgbClr val="333333"/>
                          </a:solidFill>
                          <a:latin typeface="Calibri"/>
                        </a:rPr>
                        <a:t>orders.count()</a:t>
                      </a:r>
                    </a:p>
                  </a:txBody>
                  <a:tcPr>
                    <a:solidFill>
                      <a:srgbClr val="F0F4FA"/>
                    </a:solidFill>
                  </a:tcPr>
                </a:tc>
                <a:tc>
                  <a:txBody>
                    <a:bodyPr/>
                    <a:lstStyle/>
                    <a:p>
                      <a:pPr algn="l"/>
                      <a:r>
                        <a:rPr sz="800" b="0">
                          <a:solidFill>
                            <a:srgbClr val="333333"/>
                          </a:solidFill>
                          <a:latin typeface="Calibri"/>
                        </a:rPr>
                        <a:t>Action</a:t>
                      </a:r>
                    </a:p>
                  </a:txBody>
                  <a:tcPr>
                    <a:solidFill>
                      <a:srgbClr val="F0F4FA"/>
                    </a:solidFill>
                  </a:tcPr>
                </a:tc>
                <a:tc>
                  <a:txBody>
                    <a:bodyPr/>
                    <a:lstStyle/>
                    <a:p>
                      <a:pPr algn="l"/>
                      <a:r>
                        <a:rPr sz="800" b="0">
                          <a:solidFill>
                            <a:srgbClr val="333333"/>
                          </a:solidFill>
                          <a:latin typeface="Calibri"/>
                        </a:rPr>
                        <a:t>Launches a job and returns one number</a:t>
                      </a:r>
                    </a:p>
                  </a:txBody>
                  <a:tcPr>
                    <a:solidFill>
                      <a:srgbClr val="F0F4FA"/>
                    </a:solidFill>
                  </a:tcPr>
                </a:tc>
                <a:extLst>
                  <a:ext uri="{0D108BD9-81ED-4DB2-BD59-A6C34878D82A}">
                    <a16:rowId xmlns:a16="http://schemas.microsoft.com/office/drawing/2014/main" val="10004"/>
                  </a:ext>
                </a:extLst>
              </a:tr>
              <a:tr h="571500">
                <a:tc>
                  <a:txBody>
                    <a:bodyPr/>
                    <a:lstStyle/>
                    <a:p>
                      <a:pPr algn="l"/>
                      <a:r>
                        <a:rPr sz="800" b="0">
                          <a:solidFill>
                            <a:srgbClr val="333333"/>
                          </a:solidFill>
                          <a:latin typeface="Calibri"/>
                        </a:rPr>
                        <a:t>orders.write.parquet(path)</a:t>
                      </a:r>
                    </a:p>
                  </a:txBody>
                  <a:tcPr>
                    <a:solidFill>
                      <a:srgbClr val="FFFFFF"/>
                    </a:solidFill>
                  </a:tcPr>
                </a:tc>
                <a:tc>
                  <a:txBody>
                    <a:bodyPr/>
                    <a:lstStyle/>
                    <a:p>
                      <a:pPr algn="l"/>
                      <a:r>
                        <a:rPr sz="800" b="0">
                          <a:solidFill>
                            <a:srgbClr val="333333"/>
                          </a:solidFill>
                          <a:latin typeface="Calibri"/>
                        </a:rPr>
                        <a:t>Action</a:t>
                      </a:r>
                    </a:p>
                  </a:txBody>
                  <a:tcPr>
                    <a:solidFill>
                      <a:srgbClr val="FFFFFF"/>
                    </a:solidFill>
                  </a:tcPr>
                </a:tc>
                <a:tc>
                  <a:txBody>
                    <a:bodyPr/>
                    <a:lstStyle/>
                    <a:p>
                      <a:pPr algn="l"/>
                      <a:r>
                        <a:rPr sz="800" b="0">
                          <a:solidFill>
                            <a:srgbClr val="333333"/>
                          </a:solidFill>
                          <a:latin typeface="Calibri"/>
                        </a:rPr>
                        <a:t>Launches jobs and writes files</a:t>
                      </a:r>
                    </a:p>
                  </a:txBody>
                  <a:tcP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12</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Common Spark Actions You Actually Use</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Actions are where time is spent, Spark UI changes, and files appear.</a:t>
            </a:r>
          </a:p>
          <a:p>
            <a:pPr>
              <a:spcAft>
                <a:spcPts val="500"/>
              </a:spcAft>
              <a:defRPr sz="1300">
                <a:solidFill>
                  <a:srgbClr val="333333"/>
                </a:solidFill>
                <a:latin typeface="Calibri"/>
              </a:defRPr>
            </a:pPr>
            <a:r>
              <a:t>• Some actions are safe for learning; some can overload the driver.</a:t>
            </a:r>
          </a:p>
          <a:p>
            <a:pPr>
              <a:spcAft>
                <a:spcPts val="500"/>
              </a:spcAft>
              <a:defRPr sz="1300">
                <a:solidFill>
                  <a:srgbClr val="333333"/>
                </a:solidFill>
                <a:latin typeface="Calibri"/>
              </a:defRPr>
            </a:pPr>
            <a:r>
              <a:t>• In production, prefer writing or aggregating over collecting full datasets.</a:t>
            </a:r>
          </a:p>
        </p:txBody>
      </p:sp>
      <p:graphicFrame>
        <p:nvGraphicFramePr>
          <p:cNvPr id="5" name="Table 4"/>
          <p:cNvGraphicFramePr>
            <a:graphicFrameLocks noGrp="1"/>
          </p:cNvGraphicFramePr>
          <p:nvPr/>
        </p:nvGraphicFramePr>
        <p:xfrm>
          <a:off x="530352" y="2633472"/>
          <a:ext cx="8092437" cy="3429000"/>
        </p:xfrm>
        <a:graphic>
          <a:graphicData uri="http://schemas.openxmlformats.org/drawingml/2006/table">
            <a:tbl>
              <a:tblPr firstRow="1" bandRow="1">
                <a:tableStyleId>{5C22544A-7EE6-4342-B048-85BDC9FD1C3A}</a:tableStyleId>
              </a:tblPr>
              <a:tblGrid>
                <a:gridCol w="2697479">
                  <a:extLst>
                    <a:ext uri="{9D8B030D-6E8A-4147-A177-3AD203B41FA5}">
                      <a16:colId xmlns:a16="http://schemas.microsoft.com/office/drawing/2014/main" val="20000"/>
                    </a:ext>
                  </a:extLst>
                </a:gridCol>
                <a:gridCol w="2697479">
                  <a:extLst>
                    <a:ext uri="{9D8B030D-6E8A-4147-A177-3AD203B41FA5}">
                      <a16:colId xmlns:a16="http://schemas.microsoft.com/office/drawing/2014/main" val="20001"/>
                    </a:ext>
                  </a:extLst>
                </a:gridCol>
                <a:gridCol w="2697479">
                  <a:extLst>
                    <a:ext uri="{9D8B030D-6E8A-4147-A177-3AD203B41FA5}">
                      <a16:colId xmlns:a16="http://schemas.microsoft.com/office/drawing/2014/main" val="20002"/>
                    </a:ext>
                  </a:extLst>
                </a:gridCol>
              </a:tblGrid>
              <a:tr h="571500">
                <a:tc>
                  <a:txBody>
                    <a:bodyPr/>
                    <a:lstStyle/>
                    <a:p>
                      <a:pPr algn="ctr"/>
                      <a:r>
                        <a:rPr sz="790" b="1">
                          <a:solidFill>
                            <a:srgbClr val="FFFFFF"/>
                          </a:solidFill>
                          <a:latin typeface="Calibri"/>
                        </a:rPr>
                        <a:t>Action</a:t>
                      </a:r>
                    </a:p>
                  </a:txBody>
                  <a:tcPr>
                    <a:solidFill>
                      <a:srgbClr val="002060"/>
                    </a:solidFill>
                  </a:tcPr>
                </a:tc>
                <a:tc>
                  <a:txBody>
                    <a:bodyPr/>
                    <a:lstStyle/>
                    <a:p>
                      <a:pPr algn="ctr"/>
                      <a:r>
                        <a:rPr sz="790" b="1">
                          <a:solidFill>
                            <a:srgbClr val="FFFFFF"/>
                          </a:solidFill>
                          <a:latin typeface="Calibri"/>
                        </a:rPr>
                        <a:t>Use it for</a:t>
                      </a:r>
                    </a:p>
                  </a:txBody>
                  <a:tcPr>
                    <a:solidFill>
                      <a:srgbClr val="002060"/>
                    </a:solidFill>
                  </a:tcPr>
                </a:tc>
                <a:tc>
                  <a:txBody>
                    <a:bodyPr/>
                    <a:lstStyle/>
                    <a:p>
                      <a:pPr algn="ctr"/>
                      <a:r>
                        <a:rPr sz="790" b="1">
                          <a:solidFill>
                            <a:srgbClr val="FFFFFF"/>
                          </a:solidFill>
                          <a:latin typeface="Calibri"/>
                        </a:rPr>
                        <a:t>Scale warning</a:t>
                      </a:r>
                    </a:p>
                  </a:txBody>
                  <a:tcPr>
                    <a:solidFill>
                      <a:srgbClr val="002060"/>
                    </a:solidFill>
                  </a:tcPr>
                </a:tc>
                <a:extLst>
                  <a:ext uri="{0D108BD9-81ED-4DB2-BD59-A6C34878D82A}">
                    <a16:rowId xmlns:a16="http://schemas.microsoft.com/office/drawing/2014/main" val="10000"/>
                  </a:ext>
                </a:extLst>
              </a:tr>
              <a:tr h="571500">
                <a:tc>
                  <a:txBody>
                    <a:bodyPr/>
                    <a:lstStyle/>
                    <a:p>
                      <a:pPr algn="l"/>
                      <a:r>
                        <a:rPr sz="790" b="0">
                          <a:solidFill>
                            <a:srgbClr val="333333"/>
                          </a:solidFill>
                          <a:latin typeface="Calibri"/>
                        </a:rPr>
                        <a:t>show(10)</a:t>
                      </a:r>
                    </a:p>
                  </a:txBody>
                  <a:tcPr>
                    <a:solidFill>
                      <a:srgbClr val="FFFFFF"/>
                    </a:solidFill>
                  </a:tcPr>
                </a:tc>
                <a:tc>
                  <a:txBody>
                    <a:bodyPr/>
                    <a:lstStyle/>
                    <a:p>
                      <a:pPr algn="l"/>
                      <a:r>
                        <a:rPr sz="790" b="0">
                          <a:solidFill>
                            <a:srgbClr val="333333"/>
                          </a:solidFill>
                          <a:latin typeface="Calibri"/>
                        </a:rPr>
                        <a:t>Preview a few rows</a:t>
                      </a:r>
                    </a:p>
                  </a:txBody>
                  <a:tcPr>
                    <a:solidFill>
                      <a:srgbClr val="FFFFFF"/>
                    </a:solidFill>
                  </a:tcPr>
                </a:tc>
                <a:tc>
                  <a:txBody>
                    <a:bodyPr/>
                    <a:lstStyle/>
                    <a:p>
                      <a:pPr algn="l"/>
                      <a:r>
                        <a:rPr sz="790" b="0">
                          <a:solidFill>
                            <a:srgbClr val="333333"/>
                          </a:solidFill>
                          <a:latin typeface="Calibri"/>
                        </a:rPr>
                        <a:t>Triggers a small job</a:t>
                      </a:r>
                    </a:p>
                  </a:txBody>
                  <a:tcPr>
                    <a:solidFill>
                      <a:srgbClr val="FFFFFF"/>
                    </a:solidFill>
                  </a:tcPr>
                </a:tc>
                <a:extLst>
                  <a:ext uri="{0D108BD9-81ED-4DB2-BD59-A6C34878D82A}">
                    <a16:rowId xmlns:a16="http://schemas.microsoft.com/office/drawing/2014/main" val="10001"/>
                  </a:ext>
                </a:extLst>
              </a:tr>
              <a:tr h="571500">
                <a:tc>
                  <a:txBody>
                    <a:bodyPr/>
                    <a:lstStyle/>
                    <a:p>
                      <a:pPr algn="l"/>
                      <a:r>
                        <a:rPr sz="790" b="0">
                          <a:solidFill>
                            <a:srgbClr val="333333"/>
                          </a:solidFill>
                          <a:latin typeface="Calibri"/>
                        </a:rPr>
                        <a:t>count()</a:t>
                      </a:r>
                    </a:p>
                  </a:txBody>
                  <a:tcPr>
                    <a:solidFill>
                      <a:srgbClr val="F0F4FA"/>
                    </a:solidFill>
                  </a:tcPr>
                </a:tc>
                <a:tc>
                  <a:txBody>
                    <a:bodyPr/>
                    <a:lstStyle/>
                    <a:p>
                      <a:pPr algn="l"/>
                      <a:r>
                        <a:rPr sz="790" b="0">
                          <a:solidFill>
                            <a:srgbClr val="333333"/>
                          </a:solidFill>
                          <a:latin typeface="Calibri"/>
                        </a:rPr>
                        <a:t>Validate row counts</a:t>
                      </a:r>
                    </a:p>
                  </a:txBody>
                  <a:tcPr>
                    <a:solidFill>
                      <a:srgbClr val="F0F4FA"/>
                    </a:solidFill>
                  </a:tcPr>
                </a:tc>
                <a:tc>
                  <a:txBody>
                    <a:bodyPr/>
                    <a:lstStyle/>
                    <a:p>
                      <a:pPr algn="l"/>
                      <a:r>
                        <a:rPr sz="790" b="0">
                          <a:solidFill>
                            <a:srgbClr val="333333"/>
                          </a:solidFill>
                          <a:latin typeface="Calibri"/>
                        </a:rPr>
                        <a:t>Scans data unless cached/optimized</a:t>
                      </a:r>
                    </a:p>
                  </a:txBody>
                  <a:tcPr>
                    <a:solidFill>
                      <a:srgbClr val="F0F4FA"/>
                    </a:solidFill>
                  </a:tcPr>
                </a:tc>
                <a:extLst>
                  <a:ext uri="{0D108BD9-81ED-4DB2-BD59-A6C34878D82A}">
                    <a16:rowId xmlns:a16="http://schemas.microsoft.com/office/drawing/2014/main" val="10002"/>
                  </a:ext>
                </a:extLst>
              </a:tr>
              <a:tr h="571500">
                <a:tc>
                  <a:txBody>
                    <a:bodyPr/>
                    <a:lstStyle/>
                    <a:p>
                      <a:pPr algn="l"/>
                      <a:r>
                        <a:rPr sz="790" b="0">
                          <a:solidFill>
                            <a:srgbClr val="333333"/>
                          </a:solidFill>
                          <a:latin typeface="Calibri"/>
                        </a:rPr>
                        <a:t>take(5)</a:t>
                      </a:r>
                    </a:p>
                  </a:txBody>
                  <a:tcPr>
                    <a:solidFill>
                      <a:srgbClr val="FFFFFF"/>
                    </a:solidFill>
                  </a:tcPr>
                </a:tc>
                <a:tc>
                  <a:txBody>
                    <a:bodyPr/>
                    <a:lstStyle/>
                    <a:p>
                      <a:pPr algn="l"/>
                      <a:r>
                        <a:rPr sz="790" b="0">
                          <a:solidFill>
                            <a:srgbClr val="333333"/>
                          </a:solidFill>
                          <a:latin typeface="Calibri"/>
                        </a:rPr>
                        <a:t>Bring a tiny sample to driver</a:t>
                      </a:r>
                    </a:p>
                  </a:txBody>
                  <a:tcPr>
                    <a:solidFill>
                      <a:srgbClr val="FFFFFF"/>
                    </a:solidFill>
                  </a:tcPr>
                </a:tc>
                <a:tc>
                  <a:txBody>
                    <a:bodyPr/>
                    <a:lstStyle/>
                    <a:p>
                      <a:pPr algn="l"/>
                      <a:r>
                        <a:rPr sz="790" b="0">
                          <a:solidFill>
                            <a:srgbClr val="333333"/>
                          </a:solidFill>
                          <a:latin typeface="Calibri"/>
                        </a:rPr>
                        <a:t>Keep the number small</a:t>
                      </a:r>
                    </a:p>
                  </a:txBody>
                  <a:tcPr>
                    <a:solidFill>
                      <a:srgbClr val="FFFFFF"/>
                    </a:solidFill>
                  </a:tcPr>
                </a:tc>
                <a:extLst>
                  <a:ext uri="{0D108BD9-81ED-4DB2-BD59-A6C34878D82A}">
                    <a16:rowId xmlns:a16="http://schemas.microsoft.com/office/drawing/2014/main" val="10003"/>
                  </a:ext>
                </a:extLst>
              </a:tr>
              <a:tr h="571500">
                <a:tc>
                  <a:txBody>
                    <a:bodyPr/>
                    <a:lstStyle/>
                    <a:p>
                      <a:pPr algn="l"/>
                      <a:r>
                        <a:rPr sz="790" b="0">
                          <a:solidFill>
                            <a:srgbClr val="333333"/>
                          </a:solidFill>
                          <a:latin typeface="Calibri"/>
                        </a:rPr>
                        <a:t>collect()</a:t>
                      </a:r>
                    </a:p>
                  </a:txBody>
                  <a:tcPr>
                    <a:solidFill>
                      <a:srgbClr val="F0F4FA"/>
                    </a:solidFill>
                  </a:tcPr>
                </a:tc>
                <a:tc>
                  <a:txBody>
                    <a:bodyPr/>
                    <a:lstStyle/>
                    <a:p>
                      <a:pPr algn="l"/>
                      <a:r>
                        <a:rPr sz="790" b="0">
                          <a:solidFill>
                            <a:srgbClr val="333333"/>
                          </a:solidFill>
                          <a:latin typeface="Calibri"/>
                        </a:rPr>
                        <a:t>Bring all rows to driver</a:t>
                      </a:r>
                    </a:p>
                  </a:txBody>
                  <a:tcPr>
                    <a:solidFill>
                      <a:srgbClr val="F0F4FA"/>
                    </a:solidFill>
                  </a:tcPr>
                </a:tc>
                <a:tc>
                  <a:txBody>
                    <a:bodyPr/>
                    <a:lstStyle/>
                    <a:p>
                      <a:pPr algn="l"/>
                      <a:r>
                        <a:rPr sz="790" b="0">
                          <a:solidFill>
                            <a:srgbClr val="333333"/>
                          </a:solidFill>
                          <a:latin typeface="Calibri"/>
                        </a:rPr>
                        <a:t>Dangerous on large data</a:t>
                      </a:r>
                    </a:p>
                  </a:txBody>
                  <a:tcPr>
                    <a:solidFill>
                      <a:srgbClr val="F0F4FA"/>
                    </a:solidFill>
                  </a:tcPr>
                </a:tc>
                <a:extLst>
                  <a:ext uri="{0D108BD9-81ED-4DB2-BD59-A6C34878D82A}">
                    <a16:rowId xmlns:a16="http://schemas.microsoft.com/office/drawing/2014/main" val="10004"/>
                  </a:ext>
                </a:extLst>
              </a:tr>
              <a:tr h="571500">
                <a:tc>
                  <a:txBody>
                    <a:bodyPr/>
                    <a:lstStyle/>
                    <a:p>
                      <a:pPr algn="l"/>
                      <a:r>
                        <a:rPr sz="790" b="0">
                          <a:solidFill>
                            <a:srgbClr val="333333"/>
                          </a:solidFill>
                          <a:latin typeface="Calibri"/>
                        </a:rPr>
                        <a:t>write.parquet()</a:t>
                      </a:r>
                    </a:p>
                  </a:txBody>
                  <a:tcPr>
                    <a:solidFill>
                      <a:srgbClr val="FFFFFF"/>
                    </a:solidFill>
                  </a:tcPr>
                </a:tc>
                <a:tc>
                  <a:txBody>
                    <a:bodyPr/>
                    <a:lstStyle/>
                    <a:p>
                      <a:pPr algn="l"/>
                      <a:r>
                        <a:rPr sz="790" b="0">
                          <a:solidFill>
                            <a:srgbClr val="333333"/>
                          </a:solidFill>
                          <a:latin typeface="Calibri"/>
                        </a:rPr>
                        <a:t>Persist lakehouse output</a:t>
                      </a:r>
                    </a:p>
                  </a:txBody>
                  <a:tcPr>
                    <a:solidFill>
                      <a:srgbClr val="FFFFFF"/>
                    </a:solidFill>
                  </a:tcPr>
                </a:tc>
                <a:tc>
                  <a:txBody>
                    <a:bodyPr/>
                    <a:lstStyle/>
                    <a:p>
                      <a:pPr algn="l"/>
                      <a:r>
                        <a:rPr sz="790" b="0">
                          <a:solidFill>
                            <a:srgbClr val="333333"/>
                          </a:solidFill>
                          <a:latin typeface="Calibri"/>
                        </a:rPr>
                        <a:t>Creates output files and jobs</a:t>
                      </a:r>
                    </a:p>
                  </a:txBody>
                  <a:tcP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14</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Lazy Evaluation Explained</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This line is still only a plan: orders.filter(...).select(...).</a:t>
            </a:r>
          </a:p>
          <a:p>
            <a:pPr>
              <a:spcAft>
                <a:spcPts val="500"/>
              </a:spcAft>
              <a:defRPr sz="1300">
                <a:solidFill>
                  <a:srgbClr val="333333"/>
                </a:solidFill>
                <a:latin typeface="Calibri"/>
              </a:defRPr>
            </a:pPr>
            <a:r>
              <a:t>• This line starts work: filtered_orders.count() or filtered_orders.write.parquet(...).</a:t>
            </a:r>
          </a:p>
          <a:p>
            <a:pPr>
              <a:spcAft>
                <a:spcPts val="500"/>
              </a:spcAft>
              <a:defRPr sz="1300">
                <a:solidFill>
                  <a:srgbClr val="333333"/>
                </a:solidFill>
                <a:latin typeface="Calibri"/>
              </a:defRPr>
            </a:pPr>
            <a:r>
              <a:t>• Lazy planning lets Spark push filters early and avoid reading unused columns.</a:t>
            </a:r>
          </a:p>
        </p:txBody>
      </p:sp>
      <p:sp>
        <p:nvSpPr>
          <p:cNvPr id="5" name="Rounded Rectangle 4"/>
          <p:cNvSpPr/>
          <p:nvPr/>
        </p:nvSpPr>
        <p:spPr>
          <a:xfrm>
            <a:off x="685800" y="3675887"/>
            <a:ext cx="1417320" cy="585216"/>
          </a:xfrm>
          <a:prstGeom prst="roundRect">
            <a:avLst/>
          </a:prstGeom>
          <a:solidFill>
            <a:srgbClr val="F5F5F5"/>
          </a:solidFill>
          <a:ln w="12700">
            <a:solidFill>
              <a:srgbClr val="9E9E9E"/>
            </a:solidFill>
            <a:prstDash val="dash"/>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30" b="1">
                <a:solidFill>
                  <a:srgbClr val="333333"/>
                </a:solidFill>
                <a:latin typeface="Calibri"/>
              </a:rPr>
              <a:t>read()
Transformation</a:t>
            </a:r>
          </a:p>
        </p:txBody>
      </p:sp>
      <p:sp>
        <p:nvSpPr>
          <p:cNvPr id="6" name="TextBox 5"/>
          <p:cNvSpPr txBox="1"/>
          <p:nvPr/>
        </p:nvSpPr>
        <p:spPr>
          <a:xfrm>
            <a:off x="2112264" y="3822191"/>
            <a:ext cx="292608" cy="201168"/>
          </a:xfrm>
          <a:prstGeom prst="rect">
            <a:avLst/>
          </a:prstGeom>
          <a:noFill/>
        </p:spPr>
        <p:txBody>
          <a:bodyPr wrap="square" lIns="73152" tIns="36576" rIns="73152" bIns="36576" anchor="t">
            <a:spAutoFit/>
          </a:bodyPr>
          <a:lstStyle/>
          <a:p>
            <a:pPr algn="ctr"/>
            <a:r>
              <a:rPr sz="1200" b="1">
                <a:solidFill>
                  <a:srgbClr val="585858"/>
                </a:solidFill>
                <a:latin typeface="Calibri"/>
              </a:rPr>
              <a:t>→</a:t>
            </a:r>
          </a:p>
        </p:txBody>
      </p:sp>
      <p:sp>
        <p:nvSpPr>
          <p:cNvPr id="7" name="Rounded Rectangle 6"/>
          <p:cNvSpPr/>
          <p:nvPr/>
        </p:nvSpPr>
        <p:spPr>
          <a:xfrm>
            <a:off x="2377440" y="3675887"/>
            <a:ext cx="1417320" cy="585216"/>
          </a:xfrm>
          <a:prstGeom prst="roundRect">
            <a:avLst/>
          </a:prstGeom>
          <a:solidFill>
            <a:srgbClr val="F5F5F5"/>
          </a:solidFill>
          <a:ln w="12700">
            <a:solidFill>
              <a:srgbClr val="9E9E9E"/>
            </a:solidFill>
            <a:prstDash val="dash"/>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30" b="1">
                <a:solidFill>
                  <a:srgbClr val="333333"/>
                </a:solidFill>
                <a:latin typeface="Calibri"/>
              </a:rPr>
              <a:t>filter()
Transformation</a:t>
            </a:r>
          </a:p>
        </p:txBody>
      </p:sp>
      <p:sp>
        <p:nvSpPr>
          <p:cNvPr id="8" name="TextBox 7"/>
          <p:cNvSpPr txBox="1"/>
          <p:nvPr/>
        </p:nvSpPr>
        <p:spPr>
          <a:xfrm>
            <a:off x="3803904" y="3822191"/>
            <a:ext cx="292608" cy="201168"/>
          </a:xfrm>
          <a:prstGeom prst="rect">
            <a:avLst/>
          </a:prstGeom>
          <a:noFill/>
        </p:spPr>
        <p:txBody>
          <a:bodyPr wrap="square" lIns="73152" tIns="36576" rIns="73152" bIns="36576" anchor="t">
            <a:spAutoFit/>
          </a:bodyPr>
          <a:lstStyle/>
          <a:p>
            <a:pPr algn="ctr"/>
            <a:r>
              <a:rPr sz="1200" b="1">
                <a:solidFill>
                  <a:srgbClr val="585858"/>
                </a:solidFill>
                <a:latin typeface="Calibri"/>
              </a:rPr>
              <a:t>→</a:t>
            </a:r>
          </a:p>
        </p:txBody>
      </p:sp>
      <p:sp>
        <p:nvSpPr>
          <p:cNvPr id="9" name="Rounded Rectangle 8"/>
          <p:cNvSpPr/>
          <p:nvPr/>
        </p:nvSpPr>
        <p:spPr>
          <a:xfrm>
            <a:off x="4069080" y="3675887"/>
            <a:ext cx="1417320" cy="585216"/>
          </a:xfrm>
          <a:prstGeom prst="roundRect">
            <a:avLst/>
          </a:prstGeom>
          <a:solidFill>
            <a:srgbClr val="F5F5F5"/>
          </a:solidFill>
          <a:ln w="12700">
            <a:solidFill>
              <a:srgbClr val="9E9E9E"/>
            </a:solidFill>
            <a:prstDash val="dash"/>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30" b="1">
                <a:solidFill>
                  <a:srgbClr val="333333"/>
                </a:solidFill>
                <a:latin typeface="Calibri"/>
              </a:rPr>
              <a:t>select()
Transformation</a:t>
            </a:r>
          </a:p>
        </p:txBody>
      </p:sp>
      <p:sp>
        <p:nvSpPr>
          <p:cNvPr id="10" name="TextBox 9"/>
          <p:cNvSpPr txBox="1"/>
          <p:nvPr/>
        </p:nvSpPr>
        <p:spPr>
          <a:xfrm>
            <a:off x="5495544" y="3822191"/>
            <a:ext cx="292608" cy="201168"/>
          </a:xfrm>
          <a:prstGeom prst="rect">
            <a:avLst/>
          </a:prstGeom>
          <a:noFill/>
        </p:spPr>
        <p:txBody>
          <a:bodyPr wrap="square" lIns="73152" tIns="36576" rIns="73152" bIns="36576" anchor="t">
            <a:spAutoFit/>
          </a:bodyPr>
          <a:lstStyle/>
          <a:p>
            <a:pPr algn="ctr"/>
            <a:r>
              <a:rPr sz="1200" b="1">
                <a:solidFill>
                  <a:srgbClr val="585858"/>
                </a:solidFill>
                <a:latin typeface="Calibri"/>
              </a:rPr>
              <a:t>→</a:t>
            </a:r>
          </a:p>
        </p:txBody>
      </p:sp>
      <p:sp>
        <p:nvSpPr>
          <p:cNvPr id="11" name="Rounded Rectangle 10"/>
          <p:cNvSpPr/>
          <p:nvPr/>
        </p:nvSpPr>
        <p:spPr>
          <a:xfrm>
            <a:off x="5760720" y="3675887"/>
            <a:ext cx="1417320" cy="585216"/>
          </a:xfrm>
          <a:prstGeom prst="roundRect">
            <a:avLst/>
          </a:prstGeom>
          <a:solidFill>
            <a:srgbClr val="F5F5F5"/>
          </a:solidFill>
          <a:ln w="12700">
            <a:solidFill>
              <a:srgbClr val="9E9E9E"/>
            </a:solidFill>
            <a:prstDash val="dash"/>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30" b="1">
                <a:solidFill>
                  <a:srgbClr val="333333"/>
                </a:solidFill>
                <a:latin typeface="Calibri"/>
              </a:rPr>
              <a:t>groupBy()
Transformation</a:t>
            </a:r>
          </a:p>
        </p:txBody>
      </p:sp>
      <p:sp>
        <p:nvSpPr>
          <p:cNvPr id="12" name="TextBox 11"/>
          <p:cNvSpPr txBox="1"/>
          <p:nvPr/>
        </p:nvSpPr>
        <p:spPr>
          <a:xfrm>
            <a:off x="7187184" y="3822191"/>
            <a:ext cx="292608" cy="201168"/>
          </a:xfrm>
          <a:prstGeom prst="rect">
            <a:avLst/>
          </a:prstGeom>
          <a:noFill/>
        </p:spPr>
        <p:txBody>
          <a:bodyPr wrap="square" lIns="73152" tIns="36576" rIns="73152" bIns="36576" anchor="t">
            <a:spAutoFit/>
          </a:bodyPr>
          <a:lstStyle/>
          <a:p>
            <a:pPr algn="ctr"/>
            <a:r>
              <a:rPr sz="1200" b="1">
                <a:solidFill>
                  <a:srgbClr val="585858"/>
                </a:solidFill>
                <a:latin typeface="Calibri"/>
              </a:rPr>
              <a:t>→</a:t>
            </a:r>
          </a:p>
        </p:txBody>
      </p:sp>
      <p:sp>
        <p:nvSpPr>
          <p:cNvPr id="13" name="Rounded Rectangle 12"/>
          <p:cNvSpPr/>
          <p:nvPr/>
        </p:nvSpPr>
        <p:spPr>
          <a:xfrm>
            <a:off x="7452360" y="3593592"/>
            <a:ext cx="1097280" cy="749808"/>
          </a:xfrm>
          <a:prstGeom prst="roundRect">
            <a:avLst/>
          </a:prstGeom>
          <a:solidFill>
            <a:srgbClr val="E9F7EF"/>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333333"/>
                </a:solidFill>
                <a:latin typeface="Calibri"/>
              </a:rPr>
              <a:t>ACTION
→ run</a:t>
            </a:r>
          </a:p>
        </p:txBody>
      </p:sp>
      <p:sp>
        <p:nvSpPr>
          <p:cNvPr id="14" name="TextBox 13"/>
          <p:cNvSpPr txBox="1"/>
          <p:nvPr/>
        </p:nvSpPr>
        <p:spPr>
          <a:xfrm>
            <a:off x="1097280" y="4709160"/>
            <a:ext cx="6949440" cy="274320"/>
          </a:xfrm>
          <a:prstGeom prst="rect">
            <a:avLst/>
          </a:prstGeom>
          <a:noFill/>
        </p:spPr>
        <p:txBody>
          <a:bodyPr wrap="square" lIns="73152" tIns="36576" rIns="73152" bIns="36576" anchor="t">
            <a:spAutoFit/>
          </a:bodyPr>
          <a:lstStyle/>
          <a:p>
            <a:pPr algn="ctr"/>
            <a:r>
              <a:rPr sz="1200" b="0">
                <a:solidFill>
                  <a:srgbClr val="585858"/>
                </a:solidFill>
                <a:latin typeface="Calibri"/>
              </a:rPr>
              <a:t>Spark plans transformations first; count/show/write triggers the result.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15</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Narrow vs Wide Transformations</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Narrow: filter/select/withColumn can run inside each partition with no network shuffle.</a:t>
            </a:r>
          </a:p>
          <a:p>
            <a:pPr>
              <a:spcAft>
                <a:spcPts val="500"/>
              </a:spcAft>
              <a:defRPr sz="1300">
                <a:solidFill>
                  <a:srgbClr val="333333"/>
                </a:solidFill>
                <a:latin typeface="Calibri"/>
              </a:defRPr>
            </a:pPr>
            <a:r>
              <a:t>• Wide: groupBy/join/distinct must move rows with the same key to the same executor.</a:t>
            </a:r>
          </a:p>
          <a:p>
            <a:pPr>
              <a:spcAft>
                <a:spcPts val="500"/>
              </a:spcAft>
              <a:defRPr sz="1300">
                <a:solidFill>
                  <a:srgbClr val="333333"/>
                </a:solidFill>
                <a:latin typeface="Calibri"/>
              </a:defRPr>
            </a:pPr>
            <a:r>
              <a:t>• In real clusters, wide dependencies are where network, disk spill, and slow stages appear.</a:t>
            </a:r>
          </a:p>
        </p:txBody>
      </p:sp>
      <p:sp>
        <p:nvSpPr>
          <p:cNvPr id="5" name="TextBox 4"/>
          <p:cNvSpPr txBox="1"/>
          <p:nvPr/>
        </p:nvSpPr>
        <p:spPr>
          <a:xfrm>
            <a:off x="640080" y="2423160"/>
            <a:ext cx="3703320" cy="274320"/>
          </a:xfrm>
          <a:prstGeom prst="rect">
            <a:avLst/>
          </a:prstGeom>
          <a:noFill/>
        </p:spPr>
        <p:txBody>
          <a:bodyPr wrap="square" lIns="73152" tIns="36576" rIns="73152" bIns="36576" anchor="t">
            <a:spAutoFit/>
          </a:bodyPr>
          <a:lstStyle/>
          <a:p>
            <a:pPr algn="ctr"/>
            <a:r>
              <a:rPr sz="1150" b="1">
                <a:solidFill>
                  <a:srgbClr val="002060"/>
                </a:solidFill>
                <a:latin typeface="Calibri"/>
              </a:rPr>
              <a:t>Narrow dependency: filter / select / withColumn</a:t>
            </a:r>
          </a:p>
        </p:txBody>
      </p:sp>
      <p:sp>
        <p:nvSpPr>
          <p:cNvPr id="6" name="TextBox 5"/>
          <p:cNvSpPr txBox="1"/>
          <p:nvPr/>
        </p:nvSpPr>
        <p:spPr>
          <a:xfrm>
            <a:off x="4663440" y="2423160"/>
            <a:ext cx="3840480" cy="274320"/>
          </a:xfrm>
          <a:prstGeom prst="rect">
            <a:avLst/>
          </a:prstGeom>
          <a:noFill/>
        </p:spPr>
        <p:txBody>
          <a:bodyPr wrap="square" lIns="73152" tIns="36576" rIns="73152" bIns="36576" anchor="t">
            <a:spAutoFit/>
          </a:bodyPr>
          <a:lstStyle/>
          <a:p>
            <a:pPr algn="ctr"/>
            <a:r>
              <a:rPr sz="1150" b="1">
                <a:solidFill>
                  <a:srgbClr val="002060"/>
                </a:solidFill>
                <a:latin typeface="Calibri"/>
              </a:rPr>
              <a:t>Wide dependency: groupBy / join / distinct</a:t>
            </a:r>
          </a:p>
        </p:txBody>
      </p:sp>
      <p:pic>
        <p:nvPicPr>
          <p:cNvPr id="4100" name="Picture 4" descr="Wide and Narrow dependencies in Apache Spark | by Dave Canton | Medium">
            <a:extLst>
              <a:ext uri="{FF2B5EF4-FFF2-40B4-BE49-F238E27FC236}">
                <a16:creationId xmlns:a16="http://schemas.microsoft.com/office/drawing/2014/main" id="{872ADAE0-D923-D52C-76C0-1C490D14F4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368" y="2783967"/>
            <a:ext cx="7554299" cy="36766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16</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Narrow vs Wide — Order Data Examples</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Filter CANCELLED orders: each executor drops local rows; no repartition needed.</a:t>
            </a:r>
          </a:p>
          <a:p>
            <a:pPr>
              <a:spcAft>
                <a:spcPts val="500"/>
              </a:spcAft>
              <a:defRPr sz="1300">
                <a:solidFill>
                  <a:srgbClr val="333333"/>
                </a:solidFill>
                <a:latin typeface="Calibri"/>
              </a:defRPr>
            </a:pPr>
            <a:r>
              <a:t>• Add event_date: each row is updated locally; no other executor is needed.</a:t>
            </a:r>
          </a:p>
          <a:p>
            <a:pPr>
              <a:spcAft>
                <a:spcPts val="500"/>
              </a:spcAft>
              <a:defRPr sz="1300">
                <a:solidFill>
                  <a:srgbClr val="333333"/>
                </a:solidFill>
                <a:latin typeface="Calibri"/>
              </a:defRPr>
            </a:pPr>
            <a:r>
              <a:t>• Group by event_date: all same-date rows must meet; Spark shuffles across network.</a:t>
            </a:r>
          </a:p>
          <a:p>
            <a:pPr>
              <a:spcAft>
                <a:spcPts val="500"/>
              </a:spcAft>
              <a:defRPr sz="1300">
                <a:solidFill>
                  <a:srgbClr val="333333"/>
                </a:solidFill>
                <a:latin typeface="Calibri"/>
              </a:defRPr>
            </a:pPr>
            <a:r>
              <a:t>• Join orders to customers: large-side data may shuffle unless the dimension is broadcast.</a:t>
            </a:r>
          </a:p>
        </p:txBody>
      </p:sp>
      <p:graphicFrame>
        <p:nvGraphicFramePr>
          <p:cNvPr id="5" name="Table 4"/>
          <p:cNvGraphicFramePr>
            <a:graphicFrameLocks noGrp="1"/>
          </p:cNvGraphicFramePr>
          <p:nvPr/>
        </p:nvGraphicFramePr>
        <p:xfrm>
          <a:off x="530352" y="2633472"/>
          <a:ext cx="8092437" cy="3429000"/>
        </p:xfrm>
        <a:graphic>
          <a:graphicData uri="http://schemas.openxmlformats.org/drawingml/2006/table">
            <a:tbl>
              <a:tblPr firstRow="1" bandRow="1">
                <a:tableStyleId>{5C22544A-7EE6-4342-B048-85BDC9FD1C3A}</a:tableStyleId>
              </a:tblPr>
              <a:tblGrid>
                <a:gridCol w="2697479">
                  <a:extLst>
                    <a:ext uri="{9D8B030D-6E8A-4147-A177-3AD203B41FA5}">
                      <a16:colId xmlns:a16="http://schemas.microsoft.com/office/drawing/2014/main" val="20000"/>
                    </a:ext>
                  </a:extLst>
                </a:gridCol>
                <a:gridCol w="2697479">
                  <a:extLst>
                    <a:ext uri="{9D8B030D-6E8A-4147-A177-3AD203B41FA5}">
                      <a16:colId xmlns:a16="http://schemas.microsoft.com/office/drawing/2014/main" val="20001"/>
                    </a:ext>
                  </a:extLst>
                </a:gridCol>
                <a:gridCol w="2697479">
                  <a:extLst>
                    <a:ext uri="{9D8B030D-6E8A-4147-A177-3AD203B41FA5}">
                      <a16:colId xmlns:a16="http://schemas.microsoft.com/office/drawing/2014/main" val="20002"/>
                    </a:ext>
                  </a:extLst>
                </a:gridCol>
              </a:tblGrid>
              <a:tr h="685800">
                <a:tc>
                  <a:txBody>
                    <a:bodyPr/>
                    <a:lstStyle/>
                    <a:p>
                      <a:pPr algn="ctr"/>
                      <a:r>
                        <a:rPr sz="800" b="1">
                          <a:solidFill>
                            <a:srgbClr val="FFFFFF"/>
                          </a:solidFill>
                          <a:latin typeface="Calibri"/>
                        </a:rPr>
                        <a:t>Operation</a:t>
                      </a:r>
                    </a:p>
                  </a:txBody>
                  <a:tcPr>
                    <a:solidFill>
                      <a:srgbClr val="002060"/>
                    </a:solidFill>
                  </a:tcPr>
                </a:tc>
                <a:tc>
                  <a:txBody>
                    <a:bodyPr/>
                    <a:lstStyle/>
                    <a:p>
                      <a:pPr algn="ctr"/>
                      <a:r>
                        <a:rPr sz="800" b="1">
                          <a:solidFill>
                            <a:srgbClr val="FFFFFF"/>
                          </a:solidFill>
                          <a:latin typeface="Calibri"/>
                        </a:rPr>
                        <a:t>Dependency</a:t>
                      </a:r>
                    </a:p>
                  </a:txBody>
                  <a:tcPr>
                    <a:solidFill>
                      <a:srgbClr val="002060"/>
                    </a:solidFill>
                  </a:tcPr>
                </a:tc>
                <a:tc>
                  <a:txBody>
                    <a:bodyPr/>
                    <a:lstStyle/>
                    <a:p>
                      <a:pPr algn="ctr"/>
                      <a:r>
                        <a:rPr sz="800" b="1">
                          <a:solidFill>
                            <a:srgbClr val="FFFFFF"/>
                          </a:solidFill>
                          <a:latin typeface="Calibri"/>
                        </a:rPr>
                        <a:t>Why</a:t>
                      </a:r>
                    </a:p>
                  </a:txBody>
                  <a:tcPr>
                    <a:solidFill>
                      <a:srgbClr val="002060"/>
                    </a:solidFill>
                  </a:tcPr>
                </a:tc>
                <a:extLst>
                  <a:ext uri="{0D108BD9-81ED-4DB2-BD59-A6C34878D82A}">
                    <a16:rowId xmlns:a16="http://schemas.microsoft.com/office/drawing/2014/main" val="10000"/>
                  </a:ext>
                </a:extLst>
              </a:tr>
              <a:tr h="685800">
                <a:tc>
                  <a:txBody>
                    <a:bodyPr/>
                    <a:lstStyle/>
                    <a:p>
                      <a:pPr algn="l"/>
                      <a:r>
                        <a:rPr sz="800" b="0">
                          <a:solidFill>
                            <a:srgbClr val="333333"/>
                          </a:solidFill>
                          <a:latin typeface="Calibri"/>
                        </a:rPr>
                        <a:t>filter(status != 'CANCELLED')</a:t>
                      </a:r>
                    </a:p>
                  </a:txBody>
                  <a:tcPr>
                    <a:solidFill>
                      <a:srgbClr val="FFFFFF"/>
                    </a:solidFill>
                  </a:tcPr>
                </a:tc>
                <a:tc>
                  <a:txBody>
                    <a:bodyPr/>
                    <a:lstStyle/>
                    <a:p>
                      <a:pPr algn="l"/>
                      <a:r>
                        <a:rPr sz="800" b="0">
                          <a:solidFill>
                            <a:srgbClr val="333333"/>
                          </a:solidFill>
                          <a:latin typeface="Calibri"/>
                        </a:rPr>
                        <a:t>Narrow</a:t>
                      </a:r>
                    </a:p>
                  </a:txBody>
                  <a:tcPr>
                    <a:solidFill>
                      <a:srgbClr val="FFFFFF"/>
                    </a:solidFill>
                  </a:tcPr>
                </a:tc>
                <a:tc>
                  <a:txBody>
                    <a:bodyPr/>
                    <a:lstStyle/>
                    <a:p>
                      <a:pPr algn="l"/>
                      <a:r>
                        <a:rPr sz="800" b="0">
                          <a:solidFill>
                            <a:srgbClr val="333333"/>
                          </a:solidFill>
                          <a:latin typeface="Calibri"/>
                        </a:rPr>
                        <a:t>Each input partition produces its own output</a:t>
                      </a:r>
                    </a:p>
                  </a:txBody>
                  <a:tcPr>
                    <a:solidFill>
                      <a:srgbClr val="FFFFFF"/>
                    </a:solidFill>
                  </a:tcPr>
                </a:tc>
                <a:extLst>
                  <a:ext uri="{0D108BD9-81ED-4DB2-BD59-A6C34878D82A}">
                    <a16:rowId xmlns:a16="http://schemas.microsoft.com/office/drawing/2014/main" val="10001"/>
                  </a:ext>
                </a:extLst>
              </a:tr>
              <a:tr h="685800">
                <a:tc>
                  <a:txBody>
                    <a:bodyPr/>
                    <a:lstStyle/>
                    <a:p>
                      <a:pPr algn="l"/>
                      <a:r>
                        <a:rPr sz="800" b="0">
                          <a:solidFill>
                            <a:srgbClr val="333333"/>
                          </a:solidFill>
                          <a:latin typeface="Calibri"/>
                        </a:rPr>
                        <a:t>withColumn(event_date)</a:t>
                      </a:r>
                    </a:p>
                  </a:txBody>
                  <a:tcPr>
                    <a:solidFill>
                      <a:srgbClr val="F0F4FA"/>
                    </a:solidFill>
                  </a:tcPr>
                </a:tc>
                <a:tc>
                  <a:txBody>
                    <a:bodyPr/>
                    <a:lstStyle/>
                    <a:p>
                      <a:pPr algn="l"/>
                      <a:r>
                        <a:rPr sz="800" b="0">
                          <a:solidFill>
                            <a:srgbClr val="333333"/>
                          </a:solidFill>
                          <a:latin typeface="Calibri"/>
                        </a:rPr>
                        <a:t>Narrow</a:t>
                      </a:r>
                    </a:p>
                  </a:txBody>
                  <a:tcPr>
                    <a:solidFill>
                      <a:srgbClr val="F0F4FA"/>
                    </a:solidFill>
                  </a:tcPr>
                </a:tc>
                <a:tc>
                  <a:txBody>
                    <a:bodyPr/>
                    <a:lstStyle/>
                    <a:p>
                      <a:pPr algn="l"/>
                      <a:r>
                        <a:rPr sz="800" b="0">
                          <a:solidFill>
                            <a:srgbClr val="333333"/>
                          </a:solidFill>
                          <a:latin typeface="Calibri"/>
                        </a:rPr>
                        <a:t>No rows move between executors</a:t>
                      </a:r>
                    </a:p>
                  </a:txBody>
                  <a:tcPr>
                    <a:solidFill>
                      <a:srgbClr val="F0F4FA"/>
                    </a:solidFill>
                  </a:tcPr>
                </a:tc>
                <a:extLst>
                  <a:ext uri="{0D108BD9-81ED-4DB2-BD59-A6C34878D82A}">
                    <a16:rowId xmlns:a16="http://schemas.microsoft.com/office/drawing/2014/main" val="10002"/>
                  </a:ext>
                </a:extLst>
              </a:tr>
              <a:tr h="685800">
                <a:tc>
                  <a:txBody>
                    <a:bodyPr/>
                    <a:lstStyle/>
                    <a:p>
                      <a:pPr algn="l"/>
                      <a:r>
                        <a:rPr sz="800" b="0">
                          <a:solidFill>
                            <a:srgbClr val="333333"/>
                          </a:solidFill>
                          <a:latin typeface="Calibri"/>
                        </a:rPr>
                        <a:t>groupBy(event_date).sum()</a:t>
                      </a:r>
                    </a:p>
                  </a:txBody>
                  <a:tcPr>
                    <a:solidFill>
                      <a:srgbClr val="FFFFFF"/>
                    </a:solidFill>
                  </a:tcPr>
                </a:tc>
                <a:tc>
                  <a:txBody>
                    <a:bodyPr/>
                    <a:lstStyle/>
                    <a:p>
                      <a:pPr algn="l"/>
                      <a:r>
                        <a:rPr sz="800" b="0">
                          <a:solidFill>
                            <a:srgbClr val="333333"/>
                          </a:solidFill>
                          <a:latin typeface="Calibri"/>
                        </a:rPr>
                        <a:t>Wide</a:t>
                      </a:r>
                    </a:p>
                  </a:txBody>
                  <a:tcPr>
                    <a:solidFill>
                      <a:srgbClr val="FFFFFF"/>
                    </a:solidFill>
                  </a:tcPr>
                </a:tc>
                <a:tc>
                  <a:txBody>
                    <a:bodyPr/>
                    <a:lstStyle/>
                    <a:p>
                      <a:pPr algn="l"/>
                      <a:r>
                        <a:rPr sz="800" b="0">
                          <a:solidFill>
                            <a:srgbClr val="333333"/>
                          </a:solidFill>
                          <a:latin typeface="Calibri"/>
                        </a:rPr>
                        <a:t>Rows with same date are regrouped</a:t>
                      </a:r>
                    </a:p>
                  </a:txBody>
                  <a:tcPr>
                    <a:solidFill>
                      <a:srgbClr val="FFFFFF"/>
                    </a:solidFill>
                  </a:tcPr>
                </a:tc>
                <a:extLst>
                  <a:ext uri="{0D108BD9-81ED-4DB2-BD59-A6C34878D82A}">
                    <a16:rowId xmlns:a16="http://schemas.microsoft.com/office/drawing/2014/main" val="10003"/>
                  </a:ext>
                </a:extLst>
              </a:tr>
              <a:tr h="685800">
                <a:tc>
                  <a:txBody>
                    <a:bodyPr/>
                    <a:lstStyle/>
                    <a:p>
                      <a:pPr algn="l"/>
                      <a:r>
                        <a:rPr sz="800" b="0">
                          <a:solidFill>
                            <a:srgbClr val="333333"/>
                          </a:solidFill>
                          <a:latin typeface="Calibri"/>
                        </a:rPr>
                        <a:t>join(orders, customers)</a:t>
                      </a:r>
                    </a:p>
                  </a:txBody>
                  <a:tcPr>
                    <a:solidFill>
                      <a:srgbClr val="F0F4FA"/>
                    </a:solidFill>
                  </a:tcPr>
                </a:tc>
                <a:tc>
                  <a:txBody>
                    <a:bodyPr/>
                    <a:lstStyle/>
                    <a:p>
                      <a:pPr algn="l"/>
                      <a:r>
                        <a:rPr sz="800" b="0">
                          <a:solidFill>
                            <a:srgbClr val="333333"/>
                          </a:solidFill>
                          <a:latin typeface="Calibri"/>
                        </a:rPr>
                        <a:t>Often wide</a:t>
                      </a:r>
                    </a:p>
                  </a:txBody>
                  <a:tcPr>
                    <a:solidFill>
                      <a:srgbClr val="F0F4FA"/>
                    </a:solidFill>
                  </a:tcPr>
                </a:tc>
                <a:tc>
                  <a:txBody>
                    <a:bodyPr/>
                    <a:lstStyle/>
                    <a:p>
                      <a:pPr algn="l"/>
                      <a:r>
                        <a:rPr sz="800" b="0">
                          <a:solidFill>
                            <a:srgbClr val="333333"/>
                          </a:solidFill>
                          <a:latin typeface="Calibri"/>
                        </a:rPr>
                        <a:t>Keys must align across partitions</a:t>
                      </a:r>
                    </a:p>
                  </a:txBody>
                  <a:tcPr>
                    <a:solidFill>
                      <a:srgbClr val="F0F4FA"/>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27</a:t>
            </a:r>
          </a:p>
        </p:txBody>
      </p:sp>
      <p:sp>
        <p:nvSpPr>
          <p:cNvPr id="4" name="TextBox 3"/>
          <p:cNvSpPr txBox="1"/>
          <p:nvPr/>
        </p:nvSpPr>
        <p:spPr>
          <a:xfrm>
            <a:off x="457200" y="274320"/>
            <a:ext cx="8229600" cy="443198"/>
          </a:xfrm>
          <a:prstGeom prst="rect">
            <a:avLst/>
          </a:prstGeom>
          <a:noFill/>
        </p:spPr>
        <p:txBody>
          <a:bodyPr wrap="square" lIns="73152" tIns="36576" rIns="73152" bIns="36576" anchor="t">
            <a:spAutoFit/>
          </a:bodyPr>
          <a:lstStyle/>
          <a:p>
            <a:pPr algn="l"/>
            <a:r>
              <a:rPr sz="2400" b="1" dirty="0">
                <a:solidFill>
                  <a:srgbClr val="002060"/>
                </a:solidFill>
                <a:latin typeface="Calibri"/>
              </a:rPr>
              <a:t>Mini-Exercise: </a:t>
            </a:r>
            <a:r>
              <a:rPr lang="en-US" sz="2400" b="1" dirty="0">
                <a:solidFill>
                  <a:srgbClr val="002060"/>
                </a:solidFill>
                <a:latin typeface="Calibri"/>
              </a:rPr>
              <a:t>Identify which of this is a transformation </a:t>
            </a:r>
            <a:endParaRPr sz="2400" b="1" dirty="0">
              <a:solidFill>
                <a:srgbClr val="002060"/>
              </a:solidFill>
              <a:latin typeface="Calibri"/>
            </a:endParaRPr>
          </a:p>
        </p:txBody>
      </p:sp>
      <p:sp>
        <p:nvSpPr>
          <p:cNvPr id="13" name="TextBox 12">
            <a:extLst>
              <a:ext uri="{FF2B5EF4-FFF2-40B4-BE49-F238E27FC236}">
                <a16:creationId xmlns:a16="http://schemas.microsoft.com/office/drawing/2014/main" id="{E32A7E5D-EA9C-C98C-F5EB-1752180DA243}"/>
              </a:ext>
            </a:extLst>
          </p:cNvPr>
          <p:cNvSpPr txBox="1"/>
          <p:nvPr/>
        </p:nvSpPr>
        <p:spPr>
          <a:xfrm>
            <a:off x="1843239" y="878566"/>
            <a:ext cx="4572000" cy="5355312"/>
          </a:xfrm>
          <a:prstGeom prst="rect">
            <a:avLst/>
          </a:prstGeom>
          <a:noFill/>
        </p:spPr>
        <p:txBody>
          <a:bodyPr wrap="square">
            <a:spAutoFit/>
          </a:bodyPr>
          <a:lstStyle/>
          <a:p>
            <a:pPr marL="342900" indent="-342900">
              <a:buFont typeface="+mj-lt"/>
              <a:buAutoNum type="arabicPeriod"/>
            </a:pPr>
            <a:r>
              <a:rPr lang="en-US" dirty="0"/>
              <a:t>select()</a:t>
            </a:r>
          </a:p>
          <a:p>
            <a:pPr marL="342900" indent="-342900">
              <a:buFont typeface="+mj-lt"/>
              <a:buAutoNum type="arabicPeriod"/>
            </a:pPr>
            <a:endParaRPr lang="en-US" dirty="0"/>
          </a:p>
          <a:p>
            <a:pPr marL="342900" indent="-342900">
              <a:buFont typeface="+mj-lt"/>
              <a:buAutoNum type="arabicPeriod"/>
            </a:pPr>
            <a:r>
              <a:rPr lang="en-US" dirty="0"/>
              <a:t>filter()</a:t>
            </a:r>
          </a:p>
          <a:p>
            <a:pPr marL="342900" indent="-342900">
              <a:buFont typeface="+mj-lt"/>
              <a:buAutoNum type="arabicPeriod"/>
            </a:pPr>
            <a:endParaRPr lang="en-US" dirty="0"/>
          </a:p>
          <a:p>
            <a:pPr marL="342900" indent="-342900">
              <a:buFont typeface="+mj-lt"/>
              <a:buAutoNum type="arabicPeriod"/>
            </a:pPr>
            <a:r>
              <a:rPr lang="en-US" dirty="0"/>
              <a:t>count()</a:t>
            </a:r>
          </a:p>
          <a:p>
            <a:pPr marL="342900" indent="-342900">
              <a:buFont typeface="+mj-lt"/>
              <a:buAutoNum type="arabicPeriod"/>
            </a:pPr>
            <a:endParaRPr lang="en-US" dirty="0"/>
          </a:p>
          <a:p>
            <a:pPr marL="342900" indent="-342900">
              <a:buFont typeface="+mj-lt"/>
              <a:buAutoNum type="arabicPeriod"/>
            </a:pPr>
            <a:r>
              <a:rPr lang="en-US" dirty="0"/>
              <a:t>show()</a:t>
            </a:r>
          </a:p>
          <a:p>
            <a:pPr marL="342900" indent="-342900">
              <a:buFont typeface="+mj-lt"/>
              <a:buAutoNum type="arabicPeriod"/>
            </a:pPr>
            <a:endParaRPr lang="en-US" dirty="0"/>
          </a:p>
          <a:p>
            <a:pPr marL="342900" indent="-342900">
              <a:buFont typeface="+mj-lt"/>
              <a:buAutoNum type="arabicPeriod"/>
            </a:pPr>
            <a:r>
              <a:rPr lang="en-US" dirty="0" err="1"/>
              <a:t>withColumn</a:t>
            </a:r>
            <a:r>
              <a:rPr lang="en-US" dirty="0"/>
              <a:t>()</a:t>
            </a:r>
          </a:p>
          <a:p>
            <a:pPr marL="342900" indent="-342900">
              <a:buFont typeface="+mj-lt"/>
              <a:buAutoNum type="arabicPeriod"/>
            </a:pPr>
            <a:endParaRPr lang="en-US" dirty="0"/>
          </a:p>
          <a:p>
            <a:pPr marL="342900" indent="-342900">
              <a:buFont typeface="+mj-lt"/>
              <a:buAutoNum type="arabicPeriod"/>
            </a:pPr>
            <a:r>
              <a:rPr lang="en-US" dirty="0" err="1"/>
              <a:t>groupBy</a:t>
            </a:r>
            <a:r>
              <a:rPr lang="en-US" dirty="0"/>
              <a:t>()</a:t>
            </a:r>
          </a:p>
          <a:p>
            <a:pPr marL="342900" indent="-342900">
              <a:buFont typeface="+mj-lt"/>
              <a:buAutoNum type="arabicPeriod"/>
            </a:pPr>
            <a:endParaRPr lang="en-US" dirty="0"/>
          </a:p>
          <a:p>
            <a:pPr marL="342900" indent="-342900">
              <a:buFont typeface="+mj-lt"/>
              <a:buAutoNum type="arabicPeriod"/>
            </a:pPr>
            <a:r>
              <a:rPr lang="en-US" dirty="0"/>
              <a:t>collect()</a:t>
            </a:r>
          </a:p>
          <a:p>
            <a:pPr marL="342900" indent="-342900">
              <a:buFont typeface="+mj-lt"/>
              <a:buAutoNum type="arabicPeriod"/>
            </a:pPr>
            <a:endParaRPr lang="en-US" dirty="0"/>
          </a:p>
          <a:p>
            <a:pPr marL="342900" indent="-342900">
              <a:buFont typeface="+mj-lt"/>
              <a:buAutoNum type="arabicPeriod"/>
            </a:pPr>
            <a:r>
              <a:rPr lang="en-US" dirty="0" err="1"/>
              <a:t>orderBy</a:t>
            </a:r>
            <a:r>
              <a:rPr lang="en-US" dirty="0"/>
              <a:t>()</a:t>
            </a:r>
          </a:p>
          <a:p>
            <a:pPr marL="342900" indent="-342900">
              <a:buFont typeface="+mj-lt"/>
              <a:buAutoNum type="arabicPeriod"/>
            </a:pPr>
            <a:endParaRPr lang="en-US" dirty="0"/>
          </a:p>
          <a:p>
            <a:pPr marL="342900" indent="-342900">
              <a:buFont typeface="+mj-lt"/>
              <a:buAutoNum type="arabicPeriod"/>
            </a:pPr>
            <a:r>
              <a:rPr lang="en-US" dirty="0"/>
              <a:t>Write()</a:t>
            </a:r>
          </a:p>
          <a:p>
            <a:pPr marL="342900" indent="-342900">
              <a:buFont typeface="+mj-lt"/>
              <a:buAutoNum type="arabicPeriod"/>
            </a:pPr>
            <a:endParaRPr lang="en-US" dirty="0"/>
          </a:p>
          <a:p>
            <a:pPr marL="342900" indent="-342900">
              <a:buFont typeface="+mj-lt"/>
              <a:buAutoNum type="arabicPeriod"/>
            </a:pPr>
            <a:r>
              <a:rPr lang="en-US" dirty="0"/>
              <a:t>Join()</a:t>
            </a:r>
          </a:p>
        </p:txBody>
      </p:sp>
      <p:graphicFrame>
        <p:nvGraphicFramePr>
          <p:cNvPr id="14" name="Table 13">
            <a:extLst>
              <a:ext uri="{FF2B5EF4-FFF2-40B4-BE49-F238E27FC236}">
                <a16:creationId xmlns:a16="http://schemas.microsoft.com/office/drawing/2014/main" id="{61958A80-7CCF-A173-DA15-096D2C5F5853}"/>
              </a:ext>
            </a:extLst>
          </p:cNvPr>
          <p:cNvGraphicFramePr>
            <a:graphicFrameLocks noGrp="1"/>
          </p:cNvGraphicFramePr>
          <p:nvPr/>
        </p:nvGraphicFramePr>
        <p:xfrm>
          <a:off x="5014762" y="1394301"/>
          <a:ext cx="3508408" cy="1737360"/>
        </p:xfrm>
        <a:graphic>
          <a:graphicData uri="http://schemas.openxmlformats.org/drawingml/2006/table">
            <a:tbl>
              <a:tblPr/>
              <a:tblGrid>
                <a:gridCol w="1754204">
                  <a:extLst>
                    <a:ext uri="{9D8B030D-6E8A-4147-A177-3AD203B41FA5}">
                      <a16:colId xmlns:a16="http://schemas.microsoft.com/office/drawing/2014/main" val="3197938976"/>
                    </a:ext>
                  </a:extLst>
                </a:gridCol>
                <a:gridCol w="1754204">
                  <a:extLst>
                    <a:ext uri="{9D8B030D-6E8A-4147-A177-3AD203B41FA5}">
                      <a16:colId xmlns:a16="http://schemas.microsoft.com/office/drawing/2014/main" val="3323965299"/>
                    </a:ext>
                  </a:extLst>
                </a:gridCol>
              </a:tblGrid>
              <a:tr h="342560">
                <a:tc>
                  <a:txBody>
                    <a:bodyPr/>
                    <a:lstStyle/>
                    <a:p>
                      <a:pPr>
                        <a:buNone/>
                      </a:pPr>
                      <a:r>
                        <a:rPr lang="en-US"/>
                        <a:t>Letter</a:t>
                      </a:r>
                    </a:p>
                  </a:txBody>
                  <a:tcPr anchor="ctr">
                    <a:lnL>
                      <a:noFill/>
                    </a:lnL>
                    <a:lnR>
                      <a:noFill/>
                    </a:lnR>
                    <a:lnT>
                      <a:noFill/>
                    </a:lnT>
                    <a:lnB>
                      <a:noFill/>
                    </a:lnB>
                    <a:noFill/>
                  </a:tcPr>
                </a:tc>
                <a:tc>
                  <a:txBody>
                    <a:bodyPr/>
                    <a:lstStyle/>
                    <a:p>
                      <a:pPr>
                        <a:buNone/>
                      </a:pPr>
                      <a:r>
                        <a:rPr lang="en-US"/>
                        <a:t>Type</a:t>
                      </a:r>
                    </a:p>
                  </a:txBody>
                  <a:tcPr anchor="ctr">
                    <a:lnL>
                      <a:noFill/>
                    </a:lnL>
                    <a:lnR>
                      <a:noFill/>
                    </a:lnR>
                    <a:lnT>
                      <a:noFill/>
                    </a:lnT>
                    <a:lnB>
                      <a:noFill/>
                    </a:lnB>
                    <a:noFill/>
                  </a:tcPr>
                </a:tc>
                <a:extLst>
                  <a:ext uri="{0D108BD9-81ED-4DB2-BD59-A6C34878D82A}">
                    <a16:rowId xmlns:a16="http://schemas.microsoft.com/office/drawing/2014/main" val="1488173249"/>
                  </a:ext>
                </a:extLst>
              </a:tr>
              <a:tr h="342560">
                <a:tc>
                  <a:txBody>
                    <a:bodyPr/>
                    <a:lstStyle/>
                    <a:p>
                      <a:pPr>
                        <a:buNone/>
                      </a:pPr>
                      <a:r>
                        <a:rPr lang="en-US"/>
                        <a:t>A</a:t>
                      </a:r>
                    </a:p>
                  </a:txBody>
                  <a:tcPr anchor="ctr">
                    <a:lnL>
                      <a:noFill/>
                    </a:lnL>
                    <a:lnR>
                      <a:noFill/>
                    </a:lnR>
                    <a:lnT>
                      <a:noFill/>
                    </a:lnT>
                    <a:lnB>
                      <a:noFill/>
                    </a:lnB>
                    <a:noFill/>
                  </a:tcPr>
                </a:tc>
                <a:tc>
                  <a:txBody>
                    <a:bodyPr/>
                    <a:lstStyle/>
                    <a:p>
                      <a:pPr>
                        <a:buNone/>
                      </a:pPr>
                      <a:r>
                        <a:rPr lang="en-US"/>
                        <a:t>Transformation</a:t>
                      </a:r>
                    </a:p>
                  </a:txBody>
                  <a:tcPr anchor="ctr">
                    <a:lnL>
                      <a:noFill/>
                    </a:lnL>
                    <a:lnR>
                      <a:noFill/>
                    </a:lnR>
                    <a:lnT>
                      <a:noFill/>
                    </a:lnT>
                    <a:lnB>
                      <a:noFill/>
                    </a:lnB>
                    <a:noFill/>
                  </a:tcPr>
                </a:tc>
                <a:extLst>
                  <a:ext uri="{0D108BD9-81ED-4DB2-BD59-A6C34878D82A}">
                    <a16:rowId xmlns:a16="http://schemas.microsoft.com/office/drawing/2014/main" val="2130547094"/>
                  </a:ext>
                </a:extLst>
              </a:tr>
              <a:tr h="342560">
                <a:tc>
                  <a:txBody>
                    <a:bodyPr/>
                    <a:lstStyle/>
                    <a:p>
                      <a:pPr>
                        <a:buNone/>
                      </a:pPr>
                      <a:r>
                        <a:rPr lang="en-US"/>
                        <a:t>B</a:t>
                      </a:r>
                    </a:p>
                  </a:txBody>
                  <a:tcPr anchor="ctr">
                    <a:lnL>
                      <a:noFill/>
                    </a:lnL>
                    <a:lnR>
                      <a:noFill/>
                    </a:lnR>
                    <a:lnT>
                      <a:noFill/>
                    </a:lnT>
                    <a:lnB>
                      <a:noFill/>
                    </a:lnB>
                    <a:noFill/>
                  </a:tcPr>
                </a:tc>
                <a:tc>
                  <a:txBody>
                    <a:bodyPr/>
                    <a:lstStyle/>
                    <a:p>
                      <a:pPr>
                        <a:buNone/>
                      </a:pPr>
                      <a:r>
                        <a:rPr lang="en-US"/>
                        <a:t>Action</a:t>
                      </a:r>
                    </a:p>
                  </a:txBody>
                  <a:tcPr anchor="ctr">
                    <a:lnL>
                      <a:noFill/>
                    </a:lnL>
                    <a:lnR>
                      <a:noFill/>
                    </a:lnR>
                    <a:lnT>
                      <a:noFill/>
                    </a:lnT>
                    <a:lnB>
                      <a:noFill/>
                    </a:lnB>
                    <a:noFill/>
                  </a:tcPr>
                </a:tc>
                <a:extLst>
                  <a:ext uri="{0D108BD9-81ED-4DB2-BD59-A6C34878D82A}">
                    <a16:rowId xmlns:a16="http://schemas.microsoft.com/office/drawing/2014/main" val="2564631491"/>
                  </a:ext>
                </a:extLst>
              </a:tr>
              <a:tr h="342560">
                <a:tc>
                  <a:txBody>
                    <a:bodyPr/>
                    <a:lstStyle/>
                    <a:p>
                      <a:pPr>
                        <a:buNone/>
                      </a:pPr>
                      <a:r>
                        <a:rPr lang="en-US"/>
                        <a:t>C</a:t>
                      </a:r>
                    </a:p>
                  </a:txBody>
                  <a:tcPr anchor="ctr">
                    <a:lnL>
                      <a:noFill/>
                    </a:lnL>
                    <a:lnR>
                      <a:noFill/>
                    </a:lnR>
                    <a:lnT>
                      <a:noFill/>
                    </a:lnT>
                    <a:lnB>
                      <a:noFill/>
                    </a:lnB>
                    <a:noFill/>
                  </a:tcPr>
                </a:tc>
                <a:tc>
                  <a:txBody>
                    <a:bodyPr/>
                    <a:lstStyle/>
                    <a:p>
                      <a:pPr>
                        <a:buNone/>
                      </a:pPr>
                      <a:r>
                        <a:rPr lang="en-US" dirty="0"/>
                        <a:t>Neither / Utility Operation</a:t>
                      </a:r>
                    </a:p>
                  </a:txBody>
                  <a:tcPr anchor="ctr">
                    <a:lnL>
                      <a:noFill/>
                    </a:lnL>
                    <a:lnR>
                      <a:noFill/>
                    </a:lnR>
                    <a:lnT>
                      <a:noFill/>
                    </a:lnT>
                    <a:lnB>
                      <a:noFill/>
                    </a:lnB>
                    <a:noFill/>
                  </a:tcPr>
                </a:tc>
                <a:extLst>
                  <a:ext uri="{0D108BD9-81ED-4DB2-BD59-A6C34878D82A}">
                    <a16:rowId xmlns:a16="http://schemas.microsoft.com/office/drawing/2014/main" val="3284005182"/>
                  </a:ext>
                </a:extLst>
              </a:tr>
            </a:tbl>
          </a:graphicData>
        </a:graphic>
      </p:graphicFrame>
    </p:spTree>
    <p:extLst>
      <p:ext uri="{BB962C8B-B14F-4D97-AF65-F5344CB8AC3E}">
        <p14:creationId xmlns:p14="http://schemas.microsoft.com/office/powerpoint/2010/main" val="10754320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28</a:t>
            </a:r>
          </a:p>
        </p:txBody>
      </p:sp>
      <p:sp>
        <p:nvSpPr>
          <p:cNvPr id="4" name="TextBox 3"/>
          <p:cNvSpPr txBox="1"/>
          <p:nvPr/>
        </p:nvSpPr>
        <p:spPr>
          <a:xfrm>
            <a:off x="457200" y="274320"/>
            <a:ext cx="8229600" cy="443198"/>
          </a:xfrm>
          <a:prstGeom prst="rect">
            <a:avLst/>
          </a:prstGeom>
          <a:noFill/>
        </p:spPr>
        <p:txBody>
          <a:bodyPr wrap="square" lIns="73152" tIns="36576" rIns="73152" bIns="36576" anchor="t">
            <a:spAutoFit/>
          </a:bodyPr>
          <a:lstStyle/>
          <a:p>
            <a:pPr algn="l"/>
            <a:r>
              <a:rPr sz="2400" b="1" dirty="0">
                <a:solidFill>
                  <a:srgbClr val="002060"/>
                </a:solidFill>
                <a:latin typeface="Calibri"/>
              </a:rPr>
              <a:t>Answers:</a:t>
            </a:r>
            <a:r>
              <a:rPr lang="en-US" sz="2400" b="1" dirty="0">
                <a:solidFill>
                  <a:srgbClr val="002060"/>
                </a:solidFill>
                <a:latin typeface="Calibri"/>
              </a:rPr>
              <a:t> Identify Actions and transformation</a:t>
            </a:r>
            <a:endParaRPr sz="2400" b="1" dirty="0">
              <a:solidFill>
                <a:srgbClr val="002060"/>
              </a:solidFill>
              <a:latin typeface="Calibri"/>
            </a:endParaRPr>
          </a:p>
        </p:txBody>
      </p:sp>
      <p:sp>
        <p:nvSpPr>
          <p:cNvPr id="10" name="TextBox 9">
            <a:extLst>
              <a:ext uri="{FF2B5EF4-FFF2-40B4-BE49-F238E27FC236}">
                <a16:creationId xmlns:a16="http://schemas.microsoft.com/office/drawing/2014/main" id="{CB24F560-36C1-00BC-C918-69E1CC6260BC}"/>
              </a:ext>
            </a:extLst>
          </p:cNvPr>
          <p:cNvSpPr txBox="1"/>
          <p:nvPr/>
        </p:nvSpPr>
        <p:spPr>
          <a:xfrm>
            <a:off x="740664" y="1188721"/>
            <a:ext cx="7580376" cy="2862322"/>
          </a:xfrm>
          <a:prstGeom prst="rect">
            <a:avLst/>
          </a:prstGeom>
          <a:noFill/>
        </p:spPr>
        <p:txBody>
          <a:bodyPr wrap="square">
            <a:spAutoFit/>
          </a:bodyPr>
          <a:lstStyle/>
          <a:p>
            <a:r>
              <a:rPr lang="fr-FR" dirty="0"/>
              <a:t>1 - A Transformation</a:t>
            </a:r>
            <a:br>
              <a:rPr lang="fr-FR" dirty="0"/>
            </a:br>
            <a:r>
              <a:rPr lang="fr-FR" dirty="0"/>
              <a:t>2 - A Transformation</a:t>
            </a:r>
            <a:br>
              <a:rPr lang="fr-FR" dirty="0"/>
            </a:br>
            <a:r>
              <a:rPr lang="fr-FR" dirty="0"/>
              <a:t>3 - B Action</a:t>
            </a:r>
            <a:br>
              <a:rPr lang="fr-FR" dirty="0"/>
            </a:br>
            <a:r>
              <a:rPr lang="fr-FR" dirty="0"/>
              <a:t>4 - B Action</a:t>
            </a:r>
            <a:br>
              <a:rPr lang="fr-FR" dirty="0"/>
            </a:br>
            <a:r>
              <a:rPr lang="fr-FR" dirty="0"/>
              <a:t>5 - A Transformation</a:t>
            </a:r>
            <a:br>
              <a:rPr lang="fr-FR" dirty="0"/>
            </a:br>
            <a:r>
              <a:rPr lang="fr-FR" dirty="0"/>
              <a:t>6 - A Transformation</a:t>
            </a:r>
            <a:br>
              <a:rPr lang="fr-FR" dirty="0"/>
            </a:br>
            <a:r>
              <a:rPr lang="fr-FR" dirty="0"/>
              <a:t>7 - B Action</a:t>
            </a:r>
            <a:br>
              <a:rPr lang="fr-FR" dirty="0"/>
            </a:br>
            <a:r>
              <a:rPr lang="fr-FR" dirty="0"/>
              <a:t>8 - A Transformation</a:t>
            </a:r>
            <a:br>
              <a:rPr lang="fr-FR" dirty="0"/>
            </a:br>
            <a:r>
              <a:rPr lang="fr-FR" dirty="0"/>
              <a:t>9 - B Action</a:t>
            </a:r>
          </a:p>
          <a:p>
            <a:r>
              <a:rPr lang="en-US" dirty="0"/>
              <a:t>10 - A Transformation</a:t>
            </a:r>
          </a:p>
        </p:txBody>
      </p:sp>
    </p:spTree>
    <p:extLst>
      <p:ext uri="{BB962C8B-B14F-4D97-AF65-F5344CB8AC3E}">
        <p14:creationId xmlns:p14="http://schemas.microsoft.com/office/powerpoint/2010/main" val="31736137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40460-2CAE-740C-989B-A43385013A1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D525A12-8ECD-8DF4-F199-3E9E19D03D99}"/>
              </a:ext>
            </a:extLst>
          </p:cNvPr>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28</a:t>
            </a:r>
          </a:p>
        </p:txBody>
      </p:sp>
      <p:sp>
        <p:nvSpPr>
          <p:cNvPr id="4" name="TextBox 3">
            <a:extLst>
              <a:ext uri="{FF2B5EF4-FFF2-40B4-BE49-F238E27FC236}">
                <a16:creationId xmlns:a16="http://schemas.microsoft.com/office/drawing/2014/main" id="{7FE2170B-32A1-B1F5-85E2-F4ECD164E67A}"/>
              </a:ext>
            </a:extLst>
          </p:cNvPr>
          <p:cNvSpPr txBox="1"/>
          <p:nvPr/>
        </p:nvSpPr>
        <p:spPr>
          <a:xfrm>
            <a:off x="457200" y="274320"/>
            <a:ext cx="8229600" cy="443198"/>
          </a:xfrm>
          <a:prstGeom prst="rect">
            <a:avLst/>
          </a:prstGeom>
          <a:noFill/>
        </p:spPr>
        <p:txBody>
          <a:bodyPr wrap="square" lIns="73152" tIns="36576" rIns="73152" bIns="36576" anchor="t">
            <a:spAutoFit/>
          </a:bodyPr>
          <a:lstStyle/>
          <a:p>
            <a:pPr algn="l"/>
            <a:r>
              <a:rPr lang="en-US" sz="2400" b="1" dirty="0">
                <a:solidFill>
                  <a:srgbClr val="002060"/>
                </a:solidFill>
                <a:latin typeface="Calibri"/>
              </a:rPr>
              <a:t>Mini exercise on narrow and wide transformation</a:t>
            </a:r>
            <a:endParaRPr sz="2400" b="1" dirty="0">
              <a:solidFill>
                <a:srgbClr val="002060"/>
              </a:solidFill>
              <a:latin typeface="Calibri"/>
            </a:endParaRPr>
          </a:p>
        </p:txBody>
      </p:sp>
      <p:sp>
        <p:nvSpPr>
          <p:cNvPr id="10" name="TextBox 9">
            <a:extLst>
              <a:ext uri="{FF2B5EF4-FFF2-40B4-BE49-F238E27FC236}">
                <a16:creationId xmlns:a16="http://schemas.microsoft.com/office/drawing/2014/main" id="{CD45F884-4E48-4D9B-8224-7670D75DDF6B}"/>
              </a:ext>
            </a:extLst>
          </p:cNvPr>
          <p:cNvSpPr txBox="1"/>
          <p:nvPr/>
        </p:nvSpPr>
        <p:spPr>
          <a:xfrm>
            <a:off x="612648" y="1097281"/>
            <a:ext cx="7580376" cy="5355312"/>
          </a:xfrm>
          <a:prstGeom prst="rect">
            <a:avLst/>
          </a:prstGeom>
          <a:noFill/>
        </p:spPr>
        <p:txBody>
          <a:bodyPr wrap="square">
            <a:spAutoFit/>
          </a:bodyPr>
          <a:lstStyle/>
          <a:p>
            <a:r>
              <a:rPr lang="en-US" b="1" dirty="0"/>
              <a:t>Q1. Which of the following is a narrow transformation?</a:t>
            </a:r>
          </a:p>
          <a:p>
            <a:r>
              <a:rPr lang="en-US" dirty="0"/>
              <a:t>a) </a:t>
            </a:r>
            <a:r>
              <a:rPr lang="en-US" dirty="0" err="1"/>
              <a:t>groupBy</a:t>
            </a:r>
            <a:r>
              <a:rPr lang="en-US" dirty="0"/>
              <a:t>()</a:t>
            </a:r>
            <a:br>
              <a:rPr lang="en-US" dirty="0"/>
            </a:br>
            <a:r>
              <a:rPr lang="en-US" dirty="0"/>
              <a:t>b) </a:t>
            </a:r>
            <a:r>
              <a:rPr lang="en-US" dirty="0" err="1"/>
              <a:t>reduceByKey</a:t>
            </a:r>
            <a:r>
              <a:rPr lang="en-US" dirty="0"/>
              <a:t>()</a:t>
            </a:r>
            <a:br>
              <a:rPr lang="en-US" dirty="0"/>
            </a:br>
            <a:r>
              <a:rPr lang="en-US" dirty="0"/>
              <a:t>c) filter()</a:t>
            </a:r>
            <a:br>
              <a:rPr lang="en-US" dirty="0"/>
            </a:br>
            <a:r>
              <a:rPr lang="en-US" dirty="0"/>
              <a:t>d) join()</a:t>
            </a:r>
          </a:p>
          <a:p>
            <a:endParaRPr lang="en-US" dirty="0"/>
          </a:p>
          <a:p>
            <a:r>
              <a:rPr lang="en-US" b="1" dirty="0"/>
              <a:t>Q2. Which of the following is a wide transformation?</a:t>
            </a:r>
          </a:p>
          <a:p>
            <a:r>
              <a:rPr lang="en-US" dirty="0"/>
              <a:t>a) select()</a:t>
            </a:r>
            <a:br>
              <a:rPr lang="en-US" dirty="0"/>
            </a:br>
            <a:r>
              <a:rPr lang="en-US" dirty="0"/>
              <a:t>b) map()</a:t>
            </a:r>
            <a:br>
              <a:rPr lang="en-US" dirty="0"/>
            </a:br>
            <a:r>
              <a:rPr lang="en-US" dirty="0"/>
              <a:t>c) </a:t>
            </a:r>
            <a:r>
              <a:rPr lang="en-US" dirty="0" err="1"/>
              <a:t>withColumn</a:t>
            </a:r>
            <a:r>
              <a:rPr lang="en-US" dirty="0"/>
              <a:t>()</a:t>
            </a:r>
            <a:br>
              <a:rPr lang="en-US" dirty="0"/>
            </a:br>
            <a:r>
              <a:rPr lang="en-US" dirty="0"/>
              <a:t>d) </a:t>
            </a:r>
            <a:r>
              <a:rPr lang="en-US" dirty="0" err="1"/>
              <a:t>groupBy</a:t>
            </a:r>
            <a:r>
              <a:rPr lang="en-US" dirty="0"/>
              <a:t>()</a:t>
            </a:r>
          </a:p>
          <a:p>
            <a:endParaRPr lang="en-US" dirty="0"/>
          </a:p>
          <a:p>
            <a:r>
              <a:rPr lang="en-US" b="1" dirty="0"/>
              <a:t>Q3. Which operation usually causes a shuffle in Spark?</a:t>
            </a:r>
          </a:p>
          <a:p>
            <a:r>
              <a:rPr lang="en-US" dirty="0"/>
              <a:t>a) select()</a:t>
            </a:r>
            <a:br>
              <a:rPr lang="en-US" dirty="0"/>
            </a:br>
            <a:r>
              <a:rPr lang="en-US" dirty="0"/>
              <a:t>b) filter()</a:t>
            </a:r>
            <a:br>
              <a:rPr lang="en-US" dirty="0"/>
            </a:br>
            <a:r>
              <a:rPr lang="en-US" dirty="0"/>
              <a:t>c) map()</a:t>
            </a:r>
            <a:br>
              <a:rPr lang="en-US" dirty="0"/>
            </a:br>
            <a:r>
              <a:rPr lang="en-US" dirty="0"/>
              <a:t>d) </a:t>
            </a:r>
            <a:r>
              <a:rPr lang="en-US" dirty="0" err="1"/>
              <a:t>orderBy</a:t>
            </a:r>
            <a:r>
              <a:rPr lang="en-US" dirty="0"/>
              <a:t>()</a:t>
            </a:r>
          </a:p>
          <a:p>
            <a:endParaRPr lang="en-US" dirty="0"/>
          </a:p>
          <a:p>
            <a:endParaRPr lang="en-US" dirty="0"/>
          </a:p>
        </p:txBody>
      </p:sp>
    </p:spTree>
    <p:extLst>
      <p:ext uri="{BB962C8B-B14F-4D97-AF65-F5344CB8AC3E}">
        <p14:creationId xmlns:p14="http://schemas.microsoft.com/office/powerpoint/2010/main" val="9387332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80305-C306-186C-B859-BFFF9F56C35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1144A70-0478-0DBB-DA6F-C17E3498AB1D}"/>
              </a:ext>
            </a:extLst>
          </p:cNvPr>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28</a:t>
            </a:r>
          </a:p>
        </p:txBody>
      </p:sp>
      <p:sp>
        <p:nvSpPr>
          <p:cNvPr id="4" name="TextBox 3">
            <a:extLst>
              <a:ext uri="{FF2B5EF4-FFF2-40B4-BE49-F238E27FC236}">
                <a16:creationId xmlns:a16="http://schemas.microsoft.com/office/drawing/2014/main" id="{67DFDEED-0934-B51B-4414-AA62005CD12A}"/>
              </a:ext>
            </a:extLst>
          </p:cNvPr>
          <p:cNvSpPr txBox="1"/>
          <p:nvPr/>
        </p:nvSpPr>
        <p:spPr>
          <a:xfrm>
            <a:off x="457200" y="274320"/>
            <a:ext cx="8229600" cy="443198"/>
          </a:xfrm>
          <a:prstGeom prst="rect">
            <a:avLst/>
          </a:prstGeom>
          <a:noFill/>
        </p:spPr>
        <p:txBody>
          <a:bodyPr wrap="square" lIns="73152" tIns="36576" rIns="73152" bIns="36576" anchor="t">
            <a:spAutoFit/>
          </a:bodyPr>
          <a:lstStyle/>
          <a:p>
            <a:pPr algn="l"/>
            <a:r>
              <a:rPr sz="2400" b="1" dirty="0">
                <a:solidFill>
                  <a:srgbClr val="002060"/>
                </a:solidFill>
                <a:latin typeface="Calibri"/>
              </a:rPr>
              <a:t>Answers:</a:t>
            </a:r>
            <a:r>
              <a:rPr lang="en-US" sz="2400" b="1" dirty="0">
                <a:solidFill>
                  <a:srgbClr val="002060"/>
                </a:solidFill>
                <a:latin typeface="Calibri"/>
              </a:rPr>
              <a:t> Identify Actions and transformation</a:t>
            </a:r>
            <a:endParaRPr sz="2400" b="1" dirty="0">
              <a:solidFill>
                <a:srgbClr val="002060"/>
              </a:solidFill>
              <a:latin typeface="Calibri"/>
            </a:endParaRPr>
          </a:p>
        </p:txBody>
      </p:sp>
      <p:sp>
        <p:nvSpPr>
          <p:cNvPr id="10" name="TextBox 9">
            <a:extLst>
              <a:ext uri="{FF2B5EF4-FFF2-40B4-BE49-F238E27FC236}">
                <a16:creationId xmlns:a16="http://schemas.microsoft.com/office/drawing/2014/main" id="{FD6BB3A5-77CF-622F-724A-5B3B5E3148BB}"/>
              </a:ext>
            </a:extLst>
          </p:cNvPr>
          <p:cNvSpPr txBox="1"/>
          <p:nvPr/>
        </p:nvSpPr>
        <p:spPr>
          <a:xfrm>
            <a:off x="740664" y="1188721"/>
            <a:ext cx="7580376" cy="4801314"/>
          </a:xfrm>
          <a:prstGeom prst="rect">
            <a:avLst/>
          </a:prstGeom>
          <a:noFill/>
        </p:spPr>
        <p:txBody>
          <a:bodyPr wrap="square">
            <a:spAutoFit/>
          </a:bodyPr>
          <a:lstStyle/>
          <a:p>
            <a:r>
              <a:rPr lang="en-US" b="1" dirty="0"/>
              <a:t>Q1. Which of the following is a narrow transformation?</a:t>
            </a:r>
          </a:p>
          <a:p>
            <a:r>
              <a:rPr lang="en-US" b="1" dirty="0"/>
              <a:t>Answer:</a:t>
            </a:r>
            <a:r>
              <a:rPr lang="en-US" dirty="0"/>
              <a:t> c) filter()</a:t>
            </a:r>
          </a:p>
          <a:p>
            <a:endParaRPr lang="en-US" dirty="0"/>
          </a:p>
          <a:p>
            <a:r>
              <a:rPr lang="en-US" b="1" dirty="0"/>
              <a:t>Q2. Which of the following is a wide transformation?</a:t>
            </a:r>
          </a:p>
          <a:p>
            <a:r>
              <a:rPr lang="en-US" b="1" dirty="0"/>
              <a:t>Answer:</a:t>
            </a:r>
            <a:r>
              <a:rPr lang="en-US" dirty="0"/>
              <a:t> d) </a:t>
            </a:r>
            <a:r>
              <a:rPr lang="en-US" dirty="0" err="1"/>
              <a:t>groupBy</a:t>
            </a:r>
            <a:r>
              <a:rPr lang="en-US" dirty="0"/>
              <a:t>()</a:t>
            </a:r>
          </a:p>
          <a:p>
            <a:endParaRPr lang="en-US" dirty="0"/>
          </a:p>
          <a:p>
            <a:endParaRPr lang="en-US" b="1" dirty="0"/>
          </a:p>
          <a:p>
            <a:r>
              <a:rPr lang="en-US" b="1" dirty="0"/>
              <a:t>Q3. Which operation usually causes a shuffle in Spark?</a:t>
            </a:r>
          </a:p>
          <a:p>
            <a:r>
              <a:rPr lang="en-US" b="1" dirty="0"/>
              <a:t>Answer:</a:t>
            </a:r>
            <a:r>
              <a:rPr lang="en-US" dirty="0"/>
              <a:t> d) </a:t>
            </a:r>
            <a:r>
              <a:rPr lang="en-US" dirty="0" err="1"/>
              <a:t>orderBy</a:t>
            </a:r>
            <a:r>
              <a:rPr lang="en-US" dirty="0"/>
              <a:t>()</a:t>
            </a:r>
          </a:p>
          <a:p>
            <a:endParaRPr lang="en-US" b="1" dirty="0"/>
          </a:p>
          <a:p>
            <a:endParaRPr lang="en-US" b="1" dirty="0"/>
          </a:p>
          <a:p>
            <a:r>
              <a:rPr lang="en-US" b="1" dirty="0"/>
              <a:t>Narrow transformation:</a:t>
            </a:r>
            <a:br>
              <a:rPr lang="en-US" dirty="0"/>
            </a:br>
            <a:r>
              <a:rPr lang="en-US" dirty="0"/>
              <a:t>Data stays mostly within the same partition.</a:t>
            </a:r>
            <a:br>
              <a:rPr lang="en-US" dirty="0"/>
            </a:br>
            <a:r>
              <a:rPr lang="en-US" dirty="0"/>
              <a:t>Examples: filter(), map(), select(), </a:t>
            </a:r>
            <a:r>
              <a:rPr lang="en-US" dirty="0" err="1"/>
              <a:t>withColumn</a:t>
            </a:r>
            <a:r>
              <a:rPr lang="en-US" dirty="0"/>
              <a:t>()</a:t>
            </a:r>
          </a:p>
          <a:p>
            <a:r>
              <a:rPr lang="en-US" b="1" dirty="0"/>
              <a:t>Wide transformation:</a:t>
            </a:r>
            <a:br>
              <a:rPr lang="en-US" dirty="0"/>
            </a:br>
            <a:r>
              <a:rPr lang="en-US" dirty="0"/>
              <a:t>Data moves between partitions, usually causing a shuffle.</a:t>
            </a:r>
            <a:br>
              <a:rPr lang="en-US" dirty="0"/>
            </a:br>
            <a:r>
              <a:rPr lang="en-US" dirty="0"/>
              <a:t>Examples: </a:t>
            </a:r>
            <a:r>
              <a:rPr lang="en-US" dirty="0" err="1"/>
              <a:t>groupBy</a:t>
            </a:r>
            <a:r>
              <a:rPr lang="en-US" dirty="0"/>
              <a:t>(), join(), distinct(), </a:t>
            </a:r>
            <a:r>
              <a:rPr lang="en-US" dirty="0" err="1"/>
              <a:t>orderBy</a:t>
            </a:r>
            <a:r>
              <a:rPr lang="en-US" dirty="0"/>
              <a:t>(), </a:t>
            </a:r>
            <a:r>
              <a:rPr lang="en-US" dirty="0" err="1"/>
              <a:t>reduceByKey</a:t>
            </a:r>
            <a:r>
              <a:rPr lang="en-US" dirty="0"/>
              <a:t>()</a:t>
            </a:r>
          </a:p>
        </p:txBody>
      </p:sp>
    </p:spTree>
    <p:extLst>
      <p:ext uri="{BB962C8B-B14F-4D97-AF65-F5344CB8AC3E}">
        <p14:creationId xmlns:p14="http://schemas.microsoft.com/office/powerpoint/2010/main" val="17182910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17</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DAG Execution Model</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Spark builds a Directed Acyclic Graph of transformations.</a:t>
            </a:r>
          </a:p>
          <a:p>
            <a:pPr>
              <a:spcAft>
                <a:spcPts val="500"/>
              </a:spcAft>
              <a:defRPr sz="1300">
                <a:solidFill>
                  <a:srgbClr val="333333"/>
                </a:solidFill>
                <a:latin typeface="Calibri"/>
              </a:defRPr>
            </a:pPr>
            <a:r>
              <a:t>• The DAG scheduler splits work into stages around shuffle boundaries.</a:t>
            </a:r>
          </a:p>
          <a:p>
            <a:pPr>
              <a:spcAft>
                <a:spcPts val="500"/>
              </a:spcAft>
              <a:defRPr sz="1300">
                <a:solidFill>
                  <a:srgbClr val="333333"/>
                </a:solidFill>
                <a:latin typeface="Calibri"/>
              </a:defRPr>
            </a:pPr>
            <a:r>
              <a:t>• Tasks run the stage logic against individual data partitions.</a:t>
            </a:r>
          </a:p>
        </p:txBody>
      </p:sp>
      <p:pic>
        <p:nvPicPr>
          <p:cNvPr id="6146" name="Picture 2" descr="Practical Applications of Directed Acyclic Graphs | Baeldung on ...">
            <a:extLst>
              <a:ext uri="{FF2B5EF4-FFF2-40B4-BE49-F238E27FC236}">
                <a16:creationId xmlns:a16="http://schemas.microsoft.com/office/drawing/2014/main" id="{FF03F6DD-5429-0D5F-F6AC-61A1CBD5EB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249065"/>
            <a:ext cx="7613583" cy="30150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1CB1C-5F4A-DD43-CEB7-B4FAE52B86A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DA9614-914F-53CA-B2AB-736C0D2423DA}"/>
              </a:ext>
            </a:extLst>
          </p:cNvPr>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17</a:t>
            </a:r>
          </a:p>
        </p:txBody>
      </p:sp>
      <p:sp>
        <p:nvSpPr>
          <p:cNvPr id="3" name="TextBox 2">
            <a:extLst>
              <a:ext uri="{FF2B5EF4-FFF2-40B4-BE49-F238E27FC236}">
                <a16:creationId xmlns:a16="http://schemas.microsoft.com/office/drawing/2014/main" id="{63A30459-4E72-7BC8-443C-7D5076394E66}"/>
              </a:ext>
            </a:extLst>
          </p:cNvPr>
          <p:cNvSpPr txBox="1"/>
          <p:nvPr/>
        </p:nvSpPr>
        <p:spPr>
          <a:xfrm>
            <a:off x="457200" y="274320"/>
            <a:ext cx="8229600" cy="443198"/>
          </a:xfrm>
          <a:prstGeom prst="rect">
            <a:avLst/>
          </a:prstGeom>
          <a:noFill/>
        </p:spPr>
        <p:txBody>
          <a:bodyPr wrap="square" lIns="73152" tIns="36576" rIns="73152" bIns="36576" anchor="t">
            <a:spAutoFit/>
          </a:bodyPr>
          <a:lstStyle/>
          <a:p>
            <a:pPr algn="l"/>
            <a:r>
              <a:rPr lang="en-US" sz="2400" b="1" dirty="0">
                <a:solidFill>
                  <a:srgbClr val="002060"/>
                </a:solidFill>
                <a:latin typeface="Calibri"/>
              </a:rPr>
              <a:t>Data lineage</a:t>
            </a:r>
            <a:endParaRPr sz="2400" b="1" dirty="0">
              <a:solidFill>
                <a:srgbClr val="002060"/>
              </a:solidFill>
              <a:latin typeface="Calibri"/>
            </a:endParaRPr>
          </a:p>
        </p:txBody>
      </p:sp>
      <p:pic>
        <p:nvPicPr>
          <p:cNvPr id="8196" name="Picture 4">
            <a:extLst>
              <a:ext uri="{FF2B5EF4-FFF2-40B4-BE49-F238E27FC236}">
                <a16:creationId xmlns:a16="http://schemas.microsoft.com/office/drawing/2014/main" id="{E86216B9-5150-84C5-8D4F-A73BA332BE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475166"/>
            <a:ext cx="8229600" cy="407193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6E43745-8D99-E8F2-C2C4-C5B45DFB174D}"/>
              </a:ext>
            </a:extLst>
          </p:cNvPr>
          <p:cNvSpPr txBox="1"/>
          <p:nvPr/>
        </p:nvSpPr>
        <p:spPr>
          <a:xfrm>
            <a:off x="457200" y="717518"/>
            <a:ext cx="7982712" cy="1323439"/>
          </a:xfrm>
          <a:prstGeom prst="rect">
            <a:avLst/>
          </a:prstGeom>
          <a:noFill/>
        </p:spPr>
        <p:txBody>
          <a:bodyPr wrap="square">
            <a:spAutoFit/>
          </a:bodyPr>
          <a:lstStyle/>
          <a:p>
            <a:r>
              <a:rPr lang="en-US" sz="1600" b="0" i="0" dirty="0">
                <a:effectLst/>
                <a:latin typeface="+mj-lt"/>
              </a:rPr>
              <a:t>In Apache Spark, </a:t>
            </a:r>
            <a:r>
              <a:rPr lang="en-US" sz="1600" b="1" i="0" dirty="0">
                <a:effectLst/>
                <a:latin typeface="+mj-lt"/>
              </a:rPr>
              <a:t>lineage</a:t>
            </a:r>
            <a:r>
              <a:rPr lang="en-US" sz="1600" b="0" i="0" dirty="0">
                <a:effectLst/>
                <a:latin typeface="+mj-lt"/>
              </a:rPr>
              <a:t> refers to the </a:t>
            </a:r>
            <a:r>
              <a:rPr lang="en-US" sz="1600" b="1" i="0" dirty="0">
                <a:effectLst/>
                <a:latin typeface="+mj-lt"/>
              </a:rPr>
              <a:t>logical representation of dependencies</a:t>
            </a:r>
            <a:r>
              <a:rPr lang="en-US" sz="1600" b="0" i="0" dirty="0">
                <a:effectLst/>
                <a:latin typeface="+mj-lt"/>
              </a:rPr>
              <a:t> between Resilient Distributed Datasets (RDDs) or </a:t>
            </a:r>
            <a:r>
              <a:rPr lang="en-US" sz="1600" b="0" i="0" dirty="0" err="1">
                <a:effectLst/>
                <a:latin typeface="+mj-lt"/>
              </a:rPr>
              <a:t>DataFrames</a:t>
            </a:r>
            <a:r>
              <a:rPr lang="en-US" sz="1600" b="0" i="0" dirty="0">
                <a:effectLst/>
                <a:latin typeface="+mj-lt"/>
              </a:rPr>
              <a:t> in a Spark application. This is captured in a </a:t>
            </a:r>
            <a:r>
              <a:rPr lang="en-US" sz="1600" b="1" i="0" dirty="0">
                <a:effectLst/>
                <a:latin typeface="+mj-lt"/>
              </a:rPr>
              <a:t>Lineage Graph</a:t>
            </a:r>
            <a:r>
              <a:rPr lang="en-US" sz="1600" b="0" i="0" dirty="0">
                <a:effectLst/>
                <a:latin typeface="+mj-lt"/>
              </a:rPr>
              <a:t>, which is essentially a </a:t>
            </a:r>
            <a:r>
              <a:rPr lang="en-US" sz="1600" b="1" i="0" dirty="0">
                <a:effectLst/>
                <a:latin typeface="+mj-lt"/>
              </a:rPr>
              <a:t>Directed Acyclic Graph (DAG)</a:t>
            </a:r>
            <a:r>
              <a:rPr lang="en-US" sz="1600" b="0" i="0" dirty="0">
                <a:effectLst/>
                <a:latin typeface="+mj-lt"/>
              </a:rPr>
              <a:t>. The lineage tracks all transformations and actions applied to the data, enabling Spark to manage fault tolerance, optimize execution, and efficiently utilize cluster resources.</a:t>
            </a:r>
            <a:endParaRPr lang="en-US" sz="1600" dirty="0">
              <a:latin typeface="+mj-lt"/>
            </a:endParaRPr>
          </a:p>
        </p:txBody>
      </p:sp>
    </p:spTree>
    <p:extLst>
      <p:ext uri="{BB962C8B-B14F-4D97-AF65-F5344CB8AC3E}">
        <p14:creationId xmlns:p14="http://schemas.microsoft.com/office/powerpoint/2010/main" val="33215057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18</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Spark Execution Plan: Job → Stage → Task</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One action can create one or more jobs in the Spark UI.</a:t>
            </a:r>
          </a:p>
          <a:p>
            <a:pPr>
              <a:spcAft>
                <a:spcPts val="500"/>
              </a:spcAft>
              <a:defRPr sz="1300">
                <a:solidFill>
                  <a:srgbClr val="333333"/>
                </a:solidFill>
                <a:latin typeface="Calibri"/>
              </a:defRPr>
            </a:pPr>
            <a:r>
              <a:t>• Wide dependencies split a job into multiple stages.</a:t>
            </a:r>
          </a:p>
          <a:p>
            <a:pPr>
              <a:spcAft>
                <a:spcPts val="500"/>
              </a:spcAft>
              <a:defRPr sz="1300">
                <a:solidFill>
                  <a:srgbClr val="333333"/>
                </a:solidFill>
                <a:latin typeface="Calibri"/>
              </a:defRPr>
            </a:pPr>
            <a:r>
              <a:t>• A stage launches many tasks; usually one task per partition.</a:t>
            </a:r>
          </a:p>
        </p:txBody>
      </p:sp>
      <p:sp>
        <p:nvSpPr>
          <p:cNvPr id="5" name="Rounded Rectangle 4"/>
          <p:cNvSpPr/>
          <p:nvPr/>
        </p:nvSpPr>
        <p:spPr>
          <a:xfrm>
            <a:off x="3749039" y="2487168"/>
            <a:ext cx="1645920" cy="411480"/>
          </a:xfrm>
          <a:prstGeom prst="roundRect">
            <a:avLst/>
          </a:prstGeom>
          <a:solidFill>
            <a:srgbClr val="E3F2FD"/>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333333"/>
                </a:solidFill>
                <a:latin typeface="Calibri"/>
              </a:rPr>
              <a:t>Job</a:t>
            </a:r>
          </a:p>
        </p:txBody>
      </p:sp>
      <p:sp>
        <p:nvSpPr>
          <p:cNvPr id="6" name="Rounded Rectangle 5"/>
          <p:cNvSpPr/>
          <p:nvPr/>
        </p:nvSpPr>
        <p:spPr>
          <a:xfrm>
            <a:off x="1234440" y="3310128"/>
            <a:ext cx="2240280" cy="438912"/>
          </a:xfrm>
          <a:prstGeom prst="roundRect">
            <a:avLst/>
          </a:prstGeom>
          <a:solidFill>
            <a:srgbClr val="FFFFFF"/>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333333"/>
                </a:solidFill>
                <a:latin typeface="Calibri"/>
              </a:rPr>
              <a:t>Stage 1</a:t>
            </a:r>
          </a:p>
        </p:txBody>
      </p:sp>
      <p:sp>
        <p:nvSpPr>
          <p:cNvPr id="7" name="Rounded Rectangle 6"/>
          <p:cNvSpPr/>
          <p:nvPr/>
        </p:nvSpPr>
        <p:spPr>
          <a:xfrm>
            <a:off x="5669280" y="3310128"/>
            <a:ext cx="2240280" cy="438912"/>
          </a:xfrm>
          <a:prstGeom prst="roundRect">
            <a:avLst/>
          </a:prstGeom>
          <a:solidFill>
            <a:srgbClr val="FFFFFF"/>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333333"/>
                </a:solidFill>
                <a:latin typeface="Calibri"/>
              </a:rPr>
              <a:t>Stage 2</a:t>
            </a:r>
          </a:p>
        </p:txBody>
      </p:sp>
      <p:sp>
        <p:nvSpPr>
          <p:cNvPr id="8" name="Rounded Rectangle 7"/>
          <p:cNvSpPr/>
          <p:nvPr/>
        </p:nvSpPr>
        <p:spPr>
          <a:xfrm>
            <a:off x="3913632" y="3364992"/>
            <a:ext cx="1325880" cy="329184"/>
          </a:xfrm>
          <a:prstGeom prst="roundRect">
            <a:avLst/>
          </a:prstGeom>
          <a:solidFill>
            <a:srgbClr val="FFF8E1"/>
          </a:solidFill>
          <a:ln w="12700">
            <a:solidFill>
              <a:srgbClr val="F9A82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50" b="1">
                <a:solidFill>
                  <a:srgbClr val="333333"/>
                </a:solidFill>
                <a:latin typeface="Calibri"/>
              </a:rPr>
              <a:t>Shuffle
wide dependency</a:t>
            </a:r>
          </a:p>
        </p:txBody>
      </p:sp>
      <p:sp>
        <p:nvSpPr>
          <p:cNvPr id="9" name="Rounded Rectangle 8"/>
          <p:cNvSpPr/>
          <p:nvPr/>
        </p:nvSpPr>
        <p:spPr>
          <a:xfrm>
            <a:off x="1051560" y="4370832"/>
            <a:ext cx="502920" cy="384048"/>
          </a:xfrm>
          <a:prstGeom prst="roundRect">
            <a:avLst/>
          </a:prstGeom>
          <a:solidFill>
            <a:srgbClr val="F1F8E9"/>
          </a:solidFill>
          <a:ln w="12700">
            <a:solidFill>
              <a:srgbClr val="7CB34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50" b="0">
                <a:solidFill>
                  <a:srgbClr val="333333"/>
                </a:solidFill>
                <a:latin typeface="Calibri"/>
              </a:rPr>
              <a:t>Task</a:t>
            </a:r>
          </a:p>
        </p:txBody>
      </p:sp>
      <p:sp>
        <p:nvSpPr>
          <p:cNvPr id="10" name="Rounded Rectangle 9"/>
          <p:cNvSpPr/>
          <p:nvPr/>
        </p:nvSpPr>
        <p:spPr>
          <a:xfrm>
            <a:off x="1691640" y="4370832"/>
            <a:ext cx="502920" cy="384048"/>
          </a:xfrm>
          <a:prstGeom prst="roundRect">
            <a:avLst/>
          </a:prstGeom>
          <a:solidFill>
            <a:srgbClr val="F1F8E9"/>
          </a:solidFill>
          <a:ln w="12700">
            <a:solidFill>
              <a:srgbClr val="7CB34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50" b="0">
                <a:solidFill>
                  <a:srgbClr val="333333"/>
                </a:solidFill>
                <a:latin typeface="Calibri"/>
              </a:rPr>
              <a:t>Task</a:t>
            </a:r>
          </a:p>
        </p:txBody>
      </p:sp>
      <p:sp>
        <p:nvSpPr>
          <p:cNvPr id="11" name="Rounded Rectangle 10"/>
          <p:cNvSpPr/>
          <p:nvPr/>
        </p:nvSpPr>
        <p:spPr>
          <a:xfrm>
            <a:off x="2331720" y="4370832"/>
            <a:ext cx="502920" cy="384048"/>
          </a:xfrm>
          <a:prstGeom prst="roundRect">
            <a:avLst/>
          </a:prstGeom>
          <a:solidFill>
            <a:srgbClr val="F1F8E9"/>
          </a:solidFill>
          <a:ln w="12700">
            <a:solidFill>
              <a:srgbClr val="7CB34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50" b="0">
                <a:solidFill>
                  <a:srgbClr val="333333"/>
                </a:solidFill>
                <a:latin typeface="Calibri"/>
              </a:rPr>
              <a:t>Task</a:t>
            </a:r>
          </a:p>
        </p:txBody>
      </p:sp>
      <p:sp>
        <p:nvSpPr>
          <p:cNvPr id="12" name="Rounded Rectangle 11"/>
          <p:cNvSpPr/>
          <p:nvPr/>
        </p:nvSpPr>
        <p:spPr>
          <a:xfrm>
            <a:off x="2971800" y="4370832"/>
            <a:ext cx="502920" cy="384048"/>
          </a:xfrm>
          <a:prstGeom prst="roundRect">
            <a:avLst/>
          </a:prstGeom>
          <a:solidFill>
            <a:srgbClr val="F1F8E9"/>
          </a:solidFill>
          <a:ln w="12700">
            <a:solidFill>
              <a:srgbClr val="7CB34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50" b="0">
                <a:solidFill>
                  <a:srgbClr val="333333"/>
                </a:solidFill>
                <a:latin typeface="Calibri"/>
              </a:rPr>
              <a:t>Task</a:t>
            </a:r>
          </a:p>
        </p:txBody>
      </p:sp>
      <p:sp>
        <p:nvSpPr>
          <p:cNvPr id="13" name="Rounded Rectangle 12"/>
          <p:cNvSpPr/>
          <p:nvPr/>
        </p:nvSpPr>
        <p:spPr>
          <a:xfrm>
            <a:off x="5486400" y="4370832"/>
            <a:ext cx="502920" cy="384048"/>
          </a:xfrm>
          <a:prstGeom prst="roundRect">
            <a:avLst/>
          </a:prstGeom>
          <a:solidFill>
            <a:srgbClr val="F1F8E9"/>
          </a:solidFill>
          <a:ln w="12700">
            <a:solidFill>
              <a:srgbClr val="7CB34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50" b="0">
                <a:solidFill>
                  <a:srgbClr val="333333"/>
                </a:solidFill>
                <a:latin typeface="Calibri"/>
              </a:rPr>
              <a:t>Task</a:t>
            </a:r>
          </a:p>
        </p:txBody>
      </p:sp>
      <p:sp>
        <p:nvSpPr>
          <p:cNvPr id="14" name="Rounded Rectangle 13"/>
          <p:cNvSpPr/>
          <p:nvPr/>
        </p:nvSpPr>
        <p:spPr>
          <a:xfrm>
            <a:off x="6126480" y="4370832"/>
            <a:ext cx="502920" cy="384048"/>
          </a:xfrm>
          <a:prstGeom prst="roundRect">
            <a:avLst/>
          </a:prstGeom>
          <a:solidFill>
            <a:srgbClr val="F1F8E9"/>
          </a:solidFill>
          <a:ln w="12700">
            <a:solidFill>
              <a:srgbClr val="7CB34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50" b="0">
                <a:solidFill>
                  <a:srgbClr val="333333"/>
                </a:solidFill>
                <a:latin typeface="Calibri"/>
              </a:rPr>
              <a:t>Task</a:t>
            </a:r>
          </a:p>
        </p:txBody>
      </p:sp>
      <p:sp>
        <p:nvSpPr>
          <p:cNvPr id="15" name="Rounded Rectangle 14"/>
          <p:cNvSpPr/>
          <p:nvPr/>
        </p:nvSpPr>
        <p:spPr>
          <a:xfrm>
            <a:off x="6766560" y="4370832"/>
            <a:ext cx="502920" cy="384048"/>
          </a:xfrm>
          <a:prstGeom prst="roundRect">
            <a:avLst/>
          </a:prstGeom>
          <a:solidFill>
            <a:srgbClr val="F1F8E9"/>
          </a:solidFill>
          <a:ln w="12700">
            <a:solidFill>
              <a:srgbClr val="7CB34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50" b="0">
                <a:solidFill>
                  <a:srgbClr val="333333"/>
                </a:solidFill>
                <a:latin typeface="Calibri"/>
              </a:rPr>
              <a:t>Task</a:t>
            </a:r>
          </a:p>
        </p:txBody>
      </p:sp>
      <p:sp>
        <p:nvSpPr>
          <p:cNvPr id="16" name="Rounded Rectangle 15"/>
          <p:cNvSpPr/>
          <p:nvPr/>
        </p:nvSpPr>
        <p:spPr>
          <a:xfrm>
            <a:off x="7406640" y="4370832"/>
            <a:ext cx="502920" cy="384048"/>
          </a:xfrm>
          <a:prstGeom prst="roundRect">
            <a:avLst/>
          </a:prstGeom>
          <a:solidFill>
            <a:srgbClr val="F1F8E9"/>
          </a:solidFill>
          <a:ln w="12700">
            <a:solidFill>
              <a:srgbClr val="7CB34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50" b="0">
                <a:solidFill>
                  <a:srgbClr val="333333"/>
                </a:solidFill>
                <a:latin typeface="Calibri"/>
              </a:rPr>
              <a:t>Task</a:t>
            </a:r>
          </a:p>
        </p:txBody>
      </p:sp>
      <p:sp>
        <p:nvSpPr>
          <p:cNvPr id="17" name="TextBox 16"/>
          <p:cNvSpPr txBox="1"/>
          <p:nvPr/>
        </p:nvSpPr>
        <p:spPr>
          <a:xfrm>
            <a:off x="2331720" y="2907792"/>
            <a:ext cx="4480560" cy="201168"/>
          </a:xfrm>
          <a:prstGeom prst="rect">
            <a:avLst/>
          </a:prstGeom>
          <a:noFill/>
        </p:spPr>
        <p:txBody>
          <a:bodyPr wrap="square" lIns="73152" tIns="36576" rIns="73152" bIns="36576" anchor="t">
            <a:spAutoFit/>
          </a:bodyPr>
          <a:lstStyle/>
          <a:p>
            <a:pPr algn="ctr"/>
            <a:r>
              <a:rPr sz="1050" b="0">
                <a:solidFill>
                  <a:srgbClr val="585858"/>
                </a:solidFill>
                <a:latin typeface="Calibri"/>
              </a:rPr>
              <a:t>Stage boundaries appear when data must move across partitions.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19</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Catalyst Optimizer — How Spark Optimizes Queries</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Parses DataFrame and SQL operations into a logical plan.</a:t>
            </a:r>
          </a:p>
          <a:p>
            <a:pPr>
              <a:spcAft>
                <a:spcPts val="500"/>
              </a:spcAft>
              <a:defRPr sz="1300">
                <a:solidFill>
                  <a:srgbClr val="333333"/>
                </a:solidFill>
                <a:latin typeface="Calibri"/>
              </a:defRPr>
            </a:pPr>
            <a:r>
              <a:t>• Resolves column names, data types, and catalog references.</a:t>
            </a:r>
          </a:p>
          <a:p>
            <a:pPr>
              <a:spcAft>
                <a:spcPts val="500"/>
              </a:spcAft>
              <a:defRPr sz="1300">
                <a:solidFill>
                  <a:srgbClr val="333333"/>
                </a:solidFill>
                <a:latin typeface="Calibri"/>
              </a:defRPr>
            </a:pPr>
            <a:r>
              <a:t>• Applies rules such as predicate pushdown and projection pruning.</a:t>
            </a:r>
          </a:p>
          <a:p>
            <a:pPr>
              <a:spcAft>
                <a:spcPts val="500"/>
              </a:spcAft>
              <a:defRPr sz="1300">
                <a:solidFill>
                  <a:srgbClr val="333333"/>
                </a:solidFill>
                <a:latin typeface="Calibri"/>
              </a:defRPr>
            </a:pPr>
            <a:r>
              <a:t>• Chooses a physical plan that can run across the cluster.</a:t>
            </a:r>
          </a:p>
        </p:txBody>
      </p:sp>
      <p:sp>
        <p:nvSpPr>
          <p:cNvPr id="5" name="Rounded Rectangle 4"/>
          <p:cNvSpPr/>
          <p:nvPr/>
        </p:nvSpPr>
        <p:spPr>
          <a:xfrm>
            <a:off x="438912" y="3273552"/>
            <a:ext cx="1024128" cy="566928"/>
          </a:xfrm>
          <a:prstGeom prst="roundRect">
            <a:avLst/>
          </a:prstGeom>
          <a:solidFill>
            <a:srgbClr val="E3F2FD"/>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19" b="1">
                <a:solidFill>
                  <a:srgbClr val="333333"/>
                </a:solidFill>
                <a:latin typeface="Calibri"/>
              </a:rPr>
              <a:t>SQL /
DataFrame API</a:t>
            </a:r>
          </a:p>
        </p:txBody>
      </p:sp>
      <p:sp>
        <p:nvSpPr>
          <p:cNvPr id="6" name="TextBox 5"/>
          <p:cNvSpPr txBox="1"/>
          <p:nvPr/>
        </p:nvSpPr>
        <p:spPr>
          <a:xfrm>
            <a:off x="1426464" y="3456432"/>
            <a:ext cx="256032" cy="164592"/>
          </a:xfrm>
          <a:prstGeom prst="rect">
            <a:avLst/>
          </a:prstGeom>
          <a:noFill/>
        </p:spPr>
        <p:txBody>
          <a:bodyPr wrap="square" lIns="73152" tIns="36576" rIns="73152" bIns="36576" anchor="t">
            <a:spAutoFit/>
          </a:bodyPr>
          <a:lstStyle/>
          <a:p>
            <a:pPr algn="ctr"/>
            <a:r>
              <a:rPr sz="1000" b="1">
                <a:solidFill>
                  <a:srgbClr val="002060"/>
                </a:solidFill>
                <a:latin typeface="Calibri"/>
              </a:rPr>
              <a:t>→</a:t>
            </a:r>
          </a:p>
        </p:txBody>
      </p:sp>
      <p:sp>
        <p:nvSpPr>
          <p:cNvPr id="7" name="Rounded Rectangle 6"/>
          <p:cNvSpPr/>
          <p:nvPr/>
        </p:nvSpPr>
        <p:spPr>
          <a:xfrm>
            <a:off x="1655064" y="3273552"/>
            <a:ext cx="1024128" cy="566928"/>
          </a:xfrm>
          <a:prstGeom prst="roundRect">
            <a:avLst/>
          </a:prstGeom>
          <a:solidFill>
            <a:srgbClr val="FFFFFF"/>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19" b="1">
                <a:solidFill>
                  <a:srgbClr val="333333"/>
                </a:solidFill>
                <a:latin typeface="Calibri"/>
              </a:rPr>
              <a:t>Unresolved
Logical Plan</a:t>
            </a:r>
          </a:p>
        </p:txBody>
      </p:sp>
      <p:sp>
        <p:nvSpPr>
          <p:cNvPr id="8" name="TextBox 7"/>
          <p:cNvSpPr txBox="1"/>
          <p:nvPr/>
        </p:nvSpPr>
        <p:spPr>
          <a:xfrm>
            <a:off x="2642616" y="3456432"/>
            <a:ext cx="256032" cy="164592"/>
          </a:xfrm>
          <a:prstGeom prst="rect">
            <a:avLst/>
          </a:prstGeom>
          <a:noFill/>
        </p:spPr>
        <p:txBody>
          <a:bodyPr wrap="square" lIns="73152" tIns="36576" rIns="73152" bIns="36576" anchor="t">
            <a:spAutoFit/>
          </a:bodyPr>
          <a:lstStyle/>
          <a:p>
            <a:pPr algn="ctr"/>
            <a:r>
              <a:rPr sz="1000" b="1">
                <a:solidFill>
                  <a:srgbClr val="002060"/>
                </a:solidFill>
                <a:latin typeface="Calibri"/>
              </a:rPr>
              <a:t>→</a:t>
            </a:r>
          </a:p>
        </p:txBody>
      </p:sp>
      <p:sp>
        <p:nvSpPr>
          <p:cNvPr id="9" name="Rounded Rectangle 8"/>
          <p:cNvSpPr/>
          <p:nvPr/>
        </p:nvSpPr>
        <p:spPr>
          <a:xfrm>
            <a:off x="2871216" y="3273552"/>
            <a:ext cx="1024128" cy="566928"/>
          </a:xfrm>
          <a:prstGeom prst="roundRect">
            <a:avLst/>
          </a:prstGeom>
          <a:solidFill>
            <a:srgbClr val="FFFFFF"/>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19" b="1">
                <a:solidFill>
                  <a:srgbClr val="333333"/>
                </a:solidFill>
                <a:latin typeface="Calibri"/>
              </a:rPr>
              <a:t>Analyzed
Logical Plan</a:t>
            </a:r>
          </a:p>
        </p:txBody>
      </p:sp>
      <p:sp>
        <p:nvSpPr>
          <p:cNvPr id="10" name="TextBox 9"/>
          <p:cNvSpPr txBox="1"/>
          <p:nvPr/>
        </p:nvSpPr>
        <p:spPr>
          <a:xfrm>
            <a:off x="3858768" y="3456432"/>
            <a:ext cx="256032" cy="164592"/>
          </a:xfrm>
          <a:prstGeom prst="rect">
            <a:avLst/>
          </a:prstGeom>
          <a:noFill/>
        </p:spPr>
        <p:txBody>
          <a:bodyPr wrap="square" lIns="73152" tIns="36576" rIns="73152" bIns="36576" anchor="t">
            <a:spAutoFit/>
          </a:bodyPr>
          <a:lstStyle/>
          <a:p>
            <a:pPr algn="ctr"/>
            <a:r>
              <a:rPr sz="1000" b="1">
                <a:solidFill>
                  <a:srgbClr val="002060"/>
                </a:solidFill>
                <a:latin typeface="Calibri"/>
              </a:rPr>
              <a:t>→</a:t>
            </a:r>
          </a:p>
        </p:txBody>
      </p:sp>
      <p:sp>
        <p:nvSpPr>
          <p:cNvPr id="11" name="Rounded Rectangle 10"/>
          <p:cNvSpPr/>
          <p:nvPr/>
        </p:nvSpPr>
        <p:spPr>
          <a:xfrm>
            <a:off x="4087368" y="3273552"/>
            <a:ext cx="1024128" cy="566928"/>
          </a:xfrm>
          <a:prstGeom prst="roundRect">
            <a:avLst/>
          </a:prstGeom>
          <a:solidFill>
            <a:srgbClr val="FFFFFF"/>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19" b="1">
                <a:solidFill>
                  <a:srgbClr val="333333"/>
                </a:solidFill>
                <a:latin typeface="Calibri"/>
              </a:rPr>
              <a:t>Optimized
Logical Plan</a:t>
            </a:r>
          </a:p>
        </p:txBody>
      </p:sp>
      <p:sp>
        <p:nvSpPr>
          <p:cNvPr id="12" name="TextBox 11"/>
          <p:cNvSpPr txBox="1"/>
          <p:nvPr/>
        </p:nvSpPr>
        <p:spPr>
          <a:xfrm>
            <a:off x="5074920" y="3456432"/>
            <a:ext cx="256032" cy="164592"/>
          </a:xfrm>
          <a:prstGeom prst="rect">
            <a:avLst/>
          </a:prstGeom>
          <a:noFill/>
        </p:spPr>
        <p:txBody>
          <a:bodyPr wrap="square" lIns="73152" tIns="36576" rIns="73152" bIns="36576" anchor="t">
            <a:spAutoFit/>
          </a:bodyPr>
          <a:lstStyle/>
          <a:p>
            <a:pPr algn="ctr"/>
            <a:r>
              <a:rPr sz="1000" b="1">
                <a:solidFill>
                  <a:srgbClr val="002060"/>
                </a:solidFill>
                <a:latin typeface="Calibri"/>
              </a:rPr>
              <a:t>→</a:t>
            </a:r>
          </a:p>
        </p:txBody>
      </p:sp>
      <p:sp>
        <p:nvSpPr>
          <p:cNvPr id="13" name="Rounded Rectangle 12"/>
          <p:cNvSpPr/>
          <p:nvPr/>
        </p:nvSpPr>
        <p:spPr>
          <a:xfrm>
            <a:off x="5303520" y="3273552"/>
            <a:ext cx="1024128" cy="566928"/>
          </a:xfrm>
          <a:prstGeom prst="roundRect">
            <a:avLst/>
          </a:prstGeom>
          <a:solidFill>
            <a:srgbClr val="FFFFFF"/>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19" b="1">
                <a:solidFill>
                  <a:srgbClr val="333333"/>
                </a:solidFill>
                <a:latin typeface="Calibri"/>
              </a:rPr>
              <a:t>Physical
Plans</a:t>
            </a:r>
          </a:p>
        </p:txBody>
      </p:sp>
      <p:sp>
        <p:nvSpPr>
          <p:cNvPr id="14" name="TextBox 13"/>
          <p:cNvSpPr txBox="1"/>
          <p:nvPr/>
        </p:nvSpPr>
        <p:spPr>
          <a:xfrm>
            <a:off x="6291072" y="3456432"/>
            <a:ext cx="256032" cy="164592"/>
          </a:xfrm>
          <a:prstGeom prst="rect">
            <a:avLst/>
          </a:prstGeom>
          <a:noFill/>
        </p:spPr>
        <p:txBody>
          <a:bodyPr wrap="square" lIns="73152" tIns="36576" rIns="73152" bIns="36576" anchor="t">
            <a:spAutoFit/>
          </a:bodyPr>
          <a:lstStyle/>
          <a:p>
            <a:pPr algn="ctr"/>
            <a:r>
              <a:rPr sz="1000" b="1">
                <a:solidFill>
                  <a:srgbClr val="002060"/>
                </a:solidFill>
                <a:latin typeface="Calibri"/>
              </a:rPr>
              <a:t>→</a:t>
            </a:r>
          </a:p>
        </p:txBody>
      </p:sp>
      <p:sp>
        <p:nvSpPr>
          <p:cNvPr id="15" name="Rounded Rectangle 14"/>
          <p:cNvSpPr/>
          <p:nvPr/>
        </p:nvSpPr>
        <p:spPr>
          <a:xfrm>
            <a:off x="6519672" y="3273552"/>
            <a:ext cx="1024128" cy="566928"/>
          </a:xfrm>
          <a:prstGeom prst="roundRect">
            <a:avLst/>
          </a:prstGeom>
          <a:solidFill>
            <a:srgbClr val="FFFFFF"/>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19" b="1">
                <a:solidFill>
                  <a:srgbClr val="333333"/>
                </a:solidFill>
                <a:latin typeface="Calibri"/>
              </a:rPr>
              <a:t>Selected
Physical Plan</a:t>
            </a:r>
          </a:p>
        </p:txBody>
      </p:sp>
      <p:sp>
        <p:nvSpPr>
          <p:cNvPr id="16" name="TextBox 15"/>
          <p:cNvSpPr txBox="1"/>
          <p:nvPr/>
        </p:nvSpPr>
        <p:spPr>
          <a:xfrm>
            <a:off x="7507224" y="3456432"/>
            <a:ext cx="256032" cy="164592"/>
          </a:xfrm>
          <a:prstGeom prst="rect">
            <a:avLst/>
          </a:prstGeom>
          <a:noFill/>
        </p:spPr>
        <p:txBody>
          <a:bodyPr wrap="square" lIns="73152" tIns="36576" rIns="73152" bIns="36576" anchor="t">
            <a:spAutoFit/>
          </a:bodyPr>
          <a:lstStyle/>
          <a:p>
            <a:pPr algn="ctr"/>
            <a:r>
              <a:rPr sz="1000" b="1">
                <a:solidFill>
                  <a:srgbClr val="002060"/>
                </a:solidFill>
                <a:latin typeface="Calibri"/>
              </a:rPr>
              <a:t>→</a:t>
            </a:r>
          </a:p>
        </p:txBody>
      </p:sp>
      <p:sp>
        <p:nvSpPr>
          <p:cNvPr id="17" name="Rounded Rectangle 16"/>
          <p:cNvSpPr/>
          <p:nvPr/>
        </p:nvSpPr>
        <p:spPr>
          <a:xfrm>
            <a:off x="7735824" y="3273552"/>
            <a:ext cx="1024128" cy="566928"/>
          </a:xfrm>
          <a:prstGeom prst="roundRect">
            <a:avLst/>
          </a:prstGeom>
          <a:solidFill>
            <a:srgbClr val="E3F2FD"/>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19" b="1">
                <a:solidFill>
                  <a:srgbClr val="333333"/>
                </a:solidFill>
                <a:latin typeface="Calibri"/>
              </a:rPr>
              <a:t>RDDs</a:t>
            </a:r>
          </a:p>
        </p:txBody>
      </p:sp>
      <p:sp>
        <p:nvSpPr>
          <p:cNvPr id="18" name="TextBox 17"/>
          <p:cNvSpPr txBox="1"/>
          <p:nvPr/>
        </p:nvSpPr>
        <p:spPr>
          <a:xfrm>
            <a:off x="1508760" y="4096512"/>
            <a:ext cx="1234440" cy="201168"/>
          </a:xfrm>
          <a:prstGeom prst="rect">
            <a:avLst/>
          </a:prstGeom>
          <a:noFill/>
        </p:spPr>
        <p:txBody>
          <a:bodyPr wrap="square" lIns="73152" tIns="36576" rIns="73152" bIns="36576" anchor="t">
            <a:spAutoFit/>
          </a:bodyPr>
          <a:lstStyle/>
          <a:p>
            <a:pPr algn="ctr"/>
            <a:r>
              <a:rPr sz="850" b="0">
                <a:solidFill>
                  <a:srgbClr val="585858"/>
                </a:solidFill>
                <a:latin typeface="Calibri"/>
              </a:rPr>
              <a:t>Analysis</a:t>
            </a:r>
          </a:p>
        </p:txBody>
      </p:sp>
      <p:sp>
        <p:nvSpPr>
          <p:cNvPr id="19" name="TextBox 18"/>
          <p:cNvSpPr txBox="1"/>
          <p:nvPr/>
        </p:nvSpPr>
        <p:spPr>
          <a:xfrm>
            <a:off x="2816352" y="4096512"/>
            <a:ext cx="1508760" cy="201168"/>
          </a:xfrm>
          <a:prstGeom prst="rect">
            <a:avLst/>
          </a:prstGeom>
          <a:noFill/>
        </p:spPr>
        <p:txBody>
          <a:bodyPr wrap="square" lIns="73152" tIns="36576" rIns="73152" bIns="36576" anchor="t">
            <a:spAutoFit/>
          </a:bodyPr>
          <a:lstStyle/>
          <a:p>
            <a:pPr algn="ctr"/>
            <a:r>
              <a:rPr sz="850" b="0">
                <a:solidFill>
                  <a:srgbClr val="585858"/>
                </a:solidFill>
                <a:latin typeface="Calibri"/>
              </a:rPr>
              <a:t>Logical optimization</a:t>
            </a:r>
          </a:p>
        </p:txBody>
      </p:sp>
      <p:sp>
        <p:nvSpPr>
          <p:cNvPr id="20" name="TextBox 19"/>
          <p:cNvSpPr txBox="1"/>
          <p:nvPr/>
        </p:nvSpPr>
        <p:spPr>
          <a:xfrm>
            <a:off x="4617720" y="4096512"/>
            <a:ext cx="1234440" cy="201168"/>
          </a:xfrm>
          <a:prstGeom prst="rect">
            <a:avLst/>
          </a:prstGeom>
          <a:noFill/>
        </p:spPr>
        <p:txBody>
          <a:bodyPr wrap="square" lIns="73152" tIns="36576" rIns="73152" bIns="36576" anchor="t">
            <a:spAutoFit/>
          </a:bodyPr>
          <a:lstStyle/>
          <a:p>
            <a:pPr algn="ctr"/>
            <a:r>
              <a:rPr sz="850" b="0">
                <a:solidFill>
                  <a:srgbClr val="585858"/>
                </a:solidFill>
                <a:latin typeface="Calibri"/>
              </a:rPr>
              <a:t>Physical planning</a:t>
            </a:r>
          </a:p>
        </p:txBody>
      </p:sp>
      <p:sp>
        <p:nvSpPr>
          <p:cNvPr id="21" name="TextBox 20"/>
          <p:cNvSpPr txBox="1"/>
          <p:nvPr/>
        </p:nvSpPr>
        <p:spPr>
          <a:xfrm>
            <a:off x="6400800" y="4096512"/>
            <a:ext cx="1325880" cy="201168"/>
          </a:xfrm>
          <a:prstGeom prst="rect">
            <a:avLst/>
          </a:prstGeom>
          <a:noFill/>
        </p:spPr>
        <p:txBody>
          <a:bodyPr wrap="square" lIns="73152" tIns="36576" rIns="73152" bIns="36576" anchor="t">
            <a:spAutoFit/>
          </a:bodyPr>
          <a:lstStyle/>
          <a:p>
            <a:pPr algn="ctr"/>
            <a:r>
              <a:rPr sz="850" b="0">
                <a:solidFill>
                  <a:srgbClr val="585858"/>
                </a:solidFill>
                <a:latin typeface="Calibri"/>
              </a:rPr>
              <a:t>Code generation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20</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DataFrame API — Creating DataFrames</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DataFrames combine schema, distributed partitions, and optimized operations.</a:t>
            </a:r>
          </a:p>
          <a:p>
            <a:pPr>
              <a:spcAft>
                <a:spcPts val="500"/>
              </a:spcAft>
              <a:defRPr sz="1300">
                <a:solidFill>
                  <a:srgbClr val="333333"/>
                </a:solidFill>
                <a:latin typeface="Calibri"/>
              </a:defRPr>
            </a:pPr>
            <a:r>
              <a:t>• Explicit schemas avoid inference surprises and speed up file reads.</a:t>
            </a:r>
          </a:p>
        </p:txBody>
      </p:sp>
      <p:sp>
        <p:nvSpPr>
          <p:cNvPr id="5" name="Rounded Rectangle 4"/>
          <p:cNvSpPr/>
          <p:nvPr/>
        </p:nvSpPr>
        <p:spPr>
          <a:xfrm>
            <a:off x="594360" y="2633472"/>
            <a:ext cx="7955279" cy="3337560"/>
          </a:xfrm>
          <a:prstGeom prst="roundRect">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100">
                <a:solidFill>
                  <a:srgbClr val="1B1B1B"/>
                </a:solidFill>
                <a:latin typeface="Consolas"/>
              </a:rPr>
              <a:t>customers_df = (
    spark.read
    .option("header", "true")
    .schema(CUSTOMER_SCHEMA)
    .csv("data/customers.csv")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21</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DataFrame Operations: select, filter, withColumn, groupBy</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Use select to project only needed columns.</a:t>
            </a:r>
          </a:p>
          <a:p>
            <a:pPr>
              <a:spcAft>
                <a:spcPts val="500"/>
              </a:spcAft>
              <a:defRPr sz="1300">
                <a:solidFill>
                  <a:srgbClr val="333333"/>
                </a:solidFill>
                <a:latin typeface="Calibri"/>
              </a:defRPr>
            </a:pPr>
            <a:r>
              <a:t>• Use filter to reduce rows before expensive operations.</a:t>
            </a:r>
          </a:p>
          <a:p>
            <a:pPr>
              <a:spcAft>
                <a:spcPts val="500"/>
              </a:spcAft>
              <a:defRPr sz="1300">
                <a:solidFill>
                  <a:srgbClr val="333333"/>
                </a:solidFill>
                <a:latin typeface="Calibri"/>
              </a:defRPr>
            </a:pPr>
            <a:r>
              <a:t>• Use groupBy for aggregations that produce KPI-ready summaries.</a:t>
            </a:r>
          </a:p>
        </p:txBody>
      </p:sp>
      <p:sp>
        <p:nvSpPr>
          <p:cNvPr id="5" name="Rounded Rectangle 4"/>
          <p:cNvSpPr/>
          <p:nvPr/>
        </p:nvSpPr>
        <p:spPr>
          <a:xfrm>
            <a:off x="594360" y="2633472"/>
            <a:ext cx="7955279" cy="3337560"/>
          </a:xfrm>
          <a:prstGeom prst="roundRect">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100">
                <a:solidFill>
                  <a:srgbClr val="1B1B1B"/>
                </a:solidFill>
                <a:latin typeface="Consolas"/>
              </a:rPr>
              <a:t>from pyspark.sql import functions as F
summary = (
    orders
    .filter(F.col("status") != "CANCELLED")
    .groupBy("event_date")
    .agg(F.round(F.sum("amount"), 2).alias("daily_revenue"))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22</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Column Expressions and Functions</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F.col references existing columns in a composable way.</a:t>
            </a:r>
          </a:p>
          <a:p>
            <a:pPr>
              <a:spcAft>
                <a:spcPts val="500"/>
              </a:spcAft>
              <a:defRPr sz="1300">
                <a:solidFill>
                  <a:srgbClr val="333333"/>
                </a:solidFill>
                <a:latin typeface="Calibri"/>
              </a:defRPr>
            </a:pPr>
            <a:r>
              <a:t>• F.lit injects constants into expressions.</a:t>
            </a:r>
          </a:p>
          <a:p>
            <a:pPr>
              <a:spcAft>
                <a:spcPts val="500"/>
              </a:spcAft>
              <a:defRPr sz="1300">
                <a:solidFill>
                  <a:srgbClr val="333333"/>
                </a:solidFill>
                <a:latin typeface="Calibri"/>
              </a:defRPr>
            </a:pPr>
            <a:r>
              <a:t>• F.when creates conditional logic without leaving the DataFrame API.</a:t>
            </a:r>
          </a:p>
        </p:txBody>
      </p:sp>
      <p:sp>
        <p:nvSpPr>
          <p:cNvPr id="5" name="Rounded Rectangle 4"/>
          <p:cNvSpPr/>
          <p:nvPr/>
        </p:nvSpPr>
        <p:spPr>
          <a:xfrm>
            <a:off x="594360" y="2633472"/>
            <a:ext cx="7955279" cy="3337560"/>
          </a:xfrm>
          <a:prstGeom prst="roundRect">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100">
                <a:solidFill>
                  <a:srgbClr val="1B1B1B"/>
                </a:solidFill>
                <a:latin typeface="Consolas"/>
              </a:rPr>
              <a:t>from pyspark.sql import functions as F
orders = (
    orders
    .withColumn("status_norm", F.upper(F.trim(F.col("status"))))
    .withColumn("is_revenue", F.col("status_norm") != F.lit("CANCELLED"))
    .withColumn(
        "priority",
        F.when(F.col("amount") &gt;= 500, F.lit("HIGH")).otherwise(F.lit("STANDARD")),
    )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23</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Schema Definition with StructType</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StructType defines the column contract before reading raw files.</a:t>
            </a:r>
          </a:p>
          <a:p>
            <a:pPr>
              <a:spcAft>
                <a:spcPts val="500"/>
              </a:spcAft>
              <a:defRPr sz="1300">
                <a:solidFill>
                  <a:srgbClr val="333333"/>
                </a:solidFill>
                <a:latin typeface="Calibri"/>
              </a:defRPr>
            </a:pPr>
            <a:r>
              <a:t>• StructField captures name, type, and nullability.</a:t>
            </a:r>
          </a:p>
          <a:p>
            <a:pPr>
              <a:spcAft>
                <a:spcPts val="500"/>
              </a:spcAft>
              <a:defRPr sz="1300">
                <a:solidFill>
                  <a:srgbClr val="333333"/>
                </a:solidFill>
                <a:latin typeface="Calibri"/>
              </a:defRPr>
            </a:pPr>
            <a:r>
              <a:t>• Schema contracts are the first defense against silent data drift.</a:t>
            </a:r>
          </a:p>
        </p:txBody>
      </p:sp>
      <p:sp>
        <p:nvSpPr>
          <p:cNvPr id="5" name="Rounded Rectangle 4"/>
          <p:cNvSpPr/>
          <p:nvPr/>
        </p:nvSpPr>
        <p:spPr>
          <a:xfrm>
            <a:off x="594360" y="2633472"/>
            <a:ext cx="7955279" cy="3337560"/>
          </a:xfrm>
          <a:prstGeom prst="roundRect">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100">
                <a:solidFill>
                  <a:srgbClr val="1B1B1B"/>
                </a:solidFill>
                <a:latin typeface="Consolas"/>
              </a:rPr>
              <a:t>from pyspark.sql.types import StructField, StructType, StringType
CUSTOMER_SCHEMA = StructType([
    StructField("customer_id", StringType(), False),
    StructField("customer_name", StringType(), True),
    StructField("email", StringType(), True),
    StructField("country", StringType(), True),
    StructField("segment", StringType(), True),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24</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Reading CSV Files with Explicit Schema</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Use header=true when the first row contains column names.</a:t>
            </a:r>
          </a:p>
          <a:p>
            <a:pPr>
              <a:spcAft>
                <a:spcPts val="500"/>
              </a:spcAft>
              <a:defRPr sz="1300">
                <a:solidFill>
                  <a:srgbClr val="333333"/>
                </a:solidFill>
                <a:latin typeface="Calibri"/>
              </a:defRPr>
            </a:pPr>
            <a:r>
              <a:t>• Use mode=PERMISSIVE for lab exploration, then tighten in production.</a:t>
            </a:r>
          </a:p>
          <a:p>
            <a:pPr>
              <a:spcAft>
                <a:spcPts val="500"/>
              </a:spcAft>
              <a:defRPr sz="1300">
                <a:solidFill>
                  <a:srgbClr val="333333"/>
                </a:solidFill>
                <a:latin typeface="Calibri"/>
              </a:defRPr>
            </a:pPr>
            <a:r>
              <a:t>• Attach the same schema every time to keep reads repeatable.</a:t>
            </a:r>
          </a:p>
        </p:txBody>
      </p:sp>
      <p:sp>
        <p:nvSpPr>
          <p:cNvPr id="5" name="Rounded Rectangle 4"/>
          <p:cNvSpPr/>
          <p:nvPr/>
        </p:nvSpPr>
        <p:spPr>
          <a:xfrm>
            <a:off x="594360" y="2633472"/>
            <a:ext cx="7955279" cy="3337560"/>
          </a:xfrm>
          <a:prstGeom prst="roundRect">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100">
                <a:solidFill>
                  <a:srgbClr val="1B1B1B"/>
                </a:solidFill>
                <a:latin typeface="Consolas"/>
              </a:rPr>
              <a:t>customers = (
    spark.read
    .option("header", "true")
    .option("mode", "PERMISSIVE")
    .schema(CUSTOMER_SCHEMA)
    .csv("data/raw/customers.csv")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25</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Reading JSON Files</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JSON Lines keeps one event per line and is friendly to distributed reads.</a:t>
            </a:r>
          </a:p>
          <a:p>
            <a:pPr>
              <a:spcAft>
                <a:spcPts val="500"/>
              </a:spcAft>
              <a:defRPr sz="1300">
                <a:solidFill>
                  <a:srgbClr val="333333"/>
                </a:solidFill>
                <a:latin typeface="Calibri"/>
              </a:defRPr>
            </a:pPr>
            <a:r>
              <a:t>• Explicit schemas protect nested or semi-structured event feeds.</a:t>
            </a:r>
          </a:p>
          <a:p>
            <a:pPr>
              <a:spcAft>
                <a:spcPts val="500"/>
              </a:spcAft>
              <a:defRPr sz="1300">
                <a:solidFill>
                  <a:srgbClr val="333333"/>
                </a:solidFill>
                <a:latin typeface="Calibri"/>
              </a:defRPr>
            </a:pPr>
            <a:r>
              <a:t>• Order events are the fact stream used throughout the Medallion labs.</a:t>
            </a:r>
          </a:p>
        </p:txBody>
      </p:sp>
      <p:sp>
        <p:nvSpPr>
          <p:cNvPr id="5" name="Rounded Rectangle 4"/>
          <p:cNvSpPr/>
          <p:nvPr/>
        </p:nvSpPr>
        <p:spPr>
          <a:xfrm>
            <a:off x="594360" y="2633472"/>
            <a:ext cx="7955279" cy="3337560"/>
          </a:xfrm>
          <a:prstGeom prst="roundRect">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100">
                <a:solidFill>
                  <a:srgbClr val="1B1B1B"/>
                </a:solidFill>
                <a:latin typeface="Consolas"/>
              </a:rPr>
              <a:t>order_events = (
    spark.read
    .schema(ORDER_EVENT_SCHEMA)
    .json("data/raw/order_events/*.jsonl")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26</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Writing Data — Parquet Format</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Parquet is columnar, compressed, and optimized for analytics.</a:t>
            </a:r>
          </a:p>
          <a:p>
            <a:pPr>
              <a:spcAft>
                <a:spcPts val="500"/>
              </a:spcAft>
              <a:defRPr sz="1300">
                <a:solidFill>
                  <a:srgbClr val="333333"/>
                </a:solidFill>
                <a:latin typeface="Calibri"/>
              </a:defRPr>
            </a:pPr>
            <a:r>
              <a:t>• Overwrite is useful for deterministic lab outputs.</a:t>
            </a:r>
          </a:p>
          <a:p>
            <a:pPr>
              <a:spcAft>
                <a:spcPts val="500"/>
              </a:spcAft>
              <a:defRPr sz="1300">
                <a:solidFill>
                  <a:srgbClr val="333333"/>
                </a:solidFill>
                <a:latin typeface="Calibri"/>
              </a:defRPr>
            </a:pPr>
            <a:r>
              <a:t>• Append is common for production Bronze ingestion.</a:t>
            </a:r>
          </a:p>
        </p:txBody>
      </p:sp>
      <p:sp>
        <p:nvSpPr>
          <p:cNvPr id="5" name="Rounded Rectangle 4"/>
          <p:cNvSpPr/>
          <p:nvPr/>
        </p:nvSpPr>
        <p:spPr>
          <a:xfrm>
            <a:off x="594360" y="2633472"/>
            <a:ext cx="7955279" cy="3337560"/>
          </a:xfrm>
          <a:prstGeom prst="roundRect">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100">
                <a:solidFill>
                  <a:srgbClr val="1B1B1B"/>
                </a:solidFill>
                <a:latin typeface="Consolas"/>
              </a:rPr>
              <a:t>(
    customers
    .write
    .mode("overwrite")
    .format("parquet")
    .save("output/bronze/customers")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29</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Spark SQL — Temp Views and SQL Queries</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Temp views let SQL and DataFrame workflows share the same data.</a:t>
            </a:r>
          </a:p>
          <a:p>
            <a:pPr>
              <a:spcAft>
                <a:spcPts val="500"/>
              </a:spcAft>
              <a:defRPr sz="1300">
                <a:solidFill>
                  <a:srgbClr val="333333"/>
                </a:solidFill>
                <a:latin typeface="Calibri"/>
              </a:defRPr>
            </a:pPr>
            <a:r>
              <a:t>• This is useful when analysts and engineers collaborate on logic.</a:t>
            </a:r>
          </a:p>
        </p:txBody>
      </p:sp>
      <p:sp>
        <p:nvSpPr>
          <p:cNvPr id="5" name="Rounded Rectangle 4"/>
          <p:cNvSpPr/>
          <p:nvPr/>
        </p:nvSpPr>
        <p:spPr>
          <a:xfrm>
            <a:off x="594360" y="2633472"/>
            <a:ext cx="7955279" cy="3337560"/>
          </a:xfrm>
          <a:prstGeom prst="roundRect">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100">
                <a:solidFill>
                  <a:srgbClr val="1B1B1B"/>
                </a:solidFill>
                <a:latin typeface="Consolas"/>
              </a:rPr>
              <a:t>orders.createOrReplaceTempView("orders")
spark.sql("""
SELECT status, COUNT(*) AS order_count
FROM orders
GROUP BY status
ORDER BY order_count DESC
""").show()</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30</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Spark SQL — GROUP BY, Aggregations, ORDER BY</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GROUP BY defines the grain of the result.</a:t>
            </a:r>
          </a:p>
          <a:p>
            <a:pPr>
              <a:spcAft>
                <a:spcPts val="500"/>
              </a:spcAft>
              <a:defRPr sz="1300">
                <a:solidFill>
                  <a:srgbClr val="333333"/>
                </a:solidFill>
                <a:latin typeface="Calibri"/>
              </a:defRPr>
            </a:pPr>
            <a:r>
              <a:t>• Aggregations calculate metrics at that grain.</a:t>
            </a:r>
          </a:p>
          <a:p>
            <a:pPr>
              <a:spcAft>
                <a:spcPts val="500"/>
              </a:spcAft>
              <a:defRPr sz="1300">
                <a:solidFill>
                  <a:srgbClr val="333333"/>
                </a:solidFill>
                <a:latin typeface="Calibri"/>
              </a:defRPr>
            </a:pPr>
            <a:r>
              <a:t>• ORDER BY makes small inspection outputs easier to read.</a:t>
            </a:r>
          </a:p>
        </p:txBody>
      </p:sp>
      <p:sp>
        <p:nvSpPr>
          <p:cNvPr id="5" name="Rounded Rectangle 4"/>
          <p:cNvSpPr/>
          <p:nvPr/>
        </p:nvSpPr>
        <p:spPr>
          <a:xfrm>
            <a:off x="594360" y="2633472"/>
            <a:ext cx="7955279" cy="3337560"/>
          </a:xfrm>
          <a:prstGeom prst="roundRect">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100">
                <a:solidFill>
                  <a:srgbClr val="1B1B1B"/>
                </a:solidFill>
                <a:latin typeface="Consolas"/>
              </a:rPr>
              <a:t>spark.sql("""
SELECT
  event_date,
  status,
  ROUND(SUM(amount), 2) AS raw_amount_total
FROM orders
GROUP BY event_date, status
ORDER BY event_date, status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31</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Quiz: What is Lazy Evaluation?</a:t>
            </a:r>
          </a:p>
        </p:txBody>
      </p:sp>
      <p:sp>
        <p:nvSpPr>
          <p:cNvPr id="4" name="TextBox 3"/>
          <p:cNvSpPr txBox="1"/>
          <p:nvPr/>
        </p:nvSpPr>
        <p:spPr>
          <a:xfrm>
            <a:off x="658368" y="914400"/>
            <a:ext cx="7863840" cy="292608"/>
          </a:xfrm>
          <a:prstGeom prst="rect">
            <a:avLst/>
          </a:prstGeom>
          <a:noFill/>
        </p:spPr>
        <p:txBody>
          <a:bodyPr wrap="square" lIns="73152" tIns="36576" rIns="73152" bIns="36576" anchor="t">
            <a:spAutoFit/>
          </a:bodyPr>
          <a:lstStyle/>
          <a:p>
            <a:pPr algn="l"/>
            <a:r>
              <a:rPr sz="1600" b="0">
                <a:solidFill>
                  <a:srgbClr val="585858"/>
                </a:solidFill>
                <a:latin typeface="Calibri"/>
              </a:rPr>
              <a:t>Choose the best answer.</a:t>
            </a:r>
          </a:p>
        </p:txBody>
      </p:sp>
      <p:sp>
        <p:nvSpPr>
          <p:cNvPr id="5" name="Rounded Rectangle 4"/>
          <p:cNvSpPr/>
          <p:nvPr/>
        </p:nvSpPr>
        <p:spPr>
          <a:xfrm>
            <a:off x="822960" y="1481328"/>
            <a:ext cx="7498079" cy="420624"/>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A. Spark executes every transformation immediately.</a:t>
            </a:r>
          </a:p>
        </p:txBody>
      </p:sp>
      <p:sp>
        <p:nvSpPr>
          <p:cNvPr id="6" name="Rounded Rectangle 5"/>
          <p:cNvSpPr/>
          <p:nvPr/>
        </p:nvSpPr>
        <p:spPr>
          <a:xfrm>
            <a:off x="822960" y="2139696"/>
            <a:ext cx="7498079" cy="420624"/>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B. Spark builds a plan and runs it only when an action is called.</a:t>
            </a:r>
          </a:p>
        </p:txBody>
      </p:sp>
      <p:sp>
        <p:nvSpPr>
          <p:cNvPr id="7" name="Rounded Rectangle 6"/>
          <p:cNvSpPr/>
          <p:nvPr/>
        </p:nvSpPr>
        <p:spPr>
          <a:xfrm>
            <a:off x="822960" y="2798064"/>
            <a:ext cx="7498079" cy="420624"/>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C. Spark stores all data permanently in memory.</a:t>
            </a:r>
          </a:p>
        </p:txBody>
      </p:sp>
      <p:sp>
        <p:nvSpPr>
          <p:cNvPr id="8" name="Rounded Rectangle 7"/>
          <p:cNvSpPr/>
          <p:nvPr/>
        </p:nvSpPr>
        <p:spPr>
          <a:xfrm>
            <a:off x="822960" y="3456432"/>
            <a:ext cx="7498079" cy="420624"/>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D. Spark disables query optimization for DataFrames.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32</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Answer: What is Lazy Evaluation?</a:t>
            </a:r>
          </a:p>
        </p:txBody>
      </p:sp>
      <p:sp>
        <p:nvSpPr>
          <p:cNvPr id="4" name="TextBox 3"/>
          <p:cNvSpPr txBox="1"/>
          <p:nvPr/>
        </p:nvSpPr>
        <p:spPr>
          <a:xfrm>
            <a:off x="658368" y="914400"/>
            <a:ext cx="7863840" cy="292608"/>
          </a:xfrm>
          <a:prstGeom prst="rect">
            <a:avLst/>
          </a:prstGeom>
          <a:noFill/>
        </p:spPr>
        <p:txBody>
          <a:bodyPr wrap="square" lIns="73152" tIns="36576" rIns="73152" bIns="36576" anchor="t">
            <a:spAutoFit/>
          </a:bodyPr>
          <a:lstStyle/>
          <a:p>
            <a:pPr algn="l"/>
            <a:r>
              <a:rPr sz="1600" b="0">
                <a:solidFill>
                  <a:srgbClr val="585858"/>
                </a:solidFill>
                <a:latin typeface="Calibri"/>
              </a:rPr>
              <a:t>Review the correct answer and why it matters.</a:t>
            </a:r>
          </a:p>
        </p:txBody>
      </p:sp>
      <p:sp>
        <p:nvSpPr>
          <p:cNvPr id="5" name="Rounded Rectangle 4"/>
          <p:cNvSpPr/>
          <p:nvPr/>
        </p:nvSpPr>
        <p:spPr>
          <a:xfrm>
            <a:off x="822960" y="1481328"/>
            <a:ext cx="7498079" cy="420624"/>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A. Spark executes every transformation immediately.</a:t>
            </a:r>
          </a:p>
        </p:txBody>
      </p:sp>
      <p:sp>
        <p:nvSpPr>
          <p:cNvPr id="6" name="Rounded Rectangle 5"/>
          <p:cNvSpPr/>
          <p:nvPr/>
        </p:nvSpPr>
        <p:spPr>
          <a:xfrm>
            <a:off x="822960" y="2139696"/>
            <a:ext cx="7498079" cy="420624"/>
          </a:xfrm>
          <a:prstGeom prst="roundRect">
            <a:avLst/>
          </a:prstGeom>
          <a:solidFill>
            <a:srgbClr val="E9F7EF"/>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1">
                <a:solidFill>
                  <a:srgbClr val="333333"/>
                </a:solidFill>
                <a:latin typeface="Calibri"/>
              </a:rPr>
              <a:t>✓ B. Spark builds a plan and runs it only when an action is called.</a:t>
            </a:r>
          </a:p>
        </p:txBody>
      </p:sp>
      <p:sp>
        <p:nvSpPr>
          <p:cNvPr id="7" name="Rounded Rectangle 6"/>
          <p:cNvSpPr/>
          <p:nvPr/>
        </p:nvSpPr>
        <p:spPr>
          <a:xfrm>
            <a:off x="822960" y="2798064"/>
            <a:ext cx="7498079" cy="420624"/>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C. Spark stores all data permanently in memory.</a:t>
            </a:r>
          </a:p>
        </p:txBody>
      </p:sp>
      <p:sp>
        <p:nvSpPr>
          <p:cNvPr id="8" name="Rounded Rectangle 7"/>
          <p:cNvSpPr/>
          <p:nvPr/>
        </p:nvSpPr>
        <p:spPr>
          <a:xfrm>
            <a:off x="822960" y="3456432"/>
            <a:ext cx="7498079" cy="420624"/>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D. Spark disables query optimization for DataFrames.</a:t>
            </a:r>
          </a:p>
        </p:txBody>
      </p:sp>
      <p:sp>
        <p:nvSpPr>
          <p:cNvPr id="9" name="Rounded Rectangle 8"/>
          <p:cNvSpPr/>
          <p:nvPr/>
        </p:nvSpPr>
        <p:spPr>
          <a:xfrm>
            <a:off x="822960" y="5074920"/>
            <a:ext cx="7498079" cy="621792"/>
          </a:xfrm>
          <a:prstGeom prst="roundRect">
            <a:avLst/>
          </a:prstGeom>
          <a:solidFill>
            <a:srgbClr val="F5FBF7"/>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200" b="0">
                <a:solidFill>
                  <a:srgbClr val="333333"/>
                </a:solidFill>
                <a:latin typeface="Calibri"/>
              </a:rPr>
              <a:t>Correct: transformations are deferred until an action gives Spark a reason to execute the plan.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33</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Storage Formats Compared</a:t>
            </a:r>
          </a:p>
        </p:txBody>
      </p:sp>
      <p:graphicFrame>
        <p:nvGraphicFramePr>
          <p:cNvPr id="4" name="Table 3"/>
          <p:cNvGraphicFramePr>
            <a:graphicFrameLocks noGrp="1"/>
          </p:cNvGraphicFramePr>
          <p:nvPr/>
        </p:nvGraphicFramePr>
        <p:xfrm>
          <a:off x="530352" y="1143000"/>
          <a:ext cx="8092440" cy="4983480"/>
        </p:xfrm>
        <a:graphic>
          <a:graphicData uri="http://schemas.openxmlformats.org/drawingml/2006/table">
            <a:tbl>
              <a:tblPr firstRow="1" bandRow="1">
                <a:tableStyleId>{5C22544A-7EE6-4342-B048-85BDC9FD1C3A}</a:tableStyleId>
              </a:tblPr>
              <a:tblGrid>
                <a:gridCol w="1618488">
                  <a:extLst>
                    <a:ext uri="{9D8B030D-6E8A-4147-A177-3AD203B41FA5}">
                      <a16:colId xmlns:a16="http://schemas.microsoft.com/office/drawing/2014/main" val="20000"/>
                    </a:ext>
                  </a:extLst>
                </a:gridCol>
                <a:gridCol w="1618488">
                  <a:extLst>
                    <a:ext uri="{9D8B030D-6E8A-4147-A177-3AD203B41FA5}">
                      <a16:colId xmlns:a16="http://schemas.microsoft.com/office/drawing/2014/main" val="20001"/>
                    </a:ext>
                  </a:extLst>
                </a:gridCol>
                <a:gridCol w="1618488">
                  <a:extLst>
                    <a:ext uri="{9D8B030D-6E8A-4147-A177-3AD203B41FA5}">
                      <a16:colId xmlns:a16="http://schemas.microsoft.com/office/drawing/2014/main" val="20002"/>
                    </a:ext>
                  </a:extLst>
                </a:gridCol>
                <a:gridCol w="1618488">
                  <a:extLst>
                    <a:ext uri="{9D8B030D-6E8A-4147-A177-3AD203B41FA5}">
                      <a16:colId xmlns:a16="http://schemas.microsoft.com/office/drawing/2014/main" val="20003"/>
                    </a:ext>
                  </a:extLst>
                </a:gridCol>
                <a:gridCol w="1618488">
                  <a:extLst>
                    <a:ext uri="{9D8B030D-6E8A-4147-A177-3AD203B41FA5}">
                      <a16:colId xmlns:a16="http://schemas.microsoft.com/office/drawing/2014/main" val="20004"/>
                    </a:ext>
                  </a:extLst>
                </a:gridCol>
              </a:tblGrid>
              <a:tr h="711925">
                <a:tc>
                  <a:txBody>
                    <a:bodyPr/>
                    <a:lstStyle/>
                    <a:p>
                      <a:pPr algn="ctr"/>
                      <a:r>
                        <a:rPr sz="740" b="1">
                          <a:solidFill>
                            <a:srgbClr val="FFFFFF"/>
                          </a:solidFill>
                          <a:latin typeface="Calibri"/>
                        </a:rPr>
                        <a:t>Feature</a:t>
                      </a:r>
                    </a:p>
                  </a:txBody>
                  <a:tcPr>
                    <a:solidFill>
                      <a:srgbClr val="002060"/>
                    </a:solidFill>
                  </a:tcPr>
                </a:tc>
                <a:tc>
                  <a:txBody>
                    <a:bodyPr/>
                    <a:lstStyle/>
                    <a:p>
                      <a:pPr algn="ctr"/>
                      <a:r>
                        <a:rPr sz="740" b="1">
                          <a:solidFill>
                            <a:srgbClr val="FFFFFF"/>
                          </a:solidFill>
                          <a:latin typeface="Calibri"/>
                        </a:rPr>
                        <a:t>CSV</a:t>
                      </a:r>
                    </a:p>
                  </a:txBody>
                  <a:tcPr>
                    <a:solidFill>
                      <a:srgbClr val="002060"/>
                    </a:solidFill>
                  </a:tcPr>
                </a:tc>
                <a:tc>
                  <a:txBody>
                    <a:bodyPr/>
                    <a:lstStyle/>
                    <a:p>
                      <a:pPr algn="ctr"/>
                      <a:r>
                        <a:rPr sz="740" b="1">
                          <a:solidFill>
                            <a:srgbClr val="FFFFFF"/>
                          </a:solidFill>
                          <a:latin typeface="Calibri"/>
                        </a:rPr>
                        <a:t>JSON</a:t>
                      </a:r>
                    </a:p>
                  </a:txBody>
                  <a:tcPr>
                    <a:solidFill>
                      <a:srgbClr val="002060"/>
                    </a:solidFill>
                  </a:tcPr>
                </a:tc>
                <a:tc>
                  <a:txBody>
                    <a:bodyPr/>
                    <a:lstStyle/>
                    <a:p>
                      <a:pPr algn="ctr"/>
                      <a:r>
                        <a:rPr sz="740" b="1">
                          <a:solidFill>
                            <a:srgbClr val="FFFFFF"/>
                          </a:solidFill>
                          <a:latin typeface="Calibri"/>
                        </a:rPr>
                        <a:t>Parquet</a:t>
                      </a:r>
                    </a:p>
                  </a:txBody>
                  <a:tcPr>
                    <a:solidFill>
                      <a:srgbClr val="002060"/>
                    </a:solidFill>
                  </a:tcPr>
                </a:tc>
                <a:tc>
                  <a:txBody>
                    <a:bodyPr/>
                    <a:lstStyle/>
                    <a:p>
                      <a:pPr algn="ctr"/>
                      <a:r>
                        <a:rPr sz="740" b="1">
                          <a:solidFill>
                            <a:srgbClr val="FFFFFF"/>
                          </a:solidFill>
                          <a:latin typeface="Calibri"/>
                        </a:rPr>
                        <a:t>ORC</a:t>
                      </a:r>
                    </a:p>
                  </a:txBody>
                  <a:tcPr>
                    <a:solidFill>
                      <a:srgbClr val="002060"/>
                    </a:solidFill>
                  </a:tcPr>
                </a:tc>
                <a:extLst>
                  <a:ext uri="{0D108BD9-81ED-4DB2-BD59-A6C34878D82A}">
                    <a16:rowId xmlns:a16="http://schemas.microsoft.com/office/drawing/2014/main" val="10000"/>
                  </a:ext>
                </a:extLst>
              </a:tr>
              <a:tr h="711925">
                <a:tc>
                  <a:txBody>
                    <a:bodyPr/>
                    <a:lstStyle/>
                    <a:p>
                      <a:pPr algn="l"/>
                      <a:r>
                        <a:rPr sz="740" b="0">
                          <a:solidFill>
                            <a:srgbClr val="333333"/>
                          </a:solidFill>
                          <a:latin typeface="Calibri"/>
                        </a:rPr>
                        <a:t>Format type</a:t>
                      </a:r>
                    </a:p>
                  </a:txBody>
                  <a:tcPr>
                    <a:solidFill>
                      <a:srgbClr val="FFFFFF"/>
                    </a:solidFill>
                  </a:tcPr>
                </a:tc>
                <a:tc>
                  <a:txBody>
                    <a:bodyPr/>
                    <a:lstStyle/>
                    <a:p>
                      <a:pPr algn="l"/>
                      <a:r>
                        <a:rPr sz="740" b="0">
                          <a:solidFill>
                            <a:srgbClr val="333333"/>
                          </a:solidFill>
                          <a:latin typeface="Calibri"/>
                        </a:rPr>
                        <a:t>Text</a:t>
                      </a:r>
                    </a:p>
                  </a:txBody>
                  <a:tcPr>
                    <a:solidFill>
                      <a:srgbClr val="FFFFFF"/>
                    </a:solidFill>
                  </a:tcPr>
                </a:tc>
                <a:tc>
                  <a:txBody>
                    <a:bodyPr/>
                    <a:lstStyle/>
                    <a:p>
                      <a:pPr algn="l"/>
                      <a:r>
                        <a:rPr sz="740" b="0">
                          <a:solidFill>
                            <a:srgbClr val="333333"/>
                          </a:solidFill>
                          <a:latin typeface="Calibri"/>
                        </a:rPr>
                        <a:t>Text</a:t>
                      </a:r>
                    </a:p>
                  </a:txBody>
                  <a:tcPr>
                    <a:solidFill>
                      <a:srgbClr val="FFFFFF"/>
                    </a:solidFill>
                  </a:tcPr>
                </a:tc>
                <a:tc>
                  <a:txBody>
                    <a:bodyPr/>
                    <a:lstStyle/>
                    <a:p>
                      <a:pPr algn="l"/>
                      <a:r>
                        <a:rPr sz="740" b="0">
                          <a:solidFill>
                            <a:srgbClr val="333333"/>
                          </a:solidFill>
                          <a:latin typeface="Calibri"/>
                        </a:rPr>
                        <a:t>Binary columnar</a:t>
                      </a:r>
                    </a:p>
                  </a:txBody>
                  <a:tcPr>
                    <a:solidFill>
                      <a:srgbClr val="FFFFFF"/>
                    </a:solidFill>
                  </a:tcPr>
                </a:tc>
                <a:tc>
                  <a:txBody>
                    <a:bodyPr/>
                    <a:lstStyle/>
                    <a:p>
                      <a:pPr algn="l"/>
                      <a:r>
                        <a:rPr sz="740" b="0">
                          <a:solidFill>
                            <a:srgbClr val="333333"/>
                          </a:solidFill>
                          <a:latin typeface="Calibri"/>
                        </a:rPr>
                        <a:t>Binary columnar</a:t>
                      </a:r>
                    </a:p>
                  </a:txBody>
                  <a:tcPr>
                    <a:solidFill>
                      <a:srgbClr val="FFFFFF"/>
                    </a:solidFill>
                  </a:tcPr>
                </a:tc>
                <a:extLst>
                  <a:ext uri="{0D108BD9-81ED-4DB2-BD59-A6C34878D82A}">
                    <a16:rowId xmlns:a16="http://schemas.microsoft.com/office/drawing/2014/main" val="10001"/>
                  </a:ext>
                </a:extLst>
              </a:tr>
              <a:tr h="711925">
                <a:tc>
                  <a:txBody>
                    <a:bodyPr/>
                    <a:lstStyle/>
                    <a:p>
                      <a:pPr algn="l"/>
                      <a:r>
                        <a:rPr sz="740" b="0">
                          <a:solidFill>
                            <a:srgbClr val="333333"/>
                          </a:solidFill>
                          <a:latin typeface="Calibri"/>
                        </a:rPr>
                        <a:t>Schema</a:t>
                      </a:r>
                    </a:p>
                  </a:txBody>
                  <a:tcPr>
                    <a:solidFill>
                      <a:srgbClr val="F0F4FA"/>
                    </a:solidFill>
                  </a:tcPr>
                </a:tc>
                <a:tc>
                  <a:txBody>
                    <a:bodyPr/>
                    <a:lstStyle/>
                    <a:p>
                      <a:pPr algn="l"/>
                      <a:r>
                        <a:rPr sz="740" b="0">
                          <a:solidFill>
                            <a:srgbClr val="333333"/>
                          </a:solidFill>
                          <a:latin typeface="Calibri"/>
                        </a:rPr>
                        <a:t>None</a:t>
                      </a:r>
                    </a:p>
                  </a:txBody>
                  <a:tcPr>
                    <a:solidFill>
                      <a:srgbClr val="F0F4FA"/>
                    </a:solidFill>
                  </a:tcPr>
                </a:tc>
                <a:tc>
                  <a:txBody>
                    <a:bodyPr/>
                    <a:lstStyle/>
                    <a:p>
                      <a:pPr algn="l"/>
                      <a:r>
                        <a:rPr sz="740" b="0">
                          <a:solidFill>
                            <a:srgbClr val="333333"/>
                          </a:solidFill>
                          <a:latin typeface="Calibri"/>
                        </a:rPr>
                        <a:t>Self-describing</a:t>
                      </a:r>
                    </a:p>
                  </a:txBody>
                  <a:tcPr>
                    <a:solidFill>
                      <a:srgbClr val="F0F4FA"/>
                    </a:solidFill>
                  </a:tcPr>
                </a:tc>
                <a:tc>
                  <a:txBody>
                    <a:bodyPr/>
                    <a:lstStyle/>
                    <a:p>
                      <a:pPr algn="l"/>
                      <a:r>
                        <a:rPr sz="740" b="0">
                          <a:solidFill>
                            <a:srgbClr val="333333"/>
                          </a:solidFill>
                          <a:latin typeface="Calibri"/>
                        </a:rPr>
                        <a:t>Embedded</a:t>
                      </a:r>
                    </a:p>
                  </a:txBody>
                  <a:tcPr>
                    <a:solidFill>
                      <a:srgbClr val="F0F4FA"/>
                    </a:solidFill>
                  </a:tcPr>
                </a:tc>
                <a:tc>
                  <a:txBody>
                    <a:bodyPr/>
                    <a:lstStyle/>
                    <a:p>
                      <a:pPr algn="l"/>
                      <a:r>
                        <a:rPr sz="740" b="0">
                          <a:solidFill>
                            <a:srgbClr val="333333"/>
                          </a:solidFill>
                          <a:latin typeface="Calibri"/>
                        </a:rPr>
                        <a:t>Embedded</a:t>
                      </a:r>
                    </a:p>
                  </a:txBody>
                  <a:tcPr>
                    <a:solidFill>
                      <a:srgbClr val="F0F4FA"/>
                    </a:solidFill>
                  </a:tcPr>
                </a:tc>
                <a:extLst>
                  <a:ext uri="{0D108BD9-81ED-4DB2-BD59-A6C34878D82A}">
                    <a16:rowId xmlns:a16="http://schemas.microsoft.com/office/drawing/2014/main" val="10002"/>
                  </a:ext>
                </a:extLst>
              </a:tr>
              <a:tr h="711925">
                <a:tc>
                  <a:txBody>
                    <a:bodyPr/>
                    <a:lstStyle/>
                    <a:p>
                      <a:pPr algn="l"/>
                      <a:r>
                        <a:rPr sz="740" b="0">
                          <a:solidFill>
                            <a:srgbClr val="333333"/>
                          </a:solidFill>
                          <a:latin typeface="Calibri"/>
                        </a:rPr>
                        <a:t>Compression</a:t>
                      </a:r>
                    </a:p>
                  </a:txBody>
                  <a:tcPr>
                    <a:solidFill>
                      <a:srgbClr val="FFFFFF"/>
                    </a:solidFill>
                  </a:tcPr>
                </a:tc>
                <a:tc>
                  <a:txBody>
                    <a:bodyPr/>
                    <a:lstStyle/>
                    <a:p>
                      <a:pPr algn="l"/>
                      <a:r>
                        <a:rPr sz="740" b="0">
                          <a:solidFill>
                            <a:srgbClr val="333333"/>
                          </a:solidFill>
                          <a:latin typeface="Calibri"/>
                        </a:rPr>
                        <a:t>Poor</a:t>
                      </a:r>
                    </a:p>
                  </a:txBody>
                  <a:tcPr>
                    <a:solidFill>
                      <a:srgbClr val="FFFFFF"/>
                    </a:solidFill>
                  </a:tcPr>
                </a:tc>
                <a:tc>
                  <a:txBody>
                    <a:bodyPr/>
                    <a:lstStyle/>
                    <a:p>
                      <a:pPr algn="l"/>
                      <a:r>
                        <a:rPr sz="740" b="0">
                          <a:solidFill>
                            <a:srgbClr val="333333"/>
                          </a:solidFill>
                          <a:latin typeface="Calibri"/>
                        </a:rPr>
                        <a:t>Poor</a:t>
                      </a:r>
                    </a:p>
                  </a:txBody>
                  <a:tcPr>
                    <a:solidFill>
                      <a:srgbClr val="FFFFFF"/>
                    </a:solidFill>
                  </a:tcPr>
                </a:tc>
                <a:tc>
                  <a:txBody>
                    <a:bodyPr/>
                    <a:lstStyle/>
                    <a:p>
                      <a:pPr algn="l"/>
                      <a:r>
                        <a:rPr sz="740" b="0">
                          <a:solidFill>
                            <a:srgbClr val="333333"/>
                          </a:solidFill>
                          <a:latin typeface="Calibri"/>
                        </a:rPr>
                        <a:t>Excellent: Snappy</a:t>
                      </a:r>
                    </a:p>
                  </a:txBody>
                  <a:tcPr>
                    <a:solidFill>
                      <a:srgbClr val="FFFFFF"/>
                    </a:solidFill>
                  </a:tcPr>
                </a:tc>
                <a:tc>
                  <a:txBody>
                    <a:bodyPr/>
                    <a:lstStyle/>
                    <a:p>
                      <a:pPr algn="l"/>
                      <a:r>
                        <a:rPr sz="740" b="0">
                          <a:solidFill>
                            <a:srgbClr val="333333"/>
                          </a:solidFill>
                          <a:latin typeface="Calibri"/>
                        </a:rPr>
                        <a:t>Excellent: Zlib</a:t>
                      </a:r>
                    </a:p>
                  </a:txBody>
                  <a:tcPr>
                    <a:solidFill>
                      <a:srgbClr val="FFFFFF"/>
                    </a:solidFill>
                  </a:tcPr>
                </a:tc>
                <a:extLst>
                  <a:ext uri="{0D108BD9-81ED-4DB2-BD59-A6C34878D82A}">
                    <a16:rowId xmlns:a16="http://schemas.microsoft.com/office/drawing/2014/main" val="10003"/>
                  </a:ext>
                </a:extLst>
              </a:tr>
              <a:tr h="711925">
                <a:tc>
                  <a:txBody>
                    <a:bodyPr/>
                    <a:lstStyle/>
                    <a:p>
                      <a:pPr algn="l"/>
                      <a:r>
                        <a:rPr sz="740" b="0">
                          <a:solidFill>
                            <a:srgbClr val="333333"/>
                          </a:solidFill>
                          <a:latin typeface="Calibri"/>
                        </a:rPr>
                        <a:t>Predicate pushdown</a:t>
                      </a:r>
                    </a:p>
                  </a:txBody>
                  <a:tcPr>
                    <a:solidFill>
                      <a:srgbClr val="F0F4FA"/>
                    </a:solidFill>
                  </a:tcPr>
                </a:tc>
                <a:tc>
                  <a:txBody>
                    <a:bodyPr/>
                    <a:lstStyle/>
                    <a:p>
                      <a:pPr algn="l"/>
                      <a:r>
                        <a:rPr sz="740" b="0">
                          <a:solidFill>
                            <a:srgbClr val="333333"/>
                          </a:solidFill>
                          <a:latin typeface="Calibri"/>
                        </a:rPr>
                        <a:t>No</a:t>
                      </a:r>
                    </a:p>
                  </a:txBody>
                  <a:tcPr>
                    <a:solidFill>
                      <a:srgbClr val="F0F4FA"/>
                    </a:solidFill>
                  </a:tcPr>
                </a:tc>
                <a:tc>
                  <a:txBody>
                    <a:bodyPr/>
                    <a:lstStyle/>
                    <a:p>
                      <a:pPr algn="l"/>
                      <a:r>
                        <a:rPr sz="740" b="0">
                          <a:solidFill>
                            <a:srgbClr val="333333"/>
                          </a:solidFill>
                          <a:latin typeface="Calibri"/>
                        </a:rPr>
                        <a:t>No</a:t>
                      </a:r>
                    </a:p>
                  </a:txBody>
                  <a:tcPr>
                    <a:solidFill>
                      <a:srgbClr val="F0F4FA"/>
                    </a:solidFill>
                  </a:tcPr>
                </a:tc>
                <a:tc>
                  <a:txBody>
                    <a:bodyPr/>
                    <a:lstStyle/>
                    <a:p>
                      <a:pPr algn="l"/>
                      <a:r>
                        <a:rPr sz="740" b="0">
                          <a:solidFill>
                            <a:srgbClr val="333333"/>
                          </a:solidFill>
                          <a:latin typeface="Calibri"/>
                        </a:rPr>
                        <a:t>Yes</a:t>
                      </a:r>
                    </a:p>
                  </a:txBody>
                  <a:tcPr>
                    <a:solidFill>
                      <a:srgbClr val="F0F4FA"/>
                    </a:solidFill>
                  </a:tcPr>
                </a:tc>
                <a:tc>
                  <a:txBody>
                    <a:bodyPr/>
                    <a:lstStyle/>
                    <a:p>
                      <a:pPr algn="l"/>
                      <a:r>
                        <a:rPr sz="740" b="0">
                          <a:solidFill>
                            <a:srgbClr val="333333"/>
                          </a:solidFill>
                          <a:latin typeface="Calibri"/>
                        </a:rPr>
                        <a:t>Yes</a:t>
                      </a:r>
                    </a:p>
                  </a:txBody>
                  <a:tcPr>
                    <a:solidFill>
                      <a:srgbClr val="F0F4FA"/>
                    </a:solidFill>
                  </a:tcPr>
                </a:tc>
                <a:extLst>
                  <a:ext uri="{0D108BD9-81ED-4DB2-BD59-A6C34878D82A}">
                    <a16:rowId xmlns:a16="http://schemas.microsoft.com/office/drawing/2014/main" val="10004"/>
                  </a:ext>
                </a:extLst>
              </a:tr>
              <a:tr h="711925">
                <a:tc>
                  <a:txBody>
                    <a:bodyPr/>
                    <a:lstStyle/>
                    <a:p>
                      <a:pPr algn="l"/>
                      <a:r>
                        <a:rPr sz="740" b="0">
                          <a:solidFill>
                            <a:srgbClr val="333333"/>
                          </a:solidFill>
                          <a:latin typeface="Calibri"/>
                        </a:rPr>
                        <a:t>Splittable</a:t>
                      </a:r>
                    </a:p>
                  </a:txBody>
                  <a:tcPr>
                    <a:solidFill>
                      <a:srgbClr val="FFFFFF"/>
                    </a:solidFill>
                  </a:tcPr>
                </a:tc>
                <a:tc>
                  <a:txBody>
                    <a:bodyPr/>
                    <a:lstStyle/>
                    <a:p>
                      <a:pPr algn="l"/>
                      <a:r>
                        <a:rPr sz="740" b="0">
                          <a:solidFill>
                            <a:srgbClr val="333333"/>
                          </a:solidFill>
                          <a:latin typeface="Calibri"/>
                        </a:rPr>
                        <a:t>Yes</a:t>
                      </a:r>
                    </a:p>
                  </a:txBody>
                  <a:tcPr>
                    <a:solidFill>
                      <a:srgbClr val="FFFFFF"/>
                    </a:solidFill>
                  </a:tcPr>
                </a:tc>
                <a:tc>
                  <a:txBody>
                    <a:bodyPr/>
                    <a:lstStyle/>
                    <a:p>
                      <a:pPr algn="l"/>
                      <a:r>
                        <a:rPr sz="740" b="0">
                          <a:solidFill>
                            <a:srgbClr val="333333"/>
                          </a:solidFill>
                          <a:latin typeface="Calibri"/>
                        </a:rPr>
                        <a:t>Yes if line-delimited</a:t>
                      </a:r>
                    </a:p>
                  </a:txBody>
                  <a:tcPr>
                    <a:solidFill>
                      <a:srgbClr val="FFFFFF"/>
                    </a:solidFill>
                  </a:tcPr>
                </a:tc>
                <a:tc>
                  <a:txBody>
                    <a:bodyPr/>
                    <a:lstStyle/>
                    <a:p>
                      <a:pPr algn="l"/>
                      <a:r>
                        <a:rPr sz="740" b="0">
                          <a:solidFill>
                            <a:srgbClr val="333333"/>
                          </a:solidFill>
                          <a:latin typeface="Calibri"/>
                        </a:rPr>
                        <a:t>Yes</a:t>
                      </a:r>
                    </a:p>
                  </a:txBody>
                  <a:tcPr>
                    <a:solidFill>
                      <a:srgbClr val="FFFFFF"/>
                    </a:solidFill>
                  </a:tcPr>
                </a:tc>
                <a:tc>
                  <a:txBody>
                    <a:bodyPr/>
                    <a:lstStyle/>
                    <a:p>
                      <a:pPr algn="l"/>
                      <a:r>
                        <a:rPr sz="740" b="0">
                          <a:solidFill>
                            <a:srgbClr val="333333"/>
                          </a:solidFill>
                          <a:latin typeface="Calibri"/>
                        </a:rPr>
                        <a:t>Yes</a:t>
                      </a:r>
                    </a:p>
                  </a:txBody>
                  <a:tcPr>
                    <a:solidFill>
                      <a:srgbClr val="FFFFFF"/>
                    </a:solidFill>
                  </a:tcPr>
                </a:tc>
                <a:extLst>
                  <a:ext uri="{0D108BD9-81ED-4DB2-BD59-A6C34878D82A}">
                    <a16:rowId xmlns:a16="http://schemas.microsoft.com/office/drawing/2014/main" val="10005"/>
                  </a:ext>
                </a:extLst>
              </a:tr>
              <a:tr h="711930">
                <a:tc>
                  <a:txBody>
                    <a:bodyPr/>
                    <a:lstStyle/>
                    <a:p>
                      <a:pPr algn="l"/>
                      <a:r>
                        <a:rPr sz="740" b="0">
                          <a:solidFill>
                            <a:srgbClr val="333333"/>
                          </a:solidFill>
                          <a:latin typeface="Calibri"/>
                        </a:rPr>
                        <a:t>Best for</a:t>
                      </a:r>
                    </a:p>
                  </a:txBody>
                  <a:tcPr>
                    <a:solidFill>
                      <a:srgbClr val="F0F4FA"/>
                    </a:solidFill>
                  </a:tcPr>
                </a:tc>
                <a:tc>
                  <a:txBody>
                    <a:bodyPr/>
                    <a:lstStyle/>
                    <a:p>
                      <a:pPr algn="l"/>
                      <a:r>
                        <a:rPr sz="740" b="0">
                          <a:solidFill>
                            <a:srgbClr val="333333"/>
                          </a:solidFill>
                          <a:latin typeface="Calibri"/>
                        </a:rPr>
                        <a:t>Simple export</a:t>
                      </a:r>
                    </a:p>
                  </a:txBody>
                  <a:tcPr>
                    <a:solidFill>
                      <a:srgbClr val="F0F4FA"/>
                    </a:solidFill>
                  </a:tcPr>
                </a:tc>
                <a:tc>
                  <a:txBody>
                    <a:bodyPr/>
                    <a:lstStyle/>
                    <a:p>
                      <a:pPr algn="l"/>
                      <a:r>
                        <a:rPr sz="740" b="0">
                          <a:solidFill>
                            <a:srgbClr val="333333"/>
                          </a:solidFill>
                          <a:latin typeface="Calibri"/>
                        </a:rPr>
                        <a:t>APIs and logs</a:t>
                      </a:r>
                    </a:p>
                  </a:txBody>
                  <a:tcPr>
                    <a:solidFill>
                      <a:srgbClr val="F0F4FA"/>
                    </a:solidFill>
                  </a:tcPr>
                </a:tc>
                <a:tc>
                  <a:txBody>
                    <a:bodyPr/>
                    <a:lstStyle/>
                    <a:p>
                      <a:pPr algn="l"/>
                      <a:r>
                        <a:rPr sz="740" b="0">
                          <a:solidFill>
                            <a:srgbClr val="333333"/>
                          </a:solidFill>
                          <a:latin typeface="Calibri"/>
                        </a:rPr>
                        <a:t>Analytics</a:t>
                      </a:r>
                    </a:p>
                  </a:txBody>
                  <a:tcPr>
                    <a:solidFill>
                      <a:srgbClr val="F0F4FA"/>
                    </a:solidFill>
                  </a:tcPr>
                </a:tc>
                <a:tc>
                  <a:txBody>
                    <a:bodyPr/>
                    <a:lstStyle/>
                    <a:p>
                      <a:pPr algn="l"/>
                      <a:r>
                        <a:rPr sz="740" b="0">
                          <a:solidFill>
                            <a:srgbClr val="333333"/>
                          </a:solidFill>
                          <a:latin typeface="Calibri"/>
                        </a:rPr>
                        <a:t>Hive workloads</a:t>
                      </a:r>
                    </a:p>
                  </a:txBody>
                  <a:tcPr>
                    <a:solidFill>
                      <a:srgbClr val="F0F4FA"/>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34</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Parquet Deep Dive</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Stores data by column, so Spark reads only the columns used in a query.</a:t>
            </a:r>
          </a:p>
          <a:p>
            <a:pPr>
              <a:spcAft>
                <a:spcPts val="500"/>
              </a:spcAft>
              <a:defRPr sz="1300">
                <a:solidFill>
                  <a:srgbClr val="333333"/>
                </a:solidFill>
                <a:latin typeface="Calibri"/>
              </a:defRPr>
            </a:pPr>
            <a:r>
              <a:t>• Compression works better because values in a column are similar.</a:t>
            </a:r>
          </a:p>
          <a:p>
            <a:pPr>
              <a:spcAft>
                <a:spcPts val="500"/>
              </a:spcAft>
              <a:defRPr sz="1300">
                <a:solidFill>
                  <a:srgbClr val="333333"/>
                </a:solidFill>
                <a:latin typeface="Calibri"/>
              </a:defRPr>
            </a:pPr>
            <a:r>
              <a:t>• File statistics enable predicate pushdown and partition pruning.</a:t>
            </a:r>
          </a:p>
          <a:p>
            <a:pPr>
              <a:spcAft>
                <a:spcPts val="500"/>
              </a:spcAft>
              <a:defRPr sz="1300">
                <a:solidFill>
                  <a:srgbClr val="333333"/>
                </a:solidFill>
                <a:latin typeface="Calibri"/>
              </a:defRPr>
            </a:pPr>
            <a:r>
              <a:t>• Parquet is the default storage format for most lakehouse pipelines.</a:t>
            </a:r>
          </a:p>
        </p:txBody>
      </p:sp>
      <p:sp>
        <p:nvSpPr>
          <p:cNvPr id="5" name="Rectangle 4"/>
          <p:cNvSpPr/>
          <p:nvPr/>
        </p:nvSpPr>
        <p:spPr>
          <a:xfrm>
            <a:off x="1371600" y="2926080"/>
            <a:ext cx="6400800" cy="365760"/>
          </a:xfrm>
          <a:prstGeom prst="rect">
            <a:avLst/>
          </a:prstGeom>
          <a:solidFill>
            <a:srgbClr val="002060"/>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FFFFFF"/>
                </a:solidFill>
                <a:latin typeface="Calibri"/>
              </a:rPr>
              <a:t>Parquet File</a:t>
            </a:r>
          </a:p>
        </p:txBody>
      </p:sp>
      <p:sp>
        <p:nvSpPr>
          <p:cNvPr id="6" name="Rounded Rectangle 5"/>
          <p:cNvSpPr/>
          <p:nvPr/>
        </p:nvSpPr>
        <p:spPr>
          <a:xfrm>
            <a:off x="1371600" y="3383280"/>
            <a:ext cx="3017520" cy="594360"/>
          </a:xfrm>
          <a:prstGeom prst="roundRect">
            <a:avLst/>
          </a:prstGeom>
          <a:solidFill>
            <a:srgbClr val="E3F2FD"/>
          </a:solidFill>
          <a:ln w="12700">
            <a:solidFill>
              <a:srgbClr val="90CAF9"/>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0">
                <a:solidFill>
                  <a:srgbClr val="333333"/>
                </a:solidFill>
                <a:latin typeface="Calibri"/>
              </a:rPr>
              <a:t>Row Group 0
Col A | Col B | Col C</a:t>
            </a:r>
          </a:p>
        </p:txBody>
      </p:sp>
      <p:sp>
        <p:nvSpPr>
          <p:cNvPr id="7" name="Rounded Rectangle 6"/>
          <p:cNvSpPr/>
          <p:nvPr/>
        </p:nvSpPr>
        <p:spPr>
          <a:xfrm>
            <a:off x="4754880" y="3383280"/>
            <a:ext cx="3017520" cy="594360"/>
          </a:xfrm>
          <a:prstGeom prst="roundRect">
            <a:avLst/>
          </a:prstGeom>
          <a:solidFill>
            <a:srgbClr val="E3F2FD"/>
          </a:solidFill>
          <a:ln w="12700">
            <a:solidFill>
              <a:srgbClr val="90CAF9"/>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0">
                <a:solidFill>
                  <a:srgbClr val="333333"/>
                </a:solidFill>
                <a:latin typeface="Calibri"/>
              </a:rPr>
              <a:t>Row Group 1
Col A | Col B | Col C</a:t>
            </a:r>
          </a:p>
        </p:txBody>
      </p:sp>
      <p:sp>
        <p:nvSpPr>
          <p:cNvPr id="8" name="Rounded Rectangle 7"/>
          <p:cNvSpPr/>
          <p:nvPr/>
        </p:nvSpPr>
        <p:spPr>
          <a:xfrm>
            <a:off x="1371600" y="4114800"/>
            <a:ext cx="6400800" cy="347472"/>
          </a:xfrm>
          <a:prstGeom prst="roundRect">
            <a:avLst/>
          </a:prstGeom>
          <a:solidFill>
            <a:srgbClr val="FFF8E1"/>
          </a:solidFill>
          <a:ln w="12700">
            <a:solidFill>
              <a:srgbClr val="F9A82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0">
                <a:solidFill>
                  <a:srgbClr val="333333"/>
                </a:solidFill>
                <a:latin typeface="Calibri"/>
              </a:rPr>
              <a:t>Footer: schema, offsets, column statistics</a:t>
            </a:r>
          </a:p>
        </p:txBody>
      </p:sp>
      <p:sp>
        <p:nvSpPr>
          <p:cNvPr id="9" name="TextBox 8"/>
          <p:cNvSpPr txBox="1"/>
          <p:nvPr/>
        </p:nvSpPr>
        <p:spPr>
          <a:xfrm>
            <a:off x="1371600" y="4663440"/>
            <a:ext cx="3017520" cy="228600"/>
          </a:xfrm>
          <a:prstGeom prst="rect">
            <a:avLst/>
          </a:prstGeom>
          <a:noFill/>
        </p:spPr>
        <p:txBody>
          <a:bodyPr wrap="square" lIns="73152" tIns="36576" rIns="73152" bIns="36576" anchor="t">
            <a:spAutoFit/>
          </a:bodyPr>
          <a:lstStyle/>
          <a:p>
            <a:pPr algn="ctr"/>
            <a:r>
              <a:rPr sz="1100" b="1">
                <a:solidFill>
                  <a:srgbClr val="333333"/>
                </a:solidFill>
                <a:latin typeface="Calibri"/>
              </a:rPr>
              <a:t>Row Storage (CSV)</a:t>
            </a:r>
          </a:p>
        </p:txBody>
      </p:sp>
      <p:sp>
        <p:nvSpPr>
          <p:cNvPr id="10" name="TextBox 9"/>
          <p:cNvSpPr txBox="1"/>
          <p:nvPr/>
        </p:nvSpPr>
        <p:spPr>
          <a:xfrm>
            <a:off x="4754880" y="4663440"/>
            <a:ext cx="3017520" cy="228600"/>
          </a:xfrm>
          <a:prstGeom prst="rect">
            <a:avLst/>
          </a:prstGeom>
          <a:noFill/>
        </p:spPr>
        <p:txBody>
          <a:bodyPr wrap="square" lIns="73152" tIns="36576" rIns="73152" bIns="36576" anchor="t">
            <a:spAutoFit/>
          </a:bodyPr>
          <a:lstStyle/>
          <a:p>
            <a:pPr algn="ctr"/>
            <a:r>
              <a:rPr sz="1100" b="1">
                <a:solidFill>
                  <a:srgbClr val="333333"/>
                </a:solidFill>
                <a:latin typeface="Calibri"/>
              </a:rPr>
              <a:t>Columnar Storage (Parquet)</a:t>
            </a:r>
          </a:p>
        </p:txBody>
      </p:sp>
      <p:sp>
        <p:nvSpPr>
          <p:cNvPr id="11" name="Rectangle 10"/>
          <p:cNvSpPr/>
          <p:nvPr/>
        </p:nvSpPr>
        <p:spPr>
          <a:xfrm>
            <a:off x="1371600" y="4937760"/>
            <a:ext cx="3017520" cy="256032"/>
          </a:xfrm>
          <a:prstGeom prst="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00" b="0">
                <a:solidFill>
                  <a:srgbClr val="333333"/>
                </a:solidFill>
                <a:latin typeface="Calibri"/>
              </a:rPr>
              <a:t>Row 1: A1 | B1 | C1</a:t>
            </a:r>
          </a:p>
        </p:txBody>
      </p:sp>
      <p:sp>
        <p:nvSpPr>
          <p:cNvPr id="12" name="Rectangle 11"/>
          <p:cNvSpPr/>
          <p:nvPr/>
        </p:nvSpPr>
        <p:spPr>
          <a:xfrm>
            <a:off x="1371600" y="5230368"/>
            <a:ext cx="3017520" cy="256032"/>
          </a:xfrm>
          <a:prstGeom prst="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00" b="0">
                <a:solidFill>
                  <a:srgbClr val="333333"/>
                </a:solidFill>
                <a:latin typeface="Calibri"/>
              </a:rPr>
              <a:t>Row 2: A2 | B2 | C2</a:t>
            </a:r>
          </a:p>
        </p:txBody>
      </p:sp>
      <p:sp>
        <p:nvSpPr>
          <p:cNvPr id="13" name="Rectangle 12"/>
          <p:cNvSpPr/>
          <p:nvPr/>
        </p:nvSpPr>
        <p:spPr>
          <a:xfrm>
            <a:off x="1371600" y="5522976"/>
            <a:ext cx="3017520" cy="256032"/>
          </a:xfrm>
          <a:prstGeom prst="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00" b="0">
                <a:solidFill>
                  <a:srgbClr val="333333"/>
                </a:solidFill>
                <a:latin typeface="Calibri"/>
              </a:rPr>
              <a:t>Row 3: A3 | B3 | C3</a:t>
            </a:r>
          </a:p>
        </p:txBody>
      </p:sp>
      <p:sp>
        <p:nvSpPr>
          <p:cNvPr id="14" name="Rectangle 13"/>
          <p:cNvSpPr/>
          <p:nvPr/>
        </p:nvSpPr>
        <p:spPr>
          <a:xfrm>
            <a:off x="4754880" y="4937760"/>
            <a:ext cx="960120" cy="841248"/>
          </a:xfrm>
          <a:prstGeom prst="rect">
            <a:avLst/>
          </a:prstGeom>
          <a:solidFill>
            <a:srgbClr val="E9F7E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00" b="0">
                <a:solidFill>
                  <a:srgbClr val="333333"/>
                </a:solidFill>
                <a:latin typeface="Calibri"/>
              </a:rPr>
              <a:t>Col A
A1
A2
A3</a:t>
            </a:r>
          </a:p>
        </p:txBody>
      </p:sp>
      <p:sp>
        <p:nvSpPr>
          <p:cNvPr id="15" name="Rectangle 14"/>
          <p:cNvSpPr/>
          <p:nvPr/>
        </p:nvSpPr>
        <p:spPr>
          <a:xfrm>
            <a:off x="5760720" y="4937760"/>
            <a:ext cx="960120" cy="841248"/>
          </a:xfrm>
          <a:prstGeom prst="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00" b="0">
                <a:solidFill>
                  <a:srgbClr val="333333"/>
                </a:solidFill>
                <a:latin typeface="Calibri"/>
              </a:rPr>
              <a:t>Col B
B1
B2
B3</a:t>
            </a:r>
          </a:p>
        </p:txBody>
      </p:sp>
      <p:sp>
        <p:nvSpPr>
          <p:cNvPr id="16" name="Rectangle 15"/>
          <p:cNvSpPr/>
          <p:nvPr/>
        </p:nvSpPr>
        <p:spPr>
          <a:xfrm>
            <a:off x="6766560" y="4937760"/>
            <a:ext cx="960120" cy="841248"/>
          </a:xfrm>
          <a:prstGeom prst="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00" b="0">
                <a:solidFill>
                  <a:srgbClr val="333333"/>
                </a:solidFill>
                <a:latin typeface="Calibri"/>
              </a:rPr>
              <a:t>Col C
C1
C2
C3</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35</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Partitioning — partitionBy Explained</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Partitioning writes folder paths based on one or more column values.</a:t>
            </a:r>
          </a:p>
          <a:p>
            <a:pPr>
              <a:spcAft>
                <a:spcPts val="500"/>
              </a:spcAft>
              <a:defRPr sz="1300">
                <a:solidFill>
                  <a:srgbClr val="333333"/>
                </a:solidFill>
                <a:latin typeface="Calibri"/>
              </a:defRPr>
            </a:pPr>
            <a:r>
              <a:t>• Common choices are event_date, country, tenant, or ingestion batch.</a:t>
            </a:r>
          </a:p>
          <a:p>
            <a:pPr>
              <a:spcAft>
                <a:spcPts val="500"/>
              </a:spcAft>
              <a:defRPr sz="1300">
                <a:solidFill>
                  <a:srgbClr val="333333"/>
                </a:solidFill>
                <a:latin typeface="Calibri"/>
              </a:defRPr>
            </a:pPr>
            <a:r>
              <a:t>• Good partitions make reads faster; too many small partitions hurt performance.</a:t>
            </a:r>
          </a:p>
        </p:txBody>
      </p:sp>
      <p:sp>
        <p:nvSpPr>
          <p:cNvPr id="5" name="Rounded Rectangle 4"/>
          <p:cNvSpPr/>
          <p:nvPr/>
        </p:nvSpPr>
        <p:spPr>
          <a:xfrm>
            <a:off x="1417320" y="2788920"/>
            <a:ext cx="6126480" cy="310896"/>
          </a:xfrm>
          <a:prstGeom prst="roundRect">
            <a:avLst/>
          </a:prstGeom>
          <a:solidFill>
            <a:srgbClr val="E3F2FD"/>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19" b="1">
                <a:solidFill>
                  <a:srgbClr val="333333"/>
                </a:solidFill>
                <a:latin typeface="Calibri"/>
              </a:rPr>
              <a:t>[folder] orders_by_status_parquet/</a:t>
            </a:r>
          </a:p>
        </p:txBody>
      </p:sp>
      <p:sp>
        <p:nvSpPr>
          <p:cNvPr id="6" name="Rounded Rectangle 5"/>
          <p:cNvSpPr/>
          <p:nvPr/>
        </p:nvSpPr>
        <p:spPr>
          <a:xfrm>
            <a:off x="2011680" y="3227832"/>
            <a:ext cx="5532120" cy="310896"/>
          </a:xfrm>
          <a:prstGeom prst="roundRect">
            <a:avLst/>
          </a:prstGeom>
          <a:solidFill>
            <a:srgbClr val="FFFFFF"/>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19" b="0">
                <a:solidFill>
                  <a:srgbClr val="333333"/>
                </a:solidFill>
                <a:latin typeface="Calibri"/>
              </a:rPr>
              <a:t>[folder] status=NEW/       part-0000.parquet</a:t>
            </a:r>
          </a:p>
        </p:txBody>
      </p:sp>
      <p:sp>
        <p:nvSpPr>
          <p:cNvPr id="7" name="Rounded Rectangle 6"/>
          <p:cNvSpPr/>
          <p:nvPr/>
        </p:nvSpPr>
        <p:spPr>
          <a:xfrm>
            <a:off x="2011680" y="3666744"/>
            <a:ext cx="5532120" cy="310896"/>
          </a:xfrm>
          <a:prstGeom prst="roundRect">
            <a:avLst/>
          </a:prstGeom>
          <a:solidFill>
            <a:srgbClr val="FFFFFF"/>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19" b="0">
                <a:solidFill>
                  <a:srgbClr val="333333"/>
                </a:solidFill>
                <a:latin typeface="Calibri"/>
              </a:rPr>
              <a:t>[folder] status=PAID/      part-0000.parquet</a:t>
            </a:r>
          </a:p>
        </p:txBody>
      </p:sp>
      <p:sp>
        <p:nvSpPr>
          <p:cNvPr id="8" name="Rounded Rectangle 7"/>
          <p:cNvSpPr/>
          <p:nvPr/>
        </p:nvSpPr>
        <p:spPr>
          <a:xfrm>
            <a:off x="2011680" y="4105656"/>
            <a:ext cx="5532120" cy="310896"/>
          </a:xfrm>
          <a:prstGeom prst="roundRect">
            <a:avLst/>
          </a:prstGeom>
          <a:solidFill>
            <a:srgbClr val="FFFFFF"/>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19" b="0">
                <a:solidFill>
                  <a:srgbClr val="333333"/>
                </a:solidFill>
                <a:latin typeface="Calibri"/>
              </a:rPr>
              <a:t>[folder] status=SHIPPED/   part-0000.parquet</a:t>
            </a:r>
          </a:p>
        </p:txBody>
      </p:sp>
      <p:sp>
        <p:nvSpPr>
          <p:cNvPr id="9" name="Rounded Rectangle 8"/>
          <p:cNvSpPr/>
          <p:nvPr/>
        </p:nvSpPr>
        <p:spPr>
          <a:xfrm>
            <a:off x="2011680" y="4544568"/>
            <a:ext cx="5532120" cy="310896"/>
          </a:xfrm>
          <a:prstGeom prst="roundRect">
            <a:avLst/>
          </a:prstGeom>
          <a:solidFill>
            <a:srgbClr val="FFFFFF"/>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19" b="0">
                <a:solidFill>
                  <a:srgbClr val="333333"/>
                </a:solidFill>
                <a:latin typeface="Calibri"/>
              </a:rPr>
              <a:t>[folder] status=CANCELLED/ part-0000.parquet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36</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Partition Pruning</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Spark inspects filter predicates before reading files.</a:t>
            </a:r>
          </a:p>
          <a:p>
            <a:pPr>
              <a:spcAft>
                <a:spcPts val="500"/>
              </a:spcAft>
              <a:defRPr sz="1300">
                <a:solidFill>
                  <a:srgbClr val="333333"/>
                </a:solidFill>
                <a:latin typeface="Calibri"/>
              </a:defRPr>
            </a:pPr>
            <a:r>
              <a:t>• If a filter matches partition columns, irrelevant folders are skipped.</a:t>
            </a:r>
          </a:p>
          <a:p>
            <a:pPr>
              <a:spcAft>
                <a:spcPts val="500"/>
              </a:spcAft>
              <a:defRPr sz="1300">
                <a:solidFill>
                  <a:srgbClr val="333333"/>
                </a:solidFill>
                <a:latin typeface="Calibri"/>
              </a:defRPr>
            </a:pPr>
            <a:r>
              <a:t>• Pruning reduces I/O and can dramatically improve dashboard queries.</a:t>
            </a:r>
          </a:p>
        </p:txBody>
      </p:sp>
      <p:sp>
        <p:nvSpPr>
          <p:cNvPr id="5" name="Rounded Rectangle 4"/>
          <p:cNvSpPr/>
          <p:nvPr/>
        </p:nvSpPr>
        <p:spPr>
          <a:xfrm>
            <a:off x="914400" y="3840480"/>
            <a:ext cx="2182368" cy="621792"/>
          </a:xfrm>
          <a:prstGeom prst="roundRect">
            <a:avLst/>
          </a:prstGeom>
          <a:solidFill>
            <a:srgbClr val="FFFFFF"/>
          </a:solidFill>
          <a:ln w="12700">
            <a:solidFill>
              <a:srgbClr val="90A4A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333333"/>
                </a:solidFill>
                <a:latin typeface="Calibri"/>
              </a:rPr>
              <a:t>Filter event_date='2026-06-02'</a:t>
            </a:r>
          </a:p>
        </p:txBody>
      </p:sp>
      <p:sp>
        <p:nvSpPr>
          <p:cNvPr id="6" name="Rectangle 5"/>
          <p:cNvSpPr/>
          <p:nvPr/>
        </p:nvSpPr>
        <p:spPr>
          <a:xfrm>
            <a:off x="3160776" y="4050792"/>
            <a:ext cx="256032" cy="164592"/>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002060"/>
                </a:solidFill>
                <a:latin typeface="Calibri"/>
              </a:rPr>
              <a:t>→</a:t>
            </a:r>
          </a:p>
        </p:txBody>
      </p:sp>
      <p:sp>
        <p:nvSpPr>
          <p:cNvPr id="7" name="Rounded Rectangle 6"/>
          <p:cNvSpPr/>
          <p:nvPr/>
        </p:nvSpPr>
        <p:spPr>
          <a:xfrm>
            <a:off x="3480816" y="3840480"/>
            <a:ext cx="2182368" cy="621792"/>
          </a:xfrm>
          <a:prstGeom prst="roundRect">
            <a:avLst/>
          </a:prstGeom>
          <a:solidFill>
            <a:srgbClr val="E9F7EF"/>
          </a:solidFill>
          <a:ln w="12700">
            <a:solidFill>
              <a:srgbClr val="90A4A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333333"/>
                </a:solidFill>
                <a:latin typeface="Calibri"/>
              </a:rPr>
              <a:t>Read matching folder</a:t>
            </a:r>
          </a:p>
        </p:txBody>
      </p:sp>
      <p:sp>
        <p:nvSpPr>
          <p:cNvPr id="8" name="Rectangle 7"/>
          <p:cNvSpPr/>
          <p:nvPr/>
        </p:nvSpPr>
        <p:spPr>
          <a:xfrm>
            <a:off x="5727192" y="4050792"/>
            <a:ext cx="256032" cy="164592"/>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002060"/>
                </a:solidFill>
                <a:latin typeface="Calibri"/>
              </a:rPr>
              <a:t>→</a:t>
            </a:r>
          </a:p>
        </p:txBody>
      </p:sp>
      <p:sp>
        <p:nvSpPr>
          <p:cNvPr id="9" name="Rounded Rectangle 8"/>
          <p:cNvSpPr/>
          <p:nvPr/>
        </p:nvSpPr>
        <p:spPr>
          <a:xfrm>
            <a:off x="6047232" y="3840480"/>
            <a:ext cx="2182368" cy="621792"/>
          </a:xfrm>
          <a:prstGeom prst="roundRect">
            <a:avLst/>
          </a:prstGeom>
          <a:solidFill>
            <a:srgbClr val="F5F5F5"/>
          </a:solidFill>
          <a:ln w="12700">
            <a:solidFill>
              <a:srgbClr val="90A4A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333333"/>
                </a:solidFill>
                <a:latin typeface="Calibri"/>
              </a:rPr>
              <a:t>Skip other dates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37</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Code Example: Writing Partitioned Parquet</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Partition by a column that is often used in filters.</a:t>
            </a:r>
          </a:p>
          <a:p>
            <a:pPr>
              <a:spcAft>
                <a:spcPts val="500"/>
              </a:spcAft>
              <a:defRPr sz="1300">
                <a:solidFill>
                  <a:srgbClr val="333333"/>
                </a:solidFill>
                <a:latin typeface="Calibri"/>
              </a:defRPr>
            </a:pPr>
            <a:r>
              <a:t>• Keep partition cardinality moderate to avoid small-file pressure.</a:t>
            </a:r>
          </a:p>
        </p:txBody>
      </p:sp>
      <p:sp>
        <p:nvSpPr>
          <p:cNvPr id="5" name="Rounded Rectangle 4"/>
          <p:cNvSpPr/>
          <p:nvPr/>
        </p:nvSpPr>
        <p:spPr>
          <a:xfrm>
            <a:off x="594360" y="2633472"/>
            <a:ext cx="7955279" cy="3337560"/>
          </a:xfrm>
          <a:prstGeom prst="roundRect">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100">
                <a:solidFill>
                  <a:srgbClr val="1B1B1B"/>
                </a:solidFill>
                <a:latin typeface="Consolas"/>
              </a:rPr>
              <a:t>(
    orders
    .withColumn("event_date", F.to_date("event_time_ts"))
    .write
    .mode("overwrite")
    .partitionBy("event_date")
    .parquet("output/partitioned/orders")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39</a:t>
            </a:r>
          </a:p>
        </p:txBody>
      </p:sp>
      <p:sp>
        <p:nvSpPr>
          <p:cNvPr id="3" name="TextBox 2"/>
          <p:cNvSpPr txBox="1"/>
          <p:nvPr/>
        </p:nvSpPr>
        <p:spPr>
          <a:xfrm>
            <a:off x="731520" y="2743200"/>
            <a:ext cx="7680960" cy="731520"/>
          </a:xfrm>
          <a:prstGeom prst="rect">
            <a:avLst/>
          </a:prstGeom>
          <a:noFill/>
        </p:spPr>
        <p:txBody>
          <a:bodyPr wrap="square" lIns="73152" tIns="36576" rIns="73152" bIns="36576" anchor="t">
            <a:spAutoFit/>
          </a:bodyPr>
          <a:lstStyle/>
          <a:p>
            <a:pPr algn="ctr"/>
            <a:r>
              <a:rPr sz="2400" b="1">
                <a:solidFill>
                  <a:srgbClr val="002060"/>
                </a:solidFill>
                <a:latin typeface="Calibri"/>
              </a:rPr>
              <a:t>☕ Break — 15 Minutes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40</a:t>
            </a:r>
          </a:p>
        </p:txBody>
      </p:sp>
      <p:sp>
        <p:nvSpPr>
          <p:cNvPr id="3" name="Rectangle 2"/>
          <p:cNvSpPr/>
          <p:nvPr/>
        </p:nvSpPr>
        <p:spPr>
          <a:xfrm>
            <a:off x="0" y="0"/>
            <a:ext cx="9144000" cy="777240"/>
          </a:xfrm>
          <a:prstGeom prst="rect">
            <a:avLst/>
          </a:prstGeom>
          <a:solidFill>
            <a:srgbClr val="002060"/>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82880"/>
            <a:ext cx="8138160" cy="384048"/>
          </a:xfrm>
          <a:prstGeom prst="rect">
            <a:avLst/>
          </a:prstGeom>
          <a:noFill/>
        </p:spPr>
        <p:txBody>
          <a:bodyPr wrap="square" lIns="73152" tIns="36576" rIns="73152" bIns="36576" anchor="t">
            <a:spAutoFit/>
          </a:bodyPr>
          <a:lstStyle/>
          <a:p>
            <a:pPr algn="ctr"/>
            <a:r>
              <a:rPr sz="2000" b="1">
                <a:solidFill>
                  <a:srgbClr val="FFFFFF"/>
                </a:solidFill>
                <a:latin typeface="Calibri"/>
              </a:rPr>
              <a:t>MODULE 2: Bronze Layer — Raw Data Ingestion</a:t>
            </a:r>
          </a:p>
        </p:txBody>
      </p:sp>
      <p:sp>
        <p:nvSpPr>
          <p:cNvPr id="5" name="TextBox 4"/>
          <p:cNvSpPr txBox="1"/>
          <p:nvPr/>
        </p:nvSpPr>
        <p:spPr>
          <a:xfrm>
            <a:off x="822960" y="2487168"/>
            <a:ext cx="7498079" cy="457200"/>
          </a:xfrm>
          <a:prstGeom prst="rect">
            <a:avLst/>
          </a:prstGeom>
          <a:noFill/>
        </p:spPr>
        <p:txBody>
          <a:bodyPr wrap="square" lIns="73152" tIns="36576" rIns="73152" bIns="36576" anchor="t">
            <a:spAutoFit/>
          </a:bodyPr>
          <a:lstStyle/>
          <a:p>
            <a:pPr algn="ctr"/>
            <a:r>
              <a:rPr sz="2400" b="1">
                <a:solidFill>
                  <a:srgbClr val="002060"/>
                </a:solidFill>
                <a:latin typeface="Calibri"/>
              </a:rPr>
              <a:t>MODULE 2: Bronze Layer — Raw Data Ingestion</a:t>
            </a:r>
          </a:p>
        </p:txBody>
      </p:sp>
      <p:sp>
        <p:nvSpPr>
          <p:cNvPr id="6" name="Rectangle 5"/>
          <p:cNvSpPr/>
          <p:nvPr/>
        </p:nvSpPr>
        <p:spPr>
          <a:xfrm>
            <a:off x="2926080" y="3291840"/>
            <a:ext cx="3291840" cy="73152"/>
          </a:xfrm>
          <a:prstGeom prst="rect">
            <a:avLst/>
          </a:prstGeom>
          <a:solidFill>
            <a:srgbClr val="002060"/>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44</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Source Data for Our Lab</a:t>
            </a:r>
          </a:p>
        </p:txBody>
      </p:sp>
      <p:graphicFrame>
        <p:nvGraphicFramePr>
          <p:cNvPr id="4" name="Table 3"/>
          <p:cNvGraphicFramePr>
            <a:graphicFrameLocks noGrp="1"/>
          </p:cNvGraphicFramePr>
          <p:nvPr/>
        </p:nvGraphicFramePr>
        <p:xfrm>
          <a:off x="530352" y="1143000"/>
          <a:ext cx="8092440" cy="4983480"/>
        </p:xfrm>
        <a:graphic>
          <a:graphicData uri="http://schemas.openxmlformats.org/drawingml/2006/table">
            <a:tbl>
              <a:tblPr firstRow="1" bandRow="1">
                <a:tableStyleId>{5C22544A-7EE6-4342-B048-85BDC9FD1C3A}</a:tableStyleId>
              </a:tblPr>
              <a:tblGrid>
                <a:gridCol w="2023110">
                  <a:extLst>
                    <a:ext uri="{9D8B030D-6E8A-4147-A177-3AD203B41FA5}">
                      <a16:colId xmlns:a16="http://schemas.microsoft.com/office/drawing/2014/main" val="20000"/>
                    </a:ext>
                  </a:extLst>
                </a:gridCol>
                <a:gridCol w="2023110">
                  <a:extLst>
                    <a:ext uri="{9D8B030D-6E8A-4147-A177-3AD203B41FA5}">
                      <a16:colId xmlns:a16="http://schemas.microsoft.com/office/drawing/2014/main" val="20001"/>
                    </a:ext>
                  </a:extLst>
                </a:gridCol>
                <a:gridCol w="2023110">
                  <a:extLst>
                    <a:ext uri="{9D8B030D-6E8A-4147-A177-3AD203B41FA5}">
                      <a16:colId xmlns:a16="http://schemas.microsoft.com/office/drawing/2014/main" val="20002"/>
                    </a:ext>
                  </a:extLst>
                </a:gridCol>
                <a:gridCol w="2023110">
                  <a:extLst>
                    <a:ext uri="{9D8B030D-6E8A-4147-A177-3AD203B41FA5}">
                      <a16:colId xmlns:a16="http://schemas.microsoft.com/office/drawing/2014/main" val="20003"/>
                    </a:ext>
                  </a:extLst>
                </a:gridCol>
              </a:tblGrid>
              <a:tr h="996696">
                <a:tc>
                  <a:txBody>
                    <a:bodyPr/>
                    <a:lstStyle/>
                    <a:p>
                      <a:pPr algn="ctr"/>
                      <a:r>
                        <a:rPr sz="740" b="1">
                          <a:solidFill>
                            <a:srgbClr val="FFFFFF"/>
                          </a:solidFill>
                          <a:latin typeface="Calibri"/>
                        </a:rPr>
                        <a:t>Source</a:t>
                      </a:r>
                    </a:p>
                  </a:txBody>
                  <a:tcPr>
                    <a:solidFill>
                      <a:srgbClr val="002060"/>
                    </a:solidFill>
                  </a:tcPr>
                </a:tc>
                <a:tc>
                  <a:txBody>
                    <a:bodyPr/>
                    <a:lstStyle/>
                    <a:p>
                      <a:pPr algn="ctr"/>
                      <a:r>
                        <a:rPr sz="740" b="1">
                          <a:solidFill>
                            <a:srgbClr val="FFFFFF"/>
                          </a:solidFill>
                          <a:latin typeface="Calibri"/>
                        </a:rPr>
                        <a:t>Format</a:t>
                      </a:r>
                    </a:p>
                  </a:txBody>
                  <a:tcPr>
                    <a:solidFill>
                      <a:srgbClr val="002060"/>
                    </a:solidFill>
                  </a:tcPr>
                </a:tc>
                <a:tc>
                  <a:txBody>
                    <a:bodyPr/>
                    <a:lstStyle/>
                    <a:p>
                      <a:pPr algn="ctr"/>
                      <a:r>
                        <a:rPr sz="740" b="1">
                          <a:solidFill>
                            <a:srgbClr val="FFFFFF"/>
                          </a:solidFill>
                          <a:latin typeface="Calibri"/>
                        </a:rPr>
                        <a:t>Role</a:t>
                      </a:r>
                    </a:p>
                  </a:txBody>
                  <a:tcPr>
                    <a:solidFill>
                      <a:srgbClr val="002060"/>
                    </a:solidFill>
                  </a:tcPr>
                </a:tc>
                <a:tc>
                  <a:txBody>
                    <a:bodyPr/>
                    <a:lstStyle/>
                    <a:p>
                      <a:pPr algn="ctr"/>
                      <a:r>
                        <a:rPr sz="740" b="1">
                          <a:solidFill>
                            <a:srgbClr val="FFFFFF"/>
                          </a:solidFill>
                          <a:latin typeface="Calibri"/>
                        </a:rPr>
                        <a:t>Key fields</a:t>
                      </a:r>
                    </a:p>
                  </a:txBody>
                  <a:tcPr>
                    <a:solidFill>
                      <a:srgbClr val="002060"/>
                    </a:solidFill>
                  </a:tcPr>
                </a:tc>
                <a:extLst>
                  <a:ext uri="{0D108BD9-81ED-4DB2-BD59-A6C34878D82A}">
                    <a16:rowId xmlns:a16="http://schemas.microsoft.com/office/drawing/2014/main" val="10000"/>
                  </a:ext>
                </a:extLst>
              </a:tr>
              <a:tr h="996696">
                <a:tc>
                  <a:txBody>
                    <a:bodyPr/>
                    <a:lstStyle/>
                    <a:p>
                      <a:pPr algn="l"/>
                      <a:r>
                        <a:rPr sz="740" b="0">
                          <a:solidFill>
                            <a:srgbClr val="333333"/>
                          </a:solidFill>
                          <a:latin typeface="Calibri"/>
                        </a:rPr>
                        <a:t>customers.csv</a:t>
                      </a:r>
                    </a:p>
                  </a:txBody>
                  <a:tcPr>
                    <a:solidFill>
                      <a:srgbClr val="FFFFFF"/>
                    </a:solidFill>
                  </a:tcPr>
                </a:tc>
                <a:tc>
                  <a:txBody>
                    <a:bodyPr/>
                    <a:lstStyle/>
                    <a:p>
                      <a:pPr algn="l"/>
                      <a:r>
                        <a:rPr sz="740" b="0">
                          <a:solidFill>
                            <a:srgbClr val="333333"/>
                          </a:solidFill>
                          <a:latin typeface="Calibri"/>
                        </a:rPr>
                        <a:t>CSV</a:t>
                      </a:r>
                    </a:p>
                  </a:txBody>
                  <a:tcPr>
                    <a:solidFill>
                      <a:srgbClr val="FFFFFF"/>
                    </a:solidFill>
                  </a:tcPr>
                </a:tc>
                <a:tc>
                  <a:txBody>
                    <a:bodyPr/>
                    <a:lstStyle/>
                    <a:p>
                      <a:pPr algn="l"/>
                      <a:r>
                        <a:rPr sz="740" b="0">
                          <a:solidFill>
                            <a:srgbClr val="333333"/>
                          </a:solidFill>
                          <a:latin typeface="Calibri"/>
                        </a:rPr>
                        <a:t>Customer dimension</a:t>
                      </a:r>
                    </a:p>
                  </a:txBody>
                  <a:tcPr>
                    <a:solidFill>
                      <a:srgbClr val="FFFFFF"/>
                    </a:solidFill>
                  </a:tcPr>
                </a:tc>
                <a:tc>
                  <a:txBody>
                    <a:bodyPr/>
                    <a:lstStyle/>
                    <a:p>
                      <a:pPr algn="l"/>
                      <a:r>
                        <a:rPr sz="740" b="0">
                          <a:solidFill>
                            <a:srgbClr val="333333"/>
                          </a:solidFill>
                          <a:latin typeface="Calibri"/>
                        </a:rPr>
                        <a:t>customer_id, name, email, country, region, signup_date, loyalty_tier</a:t>
                      </a:r>
                    </a:p>
                  </a:txBody>
                  <a:tcPr>
                    <a:solidFill>
                      <a:srgbClr val="FFFFFF"/>
                    </a:solidFill>
                  </a:tcPr>
                </a:tc>
                <a:extLst>
                  <a:ext uri="{0D108BD9-81ED-4DB2-BD59-A6C34878D82A}">
                    <a16:rowId xmlns:a16="http://schemas.microsoft.com/office/drawing/2014/main" val="10001"/>
                  </a:ext>
                </a:extLst>
              </a:tr>
              <a:tr h="996696">
                <a:tc>
                  <a:txBody>
                    <a:bodyPr/>
                    <a:lstStyle/>
                    <a:p>
                      <a:pPr algn="l"/>
                      <a:r>
                        <a:rPr sz="740" b="0">
                          <a:solidFill>
                            <a:srgbClr val="333333"/>
                          </a:solidFill>
                          <a:latin typeface="Calibri"/>
                        </a:rPr>
                        <a:t>products.csv</a:t>
                      </a:r>
                    </a:p>
                  </a:txBody>
                  <a:tcPr>
                    <a:solidFill>
                      <a:srgbClr val="F0F4FA"/>
                    </a:solidFill>
                  </a:tcPr>
                </a:tc>
                <a:tc>
                  <a:txBody>
                    <a:bodyPr/>
                    <a:lstStyle/>
                    <a:p>
                      <a:pPr algn="l"/>
                      <a:r>
                        <a:rPr sz="740" b="0">
                          <a:solidFill>
                            <a:srgbClr val="333333"/>
                          </a:solidFill>
                          <a:latin typeface="Calibri"/>
                        </a:rPr>
                        <a:t>CSV</a:t>
                      </a:r>
                    </a:p>
                  </a:txBody>
                  <a:tcPr>
                    <a:solidFill>
                      <a:srgbClr val="F0F4FA"/>
                    </a:solidFill>
                  </a:tcPr>
                </a:tc>
                <a:tc>
                  <a:txBody>
                    <a:bodyPr/>
                    <a:lstStyle/>
                    <a:p>
                      <a:pPr algn="l"/>
                      <a:r>
                        <a:rPr sz="740" b="0">
                          <a:solidFill>
                            <a:srgbClr val="333333"/>
                          </a:solidFill>
                          <a:latin typeface="Calibri"/>
                        </a:rPr>
                        <a:t>Product dimension</a:t>
                      </a:r>
                    </a:p>
                  </a:txBody>
                  <a:tcPr>
                    <a:solidFill>
                      <a:srgbClr val="F0F4FA"/>
                    </a:solidFill>
                  </a:tcPr>
                </a:tc>
                <a:tc>
                  <a:txBody>
                    <a:bodyPr/>
                    <a:lstStyle/>
                    <a:p>
                      <a:pPr algn="l"/>
                      <a:r>
                        <a:rPr sz="740" b="0">
                          <a:solidFill>
                            <a:srgbClr val="333333"/>
                          </a:solidFill>
                          <a:latin typeface="Calibri"/>
                        </a:rPr>
                        <a:t>product_id, name, category, unit_cost</a:t>
                      </a:r>
                    </a:p>
                  </a:txBody>
                  <a:tcPr>
                    <a:solidFill>
                      <a:srgbClr val="F0F4FA"/>
                    </a:solidFill>
                  </a:tcPr>
                </a:tc>
                <a:extLst>
                  <a:ext uri="{0D108BD9-81ED-4DB2-BD59-A6C34878D82A}">
                    <a16:rowId xmlns:a16="http://schemas.microsoft.com/office/drawing/2014/main" val="10002"/>
                  </a:ext>
                </a:extLst>
              </a:tr>
              <a:tr h="996696">
                <a:tc>
                  <a:txBody>
                    <a:bodyPr/>
                    <a:lstStyle/>
                    <a:p>
                      <a:pPr algn="l"/>
                      <a:r>
                        <a:rPr sz="740" b="0">
                          <a:solidFill>
                            <a:srgbClr val="333333"/>
                          </a:solidFill>
                          <a:latin typeface="Calibri"/>
                        </a:rPr>
                        <a:t>fx_rates.csv</a:t>
                      </a:r>
                    </a:p>
                  </a:txBody>
                  <a:tcPr>
                    <a:solidFill>
                      <a:srgbClr val="FFFFFF"/>
                    </a:solidFill>
                  </a:tcPr>
                </a:tc>
                <a:tc>
                  <a:txBody>
                    <a:bodyPr/>
                    <a:lstStyle/>
                    <a:p>
                      <a:pPr algn="l"/>
                      <a:r>
                        <a:rPr sz="740" b="0">
                          <a:solidFill>
                            <a:srgbClr val="333333"/>
                          </a:solidFill>
                          <a:latin typeface="Calibri"/>
                        </a:rPr>
                        <a:t>CSV</a:t>
                      </a:r>
                    </a:p>
                  </a:txBody>
                  <a:tcPr>
                    <a:solidFill>
                      <a:srgbClr val="FFFFFF"/>
                    </a:solidFill>
                  </a:tcPr>
                </a:tc>
                <a:tc>
                  <a:txBody>
                    <a:bodyPr/>
                    <a:lstStyle/>
                    <a:p>
                      <a:pPr algn="l"/>
                      <a:r>
                        <a:rPr sz="740" b="0">
                          <a:solidFill>
                            <a:srgbClr val="333333"/>
                          </a:solidFill>
                          <a:latin typeface="Calibri"/>
                        </a:rPr>
                        <a:t>Currency reference</a:t>
                      </a:r>
                    </a:p>
                  </a:txBody>
                  <a:tcPr>
                    <a:solidFill>
                      <a:srgbClr val="FFFFFF"/>
                    </a:solidFill>
                  </a:tcPr>
                </a:tc>
                <a:tc>
                  <a:txBody>
                    <a:bodyPr/>
                    <a:lstStyle/>
                    <a:p>
                      <a:pPr algn="l"/>
                      <a:r>
                        <a:rPr sz="740" b="0">
                          <a:solidFill>
                            <a:srgbClr val="333333"/>
                          </a:solidFill>
                          <a:latin typeface="Calibri"/>
                        </a:rPr>
                        <a:t>currency, rate_to_usd, as_of_date</a:t>
                      </a:r>
                    </a:p>
                  </a:txBody>
                  <a:tcPr>
                    <a:solidFill>
                      <a:srgbClr val="FFFFFF"/>
                    </a:solidFill>
                  </a:tcPr>
                </a:tc>
                <a:extLst>
                  <a:ext uri="{0D108BD9-81ED-4DB2-BD59-A6C34878D82A}">
                    <a16:rowId xmlns:a16="http://schemas.microsoft.com/office/drawing/2014/main" val="10003"/>
                  </a:ext>
                </a:extLst>
              </a:tr>
              <a:tr h="996696">
                <a:tc>
                  <a:txBody>
                    <a:bodyPr/>
                    <a:lstStyle/>
                    <a:p>
                      <a:pPr algn="l"/>
                      <a:r>
                        <a:rPr sz="740" b="0">
                          <a:solidFill>
                            <a:srgbClr val="333333"/>
                          </a:solidFill>
                          <a:latin typeface="Calibri"/>
                        </a:rPr>
                        <a:t>order_events.jsonl</a:t>
                      </a:r>
                    </a:p>
                  </a:txBody>
                  <a:tcPr>
                    <a:solidFill>
                      <a:srgbClr val="F0F4FA"/>
                    </a:solidFill>
                  </a:tcPr>
                </a:tc>
                <a:tc>
                  <a:txBody>
                    <a:bodyPr/>
                    <a:lstStyle/>
                    <a:p>
                      <a:pPr algn="l"/>
                      <a:r>
                        <a:rPr sz="740" b="0">
                          <a:solidFill>
                            <a:srgbClr val="333333"/>
                          </a:solidFill>
                          <a:latin typeface="Calibri"/>
                        </a:rPr>
                        <a:t>JSON Lines</a:t>
                      </a:r>
                    </a:p>
                  </a:txBody>
                  <a:tcPr>
                    <a:solidFill>
                      <a:srgbClr val="F0F4FA"/>
                    </a:solidFill>
                  </a:tcPr>
                </a:tc>
                <a:tc>
                  <a:txBody>
                    <a:bodyPr/>
                    <a:lstStyle/>
                    <a:p>
                      <a:pPr algn="l"/>
                      <a:r>
                        <a:rPr sz="740" b="0">
                          <a:solidFill>
                            <a:srgbClr val="333333"/>
                          </a:solidFill>
                          <a:latin typeface="Calibri"/>
                        </a:rPr>
                        <a:t>Order event fact stream</a:t>
                      </a:r>
                    </a:p>
                  </a:txBody>
                  <a:tcPr>
                    <a:solidFill>
                      <a:srgbClr val="F0F4FA"/>
                    </a:solidFill>
                  </a:tcPr>
                </a:tc>
                <a:tc>
                  <a:txBody>
                    <a:bodyPr/>
                    <a:lstStyle/>
                    <a:p>
                      <a:pPr algn="l"/>
                      <a:r>
                        <a:rPr sz="740" b="0">
                          <a:solidFill>
                            <a:srgbClr val="333333"/>
                          </a:solidFill>
                          <a:latin typeface="Calibri"/>
                        </a:rPr>
                        <a:t>event_id, order_id, customer_id, product_id, status, amount, currency, channel, event_time</a:t>
                      </a:r>
                    </a:p>
                  </a:txBody>
                  <a:tcPr>
                    <a:solidFill>
                      <a:srgbClr val="F0F4FA"/>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41</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What is the Medallion Architecture?</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A layered pattern for progressively improving data quality and usability.</a:t>
            </a:r>
          </a:p>
          <a:p>
            <a:pPr>
              <a:spcAft>
                <a:spcPts val="500"/>
              </a:spcAft>
              <a:defRPr sz="1300">
                <a:solidFill>
                  <a:srgbClr val="333333"/>
                </a:solidFill>
                <a:latin typeface="Calibri"/>
              </a:defRPr>
            </a:pPr>
            <a:r>
              <a:t>• Bronze stores raw source-aligned data.</a:t>
            </a:r>
          </a:p>
          <a:p>
            <a:pPr>
              <a:spcAft>
                <a:spcPts val="500"/>
              </a:spcAft>
              <a:defRPr sz="1300">
                <a:solidFill>
                  <a:srgbClr val="333333"/>
                </a:solidFill>
                <a:latin typeface="Calibri"/>
              </a:defRPr>
            </a:pPr>
            <a:r>
              <a:t>• Silver cleans, validates, deduplicates, and enriches data.</a:t>
            </a:r>
          </a:p>
          <a:p>
            <a:pPr>
              <a:spcAft>
                <a:spcPts val="500"/>
              </a:spcAft>
              <a:defRPr sz="1300">
                <a:solidFill>
                  <a:srgbClr val="333333"/>
                </a:solidFill>
                <a:latin typeface="Calibri"/>
              </a:defRPr>
            </a:pPr>
            <a:r>
              <a:t>• Gold serves business-ready aggregates and curated marts.</a:t>
            </a:r>
          </a:p>
        </p:txBody>
      </p:sp>
      <p:pic>
        <p:nvPicPr>
          <p:cNvPr id="5" name="Picture 4" descr="medallion-architecture.png"/>
          <p:cNvPicPr>
            <a:picLocks noChangeAspect="1"/>
          </p:cNvPicPr>
          <p:nvPr/>
        </p:nvPicPr>
        <p:blipFill>
          <a:blip r:embed="rId2"/>
          <a:stretch>
            <a:fillRect/>
          </a:stretch>
        </p:blipFill>
        <p:spPr>
          <a:xfrm>
            <a:off x="0" y="2066544"/>
            <a:ext cx="8942832" cy="3666744"/>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42</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Bronze Layer Overview — Purpose and Characteristics</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Captures source data with minimal transformation.</a:t>
            </a:r>
          </a:p>
          <a:p>
            <a:pPr>
              <a:spcAft>
                <a:spcPts val="500"/>
              </a:spcAft>
              <a:defRPr sz="1300">
                <a:solidFill>
                  <a:srgbClr val="333333"/>
                </a:solidFill>
                <a:latin typeface="Calibri"/>
              </a:defRPr>
            </a:pPr>
            <a:r>
              <a:t>• Preserves the original grain, columns, and operational context.</a:t>
            </a:r>
          </a:p>
          <a:p>
            <a:pPr>
              <a:spcAft>
                <a:spcPts val="500"/>
              </a:spcAft>
              <a:defRPr sz="1300">
                <a:solidFill>
                  <a:srgbClr val="333333"/>
                </a:solidFill>
                <a:latin typeface="Calibri"/>
              </a:defRPr>
            </a:pPr>
            <a:r>
              <a:t>• Provides a replayable history for downstream reprocessing.</a:t>
            </a:r>
          </a:p>
          <a:p>
            <a:pPr>
              <a:spcAft>
                <a:spcPts val="500"/>
              </a:spcAft>
              <a:defRPr sz="1300">
                <a:solidFill>
                  <a:srgbClr val="333333"/>
                </a:solidFill>
                <a:latin typeface="Calibri"/>
              </a:defRPr>
            </a:pPr>
            <a:r>
              <a:t>• Adds ingestion metadata for auditability and lineage.</a:t>
            </a:r>
          </a:p>
        </p:txBody>
      </p:sp>
      <p:sp>
        <p:nvSpPr>
          <p:cNvPr id="5" name="Rounded Rectangle 4"/>
          <p:cNvSpPr/>
          <p:nvPr/>
        </p:nvSpPr>
        <p:spPr>
          <a:xfrm>
            <a:off x="594360" y="3840480"/>
            <a:ext cx="1700784" cy="621792"/>
          </a:xfrm>
          <a:prstGeom prst="roundRect">
            <a:avLst/>
          </a:prstGeom>
          <a:solidFill>
            <a:srgbClr val="FFFFFF"/>
          </a:solidFill>
          <a:ln w="12700">
            <a:solidFill>
              <a:srgbClr val="90A4A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333333"/>
                </a:solidFill>
                <a:latin typeface="Calibri"/>
              </a:rPr>
              <a:t>data/raw</a:t>
            </a:r>
          </a:p>
        </p:txBody>
      </p:sp>
      <p:sp>
        <p:nvSpPr>
          <p:cNvPr id="6" name="Rectangle 5"/>
          <p:cNvSpPr/>
          <p:nvPr/>
        </p:nvSpPr>
        <p:spPr>
          <a:xfrm>
            <a:off x="2359151" y="4050792"/>
            <a:ext cx="256032" cy="164592"/>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002060"/>
                </a:solidFill>
                <a:latin typeface="Calibri"/>
              </a:rPr>
              <a:t>→</a:t>
            </a:r>
          </a:p>
        </p:txBody>
      </p:sp>
      <p:sp>
        <p:nvSpPr>
          <p:cNvPr id="7" name="Rounded Rectangle 6"/>
          <p:cNvSpPr/>
          <p:nvPr/>
        </p:nvSpPr>
        <p:spPr>
          <a:xfrm>
            <a:off x="2679191" y="3840480"/>
            <a:ext cx="1700784" cy="621792"/>
          </a:xfrm>
          <a:prstGeom prst="roundRect">
            <a:avLst/>
          </a:prstGeom>
          <a:solidFill>
            <a:srgbClr val="CD7F32"/>
          </a:solidFill>
          <a:ln w="12700">
            <a:solidFill>
              <a:srgbClr val="90A4A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333333"/>
                </a:solidFill>
                <a:latin typeface="Calibri"/>
              </a:rPr>
              <a:t>bronze/customers</a:t>
            </a:r>
          </a:p>
        </p:txBody>
      </p:sp>
      <p:sp>
        <p:nvSpPr>
          <p:cNvPr id="8" name="Rectangle 7"/>
          <p:cNvSpPr/>
          <p:nvPr/>
        </p:nvSpPr>
        <p:spPr>
          <a:xfrm>
            <a:off x="4443983" y="4050792"/>
            <a:ext cx="256032" cy="164592"/>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002060"/>
                </a:solidFill>
                <a:latin typeface="Calibri"/>
              </a:rPr>
              <a:t>→</a:t>
            </a:r>
          </a:p>
        </p:txBody>
      </p:sp>
      <p:sp>
        <p:nvSpPr>
          <p:cNvPr id="9" name="Rounded Rectangle 8"/>
          <p:cNvSpPr/>
          <p:nvPr/>
        </p:nvSpPr>
        <p:spPr>
          <a:xfrm>
            <a:off x="4764024" y="3840480"/>
            <a:ext cx="1700784" cy="621792"/>
          </a:xfrm>
          <a:prstGeom prst="roundRect">
            <a:avLst/>
          </a:prstGeom>
          <a:solidFill>
            <a:srgbClr val="CD7F32"/>
          </a:solidFill>
          <a:ln w="12700">
            <a:solidFill>
              <a:srgbClr val="90A4A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333333"/>
                </a:solidFill>
                <a:latin typeface="Calibri"/>
              </a:rPr>
              <a:t>bronze/products</a:t>
            </a:r>
          </a:p>
        </p:txBody>
      </p:sp>
      <p:sp>
        <p:nvSpPr>
          <p:cNvPr id="10" name="Rectangle 9"/>
          <p:cNvSpPr/>
          <p:nvPr/>
        </p:nvSpPr>
        <p:spPr>
          <a:xfrm>
            <a:off x="6528816" y="4050792"/>
            <a:ext cx="256032" cy="164592"/>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002060"/>
                </a:solidFill>
                <a:latin typeface="Calibri"/>
              </a:rPr>
              <a:t>→</a:t>
            </a:r>
          </a:p>
        </p:txBody>
      </p:sp>
      <p:sp>
        <p:nvSpPr>
          <p:cNvPr id="11" name="Rounded Rectangle 10"/>
          <p:cNvSpPr/>
          <p:nvPr/>
        </p:nvSpPr>
        <p:spPr>
          <a:xfrm>
            <a:off x="6848856" y="3840480"/>
            <a:ext cx="1700784" cy="621792"/>
          </a:xfrm>
          <a:prstGeom prst="roundRect">
            <a:avLst/>
          </a:prstGeom>
          <a:solidFill>
            <a:srgbClr val="CD7F32"/>
          </a:solidFill>
          <a:ln w="12700">
            <a:solidFill>
              <a:srgbClr val="90A4A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333333"/>
                </a:solidFill>
                <a:latin typeface="Calibri"/>
              </a:rPr>
              <a:t>bronze/order_events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43</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Bronze Design Principles</a:t>
            </a:r>
          </a:p>
        </p:txBody>
      </p:sp>
      <p:sp>
        <p:nvSpPr>
          <p:cNvPr id="4" name="TextBox 3"/>
          <p:cNvSpPr txBox="1"/>
          <p:nvPr/>
        </p:nvSpPr>
        <p:spPr>
          <a:xfrm>
            <a:off x="658368" y="868680"/>
            <a:ext cx="7909560" cy="5257800"/>
          </a:xfrm>
          <a:prstGeom prst="rect">
            <a:avLst/>
          </a:prstGeom>
          <a:noFill/>
        </p:spPr>
        <p:txBody>
          <a:bodyPr wrap="square" lIns="27432" tIns="18288" rIns="27432">
            <a:spAutoFit/>
          </a:bodyPr>
          <a:lstStyle/>
          <a:p>
            <a:pPr>
              <a:spcAft>
                <a:spcPts val="300"/>
              </a:spcAft>
              <a:defRPr sz="1200">
                <a:solidFill>
                  <a:srgbClr val="333333"/>
                </a:solidFill>
                <a:latin typeface="Calibri"/>
              </a:defRPr>
            </a:pPr>
            <a:r>
              <a:t>• Append-only: new batches add new records or files.</a:t>
            </a:r>
          </a:p>
          <a:p>
            <a:pPr>
              <a:spcAft>
                <a:spcPts val="300"/>
              </a:spcAft>
              <a:defRPr sz="1200">
                <a:solidFill>
                  <a:srgbClr val="333333"/>
                </a:solidFill>
                <a:latin typeface="Calibri"/>
              </a:defRPr>
            </a:pPr>
            <a:r>
              <a:t>• Immutable: do not silently alter what arrived from the source.</a:t>
            </a:r>
          </a:p>
          <a:p>
            <a:pPr>
              <a:spcAft>
                <a:spcPts val="300"/>
              </a:spcAft>
              <a:defRPr sz="1200">
                <a:solidFill>
                  <a:srgbClr val="333333"/>
                </a:solidFill>
                <a:latin typeface="Calibri"/>
              </a:defRPr>
            </a:pPr>
            <a:r>
              <a:t>• Full fidelity: preserve raw fields even when they are messy.</a:t>
            </a:r>
          </a:p>
          <a:p>
            <a:pPr>
              <a:spcAft>
                <a:spcPts val="300"/>
              </a:spcAft>
              <a:defRPr sz="1200">
                <a:solidFill>
                  <a:srgbClr val="333333"/>
                </a:solidFill>
                <a:latin typeface="Calibri"/>
              </a:defRPr>
            </a:pPr>
            <a:r>
              <a:t>• Metadata-enriched: attach source file, batch ID, and ingestion timestamp.</a:t>
            </a:r>
          </a:p>
          <a:p>
            <a:pPr>
              <a:spcAft>
                <a:spcPts val="300"/>
              </a:spcAft>
              <a:defRPr sz="1200">
                <a:solidFill>
                  <a:srgbClr val="333333"/>
                </a:solidFill>
                <a:latin typeface="Calibri"/>
              </a:defRPr>
            </a:pPr>
            <a:r>
              <a:t>• Replayable: downstream logic can be rebuilt from Bronze history.</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45</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Data Model Diagram</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Order events reference customers, products, and currency rates.</a:t>
            </a:r>
          </a:p>
          <a:p>
            <a:pPr>
              <a:spcAft>
                <a:spcPts val="500"/>
              </a:spcAft>
              <a:defRPr sz="1300">
                <a:solidFill>
                  <a:srgbClr val="333333"/>
                </a:solidFill>
                <a:latin typeface="Calibri"/>
              </a:defRPr>
            </a:pPr>
            <a:r>
              <a:t>• Bronze keeps each source independently before Silver joins them.</a:t>
            </a:r>
          </a:p>
          <a:p>
            <a:pPr>
              <a:spcAft>
                <a:spcPts val="500"/>
              </a:spcAft>
              <a:defRPr sz="1300">
                <a:solidFill>
                  <a:srgbClr val="333333"/>
                </a:solidFill>
                <a:latin typeface="Calibri"/>
              </a:defRPr>
            </a:pPr>
            <a:r>
              <a:t>• The model mirrors a common fact-plus-dimensions analytics pattern.</a:t>
            </a:r>
          </a:p>
        </p:txBody>
      </p:sp>
      <p:sp>
        <p:nvSpPr>
          <p:cNvPr id="5" name="Rounded Rectangle 4"/>
          <p:cNvSpPr/>
          <p:nvPr/>
        </p:nvSpPr>
        <p:spPr>
          <a:xfrm>
            <a:off x="502920" y="2651760"/>
            <a:ext cx="2057400" cy="1298448"/>
          </a:xfrm>
          <a:prstGeom prst="roundRect">
            <a:avLst/>
          </a:prstGeom>
          <a:solidFill>
            <a:srgbClr val="FFFFFF"/>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770" b="1">
                <a:solidFill>
                  <a:srgbClr val="333333"/>
                </a:solidFill>
                <a:latin typeface="Calibri"/>
              </a:rPr>
              <a:t>customers.csv
customer_id
name
email
country
region
signup_date
loyalty_tier</a:t>
            </a:r>
          </a:p>
        </p:txBody>
      </p:sp>
      <p:sp>
        <p:nvSpPr>
          <p:cNvPr id="6" name="Rounded Rectangle 5"/>
          <p:cNvSpPr/>
          <p:nvPr/>
        </p:nvSpPr>
        <p:spPr>
          <a:xfrm>
            <a:off x="2788920" y="2651760"/>
            <a:ext cx="2057400" cy="1298448"/>
          </a:xfrm>
          <a:prstGeom prst="roundRect">
            <a:avLst/>
          </a:prstGeom>
          <a:solidFill>
            <a:srgbClr val="FFFFFF"/>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770" b="1">
                <a:solidFill>
                  <a:srgbClr val="333333"/>
                </a:solidFill>
                <a:latin typeface="Calibri"/>
              </a:rPr>
              <a:t>products.csv
product_id
name
category
unit_cost</a:t>
            </a:r>
          </a:p>
        </p:txBody>
      </p:sp>
      <p:sp>
        <p:nvSpPr>
          <p:cNvPr id="7" name="Rounded Rectangle 6"/>
          <p:cNvSpPr/>
          <p:nvPr/>
        </p:nvSpPr>
        <p:spPr>
          <a:xfrm>
            <a:off x="5074920" y="2651760"/>
            <a:ext cx="2057400" cy="1298448"/>
          </a:xfrm>
          <a:prstGeom prst="roundRect">
            <a:avLst/>
          </a:prstGeom>
          <a:solidFill>
            <a:srgbClr val="FFFFFF"/>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770" b="1">
                <a:solidFill>
                  <a:srgbClr val="333333"/>
                </a:solidFill>
                <a:latin typeface="Calibri"/>
              </a:rPr>
              <a:t>fx_rates.csv
currency
rate_to_usd
as_of_date</a:t>
            </a:r>
          </a:p>
        </p:txBody>
      </p:sp>
      <p:sp>
        <p:nvSpPr>
          <p:cNvPr id="8" name="Rounded Rectangle 7"/>
          <p:cNvSpPr/>
          <p:nvPr/>
        </p:nvSpPr>
        <p:spPr>
          <a:xfrm>
            <a:off x="2788920" y="4370832"/>
            <a:ext cx="2057400" cy="1298448"/>
          </a:xfrm>
          <a:prstGeom prst="roundRect">
            <a:avLst/>
          </a:prstGeom>
          <a:solidFill>
            <a:srgbClr val="FFFFFF"/>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770" b="1">
                <a:solidFill>
                  <a:srgbClr val="333333"/>
                </a:solidFill>
                <a:latin typeface="Calibri"/>
              </a:rPr>
              <a:t>order_events.jsonl
event_id
order_id
customer_id
product_id
status
amount
currency
channel
event_time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46</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Raw Ingestion Pattern</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Read source files using explicit schemas where possible.</a:t>
            </a:r>
          </a:p>
          <a:p>
            <a:pPr>
              <a:spcAft>
                <a:spcPts val="500"/>
              </a:spcAft>
              <a:defRPr sz="1300">
                <a:solidFill>
                  <a:srgbClr val="333333"/>
                </a:solidFill>
                <a:latin typeface="Calibri"/>
              </a:defRPr>
            </a:pPr>
            <a:r>
              <a:t>• Add standard Bronze metadata columns.</a:t>
            </a:r>
          </a:p>
          <a:p>
            <a:pPr>
              <a:spcAft>
                <a:spcPts val="500"/>
              </a:spcAft>
              <a:defRPr sz="1300">
                <a:solidFill>
                  <a:srgbClr val="333333"/>
                </a:solidFill>
                <a:latin typeface="Calibri"/>
              </a:defRPr>
            </a:pPr>
            <a:r>
              <a:t>• Write Parquet outputs in source-aligned Bronze folders.</a:t>
            </a:r>
          </a:p>
          <a:p>
            <a:pPr>
              <a:spcAft>
                <a:spcPts val="500"/>
              </a:spcAft>
              <a:defRPr sz="1300">
                <a:solidFill>
                  <a:srgbClr val="333333"/>
                </a:solidFill>
                <a:latin typeface="Calibri"/>
              </a:defRPr>
            </a:pPr>
            <a:r>
              <a:t>• Keep ingestion logic repeatable for batch reruns.</a:t>
            </a:r>
          </a:p>
        </p:txBody>
      </p:sp>
      <p:sp>
        <p:nvSpPr>
          <p:cNvPr id="5" name="Rounded Rectangle 4"/>
          <p:cNvSpPr/>
          <p:nvPr/>
        </p:nvSpPr>
        <p:spPr>
          <a:xfrm>
            <a:off x="320040" y="3566160"/>
            <a:ext cx="1481328" cy="822960"/>
          </a:xfrm>
          <a:prstGeom prst="roundRect">
            <a:avLst/>
          </a:prstGeom>
          <a:solidFill>
            <a:srgbClr val="FFFFFF"/>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80" b="1">
                <a:solidFill>
                  <a:srgbClr val="333333"/>
                </a:solidFill>
                <a:latin typeface="Calibri"/>
              </a:rPr>
              <a:t>[file]
Source Files
CSV + JSONL</a:t>
            </a:r>
          </a:p>
        </p:txBody>
      </p:sp>
      <p:sp>
        <p:nvSpPr>
          <p:cNvPr id="6" name="TextBox 5"/>
          <p:cNvSpPr txBox="1"/>
          <p:nvPr/>
        </p:nvSpPr>
        <p:spPr>
          <a:xfrm>
            <a:off x="1801368" y="3858768"/>
            <a:ext cx="256032" cy="164592"/>
          </a:xfrm>
          <a:prstGeom prst="rect">
            <a:avLst/>
          </a:prstGeom>
          <a:noFill/>
        </p:spPr>
        <p:txBody>
          <a:bodyPr wrap="square" lIns="73152" tIns="36576" rIns="73152" bIns="36576" anchor="t">
            <a:spAutoFit/>
          </a:bodyPr>
          <a:lstStyle/>
          <a:p>
            <a:pPr algn="ctr"/>
            <a:r>
              <a:rPr sz="1000" b="1">
                <a:solidFill>
                  <a:srgbClr val="002060"/>
                </a:solidFill>
                <a:latin typeface="Calibri"/>
              </a:rPr>
              <a:t>→</a:t>
            </a:r>
          </a:p>
        </p:txBody>
      </p:sp>
      <p:sp>
        <p:nvSpPr>
          <p:cNvPr id="7" name="Rounded Rectangle 6"/>
          <p:cNvSpPr/>
          <p:nvPr/>
        </p:nvSpPr>
        <p:spPr>
          <a:xfrm>
            <a:off x="2057400" y="3566160"/>
            <a:ext cx="1481328" cy="822960"/>
          </a:xfrm>
          <a:prstGeom prst="roundRect">
            <a:avLst/>
          </a:prstGeom>
          <a:solidFill>
            <a:srgbClr val="E3F2FD"/>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80" b="1">
                <a:solidFill>
                  <a:srgbClr val="333333"/>
                </a:solidFill>
                <a:latin typeface="Calibri"/>
              </a:rPr>
              <a:t>[spark]
Spark Read</a:t>
            </a:r>
          </a:p>
        </p:txBody>
      </p:sp>
      <p:sp>
        <p:nvSpPr>
          <p:cNvPr id="8" name="TextBox 7"/>
          <p:cNvSpPr txBox="1"/>
          <p:nvPr/>
        </p:nvSpPr>
        <p:spPr>
          <a:xfrm>
            <a:off x="3538728" y="3858768"/>
            <a:ext cx="256032" cy="164592"/>
          </a:xfrm>
          <a:prstGeom prst="rect">
            <a:avLst/>
          </a:prstGeom>
          <a:noFill/>
        </p:spPr>
        <p:txBody>
          <a:bodyPr wrap="square" lIns="73152" tIns="36576" rIns="73152" bIns="36576" anchor="t">
            <a:spAutoFit/>
          </a:bodyPr>
          <a:lstStyle/>
          <a:p>
            <a:pPr algn="ctr"/>
            <a:r>
              <a:rPr sz="1000" b="1">
                <a:solidFill>
                  <a:srgbClr val="002060"/>
                </a:solidFill>
                <a:latin typeface="Calibri"/>
              </a:rPr>
              <a:t>→</a:t>
            </a:r>
          </a:p>
        </p:txBody>
      </p:sp>
      <p:sp>
        <p:nvSpPr>
          <p:cNvPr id="9" name="Rounded Rectangle 8"/>
          <p:cNvSpPr/>
          <p:nvPr/>
        </p:nvSpPr>
        <p:spPr>
          <a:xfrm>
            <a:off x="3794760" y="3566160"/>
            <a:ext cx="1481328" cy="822960"/>
          </a:xfrm>
          <a:prstGeom prst="roundRect">
            <a:avLst/>
          </a:prstGeom>
          <a:solidFill>
            <a:srgbClr val="FFF8E1"/>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80" b="1">
                <a:solidFill>
                  <a:srgbClr val="333333"/>
                </a:solidFill>
                <a:latin typeface="Calibri"/>
              </a:rPr>
              <a:t>[tag]
Add Metadata
_source_file
_batch_id
_ingested_at</a:t>
            </a:r>
          </a:p>
        </p:txBody>
      </p:sp>
      <p:sp>
        <p:nvSpPr>
          <p:cNvPr id="10" name="TextBox 9"/>
          <p:cNvSpPr txBox="1"/>
          <p:nvPr/>
        </p:nvSpPr>
        <p:spPr>
          <a:xfrm>
            <a:off x="5276088" y="3858768"/>
            <a:ext cx="256032" cy="164592"/>
          </a:xfrm>
          <a:prstGeom prst="rect">
            <a:avLst/>
          </a:prstGeom>
          <a:noFill/>
        </p:spPr>
        <p:txBody>
          <a:bodyPr wrap="square" lIns="73152" tIns="36576" rIns="73152" bIns="36576" anchor="t">
            <a:spAutoFit/>
          </a:bodyPr>
          <a:lstStyle/>
          <a:p>
            <a:pPr algn="ctr"/>
            <a:r>
              <a:rPr sz="1000" b="1">
                <a:solidFill>
                  <a:srgbClr val="002060"/>
                </a:solidFill>
                <a:latin typeface="Calibri"/>
              </a:rPr>
              <a:t>→</a:t>
            </a:r>
          </a:p>
        </p:txBody>
      </p:sp>
      <p:sp>
        <p:nvSpPr>
          <p:cNvPr id="11" name="Rounded Rectangle 10"/>
          <p:cNvSpPr/>
          <p:nvPr/>
        </p:nvSpPr>
        <p:spPr>
          <a:xfrm>
            <a:off x="5532120" y="3566160"/>
            <a:ext cx="1481328" cy="822960"/>
          </a:xfrm>
          <a:prstGeom prst="roundRect">
            <a:avLst/>
          </a:prstGeom>
          <a:solidFill>
            <a:srgbClr val="FFFFFF"/>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80" b="1">
                <a:solidFill>
                  <a:srgbClr val="333333"/>
                </a:solidFill>
                <a:latin typeface="Calibri"/>
              </a:rPr>
              <a:t>[disk]
Write Parquet</a:t>
            </a:r>
          </a:p>
        </p:txBody>
      </p:sp>
      <p:sp>
        <p:nvSpPr>
          <p:cNvPr id="12" name="TextBox 11"/>
          <p:cNvSpPr txBox="1"/>
          <p:nvPr/>
        </p:nvSpPr>
        <p:spPr>
          <a:xfrm>
            <a:off x="7013448" y="3858768"/>
            <a:ext cx="256032" cy="164592"/>
          </a:xfrm>
          <a:prstGeom prst="rect">
            <a:avLst/>
          </a:prstGeom>
          <a:noFill/>
        </p:spPr>
        <p:txBody>
          <a:bodyPr wrap="square" lIns="73152" tIns="36576" rIns="73152" bIns="36576" anchor="t">
            <a:spAutoFit/>
          </a:bodyPr>
          <a:lstStyle/>
          <a:p>
            <a:pPr algn="ctr"/>
            <a:r>
              <a:rPr sz="1000" b="1">
                <a:solidFill>
                  <a:srgbClr val="002060"/>
                </a:solidFill>
                <a:latin typeface="Calibri"/>
              </a:rPr>
              <a:t>→</a:t>
            </a:r>
          </a:p>
        </p:txBody>
      </p:sp>
      <p:sp>
        <p:nvSpPr>
          <p:cNvPr id="13" name="Rounded Rectangle 12"/>
          <p:cNvSpPr/>
          <p:nvPr/>
        </p:nvSpPr>
        <p:spPr>
          <a:xfrm>
            <a:off x="7269480" y="3566160"/>
            <a:ext cx="1481328" cy="822960"/>
          </a:xfrm>
          <a:prstGeom prst="roundRect">
            <a:avLst/>
          </a:prstGeom>
          <a:solidFill>
            <a:srgbClr val="CD7F32"/>
          </a:solidFill>
          <a:ln w="12700">
            <a:solidFill>
              <a:srgbClr val="CD7F3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80" b="1">
                <a:solidFill>
                  <a:srgbClr val="FFFFFF"/>
                </a:solidFill>
                <a:latin typeface="Calibri"/>
              </a:rPr>
              <a:t>[db]
Bronze Layer
lake/bronze/orders_raw/</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47</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Adding Bronze Metadata Columns</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_source_file records the exact file path or file name.</a:t>
            </a:r>
          </a:p>
          <a:p>
            <a:pPr>
              <a:spcAft>
                <a:spcPts val="500"/>
              </a:spcAft>
              <a:defRPr sz="1300">
                <a:solidFill>
                  <a:srgbClr val="333333"/>
                </a:solidFill>
                <a:latin typeface="Calibri"/>
              </a:defRPr>
            </a:pPr>
            <a:r>
              <a:t>• _ingestion_batch_id groups records loaded together.</a:t>
            </a:r>
          </a:p>
          <a:p>
            <a:pPr>
              <a:spcAft>
                <a:spcPts val="500"/>
              </a:spcAft>
              <a:defRPr sz="1300">
                <a:solidFill>
                  <a:srgbClr val="333333"/>
                </a:solidFill>
                <a:latin typeface="Calibri"/>
              </a:defRPr>
            </a:pPr>
            <a:r>
              <a:t>• _bronze_ingested_at captures processing time for lineage.</a:t>
            </a:r>
          </a:p>
          <a:p>
            <a:pPr>
              <a:spcAft>
                <a:spcPts val="500"/>
              </a:spcAft>
              <a:defRPr sz="1300">
                <a:solidFill>
                  <a:srgbClr val="333333"/>
                </a:solidFill>
                <a:latin typeface="Calibri"/>
              </a:defRPr>
            </a:pPr>
            <a:r>
              <a:t>• Metadata turns raw data into auditable raw data.</a:t>
            </a:r>
          </a:p>
        </p:txBody>
      </p:sp>
      <p:sp>
        <p:nvSpPr>
          <p:cNvPr id="5" name="Rounded Rectangle 4"/>
          <p:cNvSpPr/>
          <p:nvPr/>
        </p:nvSpPr>
        <p:spPr>
          <a:xfrm>
            <a:off x="594360" y="2633472"/>
            <a:ext cx="7955279" cy="3337560"/>
          </a:xfrm>
          <a:prstGeom prst="roundRect">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100">
                <a:solidFill>
                  <a:srgbClr val="1B1B1B"/>
                </a:solidFill>
                <a:latin typeface="Consolas"/>
              </a:rPr>
              <a:t>bronze = (
    raw_df
    .withColumn("_source_file", F.input_file_name())
    .withColumn("_ingestion_batch_id", F.lit(batch_id))
    .withColumn("_bronze_ingested_at", F.current_timestamp())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48</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Code: with_bronze_metadata Function</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A small helper keeps metadata columns identical across sources.</a:t>
            </a:r>
          </a:p>
          <a:p>
            <a:pPr>
              <a:spcAft>
                <a:spcPts val="500"/>
              </a:spcAft>
              <a:defRPr sz="1300">
                <a:solidFill>
                  <a:srgbClr val="333333"/>
                </a:solidFill>
                <a:latin typeface="Calibri"/>
              </a:defRPr>
            </a:pPr>
            <a:r>
              <a:t>• Consistent metadata makes downstream quality checks and manifests easier.</a:t>
            </a:r>
          </a:p>
        </p:txBody>
      </p:sp>
      <p:sp>
        <p:nvSpPr>
          <p:cNvPr id="5" name="Rounded Rectangle 4"/>
          <p:cNvSpPr/>
          <p:nvPr/>
        </p:nvSpPr>
        <p:spPr>
          <a:xfrm>
            <a:off x="594360" y="2633472"/>
            <a:ext cx="7955279" cy="3337560"/>
          </a:xfrm>
          <a:prstGeom prst="roundRect">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100">
                <a:solidFill>
                  <a:srgbClr val="1B1B1B"/>
                </a:solidFill>
                <a:latin typeface="Consolas"/>
              </a:rPr>
              <a:t>def with_bronze_metadata(df, batch_id):
    return (
        df
        .withColumn("_source_file", F.input_file_name())
        .withColumn("_ingestion_batch_id", F.lit(batch_id))
        .withColumn("_bronze_ingested_at", F.current_timestamp())
    )</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49</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Code: Lab 04 — Bronze Raw Ingestion Walkthrough</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Read both raw order-event batches.</a:t>
            </a:r>
          </a:p>
          <a:p>
            <a:pPr>
              <a:spcAft>
                <a:spcPts val="500"/>
              </a:spcAft>
              <a:defRPr sz="1300">
                <a:solidFill>
                  <a:srgbClr val="333333"/>
                </a:solidFill>
                <a:latin typeface="Calibri"/>
              </a:defRPr>
            </a:pPr>
            <a:r>
              <a:t>• Add Bronze metadata for file, batch, and ingest time.</a:t>
            </a:r>
          </a:p>
          <a:p>
            <a:pPr>
              <a:spcAft>
                <a:spcPts val="500"/>
              </a:spcAft>
              <a:defRPr sz="1300">
                <a:solidFill>
                  <a:srgbClr val="333333"/>
                </a:solidFill>
                <a:latin typeface="Calibri"/>
              </a:defRPr>
            </a:pPr>
            <a:r>
              <a:t>• Write one raw orders table to the Bronze lake path.</a:t>
            </a:r>
          </a:p>
        </p:txBody>
      </p:sp>
      <p:sp>
        <p:nvSpPr>
          <p:cNvPr id="5" name="Rounded Rectangle 4"/>
          <p:cNvSpPr/>
          <p:nvPr/>
        </p:nvSpPr>
        <p:spPr>
          <a:xfrm>
            <a:off x="594360" y="2633472"/>
            <a:ext cx="7955279" cy="3337560"/>
          </a:xfrm>
          <a:prstGeom prst="roundRect">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100">
                <a:solidFill>
                  <a:srgbClr val="1B1B1B"/>
                </a:solidFill>
                <a:latin typeface="Consolas"/>
              </a:rPr>
              <a:t>bronze_path = LAKE_DIR / "bronze" / "orders_raw"
bronze = with_bronze_metadata(
    read_order_events(spark),
    "manual-full-load-001",
)
bronze.write.mode("overwrite").parquet(str(bronze_path))</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50</a:t>
            </a:r>
          </a:p>
        </p:txBody>
      </p:sp>
      <p:sp>
        <p:nvSpPr>
          <p:cNvPr id="3" name="Rectangle 2"/>
          <p:cNvSpPr/>
          <p:nvPr/>
        </p:nvSpPr>
        <p:spPr>
          <a:xfrm>
            <a:off x="201168" y="868680"/>
            <a:ext cx="73152" cy="5440680"/>
          </a:xfrm>
          <a:prstGeom prst="rect">
            <a:avLst/>
          </a:prstGeom>
          <a:solidFill>
            <a:srgbClr val="E67E22"/>
          </a:solidFill>
          <a:ln w="127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Mini-Exercise: Bronze Audit Metadata</a:t>
            </a:r>
          </a:p>
        </p:txBody>
      </p:sp>
      <p:sp>
        <p:nvSpPr>
          <p:cNvPr id="5" name="TextBox 4"/>
          <p:cNvSpPr txBox="1"/>
          <p:nvPr/>
        </p:nvSpPr>
        <p:spPr>
          <a:xfrm>
            <a:off x="658368" y="960120"/>
            <a:ext cx="7772400" cy="502920"/>
          </a:xfrm>
          <a:prstGeom prst="rect">
            <a:avLst/>
          </a:prstGeom>
          <a:noFill/>
        </p:spPr>
        <p:txBody>
          <a:bodyPr wrap="square" lIns="73152" tIns="36576" rIns="73152" bIns="36576" anchor="t">
            <a:spAutoFit/>
          </a:bodyPr>
          <a:lstStyle/>
          <a:p>
            <a:pPr algn="l"/>
            <a:r>
              <a:rPr sz="1600" b="0">
                <a:solidFill>
                  <a:srgbClr val="585858"/>
                </a:solidFill>
                <a:latin typeface="Calibri"/>
              </a:rPr>
              <a:t>Fill in the three metadata fields that make Bronze data traceable.</a:t>
            </a:r>
          </a:p>
        </p:txBody>
      </p:sp>
      <p:sp>
        <p:nvSpPr>
          <p:cNvPr id="6" name="Rounded Rectangle 5"/>
          <p:cNvSpPr/>
          <p:nvPr/>
        </p:nvSpPr>
        <p:spPr>
          <a:xfrm>
            <a:off x="822960" y="1783080"/>
            <a:ext cx="7498079" cy="457200"/>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1. Which file did the row come from?: ______________________________</a:t>
            </a:r>
          </a:p>
        </p:txBody>
      </p:sp>
      <p:sp>
        <p:nvSpPr>
          <p:cNvPr id="7" name="Rounded Rectangle 6"/>
          <p:cNvSpPr/>
          <p:nvPr/>
        </p:nvSpPr>
        <p:spPr>
          <a:xfrm>
            <a:off x="822960" y="2496312"/>
            <a:ext cx="7498079" cy="457200"/>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2. Which ingestion run loaded it?: ______________________________</a:t>
            </a:r>
          </a:p>
        </p:txBody>
      </p:sp>
      <p:sp>
        <p:nvSpPr>
          <p:cNvPr id="8" name="Rounded Rectangle 7"/>
          <p:cNvSpPr/>
          <p:nvPr/>
        </p:nvSpPr>
        <p:spPr>
          <a:xfrm>
            <a:off x="822960" y="3209544"/>
            <a:ext cx="7498079" cy="457200"/>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3. When did Bronze receive it?: ______________________________</a:t>
            </a:r>
          </a:p>
        </p:txBody>
      </p:sp>
      <p:sp>
        <p:nvSpPr>
          <p:cNvPr id="9" name="Rounded Rectangle 8"/>
          <p:cNvSpPr/>
          <p:nvPr/>
        </p:nvSpPr>
        <p:spPr>
          <a:xfrm>
            <a:off x="822960" y="5166360"/>
            <a:ext cx="7498079" cy="457200"/>
          </a:xfrm>
          <a:prstGeom prst="roundRect">
            <a:avLst/>
          </a:prstGeom>
          <a:solidFill>
            <a:srgbClr val="FFF8E1"/>
          </a:solidFill>
          <a:ln w="12700">
            <a:solidFill>
              <a:srgbClr val="F9A82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200" b="0">
                <a:solidFill>
                  <a:srgbClr val="333333"/>
                </a:solidFill>
                <a:latin typeface="Calibri"/>
              </a:rPr>
              <a:t>Hint: These columns should appear on every raw Bronze table.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51</a:t>
            </a:r>
          </a:p>
        </p:txBody>
      </p:sp>
      <p:sp>
        <p:nvSpPr>
          <p:cNvPr id="3" name="Rectangle 2"/>
          <p:cNvSpPr/>
          <p:nvPr/>
        </p:nvSpPr>
        <p:spPr>
          <a:xfrm>
            <a:off x="201168" y="868680"/>
            <a:ext cx="73152" cy="5440680"/>
          </a:xfrm>
          <a:prstGeom prst="rect">
            <a:avLst/>
          </a:prstGeom>
          <a:solidFill>
            <a:srgbClr val="27AE60"/>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Answers: Bronze Audit Metadata</a:t>
            </a:r>
          </a:p>
        </p:txBody>
      </p:sp>
      <p:sp>
        <p:nvSpPr>
          <p:cNvPr id="5" name="TextBox 4"/>
          <p:cNvSpPr txBox="1"/>
          <p:nvPr/>
        </p:nvSpPr>
        <p:spPr>
          <a:xfrm>
            <a:off x="658368" y="960120"/>
            <a:ext cx="7772400" cy="384048"/>
          </a:xfrm>
          <a:prstGeom prst="rect">
            <a:avLst/>
          </a:prstGeom>
          <a:noFill/>
        </p:spPr>
        <p:txBody>
          <a:bodyPr wrap="square" lIns="73152" tIns="36576" rIns="73152" bIns="36576" anchor="t">
            <a:spAutoFit/>
          </a:bodyPr>
          <a:lstStyle/>
          <a:p>
            <a:pPr algn="l"/>
            <a:r>
              <a:rPr sz="1600" b="0">
                <a:solidFill>
                  <a:srgbClr val="585858"/>
                </a:solidFill>
                <a:latin typeface="Calibri"/>
              </a:rPr>
              <a:t>Compare your blanks with the reference answers.</a:t>
            </a:r>
          </a:p>
        </p:txBody>
      </p:sp>
      <p:sp>
        <p:nvSpPr>
          <p:cNvPr id="6" name="Rounded Rectangle 5"/>
          <p:cNvSpPr/>
          <p:nvPr/>
        </p:nvSpPr>
        <p:spPr>
          <a:xfrm>
            <a:off x="822960" y="1664208"/>
            <a:ext cx="7498079" cy="457200"/>
          </a:xfrm>
          <a:prstGeom prst="roundRect">
            <a:avLst/>
          </a:prstGeom>
          <a:solidFill>
            <a:srgbClr val="E9F7EF"/>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1">
                <a:solidFill>
                  <a:srgbClr val="333333"/>
                </a:solidFill>
                <a:latin typeface="Calibri"/>
              </a:rPr>
              <a:t>✓ Which file did the row come from?: _source_file</a:t>
            </a:r>
          </a:p>
        </p:txBody>
      </p:sp>
      <p:sp>
        <p:nvSpPr>
          <p:cNvPr id="7" name="Rounded Rectangle 6"/>
          <p:cNvSpPr/>
          <p:nvPr/>
        </p:nvSpPr>
        <p:spPr>
          <a:xfrm>
            <a:off x="822960" y="2377440"/>
            <a:ext cx="7498079" cy="457200"/>
          </a:xfrm>
          <a:prstGeom prst="roundRect">
            <a:avLst/>
          </a:prstGeom>
          <a:solidFill>
            <a:srgbClr val="E9F7EF"/>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1">
                <a:solidFill>
                  <a:srgbClr val="333333"/>
                </a:solidFill>
                <a:latin typeface="Calibri"/>
              </a:rPr>
              <a:t>✓ Which ingestion run loaded it?: _ingestion_batch_id</a:t>
            </a:r>
          </a:p>
        </p:txBody>
      </p:sp>
      <p:sp>
        <p:nvSpPr>
          <p:cNvPr id="8" name="Rounded Rectangle 7"/>
          <p:cNvSpPr/>
          <p:nvPr/>
        </p:nvSpPr>
        <p:spPr>
          <a:xfrm>
            <a:off x="822960" y="3090672"/>
            <a:ext cx="7498079" cy="457200"/>
          </a:xfrm>
          <a:prstGeom prst="roundRect">
            <a:avLst/>
          </a:prstGeom>
          <a:solidFill>
            <a:srgbClr val="E9F7EF"/>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1">
                <a:solidFill>
                  <a:srgbClr val="333333"/>
                </a:solidFill>
                <a:latin typeface="Calibri"/>
              </a:rPr>
              <a:t>✓ When did Bronze receive it?: _bronze_ingested_at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52</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Schema Drift — What It Is and Why It Matters</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Schema drift happens when a source adds, removes, renames, or changes columns.</a:t>
            </a:r>
          </a:p>
          <a:p>
            <a:pPr>
              <a:spcAft>
                <a:spcPts val="500"/>
              </a:spcAft>
              <a:defRPr sz="1300">
                <a:solidFill>
                  <a:srgbClr val="333333"/>
                </a:solidFill>
                <a:latin typeface="Calibri"/>
              </a:defRPr>
            </a:pPr>
            <a:r>
              <a:t>• Raw ingestion should detect drift without losing the arriving payload.</a:t>
            </a:r>
          </a:p>
          <a:p>
            <a:pPr>
              <a:spcAft>
                <a:spcPts val="500"/>
              </a:spcAft>
              <a:defRPr sz="1300">
                <a:solidFill>
                  <a:srgbClr val="333333"/>
                </a:solidFill>
                <a:latin typeface="Calibri"/>
              </a:defRPr>
            </a:pPr>
            <a:r>
              <a:t>• Undetected drift can break Silver logic or silently corrupt business metrics.</a:t>
            </a:r>
          </a:p>
        </p:txBody>
      </p:sp>
      <p:sp>
        <p:nvSpPr>
          <p:cNvPr id="5" name="Rectangle 4"/>
          <p:cNvSpPr/>
          <p:nvPr/>
        </p:nvSpPr>
        <p:spPr>
          <a:xfrm>
            <a:off x="731520" y="3017520"/>
            <a:ext cx="3474720" cy="347472"/>
          </a:xfrm>
          <a:prstGeom prst="rect">
            <a:avLst/>
          </a:prstGeom>
          <a:solidFill>
            <a:srgbClr val="002060"/>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FFFFFF"/>
                </a:solidFill>
                <a:latin typeface="Calibri"/>
              </a:rPr>
              <a:t>Batch 1 Schema</a:t>
            </a:r>
          </a:p>
        </p:txBody>
      </p:sp>
      <p:sp>
        <p:nvSpPr>
          <p:cNvPr id="6" name="Rectangle 5"/>
          <p:cNvSpPr/>
          <p:nvPr/>
        </p:nvSpPr>
        <p:spPr>
          <a:xfrm>
            <a:off x="4937760" y="3017520"/>
            <a:ext cx="3474720" cy="347472"/>
          </a:xfrm>
          <a:prstGeom prst="rect">
            <a:avLst/>
          </a:prstGeom>
          <a:solidFill>
            <a:srgbClr val="E67E22"/>
          </a:solidFill>
          <a:ln w="12700">
            <a:solidFill>
              <a:srgbClr val="E67E2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FFFFFF"/>
                </a:solidFill>
                <a:latin typeface="Calibri"/>
              </a:rPr>
              <a:t>Batch 2 Schema (drifted)</a:t>
            </a:r>
          </a:p>
        </p:txBody>
      </p:sp>
      <p:sp>
        <p:nvSpPr>
          <p:cNvPr id="7" name="Rectangle 6"/>
          <p:cNvSpPr/>
          <p:nvPr/>
        </p:nvSpPr>
        <p:spPr>
          <a:xfrm>
            <a:off x="731520" y="3429000"/>
            <a:ext cx="3474720" cy="292608"/>
          </a:xfrm>
          <a:prstGeom prst="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00" b="0">
                <a:solidFill>
                  <a:srgbClr val="333333"/>
                </a:solidFill>
                <a:latin typeface="Calibri"/>
              </a:rPr>
              <a:t>order_id</a:t>
            </a:r>
          </a:p>
        </p:txBody>
      </p:sp>
      <p:sp>
        <p:nvSpPr>
          <p:cNvPr id="8" name="Rectangle 7"/>
          <p:cNvSpPr/>
          <p:nvPr/>
        </p:nvSpPr>
        <p:spPr>
          <a:xfrm>
            <a:off x="731520" y="3758184"/>
            <a:ext cx="3474720" cy="292608"/>
          </a:xfrm>
          <a:prstGeom prst="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00" b="0">
                <a:solidFill>
                  <a:srgbClr val="333333"/>
                </a:solidFill>
                <a:latin typeface="Calibri"/>
              </a:rPr>
              <a:t>status</a:t>
            </a:r>
          </a:p>
        </p:txBody>
      </p:sp>
      <p:sp>
        <p:nvSpPr>
          <p:cNvPr id="9" name="Rectangle 8"/>
          <p:cNvSpPr/>
          <p:nvPr/>
        </p:nvSpPr>
        <p:spPr>
          <a:xfrm>
            <a:off x="731520" y="4087368"/>
            <a:ext cx="3474720" cy="292608"/>
          </a:xfrm>
          <a:prstGeom prst="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00" b="0">
                <a:solidFill>
                  <a:srgbClr val="333333"/>
                </a:solidFill>
                <a:latin typeface="Calibri"/>
              </a:rPr>
              <a:t>amount</a:t>
            </a:r>
          </a:p>
        </p:txBody>
      </p:sp>
      <p:sp>
        <p:nvSpPr>
          <p:cNvPr id="10" name="Rectangle 9"/>
          <p:cNvSpPr/>
          <p:nvPr/>
        </p:nvSpPr>
        <p:spPr>
          <a:xfrm>
            <a:off x="731520" y="4416552"/>
            <a:ext cx="3474720" cy="292608"/>
          </a:xfrm>
          <a:prstGeom prst="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00" b="0">
                <a:solidFill>
                  <a:srgbClr val="333333"/>
                </a:solidFill>
                <a:latin typeface="Calibri"/>
              </a:rPr>
              <a:t>currency</a:t>
            </a:r>
          </a:p>
        </p:txBody>
      </p:sp>
      <p:sp>
        <p:nvSpPr>
          <p:cNvPr id="11" name="Rectangle 10"/>
          <p:cNvSpPr/>
          <p:nvPr/>
        </p:nvSpPr>
        <p:spPr>
          <a:xfrm>
            <a:off x="4937760" y="3429000"/>
            <a:ext cx="3474720" cy="292608"/>
          </a:xfrm>
          <a:prstGeom prst="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00" b="0">
                <a:solidFill>
                  <a:srgbClr val="333333"/>
                </a:solidFill>
                <a:latin typeface="Calibri"/>
              </a:rPr>
              <a:t>order_id</a:t>
            </a:r>
          </a:p>
        </p:txBody>
      </p:sp>
      <p:sp>
        <p:nvSpPr>
          <p:cNvPr id="12" name="Rectangle 11"/>
          <p:cNvSpPr/>
          <p:nvPr/>
        </p:nvSpPr>
        <p:spPr>
          <a:xfrm>
            <a:off x="4937760" y="3758184"/>
            <a:ext cx="3474720" cy="292608"/>
          </a:xfrm>
          <a:prstGeom prst="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00" b="0">
                <a:solidFill>
                  <a:srgbClr val="333333"/>
                </a:solidFill>
                <a:latin typeface="Calibri"/>
              </a:rPr>
              <a:t>status</a:t>
            </a:r>
          </a:p>
        </p:txBody>
      </p:sp>
      <p:sp>
        <p:nvSpPr>
          <p:cNvPr id="13" name="Rectangle 12"/>
          <p:cNvSpPr/>
          <p:nvPr/>
        </p:nvSpPr>
        <p:spPr>
          <a:xfrm>
            <a:off x="4937760" y="4087368"/>
            <a:ext cx="3474720" cy="292608"/>
          </a:xfrm>
          <a:prstGeom prst="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00" b="0">
                <a:solidFill>
                  <a:srgbClr val="333333"/>
                </a:solidFill>
                <a:latin typeface="Calibri"/>
              </a:rPr>
              <a:t>amount</a:t>
            </a:r>
          </a:p>
        </p:txBody>
      </p:sp>
      <p:sp>
        <p:nvSpPr>
          <p:cNvPr id="14" name="Rectangle 13"/>
          <p:cNvSpPr/>
          <p:nvPr/>
        </p:nvSpPr>
        <p:spPr>
          <a:xfrm>
            <a:off x="4937760" y="4416552"/>
            <a:ext cx="3474720" cy="292608"/>
          </a:xfrm>
          <a:prstGeom prst="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00" b="0">
                <a:solidFill>
                  <a:srgbClr val="333333"/>
                </a:solidFill>
                <a:latin typeface="Calibri"/>
              </a:rPr>
              <a:t>currency</a:t>
            </a:r>
          </a:p>
        </p:txBody>
      </p:sp>
      <p:sp>
        <p:nvSpPr>
          <p:cNvPr id="15" name="Rectangle 14"/>
          <p:cNvSpPr/>
          <p:nvPr/>
        </p:nvSpPr>
        <p:spPr>
          <a:xfrm>
            <a:off x="4937760" y="4745736"/>
            <a:ext cx="3474720" cy="292608"/>
          </a:xfrm>
          <a:prstGeom prst="rect">
            <a:avLst/>
          </a:prstGeom>
          <a:solidFill>
            <a:srgbClr val="FFF8E1"/>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00" b="0">
                <a:solidFill>
                  <a:srgbClr val="333333"/>
                </a:solidFill>
                <a:latin typeface="Calibri"/>
              </a:rPr>
              <a:t>coupon_code ← NEW</a:t>
            </a:r>
          </a:p>
        </p:txBody>
      </p:sp>
      <p:sp>
        <p:nvSpPr>
          <p:cNvPr id="16" name="Rectangle 15"/>
          <p:cNvSpPr/>
          <p:nvPr/>
        </p:nvSpPr>
        <p:spPr>
          <a:xfrm>
            <a:off x="4937760" y="5074920"/>
            <a:ext cx="3474720" cy="292608"/>
          </a:xfrm>
          <a:prstGeom prst="rect">
            <a:avLst/>
          </a:prstGeom>
          <a:solidFill>
            <a:srgbClr val="FFF8E1"/>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00" b="0">
                <a:solidFill>
                  <a:srgbClr val="333333"/>
                </a:solidFill>
                <a:latin typeface="Calibri"/>
              </a:rPr>
              <a:t>delivery_promise ← NEW</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53</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Schema Drift Detection — Profiling Columns for Nulls</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Column profiles reveal unexpected null spikes and missing fields.</a:t>
            </a:r>
          </a:p>
          <a:p>
            <a:pPr>
              <a:spcAft>
                <a:spcPts val="500"/>
              </a:spcAft>
              <a:defRPr sz="1300">
                <a:solidFill>
                  <a:srgbClr val="333333"/>
                </a:solidFill>
                <a:latin typeface="Calibri"/>
              </a:defRPr>
            </a:pPr>
            <a:r>
              <a:t>• Profiling at Bronze gives early warning before Silver transformations fail.</a:t>
            </a:r>
          </a:p>
          <a:p>
            <a:pPr>
              <a:spcAft>
                <a:spcPts val="500"/>
              </a:spcAft>
              <a:defRPr sz="1300">
                <a:solidFill>
                  <a:srgbClr val="333333"/>
                </a:solidFill>
                <a:latin typeface="Calibri"/>
              </a:defRPr>
            </a:pPr>
            <a:r>
              <a:t>• Lab 05 turns column-level observations into a repeatable drift report.</a:t>
            </a:r>
          </a:p>
        </p:txBody>
      </p:sp>
      <p:sp>
        <p:nvSpPr>
          <p:cNvPr id="5" name="Rounded Rectangle 4"/>
          <p:cNvSpPr/>
          <p:nvPr/>
        </p:nvSpPr>
        <p:spPr>
          <a:xfrm>
            <a:off x="594360" y="2633472"/>
            <a:ext cx="7955279" cy="3337560"/>
          </a:xfrm>
          <a:prstGeom prst="roundRect">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100">
                <a:solidFill>
                  <a:srgbClr val="1B1B1B"/>
                </a:solidFill>
                <a:latin typeface="Consolas"/>
              </a:rPr>
              <a:t>profile = raw_df.select([
    F.count(F.when(F.col(c).isNull(), c)).alias(f"{c}_nulls")
    for c in raw_df.columns
])
profile.show(truncate=False)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54</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Handling Schema Evolution</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Schema-on-read allows Bronze to store data before all downstream contracts are updated.</a:t>
            </a:r>
          </a:p>
          <a:p>
            <a:pPr>
              <a:spcAft>
                <a:spcPts val="500"/>
              </a:spcAft>
              <a:defRPr sz="1300">
                <a:solidFill>
                  <a:srgbClr val="333333"/>
                </a:solidFill>
                <a:latin typeface="Calibri"/>
              </a:defRPr>
            </a:pPr>
            <a:r>
              <a:t>• Merge schemas can help combine compatible Parquet evolutions.</a:t>
            </a:r>
          </a:p>
          <a:p>
            <a:pPr>
              <a:spcAft>
                <a:spcPts val="500"/>
              </a:spcAft>
              <a:defRPr sz="1300">
                <a:solidFill>
                  <a:srgbClr val="333333"/>
                </a:solidFill>
                <a:latin typeface="Calibri"/>
              </a:defRPr>
            </a:pPr>
            <a:r>
              <a:t>• Production pipelines should alert on drift and document accepted changes.</a:t>
            </a:r>
          </a:p>
          <a:p>
            <a:pPr>
              <a:spcAft>
                <a:spcPts val="500"/>
              </a:spcAft>
              <a:defRPr sz="1300">
                <a:solidFill>
                  <a:srgbClr val="333333"/>
                </a:solidFill>
                <a:latin typeface="Calibri"/>
              </a:defRPr>
            </a:pPr>
            <a:r>
              <a:t>• Silver decides which fields are trusted and conformed.</a:t>
            </a:r>
          </a:p>
        </p:txBody>
      </p:sp>
      <p:sp>
        <p:nvSpPr>
          <p:cNvPr id="5" name="Rounded Rectangle 4"/>
          <p:cNvSpPr/>
          <p:nvPr/>
        </p:nvSpPr>
        <p:spPr>
          <a:xfrm>
            <a:off x="594360" y="2633472"/>
            <a:ext cx="7955279" cy="3337560"/>
          </a:xfrm>
          <a:prstGeom prst="roundRect">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100">
                <a:solidFill>
                  <a:srgbClr val="1B1B1B"/>
                </a:solidFill>
                <a:latin typeface="Consolas"/>
              </a:rPr>
              <a:t>evolved = (
    spark.read
    .option("mergeSchema", "true")
    .parquet("output/bronze/order_events")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55</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Quiz: Which is NOT a Bronze Layer Principle?</a:t>
            </a:r>
          </a:p>
        </p:txBody>
      </p:sp>
      <p:sp>
        <p:nvSpPr>
          <p:cNvPr id="4" name="TextBox 3"/>
          <p:cNvSpPr txBox="1"/>
          <p:nvPr/>
        </p:nvSpPr>
        <p:spPr>
          <a:xfrm>
            <a:off x="658368" y="914400"/>
            <a:ext cx="7863840" cy="292608"/>
          </a:xfrm>
          <a:prstGeom prst="rect">
            <a:avLst/>
          </a:prstGeom>
          <a:noFill/>
        </p:spPr>
        <p:txBody>
          <a:bodyPr wrap="square" lIns="73152" tIns="36576" rIns="73152" bIns="36576" anchor="t">
            <a:spAutoFit/>
          </a:bodyPr>
          <a:lstStyle/>
          <a:p>
            <a:pPr algn="l"/>
            <a:r>
              <a:rPr sz="1600" b="0">
                <a:solidFill>
                  <a:srgbClr val="585858"/>
                </a:solidFill>
                <a:latin typeface="Calibri"/>
              </a:rPr>
              <a:t>Choose the best answer.</a:t>
            </a:r>
          </a:p>
        </p:txBody>
      </p:sp>
      <p:sp>
        <p:nvSpPr>
          <p:cNvPr id="5" name="Rounded Rectangle 4"/>
          <p:cNvSpPr/>
          <p:nvPr/>
        </p:nvSpPr>
        <p:spPr>
          <a:xfrm>
            <a:off x="822960" y="1481328"/>
            <a:ext cx="7498079" cy="420624"/>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A. Append-only ingestion.</a:t>
            </a:r>
          </a:p>
        </p:txBody>
      </p:sp>
      <p:sp>
        <p:nvSpPr>
          <p:cNvPr id="6" name="Rounded Rectangle 5"/>
          <p:cNvSpPr/>
          <p:nvPr/>
        </p:nvSpPr>
        <p:spPr>
          <a:xfrm>
            <a:off x="822960" y="2139696"/>
            <a:ext cx="7498079" cy="420624"/>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B. Preserve raw source fidelity.</a:t>
            </a:r>
          </a:p>
        </p:txBody>
      </p:sp>
      <p:sp>
        <p:nvSpPr>
          <p:cNvPr id="7" name="Rounded Rectangle 6"/>
          <p:cNvSpPr/>
          <p:nvPr/>
        </p:nvSpPr>
        <p:spPr>
          <a:xfrm>
            <a:off x="822960" y="2798064"/>
            <a:ext cx="7498079" cy="420624"/>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C. Overwrite raw history with only business aggregates.</a:t>
            </a:r>
          </a:p>
        </p:txBody>
      </p:sp>
      <p:sp>
        <p:nvSpPr>
          <p:cNvPr id="8" name="Rounded Rectangle 7"/>
          <p:cNvSpPr/>
          <p:nvPr/>
        </p:nvSpPr>
        <p:spPr>
          <a:xfrm>
            <a:off x="822960" y="3456432"/>
            <a:ext cx="7498079" cy="420624"/>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D. Add ingestion metadata for auditability.</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56</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Answer: Which is NOT a Bronze Layer Principle?</a:t>
            </a:r>
          </a:p>
        </p:txBody>
      </p:sp>
      <p:sp>
        <p:nvSpPr>
          <p:cNvPr id="4" name="TextBox 3"/>
          <p:cNvSpPr txBox="1"/>
          <p:nvPr/>
        </p:nvSpPr>
        <p:spPr>
          <a:xfrm>
            <a:off x="658368" y="914400"/>
            <a:ext cx="7863840" cy="292608"/>
          </a:xfrm>
          <a:prstGeom prst="rect">
            <a:avLst/>
          </a:prstGeom>
          <a:noFill/>
        </p:spPr>
        <p:txBody>
          <a:bodyPr wrap="square" lIns="73152" tIns="36576" rIns="73152" bIns="36576" anchor="t">
            <a:spAutoFit/>
          </a:bodyPr>
          <a:lstStyle/>
          <a:p>
            <a:pPr algn="l"/>
            <a:r>
              <a:rPr sz="1600" b="0">
                <a:solidFill>
                  <a:srgbClr val="585858"/>
                </a:solidFill>
                <a:latin typeface="Calibri"/>
              </a:rPr>
              <a:t>Review the correct answer and why it matters.</a:t>
            </a:r>
          </a:p>
        </p:txBody>
      </p:sp>
      <p:sp>
        <p:nvSpPr>
          <p:cNvPr id="5" name="Rounded Rectangle 4"/>
          <p:cNvSpPr/>
          <p:nvPr/>
        </p:nvSpPr>
        <p:spPr>
          <a:xfrm>
            <a:off x="822960" y="1481328"/>
            <a:ext cx="7498079" cy="420624"/>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A. Append-only ingestion.</a:t>
            </a:r>
          </a:p>
        </p:txBody>
      </p:sp>
      <p:sp>
        <p:nvSpPr>
          <p:cNvPr id="6" name="Rounded Rectangle 5"/>
          <p:cNvSpPr/>
          <p:nvPr/>
        </p:nvSpPr>
        <p:spPr>
          <a:xfrm>
            <a:off x="822960" y="2139696"/>
            <a:ext cx="7498079" cy="420624"/>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B. Preserve raw source fidelity.</a:t>
            </a:r>
          </a:p>
        </p:txBody>
      </p:sp>
      <p:sp>
        <p:nvSpPr>
          <p:cNvPr id="7" name="Rounded Rectangle 6"/>
          <p:cNvSpPr/>
          <p:nvPr/>
        </p:nvSpPr>
        <p:spPr>
          <a:xfrm>
            <a:off x="822960" y="2798064"/>
            <a:ext cx="7498079" cy="420624"/>
          </a:xfrm>
          <a:prstGeom prst="roundRect">
            <a:avLst/>
          </a:prstGeom>
          <a:solidFill>
            <a:srgbClr val="E9F7EF"/>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1">
                <a:solidFill>
                  <a:srgbClr val="333333"/>
                </a:solidFill>
                <a:latin typeface="Calibri"/>
              </a:rPr>
              <a:t>✓ C. Overwrite raw history with only business aggregates.</a:t>
            </a:r>
          </a:p>
        </p:txBody>
      </p:sp>
      <p:sp>
        <p:nvSpPr>
          <p:cNvPr id="8" name="Rounded Rectangle 7"/>
          <p:cNvSpPr/>
          <p:nvPr/>
        </p:nvSpPr>
        <p:spPr>
          <a:xfrm>
            <a:off x="822960" y="3456432"/>
            <a:ext cx="7498079" cy="420624"/>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D. Add ingestion metadata for auditability.</a:t>
            </a:r>
          </a:p>
        </p:txBody>
      </p:sp>
      <p:sp>
        <p:nvSpPr>
          <p:cNvPr id="9" name="Rounded Rectangle 8"/>
          <p:cNvSpPr/>
          <p:nvPr/>
        </p:nvSpPr>
        <p:spPr>
          <a:xfrm>
            <a:off x="822960" y="5074920"/>
            <a:ext cx="7498079" cy="621792"/>
          </a:xfrm>
          <a:prstGeom prst="roundRect">
            <a:avLst/>
          </a:prstGeom>
          <a:solidFill>
            <a:srgbClr val="F5FBF7"/>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200" b="0">
                <a:solidFill>
                  <a:srgbClr val="333333"/>
                </a:solidFill>
                <a:latin typeface="Calibri"/>
              </a:rPr>
              <a:t>Correct: business aggregates belong in Gold, not in the raw Bronze layer.</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57</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Bronze Layer in Production — Real-World Considerations</a:t>
            </a:r>
          </a:p>
        </p:txBody>
      </p:sp>
      <p:sp>
        <p:nvSpPr>
          <p:cNvPr id="4" name="TextBox 3"/>
          <p:cNvSpPr txBox="1"/>
          <p:nvPr/>
        </p:nvSpPr>
        <p:spPr>
          <a:xfrm>
            <a:off x="658368" y="868680"/>
            <a:ext cx="7909560" cy="5257800"/>
          </a:xfrm>
          <a:prstGeom prst="rect">
            <a:avLst/>
          </a:prstGeom>
          <a:noFill/>
        </p:spPr>
        <p:txBody>
          <a:bodyPr wrap="square" lIns="27432" tIns="18288" rIns="27432">
            <a:spAutoFit/>
          </a:bodyPr>
          <a:lstStyle/>
          <a:p>
            <a:pPr>
              <a:spcAft>
                <a:spcPts val="300"/>
              </a:spcAft>
              <a:defRPr sz="1200">
                <a:solidFill>
                  <a:srgbClr val="333333"/>
                </a:solidFill>
                <a:latin typeface="Calibri"/>
              </a:defRPr>
            </a:pPr>
            <a:r>
              <a:t>• Use idempotent file tracking to avoid duplicate ingestion.</a:t>
            </a:r>
          </a:p>
          <a:p>
            <a:pPr>
              <a:spcAft>
                <a:spcPts val="300"/>
              </a:spcAft>
              <a:defRPr sz="1200">
                <a:solidFill>
                  <a:srgbClr val="333333"/>
                </a:solidFill>
                <a:latin typeface="Calibri"/>
              </a:defRPr>
            </a:pPr>
            <a:r>
              <a:t>• Capture schema and file-level manifests for audit and replay.</a:t>
            </a:r>
          </a:p>
          <a:p>
            <a:pPr>
              <a:spcAft>
                <a:spcPts val="300"/>
              </a:spcAft>
              <a:defRPr sz="1200">
                <a:solidFill>
                  <a:srgbClr val="333333"/>
                </a:solidFill>
                <a:latin typeface="Calibri"/>
              </a:defRPr>
            </a:pPr>
            <a:r>
              <a:t>• Design folder layout around source system and ingestion date.</a:t>
            </a:r>
          </a:p>
          <a:p>
            <a:pPr>
              <a:spcAft>
                <a:spcPts val="300"/>
              </a:spcAft>
              <a:defRPr sz="1200">
                <a:solidFill>
                  <a:srgbClr val="333333"/>
                </a:solidFill>
                <a:latin typeface="Calibri"/>
              </a:defRPr>
            </a:pPr>
            <a:r>
              <a:t>• Separate raw ingestion from quality rejection decisions.</a:t>
            </a:r>
          </a:p>
          <a:p>
            <a:pPr>
              <a:spcAft>
                <a:spcPts val="300"/>
              </a:spcAft>
              <a:defRPr sz="1200">
                <a:solidFill>
                  <a:srgbClr val="333333"/>
                </a:solidFill>
                <a:latin typeface="Calibri"/>
              </a:defRPr>
            </a:pPr>
            <a:r>
              <a:t>• Monitor file sizes, late arrivals, and batch completeness.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58</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Architecture: Bronze in Our Lab</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Each raw source lands in its own Bronze Parquet output path.</a:t>
            </a:r>
          </a:p>
          <a:p>
            <a:pPr>
              <a:spcAft>
                <a:spcPts val="500"/>
              </a:spcAft>
              <a:defRPr sz="1300">
                <a:solidFill>
                  <a:srgbClr val="333333"/>
                </a:solidFill>
                <a:latin typeface="Calibri"/>
              </a:defRPr>
            </a:pPr>
            <a:r>
              <a:t>• Order events remain event-grained; dimensions remain source-grained.</a:t>
            </a:r>
          </a:p>
          <a:p>
            <a:pPr>
              <a:spcAft>
                <a:spcPts val="500"/>
              </a:spcAft>
              <a:defRPr sz="1300">
                <a:solidFill>
                  <a:srgbClr val="333333"/>
                </a:solidFill>
                <a:latin typeface="Calibri"/>
              </a:defRPr>
            </a:pPr>
            <a:r>
              <a:t>• Metadata columns make every downstream row traceable to ingestion.</a:t>
            </a:r>
          </a:p>
        </p:txBody>
      </p:sp>
      <p:sp>
        <p:nvSpPr>
          <p:cNvPr id="5" name="Rounded Rectangle 4"/>
          <p:cNvSpPr/>
          <p:nvPr/>
        </p:nvSpPr>
        <p:spPr>
          <a:xfrm>
            <a:off x="594360" y="3840480"/>
            <a:ext cx="1700784" cy="621792"/>
          </a:xfrm>
          <a:prstGeom prst="roundRect">
            <a:avLst/>
          </a:prstGeom>
          <a:solidFill>
            <a:srgbClr val="FFFFFF"/>
          </a:solidFill>
          <a:ln w="12700">
            <a:solidFill>
              <a:srgbClr val="90A4A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333333"/>
                </a:solidFill>
                <a:latin typeface="Calibri"/>
              </a:rPr>
              <a:t>data/raw</a:t>
            </a:r>
          </a:p>
        </p:txBody>
      </p:sp>
      <p:sp>
        <p:nvSpPr>
          <p:cNvPr id="6" name="Rectangle 5"/>
          <p:cNvSpPr/>
          <p:nvPr/>
        </p:nvSpPr>
        <p:spPr>
          <a:xfrm>
            <a:off x="2359151" y="4050792"/>
            <a:ext cx="256032" cy="164592"/>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002060"/>
                </a:solidFill>
                <a:latin typeface="Calibri"/>
              </a:rPr>
              <a:t>→</a:t>
            </a:r>
          </a:p>
        </p:txBody>
      </p:sp>
      <p:sp>
        <p:nvSpPr>
          <p:cNvPr id="7" name="Rounded Rectangle 6"/>
          <p:cNvSpPr/>
          <p:nvPr/>
        </p:nvSpPr>
        <p:spPr>
          <a:xfrm>
            <a:off x="2679191" y="3840480"/>
            <a:ext cx="1700784" cy="621792"/>
          </a:xfrm>
          <a:prstGeom prst="roundRect">
            <a:avLst/>
          </a:prstGeom>
          <a:solidFill>
            <a:srgbClr val="CD7F32"/>
          </a:solidFill>
          <a:ln w="12700">
            <a:solidFill>
              <a:srgbClr val="90A4A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333333"/>
                </a:solidFill>
                <a:latin typeface="Calibri"/>
              </a:rPr>
              <a:t>bronze/customers</a:t>
            </a:r>
          </a:p>
        </p:txBody>
      </p:sp>
      <p:sp>
        <p:nvSpPr>
          <p:cNvPr id="8" name="Rectangle 7"/>
          <p:cNvSpPr/>
          <p:nvPr/>
        </p:nvSpPr>
        <p:spPr>
          <a:xfrm>
            <a:off x="4443983" y="4050792"/>
            <a:ext cx="256032" cy="164592"/>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002060"/>
                </a:solidFill>
                <a:latin typeface="Calibri"/>
              </a:rPr>
              <a:t>→</a:t>
            </a:r>
          </a:p>
        </p:txBody>
      </p:sp>
      <p:sp>
        <p:nvSpPr>
          <p:cNvPr id="9" name="Rounded Rectangle 8"/>
          <p:cNvSpPr/>
          <p:nvPr/>
        </p:nvSpPr>
        <p:spPr>
          <a:xfrm>
            <a:off x="4764024" y="3840480"/>
            <a:ext cx="1700784" cy="621792"/>
          </a:xfrm>
          <a:prstGeom prst="roundRect">
            <a:avLst/>
          </a:prstGeom>
          <a:solidFill>
            <a:srgbClr val="CD7F32"/>
          </a:solidFill>
          <a:ln w="12700">
            <a:solidFill>
              <a:srgbClr val="90A4A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333333"/>
                </a:solidFill>
                <a:latin typeface="Calibri"/>
              </a:rPr>
              <a:t>bronze/products</a:t>
            </a:r>
          </a:p>
        </p:txBody>
      </p:sp>
      <p:sp>
        <p:nvSpPr>
          <p:cNvPr id="10" name="Rectangle 9"/>
          <p:cNvSpPr/>
          <p:nvPr/>
        </p:nvSpPr>
        <p:spPr>
          <a:xfrm>
            <a:off x="6528816" y="4050792"/>
            <a:ext cx="256032" cy="164592"/>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002060"/>
                </a:solidFill>
                <a:latin typeface="Calibri"/>
              </a:rPr>
              <a:t>→</a:t>
            </a:r>
          </a:p>
        </p:txBody>
      </p:sp>
      <p:sp>
        <p:nvSpPr>
          <p:cNvPr id="11" name="Rounded Rectangle 10"/>
          <p:cNvSpPr/>
          <p:nvPr/>
        </p:nvSpPr>
        <p:spPr>
          <a:xfrm>
            <a:off x="6848856" y="3840480"/>
            <a:ext cx="1700784" cy="621792"/>
          </a:xfrm>
          <a:prstGeom prst="roundRect">
            <a:avLst/>
          </a:prstGeom>
          <a:solidFill>
            <a:srgbClr val="CD7F32"/>
          </a:solidFill>
          <a:ln w="12700">
            <a:solidFill>
              <a:srgbClr val="90A4A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333333"/>
                </a:solidFill>
                <a:latin typeface="Calibri"/>
              </a:rPr>
              <a:t>bronze/order_events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59</a:t>
            </a:r>
          </a:p>
        </p:txBody>
      </p:sp>
      <p:sp>
        <p:nvSpPr>
          <p:cNvPr id="3" name="Rectangle 2"/>
          <p:cNvSpPr/>
          <p:nvPr/>
        </p:nvSpPr>
        <p:spPr>
          <a:xfrm>
            <a:off x="201168" y="868680"/>
            <a:ext cx="73152" cy="5440680"/>
          </a:xfrm>
          <a:prstGeom prst="rect">
            <a:avLst/>
          </a:prstGeom>
          <a:solidFill>
            <a:srgbClr val="002060"/>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Key Takeaways: Bronze Layer</a:t>
            </a:r>
          </a:p>
        </p:txBody>
      </p:sp>
      <p:sp>
        <p:nvSpPr>
          <p:cNvPr id="5" name="TextBox 4"/>
          <p:cNvSpPr txBox="1"/>
          <p:nvPr/>
        </p:nvSpPr>
        <p:spPr>
          <a:xfrm>
            <a:off x="658368" y="868680"/>
            <a:ext cx="7909560" cy="5257800"/>
          </a:xfrm>
          <a:prstGeom prst="rect">
            <a:avLst/>
          </a:prstGeom>
          <a:noFill/>
        </p:spPr>
        <p:txBody>
          <a:bodyPr wrap="square" lIns="27432" tIns="18288" rIns="27432">
            <a:spAutoFit/>
          </a:bodyPr>
          <a:lstStyle/>
          <a:p>
            <a:pPr>
              <a:spcAft>
                <a:spcPts val="300"/>
              </a:spcAft>
              <a:defRPr sz="1200">
                <a:solidFill>
                  <a:srgbClr val="333333"/>
                </a:solidFill>
                <a:latin typeface="Calibri"/>
              </a:defRPr>
            </a:pPr>
            <a:r>
              <a:t>• Bronze is raw, immutable, metadata-rich, and replayable.</a:t>
            </a:r>
          </a:p>
          <a:p>
            <a:pPr>
              <a:spcAft>
                <a:spcPts val="300"/>
              </a:spcAft>
              <a:defRPr sz="1200">
                <a:solidFill>
                  <a:srgbClr val="333333"/>
                </a:solidFill>
                <a:latin typeface="Calibri"/>
              </a:defRPr>
            </a:pPr>
            <a:r>
              <a:t>• Explicit schemas reduce ingestion surprises.</a:t>
            </a:r>
          </a:p>
          <a:p>
            <a:pPr>
              <a:spcAft>
                <a:spcPts val="300"/>
              </a:spcAft>
              <a:defRPr sz="1200">
                <a:solidFill>
                  <a:srgbClr val="333333"/>
                </a:solidFill>
                <a:latin typeface="Calibri"/>
              </a:defRPr>
            </a:pPr>
            <a:r>
              <a:t>• Schema drift should be detected early and recorded.</a:t>
            </a:r>
          </a:p>
          <a:p>
            <a:pPr>
              <a:spcAft>
                <a:spcPts val="300"/>
              </a:spcAft>
              <a:defRPr sz="1200">
                <a:solidFill>
                  <a:srgbClr val="333333"/>
                </a:solidFill>
                <a:latin typeface="Calibri"/>
              </a:defRPr>
            </a:pPr>
            <a:r>
              <a:t>• Do not apply business curation in Bronze.</a:t>
            </a:r>
          </a:p>
          <a:p>
            <a:pPr>
              <a:spcAft>
                <a:spcPts val="300"/>
              </a:spcAft>
              <a:defRPr sz="1200">
                <a:solidFill>
                  <a:srgbClr val="333333"/>
                </a:solidFill>
                <a:latin typeface="Calibri"/>
              </a:defRPr>
            </a:pPr>
            <a:r>
              <a:t>• Good Bronze design makes Silver rebuilds possible.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60</a:t>
            </a:r>
          </a:p>
        </p:txBody>
      </p:sp>
      <p:sp>
        <p:nvSpPr>
          <p:cNvPr id="3" name="TextBox 2"/>
          <p:cNvSpPr txBox="1"/>
          <p:nvPr/>
        </p:nvSpPr>
        <p:spPr>
          <a:xfrm>
            <a:off x="731520" y="2743200"/>
            <a:ext cx="7680960" cy="731520"/>
          </a:xfrm>
          <a:prstGeom prst="rect">
            <a:avLst/>
          </a:prstGeom>
          <a:noFill/>
        </p:spPr>
        <p:txBody>
          <a:bodyPr wrap="square" lIns="73152" tIns="36576" rIns="73152" bIns="36576" anchor="t">
            <a:spAutoFit/>
          </a:bodyPr>
          <a:lstStyle/>
          <a:p>
            <a:pPr algn="ctr"/>
            <a:r>
              <a:rPr sz="2400" b="1">
                <a:solidFill>
                  <a:srgbClr val="002060"/>
                </a:solidFill>
                <a:latin typeface="Calibri"/>
              </a:rPr>
              <a:t>☕ Break — 15 Minutes</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61</a:t>
            </a:r>
          </a:p>
        </p:txBody>
      </p:sp>
      <p:sp>
        <p:nvSpPr>
          <p:cNvPr id="3" name="Rectangle 2"/>
          <p:cNvSpPr/>
          <p:nvPr/>
        </p:nvSpPr>
        <p:spPr>
          <a:xfrm>
            <a:off x="0" y="0"/>
            <a:ext cx="9144000" cy="777240"/>
          </a:xfrm>
          <a:prstGeom prst="rect">
            <a:avLst/>
          </a:prstGeom>
          <a:solidFill>
            <a:srgbClr val="002060"/>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82880"/>
            <a:ext cx="8138160" cy="384048"/>
          </a:xfrm>
          <a:prstGeom prst="rect">
            <a:avLst/>
          </a:prstGeom>
          <a:noFill/>
        </p:spPr>
        <p:txBody>
          <a:bodyPr wrap="square" lIns="73152" tIns="36576" rIns="73152" bIns="36576" anchor="t">
            <a:spAutoFit/>
          </a:bodyPr>
          <a:lstStyle/>
          <a:p>
            <a:pPr algn="ctr"/>
            <a:r>
              <a:rPr sz="2000" b="1">
                <a:solidFill>
                  <a:srgbClr val="FFFFFF"/>
                </a:solidFill>
                <a:latin typeface="Calibri"/>
              </a:rPr>
              <a:t>MODULE 3: Silver Layer — Cleaning &amp; Quality</a:t>
            </a:r>
          </a:p>
        </p:txBody>
      </p:sp>
      <p:sp>
        <p:nvSpPr>
          <p:cNvPr id="5" name="TextBox 4"/>
          <p:cNvSpPr txBox="1"/>
          <p:nvPr/>
        </p:nvSpPr>
        <p:spPr>
          <a:xfrm>
            <a:off x="822960" y="2487168"/>
            <a:ext cx="7498079" cy="457200"/>
          </a:xfrm>
          <a:prstGeom prst="rect">
            <a:avLst/>
          </a:prstGeom>
          <a:noFill/>
        </p:spPr>
        <p:txBody>
          <a:bodyPr wrap="square" lIns="73152" tIns="36576" rIns="73152" bIns="36576" anchor="t">
            <a:spAutoFit/>
          </a:bodyPr>
          <a:lstStyle/>
          <a:p>
            <a:pPr algn="ctr"/>
            <a:r>
              <a:rPr sz="2400" b="1">
                <a:solidFill>
                  <a:srgbClr val="002060"/>
                </a:solidFill>
                <a:latin typeface="Calibri"/>
              </a:rPr>
              <a:t>MODULE 3: Silver Layer — Cleaning &amp; Quality</a:t>
            </a:r>
          </a:p>
        </p:txBody>
      </p:sp>
      <p:sp>
        <p:nvSpPr>
          <p:cNvPr id="6" name="Rectangle 5"/>
          <p:cNvSpPr/>
          <p:nvPr/>
        </p:nvSpPr>
        <p:spPr>
          <a:xfrm>
            <a:off x="2926080" y="3291840"/>
            <a:ext cx="3291840" cy="73152"/>
          </a:xfrm>
          <a:prstGeom prst="rect">
            <a:avLst/>
          </a:prstGeom>
          <a:solidFill>
            <a:srgbClr val="002060"/>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62</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Silver Layer Overview — Cleaned, Conformed, Validated</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Silver transforms raw data into reliable analytical entities.</a:t>
            </a:r>
          </a:p>
          <a:p>
            <a:pPr>
              <a:spcAft>
                <a:spcPts val="500"/>
              </a:spcAft>
              <a:defRPr sz="1300">
                <a:solidFill>
                  <a:srgbClr val="333333"/>
                </a:solidFill>
                <a:latin typeface="Calibri"/>
              </a:defRPr>
            </a:pPr>
            <a:r>
              <a:t>• Data types are corrected and names are standardized.</a:t>
            </a:r>
          </a:p>
          <a:p>
            <a:pPr>
              <a:spcAft>
                <a:spcPts val="500"/>
              </a:spcAft>
              <a:defRPr sz="1300">
                <a:solidFill>
                  <a:srgbClr val="333333"/>
                </a:solidFill>
                <a:latin typeface="Calibri"/>
              </a:defRPr>
            </a:pPr>
            <a:r>
              <a:t>• Quality rules classify valid and invalid records.</a:t>
            </a:r>
          </a:p>
          <a:p>
            <a:pPr>
              <a:spcAft>
                <a:spcPts val="500"/>
              </a:spcAft>
              <a:defRPr sz="1300">
                <a:solidFill>
                  <a:srgbClr val="333333"/>
                </a:solidFill>
                <a:latin typeface="Calibri"/>
              </a:defRPr>
            </a:pPr>
            <a:r>
              <a:t>• Silver is the main source for downstream joins and enrichment.</a:t>
            </a:r>
          </a:p>
        </p:txBody>
      </p:sp>
      <p:sp>
        <p:nvSpPr>
          <p:cNvPr id="5" name="Rounded Rectangle 4"/>
          <p:cNvSpPr/>
          <p:nvPr/>
        </p:nvSpPr>
        <p:spPr>
          <a:xfrm>
            <a:off x="868680" y="3456432"/>
            <a:ext cx="2194560" cy="1234440"/>
          </a:xfrm>
          <a:prstGeom prst="roundRect">
            <a:avLst/>
          </a:prstGeom>
          <a:solidFill>
            <a:srgbClr val="CD7F32"/>
          </a:solidFill>
          <a:ln w="12700">
            <a:solidFill>
              <a:srgbClr val="8C8C8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1B1B1B"/>
                </a:solidFill>
                <a:latin typeface="Calibri"/>
              </a:rPr>
              <a:t>Bronze
Raw, immutable
full fidelity</a:t>
            </a:r>
          </a:p>
        </p:txBody>
      </p:sp>
      <p:sp>
        <p:nvSpPr>
          <p:cNvPr id="6" name="Rectangle 5"/>
          <p:cNvSpPr/>
          <p:nvPr/>
        </p:nvSpPr>
        <p:spPr>
          <a:xfrm>
            <a:off x="3136391" y="3982212"/>
            <a:ext cx="274320" cy="18288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002060"/>
                </a:solidFill>
                <a:latin typeface="Calibri"/>
              </a:rPr>
              <a:t>→</a:t>
            </a:r>
          </a:p>
        </p:txBody>
      </p:sp>
      <p:sp>
        <p:nvSpPr>
          <p:cNvPr id="7" name="Rounded Rectangle 6"/>
          <p:cNvSpPr/>
          <p:nvPr/>
        </p:nvSpPr>
        <p:spPr>
          <a:xfrm>
            <a:off x="3474720" y="3456432"/>
            <a:ext cx="2194560" cy="1234440"/>
          </a:xfrm>
          <a:prstGeom prst="roundRect">
            <a:avLst/>
          </a:prstGeom>
          <a:solidFill>
            <a:srgbClr val="C0C0C0"/>
          </a:solidFill>
          <a:ln w="12700">
            <a:solidFill>
              <a:srgbClr val="8C8C8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1B1B1B"/>
                </a:solidFill>
                <a:latin typeface="Calibri"/>
              </a:rPr>
              <a:t>Silver
Cleaned, conformed
quality checked</a:t>
            </a:r>
          </a:p>
        </p:txBody>
      </p:sp>
      <p:sp>
        <p:nvSpPr>
          <p:cNvPr id="8" name="Rectangle 7"/>
          <p:cNvSpPr/>
          <p:nvPr/>
        </p:nvSpPr>
        <p:spPr>
          <a:xfrm>
            <a:off x="5742431" y="3982212"/>
            <a:ext cx="274320" cy="18288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002060"/>
                </a:solidFill>
                <a:latin typeface="Calibri"/>
              </a:rPr>
              <a:t>→</a:t>
            </a:r>
          </a:p>
        </p:txBody>
      </p:sp>
      <p:sp>
        <p:nvSpPr>
          <p:cNvPr id="9" name="Rounded Rectangle 8"/>
          <p:cNvSpPr/>
          <p:nvPr/>
        </p:nvSpPr>
        <p:spPr>
          <a:xfrm>
            <a:off x="6080760" y="3456432"/>
            <a:ext cx="2194560" cy="1234440"/>
          </a:xfrm>
          <a:prstGeom prst="roundRect">
            <a:avLst/>
          </a:prstGeom>
          <a:solidFill>
            <a:srgbClr val="FFD700"/>
          </a:solidFill>
          <a:ln w="12700">
            <a:solidFill>
              <a:srgbClr val="8C8C8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1B1B1B"/>
                </a:solidFill>
                <a:latin typeface="Calibri"/>
              </a:rPr>
              <a:t>Gold
Business-ready
KPIs and marts</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63</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Silver Design Principles</a:t>
            </a:r>
          </a:p>
        </p:txBody>
      </p:sp>
      <p:sp>
        <p:nvSpPr>
          <p:cNvPr id="4" name="TextBox 3"/>
          <p:cNvSpPr txBox="1"/>
          <p:nvPr/>
        </p:nvSpPr>
        <p:spPr>
          <a:xfrm>
            <a:off x="658368" y="868680"/>
            <a:ext cx="7909560" cy="5257800"/>
          </a:xfrm>
          <a:prstGeom prst="rect">
            <a:avLst/>
          </a:prstGeom>
          <a:noFill/>
        </p:spPr>
        <p:txBody>
          <a:bodyPr wrap="square" lIns="27432" tIns="18288" rIns="27432">
            <a:spAutoFit/>
          </a:bodyPr>
          <a:lstStyle/>
          <a:p>
            <a:pPr>
              <a:spcAft>
                <a:spcPts val="300"/>
              </a:spcAft>
              <a:defRPr sz="1200">
                <a:solidFill>
                  <a:srgbClr val="333333"/>
                </a:solidFill>
                <a:latin typeface="Calibri"/>
              </a:defRPr>
            </a:pPr>
            <a:r>
              <a:t>• Type-safe: cast strings into dates, numbers, and timestamps.</a:t>
            </a:r>
          </a:p>
          <a:p>
            <a:pPr>
              <a:spcAft>
                <a:spcPts val="300"/>
              </a:spcAft>
              <a:defRPr sz="1200">
                <a:solidFill>
                  <a:srgbClr val="333333"/>
                </a:solidFill>
                <a:latin typeface="Calibri"/>
              </a:defRPr>
            </a:pPr>
            <a:r>
              <a:t>• Standardized: normalize casing, whitespace, codes, and naming.</a:t>
            </a:r>
          </a:p>
          <a:p>
            <a:pPr>
              <a:spcAft>
                <a:spcPts val="300"/>
              </a:spcAft>
              <a:defRPr sz="1200">
                <a:solidFill>
                  <a:srgbClr val="333333"/>
                </a:solidFill>
                <a:latin typeface="Calibri"/>
              </a:defRPr>
            </a:pPr>
            <a:r>
              <a:t>• Quality-checked: apply explicit validation rules.</a:t>
            </a:r>
          </a:p>
          <a:p>
            <a:pPr>
              <a:spcAft>
                <a:spcPts val="300"/>
              </a:spcAft>
              <a:defRPr sz="1200">
                <a:solidFill>
                  <a:srgbClr val="333333"/>
                </a:solidFill>
                <a:latin typeface="Calibri"/>
              </a:defRPr>
            </a:pPr>
            <a:r>
              <a:t>• Queryable: store outputs in analytics-friendly Parquet structures.</a:t>
            </a:r>
          </a:p>
          <a:p>
            <a:pPr>
              <a:spcAft>
                <a:spcPts val="300"/>
              </a:spcAft>
              <a:defRPr sz="1200">
                <a:solidFill>
                  <a:srgbClr val="333333"/>
                </a:solidFill>
                <a:latin typeface="Calibri"/>
              </a:defRPr>
            </a:pPr>
            <a:r>
              <a:t>• Traceable: keep enough source metadata to investigate problems.</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64</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Data Cleaning Operations</a:t>
            </a:r>
          </a:p>
        </p:txBody>
      </p:sp>
      <p:graphicFrame>
        <p:nvGraphicFramePr>
          <p:cNvPr id="4" name="Table 3"/>
          <p:cNvGraphicFramePr>
            <a:graphicFrameLocks noGrp="1"/>
          </p:cNvGraphicFramePr>
          <p:nvPr/>
        </p:nvGraphicFramePr>
        <p:xfrm>
          <a:off x="530352" y="1143000"/>
          <a:ext cx="8092437" cy="4983480"/>
        </p:xfrm>
        <a:graphic>
          <a:graphicData uri="http://schemas.openxmlformats.org/drawingml/2006/table">
            <a:tbl>
              <a:tblPr firstRow="1" bandRow="1">
                <a:tableStyleId>{5C22544A-7EE6-4342-B048-85BDC9FD1C3A}</a:tableStyleId>
              </a:tblPr>
              <a:tblGrid>
                <a:gridCol w="2697479">
                  <a:extLst>
                    <a:ext uri="{9D8B030D-6E8A-4147-A177-3AD203B41FA5}">
                      <a16:colId xmlns:a16="http://schemas.microsoft.com/office/drawing/2014/main" val="20000"/>
                    </a:ext>
                  </a:extLst>
                </a:gridCol>
                <a:gridCol w="2697479">
                  <a:extLst>
                    <a:ext uri="{9D8B030D-6E8A-4147-A177-3AD203B41FA5}">
                      <a16:colId xmlns:a16="http://schemas.microsoft.com/office/drawing/2014/main" val="20001"/>
                    </a:ext>
                  </a:extLst>
                </a:gridCol>
                <a:gridCol w="2697479">
                  <a:extLst>
                    <a:ext uri="{9D8B030D-6E8A-4147-A177-3AD203B41FA5}">
                      <a16:colId xmlns:a16="http://schemas.microsoft.com/office/drawing/2014/main" val="20002"/>
                    </a:ext>
                  </a:extLst>
                </a:gridCol>
              </a:tblGrid>
              <a:tr h="830580">
                <a:tc>
                  <a:txBody>
                    <a:bodyPr/>
                    <a:lstStyle/>
                    <a:p>
                      <a:pPr algn="ctr"/>
                      <a:r>
                        <a:rPr sz="880" b="1">
                          <a:solidFill>
                            <a:srgbClr val="FFFFFF"/>
                          </a:solidFill>
                          <a:latin typeface="Calibri"/>
                        </a:rPr>
                        <a:t>Operation</a:t>
                      </a:r>
                    </a:p>
                  </a:txBody>
                  <a:tcPr>
                    <a:solidFill>
                      <a:srgbClr val="002060"/>
                    </a:solidFill>
                  </a:tcPr>
                </a:tc>
                <a:tc>
                  <a:txBody>
                    <a:bodyPr/>
                    <a:lstStyle/>
                    <a:p>
                      <a:pPr algn="ctr"/>
                      <a:r>
                        <a:rPr sz="880" b="1">
                          <a:solidFill>
                            <a:srgbClr val="FFFFFF"/>
                          </a:solidFill>
                          <a:latin typeface="Calibri"/>
                        </a:rPr>
                        <a:t>Before</a:t>
                      </a:r>
                    </a:p>
                  </a:txBody>
                  <a:tcPr>
                    <a:solidFill>
                      <a:srgbClr val="002060"/>
                    </a:solidFill>
                  </a:tcPr>
                </a:tc>
                <a:tc>
                  <a:txBody>
                    <a:bodyPr/>
                    <a:lstStyle/>
                    <a:p>
                      <a:pPr algn="ctr"/>
                      <a:r>
                        <a:rPr sz="880" b="1">
                          <a:solidFill>
                            <a:srgbClr val="FFFFFF"/>
                          </a:solidFill>
                          <a:latin typeface="Calibri"/>
                        </a:rPr>
                        <a:t>After</a:t>
                      </a:r>
                    </a:p>
                  </a:txBody>
                  <a:tcPr>
                    <a:solidFill>
                      <a:srgbClr val="002060"/>
                    </a:solidFill>
                  </a:tcPr>
                </a:tc>
                <a:extLst>
                  <a:ext uri="{0D108BD9-81ED-4DB2-BD59-A6C34878D82A}">
                    <a16:rowId xmlns:a16="http://schemas.microsoft.com/office/drawing/2014/main" val="10000"/>
                  </a:ext>
                </a:extLst>
              </a:tr>
              <a:tr h="830580">
                <a:tc>
                  <a:txBody>
                    <a:bodyPr/>
                    <a:lstStyle/>
                    <a:p>
                      <a:pPr algn="l"/>
                      <a:r>
                        <a:rPr sz="880" b="0">
                          <a:solidFill>
                            <a:srgbClr val="333333"/>
                          </a:solidFill>
                          <a:latin typeface="Calibri"/>
                        </a:rPr>
                        <a:t>Trim whitespace</a:t>
                      </a:r>
                    </a:p>
                  </a:txBody>
                  <a:tcPr>
                    <a:solidFill>
                      <a:srgbClr val="FFFFFF"/>
                    </a:solidFill>
                  </a:tcPr>
                </a:tc>
                <a:tc>
                  <a:txBody>
                    <a:bodyPr/>
                    <a:lstStyle/>
                    <a:p>
                      <a:pPr algn="l"/>
                      <a:r>
                        <a:rPr sz="880" b="0">
                          <a:solidFill>
                            <a:srgbClr val="333333"/>
                          </a:solidFill>
                          <a:latin typeface="Calibri"/>
                        </a:rPr>
                        <a:t>'  shipped  '</a:t>
                      </a:r>
                    </a:p>
                  </a:txBody>
                  <a:tcPr>
                    <a:solidFill>
                      <a:srgbClr val="FFFFFF"/>
                    </a:solidFill>
                  </a:tcPr>
                </a:tc>
                <a:tc>
                  <a:txBody>
                    <a:bodyPr/>
                    <a:lstStyle/>
                    <a:p>
                      <a:pPr algn="l"/>
                      <a:r>
                        <a:rPr sz="880" b="0">
                          <a:solidFill>
                            <a:srgbClr val="333333"/>
                          </a:solidFill>
                          <a:latin typeface="Calibri"/>
                        </a:rPr>
                        <a:t>'shipped'</a:t>
                      </a:r>
                    </a:p>
                  </a:txBody>
                  <a:tcPr>
                    <a:solidFill>
                      <a:srgbClr val="FFFFFF"/>
                    </a:solidFill>
                  </a:tcPr>
                </a:tc>
                <a:extLst>
                  <a:ext uri="{0D108BD9-81ED-4DB2-BD59-A6C34878D82A}">
                    <a16:rowId xmlns:a16="http://schemas.microsoft.com/office/drawing/2014/main" val="10001"/>
                  </a:ext>
                </a:extLst>
              </a:tr>
              <a:tr h="830580">
                <a:tc>
                  <a:txBody>
                    <a:bodyPr/>
                    <a:lstStyle/>
                    <a:p>
                      <a:pPr algn="l"/>
                      <a:r>
                        <a:rPr sz="880" b="0">
                          <a:solidFill>
                            <a:srgbClr val="333333"/>
                          </a:solidFill>
                          <a:latin typeface="Calibri"/>
                        </a:rPr>
                        <a:t>Normalize case</a:t>
                      </a:r>
                    </a:p>
                  </a:txBody>
                  <a:tcPr>
                    <a:solidFill>
                      <a:srgbClr val="F0F4FA"/>
                    </a:solidFill>
                  </a:tcPr>
                </a:tc>
                <a:tc>
                  <a:txBody>
                    <a:bodyPr/>
                    <a:lstStyle/>
                    <a:p>
                      <a:pPr algn="l"/>
                      <a:r>
                        <a:rPr sz="880" b="0">
                          <a:solidFill>
                            <a:srgbClr val="333333"/>
                          </a:solidFill>
                          <a:latin typeface="Calibri"/>
                        </a:rPr>
                        <a:t>'usd'</a:t>
                      </a:r>
                    </a:p>
                  </a:txBody>
                  <a:tcPr>
                    <a:solidFill>
                      <a:srgbClr val="F0F4FA"/>
                    </a:solidFill>
                  </a:tcPr>
                </a:tc>
                <a:tc>
                  <a:txBody>
                    <a:bodyPr/>
                    <a:lstStyle/>
                    <a:p>
                      <a:pPr algn="l"/>
                      <a:r>
                        <a:rPr sz="880" b="0">
                          <a:solidFill>
                            <a:srgbClr val="333333"/>
                          </a:solidFill>
                          <a:latin typeface="Calibri"/>
                        </a:rPr>
                        <a:t>'USD'</a:t>
                      </a:r>
                    </a:p>
                  </a:txBody>
                  <a:tcPr>
                    <a:solidFill>
                      <a:srgbClr val="F0F4FA"/>
                    </a:solidFill>
                  </a:tcPr>
                </a:tc>
                <a:extLst>
                  <a:ext uri="{0D108BD9-81ED-4DB2-BD59-A6C34878D82A}">
                    <a16:rowId xmlns:a16="http://schemas.microsoft.com/office/drawing/2014/main" val="10002"/>
                  </a:ext>
                </a:extLst>
              </a:tr>
              <a:tr h="830580">
                <a:tc>
                  <a:txBody>
                    <a:bodyPr/>
                    <a:lstStyle/>
                    <a:p>
                      <a:pPr algn="l"/>
                      <a:r>
                        <a:rPr sz="880" b="0">
                          <a:solidFill>
                            <a:srgbClr val="333333"/>
                          </a:solidFill>
                          <a:latin typeface="Calibri"/>
                        </a:rPr>
                        <a:t>Cast number</a:t>
                      </a:r>
                    </a:p>
                  </a:txBody>
                  <a:tcPr>
                    <a:solidFill>
                      <a:srgbClr val="FFFFFF"/>
                    </a:solidFill>
                  </a:tcPr>
                </a:tc>
                <a:tc>
                  <a:txBody>
                    <a:bodyPr/>
                    <a:lstStyle/>
                    <a:p>
                      <a:pPr algn="l"/>
                      <a:r>
                        <a:rPr sz="880" b="0">
                          <a:solidFill>
                            <a:srgbClr val="333333"/>
                          </a:solidFill>
                          <a:latin typeface="Calibri"/>
                        </a:rPr>
                        <a:t>'19.95'</a:t>
                      </a:r>
                    </a:p>
                  </a:txBody>
                  <a:tcPr>
                    <a:solidFill>
                      <a:srgbClr val="FFFFFF"/>
                    </a:solidFill>
                  </a:tcPr>
                </a:tc>
                <a:tc>
                  <a:txBody>
                    <a:bodyPr/>
                    <a:lstStyle/>
                    <a:p>
                      <a:pPr algn="l"/>
                      <a:r>
                        <a:rPr sz="880" b="0">
                          <a:solidFill>
                            <a:srgbClr val="333333"/>
                          </a:solidFill>
                          <a:latin typeface="Calibri"/>
                        </a:rPr>
                        <a:t>19.95</a:t>
                      </a:r>
                    </a:p>
                  </a:txBody>
                  <a:tcPr>
                    <a:solidFill>
                      <a:srgbClr val="FFFFFF"/>
                    </a:solidFill>
                  </a:tcPr>
                </a:tc>
                <a:extLst>
                  <a:ext uri="{0D108BD9-81ED-4DB2-BD59-A6C34878D82A}">
                    <a16:rowId xmlns:a16="http://schemas.microsoft.com/office/drawing/2014/main" val="10003"/>
                  </a:ext>
                </a:extLst>
              </a:tr>
              <a:tr h="830580">
                <a:tc>
                  <a:txBody>
                    <a:bodyPr/>
                    <a:lstStyle/>
                    <a:p>
                      <a:pPr algn="l"/>
                      <a:r>
                        <a:rPr sz="880" b="0">
                          <a:solidFill>
                            <a:srgbClr val="333333"/>
                          </a:solidFill>
                          <a:latin typeface="Calibri"/>
                        </a:rPr>
                        <a:t>Parse timestamp</a:t>
                      </a:r>
                    </a:p>
                  </a:txBody>
                  <a:tcPr>
                    <a:solidFill>
                      <a:srgbClr val="F0F4FA"/>
                    </a:solidFill>
                  </a:tcPr>
                </a:tc>
                <a:tc>
                  <a:txBody>
                    <a:bodyPr/>
                    <a:lstStyle/>
                    <a:p>
                      <a:pPr algn="l"/>
                      <a:r>
                        <a:rPr sz="880" b="0">
                          <a:solidFill>
                            <a:srgbClr val="333333"/>
                          </a:solidFill>
                          <a:latin typeface="Calibri"/>
                        </a:rPr>
                        <a:t>'2026-05-29T02:00:01Z'</a:t>
                      </a:r>
                    </a:p>
                  </a:txBody>
                  <a:tcPr>
                    <a:solidFill>
                      <a:srgbClr val="F0F4FA"/>
                    </a:solidFill>
                  </a:tcPr>
                </a:tc>
                <a:tc>
                  <a:txBody>
                    <a:bodyPr/>
                    <a:lstStyle/>
                    <a:p>
                      <a:pPr algn="l"/>
                      <a:r>
                        <a:rPr sz="880" b="0">
                          <a:solidFill>
                            <a:srgbClr val="333333"/>
                          </a:solidFill>
                          <a:latin typeface="Calibri"/>
                        </a:rPr>
                        <a:t>timestamp</a:t>
                      </a:r>
                    </a:p>
                  </a:txBody>
                  <a:tcPr>
                    <a:solidFill>
                      <a:srgbClr val="F0F4FA"/>
                    </a:solidFill>
                  </a:tcPr>
                </a:tc>
                <a:extLst>
                  <a:ext uri="{0D108BD9-81ED-4DB2-BD59-A6C34878D82A}">
                    <a16:rowId xmlns:a16="http://schemas.microsoft.com/office/drawing/2014/main" val="10004"/>
                  </a:ext>
                </a:extLst>
              </a:tr>
              <a:tr h="830580">
                <a:tc>
                  <a:txBody>
                    <a:bodyPr/>
                    <a:lstStyle/>
                    <a:p>
                      <a:pPr algn="l"/>
                      <a:r>
                        <a:rPr sz="880" b="0">
                          <a:solidFill>
                            <a:srgbClr val="333333"/>
                          </a:solidFill>
                          <a:latin typeface="Calibri"/>
                        </a:rPr>
                        <a:t>Derive date</a:t>
                      </a:r>
                    </a:p>
                  </a:txBody>
                  <a:tcPr>
                    <a:solidFill>
                      <a:srgbClr val="FFFFFF"/>
                    </a:solidFill>
                  </a:tcPr>
                </a:tc>
                <a:tc>
                  <a:txBody>
                    <a:bodyPr/>
                    <a:lstStyle/>
                    <a:p>
                      <a:pPr algn="l"/>
                      <a:r>
                        <a:rPr sz="880" b="0">
                          <a:solidFill>
                            <a:srgbClr val="333333"/>
                          </a:solidFill>
                          <a:latin typeface="Calibri"/>
                        </a:rPr>
                        <a:t>event_time_ts</a:t>
                      </a:r>
                    </a:p>
                  </a:txBody>
                  <a:tcPr>
                    <a:solidFill>
                      <a:srgbClr val="FFFFFF"/>
                    </a:solidFill>
                  </a:tcPr>
                </a:tc>
                <a:tc>
                  <a:txBody>
                    <a:bodyPr/>
                    <a:lstStyle/>
                    <a:p>
                      <a:pPr algn="l"/>
                      <a:r>
                        <a:rPr sz="880" b="0">
                          <a:solidFill>
                            <a:srgbClr val="333333"/>
                          </a:solidFill>
                          <a:latin typeface="Calibri"/>
                        </a:rPr>
                        <a:t>event_date</a:t>
                      </a:r>
                    </a:p>
                  </a:txBody>
                  <a:tcP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65</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Type Casting &amp; Standardization</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Raw strings become typed columns for downstream reliability.</a:t>
            </a:r>
          </a:p>
          <a:p>
            <a:pPr>
              <a:spcAft>
                <a:spcPts val="500"/>
              </a:spcAft>
              <a:defRPr sz="1300">
                <a:solidFill>
                  <a:srgbClr val="333333"/>
                </a:solidFill>
                <a:latin typeface="Calibri"/>
              </a:defRPr>
            </a:pPr>
            <a:r>
              <a:t>• Casting failures should be visible in quality checks.</a:t>
            </a:r>
          </a:p>
          <a:p>
            <a:pPr>
              <a:spcAft>
                <a:spcPts val="500"/>
              </a:spcAft>
              <a:defRPr sz="1300">
                <a:solidFill>
                  <a:srgbClr val="333333"/>
                </a:solidFill>
                <a:latin typeface="Calibri"/>
              </a:defRPr>
            </a:pPr>
            <a:r>
              <a:t>• Standard naming keeps join and aggregation logic predictable.</a:t>
            </a:r>
          </a:p>
        </p:txBody>
      </p:sp>
      <p:sp>
        <p:nvSpPr>
          <p:cNvPr id="5" name="Rounded Rectangle 4"/>
          <p:cNvSpPr/>
          <p:nvPr/>
        </p:nvSpPr>
        <p:spPr>
          <a:xfrm>
            <a:off x="594360" y="2633472"/>
            <a:ext cx="7955279" cy="3337560"/>
          </a:xfrm>
          <a:prstGeom prst="roundRect">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100">
                <a:solidFill>
                  <a:srgbClr val="1B1B1B"/>
                </a:solidFill>
                <a:latin typeface="Consolas"/>
              </a:rPr>
              <a:t>cleaned = (
    bronze_orders
    .withColumn("amount", F.col("amount").cast("double"))
    .withColumn("order_id", F.col("order_id").cast("int"))
    .withColumn("currency", F.upper(F.trim("currency")))
    .withColumn("status", F.upper(F.trim("status")))
)</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66</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String Normalization</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Normalize categorical columns before joins, filters, and KPI rules.</a:t>
            </a:r>
          </a:p>
          <a:p>
            <a:pPr>
              <a:spcAft>
                <a:spcPts val="500"/>
              </a:spcAft>
              <a:defRPr sz="1300">
                <a:solidFill>
                  <a:srgbClr val="333333"/>
                </a:solidFill>
                <a:latin typeface="Calibri"/>
              </a:defRPr>
            </a:pPr>
            <a:r>
              <a:t>• Trim whitespace that often arrives from CSV exports or manual systems.</a:t>
            </a:r>
          </a:p>
          <a:p>
            <a:pPr>
              <a:spcAft>
                <a:spcPts val="500"/>
              </a:spcAft>
              <a:defRPr sz="1300">
                <a:solidFill>
                  <a:srgbClr val="333333"/>
                </a:solidFill>
                <a:latin typeface="Calibri"/>
              </a:defRPr>
            </a:pPr>
            <a:r>
              <a:t>• Use upper or lower consistently for status, currency, and channel.</a:t>
            </a:r>
          </a:p>
        </p:txBody>
      </p:sp>
      <p:sp>
        <p:nvSpPr>
          <p:cNvPr id="5" name="Rounded Rectangle 4"/>
          <p:cNvSpPr/>
          <p:nvPr/>
        </p:nvSpPr>
        <p:spPr>
          <a:xfrm>
            <a:off x="594360" y="2633472"/>
            <a:ext cx="7955279" cy="3337560"/>
          </a:xfrm>
          <a:prstGeom prst="roundRect">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100">
                <a:solidFill>
                  <a:srgbClr val="1B1B1B"/>
                </a:solidFill>
                <a:latin typeface="Consolas"/>
              </a:rPr>
              <a:t>normalized = (
    orders
    .withColumn("status", F.upper(F.trim(F.col("status"))))
    .withColumn("currency", F.upper(F.trim(F.col("currency"))))
    .withColumn("channel", F.lower(F.trim(F.col("channel"))))
)</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67</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Timestamp Parsing</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Raw event_time strings are parsed into timestamp columns.</a:t>
            </a:r>
          </a:p>
          <a:p>
            <a:pPr>
              <a:spcAft>
                <a:spcPts val="500"/>
              </a:spcAft>
              <a:defRPr sz="1300">
                <a:solidFill>
                  <a:srgbClr val="333333"/>
                </a:solidFill>
                <a:latin typeface="Calibri"/>
              </a:defRPr>
            </a:pPr>
            <a:r>
              <a:t>• event_date is derived for partitioning and date-based KPIs.</a:t>
            </a:r>
          </a:p>
          <a:p>
            <a:pPr>
              <a:spcAft>
                <a:spcPts val="500"/>
              </a:spcAft>
              <a:defRPr sz="1300">
                <a:solidFill>
                  <a:srgbClr val="333333"/>
                </a:solidFill>
                <a:latin typeface="Calibri"/>
              </a:defRPr>
            </a:pPr>
            <a:r>
              <a:t>• Invalid timestamps are retained for quarantine analysis.</a:t>
            </a:r>
          </a:p>
        </p:txBody>
      </p:sp>
      <p:sp>
        <p:nvSpPr>
          <p:cNvPr id="5" name="Rounded Rectangle 4"/>
          <p:cNvSpPr/>
          <p:nvPr/>
        </p:nvSpPr>
        <p:spPr>
          <a:xfrm>
            <a:off x="594360" y="2633472"/>
            <a:ext cx="7955279" cy="3337560"/>
          </a:xfrm>
          <a:prstGeom prst="roundRect">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100">
                <a:solidFill>
                  <a:srgbClr val="1B1B1B"/>
                </a:solidFill>
                <a:latin typeface="Consolas"/>
              </a:rPr>
              <a:t>with_time = (
    orders
    .withColumn("event_time_ts", F.to_timestamp("event_time"))
    .withColumn("event_date", F.to_date("event_time_ts"))
)</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68</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Code Walkthrough: Lab 06 — Silver Cleaning</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Start with Bronze order events.</a:t>
            </a:r>
          </a:p>
          <a:p>
            <a:pPr>
              <a:spcAft>
                <a:spcPts val="500"/>
              </a:spcAft>
              <a:defRPr sz="1300">
                <a:solidFill>
                  <a:srgbClr val="333333"/>
                </a:solidFill>
                <a:latin typeface="Calibri"/>
              </a:defRPr>
            </a:pPr>
            <a:r>
              <a:t>• Normalize strings, cast numeric fields, and parse timestamps.</a:t>
            </a:r>
          </a:p>
          <a:p>
            <a:pPr>
              <a:spcAft>
                <a:spcPts val="500"/>
              </a:spcAft>
              <a:defRPr sz="1300">
                <a:solidFill>
                  <a:srgbClr val="333333"/>
                </a:solidFill>
                <a:latin typeface="Calibri"/>
              </a:defRPr>
            </a:pPr>
            <a:r>
              <a:t>• Write a clean Silver candidate table for quality validation.</a:t>
            </a:r>
          </a:p>
        </p:txBody>
      </p:sp>
      <p:sp>
        <p:nvSpPr>
          <p:cNvPr id="5" name="Rounded Rectangle 4"/>
          <p:cNvSpPr/>
          <p:nvPr/>
        </p:nvSpPr>
        <p:spPr>
          <a:xfrm>
            <a:off x="594360" y="2633472"/>
            <a:ext cx="7955279" cy="3337560"/>
          </a:xfrm>
          <a:prstGeom prst="roundRect">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100">
                <a:solidFill>
                  <a:srgbClr val="1B1B1B"/>
                </a:solidFill>
                <a:latin typeface="Consolas"/>
              </a:rPr>
              <a:t>silver_orders = (
    bronze_orders
    .transform(cleaned_orders)
    .repartition("event_date")
)
silver_orders.write.mode("overwrite").parquet("output/silver/orders_clean")</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69</a:t>
            </a:r>
          </a:p>
        </p:txBody>
      </p:sp>
      <p:sp>
        <p:nvSpPr>
          <p:cNvPr id="3" name="Rectangle 2"/>
          <p:cNvSpPr/>
          <p:nvPr/>
        </p:nvSpPr>
        <p:spPr>
          <a:xfrm>
            <a:off x="201168" y="868680"/>
            <a:ext cx="73152" cy="5440680"/>
          </a:xfrm>
          <a:prstGeom prst="rect">
            <a:avLst/>
          </a:prstGeom>
          <a:solidFill>
            <a:srgbClr val="E67E22"/>
          </a:solidFill>
          <a:ln w="127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Mini-Exercise: Silver Cleaning Checks</a:t>
            </a:r>
          </a:p>
        </p:txBody>
      </p:sp>
      <p:sp>
        <p:nvSpPr>
          <p:cNvPr id="5" name="TextBox 4"/>
          <p:cNvSpPr txBox="1"/>
          <p:nvPr/>
        </p:nvSpPr>
        <p:spPr>
          <a:xfrm>
            <a:off x="658368" y="960120"/>
            <a:ext cx="7772400" cy="502920"/>
          </a:xfrm>
          <a:prstGeom prst="rect">
            <a:avLst/>
          </a:prstGeom>
          <a:noFill/>
        </p:spPr>
        <p:txBody>
          <a:bodyPr wrap="square" lIns="73152" tIns="36576" rIns="73152" bIns="36576" anchor="t">
            <a:spAutoFit/>
          </a:bodyPr>
          <a:lstStyle/>
          <a:p>
            <a:pPr algn="l"/>
            <a:r>
              <a:rPr sz="1600" b="0">
                <a:solidFill>
                  <a:srgbClr val="585858"/>
                </a:solidFill>
                <a:latin typeface="Calibri"/>
              </a:rPr>
              <a:t>Match each raw-data issue to the Silver cleaning action.</a:t>
            </a:r>
          </a:p>
        </p:txBody>
      </p:sp>
      <p:sp>
        <p:nvSpPr>
          <p:cNvPr id="6" name="Rounded Rectangle 5"/>
          <p:cNvSpPr/>
          <p:nvPr/>
        </p:nvSpPr>
        <p:spPr>
          <a:xfrm>
            <a:off x="822960" y="1783080"/>
            <a:ext cx="7498079" cy="457200"/>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1. ' usd ' currency text: ______________________________</a:t>
            </a:r>
          </a:p>
        </p:txBody>
      </p:sp>
      <p:sp>
        <p:nvSpPr>
          <p:cNvPr id="7" name="Rounded Rectangle 6"/>
          <p:cNvSpPr/>
          <p:nvPr/>
        </p:nvSpPr>
        <p:spPr>
          <a:xfrm>
            <a:off x="822960" y="2496312"/>
            <a:ext cx="7498079" cy="457200"/>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2. '2026-05-29T02:00:01Z' event time: ______________________________</a:t>
            </a:r>
          </a:p>
        </p:txBody>
      </p:sp>
      <p:sp>
        <p:nvSpPr>
          <p:cNvPr id="8" name="Rounded Rectangle 7"/>
          <p:cNvSpPr/>
          <p:nvPr/>
        </p:nvSpPr>
        <p:spPr>
          <a:xfrm>
            <a:off x="822960" y="3209544"/>
            <a:ext cx="7498079" cy="457200"/>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3. '19.95' amount text: ______________________________</a:t>
            </a:r>
          </a:p>
        </p:txBody>
      </p:sp>
      <p:sp>
        <p:nvSpPr>
          <p:cNvPr id="9" name="Rounded Rectangle 8"/>
          <p:cNvSpPr/>
          <p:nvPr/>
        </p:nvSpPr>
        <p:spPr>
          <a:xfrm>
            <a:off x="822960" y="5166360"/>
            <a:ext cx="7498079" cy="457200"/>
          </a:xfrm>
          <a:prstGeom prst="roundRect">
            <a:avLst/>
          </a:prstGeom>
          <a:solidFill>
            <a:srgbClr val="FFF8E1"/>
          </a:solidFill>
          <a:ln w="12700">
            <a:solidFill>
              <a:srgbClr val="F9A82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200" b="0">
                <a:solidFill>
                  <a:srgbClr val="333333"/>
                </a:solidFill>
                <a:latin typeface="Calibri"/>
              </a:rPr>
              <a:t>Hint: Silver makes values typed and consistent before quality gates.</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70</a:t>
            </a:r>
          </a:p>
        </p:txBody>
      </p:sp>
      <p:sp>
        <p:nvSpPr>
          <p:cNvPr id="3" name="Rectangle 2"/>
          <p:cNvSpPr/>
          <p:nvPr/>
        </p:nvSpPr>
        <p:spPr>
          <a:xfrm>
            <a:off x="201168" y="868680"/>
            <a:ext cx="73152" cy="5440680"/>
          </a:xfrm>
          <a:prstGeom prst="rect">
            <a:avLst/>
          </a:prstGeom>
          <a:solidFill>
            <a:srgbClr val="27AE60"/>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Answers: Silver Cleaning Checks</a:t>
            </a:r>
          </a:p>
        </p:txBody>
      </p:sp>
      <p:sp>
        <p:nvSpPr>
          <p:cNvPr id="5" name="TextBox 4"/>
          <p:cNvSpPr txBox="1"/>
          <p:nvPr/>
        </p:nvSpPr>
        <p:spPr>
          <a:xfrm>
            <a:off x="658368" y="960120"/>
            <a:ext cx="7772400" cy="384048"/>
          </a:xfrm>
          <a:prstGeom prst="rect">
            <a:avLst/>
          </a:prstGeom>
          <a:noFill/>
        </p:spPr>
        <p:txBody>
          <a:bodyPr wrap="square" lIns="73152" tIns="36576" rIns="73152" bIns="36576" anchor="t">
            <a:spAutoFit/>
          </a:bodyPr>
          <a:lstStyle/>
          <a:p>
            <a:pPr algn="l"/>
            <a:r>
              <a:rPr sz="1600" b="0">
                <a:solidFill>
                  <a:srgbClr val="585858"/>
                </a:solidFill>
                <a:latin typeface="Calibri"/>
              </a:rPr>
              <a:t>Compare your blanks with the reference answers.</a:t>
            </a:r>
          </a:p>
        </p:txBody>
      </p:sp>
      <p:sp>
        <p:nvSpPr>
          <p:cNvPr id="6" name="Rounded Rectangle 5"/>
          <p:cNvSpPr/>
          <p:nvPr/>
        </p:nvSpPr>
        <p:spPr>
          <a:xfrm>
            <a:off x="822960" y="1664208"/>
            <a:ext cx="7498079" cy="457200"/>
          </a:xfrm>
          <a:prstGeom prst="roundRect">
            <a:avLst/>
          </a:prstGeom>
          <a:solidFill>
            <a:srgbClr val="E9F7EF"/>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1">
                <a:solidFill>
                  <a:srgbClr val="333333"/>
                </a:solidFill>
                <a:latin typeface="Calibri"/>
              </a:rPr>
              <a:t>✓ ' usd ' currency text: trim + upper</a:t>
            </a:r>
          </a:p>
        </p:txBody>
      </p:sp>
      <p:sp>
        <p:nvSpPr>
          <p:cNvPr id="7" name="Rounded Rectangle 6"/>
          <p:cNvSpPr/>
          <p:nvPr/>
        </p:nvSpPr>
        <p:spPr>
          <a:xfrm>
            <a:off x="822960" y="2377440"/>
            <a:ext cx="7498079" cy="457200"/>
          </a:xfrm>
          <a:prstGeom prst="roundRect">
            <a:avLst/>
          </a:prstGeom>
          <a:solidFill>
            <a:srgbClr val="E9F7EF"/>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1">
                <a:solidFill>
                  <a:srgbClr val="333333"/>
                </a:solidFill>
                <a:latin typeface="Calibri"/>
              </a:rPr>
              <a:t>✓ '2026-05-29T02:00:01Z' event time: parse to timestamp/date</a:t>
            </a:r>
          </a:p>
        </p:txBody>
      </p:sp>
      <p:sp>
        <p:nvSpPr>
          <p:cNvPr id="8" name="Rounded Rectangle 7"/>
          <p:cNvSpPr/>
          <p:nvPr/>
        </p:nvSpPr>
        <p:spPr>
          <a:xfrm>
            <a:off x="822960" y="3090672"/>
            <a:ext cx="7498079" cy="457200"/>
          </a:xfrm>
          <a:prstGeom prst="roundRect">
            <a:avLst/>
          </a:prstGeom>
          <a:solidFill>
            <a:srgbClr val="E9F7EF"/>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1">
                <a:solidFill>
                  <a:srgbClr val="333333"/>
                </a:solidFill>
                <a:latin typeface="Calibri"/>
              </a:rPr>
              <a:t>✓ '19.95' amount text: cast to numeric</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71</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Data Quality — Why It Matters</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Bad data creates rework, broken dashboards, and mistrust in metrics.</a:t>
            </a:r>
          </a:p>
          <a:p>
            <a:pPr>
              <a:spcAft>
                <a:spcPts val="500"/>
              </a:spcAft>
              <a:defRPr sz="1300">
                <a:solidFill>
                  <a:srgbClr val="333333"/>
                </a:solidFill>
                <a:latin typeface="Calibri"/>
              </a:defRPr>
            </a:pPr>
            <a:r>
              <a:t>• Quality checks make assumptions explicit and testable.</a:t>
            </a:r>
          </a:p>
          <a:p>
            <a:pPr>
              <a:spcAft>
                <a:spcPts val="500"/>
              </a:spcAft>
              <a:defRPr sz="1300">
                <a:solidFill>
                  <a:srgbClr val="333333"/>
                </a:solidFill>
                <a:latin typeface="Calibri"/>
              </a:defRPr>
            </a:pPr>
            <a:r>
              <a:t>• Catching invalid rows in Silver protects Gold consumers.</a:t>
            </a:r>
          </a:p>
          <a:p>
            <a:pPr>
              <a:spcAft>
                <a:spcPts val="500"/>
              </a:spcAft>
              <a:defRPr sz="1300">
                <a:solidFill>
                  <a:srgbClr val="333333"/>
                </a:solidFill>
                <a:latin typeface="Calibri"/>
              </a:defRPr>
            </a:pPr>
            <a:r>
              <a:t>• Quality metrics give teams a trend line, not just pass/fail status.</a:t>
            </a:r>
          </a:p>
        </p:txBody>
      </p:sp>
      <p:sp>
        <p:nvSpPr>
          <p:cNvPr id="5" name="Rounded Rectangle 4"/>
          <p:cNvSpPr/>
          <p:nvPr/>
        </p:nvSpPr>
        <p:spPr>
          <a:xfrm>
            <a:off x="914400" y="3200400"/>
            <a:ext cx="1645920" cy="1097280"/>
          </a:xfrm>
          <a:prstGeom prst="roundRect">
            <a:avLst/>
          </a:prstGeom>
          <a:solidFill>
            <a:srgbClr val="E3F2FD"/>
          </a:solidFill>
          <a:ln w="12700">
            <a:solidFill>
              <a:srgbClr val="90A4A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333333"/>
                </a:solidFill>
                <a:latin typeface="Calibri"/>
              </a:rPr>
              <a:t>12
Total</a:t>
            </a:r>
          </a:p>
        </p:txBody>
      </p:sp>
      <p:sp>
        <p:nvSpPr>
          <p:cNvPr id="6" name="Rounded Rectangle 5"/>
          <p:cNvSpPr/>
          <p:nvPr/>
        </p:nvSpPr>
        <p:spPr>
          <a:xfrm>
            <a:off x="2880360" y="3200400"/>
            <a:ext cx="1645920" cy="1097280"/>
          </a:xfrm>
          <a:prstGeom prst="roundRect">
            <a:avLst/>
          </a:prstGeom>
          <a:solidFill>
            <a:srgbClr val="E9F7EF"/>
          </a:solidFill>
          <a:ln w="12700">
            <a:solidFill>
              <a:srgbClr val="90A4A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333333"/>
                </a:solidFill>
                <a:latin typeface="Calibri"/>
              </a:rPr>
              <a:t>10
Valid</a:t>
            </a:r>
          </a:p>
        </p:txBody>
      </p:sp>
      <p:sp>
        <p:nvSpPr>
          <p:cNvPr id="7" name="Rounded Rectangle 6"/>
          <p:cNvSpPr/>
          <p:nvPr/>
        </p:nvSpPr>
        <p:spPr>
          <a:xfrm>
            <a:off x="4846320" y="3200400"/>
            <a:ext cx="1645920" cy="1097280"/>
          </a:xfrm>
          <a:prstGeom prst="roundRect">
            <a:avLst/>
          </a:prstGeom>
          <a:solidFill>
            <a:srgbClr val="FDEDEC"/>
          </a:solidFill>
          <a:ln w="12700">
            <a:solidFill>
              <a:srgbClr val="90A4A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333333"/>
                </a:solidFill>
                <a:latin typeface="Calibri"/>
              </a:rPr>
              <a:t>2
Invalid</a:t>
            </a:r>
          </a:p>
        </p:txBody>
      </p:sp>
      <p:sp>
        <p:nvSpPr>
          <p:cNvPr id="8" name="Rounded Rectangle 7"/>
          <p:cNvSpPr/>
          <p:nvPr/>
        </p:nvSpPr>
        <p:spPr>
          <a:xfrm>
            <a:off x="6812279" y="3200400"/>
            <a:ext cx="1645920" cy="1097280"/>
          </a:xfrm>
          <a:prstGeom prst="roundRect">
            <a:avLst/>
          </a:prstGeom>
          <a:solidFill>
            <a:srgbClr val="FFF8E1"/>
          </a:solidFill>
          <a:ln w="12700">
            <a:solidFill>
              <a:srgbClr val="90A4A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333333"/>
                </a:solidFill>
                <a:latin typeface="Calibri"/>
              </a:rPr>
              <a:t>83%
Rate</a:t>
            </a:r>
          </a:p>
        </p:txBody>
      </p:sp>
      <p:sp>
        <p:nvSpPr>
          <p:cNvPr id="9" name="Rounded Rectangle 8"/>
          <p:cNvSpPr/>
          <p:nvPr/>
        </p:nvSpPr>
        <p:spPr>
          <a:xfrm>
            <a:off x="914400" y="4663440"/>
            <a:ext cx="7315200" cy="457200"/>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0">
                <a:solidFill>
                  <a:srgbClr val="333333"/>
                </a:solidFill>
                <a:latin typeface="Calibri"/>
              </a:rPr>
              <a:t>Top errors: missing_product_id (1) · non_positive_amount (1)</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72</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Quality Rules as Code — Defining Validation Checks</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Rules should be readable, repeatable, and owned like application code.</a:t>
            </a:r>
          </a:p>
          <a:p>
            <a:pPr>
              <a:spcAft>
                <a:spcPts val="500"/>
              </a:spcAft>
              <a:defRPr sz="1300">
                <a:solidFill>
                  <a:srgbClr val="333333"/>
                </a:solidFill>
                <a:latin typeface="Calibri"/>
              </a:defRPr>
            </a:pPr>
            <a:r>
              <a:t>• Each rule should map to a clear business or technical expectation.</a:t>
            </a:r>
          </a:p>
          <a:p>
            <a:pPr>
              <a:spcAft>
                <a:spcPts val="500"/>
              </a:spcAft>
              <a:defRPr sz="1300">
                <a:solidFill>
                  <a:srgbClr val="333333"/>
                </a:solidFill>
                <a:latin typeface="Calibri"/>
              </a:defRPr>
            </a:pPr>
            <a:r>
              <a:t>• Keep the error label stable so metrics are comparable over time.</a:t>
            </a:r>
          </a:p>
        </p:txBody>
      </p:sp>
      <p:sp>
        <p:nvSpPr>
          <p:cNvPr id="5" name="Rounded Rectangle 4"/>
          <p:cNvSpPr/>
          <p:nvPr/>
        </p:nvSpPr>
        <p:spPr>
          <a:xfrm>
            <a:off x="594360" y="2633472"/>
            <a:ext cx="7955279" cy="3337560"/>
          </a:xfrm>
          <a:prstGeom prst="roundRect">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600" dirty="0">
                <a:solidFill>
                  <a:srgbClr val="1B1B1B"/>
                </a:solidFill>
                <a:latin typeface="Consolas"/>
              </a:rPr>
              <a:t>rules = [
    ("MISSING_ORDER_ID", </a:t>
            </a:r>
            <a:r>
              <a:rPr sz="1600" dirty="0" err="1">
                <a:solidFill>
                  <a:srgbClr val="1B1B1B"/>
                </a:solidFill>
                <a:latin typeface="Consolas"/>
              </a:rPr>
              <a:t>F.col</a:t>
            </a:r>
            <a:r>
              <a:rPr sz="1600" dirty="0">
                <a:solidFill>
                  <a:srgbClr val="1B1B1B"/>
                </a:solidFill>
                <a:latin typeface="Consolas"/>
              </a:rPr>
              <a:t>("</a:t>
            </a:r>
            <a:r>
              <a:rPr sz="1600" dirty="0" err="1">
                <a:solidFill>
                  <a:srgbClr val="1B1B1B"/>
                </a:solidFill>
                <a:latin typeface="Consolas"/>
              </a:rPr>
              <a:t>order_id</a:t>
            </a:r>
            <a:r>
              <a:rPr sz="1600" dirty="0">
                <a:solidFill>
                  <a:srgbClr val="1B1B1B"/>
                </a:solidFill>
                <a:latin typeface="Consolas"/>
              </a:rPr>
              <a:t>").</a:t>
            </a:r>
            <a:r>
              <a:rPr sz="1600" dirty="0" err="1">
                <a:solidFill>
                  <a:srgbClr val="1B1B1B"/>
                </a:solidFill>
                <a:latin typeface="Consolas"/>
              </a:rPr>
              <a:t>isNull</a:t>
            </a:r>
            <a:r>
              <a:rPr sz="1600" dirty="0">
                <a:solidFill>
                  <a:srgbClr val="1B1B1B"/>
                </a:solidFill>
                <a:latin typeface="Consolas"/>
              </a:rPr>
              <a:t>()),
    ("NON_POSITIVE_AMOUNT", </a:t>
            </a:r>
            <a:r>
              <a:rPr sz="1600" dirty="0" err="1">
                <a:solidFill>
                  <a:srgbClr val="1B1B1B"/>
                </a:solidFill>
                <a:latin typeface="Consolas"/>
              </a:rPr>
              <a:t>F.col</a:t>
            </a:r>
            <a:r>
              <a:rPr sz="1600" dirty="0">
                <a:solidFill>
                  <a:srgbClr val="1B1B1B"/>
                </a:solidFill>
                <a:latin typeface="Consolas"/>
              </a:rPr>
              <a:t>("amount") &lt;= 0),
    ("INVALID_STATUS", ~</a:t>
            </a:r>
            <a:r>
              <a:rPr sz="1600" dirty="0" err="1">
                <a:solidFill>
                  <a:srgbClr val="1B1B1B"/>
                </a:solidFill>
                <a:latin typeface="Consolas"/>
              </a:rPr>
              <a:t>F.col</a:t>
            </a:r>
            <a:r>
              <a:rPr sz="1600" dirty="0">
                <a:solidFill>
                  <a:srgbClr val="1B1B1B"/>
                </a:solidFill>
                <a:latin typeface="Consolas"/>
              </a:rPr>
              <a:t>("status").</a:t>
            </a:r>
            <a:r>
              <a:rPr sz="1600" dirty="0" err="1">
                <a:solidFill>
                  <a:srgbClr val="1B1B1B"/>
                </a:solidFill>
                <a:latin typeface="Consolas"/>
              </a:rPr>
              <a:t>isin</a:t>
            </a:r>
            <a:r>
              <a:rPr sz="1600" dirty="0">
                <a:solidFill>
                  <a:srgbClr val="1B1B1B"/>
                </a:solidFill>
                <a:latin typeface="Consolas"/>
              </a:rPr>
              <a:t>("PLACED", "SHIPPED", "CANCELLED")),
    ("MISSING_EVENT_TIME", </a:t>
            </a:r>
            <a:r>
              <a:rPr sz="1600" dirty="0" err="1">
                <a:solidFill>
                  <a:srgbClr val="1B1B1B"/>
                </a:solidFill>
                <a:latin typeface="Consolas"/>
              </a:rPr>
              <a:t>F.col</a:t>
            </a:r>
            <a:r>
              <a:rPr sz="1600" dirty="0">
                <a:solidFill>
                  <a:srgbClr val="1B1B1B"/>
                </a:solidFill>
                <a:latin typeface="Consolas"/>
              </a:rPr>
              <a:t>("</a:t>
            </a:r>
            <a:r>
              <a:rPr sz="1600" dirty="0" err="1">
                <a:solidFill>
                  <a:srgbClr val="1B1B1B"/>
                </a:solidFill>
                <a:latin typeface="Consolas"/>
              </a:rPr>
              <a:t>event_time_ts</a:t>
            </a:r>
            <a:r>
              <a:rPr sz="1600" dirty="0">
                <a:solidFill>
                  <a:srgbClr val="1B1B1B"/>
                </a:solidFill>
                <a:latin typeface="Consolas"/>
              </a:rPr>
              <a:t>").</a:t>
            </a:r>
            <a:r>
              <a:rPr sz="1600" dirty="0" err="1">
                <a:solidFill>
                  <a:srgbClr val="1B1B1B"/>
                </a:solidFill>
                <a:latin typeface="Consolas"/>
              </a:rPr>
              <a:t>isNull</a:t>
            </a:r>
            <a:r>
              <a:rPr sz="1600" dirty="0">
                <a:solidFill>
                  <a:srgbClr val="1B1B1B"/>
                </a:solidFill>
                <a:latin typeface="Consolas"/>
              </a:rPr>
              <a:t>()),
]</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73</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Quality Error Arrays — Collecting All Errors Per Row</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Collecting all errors avoids repeated reruns to discover one issue at a time.</a:t>
            </a:r>
          </a:p>
          <a:p>
            <a:pPr>
              <a:spcAft>
                <a:spcPts val="500"/>
              </a:spcAft>
              <a:defRPr sz="1300">
                <a:solidFill>
                  <a:srgbClr val="333333"/>
                </a:solidFill>
                <a:latin typeface="Calibri"/>
              </a:defRPr>
            </a:pPr>
            <a:r>
              <a:t>• An array column keeps failed rule labels attached to the record.</a:t>
            </a:r>
          </a:p>
          <a:p>
            <a:pPr>
              <a:spcAft>
                <a:spcPts val="500"/>
              </a:spcAft>
              <a:defRPr sz="1300">
                <a:solidFill>
                  <a:srgbClr val="333333"/>
                </a:solidFill>
                <a:latin typeface="Calibri"/>
              </a:defRPr>
            </a:pPr>
            <a:r>
              <a:t>• Valid rows have an empty error array.</a:t>
            </a:r>
          </a:p>
        </p:txBody>
      </p:sp>
      <p:sp>
        <p:nvSpPr>
          <p:cNvPr id="5" name="Rounded Rectangle 4"/>
          <p:cNvSpPr/>
          <p:nvPr/>
        </p:nvSpPr>
        <p:spPr>
          <a:xfrm>
            <a:off x="594360" y="1828800"/>
            <a:ext cx="7955279" cy="4142232"/>
          </a:xfrm>
          <a:prstGeom prst="roundRect">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600" dirty="0" err="1">
                <a:solidFill>
                  <a:srgbClr val="1B1B1B"/>
                </a:solidFill>
                <a:latin typeface="Consolas"/>
              </a:rPr>
              <a:t>error_cols</a:t>
            </a:r>
            <a:r>
              <a:rPr sz="1600" dirty="0">
                <a:solidFill>
                  <a:srgbClr val="1B1B1B"/>
                </a:solidFill>
                <a:latin typeface="Consolas"/>
              </a:rPr>
              <a:t> = [
    </a:t>
            </a:r>
            <a:r>
              <a:rPr sz="1600" dirty="0" err="1">
                <a:solidFill>
                  <a:srgbClr val="1B1B1B"/>
                </a:solidFill>
                <a:latin typeface="Consolas"/>
              </a:rPr>
              <a:t>F.when</a:t>
            </a:r>
            <a:r>
              <a:rPr sz="1600" dirty="0">
                <a:solidFill>
                  <a:srgbClr val="1B1B1B"/>
                </a:solidFill>
                <a:latin typeface="Consolas"/>
              </a:rPr>
              <a:t>(condition, </a:t>
            </a:r>
            <a:r>
              <a:rPr sz="1600" dirty="0" err="1">
                <a:solidFill>
                  <a:srgbClr val="1B1B1B"/>
                </a:solidFill>
                <a:latin typeface="Consolas"/>
              </a:rPr>
              <a:t>F.lit</a:t>
            </a:r>
            <a:r>
              <a:rPr sz="1600" dirty="0">
                <a:solidFill>
                  <a:srgbClr val="1B1B1B"/>
                </a:solidFill>
                <a:latin typeface="Consolas"/>
              </a:rPr>
              <a:t>(name))
    for name, condition in rules
]
checked = </a:t>
            </a:r>
            <a:r>
              <a:rPr sz="1600" dirty="0" err="1">
                <a:solidFill>
                  <a:srgbClr val="1B1B1B"/>
                </a:solidFill>
                <a:latin typeface="Consolas"/>
              </a:rPr>
              <a:t>orders.withColumn</a:t>
            </a:r>
            <a:r>
              <a:rPr sz="1600" dirty="0">
                <a:solidFill>
                  <a:srgbClr val="1B1B1B"/>
                </a:solidFill>
                <a:latin typeface="Consolas"/>
              </a:rPr>
              <a:t>(
    "</a:t>
            </a:r>
            <a:r>
              <a:rPr sz="1600" dirty="0" err="1">
                <a:solidFill>
                  <a:srgbClr val="1B1B1B"/>
                </a:solidFill>
                <a:latin typeface="Consolas"/>
              </a:rPr>
              <a:t>quality_errors</a:t>
            </a:r>
            <a:r>
              <a:rPr sz="1600" dirty="0">
                <a:solidFill>
                  <a:srgbClr val="1B1B1B"/>
                </a:solidFill>
                <a:latin typeface="Consolas"/>
              </a:rPr>
              <a:t>",
    </a:t>
            </a:r>
            <a:r>
              <a:rPr sz="1600" dirty="0" err="1">
                <a:solidFill>
                  <a:srgbClr val="1B1B1B"/>
                </a:solidFill>
                <a:latin typeface="Consolas"/>
              </a:rPr>
              <a:t>F.array_remove</a:t>
            </a:r>
            <a:r>
              <a:rPr sz="1600" dirty="0">
                <a:solidFill>
                  <a:srgbClr val="1B1B1B"/>
                </a:solidFill>
                <a:latin typeface="Consolas"/>
              </a:rPr>
              <a:t>(</a:t>
            </a:r>
            <a:r>
              <a:rPr sz="1600" dirty="0" err="1">
                <a:solidFill>
                  <a:srgbClr val="1B1B1B"/>
                </a:solidFill>
                <a:latin typeface="Consolas"/>
              </a:rPr>
              <a:t>F.array</a:t>
            </a:r>
            <a:r>
              <a:rPr sz="1600" dirty="0">
                <a:solidFill>
                  <a:srgbClr val="1B1B1B"/>
                </a:solidFill>
                <a:latin typeface="Consolas"/>
              </a:rPr>
              <a:t>(*</a:t>
            </a:r>
            <a:r>
              <a:rPr sz="1600" dirty="0" err="1">
                <a:solidFill>
                  <a:srgbClr val="1B1B1B"/>
                </a:solidFill>
                <a:latin typeface="Consolas"/>
              </a:rPr>
              <a:t>error_cols</a:t>
            </a:r>
            <a:r>
              <a:rPr sz="1600" dirty="0">
                <a:solidFill>
                  <a:srgbClr val="1B1B1B"/>
                </a:solidFill>
                <a:latin typeface="Consolas"/>
              </a:rPr>
              <a:t>), None)
)</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74</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Valid vs Invalid Row Classification</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Valid rows move forward into trusted Silver outputs.</a:t>
            </a:r>
          </a:p>
          <a:p>
            <a:pPr>
              <a:spcAft>
                <a:spcPts val="500"/>
              </a:spcAft>
              <a:defRPr sz="1300">
                <a:solidFill>
                  <a:srgbClr val="333333"/>
                </a:solidFill>
                <a:latin typeface="Calibri"/>
              </a:defRPr>
            </a:pPr>
            <a:r>
              <a:t>• Invalid rows are kept with error details for remediation.</a:t>
            </a:r>
          </a:p>
          <a:p>
            <a:pPr>
              <a:spcAft>
                <a:spcPts val="500"/>
              </a:spcAft>
              <a:defRPr sz="1300">
                <a:solidFill>
                  <a:srgbClr val="333333"/>
                </a:solidFill>
                <a:latin typeface="Calibri"/>
              </a:defRPr>
            </a:pPr>
            <a:r>
              <a:t>• Classification is deterministic and rerunnable.</a:t>
            </a:r>
          </a:p>
        </p:txBody>
      </p:sp>
      <p:sp>
        <p:nvSpPr>
          <p:cNvPr id="5" name="Rounded Rectangle 4"/>
          <p:cNvSpPr/>
          <p:nvPr/>
        </p:nvSpPr>
        <p:spPr>
          <a:xfrm>
            <a:off x="594360" y="2633472"/>
            <a:ext cx="7955279" cy="3337560"/>
          </a:xfrm>
          <a:prstGeom prst="roundRect">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100">
                <a:solidFill>
                  <a:srgbClr val="1B1B1B"/>
                </a:solidFill>
                <a:latin typeface="Consolas"/>
              </a:rPr>
              <a:t>checked = checked.withColumn(
    "is_valid",
    F.size(F.col("quality_errors")) == 0
)
valid_rows = checked.filter("is_valid")
invalid_rows = checked.filter("NOT is_valid")</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75</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Quarantine Pattern — Separating Bad Data</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Do not discard invalid records; isolate them with reasons.</a:t>
            </a:r>
          </a:p>
          <a:p>
            <a:pPr>
              <a:spcAft>
                <a:spcPts val="500"/>
              </a:spcAft>
              <a:defRPr sz="1300">
                <a:solidFill>
                  <a:srgbClr val="333333"/>
                </a:solidFill>
                <a:latin typeface="Calibri"/>
              </a:defRPr>
            </a:pPr>
            <a:r>
              <a:t>• Quarantine data supports source-system fixes and audit requests.</a:t>
            </a:r>
          </a:p>
          <a:p>
            <a:pPr>
              <a:spcAft>
                <a:spcPts val="500"/>
              </a:spcAft>
              <a:defRPr sz="1300">
                <a:solidFill>
                  <a:srgbClr val="333333"/>
                </a:solidFill>
                <a:latin typeface="Calibri"/>
              </a:defRPr>
            </a:pPr>
            <a:r>
              <a:t>• Valid Silver outputs remain clean for downstream consumers.</a:t>
            </a:r>
          </a:p>
        </p:txBody>
      </p:sp>
      <p:sp>
        <p:nvSpPr>
          <p:cNvPr id="5" name="Rounded Rectangle 4"/>
          <p:cNvSpPr/>
          <p:nvPr/>
        </p:nvSpPr>
        <p:spPr>
          <a:xfrm>
            <a:off x="685800" y="3429000"/>
            <a:ext cx="1234440" cy="530352"/>
          </a:xfrm>
          <a:prstGeom prst="roundRect">
            <a:avLst/>
          </a:prstGeom>
          <a:solidFill>
            <a:srgbClr val="CD7F32"/>
          </a:solidFill>
          <a:ln w="12700">
            <a:solidFill>
              <a:srgbClr val="CD7F3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FFFFFF"/>
                </a:solidFill>
                <a:latin typeface="Calibri"/>
              </a:rPr>
              <a:t>Bronze
Data</a:t>
            </a:r>
          </a:p>
        </p:txBody>
      </p:sp>
      <p:sp>
        <p:nvSpPr>
          <p:cNvPr id="6" name="TextBox 5"/>
          <p:cNvSpPr txBox="1"/>
          <p:nvPr/>
        </p:nvSpPr>
        <p:spPr>
          <a:xfrm>
            <a:off x="1938528" y="3611880"/>
            <a:ext cx="292608" cy="164592"/>
          </a:xfrm>
          <a:prstGeom prst="rect">
            <a:avLst/>
          </a:prstGeom>
          <a:noFill/>
        </p:spPr>
        <p:txBody>
          <a:bodyPr wrap="square" lIns="73152" tIns="36576" rIns="73152" bIns="36576" anchor="t">
            <a:spAutoFit/>
          </a:bodyPr>
          <a:lstStyle/>
          <a:p>
            <a:pPr algn="ctr"/>
            <a:r>
              <a:rPr sz="1100" b="1">
                <a:solidFill>
                  <a:srgbClr val="002060"/>
                </a:solidFill>
                <a:latin typeface="Calibri"/>
              </a:rPr>
              <a:t>→</a:t>
            </a:r>
          </a:p>
        </p:txBody>
      </p:sp>
      <p:sp>
        <p:nvSpPr>
          <p:cNvPr id="7" name="Rounded Rectangle 6"/>
          <p:cNvSpPr/>
          <p:nvPr/>
        </p:nvSpPr>
        <p:spPr>
          <a:xfrm>
            <a:off x="2304288" y="3429000"/>
            <a:ext cx="1234440" cy="530352"/>
          </a:xfrm>
          <a:prstGeom prst="roundRect">
            <a:avLst/>
          </a:prstGeom>
          <a:solidFill>
            <a:srgbClr val="E3F2FD"/>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333333"/>
                </a:solidFill>
                <a:latin typeface="Calibri"/>
              </a:rPr>
              <a:t>Cleaning</a:t>
            </a:r>
          </a:p>
        </p:txBody>
      </p:sp>
      <p:sp>
        <p:nvSpPr>
          <p:cNvPr id="8" name="TextBox 7"/>
          <p:cNvSpPr txBox="1"/>
          <p:nvPr/>
        </p:nvSpPr>
        <p:spPr>
          <a:xfrm>
            <a:off x="3547872" y="3611880"/>
            <a:ext cx="292608" cy="164592"/>
          </a:xfrm>
          <a:prstGeom prst="rect">
            <a:avLst/>
          </a:prstGeom>
          <a:noFill/>
        </p:spPr>
        <p:txBody>
          <a:bodyPr wrap="square" lIns="73152" tIns="36576" rIns="73152" bIns="36576" anchor="t">
            <a:spAutoFit/>
          </a:bodyPr>
          <a:lstStyle/>
          <a:p>
            <a:pPr algn="ctr"/>
            <a:r>
              <a:rPr sz="1100" b="1">
                <a:solidFill>
                  <a:srgbClr val="002060"/>
                </a:solidFill>
                <a:latin typeface="Calibri"/>
              </a:rPr>
              <a:t>→</a:t>
            </a:r>
          </a:p>
        </p:txBody>
      </p:sp>
      <p:sp>
        <p:nvSpPr>
          <p:cNvPr id="9" name="Diamond 8"/>
          <p:cNvSpPr/>
          <p:nvPr/>
        </p:nvSpPr>
        <p:spPr>
          <a:xfrm>
            <a:off x="4005072" y="3255264"/>
            <a:ext cx="914400" cy="822960"/>
          </a:xfrm>
          <a:prstGeom prst="diamond">
            <a:avLst/>
          </a:prstGeom>
          <a:solidFill>
            <a:srgbClr val="FFF8E1"/>
          </a:solidFill>
          <a:ln>
            <a:solidFill>
              <a:srgbClr val="F9A82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50" b="1">
                <a:solidFill>
                  <a:srgbClr val="333333"/>
                </a:solidFill>
                <a:latin typeface="Calibri"/>
              </a:rPr>
              <a:t>Quality
Check</a:t>
            </a:r>
          </a:p>
        </p:txBody>
      </p:sp>
      <p:sp>
        <p:nvSpPr>
          <p:cNvPr id="10" name="TextBox 9"/>
          <p:cNvSpPr txBox="1"/>
          <p:nvPr/>
        </p:nvSpPr>
        <p:spPr>
          <a:xfrm>
            <a:off x="4864608" y="3383280"/>
            <a:ext cx="329184" cy="182880"/>
          </a:xfrm>
          <a:prstGeom prst="rect">
            <a:avLst/>
          </a:prstGeom>
          <a:noFill/>
        </p:spPr>
        <p:txBody>
          <a:bodyPr wrap="square" lIns="73152" tIns="36576" rIns="73152" bIns="36576" anchor="t">
            <a:spAutoFit/>
          </a:bodyPr>
          <a:lstStyle/>
          <a:p>
            <a:pPr algn="ctr"/>
            <a:r>
              <a:rPr sz="1100" b="1">
                <a:solidFill>
                  <a:srgbClr val="27AE60"/>
                </a:solidFill>
                <a:latin typeface="Calibri"/>
              </a:rPr>
              <a:t>→</a:t>
            </a:r>
          </a:p>
        </p:txBody>
      </p:sp>
      <p:sp>
        <p:nvSpPr>
          <p:cNvPr id="11" name="Rounded Rectangle 10"/>
          <p:cNvSpPr/>
          <p:nvPr/>
        </p:nvSpPr>
        <p:spPr>
          <a:xfrm>
            <a:off x="5230368" y="3127248"/>
            <a:ext cx="1463040" cy="530352"/>
          </a:xfrm>
          <a:prstGeom prst="roundRect">
            <a:avLst/>
          </a:prstGeom>
          <a:solidFill>
            <a:srgbClr val="C0C0C0"/>
          </a:solidFill>
          <a:ln w="12700">
            <a:solidFill>
              <a:srgbClr val="7F8C8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00" b="1">
                <a:solidFill>
                  <a:srgbClr val="333333"/>
                </a:solidFill>
                <a:latin typeface="Calibri"/>
              </a:rPr>
              <a:t>Valid Rows
Silver orders_valid</a:t>
            </a:r>
          </a:p>
        </p:txBody>
      </p:sp>
      <p:sp>
        <p:nvSpPr>
          <p:cNvPr id="12" name="TextBox 11"/>
          <p:cNvSpPr txBox="1"/>
          <p:nvPr/>
        </p:nvSpPr>
        <p:spPr>
          <a:xfrm>
            <a:off x="4864608" y="4160520"/>
            <a:ext cx="329184" cy="182880"/>
          </a:xfrm>
          <a:prstGeom prst="rect">
            <a:avLst/>
          </a:prstGeom>
          <a:noFill/>
        </p:spPr>
        <p:txBody>
          <a:bodyPr wrap="square" lIns="73152" tIns="36576" rIns="73152" bIns="36576" anchor="t">
            <a:spAutoFit/>
          </a:bodyPr>
          <a:lstStyle/>
          <a:p>
            <a:pPr algn="ctr"/>
            <a:r>
              <a:rPr sz="1100" b="1">
                <a:solidFill>
                  <a:srgbClr val="E74C3C"/>
                </a:solidFill>
                <a:latin typeface="Calibri"/>
              </a:rPr>
              <a:t>→</a:t>
            </a:r>
          </a:p>
        </p:txBody>
      </p:sp>
      <p:sp>
        <p:nvSpPr>
          <p:cNvPr id="13" name="Rounded Rectangle 12"/>
          <p:cNvSpPr/>
          <p:nvPr/>
        </p:nvSpPr>
        <p:spPr>
          <a:xfrm>
            <a:off x="5230368" y="3931920"/>
            <a:ext cx="1463040" cy="530352"/>
          </a:xfrm>
          <a:prstGeom prst="roundRect">
            <a:avLst/>
          </a:prstGeom>
          <a:solidFill>
            <a:srgbClr val="FADBD8"/>
          </a:solidFill>
          <a:ln w="12700">
            <a:solidFill>
              <a:srgbClr val="E74C3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00" b="1">
                <a:solidFill>
                  <a:srgbClr val="333333"/>
                </a:solidFill>
                <a:latin typeface="Calibri"/>
              </a:rPr>
              <a:t>Invalid Rows
Quarantine</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76</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Code Walkthrough: Lab 07 — Quality Quarantine</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Apply quality rules to cleaned orders.</a:t>
            </a:r>
          </a:p>
          <a:p>
            <a:pPr>
              <a:spcAft>
                <a:spcPts val="500"/>
              </a:spcAft>
              <a:defRPr sz="1300">
                <a:solidFill>
                  <a:srgbClr val="333333"/>
                </a:solidFill>
                <a:latin typeface="Calibri"/>
              </a:defRPr>
            </a:pPr>
            <a:r>
              <a:t>• Write valid records to Silver.</a:t>
            </a:r>
          </a:p>
          <a:p>
            <a:pPr>
              <a:spcAft>
                <a:spcPts val="500"/>
              </a:spcAft>
              <a:defRPr sz="1300">
                <a:solidFill>
                  <a:srgbClr val="333333"/>
                </a:solidFill>
                <a:latin typeface="Calibri"/>
              </a:defRPr>
            </a:pPr>
            <a:r>
              <a:t>• Write invalid records and error arrays to quarantine.</a:t>
            </a:r>
          </a:p>
        </p:txBody>
      </p:sp>
      <p:sp>
        <p:nvSpPr>
          <p:cNvPr id="5" name="Rounded Rectangle 4"/>
          <p:cNvSpPr/>
          <p:nvPr/>
        </p:nvSpPr>
        <p:spPr>
          <a:xfrm>
            <a:off x="594360" y="2633472"/>
            <a:ext cx="7955279" cy="3337560"/>
          </a:xfrm>
          <a:prstGeom prst="roundRect">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100">
                <a:solidFill>
                  <a:srgbClr val="1B1B1B"/>
                </a:solidFill>
                <a:latin typeface="Consolas"/>
              </a:rPr>
              <a:t>checked = quality_checked_orders(cleaned_orders)
valid = checked.filter(F.col("is_valid"))
quarantine = checked.filter(~F.col("is_valid"))
valid.write.mode("overwrite").parquet("output/silver/orders_valid")
quarantine.write.mode("overwrite").parquet("output/quarantine/orders")</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77</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Quality Metrics Dashboard</a:t>
            </a:r>
          </a:p>
        </p:txBody>
      </p:sp>
      <p:graphicFrame>
        <p:nvGraphicFramePr>
          <p:cNvPr id="4" name="Table 3"/>
          <p:cNvGraphicFramePr>
            <a:graphicFrameLocks noGrp="1"/>
          </p:cNvGraphicFramePr>
          <p:nvPr/>
        </p:nvGraphicFramePr>
        <p:xfrm>
          <a:off x="530352" y="1143000"/>
          <a:ext cx="8092437" cy="4983480"/>
        </p:xfrm>
        <a:graphic>
          <a:graphicData uri="http://schemas.openxmlformats.org/drawingml/2006/table">
            <a:tbl>
              <a:tblPr firstRow="1" bandRow="1">
                <a:tableStyleId>{5C22544A-7EE6-4342-B048-85BDC9FD1C3A}</a:tableStyleId>
              </a:tblPr>
              <a:tblGrid>
                <a:gridCol w="2697479">
                  <a:extLst>
                    <a:ext uri="{9D8B030D-6E8A-4147-A177-3AD203B41FA5}">
                      <a16:colId xmlns:a16="http://schemas.microsoft.com/office/drawing/2014/main" val="20000"/>
                    </a:ext>
                  </a:extLst>
                </a:gridCol>
                <a:gridCol w="2697479">
                  <a:extLst>
                    <a:ext uri="{9D8B030D-6E8A-4147-A177-3AD203B41FA5}">
                      <a16:colId xmlns:a16="http://schemas.microsoft.com/office/drawing/2014/main" val="20001"/>
                    </a:ext>
                  </a:extLst>
                </a:gridCol>
                <a:gridCol w="2697479">
                  <a:extLst>
                    <a:ext uri="{9D8B030D-6E8A-4147-A177-3AD203B41FA5}">
                      <a16:colId xmlns:a16="http://schemas.microsoft.com/office/drawing/2014/main" val="20002"/>
                    </a:ext>
                  </a:extLst>
                </a:gridCol>
              </a:tblGrid>
              <a:tr h="830580">
                <a:tc>
                  <a:txBody>
                    <a:bodyPr/>
                    <a:lstStyle/>
                    <a:p>
                      <a:pPr algn="ctr"/>
                      <a:r>
                        <a:rPr sz="880" b="1">
                          <a:solidFill>
                            <a:srgbClr val="FFFFFF"/>
                          </a:solidFill>
                          <a:latin typeface="Calibri"/>
                        </a:rPr>
                        <a:t>Metric</a:t>
                      </a:r>
                    </a:p>
                  </a:txBody>
                  <a:tcPr>
                    <a:solidFill>
                      <a:srgbClr val="002060"/>
                    </a:solidFill>
                  </a:tcPr>
                </a:tc>
                <a:tc>
                  <a:txBody>
                    <a:bodyPr/>
                    <a:lstStyle/>
                    <a:p>
                      <a:pPr algn="ctr"/>
                      <a:r>
                        <a:rPr sz="880" b="1">
                          <a:solidFill>
                            <a:srgbClr val="FFFFFF"/>
                          </a:solidFill>
                          <a:latin typeface="Calibri"/>
                        </a:rPr>
                        <a:t>Value</a:t>
                      </a:r>
                    </a:p>
                  </a:txBody>
                  <a:tcPr>
                    <a:solidFill>
                      <a:srgbClr val="002060"/>
                    </a:solidFill>
                  </a:tcPr>
                </a:tc>
                <a:tc>
                  <a:txBody>
                    <a:bodyPr/>
                    <a:lstStyle/>
                    <a:p>
                      <a:pPr algn="ctr"/>
                      <a:r>
                        <a:rPr sz="880" b="1">
                          <a:solidFill>
                            <a:srgbClr val="FFFFFF"/>
                          </a:solidFill>
                          <a:latin typeface="Calibri"/>
                        </a:rPr>
                        <a:t>Use</a:t>
                      </a:r>
                    </a:p>
                  </a:txBody>
                  <a:tcPr>
                    <a:solidFill>
                      <a:srgbClr val="002060"/>
                    </a:solidFill>
                  </a:tcPr>
                </a:tc>
                <a:extLst>
                  <a:ext uri="{0D108BD9-81ED-4DB2-BD59-A6C34878D82A}">
                    <a16:rowId xmlns:a16="http://schemas.microsoft.com/office/drawing/2014/main" val="10000"/>
                  </a:ext>
                </a:extLst>
              </a:tr>
              <a:tr h="830580">
                <a:tc>
                  <a:txBody>
                    <a:bodyPr/>
                    <a:lstStyle/>
                    <a:p>
                      <a:pPr algn="l"/>
                      <a:r>
                        <a:rPr sz="880" b="0">
                          <a:solidFill>
                            <a:srgbClr val="333333"/>
                          </a:solidFill>
                          <a:latin typeface="Calibri"/>
                        </a:rPr>
                        <a:t>Total rows</a:t>
                      </a:r>
                    </a:p>
                  </a:txBody>
                  <a:tcPr>
                    <a:solidFill>
                      <a:srgbClr val="FFFFFF"/>
                    </a:solidFill>
                  </a:tcPr>
                </a:tc>
                <a:tc>
                  <a:txBody>
                    <a:bodyPr/>
                    <a:lstStyle/>
                    <a:p>
                      <a:pPr algn="l"/>
                      <a:r>
                        <a:rPr sz="880" b="0">
                          <a:solidFill>
                            <a:srgbClr val="333333"/>
                          </a:solidFill>
                          <a:latin typeface="Calibri"/>
                        </a:rPr>
                        <a:t>12</a:t>
                      </a:r>
                    </a:p>
                  </a:txBody>
                  <a:tcPr>
                    <a:solidFill>
                      <a:srgbClr val="FFFFFF"/>
                    </a:solidFill>
                  </a:tcPr>
                </a:tc>
                <a:tc>
                  <a:txBody>
                    <a:bodyPr/>
                    <a:lstStyle/>
                    <a:p>
                      <a:pPr algn="l"/>
                      <a:r>
                        <a:rPr sz="880" b="0">
                          <a:solidFill>
                            <a:srgbClr val="333333"/>
                          </a:solidFill>
                          <a:latin typeface="Calibri"/>
                        </a:rPr>
                        <a:t>Batch completeness</a:t>
                      </a:r>
                    </a:p>
                  </a:txBody>
                  <a:tcPr>
                    <a:solidFill>
                      <a:srgbClr val="FFFFFF"/>
                    </a:solidFill>
                  </a:tcPr>
                </a:tc>
                <a:extLst>
                  <a:ext uri="{0D108BD9-81ED-4DB2-BD59-A6C34878D82A}">
                    <a16:rowId xmlns:a16="http://schemas.microsoft.com/office/drawing/2014/main" val="10001"/>
                  </a:ext>
                </a:extLst>
              </a:tr>
              <a:tr h="830580">
                <a:tc>
                  <a:txBody>
                    <a:bodyPr/>
                    <a:lstStyle/>
                    <a:p>
                      <a:pPr algn="l"/>
                      <a:r>
                        <a:rPr sz="880" b="0">
                          <a:solidFill>
                            <a:srgbClr val="333333"/>
                          </a:solidFill>
                          <a:latin typeface="Calibri"/>
                        </a:rPr>
                        <a:t>Valid rows</a:t>
                      </a:r>
                    </a:p>
                  </a:txBody>
                  <a:tcPr>
                    <a:solidFill>
                      <a:srgbClr val="F0F4FA"/>
                    </a:solidFill>
                  </a:tcPr>
                </a:tc>
                <a:tc>
                  <a:txBody>
                    <a:bodyPr/>
                    <a:lstStyle/>
                    <a:p>
                      <a:pPr algn="l"/>
                      <a:r>
                        <a:rPr sz="880" b="0">
                          <a:solidFill>
                            <a:srgbClr val="333333"/>
                          </a:solidFill>
                          <a:latin typeface="Calibri"/>
                        </a:rPr>
                        <a:t>10</a:t>
                      </a:r>
                    </a:p>
                  </a:txBody>
                  <a:tcPr>
                    <a:solidFill>
                      <a:srgbClr val="F0F4FA"/>
                    </a:solidFill>
                  </a:tcPr>
                </a:tc>
                <a:tc>
                  <a:txBody>
                    <a:bodyPr/>
                    <a:lstStyle/>
                    <a:p>
                      <a:pPr algn="l"/>
                      <a:r>
                        <a:rPr sz="880" b="0">
                          <a:solidFill>
                            <a:srgbClr val="333333"/>
                          </a:solidFill>
                          <a:latin typeface="Calibri"/>
                        </a:rPr>
                        <a:t>Silver readiness</a:t>
                      </a:r>
                    </a:p>
                  </a:txBody>
                  <a:tcPr>
                    <a:solidFill>
                      <a:srgbClr val="F0F4FA"/>
                    </a:solidFill>
                  </a:tcPr>
                </a:tc>
                <a:extLst>
                  <a:ext uri="{0D108BD9-81ED-4DB2-BD59-A6C34878D82A}">
                    <a16:rowId xmlns:a16="http://schemas.microsoft.com/office/drawing/2014/main" val="10002"/>
                  </a:ext>
                </a:extLst>
              </a:tr>
              <a:tr h="830580">
                <a:tc>
                  <a:txBody>
                    <a:bodyPr/>
                    <a:lstStyle/>
                    <a:p>
                      <a:pPr algn="l"/>
                      <a:r>
                        <a:rPr sz="880" b="0">
                          <a:solidFill>
                            <a:srgbClr val="333333"/>
                          </a:solidFill>
                          <a:latin typeface="Calibri"/>
                        </a:rPr>
                        <a:t>Invalid rows</a:t>
                      </a:r>
                    </a:p>
                  </a:txBody>
                  <a:tcPr>
                    <a:solidFill>
                      <a:srgbClr val="FFFFFF"/>
                    </a:solidFill>
                  </a:tcPr>
                </a:tc>
                <a:tc>
                  <a:txBody>
                    <a:bodyPr/>
                    <a:lstStyle/>
                    <a:p>
                      <a:pPr algn="l"/>
                      <a:r>
                        <a:rPr sz="880" b="0">
                          <a:solidFill>
                            <a:srgbClr val="333333"/>
                          </a:solidFill>
                          <a:latin typeface="Calibri"/>
                        </a:rPr>
                        <a:t>2</a:t>
                      </a:r>
                    </a:p>
                  </a:txBody>
                  <a:tcPr>
                    <a:solidFill>
                      <a:srgbClr val="FFFFFF"/>
                    </a:solidFill>
                  </a:tcPr>
                </a:tc>
                <a:tc>
                  <a:txBody>
                    <a:bodyPr/>
                    <a:lstStyle/>
                    <a:p>
                      <a:pPr algn="l"/>
                      <a:r>
                        <a:rPr sz="880" b="0">
                          <a:solidFill>
                            <a:srgbClr val="333333"/>
                          </a:solidFill>
                          <a:latin typeface="Calibri"/>
                        </a:rPr>
                        <a:t>Remediation queue</a:t>
                      </a:r>
                    </a:p>
                  </a:txBody>
                  <a:tcPr>
                    <a:solidFill>
                      <a:srgbClr val="FFFFFF"/>
                    </a:solidFill>
                  </a:tcPr>
                </a:tc>
                <a:extLst>
                  <a:ext uri="{0D108BD9-81ED-4DB2-BD59-A6C34878D82A}">
                    <a16:rowId xmlns:a16="http://schemas.microsoft.com/office/drawing/2014/main" val="10003"/>
                  </a:ext>
                </a:extLst>
              </a:tr>
              <a:tr h="830580">
                <a:tc>
                  <a:txBody>
                    <a:bodyPr/>
                    <a:lstStyle/>
                    <a:p>
                      <a:pPr algn="l"/>
                      <a:r>
                        <a:rPr sz="880" b="0">
                          <a:solidFill>
                            <a:srgbClr val="333333"/>
                          </a:solidFill>
                          <a:latin typeface="Calibri"/>
                        </a:rPr>
                        <a:t>Invalid rate</a:t>
                      </a:r>
                    </a:p>
                  </a:txBody>
                  <a:tcPr>
                    <a:solidFill>
                      <a:srgbClr val="F0F4FA"/>
                    </a:solidFill>
                  </a:tcPr>
                </a:tc>
                <a:tc>
                  <a:txBody>
                    <a:bodyPr/>
                    <a:lstStyle/>
                    <a:p>
                      <a:pPr algn="l"/>
                      <a:r>
                        <a:rPr sz="880" b="0">
                          <a:solidFill>
                            <a:srgbClr val="333333"/>
                          </a:solidFill>
                          <a:latin typeface="Calibri"/>
                        </a:rPr>
                        <a:t>16.7%</a:t>
                      </a:r>
                    </a:p>
                  </a:txBody>
                  <a:tcPr>
                    <a:solidFill>
                      <a:srgbClr val="F0F4FA"/>
                    </a:solidFill>
                  </a:tcPr>
                </a:tc>
                <a:tc>
                  <a:txBody>
                    <a:bodyPr/>
                    <a:lstStyle/>
                    <a:p>
                      <a:pPr algn="l"/>
                      <a:r>
                        <a:rPr sz="880" b="0">
                          <a:solidFill>
                            <a:srgbClr val="333333"/>
                          </a:solidFill>
                          <a:latin typeface="Calibri"/>
                        </a:rPr>
                        <a:t>Trend monitoring</a:t>
                      </a:r>
                    </a:p>
                  </a:txBody>
                  <a:tcPr>
                    <a:solidFill>
                      <a:srgbClr val="F0F4FA"/>
                    </a:solidFill>
                  </a:tcPr>
                </a:tc>
                <a:extLst>
                  <a:ext uri="{0D108BD9-81ED-4DB2-BD59-A6C34878D82A}">
                    <a16:rowId xmlns:a16="http://schemas.microsoft.com/office/drawing/2014/main" val="10004"/>
                  </a:ext>
                </a:extLst>
              </a:tr>
              <a:tr h="830580">
                <a:tc>
                  <a:txBody>
                    <a:bodyPr/>
                    <a:lstStyle/>
                    <a:p>
                      <a:pPr algn="l"/>
                      <a:r>
                        <a:rPr sz="880" b="0">
                          <a:solidFill>
                            <a:srgbClr val="333333"/>
                          </a:solidFill>
                          <a:latin typeface="Calibri"/>
                        </a:rPr>
                        <a:t>Top errors</a:t>
                      </a:r>
                    </a:p>
                  </a:txBody>
                  <a:tcPr>
                    <a:solidFill>
                      <a:srgbClr val="FFFFFF"/>
                    </a:solidFill>
                  </a:tcPr>
                </a:tc>
                <a:tc>
                  <a:txBody>
                    <a:bodyPr/>
                    <a:lstStyle/>
                    <a:p>
                      <a:pPr algn="l"/>
                      <a:r>
                        <a:rPr sz="880" b="0">
                          <a:solidFill>
                            <a:srgbClr val="333333"/>
                          </a:solidFill>
                          <a:latin typeface="Calibri"/>
                        </a:rPr>
                        <a:t>missing_product_id, non_positive_amount</a:t>
                      </a:r>
                    </a:p>
                  </a:txBody>
                  <a:tcPr>
                    <a:solidFill>
                      <a:srgbClr val="FFFFFF"/>
                    </a:solidFill>
                  </a:tcPr>
                </a:tc>
                <a:tc>
                  <a:txBody>
                    <a:bodyPr/>
                    <a:lstStyle/>
                    <a:p>
                      <a:pPr algn="l"/>
                      <a:r>
                        <a:rPr sz="880" b="0">
                          <a:solidFill>
                            <a:srgbClr val="333333"/>
                          </a:solidFill>
                          <a:latin typeface="Calibri"/>
                        </a:rPr>
                        <a:t>Source feedback</a:t>
                      </a:r>
                    </a:p>
                  </a:txBody>
                  <a:tcP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78</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Quiz: What Happens to Rows That Fail Quality Checks?</a:t>
            </a:r>
          </a:p>
        </p:txBody>
      </p:sp>
      <p:sp>
        <p:nvSpPr>
          <p:cNvPr id="4" name="TextBox 3"/>
          <p:cNvSpPr txBox="1"/>
          <p:nvPr/>
        </p:nvSpPr>
        <p:spPr>
          <a:xfrm>
            <a:off x="658368" y="914400"/>
            <a:ext cx="7863840" cy="292608"/>
          </a:xfrm>
          <a:prstGeom prst="rect">
            <a:avLst/>
          </a:prstGeom>
          <a:noFill/>
        </p:spPr>
        <p:txBody>
          <a:bodyPr wrap="square" lIns="73152" tIns="36576" rIns="73152" bIns="36576" anchor="t">
            <a:spAutoFit/>
          </a:bodyPr>
          <a:lstStyle/>
          <a:p>
            <a:pPr algn="l"/>
            <a:r>
              <a:rPr sz="1600" b="0">
                <a:solidFill>
                  <a:srgbClr val="585858"/>
                </a:solidFill>
                <a:latin typeface="Calibri"/>
              </a:rPr>
              <a:t>Choose the best answer.</a:t>
            </a:r>
          </a:p>
        </p:txBody>
      </p:sp>
      <p:sp>
        <p:nvSpPr>
          <p:cNvPr id="5" name="Rounded Rectangle 4"/>
          <p:cNvSpPr/>
          <p:nvPr/>
        </p:nvSpPr>
        <p:spPr>
          <a:xfrm>
            <a:off x="822960" y="1481328"/>
            <a:ext cx="7498079" cy="420624"/>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A. They are silently dropped.</a:t>
            </a:r>
          </a:p>
        </p:txBody>
      </p:sp>
      <p:sp>
        <p:nvSpPr>
          <p:cNvPr id="6" name="Rounded Rectangle 5"/>
          <p:cNvSpPr/>
          <p:nvPr/>
        </p:nvSpPr>
        <p:spPr>
          <a:xfrm>
            <a:off x="822960" y="2139696"/>
            <a:ext cx="7498079" cy="420624"/>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B. They are corrected with random defaults.</a:t>
            </a:r>
          </a:p>
        </p:txBody>
      </p:sp>
      <p:sp>
        <p:nvSpPr>
          <p:cNvPr id="7" name="Rounded Rectangle 6"/>
          <p:cNvSpPr/>
          <p:nvPr/>
        </p:nvSpPr>
        <p:spPr>
          <a:xfrm>
            <a:off x="822960" y="2798064"/>
            <a:ext cx="7498079" cy="420624"/>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C. They are separated into quarantine with error details.</a:t>
            </a:r>
          </a:p>
        </p:txBody>
      </p:sp>
      <p:sp>
        <p:nvSpPr>
          <p:cNvPr id="8" name="Rounded Rectangle 7"/>
          <p:cNvSpPr/>
          <p:nvPr/>
        </p:nvSpPr>
        <p:spPr>
          <a:xfrm>
            <a:off x="822960" y="3456432"/>
            <a:ext cx="7498079" cy="420624"/>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D. They are written directly to Gold.</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79</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Answer: What Happens to Rows That Fail Quality Checks?</a:t>
            </a:r>
          </a:p>
        </p:txBody>
      </p:sp>
      <p:sp>
        <p:nvSpPr>
          <p:cNvPr id="4" name="TextBox 3"/>
          <p:cNvSpPr txBox="1"/>
          <p:nvPr/>
        </p:nvSpPr>
        <p:spPr>
          <a:xfrm>
            <a:off x="658368" y="914400"/>
            <a:ext cx="7863840" cy="292608"/>
          </a:xfrm>
          <a:prstGeom prst="rect">
            <a:avLst/>
          </a:prstGeom>
          <a:noFill/>
        </p:spPr>
        <p:txBody>
          <a:bodyPr wrap="square" lIns="73152" tIns="36576" rIns="73152" bIns="36576" anchor="t">
            <a:spAutoFit/>
          </a:bodyPr>
          <a:lstStyle/>
          <a:p>
            <a:pPr algn="l"/>
            <a:r>
              <a:rPr sz="1600" b="0">
                <a:solidFill>
                  <a:srgbClr val="585858"/>
                </a:solidFill>
                <a:latin typeface="Calibri"/>
              </a:rPr>
              <a:t>Review the correct answer and why it matters.</a:t>
            </a:r>
          </a:p>
        </p:txBody>
      </p:sp>
      <p:sp>
        <p:nvSpPr>
          <p:cNvPr id="5" name="Rounded Rectangle 4"/>
          <p:cNvSpPr/>
          <p:nvPr/>
        </p:nvSpPr>
        <p:spPr>
          <a:xfrm>
            <a:off x="822960" y="1481328"/>
            <a:ext cx="7498079" cy="420624"/>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A. They are silently dropped.</a:t>
            </a:r>
          </a:p>
        </p:txBody>
      </p:sp>
      <p:sp>
        <p:nvSpPr>
          <p:cNvPr id="6" name="Rounded Rectangle 5"/>
          <p:cNvSpPr/>
          <p:nvPr/>
        </p:nvSpPr>
        <p:spPr>
          <a:xfrm>
            <a:off x="822960" y="2139696"/>
            <a:ext cx="7498079" cy="420624"/>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B. They are corrected with random defaults.</a:t>
            </a:r>
          </a:p>
        </p:txBody>
      </p:sp>
      <p:sp>
        <p:nvSpPr>
          <p:cNvPr id="7" name="Rounded Rectangle 6"/>
          <p:cNvSpPr/>
          <p:nvPr/>
        </p:nvSpPr>
        <p:spPr>
          <a:xfrm>
            <a:off x="822960" y="2798064"/>
            <a:ext cx="7498079" cy="420624"/>
          </a:xfrm>
          <a:prstGeom prst="roundRect">
            <a:avLst/>
          </a:prstGeom>
          <a:solidFill>
            <a:srgbClr val="E9F7EF"/>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1">
                <a:solidFill>
                  <a:srgbClr val="333333"/>
                </a:solidFill>
                <a:latin typeface="Calibri"/>
              </a:rPr>
              <a:t>✓ C. They are separated into quarantine with error details.</a:t>
            </a:r>
          </a:p>
        </p:txBody>
      </p:sp>
      <p:sp>
        <p:nvSpPr>
          <p:cNvPr id="8" name="Rounded Rectangle 7"/>
          <p:cNvSpPr/>
          <p:nvPr/>
        </p:nvSpPr>
        <p:spPr>
          <a:xfrm>
            <a:off x="822960" y="3456432"/>
            <a:ext cx="7498079" cy="420624"/>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D. They are written directly to Gold.</a:t>
            </a:r>
          </a:p>
        </p:txBody>
      </p:sp>
      <p:sp>
        <p:nvSpPr>
          <p:cNvPr id="9" name="Rounded Rectangle 8"/>
          <p:cNvSpPr/>
          <p:nvPr/>
        </p:nvSpPr>
        <p:spPr>
          <a:xfrm>
            <a:off x="822960" y="5074920"/>
            <a:ext cx="7498079" cy="621792"/>
          </a:xfrm>
          <a:prstGeom prst="roundRect">
            <a:avLst/>
          </a:prstGeom>
          <a:solidFill>
            <a:srgbClr val="F5FBF7"/>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200" b="0">
                <a:solidFill>
                  <a:srgbClr val="333333"/>
                </a:solidFill>
                <a:latin typeface="Calibri"/>
              </a:rPr>
              <a:t>Correct: failed rows are quarantined so trusted Silver data stays clean while bad records remain auditable.</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80</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Real-World Quality Patterns</a:t>
            </a:r>
          </a:p>
        </p:txBody>
      </p:sp>
      <p:sp>
        <p:nvSpPr>
          <p:cNvPr id="4" name="TextBox 3"/>
          <p:cNvSpPr txBox="1"/>
          <p:nvPr/>
        </p:nvSpPr>
        <p:spPr>
          <a:xfrm>
            <a:off x="658368" y="868680"/>
            <a:ext cx="7909560" cy="52578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Great Expectations provides declarative expectations and validation reports.</a:t>
            </a:r>
          </a:p>
          <a:p>
            <a:pPr>
              <a:spcAft>
                <a:spcPts val="500"/>
              </a:spcAft>
              <a:defRPr sz="1300">
                <a:solidFill>
                  <a:srgbClr val="333333"/>
                </a:solidFill>
                <a:latin typeface="Calibri"/>
              </a:defRPr>
            </a:pPr>
            <a:r>
              <a:t>• Deequ brings scalable data quality checks on Spark.</a:t>
            </a:r>
          </a:p>
          <a:p>
            <a:pPr>
              <a:spcAft>
                <a:spcPts val="500"/>
              </a:spcAft>
              <a:defRPr sz="1300">
                <a:solidFill>
                  <a:srgbClr val="333333"/>
                </a:solidFill>
                <a:latin typeface="Calibri"/>
              </a:defRPr>
            </a:pPr>
            <a:r>
              <a:t>• Custom rules are common when business semantics are domain-specific.</a:t>
            </a:r>
          </a:p>
          <a:p>
            <a:pPr>
              <a:spcAft>
                <a:spcPts val="500"/>
              </a:spcAft>
              <a:defRPr sz="1300">
                <a:solidFill>
                  <a:srgbClr val="333333"/>
                </a:solidFill>
                <a:latin typeface="Calibri"/>
              </a:defRPr>
            </a:pPr>
            <a:r>
              <a:t>• Quality metrics should be monitored like pipeline reliability metrics.</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81</a:t>
            </a:r>
          </a:p>
        </p:txBody>
      </p:sp>
      <p:sp>
        <p:nvSpPr>
          <p:cNvPr id="3" name="Rectangle 2"/>
          <p:cNvSpPr/>
          <p:nvPr/>
        </p:nvSpPr>
        <p:spPr>
          <a:xfrm>
            <a:off x="201168" y="868680"/>
            <a:ext cx="73152" cy="5440680"/>
          </a:xfrm>
          <a:prstGeom prst="rect">
            <a:avLst/>
          </a:prstGeom>
          <a:solidFill>
            <a:srgbClr val="002060"/>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Key Takeaways: Silver Cleaning &amp; Quality</a:t>
            </a:r>
          </a:p>
        </p:txBody>
      </p:sp>
      <p:sp>
        <p:nvSpPr>
          <p:cNvPr id="5" name="TextBox 4"/>
          <p:cNvSpPr txBox="1"/>
          <p:nvPr/>
        </p:nvSpPr>
        <p:spPr>
          <a:xfrm>
            <a:off x="658368" y="868680"/>
            <a:ext cx="7909560" cy="5257800"/>
          </a:xfrm>
          <a:prstGeom prst="rect">
            <a:avLst/>
          </a:prstGeom>
          <a:noFill/>
        </p:spPr>
        <p:txBody>
          <a:bodyPr wrap="square" lIns="27432" tIns="18288" rIns="27432">
            <a:spAutoFit/>
          </a:bodyPr>
          <a:lstStyle/>
          <a:p>
            <a:pPr>
              <a:spcAft>
                <a:spcPts val="300"/>
              </a:spcAft>
              <a:defRPr sz="1200">
                <a:solidFill>
                  <a:srgbClr val="333333"/>
                </a:solidFill>
                <a:latin typeface="Calibri"/>
              </a:defRPr>
            </a:pPr>
            <a:r>
              <a:t>• Silver makes raw data typed, standardized, and trustworthy.</a:t>
            </a:r>
          </a:p>
          <a:p>
            <a:pPr>
              <a:spcAft>
                <a:spcPts val="300"/>
              </a:spcAft>
              <a:defRPr sz="1200">
                <a:solidFill>
                  <a:srgbClr val="333333"/>
                </a:solidFill>
                <a:latin typeface="Calibri"/>
              </a:defRPr>
            </a:pPr>
            <a:r>
              <a:t>• Quality rules encode expectations as executable checks.</a:t>
            </a:r>
          </a:p>
          <a:p>
            <a:pPr>
              <a:spcAft>
                <a:spcPts val="300"/>
              </a:spcAft>
              <a:defRPr sz="1200">
                <a:solidFill>
                  <a:srgbClr val="333333"/>
                </a:solidFill>
                <a:latin typeface="Calibri"/>
              </a:defRPr>
            </a:pPr>
            <a:r>
              <a:t>• Error arrays preserve all validation failures per row.</a:t>
            </a:r>
          </a:p>
          <a:p>
            <a:pPr>
              <a:spcAft>
                <a:spcPts val="300"/>
              </a:spcAft>
              <a:defRPr sz="1200">
                <a:solidFill>
                  <a:srgbClr val="333333"/>
                </a:solidFill>
                <a:latin typeface="Calibri"/>
              </a:defRPr>
            </a:pPr>
            <a:r>
              <a:t>• Quarantine protects consumers without losing bad records.</a:t>
            </a:r>
          </a:p>
          <a:p>
            <a:pPr>
              <a:spcAft>
                <a:spcPts val="300"/>
              </a:spcAft>
              <a:defRPr sz="1200">
                <a:solidFill>
                  <a:srgbClr val="333333"/>
                </a:solidFill>
                <a:latin typeface="Calibri"/>
              </a:defRPr>
            </a:pPr>
            <a:r>
              <a:t>• Silver is where downstream contracts start to become dependable.</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82</a:t>
            </a:r>
          </a:p>
        </p:txBody>
      </p:sp>
      <p:sp>
        <p:nvSpPr>
          <p:cNvPr id="3" name="TextBox 2"/>
          <p:cNvSpPr txBox="1"/>
          <p:nvPr/>
        </p:nvSpPr>
        <p:spPr>
          <a:xfrm>
            <a:off x="731520" y="2743200"/>
            <a:ext cx="7680960" cy="731520"/>
          </a:xfrm>
          <a:prstGeom prst="rect">
            <a:avLst/>
          </a:prstGeom>
          <a:noFill/>
        </p:spPr>
        <p:txBody>
          <a:bodyPr wrap="square" lIns="73152" tIns="36576" rIns="73152" bIns="36576" anchor="t">
            <a:spAutoFit/>
          </a:bodyPr>
          <a:lstStyle/>
          <a:p>
            <a:pPr algn="ctr"/>
            <a:r>
              <a:rPr sz="2400" b="1">
                <a:solidFill>
                  <a:srgbClr val="002060"/>
                </a:solidFill>
                <a:latin typeface="Calibri"/>
              </a:rPr>
              <a:t>🍽️ Lunch Break — 60 Minutes</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83</a:t>
            </a:r>
          </a:p>
        </p:txBody>
      </p:sp>
      <p:sp>
        <p:nvSpPr>
          <p:cNvPr id="3" name="Rectangle 2"/>
          <p:cNvSpPr/>
          <p:nvPr/>
        </p:nvSpPr>
        <p:spPr>
          <a:xfrm>
            <a:off x="0" y="0"/>
            <a:ext cx="9144000" cy="777240"/>
          </a:xfrm>
          <a:prstGeom prst="rect">
            <a:avLst/>
          </a:prstGeom>
          <a:solidFill>
            <a:srgbClr val="002060"/>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82880"/>
            <a:ext cx="8138160" cy="384048"/>
          </a:xfrm>
          <a:prstGeom prst="rect">
            <a:avLst/>
          </a:prstGeom>
          <a:noFill/>
        </p:spPr>
        <p:txBody>
          <a:bodyPr wrap="square" lIns="73152" tIns="36576" rIns="73152" bIns="36576" anchor="t">
            <a:spAutoFit/>
          </a:bodyPr>
          <a:lstStyle/>
          <a:p>
            <a:pPr algn="ctr"/>
            <a:r>
              <a:rPr sz="2000" b="1">
                <a:solidFill>
                  <a:srgbClr val="FFFFFF"/>
                </a:solidFill>
                <a:latin typeface="Calibri"/>
              </a:rPr>
              <a:t>MODULE 4: Silver Layer — CDC &amp; Enrichment</a:t>
            </a:r>
          </a:p>
        </p:txBody>
      </p:sp>
      <p:sp>
        <p:nvSpPr>
          <p:cNvPr id="5" name="TextBox 4"/>
          <p:cNvSpPr txBox="1"/>
          <p:nvPr/>
        </p:nvSpPr>
        <p:spPr>
          <a:xfrm>
            <a:off x="822960" y="2487168"/>
            <a:ext cx="7498079" cy="457200"/>
          </a:xfrm>
          <a:prstGeom prst="rect">
            <a:avLst/>
          </a:prstGeom>
          <a:noFill/>
        </p:spPr>
        <p:txBody>
          <a:bodyPr wrap="square" lIns="73152" tIns="36576" rIns="73152" bIns="36576" anchor="t">
            <a:spAutoFit/>
          </a:bodyPr>
          <a:lstStyle/>
          <a:p>
            <a:pPr algn="ctr"/>
            <a:r>
              <a:rPr sz="2400" b="1">
                <a:solidFill>
                  <a:srgbClr val="002060"/>
                </a:solidFill>
                <a:latin typeface="Calibri"/>
              </a:rPr>
              <a:t>MODULE 4: Silver Layer — CDC &amp; Enrichment</a:t>
            </a:r>
          </a:p>
        </p:txBody>
      </p:sp>
      <p:sp>
        <p:nvSpPr>
          <p:cNvPr id="6" name="Rectangle 5"/>
          <p:cNvSpPr/>
          <p:nvPr/>
        </p:nvSpPr>
        <p:spPr>
          <a:xfrm>
            <a:off x="2926080" y="3291840"/>
            <a:ext cx="3291840" cy="73152"/>
          </a:xfrm>
          <a:prstGeom prst="rect">
            <a:avLst/>
          </a:prstGeom>
          <a:solidFill>
            <a:srgbClr val="002060"/>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84</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Change Data Capture (CDC) — What and Why</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CDC means we receive changes as events, not just one final row.</a:t>
            </a:r>
          </a:p>
          <a:p>
            <a:pPr>
              <a:spcAft>
                <a:spcPts val="500"/>
              </a:spcAft>
              <a:defRPr sz="1300">
                <a:solidFill>
                  <a:srgbClr val="333333"/>
                </a:solidFill>
                <a:latin typeface="Calibri"/>
              </a:defRPr>
            </a:pPr>
            <a:r>
              <a:t>• The same order can appear multiple times: NEW, PAID, SHIPPED, CANCELLED.</a:t>
            </a:r>
          </a:p>
          <a:p>
            <a:pPr>
              <a:spcAft>
                <a:spcPts val="500"/>
              </a:spcAft>
              <a:defRPr sz="1300">
                <a:solidFill>
                  <a:srgbClr val="333333"/>
                </a:solidFill>
                <a:latin typeface="Calibri"/>
              </a:defRPr>
            </a:pPr>
            <a:r>
              <a:t>• Our Silver goal is simple: keep history, but publish one latest row per order.</a:t>
            </a:r>
          </a:p>
        </p:txBody>
      </p:sp>
      <p:sp>
        <p:nvSpPr>
          <p:cNvPr id="5" name="Rectangle 4"/>
          <p:cNvSpPr/>
          <p:nvPr/>
        </p:nvSpPr>
        <p:spPr>
          <a:xfrm>
            <a:off x="731520" y="3017520"/>
            <a:ext cx="7680960" cy="347472"/>
          </a:xfrm>
          <a:prstGeom prst="rect">
            <a:avLst/>
          </a:prstGeom>
          <a:solidFill>
            <a:srgbClr val="002060"/>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FFFFFF"/>
                </a:solidFill>
                <a:latin typeface="Calibri"/>
              </a:rPr>
              <a:t>Order 1001 Event Timeline</a:t>
            </a:r>
          </a:p>
        </p:txBody>
      </p:sp>
      <p:sp>
        <p:nvSpPr>
          <p:cNvPr id="6" name="Rounded Rectangle 5"/>
          <p:cNvSpPr/>
          <p:nvPr/>
        </p:nvSpPr>
        <p:spPr>
          <a:xfrm>
            <a:off x="1097280" y="3566160"/>
            <a:ext cx="3108960" cy="594360"/>
          </a:xfrm>
          <a:prstGeom prst="roundRect">
            <a:avLst/>
          </a:prstGeom>
          <a:solidFill>
            <a:srgbClr val="E3F2FD"/>
          </a:solidFill>
          <a:ln w="12700">
            <a:solidFill>
              <a:srgbClr val="90A4A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333333"/>
                </a:solidFill>
                <a:latin typeface="Calibri"/>
              </a:rPr>
              <a:t>evt-1001
NEW — May 29 02:00</a:t>
            </a:r>
          </a:p>
        </p:txBody>
      </p:sp>
      <p:sp>
        <p:nvSpPr>
          <p:cNvPr id="7" name="Rounded Rectangle 6"/>
          <p:cNvSpPr/>
          <p:nvPr/>
        </p:nvSpPr>
        <p:spPr>
          <a:xfrm>
            <a:off x="4937760" y="3566160"/>
            <a:ext cx="3108960" cy="594360"/>
          </a:xfrm>
          <a:prstGeom prst="roundRect">
            <a:avLst/>
          </a:prstGeom>
          <a:solidFill>
            <a:srgbClr val="E9F7EF"/>
          </a:solidFill>
          <a:ln w="12700">
            <a:solidFill>
              <a:srgbClr val="90A4A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333333"/>
                </a:solidFill>
                <a:latin typeface="Calibri"/>
              </a:rPr>
              <a:t>evt-1007
SHIPPED — May 30 09:00</a:t>
            </a:r>
          </a:p>
        </p:txBody>
      </p:sp>
      <p:sp>
        <p:nvSpPr>
          <p:cNvPr id="8" name="Rectangle 7"/>
          <p:cNvSpPr/>
          <p:nvPr/>
        </p:nvSpPr>
        <p:spPr>
          <a:xfrm>
            <a:off x="3931920" y="3703320"/>
            <a:ext cx="457200" cy="27432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002060"/>
                </a:solidFill>
                <a:latin typeface="Calibri"/>
              </a:rPr>
              <a:t>→</a:t>
            </a:r>
          </a:p>
        </p:txBody>
      </p:sp>
      <p:sp>
        <p:nvSpPr>
          <p:cNvPr id="9" name="Rounded Rectangle 8"/>
          <p:cNvSpPr/>
          <p:nvPr/>
        </p:nvSpPr>
        <p:spPr>
          <a:xfrm>
            <a:off x="1097280" y="4434840"/>
            <a:ext cx="6949440" cy="457200"/>
          </a:xfrm>
          <a:prstGeom prst="roundRect">
            <a:avLst/>
          </a:prstGeom>
          <a:solidFill>
            <a:srgbClr val="FFF8E1"/>
          </a:solidFill>
          <a:ln w="12700">
            <a:solidFill>
              <a:srgbClr val="F9A82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0">
                <a:solidFill>
                  <a:srgbClr val="333333"/>
                </a:solidFill>
                <a:latin typeface="Calibri"/>
              </a:rPr>
              <a:t>CDC keeps only SHIPPED (latest event_time) → current state</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85</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CDC Patterns</a:t>
            </a:r>
          </a:p>
        </p:txBody>
      </p:sp>
      <p:graphicFrame>
        <p:nvGraphicFramePr>
          <p:cNvPr id="4" name="Table 3"/>
          <p:cNvGraphicFramePr>
            <a:graphicFrameLocks noGrp="1"/>
          </p:cNvGraphicFramePr>
          <p:nvPr/>
        </p:nvGraphicFramePr>
        <p:xfrm>
          <a:off x="530352" y="1143000"/>
          <a:ext cx="8092437" cy="4983480"/>
        </p:xfrm>
        <a:graphic>
          <a:graphicData uri="http://schemas.openxmlformats.org/drawingml/2006/table">
            <a:tbl>
              <a:tblPr firstRow="1" bandRow="1">
                <a:tableStyleId>{5C22544A-7EE6-4342-B048-85BDC9FD1C3A}</a:tableStyleId>
              </a:tblPr>
              <a:tblGrid>
                <a:gridCol w="2697479">
                  <a:extLst>
                    <a:ext uri="{9D8B030D-6E8A-4147-A177-3AD203B41FA5}">
                      <a16:colId xmlns:a16="http://schemas.microsoft.com/office/drawing/2014/main" val="20000"/>
                    </a:ext>
                  </a:extLst>
                </a:gridCol>
                <a:gridCol w="2697479">
                  <a:extLst>
                    <a:ext uri="{9D8B030D-6E8A-4147-A177-3AD203B41FA5}">
                      <a16:colId xmlns:a16="http://schemas.microsoft.com/office/drawing/2014/main" val="20001"/>
                    </a:ext>
                  </a:extLst>
                </a:gridCol>
                <a:gridCol w="2697479">
                  <a:extLst>
                    <a:ext uri="{9D8B030D-6E8A-4147-A177-3AD203B41FA5}">
                      <a16:colId xmlns:a16="http://schemas.microsoft.com/office/drawing/2014/main" val="20002"/>
                    </a:ext>
                  </a:extLst>
                </a:gridCol>
              </a:tblGrid>
              <a:tr h="996696">
                <a:tc>
                  <a:txBody>
                    <a:bodyPr/>
                    <a:lstStyle/>
                    <a:p>
                      <a:pPr algn="ctr"/>
                      <a:r>
                        <a:rPr sz="869" b="1">
                          <a:solidFill>
                            <a:srgbClr val="FFFFFF"/>
                          </a:solidFill>
                          <a:latin typeface="Calibri"/>
                        </a:rPr>
                        <a:t>Pattern</a:t>
                      </a:r>
                    </a:p>
                  </a:txBody>
                  <a:tcPr>
                    <a:solidFill>
                      <a:srgbClr val="002060"/>
                    </a:solidFill>
                  </a:tcPr>
                </a:tc>
                <a:tc>
                  <a:txBody>
                    <a:bodyPr/>
                    <a:lstStyle/>
                    <a:p>
                      <a:pPr algn="ctr"/>
                      <a:r>
                        <a:rPr sz="869" b="1">
                          <a:solidFill>
                            <a:srgbClr val="FFFFFF"/>
                          </a:solidFill>
                          <a:latin typeface="Calibri"/>
                        </a:rPr>
                        <a:t>Description</a:t>
                      </a:r>
                    </a:p>
                  </a:txBody>
                  <a:tcPr>
                    <a:solidFill>
                      <a:srgbClr val="002060"/>
                    </a:solidFill>
                  </a:tcPr>
                </a:tc>
                <a:tc>
                  <a:txBody>
                    <a:bodyPr/>
                    <a:lstStyle/>
                    <a:p>
                      <a:pPr algn="ctr"/>
                      <a:r>
                        <a:rPr sz="869" b="1">
                          <a:solidFill>
                            <a:srgbClr val="FFFFFF"/>
                          </a:solidFill>
                          <a:latin typeface="Calibri"/>
                        </a:rPr>
                        <a:t>Common use</a:t>
                      </a:r>
                    </a:p>
                  </a:txBody>
                  <a:tcPr>
                    <a:solidFill>
                      <a:srgbClr val="002060"/>
                    </a:solidFill>
                  </a:tcPr>
                </a:tc>
                <a:extLst>
                  <a:ext uri="{0D108BD9-81ED-4DB2-BD59-A6C34878D82A}">
                    <a16:rowId xmlns:a16="http://schemas.microsoft.com/office/drawing/2014/main" val="10000"/>
                  </a:ext>
                </a:extLst>
              </a:tr>
              <a:tr h="996696">
                <a:tc>
                  <a:txBody>
                    <a:bodyPr/>
                    <a:lstStyle/>
                    <a:p>
                      <a:pPr algn="l"/>
                      <a:r>
                        <a:rPr sz="869" b="0">
                          <a:solidFill>
                            <a:srgbClr val="333333"/>
                          </a:solidFill>
                          <a:latin typeface="Calibri"/>
                        </a:rPr>
                        <a:t>Event sourcing</a:t>
                      </a:r>
                    </a:p>
                  </a:txBody>
                  <a:tcPr>
                    <a:solidFill>
                      <a:srgbClr val="FFFFFF"/>
                    </a:solidFill>
                  </a:tcPr>
                </a:tc>
                <a:tc>
                  <a:txBody>
                    <a:bodyPr/>
                    <a:lstStyle/>
                    <a:p>
                      <a:pPr algn="l"/>
                      <a:r>
                        <a:rPr sz="869" b="0">
                          <a:solidFill>
                            <a:srgbClr val="333333"/>
                          </a:solidFill>
                          <a:latin typeface="Calibri"/>
                        </a:rPr>
                        <a:t>Store every event in order</a:t>
                      </a:r>
                    </a:p>
                  </a:txBody>
                  <a:tcPr>
                    <a:solidFill>
                      <a:srgbClr val="FFFFFF"/>
                    </a:solidFill>
                  </a:tcPr>
                </a:tc>
                <a:tc>
                  <a:txBody>
                    <a:bodyPr/>
                    <a:lstStyle/>
                    <a:p>
                      <a:pPr algn="l"/>
                      <a:r>
                        <a:rPr sz="869" b="0">
                          <a:solidFill>
                            <a:srgbClr val="333333"/>
                          </a:solidFill>
                          <a:latin typeface="Calibri"/>
                        </a:rPr>
                        <a:t>Auditable state reconstruction</a:t>
                      </a:r>
                    </a:p>
                  </a:txBody>
                  <a:tcPr>
                    <a:solidFill>
                      <a:srgbClr val="FFFFFF"/>
                    </a:solidFill>
                  </a:tcPr>
                </a:tc>
                <a:extLst>
                  <a:ext uri="{0D108BD9-81ED-4DB2-BD59-A6C34878D82A}">
                    <a16:rowId xmlns:a16="http://schemas.microsoft.com/office/drawing/2014/main" val="10001"/>
                  </a:ext>
                </a:extLst>
              </a:tr>
              <a:tr h="996696">
                <a:tc>
                  <a:txBody>
                    <a:bodyPr/>
                    <a:lstStyle/>
                    <a:p>
                      <a:pPr algn="l"/>
                      <a:r>
                        <a:rPr sz="869" b="0">
                          <a:solidFill>
                            <a:srgbClr val="333333"/>
                          </a:solidFill>
                          <a:latin typeface="Calibri"/>
                        </a:rPr>
                        <a:t>Change logs</a:t>
                      </a:r>
                    </a:p>
                  </a:txBody>
                  <a:tcPr>
                    <a:solidFill>
                      <a:srgbClr val="F0F4FA"/>
                    </a:solidFill>
                  </a:tcPr>
                </a:tc>
                <a:tc>
                  <a:txBody>
                    <a:bodyPr/>
                    <a:lstStyle/>
                    <a:p>
                      <a:pPr algn="l"/>
                      <a:r>
                        <a:rPr sz="869" b="0">
                          <a:solidFill>
                            <a:srgbClr val="333333"/>
                          </a:solidFill>
                          <a:latin typeface="Calibri"/>
                        </a:rPr>
                        <a:t>Store inserts, updates, deletes</a:t>
                      </a:r>
                    </a:p>
                  </a:txBody>
                  <a:tcPr>
                    <a:solidFill>
                      <a:srgbClr val="F0F4FA"/>
                    </a:solidFill>
                  </a:tcPr>
                </a:tc>
                <a:tc>
                  <a:txBody>
                    <a:bodyPr/>
                    <a:lstStyle/>
                    <a:p>
                      <a:pPr algn="l"/>
                      <a:r>
                        <a:rPr sz="869" b="0">
                          <a:solidFill>
                            <a:srgbClr val="333333"/>
                          </a:solidFill>
                          <a:latin typeface="Calibri"/>
                        </a:rPr>
                        <a:t>Database replication</a:t>
                      </a:r>
                    </a:p>
                  </a:txBody>
                  <a:tcPr>
                    <a:solidFill>
                      <a:srgbClr val="F0F4FA"/>
                    </a:solidFill>
                  </a:tcPr>
                </a:tc>
                <a:extLst>
                  <a:ext uri="{0D108BD9-81ED-4DB2-BD59-A6C34878D82A}">
                    <a16:rowId xmlns:a16="http://schemas.microsoft.com/office/drawing/2014/main" val="10002"/>
                  </a:ext>
                </a:extLst>
              </a:tr>
              <a:tr h="996696">
                <a:tc>
                  <a:txBody>
                    <a:bodyPr/>
                    <a:lstStyle/>
                    <a:p>
                      <a:pPr algn="l"/>
                      <a:r>
                        <a:rPr sz="869" b="0">
                          <a:solidFill>
                            <a:srgbClr val="333333"/>
                          </a:solidFill>
                          <a:latin typeface="Calibri"/>
                        </a:rPr>
                        <a:t>Last-writer-wins</a:t>
                      </a:r>
                    </a:p>
                  </a:txBody>
                  <a:tcPr>
                    <a:solidFill>
                      <a:srgbClr val="FFFFFF"/>
                    </a:solidFill>
                  </a:tcPr>
                </a:tc>
                <a:tc>
                  <a:txBody>
                    <a:bodyPr/>
                    <a:lstStyle/>
                    <a:p>
                      <a:pPr algn="l"/>
                      <a:r>
                        <a:rPr sz="869" b="0">
                          <a:solidFill>
                            <a:srgbClr val="333333"/>
                          </a:solidFill>
                          <a:latin typeface="Calibri"/>
                        </a:rPr>
                        <a:t>Keep latest record per key</a:t>
                      </a:r>
                    </a:p>
                  </a:txBody>
                  <a:tcPr>
                    <a:solidFill>
                      <a:srgbClr val="FFFFFF"/>
                    </a:solidFill>
                  </a:tcPr>
                </a:tc>
                <a:tc>
                  <a:txBody>
                    <a:bodyPr/>
                    <a:lstStyle/>
                    <a:p>
                      <a:pPr algn="l"/>
                      <a:r>
                        <a:rPr sz="869" b="0">
                          <a:solidFill>
                            <a:srgbClr val="333333"/>
                          </a:solidFill>
                          <a:latin typeface="Calibri"/>
                        </a:rPr>
                        <a:t>Current-state dimensions</a:t>
                      </a:r>
                    </a:p>
                  </a:txBody>
                  <a:tcPr>
                    <a:solidFill>
                      <a:srgbClr val="FFFFFF"/>
                    </a:solidFill>
                  </a:tcPr>
                </a:tc>
                <a:extLst>
                  <a:ext uri="{0D108BD9-81ED-4DB2-BD59-A6C34878D82A}">
                    <a16:rowId xmlns:a16="http://schemas.microsoft.com/office/drawing/2014/main" val="10003"/>
                  </a:ext>
                </a:extLst>
              </a:tr>
              <a:tr h="996696">
                <a:tc>
                  <a:txBody>
                    <a:bodyPr/>
                    <a:lstStyle/>
                    <a:p>
                      <a:pPr algn="l"/>
                      <a:r>
                        <a:rPr sz="869" b="0">
                          <a:solidFill>
                            <a:srgbClr val="333333"/>
                          </a:solidFill>
                          <a:latin typeface="Calibri"/>
                        </a:rPr>
                        <a:t>Soft deletes</a:t>
                      </a:r>
                    </a:p>
                  </a:txBody>
                  <a:tcPr>
                    <a:solidFill>
                      <a:srgbClr val="F0F4FA"/>
                    </a:solidFill>
                  </a:tcPr>
                </a:tc>
                <a:tc>
                  <a:txBody>
                    <a:bodyPr/>
                    <a:lstStyle/>
                    <a:p>
                      <a:pPr algn="l"/>
                      <a:r>
                        <a:rPr sz="869" b="0">
                          <a:solidFill>
                            <a:srgbClr val="333333"/>
                          </a:solidFill>
                          <a:latin typeface="Calibri"/>
                        </a:rPr>
                        <a:t>Represent delete as a flag</a:t>
                      </a:r>
                    </a:p>
                  </a:txBody>
                  <a:tcPr>
                    <a:solidFill>
                      <a:srgbClr val="F0F4FA"/>
                    </a:solidFill>
                  </a:tcPr>
                </a:tc>
                <a:tc>
                  <a:txBody>
                    <a:bodyPr/>
                    <a:lstStyle/>
                    <a:p>
                      <a:pPr algn="l"/>
                      <a:r>
                        <a:rPr sz="869" b="0">
                          <a:solidFill>
                            <a:srgbClr val="333333"/>
                          </a:solidFill>
                          <a:latin typeface="Calibri"/>
                        </a:rPr>
                        <a:t>Historical analytics</a:t>
                      </a:r>
                    </a:p>
                  </a:txBody>
                  <a:tcPr>
                    <a:solidFill>
                      <a:srgbClr val="F0F4FA"/>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86</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dirty="0">
                <a:solidFill>
                  <a:srgbClr val="002060"/>
                </a:solidFill>
                <a:latin typeface="Calibri"/>
              </a:rPr>
              <a:t>Window Functions in Spark — ROW_NUMBER, RANK, DENSE_RANK</a:t>
            </a:r>
          </a:p>
        </p:txBody>
      </p:sp>
      <p:sp>
        <p:nvSpPr>
          <p:cNvPr id="4" name="TextBox 3"/>
          <p:cNvSpPr txBox="1"/>
          <p:nvPr/>
        </p:nvSpPr>
        <p:spPr>
          <a:xfrm>
            <a:off x="658368" y="1399032"/>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rPr dirty="0"/>
              <a:t>• Window functions compare rows inside a business group, such as one </a:t>
            </a:r>
            <a:r>
              <a:rPr dirty="0" err="1"/>
              <a:t>order_id</a:t>
            </a:r>
            <a:r>
              <a:rPr dirty="0"/>
              <a:t>.</a:t>
            </a:r>
          </a:p>
          <a:p>
            <a:pPr>
              <a:spcAft>
                <a:spcPts val="500"/>
              </a:spcAft>
              <a:defRPr sz="1300">
                <a:solidFill>
                  <a:srgbClr val="333333"/>
                </a:solidFill>
                <a:latin typeface="Calibri"/>
              </a:defRPr>
            </a:pPr>
            <a:r>
              <a:rPr dirty="0"/>
              <a:t>• ROW_NUMBER lets Spark label the latest event as 1 without losing the row.</a:t>
            </a:r>
          </a:p>
          <a:p>
            <a:pPr>
              <a:spcAft>
                <a:spcPts val="500"/>
              </a:spcAft>
              <a:defRPr sz="1300">
                <a:solidFill>
                  <a:srgbClr val="333333"/>
                </a:solidFill>
                <a:latin typeface="Calibri"/>
              </a:defRPr>
            </a:pPr>
            <a:r>
              <a:rPr dirty="0"/>
              <a:t>• For CDC, partition by </a:t>
            </a:r>
            <a:r>
              <a:rPr dirty="0" err="1"/>
              <a:t>order_id</a:t>
            </a:r>
            <a:r>
              <a:rPr dirty="0"/>
              <a:t> and sort by </a:t>
            </a:r>
            <a:r>
              <a:rPr dirty="0" err="1"/>
              <a:t>event_time</a:t>
            </a:r>
            <a:r>
              <a:rPr dirty="0"/>
              <a:t> descending.</a:t>
            </a:r>
          </a:p>
        </p:txBody>
      </p:sp>
      <p:sp>
        <p:nvSpPr>
          <p:cNvPr id="5" name="Rounded Rectangle 4"/>
          <p:cNvSpPr/>
          <p:nvPr/>
        </p:nvSpPr>
        <p:spPr>
          <a:xfrm>
            <a:off x="594360" y="2633472"/>
            <a:ext cx="7955279" cy="3337560"/>
          </a:xfrm>
          <a:prstGeom prst="roundRect">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2400" dirty="0">
                <a:solidFill>
                  <a:srgbClr val="1B1B1B"/>
                </a:solidFill>
                <a:latin typeface="Consolas"/>
              </a:rPr>
              <a:t>from </a:t>
            </a:r>
            <a:r>
              <a:rPr sz="2400" dirty="0" err="1">
                <a:solidFill>
                  <a:srgbClr val="1B1B1B"/>
                </a:solidFill>
                <a:latin typeface="Consolas"/>
              </a:rPr>
              <a:t>pyspark.sql</a:t>
            </a:r>
            <a:r>
              <a:rPr sz="2400" dirty="0">
                <a:solidFill>
                  <a:srgbClr val="1B1B1B"/>
                </a:solidFill>
                <a:latin typeface="Consolas"/>
              </a:rPr>
              <a:t> import Window
w = </a:t>
            </a:r>
            <a:r>
              <a:rPr sz="2400" dirty="0" err="1">
                <a:solidFill>
                  <a:srgbClr val="1B1B1B"/>
                </a:solidFill>
                <a:latin typeface="Consolas"/>
              </a:rPr>
              <a:t>Window.partitionBy</a:t>
            </a:r>
            <a:r>
              <a:rPr sz="2400" dirty="0">
                <a:solidFill>
                  <a:srgbClr val="1B1B1B"/>
                </a:solidFill>
                <a:latin typeface="Consolas"/>
              </a:rPr>
              <a:t>("</a:t>
            </a:r>
            <a:r>
              <a:rPr sz="2400" dirty="0" err="1">
                <a:solidFill>
                  <a:srgbClr val="1B1B1B"/>
                </a:solidFill>
                <a:latin typeface="Consolas"/>
              </a:rPr>
              <a:t>order_id</a:t>
            </a:r>
            <a:r>
              <a:rPr sz="2400" dirty="0">
                <a:solidFill>
                  <a:srgbClr val="1B1B1B"/>
                </a:solidFill>
                <a:latin typeface="Consolas"/>
              </a:rPr>
              <a:t>").</a:t>
            </a:r>
            <a:r>
              <a:rPr sz="2400" dirty="0" err="1">
                <a:solidFill>
                  <a:srgbClr val="1B1B1B"/>
                </a:solidFill>
                <a:latin typeface="Consolas"/>
              </a:rPr>
              <a:t>orderBy</a:t>
            </a:r>
            <a:r>
              <a:rPr sz="2400" dirty="0">
                <a:solidFill>
                  <a:srgbClr val="1B1B1B"/>
                </a:solidFill>
                <a:latin typeface="Consolas"/>
              </a:rPr>
              <a:t>(</a:t>
            </a:r>
            <a:r>
              <a:rPr sz="2400" dirty="0" err="1">
                <a:solidFill>
                  <a:srgbClr val="1B1B1B"/>
                </a:solidFill>
                <a:latin typeface="Consolas"/>
              </a:rPr>
              <a:t>F.col</a:t>
            </a:r>
            <a:r>
              <a:rPr sz="2400" dirty="0">
                <a:solidFill>
                  <a:srgbClr val="1B1B1B"/>
                </a:solidFill>
                <a:latin typeface="Consolas"/>
              </a:rPr>
              <a:t>("</a:t>
            </a:r>
            <a:r>
              <a:rPr sz="2400" dirty="0" err="1">
                <a:solidFill>
                  <a:srgbClr val="1B1B1B"/>
                </a:solidFill>
                <a:latin typeface="Consolas"/>
              </a:rPr>
              <a:t>event_time_ts</a:t>
            </a:r>
            <a:r>
              <a:rPr sz="2400" dirty="0">
                <a:solidFill>
                  <a:srgbClr val="1B1B1B"/>
                </a:solidFill>
                <a:latin typeface="Consolas"/>
              </a:rPr>
              <a:t>").desc())
ranked = </a:t>
            </a:r>
            <a:r>
              <a:rPr sz="2400" dirty="0" err="1">
                <a:solidFill>
                  <a:srgbClr val="1B1B1B"/>
                </a:solidFill>
                <a:latin typeface="Consolas"/>
              </a:rPr>
              <a:t>orders.withColumn</a:t>
            </a:r>
            <a:r>
              <a:rPr sz="2400" dirty="0">
                <a:solidFill>
                  <a:srgbClr val="1B1B1B"/>
                </a:solidFill>
                <a:latin typeface="Consolas"/>
              </a:rPr>
              <a:t>("</a:t>
            </a:r>
            <a:r>
              <a:rPr sz="2400" dirty="0" err="1">
                <a:solidFill>
                  <a:srgbClr val="1B1B1B"/>
                </a:solidFill>
                <a:latin typeface="Consolas"/>
              </a:rPr>
              <a:t>rn</a:t>
            </a:r>
            <a:r>
              <a:rPr sz="2400" dirty="0">
                <a:solidFill>
                  <a:srgbClr val="1B1B1B"/>
                </a:solidFill>
                <a:latin typeface="Consolas"/>
              </a:rPr>
              <a:t>", </a:t>
            </a:r>
            <a:r>
              <a:rPr sz="2400" dirty="0" err="1">
                <a:solidFill>
                  <a:srgbClr val="1B1B1B"/>
                </a:solidFill>
                <a:latin typeface="Consolas"/>
              </a:rPr>
              <a:t>F.row_number</a:t>
            </a:r>
            <a:r>
              <a:rPr sz="2400" dirty="0">
                <a:solidFill>
                  <a:srgbClr val="1B1B1B"/>
                </a:solidFill>
                <a:latin typeface="Consolas"/>
              </a:rPr>
              <a:t>().over(w))</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87</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Window Specification: partitionBy + orderBy</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partitionBy defines the group of rows evaluated together.</a:t>
            </a:r>
          </a:p>
          <a:p>
            <a:pPr>
              <a:spcAft>
                <a:spcPts val="500"/>
              </a:spcAft>
              <a:defRPr sz="1300">
                <a:solidFill>
                  <a:srgbClr val="333333"/>
                </a:solidFill>
                <a:latin typeface="Calibri"/>
              </a:defRPr>
            </a:pPr>
            <a:r>
              <a:t>• orderBy defines which row is first, latest, earliest, or highest.</a:t>
            </a:r>
          </a:p>
          <a:p>
            <a:pPr>
              <a:spcAft>
                <a:spcPts val="500"/>
              </a:spcAft>
              <a:defRPr sz="1300">
                <a:solidFill>
                  <a:srgbClr val="333333"/>
                </a:solidFill>
                <a:latin typeface="Calibri"/>
              </a:defRPr>
            </a:pPr>
            <a:r>
              <a:t>• The window specification is reused by one or more window functions.</a:t>
            </a:r>
          </a:p>
        </p:txBody>
      </p:sp>
      <p:sp>
        <p:nvSpPr>
          <p:cNvPr id="5" name="Rounded Rectangle 4"/>
          <p:cNvSpPr/>
          <p:nvPr/>
        </p:nvSpPr>
        <p:spPr>
          <a:xfrm>
            <a:off x="1005840" y="2834640"/>
            <a:ext cx="2011680" cy="594360"/>
          </a:xfrm>
          <a:prstGeom prst="roundRect">
            <a:avLst/>
          </a:prstGeom>
          <a:solidFill>
            <a:srgbClr val="E3F2FD"/>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333333"/>
                </a:solidFill>
                <a:latin typeface="Calibri"/>
              </a:rPr>
              <a:t>partitionBy(order_id)</a:t>
            </a:r>
          </a:p>
        </p:txBody>
      </p:sp>
      <p:sp>
        <p:nvSpPr>
          <p:cNvPr id="6" name="Rounded Rectangle 5"/>
          <p:cNvSpPr/>
          <p:nvPr/>
        </p:nvSpPr>
        <p:spPr>
          <a:xfrm>
            <a:off x="3566160" y="2834640"/>
            <a:ext cx="2011680" cy="594360"/>
          </a:xfrm>
          <a:prstGeom prst="roundRect">
            <a:avLst/>
          </a:prstGeom>
          <a:solidFill>
            <a:srgbClr val="FFF8E1"/>
          </a:solidFill>
          <a:ln w="12700">
            <a:solidFill>
              <a:srgbClr val="F9A82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333333"/>
                </a:solidFill>
                <a:latin typeface="Calibri"/>
              </a:rPr>
              <a:t>orderBy(event_time desc)</a:t>
            </a:r>
          </a:p>
        </p:txBody>
      </p:sp>
      <p:sp>
        <p:nvSpPr>
          <p:cNvPr id="7" name="Rounded Rectangle 6"/>
          <p:cNvSpPr/>
          <p:nvPr/>
        </p:nvSpPr>
        <p:spPr>
          <a:xfrm>
            <a:off x="6126480" y="2834640"/>
            <a:ext cx="1828800" cy="594360"/>
          </a:xfrm>
          <a:prstGeom prst="roundRect">
            <a:avLst/>
          </a:prstGeom>
          <a:solidFill>
            <a:srgbClr val="F1F8E9"/>
          </a:solidFill>
          <a:ln w="12700">
            <a:solidFill>
              <a:srgbClr val="7CB34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333333"/>
                </a:solidFill>
                <a:latin typeface="Calibri"/>
              </a:rPr>
              <a:t>row_number()</a:t>
            </a:r>
          </a:p>
        </p:txBody>
      </p:sp>
      <p:graphicFrame>
        <p:nvGraphicFramePr>
          <p:cNvPr id="8" name="Table 7"/>
          <p:cNvGraphicFramePr>
            <a:graphicFrameLocks noGrp="1"/>
          </p:cNvGraphicFramePr>
          <p:nvPr>
            <p:extLst>
              <p:ext uri="{D42A27DB-BD31-4B8C-83A1-F6EECF244321}">
                <p14:modId xmlns:p14="http://schemas.microsoft.com/office/powerpoint/2010/main" val="3331995684"/>
              </p:ext>
            </p:extLst>
          </p:nvPr>
        </p:nvGraphicFramePr>
        <p:xfrm>
          <a:off x="1545336" y="3977638"/>
          <a:ext cx="5934456" cy="2203708"/>
        </p:xfrm>
        <a:graphic>
          <a:graphicData uri="http://schemas.openxmlformats.org/drawingml/2006/table">
            <a:tbl>
              <a:tblPr firstRow="1" bandRow="1">
                <a:tableStyleId>{5C22544A-7EE6-4342-B048-85BDC9FD1C3A}</a:tableStyleId>
              </a:tblPr>
              <a:tblGrid>
                <a:gridCol w="1978152">
                  <a:extLst>
                    <a:ext uri="{9D8B030D-6E8A-4147-A177-3AD203B41FA5}">
                      <a16:colId xmlns:a16="http://schemas.microsoft.com/office/drawing/2014/main" val="20000"/>
                    </a:ext>
                  </a:extLst>
                </a:gridCol>
                <a:gridCol w="1978152">
                  <a:extLst>
                    <a:ext uri="{9D8B030D-6E8A-4147-A177-3AD203B41FA5}">
                      <a16:colId xmlns:a16="http://schemas.microsoft.com/office/drawing/2014/main" val="20001"/>
                    </a:ext>
                  </a:extLst>
                </a:gridCol>
                <a:gridCol w="1978152">
                  <a:extLst>
                    <a:ext uri="{9D8B030D-6E8A-4147-A177-3AD203B41FA5}">
                      <a16:colId xmlns:a16="http://schemas.microsoft.com/office/drawing/2014/main" val="20002"/>
                    </a:ext>
                  </a:extLst>
                </a:gridCol>
              </a:tblGrid>
              <a:tr h="550927">
                <a:tc>
                  <a:txBody>
                    <a:bodyPr/>
                    <a:lstStyle/>
                    <a:p>
                      <a:pPr algn="ctr"/>
                      <a:r>
                        <a:rPr sz="850" b="1">
                          <a:solidFill>
                            <a:srgbClr val="FFFFFF"/>
                          </a:solidFill>
                          <a:latin typeface="Calibri"/>
                        </a:rPr>
                        <a:t>order_id</a:t>
                      </a:r>
                    </a:p>
                  </a:txBody>
                  <a:tcPr>
                    <a:solidFill>
                      <a:srgbClr val="002060"/>
                    </a:solidFill>
                  </a:tcPr>
                </a:tc>
                <a:tc>
                  <a:txBody>
                    <a:bodyPr/>
                    <a:lstStyle/>
                    <a:p>
                      <a:pPr algn="ctr"/>
                      <a:r>
                        <a:rPr sz="850" b="1">
                          <a:solidFill>
                            <a:srgbClr val="FFFFFF"/>
                          </a:solidFill>
                          <a:latin typeface="Calibri"/>
                        </a:rPr>
                        <a:t>event_time</a:t>
                      </a:r>
                    </a:p>
                  </a:txBody>
                  <a:tcPr>
                    <a:solidFill>
                      <a:srgbClr val="002060"/>
                    </a:solidFill>
                  </a:tcPr>
                </a:tc>
                <a:tc>
                  <a:txBody>
                    <a:bodyPr/>
                    <a:lstStyle/>
                    <a:p>
                      <a:pPr algn="ctr"/>
                      <a:r>
                        <a:rPr sz="850" b="1">
                          <a:solidFill>
                            <a:srgbClr val="FFFFFF"/>
                          </a:solidFill>
                          <a:latin typeface="Calibri"/>
                        </a:rPr>
                        <a:t>rn</a:t>
                      </a:r>
                    </a:p>
                  </a:txBody>
                  <a:tcPr>
                    <a:solidFill>
                      <a:srgbClr val="002060"/>
                    </a:solidFill>
                  </a:tcPr>
                </a:tc>
                <a:extLst>
                  <a:ext uri="{0D108BD9-81ED-4DB2-BD59-A6C34878D82A}">
                    <a16:rowId xmlns:a16="http://schemas.microsoft.com/office/drawing/2014/main" val="10000"/>
                  </a:ext>
                </a:extLst>
              </a:tr>
              <a:tr h="550927">
                <a:tc>
                  <a:txBody>
                    <a:bodyPr/>
                    <a:lstStyle/>
                    <a:p>
                      <a:pPr algn="l"/>
                      <a:r>
                        <a:rPr sz="850" b="0">
                          <a:solidFill>
                            <a:srgbClr val="333333"/>
                          </a:solidFill>
                          <a:latin typeface="Calibri"/>
                        </a:rPr>
                        <a:t>1002</a:t>
                      </a:r>
                    </a:p>
                  </a:txBody>
                  <a:tcPr>
                    <a:solidFill>
                      <a:srgbClr val="FFFFFF"/>
                    </a:solidFill>
                  </a:tcPr>
                </a:tc>
                <a:tc>
                  <a:txBody>
                    <a:bodyPr/>
                    <a:lstStyle/>
                    <a:p>
                      <a:pPr algn="l"/>
                      <a:r>
                        <a:rPr sz="850" b="0">
                          <a:solidFill>
                            <a:srgbClr val="333333"/>
                          </a:solidFill>
                          <a:latin typeface="Calibri"/>
                        </a:rPr>
                        <a:t>10:03</a:t>
                      </a:r>
                    </a:p>
                  </a:txBody>
                  <a:tcPr>
                    <a:solidFill>
                      <a:srgbClr val="FFFFFF"/>
                    </a:solidFill>
                  </a:tcPr>
                </a:tc>
                <a:tc>
                  <a:txBody>
                    <a:bodyPr/>
                    <a:lstStyle/>
                    <a:p>
                      <a:pPr algn="l"/>
                      <a:r>
                        <a:rPr sz="850" b="0">
                          <a:solidFill>
                            <a:srgbClr val="333333"/>
                          </a:solidFill>
                          <a:latin typeface="Calibri"/>
                        </a:rPr>
                        <a:t>1</a:t>
                      </a:r>
                    </a:p>
                  </a:txBody>
                  <a:tcPr>
                    <a:solidFill>
                      <a:srgbClr val="FFFFFF"/>
                    </a:solidFill>
                  </a:tcPr>
                </a:tc>
                <a:extLst>
                  <a:ext uri="{0D108BD9-81ED-4DB2-BD59-A6C34878D82A}">
                    <a16:rowId xmlns:a16="http://schemas.microsoft.com/office/drawing/2014/main" val="10001"/>
                  </a:ext>
                </a:extLst>
              </a:tr>
              <a:tr h="550927">
                <a:tc>
                  <a:txBody>
                    <a:bodyPr/>
                    <a:lstStyle/>
                    <a:p>
                      <a:pPr algn="l"/>
                      <a:r>
                        <a:rPr sz="850" b="0">
                          <a:solidFill>
                            <a:srgbClr val="333333"/>
                          </a:solidFill>
                          <a:latin typeface="Calibri"/>
                        </a:rPr>
                        <a:t>1002</a:t>
                      </a:r>
                    </a:p>
                  </a:txBody>
                  <a:tcPr>
                    <a:solidFill>
                      <a:srgbClr val="F0F4FA"/>
                    </a:solidFill>
                  </a:tcPr>
                </a:tc>
                <a:tc>
                  <a:txBody>
                    <a:bodyPr/>
                    <a:lstStyle/>
                    <a:p>
                      <a:pPr algn="l"/>
                      <a:r>
                        <a:rPr sz="850" b="0">
                          <a:solidFill>
                            <a:srgbClr val="333333"/>
                          </a:solidFill>
                          <a:latin typeface="Calibri"/>
                        </a:rPr>
                        <a:t>09:59</a:t>
                      </a:r>
                    </a:p>
                  </a:txBody>
                  <a:tcPr>
                    <a:solidFill>
                      <a:srgbClr val="F0F4FA"/>
                    </a:solidFill>
                  </a:tcPr>
                </a:tc>
                <a:tc>
                  <a:txBody>
                    <a:bodyPr/>
                    <a:lstStyle/>
                    <a:p>
                      <a:pPr algn="l"/>
                      <a:r>
                        <a:rPr sz="850" b="0">
                          <a:solidFill>
                            <a:srgbClr val="333333"/>
                          </a:solidFill>
                          <a:latin typeface="Calibri"/>
                        </a:rPr>
                        <a:t>2</a:t>
                      </a:r>
                    </a:p>
                  </a:txBody>
                  <a:tcPr>
                    <a:solidFill>
                      <a:srgbClr val="F0F4FA"/>
                    </a:solidFill>
                  </a:tcPr>
                </a:tc>
                <a:extLst>
                  <a:ext uri="{0D108BD9-81ED-4DB2-BD59-A6C34878D82A}">
                    <a16:rowId xmlns:a16="http://schemas.microsoft.com/office/drawing/2014/main" val="10002"/>
                  </a:ext>
                </a:extLst>
              </a:tr>
              <a:tr h="550927">
                <a:tc>
                  <a:txBody>
                    <a:bodyPr/>
                    <a:lstStyle/>
                    <a:p>
                      <a:pPr algn="l"/>
                      <a:r>
                        <a:rPr sz="850" b="0">
                          <a:solidFill>
                            <a:srgbClr val="333333"/>
                          </a:solidFill>
                          <a:latin typeface="Calibri"/>
                        </a:rPr>
                        <a:t>1001</a:t>
                      </a:r>
                    </a:p>
                  </a:txBody>
                  <a:tcPr>
                    <a:solidFill>
                      <a:srgbClr val="FFFFFF"/>
                    </a:solidFill>
                  </a:tcPr>
                </a:tc>
                <a:tc>
                  <a:txBody>
                    <a:bodyPr/>
                    <a:lstStyle/>
                    <a:p>
                      <a:pPr algn="l"/>
                      <a:r>
                        <a:rPr sz="850" b="0">
                          <a:solidFill>
                            <a:srgbClr val="333333"/>
                          </a:solidFill>
                          <a:latin typeface="Calibri"/>
                        </a:rPr>
                        <a:t>09:10</a:t>
                      </a:r>
                    </a:p>
                  </a:txBody>
                  <a:tcPr>
                    <a:solidFill>
                      <a:srgbClr val="FFFFFF"/>
                    </a:solidFill>
                  </a:tcPr>
                </a:tc>
                <a:tc>
                  <a:txBody>
                    <a:bodyPr/>
                    <a:lstStyle/>
                    <a:p>
                      <a:pPr algn="l"/>
                      <a:r>
                        <a:rPr sz="850" b="0" dirty="0">
                          <a:solidFill>
                            <a:srgbClr val="333333"/>
                          </a:solidFill>
                          <a:latin typeface="Calibri"/>
                        </a:rPr>
                        <a:t>1</a:t>
                      </a:r>
                    </a:p>
                  </a:txBody>
                  <a:tcP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88</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Latest Order State — Current Row with ROW_NUMBER</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Deduplicate repeated source events before CDC latest-state logic.</a:t>
            </a:r>
          </a:p>
          <a:p>
            <a:pPr>
              <a:spcAft>
                <a:spcPts val="500"/>
              </a:spcAft>
              <a:defRPr sz="1300">
                <a:solidFill>
                  <a:srgbClr val="333333"/>
                </a:solidFill>
                <a:latin typeface="Calibri"/>
              </a:defRPr>
            </a:pPr>
            <a:r>
              <a:t>• Rank all remaining events for the same order by newest event_time first.</a:t>
            </a:r>
          </a:p>
          <a:p>
            <a:pPr>
              <a:spcAft>
                <a:spcPts val="500"/>
              </a:spcAft>
              <a:defRPr sz="1300">
                <a:solidFill>
                  <a:srgbClr val="333333"/>
                </a:solidFill>
                <a:latin typeface="Calibri"/>
              </a:defRPr>
            </a:pPr>
            <a:r>
              <a:t>• Keep rn = 1 as the current Silver order state.</a:t>
            </a:r>
          </a:p>
          <a:p>
            <a:pPr>
              <a:spcAft>
                <a:spcPts val="500"/>
              </a:spcAft>
              <a:defRPr sz="1300">
                <a:solidFill>
                  <a:srgbClr val="333333"/>
                </a:solidFill>
                <a:latin typeface="Calibri"/>
              </a:defRPr>
            </a:pPr>
            <a:r>
              <a:t>• Do not delete Bronze history; the current table is just the serving view.</a:t>
            </a:r>
          </a:p>
        </p:txBody>
      </p:sp>
      <p:sp>
        <p:nvSpPr>
          <p:cNvPr id="5" name="Rounded Rectangle 4"/>
          <p:cNvSpPr/>
          <p:nvPr/>
        </p:nvSpPr>
        <p:spPr>
          <a:xfrm>
            <a:off x="594360" y="2633472"/>
            <a:ext cx="7955279" cy="3337560"/>
          </a:xfrm>
          <a:prstGeom prst="roundRect">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400" dirty="0">
                <a:solidFill>
                  <a:srgbClr val="1B1B1B"/>
                </a:solidFill>
                <a:latin typeface="Consolas"/>
              </a:rPr>
              <a:t>deduplicated = </a:t>
            </a:r>
            <a:r>
              <a:rPr sz="1400" dirty="0" err="1">
                <a:solidFill>
                  <a:srgbClr val="1B1B1B"/>
                </a:solidFill>
                <a:latin typeface="Consolas"/>
              </a:rPr>
              <a:t>valid_orders.dropDuplicates</a:t>
            </a:r>
            <a:r>
              <a:rPr sz="1400" dirty="0">
                <a:solidFill>
                  <a:srgbClr val="1B1B1B"/>
                </a:solidFill>
                <a:latin typeface="Consolas"/>
              </a:rPr>
              <a:t>([
    "</a:t>
            </a:r>
            <a:r>
              <a:rPr sz="1400" dirty="0" err="1">
                <a:solidFill>
                  <a:srgbClr val="1B1B1B"/>
                </a:solidFill>
                <a:latin typeface="Consolas"/>
              </a:rPr>
              <a:t>order_id</a:t>
            </a:r>
            <a:r>
              <a:rPr sz="1400" dirty="0">
                <a:solidFill>
                  <a:srgbClr val="1B1B1B"/>
                </a:solidFill>
                <a:latin typeface="Consolas"/>
              </a:rPr>
              <a:t>", "</a:t>
            </a:r>
            <a:r>
              <a:rPr sz="1400" dirty="0" err="1">
                <a:solidFill>
                  <a:srgbClr val="1B1B1B"/>
                </a:solidFill>
                <a:latin typeface="Consolas"/>
              </a:rPr>
              <a:t>customer_id</a:t>
            </a:r>
            <a:r>
              <a:rPr sz="1400" dirty="0">
                <a:solidFill>
                  <a:srgbClr val="1B1B1B"/>
                </a:solidFill>
                <a:latin typeface="Consolas"/>
              </a:rPr>
              <a:t>", "</a:t>
            </a:r>
            <a:r>
              <a:rPr sz="1400" dirty="0" err="1">
                <a:solidFill>
                  <a:srgbClr val="1B1B1B"/>
                </a:solidFill>
                <a:latin typeface="Consolas"/>
              </a:rPr>
              <a:t>product_id</a:t>
            </a:r>
            <a:r>
              <a:rPr sz="1400" dirty="0">
                <a:solidFill>
                  <a:srgbClr val="1B1B1B"/>
                </a:solidFill>
                <a:latin typeface="Consolas"/>
              </a:rPr>
              <a:t>", "status",
    "amount", "currency", "channel", "</a:t>
            </a:r>
            <a:r>
              <a:rPr sz="1400" dirty="0" err="1">
                <a:solidFill>
                  <a:srgbClr val="1B1B1B"/>
                </a:solidFill>
                <a:latin typeface="Consolas"/>
              </a:rPr>
              <a:t>event_time_ts</a:t>
            </a:r>
            <a:r>
              <a:rPr sz="1400" dirty="0">
                <a:solidFill>
                  <a:srgbClr val="1B1B1B"/>
                </a:solidFill>
                <a:latin typeface="Consolas"/>
              </a:rPr>
              <a:t>",
])
def </a:t>
            </a:r>
            <a:r>
              <a:rPr sz="1400" dirty="0" err="1">
                <a:solidFill>
                  <a:srgbClr val="1B1B1B"/>
                </a:solidFill>
                <a:latin typeface="Consolas"/>
              </a:rPr>
              <a:t>latest_order_state</a:t>
            </a:r>
            <a:r>
              <a:rPr sz="1400" dirty="0">
                <a:solidFill>
                  <a:srgbClr val="1B1B1B"/>
                </a:solidFill>
                <a:latin typeface="Consolas"/>
              </a:rPr>
              <a:t>(orders):
    w = </a:t>
            </a:r>
            <a:r>
              <a:rPr sz="1400" dirty="0" err="1">
                <a:solidFill>
                  <a:srgbClr val="1B1B1B"/>
                </a:solidFill>
                <a:latin typeface="Consolas"/>
              </a:rPr>
              <a:t>Window.partitionBy</a:t>
            </a:r>
            <a:r>
              <a:rPr sz="1400" dirty="0">
                <a:solidFill>
                  <a:srgbClr val="1B1B1B"/>
                </a:solidFill>
                <a:latin typeface="Consolas"/>
              </a:rPr>
              <a:t>("</a:t>
            </a:r>
            <a:r>
              <a:rPr sz="1400" dirty="0" err="1">
                <a:solidFill>
                  <a:srgbClr val="1B1B1B"/>
                </a:solidFill>
                <a:latin typeface="Consolas"/>
              </a:rPr>
              <a:t>order_id</a:t>
            </a:r>
            <a:r>
              <a:rPr sz="1400" dirty="0">
                <a:solidFill>
                  <a:srgbClr val="1B1B1B"/>
                </a:solidFill>
                <a:latin typeface="Consolas"/>
              </a:rPr>
              <a:t>").</a:t>
            </a:r>
            <a:r>
              <a:rPr sz="1400" dirty="0" err="1">
                <a:solidFill>
                  <a:srgbClr val="1B1B1B"/>
                </a:solidFill>
                <a:latin typeface="Consolas"/>
              </a:rPr>
              <a:t>orderBy</a:t>
            </a:r>
            <a:r>
              <a:rPr sz="1400" dirty="0">
                <a:solidFill>
                  <a:srgbClr val="1B1B1B"/>
                </a:solidFill>
                <a:latin typeface="Consolas"/>
              </a:rPr>
              <a:t>(</a:t>
            </a:r>
            <a:r>
              <a:rPr sz="1400" dirty="0" err="1">
                <a:solidFill>
                  <a:srgbClr val="1B1B1B"/>
                </a:solidFill>
                <a:latin typeface="Consolas"/>
              </a:rPr>
              <a:t>F.col</a:t>
            </a:r>
            <a:r>
              <a:rPr sz="1400" dirty="0">
                <a:solidFill>
                  <a:srgbClr val="1B1B1B"/>
                </a:solidFill>
                <a:latin typeface="Consolas"/>
              </a:rPr>
              <a:t>("</a:t>
            </a:r>
            <a:r>
              <a:rPr sz="1400" dirty="0" err="1">
                <a:solidFill>
                  <a:srgbClr val="1B1B1B"/>
                </a:solidFill>
                <a:latin typeface="Consolas"/>
              </a:rPr>
              <a:t>event_time_ts</a:t>
            </a:r>
            <a:r>
              <a:rPr sz="1400" dirty="0">
                <a:solidFill>
                  <a:srgbClr val="1B1B1B"/>
                </a:solidFill>
                <a:latin typeface="Consolas"/>
              </a:rPr>
              <a:t>").desc())
    return (
        orders
        .</a:t>
            </a:r>
            <a:r>
              <a:rPr sz="1400" dirty="0" err="1">
                <a:solidFill>
                  <a:srgbClr val="1B1B1B"/>
                </a:solidFill>
                <a:latin typeface="Consolas"/>
              </a:rPr>
              <a:t>withColumn</a:t>
            </a:r>
            <a:r>
              <a:rPr sz="1400" dirty="0">
                <a:solidFill>
                  <a:srgbClr val="1B1B1B"/>
                </a:solidFill>
                <a:latin typeface="Consolas"/>
              </a:rPr>
              <a:t>("</a:t>
            </a:r>
            <a:r>
              <a:rPr sz="1400" dirty="0" err="1">
                <a:solidFill>
                  <a:srgbClr val="1B1B1B"/>
                </a:solidFill>
                <a:latin typeface="Consolas"/>
              </a:rPr>
              <a:t>rn</a:t>
            </a:r>
            <a:r>
              <a:rPr sz="1400" dirty="0">
                <a:solidFill>
                  <a:srgbClr val="1B1B1B"/>
                </a:solidFill>
                <a:latin typeface="Consolas"/>
              </a:rPr>
              <a:t>", </a:t>
            </a:r>
            <a:r>
              <a:rPr sz="1400" dirty="0" err="1">
                <a:solidFill>
                  <a:srgbClr val="1B1B1B"/>
                </a:solidFill>
                <a:latin typeface="Consolas"/>
              </a:rPr>
              <a:t>F.row_number</a:t>
            </a:r>
            <a:r>
              <a:rPr sz="1400" dirty="0">
                <a:solidFill>
                  <a:srgbClr val="1B1B1B"/>
                </a:solidFill>
                <a:latin typeface="Consolas"/>
              </a:rPr>
              <a:t>().over(w))
        .filter(</a:t>
            </a:r>
            <a:r>
              <a:rPr sz="1400" dirty="0" err="1">
                <a:solidFill>
                  <a:srgbClr val="1B1B1B"/>
                </a:solidFill>
                <a:latin typeface="Consolas"/>
              </a:rPr>
              <a:t>F.col</a:t>
            </a:r>
            <a:r>
              <a:rPr sz="1400" dirty="0">
                <a:solidFill>
                  <a:srgbClr val="1B1B1B"/>
                </a:solidFill>
                <a:latin typeface="Consolas"/>
              </a:rPr>
              <a:t>("</a:t>
            </a:r>
            <a:r>
              <a:rPr sz="1400" dirty="0" err="1">
                <a:solidFill>
                  <a:srgbClr val="1B1B1B"/>
                </a:solidFill>
                <a:latin typeface="Consolas"/>
              </a:rPr>
              <a:t>rn</a:t>
            </a:r>
            <a:r>
              <a:rPr sz="1400" dirty="0">
                <a:solidFill>
                  <a:srgbClr val="1B1B1B"/>
                </a:solidFill>
                <a:latin typeface="Consolas"/>
              </a:rPr>
              <a:t>") == 1)
        .drop("</a:t>
            </a:r>
            <a:r>
              <a:rPr sz="1400" dirty="0" err="1">
                <a:solidFill>
                  <a:srgbClr val="1B1B1B"/>
                </a:solidFill>
                <a:latin typeface="Consolas"/>
              </a:rPr>
              <a:t>rn</a:t>
            </a:r>
            <a:r>
              <a:rPr sz="1400" dirty="0">
                <a:solidFill>
                  <a:srgbClr val="1B1B1B"/>
                </a:solidFill>
                <a:latin typeface="Consolas"/>
              </a:rPr>
              <a:t>")
    )</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89</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Code Walkthrough: Lab 08 — CDC Latest State</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Start from valid Silver order events.</a:t>
            </a:r>
          </a:p>
          <a:p>
            <a:pPr>
              <a:spcAft>
                <a:spcPts val="500"/>
              </a:spcAft>
              <a:defRPr sz="1300">
                <a:solidFill>
                  <a:srgbClr val="333333"/>
                </a:solidFill>
                <a:latin typeface="Calibri"/>
              </a:defRPr>
            </a:pPr>
            <a:r>
              <a:t>• Deduplicate repeated source events before latest-state CDC.</a:t>
            </a:r>
          </a:p>
          <a:p>
            <a:pPr>
              <a:spcAft>
                <a:spcPts val="500"/>
              </a:spcAft>
              <a:defRPr sz="1300">
                <a:solidFill>
                  <a:srgbClr val="333333"/>
                </a:solidFill>
                <a:latin typeface="Calibri"/>
              </a:defRPr>
            </a:pPr>
            <a:r>
              <a:t>• Write one current record per order_id.</a:t>
            </a:r>
          </a:p>
        </p:txBody>
      </p:sp>
      <p:sp>
        <p:nvSpPr>
          <p:cNvPr id="5" name="Rounded Rectangle 4"/>
          <p:cNvSpPr/>
          <p:nvPr/>
        </p:nvSpPr>
        <p:spPr>
          <a:xfrm>
            <a:off x="594360" y="2633472"/>
            <a:ext cx="7955279" cy="3337560"/>
          </a:xfrm>
          <a:prstGeom prst="roundRect">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100">
                <a:solidFill>
                  <a:srgbClr val="1B1B1B"/>
                </a:solidFill>
                <a:latin typeface="Consolas"/>
              </a:rPr>
              <a:t>deduplicated = deduplicate_order_events(valid_order_events)
current_orders = latest_order_state(deduplicated)
deduplicated.write.mode("overwrite").parquet(
    "lake/silver/orders_deduplicated"
)
current_orders.write.mode("overwrite").parquet(
    "lake/silver/orders_current"
)</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90</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Before/After CDC: Duplicate Events → Current State</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Before: one order has multiple event rows over time.</a:t>
            </a:r>
          </a:p>
          <a:p>
            <a:pPr>
              <a:spcAft>
                <a:spcPts val="500"/>
              </a:spcAft>
              <a:defRPr sz="1300">
                <a:solidFill>
                  <a:srgbClr val="333333"/>
                </a:solidFill>
                <a:latin typeface="Calibri"/>
              </a:defRPr>
            </a:pPr>
            <a:r>
              <a:t>• After: Silver current keeps the latest business state only.</a:t>
            </a:r>
          </a:p>
          <a:p>
            <a:pPr>
              <a:spcAft>
                <a:spcPts val="500"/>
              </a:spcAft>
              <a:defRPr sz="1300">
                <a:solidFill>
                  <a:srgbClr val="333333"/>
                </a:solidFill>
                <a:latin typeface="Calibri"/>
              </a:defRPr>
            </a:pPr>
            <a:r>
              <a:t>• This is useful for dashboards that need one row per order.</a:t>
            </a:r>
          </a:p>
        </p:txBody>
      </p:sp>
      <p:graphicFrame>
        <p:nvGraphicFramePr>
          <p:cNvPr id="5" name="Table 4"/>
          <p:cNvGraphicFramePr>
            <a:graphicFrameLocks noGrp="1"/>
          </p:cNvGraphicFramePr>
          <p:nvPr/>
        </p:nvGraphicFramePr>
        <p:xfrm>
          <a:off x="594360" y="2788920"/>
          <a:ext cx="2971797" cy="1600200"/>
        </p:xfrm>
        <a:graphic>
          <a:graphicData uri="http://schemas.openxmlformats.org/drawingml/2006/table">
            <a:tbl>
              <a:tblPr firstRow="1" bandRow="1">
                <a:tableStyleId>{5C22544A-7EE6-4342-B048-85BDC9FD1C3A}</a:tableStyleId>
              </a:tblPr>
              <a:tblGrid>
                <a:gridCol w="990599">
                  <a:extLst>
                    <a:ext uri="{9D8B030D-6E8A-4147-A177-3AD203B41FA5}">
                      <a16:colId xmlns:a16="http://schemas.microsoft.com/office/drawing/2014/main" val="20000"/>
                    </a:ext>
                  </a:extLst>
                </a:gridCol>
                <a:gridCol w="990599">
                  <a:extLst>
                    <a:ext uri="{9D8B030D-6E8A-4147-A177-3AD203B41FA5}">
                      <a16:colId xmlns:a16="http://schemas.microsoft.com/office/drawing/2014/main" val="20001"/>
                    </a:ext>
                  </a:extLst>
                </a:gridCol>
                <a:gridCol w="990599">
                  <a:extLst>
                    <a:ext uri="{9D8B030D-6E8A-4147-A177-3AD203B41FA5}">
                      <a16:colId xmlns:a16="http://schemas.microsoft.com/office/drawing/2014/main" val="20002"/>
                    </a:ext>
                  </a:extLst>
                </a:gridCol>
              </a:tblGrid>
              <a:tr h="320040">
                <a:tc>
                  <a:txBody>
                    <a:bodyPr/>
                    <a:lstStyle/>
                    <a:p>
                      <a:pPr algn="ctr"/>
                      <a:r>
                        <a:rPr sz="830" b="1">
                          <a:solidFill>
                            <a:srgbClr val="FFFFFF"/>
                          </a:solidFill>
                          <a:latin typeface="Calibri"/>
                        </a:rPr>
                        <a:t>All Events</a:t>
                      </a:r>
                    </a:p>
                  </a:txBody>
                  <a:tcPr>
                    <a:solidFill>
                      <a:srgbClr val="002060"/>
                    </a:solidFill>
                  </a:tcPr>
                </a:tc>
                <a:tc>
                  <a:txBody>
                    <a:bodyPr/>
                    <a:lstStyle/>
                    <a:p>
                      <a:pPr algn="ctr"/>
                      <a:r>
                        <a:rPr sz="830" b="1">
                          <a:solidFill>
                            <a:srgbClr val="FFFFFF"/>
                          </a:solidFill>
                          <a:latin typeface="Calibri"/>
                        </a:rPr>
                        <a:t>status</a:t>
                      </a:r>
                    </a:p>
                  </a:txBody>
                  <a:tcPr>
                    <a:solidFill>
                      <a:srgbClr val="002060"/>
                    </a:solidFill>
                  </a:tcPr>
                </a:tc>
                <a:tc>
                  <a:txBody>
                    <a:bodyPr/>
                    <a:lstStyle/>
                    <a:p>
                      <a:pPr algn="ctr"/>
                      <a:r>
                        <a:rPr sz="830" b="1">
                          <a:solidFill>
                            <a:srgbClr val="FFFFFF"/>
                          </a:solidFill>
                          <a:latin typeface="Calibri"/>
                        </a:rPr>
                        <a:t>event_time</a:t>
                      </a:r>
                    </a:p>
                  </a:txBody>
                  <a:tcPr>
                    <a:solidFill>
                      <a:srgbClr val="002060"/>
                    </a:solidFill>
                  </a:tcPr>
                </a:tc>
                <a:extLst>
                  <a:ext uri="{0D108BD9-81ED-4DB2-BD59-A6C34878D82A}">
                    <a16:rowId xmlns:a16="http://schemas.microsoft.com/office/drawing/2014/main" val="10000"/>
                  </a:ext>
                </a:extLst>
              </a:tr>
              <a:tr h="320040">
                <a:tc>
                  <a:txBody>
                    <a:bodyPr/>
                    <a:lstStyle/>
                    <a:p>
                      <a:pPr algn="l"/>
                      <a:r>
                        <a:rPr sz="830" b="0">
                          <a:solidFill>
                            <a:srgbClr val="333333"/>
                          </a:solidFill>
                          <a:latin typeface="Calibri"/>
                        </a:rPr>
                        <a:t>1002</a:t>
                      </a:r>
                    </a:p>
                  </a:txBody>
                  <a:tcPr>
                    <a:solidFill>
                      <a:srgbClr val="FFFFFF"/>
                    </a:solidFill>
                  </a:tcPr>
                </a:tc>
                <a:tc>
                  <a:txBody>
                    <a:bodyPr/>
                    <a:lstStyle/>
                    <a:p>
                      <a:pPr algn="l"/>
                      <a:r>
                        <a:rPr sz="830" b="0">
                          <a:solidFill>
                            <a:srgbClr val="333333"/>
                          </a:solidFill>
                          <a:latin typeface="Calibri"/>
                        </a:rPr>
                        <a:t>NEW</a:t>
                      </a:r>
                    </a:p>
                  </a:txBody>
                  <a:tcPr>
                    <a:solidFill>
                      <a:srgbClr val="FFFFFF"/>
                    </a:solidFill>
                  </a:tcPr>
                </a:tc>
                <a:tc>
                  <a:txBody>
                    <a:bodyPr/>
                    <a:lstStyle/>
                    <a:p>
                      <a:pPr algn="l"/>
                      <a:r>
                        <a:rPr sz="830" b="0">
                          <a:solidFill>
                            <a:srgbClr val="333333"/>
                          </a:solidFill>
                          <a:latin typeface="Calibri"/>
                        </a:rPr>
                        <a:t>09:58</a:t>
                      </a:r>
                    </a:p>
                  </a:txBody>
                  <a:tcPr>
                    <a:solidFill>
                      <a:srgbClr val="FFFFFF"/>
                    </a:solidFill>
                  </a:tcPr>
                </a:tc>
                <a:extLst>
                  <a:ext uri="{0D108BD9-81ED-4DB2-BD59-A6C34878D82A}">
                    <a16:rowId xmlns:a16="http://schemas.microsoft.com/office/drawing/2014/main" val="10001"/>
                  </a:ext>
                </a:extLst>
              </a:tr>
              <a:tr h="320040">
                <a:tc>
                  <a:txBody>
                    <a:bodyPr/>
                    <a:lstStyle/>
                    <a:p>
                      <a:pPr algn="l"/>
                      <a:r>
                        <a:rPr sz="830" b="0">
                          <a:solidFill>
                            <a:srgbClr val="333333"/>
                          </a:solidFill>
                          <a:latin typeface="Calibri"/>
                        </a:rPr>
                        <a:t>1002</a:t>
                      </a:r>
                    </a:p>
                  </a:txBody>
                  <a:tcPr>
                    <a:solidFill>
                      <a:srgbClr val="F0F4FA"/>
                    </a:solidFill>
                  </a:tcPr>
                </a:tc>
                <a:tc>
                  <a:txBody>
                    <a:bodyPr/>
                    <a:lstStyle/>
                    <a:p>
                      <a:pPr algn="l"/>
                      <a:r>
                        <a:rPr sz="830" b="0">
                          <a:solidFill>
                            <a:srgbClr val="333333"/>
                          </a:solidFill>
                          <a:latin typeface="Calibri"/>
                        </a:rPr>
                        <a:t>NEW</a:t>
                      </a:r>
                    </a:p>
                  </a:txBody>
                  <a:tcPr>
                    <a:solidFill>
                      <a:srgbClr val="F0F4FA"/>
                    </a:solidFill>
                  </a:tcPr>
                </a:tc>
                <a:tc>
                  <a:txBody>
                    <a:bodyPr/>
                    <a:lstStyle/>
                    <a:p>
                      <a:pPr algn="l"/>
                      <a:r>
                        <a:rPr sz="830" b="0">
                          <a:solidFill>
                            <a:srgbClr val="333333"/>
                          </a:solidFill>
                          <a:latin typeface="Calibri"/>
                        </a:rPr>
                        <a:t>09:59</a:t>
                      </a:r>
                    </a:p>
                  </a:txBody>
                  <a:tcPr>
                    <a:solidFill>
                      <a:srgbClr val="F0F4FA"/>
                    </a:solidFill>
                  </a:tcPr>
                </a:tc>
                <a:extLst>
                  <a:ext uri="{0D108BD9-81ED-4DB2-BD59-A6C34878D82A}">
                    <a16:rowId xmlns:a16="http://schemas.microsoft.com/office/drawing/2014/main" val="10002"/>
                  </a:ext>
                </a:extLst>
              </a:tr>
              <a:tr h="320040">
                <a:tc>
                  <a:txBody>
                    <a:bodyPr/>
                    <a:lstStyle/>
                    <a:p>
                      <a:pPr algn="l"/>
                      <a:r>
                        <a:rPr sz="830" b="0">
                          <a:solidFill>
                            <a:srgbClr val="333333"/>
                          </a:solidFill>
                          <a:latin typeface="Calibri"/>
                        </a:rPr>
                        <a:t>1002</a:t>
                      </a:r>
                    </a:p>
                  </a:txBody>
                  <a:tcPr>
                    <a:solidFill>
                      <a:srgbClr val="FFFFFF"/>
                    </a:solidFill>
                  </a:tcPr>
                </a:tc>
                <a:tc>
                  <a:txBody>
                    <a:bodyPr/>
                    <a:lstStyle/>
                    <a:p>
                      <a:pPr algn="l"/>
                      <a:r>
                        <a:rPr sz="830" b="0">
                          <a:solidFill>
                            <a:srgbClr val="333333"/>
                          </a:solidFill>
                          <a:latin typeface="Calibri"/>
                        </a:rPr>
                        <a:t>CANCELLED</a:t>
                      </a:r>
                    </a:p>
                  </a:txBody>
                  <a:tcPr>
                    <a:solidFill>
                      <a:srgbClr val="FFFFFF"/>
                    </a:solidFill>
                  </a:tcPr>
                </a:tc>
                <a:tc>
                  <a:txBody>
                    <a:bodyPr/>
                    <a:lstStyle/>
                    <a:p>
                      <a:pPr algn="l"/>
                      <a:r>
                        <a:rPr sz="830" b="0">
                          <a:solidFill>
                            <a:srgbClr val="333333"/>
                          </a:solidFill>
                          <a:latin typeface="Calibri"/>
                        </a:rPr>
                        <a:t>10:03</a:t>
                      </a:r>
                    </a:p>
                  </a:txBody>
                  <a:tcPr>
                    <a:solidFill>
                      <a:srgbClr val="FFFFFF"/>
                    </a:solidFill>
                  </a:tcPr>
                </a:tc>
                <a:extLst>
                  <a:ext uri="{0D108BD9-81ED-4DB2-BD59-A6C34878D82A}">
                    <a16:rowId xmlns:a16="http://schemas.microsoft.com/office/drawing/2014/main" val="10003"/>
                  </a:ext>
                </a:extLst>
              </a:tr>
              <a:tr h="320040">
                <a:tc>
                  <a:txBody>
                    <a:bodyPr/>
                    <a:lstStyle/>
                    <a:p>
                      <a:pPr algn="l"/>
                      <a:r>
                        <a:rPr sz="830" b="0">
                          <a:solidFill>
                            <a:srgbClr val="333333"/>
                          </a:solidFill>
                          <a:latin typeface="Calibri"/>
                        </a:rPr>
                        <a:t>1003</a:t>
                      </a:r>
                    </a:p>
                  </a:txBody>
                  <a:tcPr>
                    <a:solidFill>
                      <a:srgbClr val="F0F4FA"/>
                    </a:solidFill>
                  </a:tcPr>
                </a:tc>
                <a:tc>
                  <a:txBody>
                    <a:bodyPr/>
                    <a:lstStyle/>
                    <a:p>
                      <a:pPr algn="l"/>
                      <a:r>
                        <a:rPr sz="830" b="0">
                          <a:solidFill>
                            <a:srgbClr val="333333"/>
                          </a:solidFill>
                          <a:latin typeface="Calibri"/>
                        </a:rPr>
                        <a:t>PAID</a:t>
                      </a:r>
                    </a:p>
                  </a:txBody>
                  <a:tcPr>
                    <a:solidFill>
                      <a:srgbClr val="F0F4FA"/>
                    </a:solidFill>
                  </a:tcPr>
                </a:tc>
                <a:tc>
                  <a:txBody>
                    <a:bodyPr/>
                    <a:lstStyle/>
                    <a:p>
                      <a:pPr algn="l"/>
                      <a:r>
                        <a:rPr sz="830" b="0">
                          <a:solidFill>
                            <a:srgbClr val="333333"/>
                          </a:solidFill>
                          <a:latin typeface="Calibri"/>
                        </a:rPr>
                        <a:t>10:05</a:t>
                      </a:r>
                    </a:p>
                  </a:txBody>
                  <a:tcPr>
                    <a:solidFill>
                      <a:srgbClr val="F0F4FA"/>
                    </a:solidFill>
                  </a:tcPr>
                </a:tc>
                <a:extLst>
                  <a:ext uri="{0D108BD9-81ED-4DB2-BD59-A6C34878D82A}">
                    <a16:rowId xmlns:a16="http://schemas.microsoft.com/office/drawing/2014/main" val="10004"/>
                  </a:ext>
                </a:extLst>
              </a:tr>
            </a:tbl>
          </a:graphicData>
        </a:graphic>
      </p:graphicFrame>
      <p:sp>
        <p:nvSpPr>
          <p:cNvPr id="6" name="Rounded Rectangle 5"/>
          <p:cNvSpPr/>
          <p:nvPr/>
        </p:nvSpPr>
        <p:spPr>
          <a:xfrm>
            <a:off x="3794760" y="3291840"/>
            <a:ext cx="1508760" cy="731520"/>
          </a:xfrm>
          <a:prstGeom prst="roundRect">
            <a:avLst/>
          </a:prstGeom>
          <a:solidFill>
            <a:srgbClr val="FFF8E1"/>
          </a:solidFill>
          <a:ln w="12700">
            <a:solidFill>
              <a:srgbClr val="F9A82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780" b="1">
                <a:solidFill>
                  <a:srgbClr val="333333"/>
                </a:solidFill>
                <a:latin typeface="Calibri"/>
              </a:rPr>
              <a:t>ROW_NUMBER()
PARTITION BY order_id
ORDER BY event_time DESC</a:t>
            </a:r>
          </a:p>
        </p:txBody>
      </p:sp>
      <p:sp>
        <p:nvSpPr>
          <p:cNvPr id="7" name="TextBox 6"/>
          <p:cNvSpPr txBox="1"/>
          <p:nvPr/>
        </p:nvSpPr>
        <p:spPr>
          <a:xfrm>
            <a:off x="3566160" y="3566160"/>
            <a:ext cx="274320" cy="164592"/>
          </a:xfrm>
          <a:prstGeom prst="rect">
            <a:avLst/>
          </a:prstGeom>
          <a:noFill/>
        </p:spPr>
        <p:txBody>
          <a:bodyPr wrap="square" lIns="73152" tIns="36576" rIns="73152" bIns="36576" anchor="t">
            <a:spAutoFit/>
          </a:bodyPr>
          <a:lstStyle/>
          <a:p>
            <a:pPr algn="ctr"/>
            <a:r>
              <a:rPr sz="1100" b="1">
                <a:solidFill>
                  <a:srgbClr val="002060"/>
                </a:solidFill>
                <a:latin typeface="Calibri"/>
              </a:rPr>
              <a:t>→</a:t>
            </a:r>
          </a:p>
        </p:txBody>
      </p:sp>
      <p:sp>
        <p:nvSpPr>
          <p:cNvPr id="8" name="TextBox 7"/>
          <p:cNvSpPr txBox="1"/>
          <p:nvPr/>
        </p:nvSpPr>
        <p:spPr>
          <a:xfrm>
            <a:off x="5321808" y="3566160"/>
            <a:ext cx="274320" cy="164592"/>
          </a:xfrm>
          <a:prstGeom prst="rect">
            <a:avLst/>
          </a:prstGeom>
          <a:noFill/>
        </p:spPr>
        <p:txBody>
          <a:bodyPr wrap="square" lIns="73152" tIns="36576" rIns="73152" bIns="36576" anchor="t">
            <a:spAutoFit/>
          </a:bodyPr>
          <a:lstStyle/>
          <a:p>
            <a:pPr algn="ctr"/>
            <a:r>
              <a:rPr sz="1100" b="1">
                <a:solidFill>
                  <a:srgbClr val="002060"/>
                </a:solidFill>
                <a:latin typeface="Calibri"/>
              </a:rPr>
              <a:t>→</a:t>
            </a:r>
          </a:p>
        </p:txBody>
      </p:sp>
      <p:graphicFrame>
        <p:nvGraphicFramePr>
          <p:cNvPr id="9" name="Table 8"/>
          <p:cNvGraphicFramePr>
            <a:graphicFrameLocks noGrp="1"/>
          </p:cNvGraphicFramePr>
          <p:nvPr/>
        </p:nvGraphicFramePr>
        <p:xfrm>
          <a:off x="5623560" y="2971800"/>
          <a:ext cx="2743200" cy="114300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381000">
                <a:tc>
                  <a:txBody>
                    <a:bodyPr/>
                    <a:lstStyle/>
                    <a:p>
                      <a:pPr algn="ctr"/>
                      <a:r>
                        <a:rPr sz="850" b="1">
                          <a:solidFill>
                            <a:srgbClr val="FFFFFF"/>
                          </a:solidFill>
                          <a:latin typeface="Calibri"/>
                        </a:rPr>
                        <a:t>Current State</a:t>
                      </a:r>
                    </a:p>
                  </a:txBody>
                  <a:tcPr>
                    <a:solidFill>
                      <a:srgbClr val="002060"/>
                    </a:solidFill>
                  </a:tcPr>
                </a:tc>
                <a:tc>
                  <a:txBody>
                    <a:bodyPr/>
                    <a:lstStyle/>
                    <a:p>
                      <a:pPr algn="ctr"/>
                      <a:r>
                        <a:rPr sz="850" b="1">
                          <a:solidFill>
                            <a:srgbClr val="FFFFFF"/>
                          </a:solidFill>
                          <a:latin typeface="Calibri"/>
                        </a:rPr>
                        <a:t>status</a:t>
                      </a:r>
                    </a:p>
                  </a:txBody>
                  <a:tcPr>
                    <a:solidFill>
                      <a:srgbClr val="002060"/>
                    </a:solidFill>
                  </a:tcPr>
                </a:tc>
                <a:extLst>
                  <a:ext uri="{0D108BD9-81ED-4DB2-BD59-A6C34878D82A}">
                    <a16:rowId xmlns:a16="http://schemas.microsoft.com/office/drawing/2014/main" val="10000"/>
                  </a:ext>
                </a:extLst>
              </a:tr>
              <a:tr h="381000">
                <a:tc>
                  <a:txBody>
                    <a:bodyPr/>
                    <a:lstStyle/>
                    <a:p>
                      <a:pPr algn="l"/>
                      <a:r>
                        <a:rPr sz="850" b="0">
                          <a:solidFill>
                            <a:srgbClr val="333333"/>
                          </a:solidFill>
                          <a:latin typeface="Calibri"/>
                        </a:rPr>
                        <a:t>1002</a:t>
                      </a:r>
                    </a:p>
                  </a:txBody>
                  <a:tcPr>
                    <a:solidFill>
                      <a:srgbClr val="FFFFFF"/>
                    </a:solidFill>
                  </a:tcPr>
                </a:tc>
                <a:tc>
                  <a:txBody>
                    <a:bodyPr/>
                    <a:lstStyle/>
                    <a:p>
                      <a:pPr algn="l"/>
                      <a:r>
                        <a:rPr sz="850" b="0">
                          <a:solidFill>
                            <a:srgbClr val="333333"/>
                          </a:solidFill>
                          <a:latin typeface="Calibri"/>
                        </a:rPr>
                        <a:t>CANCELLED</a:t>
                      </a:r>
                    </a:p>
                  </a:txBody>
                  <a:tcPr>
                    <a:solidFill>
                      <a:srgbClr val="FFFFFF"/>
                    </a:solidFill>
                  </a:tcPr>
                </a:tc>
                <a:extLst>
                  <a:ext uri="{0D108BD9-81ED-4DB2-BD59-A6C34878D82A}">
                    <a16:rowId xmlns:a16="http://schemas.microsoft.com/office/drawing/2014/main" val="10001"/>
                  </a:ext>
                </a:extLst>
              </a:tr>
              <a:tr h="381000">
                <a:tc>
                  <a:txBody>
                    <a:bodyPr/>
                    <a:lstStyle/>
                    <a:p>
                      <a:pPr algn="l"/>
                      <a:r>
                        <a:rPr sz="850" b="0">
                          <a:solidFill>
                            <a:srgbClr val="333333"/>
                          </a:solidFill>
                          <a:latin typeface="Calibri"/>
                        </a:rPr>
                        <a:t>1003</a:t>
                      </a:r>
                    </a:p>
                  </a:txBody>
                  <a:tcPr>
                    <a:solidFill>
                      <a:srgbClr val="F0F4FA"/>
                    </a:solidFill>
                  </a:tcPr>
                </a:tc>
                <a:tc>
                  <a:txBody>
                    <a:bodyPr/>
                    <a:lstStyle/>
                    <a:p>
                      <a:pPr algn="l"/>
                      <a:r>
                        <a:rPr sz="850" b="0">
                          <a:solidFill>
                            <a:srgbClr val="333333"/>
                          </a:solidFill>
                          <a:latin typeface="Calibri"/>
                        </a:rPr>
                        <a:t>PAID</a:t>
                      </a:r>
                    </a:p>
                  </a:txBody>
                  <a:tcPr>
                    <a:solidFill>
                      <a:srgbClr val="F0F4FA"/>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91</a:t>
            </a:r>
          </a:p>
        </p:txBody>
      </p:sp>
      <p:sp>
        <p:nvSpPr>
          <p:cNvPr id="3" name="Rectangle 2"/>
          <p:cNvSpPr/>
          <p:nvPr/>
        </p:nvSpPr>
        <p:spPr>
          <a:xfrm>
            <a:off x="201168" y="868680"/>
            <a:ext cx="73152" cy="5440680"/>
          </a:xfrm>
          <a:prstGeom prst="rect">
            <a:avLst/>
          </a:prstGeom>
          <a:solidFill>
            <a:srgbClr val="E67E22"/>
          </a:solidFill>
          <a:ln w="127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Mini-Exercise: Latest Status per Order</a:t>
            </a:r>
          </a:p>
        </p:txBody>
      </p:sp>
      <p:sp>
        <p:nvSpPr>
          <p:cNvPr id="5" name="TextBox 4"/>
          <p:cNvSpPr txBox="1"/>
          <p:nvPr/>
        </p:nvSpPr>
        <p:spPr>
          <a:xfrm>
            <a:off x="658368" y="960120"/>
            <a:ext cx="7772400" cy="502920"/>
          </a:xfrm>
          <a:prstGeom prst="rect">
            <a:avLst/>
          </a:prstGeom>
          <a:noFill/>
        </p:spPr>
        <p:txBody>
          <a:bodyPr wrap="square" lIns="73152" tIns="36576" rIns="73152" bIns="36576" anchor="t">
            <a:spAutoFit/>
          </a:bodyPr>
          <a:lstStyle/>
          <a:p>
            <a:pPr algn="l"/>
            <a:r>
              <a:rPr sz="1600" b="0">
                <a:solidFill>
                  <a:srgbClr val="585858"/>
                </a:solidFill>
                <a:latin typeface="Calibri"/>
              </a:rPr>
              <a:t>Fill in the window-function pieces for a current-state table.</a:t>
            </a:r>
          </a:p>
        </p:txBody>
      </p:sp>
      <p:sp>
        <p:nvSpPr>
          <p:cNvPr id="6" name="Rounded Rectangle 5"/>
          <p:cNvSpPr/>
          <p:nvPr/>
        </p:nvSpPr>
        <p:spPr>
          <a:xfrm>
            <a:off x="822960" y="1783080"/>
            <a:ext cx="7498079" cy="457200"/>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1. Group rows by: ______________________________</a:t>
            </a:r>
          </a:p>
        </p:txBody>
      </p:sp>
      <p:sp>
        <p:nvSpPr>
          <p:cNvPr id="7" name="Rounded Rectangle 6"/>
          <p:cNvSpPr/>
          <p:nvPr/>
        </p:nvSpPr>
        <p:spPr>
          <a:xfrm>
            <a:off x="822960" y="2496312"/>
            <a:ext cx="7498079" cy="457200"/>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2. Sort rows by: ______________________________</a:t>
            </a:r>
          </a:p>
        </p:txBody>
      </p:sp>
      <p:sp>
        <p:nvSpPr>
          <p:cNvPr id="8" name="Rounded Rectangle 7"/>
          <p:cNvSpPr/>
          <p:nvPr/>
        </p:nvSpPr>
        <p:spPr>
          <a:xfrm>
            <a:off x="822960" y="3209544"/>
            <a:ext cx="7498079" cy="457200"/>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3. Keep the row where: ______________________________</a:t>
            </a:r>
          </a:p>
        </p:txBody>
      </p:sp>
      <p:sp>
        <p:nvSpPr>
          <p:cNvPr id="9" name="Rounded Rectangle 8"/>
          <p:cNvSpPr/>
          <p:nvPr/>
        </p:nvSpPr>
        <p:spPr>
          <a:xfrm>
            <a:off x="822960" y="5166360"/>
            <a:ext cx="7498079" cy="457200"/>
          </a:xfrm>
          <a:prstGeom prst="roundRect">
            <a:avLst/>
          </a:prstGeom>
          <a:solidFill>
            <a:srgbClr val="FFF8E1"/>
          </a:solidFill>
          <a:ln w="12700">
            <a:solidFill>
              <a:srgbClr val="F9A82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200" b="0">
                <a:solidFill>
                  <a:srgbClr val="333333"/>
                </a:solidFill>
                <a:latin typeface="Calibri"/>
              </a:rPr>
              <a:t>Hint: CDC latest-state logic is partition, order, rank, filter.</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92</a:t>
            </a:r>
          </a:p>
        </p:txBody>
      </p:sp>
      <p:sp>
        <p:nvSpPr>
          <p:cNvPr id="3" name="Rectangle 2"/>
          <p:cNvSpPr/>
          <p:nvPr/>
        </p:nvSpPr>
        <p:spPr>
          <a:xfrm>
            <a:off x="201168" y="868680"/>
            <a:ext cx="73152" cy="5440680"/>
          </a:xfrm>
          <a:prstGeom prst="rect">
            <a:avLst/>
          </a:prstGeom>
          <a:solidFill>
            <a:srgbClr val="27AE60"/>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Answers: Latest Status per Order</a:t>
            </a:r>
          </a:p>
        </p:txBody>
      </p:sp>
      <p:sp>
        <p:nvSpPr>
          <p:cNvPr id="5" name="TextBox 4"/>
          <p:cNvSpPr txBox="1"/>
          <p:nvPr/>
        </p:nvSpPr>
        <p:spPr>
          <a:xfrm>
            <a:off x="658368" y="960120"/>
            <a:ext cx="7772400" cy="384048"/>
          </a:xfrm>
          <a:prstGeom prst="rect">
            <a:avLst/>
          </a:prstGeom>
          <a:noFill/>
        </p:spPr>
        <p:txBody>
          <a:bodyPr wrap="square" lIns="73152" tIns="36576" rIns="73152" bIns="36576" anchor="t">
            <a:spAutoFit/>
          </a:bodyPr>
          <a:lstStyle/>
          <a:p>
            <a:pPr algn="l"/>
            <a:r>
              <a:rPr sz="1600" b="0">
                <a:solidFill>
                  <a:srgbClr val="585858"/>
                </a:solidFill>
                <a:latin typeface="Calibri"/>
              </a:rPr>
              <a:t>Compare your blanks with the reference answers.</a:t>
            </a:r>
          </a:p>
        </p:txBody>
      </p:sp>
      <p:sp>
        <p:nvSpPr>
          <p:cNvPr id="6" name="Rounded Rectangle 5"/>
          <p:cNvSpPr/>
          <p:nvPr/>
        </p:nvSpPr>
        <p:spPr>
          <a:xfrm>
            <a:off x="822960" y="1664208"/>
            <a:ext cx="7498079" cy="457200"/>
          </a:xfrm>
          <a:prstGeom prst="roundRect">
            <a:avLst/>
          </a:prstGeom>
          <a:solidFill>
            <a:srgbClr val="E9F7EF"/>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1">
                <a:solidFill>
                  <a:srgbClr val="333333"/>
                </a:solidFill>
                <a:latin typeface="Calibri"/>
              </a:rPr>
              <a:t>✓ Group rows by: order_id</a:t>
            </a:r>
          </a:p>
        </p:txBody>
      </p:sp>
      <p:sp>
        <p:nvSpPr>
          <p:cNvPr id="7" name="Rounded Rectangle 6"/>
          <p:cNvSpPr/>
          <p:nvPr/>
        </p:nvSpPr>
        <p:spPr>
          <a:xfrm>
            <a:off x="822960" y="2377440"/>
            <a:ext cx="7498079" cy="457200"/>
          </a:xfrm>
          <a:prstGeom prst="roundRect">
            <a:avLst/>
          </a:prstGeom>
          <a:solidFill>
            <a:srgbClr val="E9F7EF"/>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1">
                <a:solidFill>
                  <a:srgbClr val="333333"/>
                </a:solidFill>
                <a:latin typeface="Calibri"/>
              </a:rPr>
              <a:t>✓ Sort rows by: event_time_ts descending</a:t>
            </a:r>
          </a:p>
        </p:txBody>
      </p:sp>
      <p:sp>
        <p:nvSpPr>
          <p:cNvPr id="8" name="Rounded Rectangle 7"/>
          <p:cNvSpPr/>
          <p:nvPr/>
        </p:nvSpPr>
        <p:spPr>
          <a:xfrm>
            <a:off x="822960" y="3090672"/>
            <a:ext cx="7498079" cy="457200"/>
          </a:xfrm>
          <a:prstGeom prst="roundRect">
            <a:avLst/>
          </a:prstGeom>
          <a:solidFill>
            <a:srgbClr val="E9F7EF"/>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1">
                <a:solidFill>
                  <a:srgbClr val="333333"/>
                </a:solidFill>
                <a:latin typeface="Calibri"/>
              </a:rPr>
              <a:t>✓ Keep the row where: row_number = 1</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93</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Dimension Tables — Star Schema Context</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Dimension tables describe business entities such as customers and products.</a:t>
            </a:r>
          </a:p>
          <a:p>
            <a:pPr>
              <a:spcAft>
                <a:spcPts val="500"/>
              </a:spcAft>
              <a:defRPr sz="1300">
                <a:solidFill>
                  <a:srgbClr val="333333"/>
                </a:solidFill>
                <a:latin typeface="Calibri"/>
              </a:defRPr>
            </a:pPr>
            <a:r>
              <a:t>• Fact tables capture measurable events such as orders.</a:t>
            </a:r>
          </a:p>
          <a:p>
            <a:pPr>
              <a:spcAft>
                <a:spcPts val="500"/>
              </a:spcAft>
              <a:defRPr sz="1300">
                <a:solidFill>
                  <a:srgbClr val="333333"/>
                </a:solidFill>
                <a:latin typeface="Calibri"/>
              </a:defRPr>
            </a:pPr>
            <a:r>
              <a:t>• Joining facts to dimensions turns event data into analytical data.</a:t>
            </a:r>
          </a:p>
        </p:txBody>
      </p:sp>
      <p:sp>
        <p:nvSpPr>
          <p:cNvPr id="5" name="Rounded Rectangle 4"/>
          <p:cNvSpPr/>
          <p:nvPr/>
        </p:nvSpPr>
        <p:spPr>
          <a:xfrm>
            <a:off x="3520440" y="2743200"/>
            <a:ext cx="2103120" cy="640080"/>
          </a:xfrm>
          <a:prstGeom prst="roundRect">
            <a:avLst/>
          </a:prstGeom>
          <a:solidFill>
            <a:srgbClr val="E3F2FD"/>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333333"/>
                </a:solidFill>
                <a:latin typeface="Calibri"/>
              </a:rPr>
              <a:t>fact_orders</a:t>
            </a:r>
          </a:p>
        </p:txBody>
      </p:sp>
      <p:sp>
        <p:nvSpPr>
          <p:cNvPr id="6" name="Rounded Rectangle 5"/>
          <p:cNvSpPr/>
          <p:nvPr/>
        </p:nvSpPr>
        <p:spPr>
          <a:xfrm>
            <a:off x="777240" y="2331720"/>
            <a:ext cx="1965960" cy="530352"/>
          </a:xfrm>
          <a:prstGeom prst="roundRect">
            <a:avLst/>
          </a:prstGeom>
          <a:solidFill>
            <a:srgbClr val="FFFFFF"/>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333333"/>
                </a:solidFill>
                <a:latin typeface="Calibri"/>
              </a:rPr>
              <a:t>dim_customers</a:t>
            </a:r>
          </a:p>
        </p:txBody>
      </p:sp>
      <p:sp>
        <p:nvSpPr>
          <p:cNvPr id="7" name="Rounded Rectangle 6"/>
          <p:cNvSpPr/>
          <p:nvPr/>
        </p:nvSpPr>
        <p:spPr>
          <a:xfrm>
            <a:off x="6263640" y="2331720"/>
            <a:ext cx="1965960" cy="530352"/>
          </a:xfrm>
          <a:prstGeom prst="roundRect">
            <a:avLst/>
          </a:prstGeom>
          <a:solidFill>
            <a:srgbClr val="FFFFFF"/>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333333"/>
                </a:solidFill>
                <a:latin typeface="Calibri"/>
              </a:rPr>
              <a:t>dim_products</a:t>
            </a:r>
          </a:p>
        </p:txBody>
      </p:sp>
      <p:sp>
        <p:nvSpPr>
          <p:cNvPr id="8" name="Rounded Rectangle 7"/>
          <p:cNvSpPr/>
          <p:nvPr/>
        </p:nvSpPr>
        <p:spPr>
          <a:xfrm>
            <a:off x="3520440" y="4343400"/>
            <a:ext cx="1965960" cy="530352"/>
          </a:xfrm>
          <a:prstGeom prst="roundRect">
            <a:avLst/>
          </a:prstGeom>
          <a:solidFill>
            <a:srgbClr val="FFFFFF"/>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333333"/>
                </a:solidFill>
                <a:latin typeface="Calibri"/>
              </a:rPr>
              <a:t>dim_fx_rates</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94</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Join Types in Spark</a:t>
            </a:r>
          </a:p>
        </p:txBody>
      </p:sp>
      <p:graphicFrame>
        <p:nvGraphicFramePr>
          <p:cNvPr id="4" name="Table 3"/>
          <p:cNvGraphicFramePr>
            <a:graphicFrameLocks noGrp="1"/>
          </p:cNvGraphicFramePr>
          <p:nvPr/>
        </p:nvGraphicFramePr>
        <p:xfrm>
          <a:off x="530352" y="1143000"/>
          <a:ext cx="8092437" cy="4983480"/>
        </p:xfrm>
        <a:graphic>
          <a:graphicData uri="http://schemas.openxmlformats.org/drawingml/2006/table">
            <a:tbl>
              <a:tblPr firstRow="1" bandRow="1">
                <a:tableStyleId>{5C22544A-7EE6-4342-B048-85BDC9FD1C3A}</a:tableStyleId>
              </a:tblPr>
              <a:tblGrid>
                <a:gridCol w="2697479">
                  <a:extLst>
                    <a:ext uri="{9D8B030D-6E8A-4147-A177-3AD203B41FA5}">
                      <a16:colId xmlns:a16="http://schemas.microsoft.com/office/drawing/2014/main" val="20000"/>
                    </a:ext>
                  </a:extLst>
                </a:gridCol>
                <a:gridCol w="2697479">
                  <a:extLst>
                    <a:ext uri="{9D8B030D-6E8A-4147-A177-3AD203B41FA5}">
                      <a16:colId xmlns:a16="http://schemas.microsoft.com/office/drawing/2014/main" val="20001"/>
                    </a:ext>
                  </a:extLst>
                </a:gridCol>
                <a:gridCol w="2697479">
                  <a:extLst>
                    <a:ext uri="{9D8B030D-6E8A-4147-A177-3AD203B41FA5}">
                      <a16:colId xmlns:a16="http://schemas.microsoft.com/office/drawing/2014/main" val="20002"/>
                    </a:ext>
                  </a:extLst>
                </a:gridCol>
              </a:tblGrid>
              <a:tr h="830580">
                <a:tc>
                  <a:txBody>
                    <a:bodyPr/>
                    <a:lstStyle/>
                    <a:p>
                      <a:pPr algn="ctr"/>
                      <a:r>
                        <a:rPr sz="860" b="1">
                          <a:solidFill>
                            <a:srgbClr val="FFFFFF"/>
                          </a:solidFill>
                          <a:latin typeface="Calibri"/>
                        </a:rPr>
                        <a:t>Join type</a:t>
                      </a:r>
                    </a:p>
                  </a:txBody>
                  <a:tcPr>
                    <a:solidFill>
                      <a:srgbClr val="002060"/>
                    </a:solidFill>
                  </a:tcPr>
                </a:tc>
                <a:tc>
                  <a:txBody>
                    <a:bodyPr/>
                    <a:lstStyle/>
                    <a:p>
                      <a:pPr algn="ctr"/>
                      <a:r>
                        <a:rPr sz="860" b="1">
                          <a:solidFill>
                            <a:srgbClr val="FFFFFF"/>
                          </a:solidFill>
                          <a:latin typeface="Calibri"/>
                        </a:rPr>
                        <a:t>Keeps</a:t>
                      </a:r>
                    </a:p>
                  </a:txBody>
                  <a:tcPr>
                    <a:solidFill>
                      <a:srgbClr val="002060"/>
                    </a:solidFill>
                  </a:tcPr>
                </a:tc>
                <a:tc>
                  <a:txBody>
                    <a:bodyPr/>
                    <a:lstStyle/>
                    <a:p>
                      <a:pPr algn="ctr"/>
                      <a:r>
                        <a:rPr sz="860" b="1">
                          <a:solidFill>
                            <a:srgbClr val="FFFFFF"/>
                          </a:solidFill>
                          <a:latin typeface="Calibri"/>
                        </a:rPr>
                        <a:t>Typical use</a:t>
                      </a:r>
                    </a:p>
                  </a:txBody>
                  <a:tcPr>
                    <a:solidFill>
                      <a:srgbClr val="002060"/>
                    </a:solidFill>
                  </a:tcPr>
                </a:tc>
                <a:extLst>
                  <a:ext uri="{0D108BD9-81ED-4DB2-BD59-A6C34878D82A}">
                    <a16:rowId xmlns:a16="http://schemas.microsoft.com/office/drawing/2014/main" val="10000"/>
                  </a:ext>
                </a:extLst>
              </a:tr>
              <a:tr h="830580">
                <a:tc>
                  <a:txBody>
                    <a:bodyPr/>
                    <a:lstStyle/>
                    <a:p>
                      <a:pPr algn="l"/>
                      <a:r>
                        <a:rPr sz="860" b="0">
                          <a:solidFill>
                            <a:srgbClr val="333333"/>
                          </a:solidFill>
                          <a:latin typeface="Calibri"/>
                        </a:rPr>
                        <a:t>inner</a:t>
                      </a:r>
                    </a:p>
                  </a:txBody>
                  <a:tcPr>
                    <a:solidFill>
                      <a:srgbClr val="FFFFFF"/>
                    </a:solidFill>
                  </a:tcPr>
                </a:tc>
                <a:tc>
                  <a:txBody>
                    <a:bodyPr/>
                    <a:lstStyle/>
                    <a:p>
                      <a:pPr algn="l"/>
                      <a:r>
                        <a:rPr sz="860" b="0">
                          <a:solidFill>
                            <a:srgbClr val="333333"/>
                          </a:solidFill>
                          <a:latin typeface="Calibri"/>
                        </a:rPr>
                        <a:t>Only matching keys</a:t>
                      </a:r>
                    </a:p>
                  </a:txBody>
                  <a:tcPr>
                    <a:solidFill>
                      <a:srgbClr val="FFFFFF"/>
                    </a:solidFill>
                  </a:tcPr>
                </a:tc>
                <a:tc>
                  <a:txBody>
                    <a:bodyPr/>
                    <a:lstStyle/>
                    <a:p>
                      <a:pPr algn="l"/>
                      <a:r>
                        <a:rPr sz="860" b="0">
                          <a:solidFill>
                            <a:srgbClr val="333333"/>
                          </a:solidFill>
                          <a:latin typeface="Calibri"/>
                        </a:rPr>
                        <a:t>Strict conformance</a:t>
                      </a:r>
                    </a:p>
                  </a:txBody>
                  <a:tcPr>
                    <a:solidFill>
                      <a:srgbClr val="FFFFFF"/>
                    </a:solidFill>
                  </a:tcPr>
                </a:tc>
                <a:extLst>
                  <a:ext uri="{0D108BD9-81ED-4DB2-BD59-A6C34878D82A}">
                    <a16:rowId xmlns:a16="http://schemas.microsoft.com/office/drawing/2014/main" val="10001"/>
                  </a:ext>
                </a:extLst>
              </a:tr>
              <a:tr h="830580">
                <a:tc>
                  <a:txBody>
                    <a:bodyPr/>
                    <a:lstStyle/>
                    <a:p>
                      <a:pPr algn="l"/>
                      <a:r>
                        <a:rPr sz="860" b="0">
                          <a:solidFill>
                            <a:srgbClr val="333333"/>
                          </a:solidFill>
                          <a:latin typeface="Calibri"/>
                        </a:rPr>
                        <a:t>left</a:t>
                      </a:r>
                    </a:p>
                  </a:txBody>
                  <a:tcPr>
                    <a:solidFill>
                      <a:srgbClr val="F0F4FA"/>
                    </a:solidFill>
                  </a:tcPr>
                </a:tc>
                <a:tc>
                  <a:txBody>
                    <a:bodyPr/>
                    <a:lstStyle/>
                    <a:p>
                      <a:pPr algn="l"/>
                      <a:r>
                        <a:rPr sz="860" b="0">
                          <a:solidFill>
                            <a:srgbClr val="333333"/>
                          </a:solidFill>
                          <a:latin typeface="Calibri"/>
                        </a:rPr>
                        <a:t>All fact rows plus matches</a:t>
                      </a:r>
                    </a:p>
                  </a:txBody>
                  <a:tcPr>
                    <a:solidFill>
                      <a:srgbClr val="F0F4FA"/>
                    </a:solidFill>
                  </a:tcPr>
                </a:tc>
                <a:tc>
                  <a:txBody>
                    <a:bodyPr/>
                    <a:lstStyle/>
                    <a:p>
                      <a:pPr algn="l"/>
                      <a:r>
                        <a:rPr sz="860" b="0">
                          <a:solidFill>
                            <a:srgbClr val="333333"/>
                          </a:solidFill>
                          <a:latin typeface="Calibri"/>
                        </a:rPr>
                        <a:t>Preserve events while enriching</a:t>
                      </a:r>
                    </a:p>
                  </a:txBody>
                  <a:tcPr>
                    <a:solidFill>
                      <a:srgbClr val="F0F4FA"/>
                    </a:solidFill>
                  </a:tcPr>
                </a:tc>
                <a:extLst>
                  <a:ext uri="{0D108BD9-81ED-4DB2-BD59-A6C34878D82A}">
                    <a16:rowId xmlns:a16="http://schemas.microsoft.com/office/drawing/2014/main" val="10002"/>
                  </a:ext>
                </a:extLst>
              </a:tr>
              <a:tr h="830580">
                <a:tc>
                  <a:txBody>
                    <a:bodyPr/>
                    <a:lstStyle/>
                    <a:p>
                      <a:pPr algn="l"/>
                      <a:r>
                        <a:rPr sz="860" b="0">
                          <a:solidFill>
                            <a:srgbClr val="333333"/>
                          </a:solidFill>
                          <a:latin typeface="Calibri"/>
                        </a:rPr>
                        <a:t>right</a:t>
                      </a:r>
                    </a:p>
                  </a:txBody>
                  <a:tcPr>
                    <a:solidFill>
                      <a:srgbClr val="FFFFFF"/>
                    </a:solidFill>
                  </a:tcPr>
                </a:tc>
                <a:tc>
                  <a:txBody>
                    <a:bodyPr/>
                    <a:lstStyle/>
                    <a:p>
                      <a:pPr algn="l"/>
                      <a:r>
                        <a:rPr sz="860" b="0">
                          <a:solidFill>
                            <a:srgbClr val="333333"/>
                          </a:solidFill>
                          <a:latin typeface="Calibri"/>
                        </a:rPr>
                        <a:t>All dimension rows plus matches</a:t>
                      </a:r>
                    </a:p>
                  </a:txBody>
                  <a:tcPr>
                    <a:solidFill>
                      <a:srgbClr val="FFFFFF"/>
                    </a:solidFill>
                  </a:tcPr>
                </a:tc>
                <a:tc>
                  <a:txBody>
                    <a:bodyPr/>
                    <a:lstStyle/>
                    <a:p>
                      <a:pPr algn="l"/>
                      <a:r>
                        <a:rPr sz="860" b="0">
                          <a:solidFill>
                            <a:srgbClr val="333333"/>
                          </a:solidFill>
                          <a:latin typeface="Calibri"/>
                        </a:rPr>
                        <a:t>Less common in fact enrichment</a:t>
                      </a:r>
                    </a:p>
                  </a:txBody>
                  <a:tcPr>
                    <a:solidFill>
                      <a:srgbClr val="FFFFFF"/>
                    </a:solidFill>
                  </a:tcPr>
                </a:tc>
                <a:extLst>
                  <a:ext uri="{0D108BD9-81ED-4DB2-BD59-A6C34878D82A}">
                    <a16:rowId xmlns:a16="http://schemas.microsoft.com/office/drawing/2014/main" val="10003"/>
                  </a:ext>
                </a:extLst>
              </a:tr>
              <a:tr h="830580">
                <a:tc>
                  <a:txBody>
                    <a:bodyPr/>
                    <a:lstStyle/>
                    <a:p>
                      <a:pPr algn="l"/>
                      <a:r>
                        <a:rPr sz="860" b="0">
                          <a:solidFill>
                            <a:srgbClr val="333333"/>
                          </a:solidFill>
                          <a:latin typeface="Calibri"/>
                        </a:rPr>
                        <a:t>cross</a:t>
                      </a:r>
                    </a:p>
                  </a:txBody>
                  <a:tcPr>
                    <a:solidFill>
                      <a:srgbClr val="F0F4FA"/>
                    </a:solidFill>
                  </a:tcPr>
                </a:tc>
                <a:tc>
                  <a:txBody>
                    <a:bodyPr/>
                    <a:lstStyle/>
                    <a:p>
                      <a:pPr algn="l"/>
                      <a:r>
                        <a:rPr sz="860" b="0">
                          <a:solidFill>
                            <a:srgbClr val="333333"/>
                          </a:solidFill>
                          <a:latin typeface="Calibri"/>
                        </a:rPr>
                        <a:t>Every combination</a:t>
                      </a:r>
                    </a:p>
                  </a:txBody>
                  <a:tcPr>
                    <a:solidFill>
                      <a:srgbClr val="F0F4FA"/>
                    </a:solidFill>
                  </a:tcPr>
                </a:tc>
                <a:tc>
                  <a:txBody>
                    <a:bodyPr/>
                    <a:lstStyle/>
                    <a:p>
                      <a:pPr algn="l"/>
                      <a:r>
                        <a:rPr sz="860" b="0">
                          <a:solidFill>
                            <a:srgbClr val="333333"/>
                          </a:solidFill>
                          <a:latin typeface="Calibri"/>
                        </a:rPr>
                        <a:t>Small parameter grids only</a:t>
                      </a:r>
                    </a:p>
                  </a:txBody>
                  <a:tcPr>
                    <a:solidFill>
                      <a:srgbClr val="F0F4FA"/>
                    </a:solidFill>
                  </a:tcPr>
                </a:tc>
                <a:extLst>
                  <a:ext uri="{0D108BD9-81ED-4DB2-BD59-A6C34878D82A}">
                    <a16:rowId xmlns:a16="http://schemas.microsoft.com/office/drawing/2014/main" val="10004"/>
                  </a:ext>
                </a:extLst>
              </a:tr>
              <a:tr h="830580">
                <a:tc>
                  <a:txBody>
                    <a:bodyPr/>
                    <a:lstStyle/>
                    <a:p>
                      <a:pPr algn="l"/>
                      <a:r>
                        <a:rPr sz="860" b="0">
                          <a:solidFill>
                            <a:srgbClr val="333333"/>
                          </a:solidFill>
                          <a:latin typeface="Calibri"/>
                        </a:rPr>
                        <a:t>broadcast</a:t>
                      </a:r>
                    </a:p>
                  </a:txBody>
                  <a:tcPr>
                    <a:solidFill>
                      <a:srgbClr val="FFFFFF"/>
                    </a:solidFill>
                  </a:tcPr>
                </a:tc>
                <a:tc>
                  <a:txBody>
                    <a:bodyPr/>
                    <a:lstStyle/>
                    <a:p>
                      <a:pPr algn="l"/>
                      <a:r>
                        <a:rPr sz="860" b="0">
                          <a:solidFill>
                            <a:srgbClr val="333333"/>
                          </a:solidFill>
                          <a:latin typeface="Calibri"/>
                        </a:rPr>
                        <a:t>Replicated small side</a:t>
                      </a:r>
                    </a:p>
                  </a:txBody>
                  <a:tcPr>
                    <a:solidFill>
                      <a:srgbClr val="FFFFFF"/>
                    </a:solidFill>
                  </a:tcPr>
                </a:tc>
                <a:tc>
                  <a:txBody>
                    <a:bodyPr/>
                    <a:lstStyle/>
                    <a:p>
                      <a:pPr algn="l"/>
                      <a:r>
                        <a:rPr sz="860" b="0">
                          <a:solidFill>
                            <a:srgbClr val="333333"/>
                          </a:solidFill>
                          <a:latin typeface="Calibri"/>
                        </a:rPr>
                        <a:t>Fast fact-to-dimension joins</a:t>
                      </a:r>
                    </a:p>
                  </a:txBody>
                  <a:tcP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95</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Broadcast Joins — Why and When to Use F.broadcast()</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Broadcast a small dimension to every executor.</a:t>
            </a:r>
          </a:p>
          <a:p>
            <a:pPr>
              <a:spcAft>
                <a:spcPts val="500"/>
              </a:spcAft>
              <a:defRPr sz="1300">
                <a:solidFill>
                  <a:srgbClr val="333333"/>
                </a:solidFill>
                <a:latin typeface="Calibri"/>
              </a:defRPr>
            </a:pPr>
            <a:r>
              <a:t>• Avoids shuffling a large fact table for the join.</a:t>
            </a:r>
          </a:p>
          <a:p>
            <a:pPr>
              <a:spcAft>
                <a:spcPts val="500"/>
              </a:spcAft>
              <a:defRPr sz="1300">
                <a:solidFill>
                  <a:srgbClr val="333333"/>
                </a:solidFill>
                <a:latin typeface="Calibri"/>
              </a:defRPr>
            </a:pPr>
            <a:r>
              <a:t>• Best when dimension size comfortably fits executor memory.</a:t>
            </a:r>
          </a:p>
        </p:txBody>
      </p:sp>
      <p:sp>
        <p:nvSpPr>
          <p:cNvPr id="5" name="Rounded Rectangle 4"/>
          <p:cNvSpPr/>
          <p:nvPr/>
        </p:nvSpPr>
        <p:spPr>
          <a:xfrm>
            <a:off x="685800" y="3383280"/>
            <a:ext cx="1463040" cy="658368"/>
          </a:xfrm>
          <a:prstGeom prst="roundRect">
            <a:avLst/>
          </a:prstGeom>
          <a:solidFill>
            <a:srgbClr val="E3F2FD"/>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50" b="1">
                <a:solidFill>
                  <a:srgbClr val="333333"/>
                </a:solidFill>
                <a:latin typeface="Calibri"/>
              </a:rPr>
              <a:t>Small Dimension
6 rows</a:t>
            </a:r>
          </a:p>
        </p:txBody>
      </p:sp>
      <p:sp>
        <p:nvSpPr>
          <p:cNvPr id="6" name="Rounded Rectangle 5"/>
          <p:cNvSpPr/>
          <p:nvPr/>
        </p:nvSpPr>
        <p:spPr>
          <a:xfrm>
            <a:off x="2880360" y="2834640"/>
            <a:ext cx="1325880" cy="1417320"/>
          </a:xfrm>
          <a:prstGeom prst="roundRect">
            <a:avLst/>
          </a:prstGeom>
          <a:solidFill>
            <a:srgbClr val="F1F8E9"/>
          </a:solidFill>
          <a:ln w="12700">
            <a:solidFill>
              <a:srgbClr val="7CB34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50" b="1">
                <a:solidFill>
                  <a:srgbClr val="333333"/>
                </a:solidFill>
                <a:latin typeface="Calibri"/>
              </a:rPr>
              <a:t>Executor 1
Fact partition
+ dimension copy
Local Join</a:t>
            </a:r>
          </a:p>
        </p:txBody>
      </p:sp>
      <p:sp>
        <p:nvSpPr>
          <p:cNvPr id="7" name="TextBox 6"/>
          <p:cNvSpPr txBox="1"/>
          <p:nvPr/>
        </p:nvSpPr>
        <p:spPr>
          <a:xfrm>
            <a:off x="2148840" y="3429000"/>
            <a:ext cx="502920" cy="164592"/>
          </a:xfrm>
          <a:prstGeom prst="rect">
            <a:avLst/>
          </a:prstGeom>
          <a:noFill/>
        </p:spPr>
        <p:txBody>
          <a:bodyPr wrap="square" lIns="73152" tIns="36576" rIns="73152" bIns="36576" anchor="t">
            <a:spAutoFit/>
          </a:bodyPr>
          <a:lstStyle/>
          <a:p>
            <a:pPr algn="ctr"/>
            <a:r>
              <a:rPr sz="1100" b="1">
                <a:solidFill>
                  <a:srgbClr val="002060"/>
                </a:solidFill>
                <a:latin typeface="Calibri"/>
              </a:rPr>
              <a:t>→</a:t>
            </a:r>
          </a:p>
        </p:txBody>
      </p:sp>
      <p:sp>
        <p:nvSpPr>
          <p:cNvPr id="8" name="Rounded Rectangle 7"/>
          <p:cNvSpPr/>
          <p:nvPr/>
        </p:nvSpPr>
        <p:spPr>
          <a:xfrm>
            <a:off x="4709160" y="2834640"/>
            <a:ext cx="1325880" cy="1417320"/>
          </a:xfrm>
          <a:prstGeom prst="roundRect">
            <a:avLst/>
          </a:prstGeom>
          <a:solidFill>
            <a:srgbClr val="F1F8E9"/>
          </a:solidFill>
          <a:ln w="12700">
            <a:solidFill>
              <a:srgbClr val="7CB34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50" b="1">
                <a:solidFill>
                  <a:srgbClr val="333333"/>
                </a:solidFill>
                <a:latin typeface="Calibri"/>
              </a:rPr>
              <a:t>Executor 2
Fact partition
+ dimension copy
Local Join</a:t>
            </a:r>
          </a:p>
        </p:txBody>
      </p:sp>
      <p:sp>
        <p:nvSpPr>
          <p:cNvPr id="9" name="TextBox 8"/>
          <p:cNvSpPr txBox="1"/>
          <p:nvPr/>
        </p:nvSpPr>
        <p:spPr>
          <a:xfrm>
            <a:off x="3977639" y="3429000"/>
            <a:ext cx="502920" cy="164592"/>
          </a:xfrm>
          <a:prstGeom prst="rect">
            <a:avLst/>
          </a:prstGeom>
          <a:noFill/>
        </p:spPr>
        <p:txBody>
          <a:bodyPr wrap="square" lIns="73152" tIns="36576" rIns="73152" bIns="36576" anchor="t">
            <a:spAutoFit/>
          </a:bodyPr>
          <a:lstStyle/>
          <a:p>
            <a:pPr algn="ctr"/>
            <a:r>
              <a:rPr sz="1100" b="1">
                <a:solidFill>
                  <a:srgbClr val="002060"/>
                </a:solidFill>
                <a:latin typeface="Calibri"/>
              </a:rPr>
              <a:t>→</a:t>
            </a:r>
          </a:p>
        </p:txBody>
      </p:sp>
      <p:sp>
        <p:nvSpPr>
          <p:cNvPr id="10" name="Rounded Rectangle 9"/>
          <p:cNvSpPr/>
          <p:nvPr/>
        </p:nvSpPr>
        <p:spPr>
          <a:xfrm>
            <a:off x="6537960" y="2834640"/>
            <a:ext cx="1325880" cy="1417320"/>
          </a:xfrm>
          <a:prstGeom prst="roundRect">
            <a:avLst/>
          </a:prstGeom>
          <a:solidFill>
            <a:srgbClr val="F1F8E9"/>
          </a:solidFill>
          <a:ln w="12700">
            <a:solidFill>
              <a:srgbClr val="7CB34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50" b="1">
                <a:solidFill>
                  <a:srgbClr val="333333"/>
                </a:solidFill>
                <a:latin typeface="Calibri"/>
              </a:rPr>
              <a:t>Executor 3
Fact partition
+ dimension copy
Local Join</a:t>
            </a:r>
          </a:p>
        </p:txBody>
      </p:sp>
      <p:sp>
        <p:nvSpPr>
          <p:cNvPr id="11" name="TextBox 10"/>
          <p:cNvSpPr txBox="1"/>
          <p:nvPr/>
        </p:nvSpPr>
        <p:spPr>
          <a:xfrm>
            <a:off x="5806440" y="3429000"/>
            <a:ext cx="502920" cy="164592"/>
          </a:xfrm>
          <a:prstGeom prst="rect">
            <a:avLst/>
          </a:prstGeom>
          <a:noFill/>
        </p:spPr>
        <p:txBody>
          <a:bodyPr wrap="square" lIns="73152" tIns="36576" rIns="73152" bIns="36576" anchor="t">
            <a:spAutoFit/>
          </a:bodyPr>
          <a:lstStyle/>
          <a:p>
            <a:pPr algn="ctr"/>
            <a:r>
              <a:rPr sz="1100" b="1">
                <a:solidFill>
                  <a:srgbClr val="002060"/>
                </a:solidFill>
                <a:latin typeface="Calibri"/>
              </a:rPr>
              <a:t>→</a:t>
            </a:r>
          </a:p>
        </p:txBody>
      </p:sp>
      <p:sp>
        <p:nvSpPr>
          <p:cNvPr id="12" name="TextBox 11"/>
          <p:cNvSpPr txBox="1"/>
          <p:nvPr/>
        </p:nvSpPr>
        <p:spPr>
          <a:xfrm>
            <a:off x="2560320" y="4572000"/>
            <a:ext cx="5120640" cy="256032"/>
          </a:xfrm>
          <a:prstGeom prst="rect">
            <a:avLst/>
          </a:prstGeom>
          <a:noFill/>
        </p:spPr>
        <p:txBody>
          <a:bodyPr wrap="square" lIns="73152" tIns="36576" rIns="73152" bIns="36576" anchor="t">
            <a:spAutoFit/>
          </a:bodyPr>
          <a:lstStyle/>
          <a:p>
            <a:pPr algn="ctr"/>
            <a:r>
              <a:rPr sz="1150" b="0">
                <a:solidFill>
                  <a:srgbClr val="585858"/>
                </a:solidFill>
                <a:latin typeface="Calibri"/>
              </a:rPr>
              <a:t>No shuffle of the large fact table is needed.</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96</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Enrichment Pipeline</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Start with latest valid order state.</a:t>
            </a:r>
          </a:p>
          <a:p>
            <a:pPr>
              <a:spcAft>
                <a:spcPts val="500"/>
              </a:spcAft>
              <a:defRPr sz="1300">
                <a:solidFill>
                  <a:srgbClr val="333333"/>
                </a:solidFill>
                <a:latin typeface="Calibri"/>
              </a:defRPr>
            </a:pPr>
            <a:r>
              <a:t>• Join to customers, products, and FX rates.</a:t>
            </a:r>
          </a:p>
          <a:p>
            <a:pPr>
              <a:spcAft>
                <a:spcPts val="500"/>
              </a:spcAft>
              <a:defRPr sz="1300">
                <a:solidFill>
                  <a:srgbClr val="333333"/>
                </a:solidFill>
                <a:latin typeface="Calibri"/>
              </a:defRPr>
            </a:pPr>
            <a:r>
              <a:t>• Derive business fields such as category, segment, and amount_usd.</a:t>
            </a:r>
          </a:p>
        </p:txBody>
      </p:sp>
      <p:sp>
        <p:nvSpPr>
          <p:cNvPr id="5" name="Rounded Rectangle 4"/>
          <p:cNvSpPr/>
          <p:nvPr/>
        </p:nvSpPr>
        <p:spPr>
          <a:xfrm>
            <a:off x="3246120" y="3072384"/>
            <a:ext cx="1691640" cy="621792"/>
          </a:xfrm>
          <a:prstGeom prst="roundRect">
            <a:avLst/>
          </a:prstGeom>
          <a:solidFill>
            <a:srgbClr val="C0C0C0"/>
          </a:solidFill>
          <a:ln w="12700">
            <a:solidFill>
              <a:srgbClr val="7F8C8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19" b="1">
                <a:solidFill>
                  <a:srgbClr val="333333"/>
                </a:solidFill>
                <a:latin typeface="Calibri"/>
              </a:rPr>
              <a:t>orders_current
fact</a:t>
            </a:r>
          </a:p>
        </p:txBody>
      </p:sp>
      <p:sp>
        <p:nvSpPr>
          <p:cNvPr id="6" name="Rounded Rectangle 5"/>
          <p:cNvSpPr/>
          <p:nvPr/>
        </p:nvSpPr>
        <p:spPr>
          <a:xfrm>
            <a:off x="640080" y="2606040"/>
            <a:ext cx="1600200" cy="475488"/>
          </a:xfrm>
          <a:prstGeom prst="roundRect">
            <a:avLst/>
          </a:prstGeom>
          <a:solidFill>
            <a:srgbClr val="E3F2FD"/>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80" b="1">
                <a:solidFill>
                  <a:srgbClr val="333333"/>
                </a:solidFill>
                <a:latin typeface="Calibri"/>
              </a:rPr>
              <a:t>customers
customer_id</a:t>
            </a:r>
          </a:p>
        </p:txBody>
      </p:sp>
      <p:sp>
        <p:nvSpPr>
          <p:cNvPr id="7" name="TextBox 6"/>
          <p:cNvSpPr txBox="1"/>
          <p:nvPr/>
        </p:nvSpPr>
        <p:spPr>
          <a:xfrm>
            <a:off x="2304288" y="2752344"/>
            <a:ext cx="658368" cy="164592"/>
          </a:xfrm>
          <a:prstGeom prst="rect">
            <a:avLst/>
          </a:prstGeom>
          <a:noFill/>
        </p:spPr>
        <p:txBody>
          <a:bodyPr wrap="square" lIns="73152" tIns="36576" rIns="73152" bIns="36576" anchor="t">
            <a:spAutoFit/>
          </a:bodyPr>
          <a:lstStyle/>
          <a:p>
            <a:pPr algn="ctr"/>
            <a:r>
              <a:rPr sz="1000" b="1">
                <a:solidFill>
                  <a:srgbClr val="002060"/>
                </a:solidFill>
                <a:latin typeface="Calibri"/>
              </a:rPr>
              <a:t>→</a:t>
            </a:r>
          </a:p>
        </p:txBody>
      </p:sp>
      <p:sp>
        <p:nvSpPr>
          <p:cNvPr id="8" name="Rounded Rectangle 7"/>
          <p:cNvSpPr/>
          <p:nvPr/>
        </p:nvSpPr>
        <p:spPr>
          <a:xfrm>
            <a:off x="640080" y="3794760"/>
            <a:ext cx="1600200" cy="475488"/>
          </a:xfrm>
          <a:prstGeom prst="roundRect">
            <a:avLst/>
          </a:prstGeom>
          <a:solidFill>
            <a:srgbClr val="E3F2FD"/>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80" b="1">
                <a:solidFill>
                  <a:srgbClr val="333333"/>
                </a:solidFill>
                <a:latin typeface="Calibri"/>
              </a:rPr>
              <a:t>products
product_id</a:t>
            </a:r>
          </a:p>
        </p:txBody>
      </p:sp>
      <p:sp>
        <p:nvSpPr>
          <p:cNvPr id="9" name="TextBox 8"/>
          <p:cNvSpPr txBox="1"/>
          <p:nvPr/>
        </p:nvSpPr>
        <p:spPr>
          <a:xfrm>
            <a:off x="2304288" y="3941064"/>
            <a:ext cx="658368" cy="164592"/>
          </a:xfrm>
          <a:prstGeom prst="rect">
            <a:avLst/>
          </a:prstGeom>
          <a:noFill/>
        </p:spPr>
        <p:txBody>
          <a:bodyPr wrap="square" lIns="73152" tIns="36576" rIns="73152" bIns="36576" anchor="t">
            <a:spAutoFit/>
          </a:bodyPr>
          <a:lstStyle/>
          <a:p>
            <a:pPr algn="ctr"/>
            <a:r>
              <a:rPr sz="1000" b="1">
                <a:solidFill>
                  <a:srgbClr val="002060"/>
                </a:solidFill>
                <a:latin typeface="Calibri"/>
              </a:rPr>
              <a:t>→</a:t>
            </a:r>
          </a:p>
        </p:txBody>
      </p:sp>
      <p:sp>
        <p:nvSpPr>
          <p:cNvPr id="10" name="Rounded Rectangle 9"/>
          <p:cNvSpPr/>
          <p:nvPr/>
        </p:nvSpPr>
        <p:spPr>
          <a:xfrm>
            <a:off x="640080" y="4983480"/>
            <a:ext cx="1600200" cy="475488"/>
          </a:xfrm>
          <a:prstGeom prst="roundRect">
            <a:avLst/>
          </a:prstGeom>
          <a:solidFill>
            <a:srgbClr val="E3F2FD"/>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80" b="1">
                <a:solidFill>
                  <a:srgbClr val="333333"/>
                </a:solidFill>
                <a:latin typeface="Calibri"/>
              </a:rPr>
              <a:t>fx_rates
currency</a:t>
            </a:r>
          </a:p>
        </p:txBody>
      </p:sp>
      <p:sp>
        <p:nvSpPr>
          <p:cNvPr id="11" name="TextBox 10"/>
          <p:cNvSpPr txBox="1"/>
          <p:nvPr/>
        </p:nvSpPr>
        <p:spPr>
          <a:xfrm>
            <a:off x="2304288" y="5129784"/>
            <a:ext cx="658368" cy="164592"/>
          </a:xfrm>
          <a:prstGeom prst="rect">
            <a:avLst/>
          </a:prstGeom>
          <a:noFill/>
        </p:spPr>
        <p:txBody>
          <a:bodyPr wrap="square" lIns="73152" tIns="36576" rIns="73152" bIns="36576" anchor="t">
            <a:spAutoFit/>
          </a:bodyPr>
          <a:lstStyle/>
          <a:p>
            <a:pPr algn="ctr"/>
            <a:r>
              <a:rPr sz="1000" b="1">
                <a:solidFill>
                  <a:srgbClr val="002060"/>
                </a:solidFill>
                <a:latin typeface="Calibri"/>
              </a:rPr>
              <a:t>→</a:t>
            </a:r>
          </a:p>
        </p:txBody>
      </p:sp>
      <p:sp>
        <p:nvSpPr>
          <p:cNvPr id="12" name="TextBox 11"/>
          <p:cNvSpPr txBox="1"/>
          <p:nvPr/>
        </p:nvSpPr>
        <p:spPr>
          <a:xfrm>
            <a:off x="4956048" y="3273552"/>
            <a:ext cx="475488" cy="164592"/>
          </a:xfrm>
          <a:prstGeom prst="rect">
            <a:avLst/>
          </a:prstGeom>
          <a:noFill/>
        </p:spPr>
        <p:txBody>
          <a:bodyPr wrap="square" lIns="73152" tIns="36576" rIns="73152" bIns="36576" anchor="t">
            <a:spAutoFit/>
          </a:bodyPr>
          <a:lstStyle/>
          <a:p>
            <a:pPr algn="ctr"/>
            <a:r>
              <a:rPr sz="1000" b="1">
                <a:solidFill>
                  <a:srgbClr val="002060"/>
                </a:solidFill>
                <a:latin typeface="Calibri"/>
              </a:rPr>
              <a:t>→</a:t>
            </a:r>
          </a:p>
        </p:txBody>
      </p:sp>
      <p:sp>
        <p:nvSpPr>
          <p:cNvPr id="13" name="Rounded Rectangle 12"/>
          <p:cNvSpPr/>
          <p:nvPr/>
        </p:nvSpPr>
        <p:spPr>
          <a:xfrm>
            <a:off x="5468112" y="3035808"/>
            <a:ext cx="2148840" cy="694944"/>
          </a:xfrm>
          <a:prstGeom prst="roundRect">
            <a:avLst/>
          </a:prstGeom>
          <a:solidFill>
            <a:srgbClr val="D5DBDB"/>
          </a:solidFill>
          <a:ln w="12700">
            <a:solidFill>
              <a:srgbClr val="7F8C8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333333"/>
                </a:solidFill>
                <a:latin typeface="Calibri"/>
              </a:rPr>
              <a:t>orders_enriched
customer + product + USD</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97</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Code: enriched_orders Function Walkthrough</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The helper reads the small dimension tables.</a:t>
            </a:r>
          </a:p>
          <a:p>
            <a:pPr>
              <a:spcAft>
                <a:spcPts val="500"/>
              </a:spcAft>
              <a:defRPr sz="1300">
                <a:solidFill>
                  <a:srgbClr val="333333"/>
                </a:solidFill>
                <a:latin typeface="Calibri"/>
              </a:defRPr>
            </a:pPr>
            <a:r>
              <a:t>• Broadcast joins keep lookup tables local to executors.</a:t>
            </a:r>
          </a:p>
          <a:p>
            <a:pPr>
              <a:spcAft>
                <a:spcPts val="500"/>
              </a:spcAft>
              <a:defRPr sz="1300">
                <a:solidFill>
                  <a:srgbClr val="333333"/>
                </a:solidFill>
                <a:latin typeface="Calibri"/>
              </a:defRPr>
            </a:pPr>
            <a:r>
              <a:t>• The output adds USD revenue and match-status columns.</a:t>
            </a:r>
          </a:p>
        </p:txBody>
      </p:sp>
      <p:sp>
        <p:nvSpPr>
          <p:cNvPr id="5" name="Rounded Rectangle 4"/>
          <p:cNvSpPr/>
          <p:nvPr/>
        </p:nvSpPr>
        <p:spPr>
          <a:xfrm>
            <a:off x="594360" y="2633472"/>
            <a:ext cx="7955279" cy="3337560"/>
          </a:xfrm>
          <a:prstGeom prst="roundRect">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100">
                <a:solidFill>
                  <a:srgbClr val="1B1B1B"/>
                </a:solidFill>
                <a:latin typeface="Consolas"/>
              </a:rPr>
              <a:t>def enriched_orders(spark, current_orders):
    customers = read_customers(spark)
    products = read_products(spark)
    fx_rates = read_fx_rates(spark)
    return (
        current_orders
        .join(F.broadcast(customers), "customer_id", "left")
        .join(F.broadcast(products), "product_id", "left")
        .join(F.broadcast(fx_rates), "currency", "left")
        .withColumn("amount_usd", F.round(F.col("amount") * F.col("rate_to_usd"), 2))
        .withColumn("gross_margin_usd", F.round(F.col("amount_usd") - F.col("unit_cost"), 2))
    )</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98</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Currency Normalization — Converting to USD</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Gold KPIs need a common currency before revenue is aggregated.</a:t>
            </a:r>
          </a:p>
          <a:p>
            <a:pPr>
              <a:spcAft>
                <a:spcPts val="500"/>
              </a:spcAft>
              <a:defRPr sz="1300">
                <a:solidFill>
                  <a:srgbClr val="333333"/>
                </a:solidFill>
                <a:latin typeface="Calibri"/>
              </a:defRPr>
            </a:pPr>
            <a:r>
              <a:t>• FX rates are joined by source currency.</a:t>
            </a:r>
          </a:p>
          <a:p>
            <a:pPr>
              <a:spcAft>
                <a:spcPts val="500"/>
              </a:spcAft>
              <a:defRPr sz="1300">
                <a:solidFill>
                  <a:srgbClr val="333333"/>
                </a:solidFill>
                <a:latin typeface="Calibri"/>
              </a:defRPr>
            </a:pPr>
            <a:r>
              <a:t>• Missing FX rates should be tracked as an enrichment issue.</a:t>
            </a:r>
          </a:p>
        </p:txBody>
      </p:sp>
      <p:sp>
        <p:nvSpPr>
          <p:cNvPr id="5" name="Rounded Rectangle 4"/>
          <p:cNvSpPr/>
          <p:nvPr/>
        </p:nvSpPr>
        <p:spPr>
          <a:xfrm>
            <a:off x="594360" y="2633472"/>
            <a:ext cx="7955279" cy="3337560"/>
          </a:xfrm>
          <a:prstGeom prst="roundRect">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100">
                <a:solidFill>
                  <a:srgbClr val="1B1B1B"/>
                </a:solidFill>
                <a:latin typeface="Consolas"/>
              </a:rPr>
              <a:t>enriched = (
    orders
    .join(F.broadcast(fx_rates), "currency", "left")
    .withColumn("amount_usd", F.round(F.col("amount") * F.col("rate_to_usd"), 2))
)</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99</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Match Status Columns — Tracking Missing Dimensions</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A left join can keep the fact row while still flagging missing lookups.</a:t>
            </a:r>
          </a:p>
          <a:p>
            <a:pPr>
              <a:spcAft>
                <a:spcPts val="500"/>
              </a:spcAft>
              <a:defRPr sz="1300">
                <a:solidFill>
                  <a:srgbClr val="333333"/>
                </a:solidFill>
                <a:latin typeface="Calibri"/>
              </a:defRPr>
            </a:pPr>
            <a:r>
              <a:t>• Status columns make enrichment quality measurable.</a:t>
            </a:r>
          </a:p>
          <a:p>
            <a:pPr>
              <a:spcAft>
                <a:spcPts val="500"/>
              </a:spcAft>
              <a:defRPr sz="1300">
                <a:solidFill>
                  <a:srgbClr val="333333"/>
                </a:solidFill>
                <a:latin typeface="Calibri"/>
              </a:defRPr>
            </a:pPr>
            <a:r>
              <a:t>• Gold can include or exclude rows based on explicit match policy.</a:t>
            </a:r>
          </a:p>
        </p:txBody>
      </p:sp>
      <p:sp>
        <p:nvSpPr>
          <p:cNvPr id="5" name="Rounded Rectangle 4"/>
          <p:cNvSpPr/>
          <p:nvPr/>
        </p:nvSpPr>
        <p:spPr>
          <a:xfrm>
            <a:off x="594360" y="2633472"/>
            <a:ext cx="7955279" cy="3337560"/>
          </a:xfrm>
          <a:prstGeom prst="roundRect">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100">
                <a:solidFill>
                  <a:srgbClr val="1B1B1B"/>
                </a:solidFill>
                <a:latin typeface="Consolas"/>
              </a:rPr>
              <a:t>enriched = (
    enriched
    .withColumn(
        "customer_match_status",
        F.when(F.col("customer_name").isNull(), "MISSING_CUSTOMER").otherwise("MATCHED"),
    )
    .withColumn(
        "product_match_status",
        F.when(F.col("category").isNull(), "MISSING_PRODUCT").otherwise("MATCHED"),
    )
)</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100</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Quiz: Why Use Broadcast Joins for Dimension Tables?</a:t>
            </a:r>
          </a:p>
        </p:txBody>
      </p:sp>
      <p:sp>
        <p:nvSpPr>
          <p:cNvPr id="4" name="TextBox 3"/>
          <p:cNvSpPr txBox="1"/>
          <p:nvPr/>
        </p:nvSpPr>
        <p:spPr>
          <a:xfrm>
            <a:off x="658368" y="914400"/>
            <a:ext cx="7863840" cy="292608"/>
          </a:xfrm>
          <a:prstGeom prst="rect">
            <a:avLst/>
          </a:prstGeom>
          <a:noFill/>
        </p:spPr>
        <p:txBody>
          <a:bodyPr wrap="square" lIns="73152" tIns="36576" rIns="73152" bIns="36576" anchor="t">
            <a:spAutoFit/>
          </a:bodyPr>
          <a:lstStyle/>
          <a:p>
            <a:pPr algn="l"/>
            <a:r>
              <a:rPr sz="1600" b="0">
                <a:solidFill>
                  <a:srgbClr val="585858"/>
                </a:solidFill>
                <a:latin typeface="Calibri"/>
              </a:rPr>
              <a:t>Choose the best answer.</a:t>
            </a:r>
          </a:p>
        </p:txBody>
      </p:sp>
      <p:sp>
        <p:nvSpPr>
          <p:cNvPr id="5" name="Rounded Rectangle 4"/>
          <p:cNvSpPr/>
          <p:nvPr/>
        </p:nvSpPr>
        <p:spPr>
          <a:xfrm>
            <a:off x="822960" y="1481328"/>
            <a:ext cx="7498079" cy="420624"/>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A. They always make any join correct.</a:t>
            </a:r>
          </a:p>
        </p:txBody>
      </p:sp>
      <p:sp>
        <p:nvSpPr>
          <p:cNvPr id="6" name="Rounded Rectangle 5"/>
          <p:cNvSpPr/>
          <p:nvPr/>
        </p:nvSpPr>
        <p:spPr>
          <a:xfrm>
            <a:off x="822960" y="2139696"/>
            <a:ext cx="7498079" cy="420624"/>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B. They send a small table to executors to avoid shuffling the large fact table.</a:t>
            </a:r>
          </a:p>
        </p:txBody>
      </p:sp>
      <p:sp>
        <p:nvSpPr>
          <p:cNvPr id="7" name="Rounded Rectangle 6"/>
          <p:cNvSpPr/>
          <p:nvPr/>
        </p:nvSpPr>
        <p:spPr>
          <a:xfrm>
            <a:off x="822960" y="2798064"/>
            <a:ext cx="7498079" cy="420624"/>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C. They remove duplicate fact records automatically.</a:t>
            </a:r>
          </a:p>
        </p:txBody>
      </p:sp>
      <p:sp>
        <p:nvSpPr>
          <p:cNvPr id="8" name="Rounded Rectangle 7"/>
          <p:cNvSpPr/>
          <p:nvPr/>
        </p:nvSpPr>
        <p:spPr>
          <a:xfrm>
            <a:off x="822960" y="3456432"/>
            <a:ext cx="7498079" cy="420624"/>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D. They write results directly to Gold.</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101</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Answer: Why Use Broadcast Joins for Dimension Tables?</a:t>
            </a:r>
          </a:p>
        </p:txBody>
      </p:sp>
      <p:sp>
        <p:nvSpPr>
          <p:cNvPr id="4" name="TextBox 3"/>
          <p:cNvSpPr txBox="1"/>
          <p:nvPr/>
        </p:nvSpPr>
        <p:spPr>
          <a:xfrm>
            <a:off x="658368" y="914400"/>
            <a:ext cx="7863840" cy="292608"/>
          </a:xfrm>
          <a:prstGeom prst="rect">
            <a:avLst/>
          </a:prstGeom>
          <a:noFill/>
        </p:spPr>
        <p:txBody>
          <a:bodyPr wrap="square" lIns="73152" tIns="36576" rIns="73152" bIns="36576" anchor="t">
            <a:spAutoFit/>
          </a:bodyPr>
          <a:lstStyle/>
          <a:p>
            <a:pPr algn="l"/>
            <a:r>
              <a:rPr sz="1600" b="0">
                <a:solidFill>
                  <a:srgbClr val="585858"/>
                </a:solidFill>
                <a:latin typeface="Calibri"/>
              </a:rPr>
              <a:t>Review the correct answer and why it matters.</a:t>
            </a:r>
          </a:p>
        </p:txBody>
      </p:sp>
      <p:sp>
        <p:nvSpPr>
          <p:cNvPr id="5" name="Rounded Rectangle 4"/>
          <p:cNvSpPr/>
          <p:nvPr/>
        </p:nvSpPr>
        <p:spPr>
          <a:xfrm>
            <a:off x="822960" y="1481328"/>
            <a:ext cx="7498079" cy="420624"/>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A. They always make any join correct.</a:t>
            </a:r>
          </a:p>
        </p:txBody>
      </p:sp>
      <p:sp>
        <p:nvSpPr>
          <p:cNvPr id="6" name="Rounded Rectangle 5"/>
          <p:cNvSpPr/>
          <p:nvPr/>
        </p:nvSpPr>
        <p:spPr>
          <a:xfrm>
            <a:off x="822960" y="2139696"/>
            <a:ext cx="7498079" cy="420624"/>
          </a:xfrm>
          <a:prstGeom prst="roundRect">
            <a:avLst/>
          </a:prstGeom>
          <a:solidFill>
            <a:srgbClr val="E9F7EF"/>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1">
                <a:solidFill>
                  <a:srgbClr val="333333"/>
                </a:solidFill>
                <a:latin typeface="Calibri"/>
              </a:rPr>
              <a:t>✓ B. They send a small table to executors to avoid shuffling the large fact table.</a:t>
            </a:r>
          </a:p>
        </p:txBody>
      </p:sp>
      <p:sp>
        <p:nvSpPr>
          <p:cNvPr id="7" name="Rounded Rectangle 6"/>
          <p:cNvSpPr/>
          <p:nvPr/>
        </p:nvSpPr>
        <p:spPr>
          <a:xfrm>
            <a:off x="822960" y="2798064"/>
            <a:ext cx="7498079" cy="420624"/>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C. They remove duplicate fact records automatically.</a:t>
            </a:r>
          </a:p>
        </p:txBody>
      </p:sp>
      <p:sp>
        <p:nvSpPr>
          <p:cNvPr id="8" name="Rounded Rectangle 7"/>
          <p:cNvSpPr/>
          <p:nvPr/>
        </p:nvSpPr>
        <p:spPr>
          <a:xfrm>
            <a:off x="822960" y="3456432"/>
            <a:ext cx="7498079" cy="420624"/>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D. They write results directly to Gold.</a:t>
            </a:r>
          </a:p>
        </p:txBody>
      </p:sp>
      <p:sp>
        <p:nvSpPr>
          <p:cNvPr id="9" name="Rounded Rectangle 8"/>
          <p:cNvSpPr/>
          <p:nvPr/>
        </p:nvSpPr>
        <p:spPr>
          <a:xfrm>
            <a:off x="822960" y="5074920"/>
            <a:ext cx="7498079" cy="621792"/>
          </a:xfrm>
          <a:prstGeom prst="roundRect">
            <a:avLst/>
          </a:prstGeom>
          <a:solidFill>
            <a:srgbClr val="F5FBF7"/>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200" b="0">
                <a:solidFill>
                  <a:srgbClr val="333333"/>
                </a:solidFill>
                <a:latin typeface="Calibri"/>
              </a:rPr>
              <a:t>Correct: broadcasting the small side can avoid expensive shuffles during fact-to-dimension enrichment.</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102</a:t>
            </a:r>
          </a:p>
        </p:txBody>
      </p:sp>
      <p:sp>
        <p:nvSpPr>
          <p:cNvPr id="3" name="Rectangle 2"/>
          <p:cNvSpPr/>
          <p:nvPr/>
        </p:nvSpPr>
        <p:spPr>
          <a:xfrm>
            <a:off x="201168" y="868680"/>
            <a:ext cx="73152" cy="5440680"/>
          </a:xfrm>
          <a:prstGeom prst="rect">
            <a:avLst/>
          </a:prstGeom>
          <a:solidFill>
            <a:srgbClr val="002060"/>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Key Takeaways: CDC &amp; Enrichment</a:t>
            </a:r>
          </a:p>
        </p:txBody>
      </p:sp>
      <p:sp>
        <p:nvSpPr>
          <p:cNvPr id="5" name="TextBox 4"/>
          <p:cNvSpPr txBox="1"/>
          <p:nvPr/>
        </p:nvSpPr>
        <p:spPr>
          <a:xfrm>
            <a:off x="658368" y="868680"/>
            <a:ext cx="7909560" cy="5257800"/>
          </a:xfrm>
          <a:prstGeom prst="rect">
            <a:avLst/>
          </a:prstGeom>
          <a:noFill/>
        </p:spPr>
        <p:txBody>
          <a:bodyPr wrap="square" lIns="27432" tIns="18288" rIns="27432">
            <a:spAutoFit/>
          </a:bodyPr>
          <a:lstStyle/>
          <a:p>
            <a:pPr>
              <a:spcAft>
                <a:spcPts val="300"/>
              </a:spcAft>
              <a:defRPr sz="1200">
                <a:solidFill>
                  <a:srgbClr val="333333"/>
                </a:solidFill>
                <a:latin typeface="Calibri"/>
              </a:defRPr>
            </a:pPr>
            <a:r>
              <a:t>• CDC turns event history into current trusted state when needed.</a:t>
            </a:r>
          </a:p>
          <a:p>
            <a:pPr>
              <a:spcAft>
                <a:spcPts val="300"/>
              </a:spcAft>
              <a:defRPr sz="1200">
                <a:solidFill>
                  <a:srgbClr val="333333"/>
                </a:solidFill>
                <a:latin typeface="Calibri"/>
              </a:defRPr>
            </a:pPr>
            <a:r>
              <a:t>• Window functions provide deterministic latest-record logic.</a:t>
            </a:r>
          </a:p>
          <a:p>
            <a:pPr>
              <a:spcAft>
                <a:spcPts val="300"/>
              </a:spcAft>
              <a:defRPr sz="1200">
                <a:solidFill>
                  <a:srgbClr val="333333"/>
                </a:solidFill>
                <a:latin typeface="Calibri"/>
              </a:defRPr>
            </a:pPr>
            <a:r>
              <a:t>• Dimensions add business context to facts.</a:t>
            </a:r>
          </a:p>
          <a:p>
            <a:pPr>
              <a:spcAft>
                <a:spcPts val="300"/>
              </a:spcAft>
              <a:defRPr sz="1200">
                <a:solidFill>
                  <a:srgbClr val="333333"/>
                </a:solidFill>
                <a:latin typeface="Calibri"/>
              </a:defRPr>
            </a:pPr>
            <a:r>
              <a:t>• Broadcast joins are useful for small lookup tables.</a:t>
            </a:r>
          </a:p>
          <a:p>
            <a:pPr>
              <a:spcAft>
                <a:spcPts val="300"/>
              </a:spcAft>
              <a:defRPr sz="1200">
                <a:solidFill>
                  <a:srgbClr val="333333"/>
                </a:solidFill>
                <a:latin typeface="Calibri"/>
              </a:defRPr>
            </a:pPr>
            <a:r>
              <a:t>• Match status fields make enrichment gaps visible.</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103</a:t>
            </a:r>
          </a:p>
        </p:txBody>
      </p:sp>
      <p:sp>
        <p:nvSpPr>
          <p:cNvPr id="3" name="TextBox 2"/>
          <p:cNvSpPr txBox="1"/>
          <p:nvPr/>
        </p:nvSpPr>
        <p:spPr>
          <a:xfrm>
            <a:off x="731520" y="2743200"/>
            <a:ext cx="7680960" cy="731520"/>
          </a:xfrm>
          <a:prstGeom prst="rect">
            <a:avLst/>
          </a:prstGeom>
          <a:noFill/>
        </p:spPr>
        <p:txBody>
          <a:bodyPr wrap="square" lIns="73152" tIns="36576" rIns="73152" bIns="36576" anchor="t">
            <a:spAutoFit/>
          </a:bodyPr>
          <a:lstStyle/>
          <a:p>
            <a:pPr algn="ctr"/>
            <a:r>
              <a:rPr sz="2400" b="1">
                <a:solidFill>
                  <a:srgbClr val="002060"/>
                </a:solidFill>
                <a:latin typeface="Calibri"/>
              </a:rPr>
              <a:t>☕ Break — 15 Minutes</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104</a:t>
            </a:r>
          </a:p>
        </p:txBody>
      </p:sp>
      <p:sp>
        <p:nvSpPr>
          <p:cNvPr id="3" name="Rectangle 2"/>
          <p:cNvSpPr/>
          <p:nvPr/>
        </p:nvSpPr>
        <p:spPr>
          <a:xfrm>
            <a:off x="0" y="0"/>
            <a:ext cx="9144000" cy="777240"/>
          </a:xfrm>
          <a:prstGeom prst="rect">
            <a:avLst/>
          </a:prstGeom>
          <a:solidFill>
            <a:srgbClr val="002060"/>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82880"/>
            <a:ext cx="8138160" cy="384048"/>
          </a:xfrm>
          <a:prstGeom prst="rect">
            <a:avLst/>
          </a:prstGeom>
          <a:noFill/>
        </p:spPr>
        <p:txBody>
          <a:bodyPr wrap="square" lIns="73152" tIns="36576" rIns="73152" bIns="36576" anchor="t">
            <a:spAutoFit/>
          </a:bodyPr>
          <a:lstStyle/>
          <a:p>
            <a:pPr algn="ctr"/>
            <a:r>
              <a:rPr sz="2000" b="1">
                <a:solidFill>
                  <a:srgbClr val="FFFFFF"/>
                </a:solidFill>
                <a:latin typeface="Calibri"/>
              </a:rPr>
              <a:t>MODULE 5: Gold Layer — KPIs &amp; Aggregations</a:t>
            </a:r>
          </a:p>
        </p:txBody>
      </p:sp>
      <p:sp>
        <p:nvSpPr>
          <p:cNvPr id="5" name="TextBox 4"/>
          <p:cNvSpPr txBox="1"/>
          <p:nvPr/>
        </p:nvSpPr>
        <p:spPr>
          <a:xfrm>
            <a:off x="822960" y="2487168"/>
            <a:ext cx="7498079" cy="457200"/>
          </a:xfrm>
          <a:prstGeom prst="rect">
            <a:avLst/>
          </a:prstGeom>
          <a:noFill/>
        </p:spPr>
        <p:txBody>
          <a:bodyPr wrap="square" lIns="73152" tIns="36576" rIns="73152" bIns="36576" anchor="t">
            <a:spAutoFit/>
          </a:bodyPr>
          <a:lstStyle/>
          <a:p>
            <a:pPr algn="ctr"/>
            <a:r>
              <a:rPr sz="2400" b="1">
                <a:solidFill>
                  <a:srgbClr val="002060"/>
                </a:solidFill>
                <a:latin typeface="Calibri"/>
              </a:rPr>
              <a:t>MODULE 5: Gold Layer — KPIs &amp; Aggregations</a:t>
            </a:r>
          </a:p>
        </p:txBody>
      </p:sp>
      <p:sp>
        <p:nvSpPr>
          <p:cNvPr id="6" name="Rectangle 5"/>
          <p:cNvSpPr/>
          <p:nvPr/>
        </p:nvSpPr>
        <p:spPr>
          <a:xfrm>
            <a:off x="2926080" y="3291840"/>
            <a:ext cx="3291840" cy="73152"/>
          </a:xfrm>
          <a:prstGeom prst="rect">
            <a:avLst/>
          </a:prstGeom>
          <a:solidFill>
            <a:srgbClr val="002060"/>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105</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Gold Layer Overview — Business-Ready Outputs</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Gold is curated for dashboards, reports, products, and stakeholders.</a:t>
            </a:r>
          </a:p>
          <a:p>
            <a:pPr>
              <a:spcAft>
                <a:spcPts val="500"/>
              </a:spcAft>
              <a:defRPr sz="1300">
                <a:solidFill>
                  <a:srgbClr val="333333"/>
                </a:solidFill>
                <a:latin typeface="Calibri"/>
              </a:defRPr>
            </a:pPr>
            <a:r>
              <a:t>• Tables are named in business terms and shaped for consumption.</a:t>
            </a:r>
          </a:p>
          <a:p>
            <a:pPr>
              <a:spcAft>
                <a:spcPts val="500"/>
              </a:spcAft>
              <a:defRPr sz="1300">
                <a:solidFill>
                  <a:srgbClr val="333333"/>
                </a:solidFill>
                <a:latin typeface="Calibri"/>
              </a:defRPr>
            </a:pPr>
            <a:r>
              <a:t>• Gold often trades storage for faster and simpler reads.</a:t>
            </a:r>
          </a:p>
        </p:txBody>
      </p:sp>
      <p:sp>
        <p:nvSpPr>
          <p:cNvPr id="5" name="Rounded Rectangle 4"/>
          <p:cNvSpPr/>
          <p:nvPr/>
        </p:nvSpPr>
        <p:spPr>
          <a:xfrm>
            <a:off x="868680" y="3456432"/>
            <a:ext cx="2194560" cy="1234440"/>
          </a:xfrm>
          <a:prstGeom prst="roundRect">
            <a:avLst/>
          </a:prstGeom>
          <a:solidFill>
            <a:srgbClr val="CD7F32"/>
          </a:solidFill>
          <a:ln w="12700">
            <a:solidFill>
              <a:srgbClr val="8C8C8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1B1B1B"/>
                </a:solidFill>
                <a:latin typeface="Calibri"/>
              </a:rPr>
              <a:t>Bronze
Raw, immutable
full fidelity</a:t>
            </a:r>
          </a:p>
        </p:txBody>
      </p:sp>
      <p:sp>
        <p:nvSpPr>
          <p:cNvPr id="6" name="Rectangle 5"/>
          <p:cNvSpPr/>
          <p:nvPr/>
        </p:nvSpPr>
        <p:spPr>
          <a:xfrm>
            <a:off x="3136391" y="3982212"/>
            <a:ext cx="274320" cy="18288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002060"/>
                </a:solidFill>
                <a:latin typeface="Calibri"/>
              </a:rPr>
              <a:t>→</a:t>
            </a:r>
          </a:p>
        </p:txBody>
      </p:sp>
      <p:sp>
        <p:nvSpPr>
          <p:cNvPr id="7" name="Rounded Rectangle 6"/>
          <p:cNvSpPr/>
          <p:nvPr/>
        </p:nvSpPr>
        <p:spPr>
          <a:xfrm>
            <a:off x="3474720" y="3456432"/>
            <a:ext cx="2194560" cy="1234440"/>
          </a:xfrm>
          <a:prstGeom prst="roundRect">
            <a:avLst/>
          </a:prstGeom>
          <a:solidFill>
            <a:srgbClr val="C0C0C0"/>
          </a:solidFill>
          <a:ln w="12700">
            <a:solidFill>
              <a:srgbClr val="8C8C8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1B1B1B"/>
                </a:solidFill>
                <a:latin typeface="Calibri"/>
              </a:rPr>
              <a:t>Silver
Cleaned, conformed
quality checked</a:t>
            </a:r>
          </a:p>
        </p:txBody>
      </p:sp>
      <p:sp>
        <p:nvSpPr>
          <p:cNvPr id="8" name="Rectangle 7"/>
          <p:cNvSpPr/>
          <p:nvPr/>
        </p:nvSpPr>
        <p:spPr>
          <a:xfrm>
            <a:off x="5742431" y="3982212"/>
            <a:ext cx="274320" cy="18288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002060"/>
                </a:solidFill>
                <a:latin typeface="Calibri"/>
              </a:rPr>
              <a:t>→</a:t>
            </a:r>
          </a:p>
        </p:txBody>
      </p:sp>
      <p:sp>
        <p:nvSpPr>
          <p:cNvPr id="9" name="Rounded Rectangle 8"/>
          <p:cNvSpPr/>
          <p:nvPr/>
        </p:nvSpPr>
        <p:spPr>
          <a:xfrm>
            <a:off x="6080760" y="3456432"/>
            <a:ext cx="2194560" cy="1234440"/>
          </a:xfrm>
          <a:prstGeom prst="roundRect">
            <a:avLst/>
          </a:prstGeom>
          <a:solidFill>
            <a:srgbClr val="FFD700"/>
          </a:solidFill>
          <a:ln w="12700">
            <a:solidFill>
              <a:srgbClr val="8C8C8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1B1B1B"/>
                </a:solidFill>
                <a:latin typeface="Calibri"/>
              </a:rPr>
              <a:t>Gold
Business-ready
KPIs and marts</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106</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Gold Design Principles</a:t>
            </a:r>
          </a:p>
        </p:txBody>
      </p:sp>
      <p:sp>
        <p:nvSpPr>
          <p:cNvPr id="4" name="TextBox 3"/>
          <p:cNvSpPr txBox="1"/>
          <p:nvPr/>
        </p:nvSpPr>
        <p:spPr>
          <a:xfrm>
            <a:off x="658368" y="868680"/>
            <a:ext cx="7909560" cy="5257800"/>
          </a:xfrm>
          <a:prstGeom prst="rect">
            <a:avLst/>
          </a:prstGeom>
          <a:noFill/>
        </p:spPr>
        <p:txBody>
          <a:bodyPr wrap="square" lIns="27432" tIns="18288" rIns="27432">
            <a:spAutoFit/>
          </a:bodyPr>
          <a:lstStyle/>
          <a:p>
            <a:pPr>
              <a:spcAft>
                <a:spcPts val="300"/>
              </a:spcAft>
              <a:defRPr sz="1200">
                <a:solidFill>
                  <a:srgbClr val="333333"/>
                </a:solidFill>
                <a:latin typeface="Calibri"/>
              </a:defRPr>
            </a:pPr>
            <a:r>
              <a:t>• Pre-aggregated: reduce repeated work for common questions.</a:t>
            </a:r>
          </a:p>
          <a:p>
            <a:pPr>
              <a:spcAft>
                <a:spcPts val="300"/>
              </a:spcAft>
              <a:defRPr sz="1200">
                <a:solidFill>
                  <a:srgbClr val="333333"/>
                </a:solidFill>
                <a:latin typeface="Calibri"/>
              </a:defRPr>
            </a:pPr>
            <a:r>
              <a:t>• Business-named: use terms stakeholders recognize.</a:t>
            </a:r>
          </a:p>
          <a:p>
            <a:pPr>
              <a:spcAft>
                <a:spcPts val="300"/>
              </a:spcAft>
              <a:defRPr sz="1200">
                <a:solidFill>
                  <a:srgbClr val="333333"/>
                </a:solidFill>
                <a:latin typeface="Calibri"/>
              </a:defRPr>
            </a:pPr>
            <a:r>
              <a:t>• Slowly changing: manage history for dimensions and business definitions.</a:t>
            </a:r>
          </a:p>
          <a:p>
            <a:pPr>
              <a:spcAft>
                <a:spcPts val="300"/>
              </a:spcAft>
              <a:defRPr sz="1200">
                <a:solidFill>
                  <a:srgbClr val="333333"/>
                </a:solidFill>
                <a:latin typeface="Calibri"/>
              </a:defRPr>
            </a:pPr>
            <a:r>
              <a:t>• Metric-governed: centralize KPI rules instead of duplicating them in BI tools.</a:t>
            </a:r>
          </a:p>
          <a:p>
            <a:pPr>
              <a:spcAft>
                <a:spcPts val="300"/>
              </a:spcAft>
              <a:defRPr sz="1200">
                <a:solidFill>
                  <a:srgbClr val="333333"/>
                </a:solidFill>
                <a:latin typeface="Calibri"/>
              </a:defRPr>
            </a:pPr>
            <a:r>
              <a:t>• Consumer-focused: optimize for query patterns and service-level expectations.</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107</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Business KPIs We'll Build</a:t>
            </a:r>
          </a:p>
        </p:txBody>
      </p:sp>
      <p:graphicFrame>
        <p:nvGraphicFramePr>
          <p:cNvPr id="4" name="Table 3"/>
          <p:cNvGraphicFramePr>
            <a:graphicFrameLocks noGrp="1"/>
          </p:cNvGraphicFramePr>
          <p:nvPr/>
        </p:nvGraphicFramePr>
        <p:xfrm>
          <a:off x="530352" y="1143000"/>
          <a:ext cx="8092437" cy="4983480"/>
        </p:xfrm>
        <a:graphic>
          <a:graphicData uri="http://schemas.openxmlformats.org/drawingml/2006/table">
            <a:tbl>
              <a:tblPr firstRow="1" bandRow="1">
                <a:tableStyleId>{5C22544A-7EE6-4342-B048-85BDC9FD1C3A}</a:tableStyleId>
              </a:tblPr>
              <a:tblGrid>
                <a:gridCol w="2697479">
                  <a:extLst>
                    <a:ext uri="{9D8B030D-6E8A-4147-A177-3AD203B41FA5}">
                      <a16:colId xmlns:a16="http://schemas.microsoft.com/office/drawing/2014/main" val="20000"/>
                    </a:ext>
                  </a:extLst>
                </a:gridCol>
                <a:gridCol w="2697479">
                  <a:extLst>
                    <a:ext uri="{9D8B030D-6E8A-4147-A177-3AD203B41FA5}">
                      <a16:colId xmlns:a16="http://schemas.microsoft.com/office/drawing/2014/main" val="20001"/>
                    </a:ext>
                  </a:extLst>
                </a:gridCol>
                <a:gridCol w="2697479">
                  <a:extLst>
                    <a:ext uri="{9D8B030D-6E8A-4147-A177-3AD203B41FA5}">
                      <a16:colId xmlns:a16="http://schemas.microsoft.com/office/drawing/2014/main" val="20002"/>
                    </a:ext>
                  </a:extLst>
                </a:gridCol>
              </a:tblGrid>
              <a:tr h="1245870">
                <a:tc>
                  <a:txBody>
                    <a:bodyPr/>
                    <a:lstStyle/>
                    <a:p>
                      <a:pPr algn="ctr"/>
                      <a:r>
                        <a:rPr sz="880" b="1">
                          <a:solidFill>
                            <a:srgbClr val="FFFFFF"/>
                          </a:solidFill>
                          <a:latin typeface="Calibri"/>
                        </a:rPr>
                        <a:t>KPI</a:t>
                      </a:r>
                    </a:p>
                  </a:txBody>
                  <a:tcPr>
                    <a:solidFill>
                      <a:srgbClr val="002060"/>
                    </a:solidFill>
                  </a:tcPr>
                </a:tc>
                <a:tc>
                  <a:txBody>
                    <a:bodyPr/>
                    <a:lstStyle/>
                    <a:p>
                      <a:pPr algn="ctr"/>
                      <a:r>
                        <a:rPr sz="880" b="1">
                          <a:solidFill>
                            <a:srgbClr val="FFFFFF"/>
                          </a:solidFill>
                          <a:latin typeface="Calibri"/>
                        </a:rPr>
                        <a:t>Grain</a:t>
                      </a:r>
                    </a:p>
                  </a:txBody>
                  <a:tcPr>
                    <a:solidFill>
                      <a:srgbClr val="002060"/>
                    </a:solidFill>
                  </a:tcPr>
                </a:tc>
                <a:tc>
                  <a:txBody>
                    <a:bodyPr/>
                    <a:lstStyle/>
                    <a:p>
                      <a:pPr algn="ctr"/>
                      <a:r>
                        <a:rPr sz="880" b="1">
                          <a:solidFill>
                            <a:srgbClr val="FFFFFF"/>
                          </a:solidFill>
                          <a:latin typeface="Calibri"/>
                        </a:rPr>
                        <a:t>Business question</a:t>
                      </a:r>
                    </a:p>
                  </a:txBody>
                  <a:tcPr>
                    <a:solidFill>
                      <a:srgbClr val="002060"/>
                    </a:solidFill>
                  </a:tcPr>
                </a:tc>
                <a:extLst>
                  <a:ext uri="{0D108BD9-81ED-4DB2-BD59-A6C34878D82A}">
                    <a16:rowId xmlns:a16="http://schemas.microsoft.com/office/drawing/2014/main" val="10000"/>
                  </a:ext>
                </a:extLst>
              </a:tr>
              <a:tr h="1245870">
                <a:tc>
                  <a:txBody>
                    <a:bodyPr/>
                    <a:lstStyle/>
                    <a:p>
                      <a:pPr algn="l"/>
                      <a:r>
                        <a:rPr sz="880" b="0">
                          <a:solidFill>
                            <a:srgbClr val="333333"/>
                          </a:solidFill>
                          <a:latin typeface="Calibri"/>
                        </a:rPr>
                        <a:t>Daily revenue</a:t>
                      </a:r>
                    </a:p>
                  </a:txBody>
                  <a:tcPr>
                    <a:solidFill>
                      <a:srgbClr val="FFFFFF"/>
                    </a:solidFill>
                  </a:tcPr>
                </a:tc>
                <a:tc>
                  <a:txBody>
                    <a:bodyPr/>
                    <a:lstStyle/>
                    <a:p>
                      <a:pPr algn="l"/>
                      <a:r>
                        <a:rPr sz="880" b="0">
                          <a:solidFill>
                            <a:srgbClr val="333333"/>
                          </a:solidFill>
                          <a:latin typeface="Calibri"/>
                        </a:rPr>
                        <a:t>event_date</a:t>
                      </a:r>
                    </a:p>
                  </a:txBody>
                  <a:tcPr>
                    <a:solidFill>
                      <a:srgbClr val="FFFFFF"/>
                    </a:solidFill>
                  </a:tcPr>
                </a:tc>
                <a:tc>
                  <a:txBody>
                    <a:bodyPr/>
                    <a:lstStyle/>
                    <a:p>
                      <a:pPr algn="l"/>
                      <a:r>
                        <a:rPr sz="880" b="0">
                          <a:solidFill>
                            <a:srgbClr val="333333"/>
                          </a:solidFill>
                          <a:latin typeface="Calibri"/>
                        </a:rPr>
                        <a:t>How much revenue did we book each day?</a:t>
                      </a:r>
                    </a:p>
                  </a:txBody>
                  <a:tcPr>
                    <a:solidFill>
                      <a:srgbClr val="FFFFFF"/>
                    </a:solidFill>
                  </a:tcPr>
                </a:tc>
                <a:extLst>
                  <a:ext uri="{0D108BD9-81ED-4DB2-BD59-A6C34878D82A}">
                    <a16:rowId xmlns:a16="http://schemas.microsoft.com/office/drawing/2014/main" val="10001"/>
                  </a:ext>
                </a:extLst>
              </a:tr>
              <a:tr h="1245870">
                <a:tc>
                  <a:txBody>
                    <a:bodyPr/>
                    <a:lstStyle/>
                    <a:p>
                      <a:pPr algn="l"/>
                      <a:r>
                        <a:rPr sz="880" b="0">
                          <a:solidFill>
                            <a:srgbClr val="333333"/>
                          </a:solidFill>
                          <a:latin typeface="Calibri"/>
                        </a:rPr>
                        <a:t>Category revenue</a:t>
                      </a:r>
                    </a:p>
                  </a:txBody>
                  <a:tcPr>
                    <a:solidFill>
                      <a:srgbClr val="F0F4FA"/>
                    </a:solidFill>
                  </a:tcPr>
                </a:tc>
                <a:tc>
                  <a:txBody>
                    <a:bodyPr/>
                    <a:lstStyle/>
                    <a:p>
                      <a:pPr algn="l"/>
                      <a:r>
                        <a:rPr sz="880" b="0">
                          <a:solidFill>
                            <a:srgbClr val="333333"/>
                          </a:solidFill>
                          <a:latin typeface="Calibri"/>
                        </a:rPr>
                        <a:t>product_category</a:t>
                      </a:r>
                    </a:p>
                  </a:txBody>
                  <a:tcPr>
                    <a:solidFill>
                      <a:srgbClr val="F0F4FA"/>
                    </a:solidFill>
                  </a:tcPr>
                </a:tc>
                <a:tc>
                  <a:txBody>
                    <a:bodyPr/>
                    <a:lstStyle/>
                    <a:p>
                      <a:pPr algn="l"/>
                      <a:r>
                        <a:rPr sz="880" b="0">
                          <a:solidFill>
                            <a:srgbClr val="333333"/>
                          </a:solidFill>
                          <a:latin typeface="Calibri"/>
                        </a:rPr>
                        <a:t>Which product categories drive revenue?</a:t>
                      </a:r>
                    </a:p>
                  </a:txBody>
                  <a:tcPr>
                    <a:solidFill>
                      <a:srgbClr val="F0F4FA"/>
                    </a:solidFill>
                  </a:tcPr>
                </a:tc>
                <a:extLst>
                  <a:ext uri="{0D108BD9-81ED-4DB2-BD59-A6C34878D82A}">
                    <a16:rowId xmlns:a16="http://schemas.microsoft.com/office/drawing/2014/main" val="10002"/>
                  </a:ext>
                </a:extLst>
              </a:tr>
              <a:tr h="1245870">
                <a:tc>
                  <a:txBody>
                    <a:bodyPr/>
                    <a:lstStyle/>
                    <a:p>
                      <a:pPr algn="l"/>
                      <a:r>
                        <a:rPr sz="880" b="0">
                          <a:solidFill>
                            <a:srgbClr val="333333"/>
                          </a:solidFill>
                          <a:latin typeface="Calibri"/>
                        </a:rPr>
                        <a:t>Segment revenue</a:t>
                      </a:r>
                    </a:p>
                  </a:txBody>
                  <a:tcPr>
                    <a:solidFill>
                      <a:srgbClr val="FFFFFF"/>
                    </a:solidFill>
                  </a:tcPr>
                </a:tc>
                <a:tc>
                  <a:txBody>
                    <a:bodyPr/>
                    <a:lstStyle/>
                    <a:p>
                      <a:pPr algn="l"/>
                      <a:r>
                        <a:rPr sz="880" b="0">
                          <a:solidFill>
                            <a:srgbClr val="333333"/>
                          </a:solidFill>
                          <a:latin typeface="Calibri"/>
                        </a:rPr>
                        <a:t>region + loyalty_tier</a:t>
                      </a:r>
                    </a:p>
                  </a:txBody>
                  <a:tcPr>
                    <a:solidFill>
                      <a:srgbClr val="FFFFFF"/>
                    </a:solidFill>
                  </a:tcPr>
                </a:tc>
                <a:tc>
                  <a:txBody>
                    <a:bodyPr/>
                    <a:lstStyle/>
                    <a:p>
                      <a:pPr algn="l"/>
                      <a:r>
                        <a:rPr sz="880" b="0">
                          <a:solidFill>
                            <a:srgbClr val="333333"/>
                          </a:solidFill>
                          <a:latin typeface="Calibri"/>
                        </a:rPr>
                        <a:t>Which customer groups perform best?</a:t>
                      </a:r>
                    </a:p>
                  </a:txBody>
                  <a:tcP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108</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Daily Revenue KPI</a:t>
            </a:r>
          </a:p>
        </p:txBody>
      </p:sp>
      <p:sp>
        <p:nvSpPr>
          <p:cNvPr id="4" name="Rounded Rectangle 3"/>
          <p:cNvSpPr/>
          <p:nvPr/>
        </p:nvSpPr>
        <p:spPr>
          <a:xfrm>
            <a:off x="566928" y="1115568"/>
            <a:ext cx="4800600" cy="4114800"/>
          </a:xfrm>
          <a:prstGeom prst="roundRect">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100">
                <a:solidFill>
                  <a:srgbClr val="1B1B1B"/>
                </a:solidFill>
                <a:latin typeface="Consolas"/>
              </a:rPr>
              <a:t>daily_revenue = (
    enriched
    .filter(F.col("status") != "CANCELLED")
    .groupBy(F.col("event_date").alias("order_date"))
    .agg(
        F.countDistinct("order_id").alias("order_count"),
        F.round(F.sum("amount_usd"), 2).alias("total_revenue_usd"),
    )
    .orderBy("order_date")
)</a:t>
            </a:r>
          </a:p>
        </p:txBody>
      </p:sp>
      <p:graphicFrame>
        <p:nvGraphicFramePr>
          <p:cNvPr id="5" name="Table 4"/>
          <p:cNvGraphicFramePr>
            <a:graphicFrameLocks noGrp="1"/>
          </p:cNvGraphicFramePr>
          <p:nvPr/>
        </p:nvGraphicFramePr>
        <p:xfrm>
          <a:off x="5532120" y="1298448"/>
          <a:ext cx="3063240" cy="2423160"/>
        </p:xfrm>
        <a:graphic>
          <a:graphicData uri="http://schemas.openxmlformats.org/drawingml/2006/table">
            <a:tbl>
              <a:tblPr firstRow="1" bandRow="1">
                <a:tableStyleId>{5C22544A-7EE6-4342-B048-85BDC9FD1C3A}</a:tableStyleId>
              </a:tblPr>
              <a:tblGrid>
                <a:gridCol w="1021080">
                  <a:extLst>
                    <a:ext uri="{9D8B030D-6E8A-4147-A177-3AD203B41FA5}">
                      <a16:colId xmlns:a16="http://schemas.microsoft.com/office/drawing/2014/main" val="20000"/>
                    </a:ext>
                  </a:extLst>
                </a:gridCol>
                <a:gridCol w="1021080">
                  <a:extLst>
                    <a:ext uri="{9D8B030D-6E8A-4147-A177-3AD203B41FA5}">
                      <a16:colId xmlns:a16="http://schemas.microsoft.com/office/drawing/2014/main" val="20001"/>
                    </a:ext>
                  </a:extLst>
                </a:gridCol>
                <a:gridCol w="1021080">
                  <a:extLst>
                    <a:ext uri="{9D8B030D-6E8A-4147-A177-3AD203B41FA5}">
                      <a16:colId xmlns:a16="http://schemas.microsoft.com/office/drawing/2014/main" val="20002"/>
                    </a:ext>
                  </a:extLst>
                </a:gridCol>
              </a:tblGrid>
              <a:tr h="807720">
                <a:tc>
                  <a:txBody>
                    <a:bodyPr/>
                    <a:lstStyle/>
                    <a:p>
                      <a:pPr algn="ctr"/>
                      <a:r>
                        <a:rPr sz="850" b="1">
                          <a:solidFill>
                            <a:srgbClr val="FFFFFF"/>
                          </a:solidFill>
                          <a:latin typeface="Calibri"/>
                        </a:rPr>
                        <a:t>order_date</a:t>
                      </a:r>
                    </a:p>
                  </a:txBody>
                  <a:tcPr>
                    <a:solidFill>
                      <a:srgbClr val="002060"/>
                    </a:solidFill>
                  </a:tcPr>
                </a:tc>
                <a:tc>
                  <a:txBody>
                    <a:bodyPr/>
                    <a:lstStyle/>
                    <a:p>
                      <a:pPr algn="ctr"/>
                      <a:r>
                        <a:rPr sz="850" b="1">
                          <a:solidFill>
                            <a:srgbClr val="FFFFFF"/>
                          </a:solidFill>
                          <a:latin typeface="Calibri"/>
                        </a:rPr>
                        <a:t>order_count</a:t>
                      </a:r>
                    </a:p>
                  </a:txBody>
                  <a:tcPr>
                    <a:solidFill>
                      <a:srgbClr val="002060"/>
                    </a:solidFill>
                  </a:tcPr>
                </a:tc>
                <a:tc>
                  <a:txBody>
                    <a:bodyPr/>
                    <a:lstStyle/>
                    <a:p>
                      <a:pPr algn="ctr"/>
                      <a:r>
                        <a:rPr sz="850" b="1">
                          <a:solidFill>
                            <a:srgbClr val="FFFFFF"/>
                          </a:solidFill>
                          <a:latin typeface="Calibri"/>
                        </a:rPr>
                        <a:t>total_revenue_usd</a:t>
                      </a:r>
                    </a:p>
                  </a:txBody>
                  <a:tcPr>
                    <a:solidFill>
                      <a:srgbClr val="002060"/>
                    </a:solidFill>
                  </a:tcPr>
                </a:tc>
                <a:extLst>
                  <a:ext uri="{0D108BD9-81ED-4DB2-BD59-A6C34878D82A}">
                    <a16:rowId xmlns:a16="http://schemas.microsoft.com/office/drawing/2014/main" val="10000"/>
                  </a:ext>
                </a:extLst>
              </a:tr>
              <a:tr h="807720">
                <a:tc>
                  <a:txBody>
                    <a:bodyPr/>
                    <a:lstStyle/>
                    <a:p>
                      <a:pPr algn="l"/>
                      <a:r>
                        <a:rPr sz="850" b="0">
                          <a:solidFill>
                            <a:srgbClr val="333333"/>
                          </a:solidFill>
                          <a:latin typeface="Calibri"/>
                        </a:rPr>
                        <a:t>2026-05-29</a:t>
                      </a:r>
                    </a:p>
                  </a:txBody>
                  <a:tcPr>
                    <a:solidFill>
                      <a:srgbClr val="FFFFFF"/>
                    </a:solidFill>
                  </a:tcPr>
                </a:tc>
                <a:tc>
                  <a:txBody>
                    <a:bodyPr/>
                    <a:lstStyle/>
                    <a:p>
                      <a:pPr algn="l"/>
                      <a:r>
                        <a:rPr sz="850" b="0">
                          <a:solidFill>
                            <a:srgbClr val="333333"/>
                          </a:solidFill>
                          <a:latin typeface="Calibri"/>
                        </a:rPr>
                        <a:t>1</a:t>
                      </a:r>
                    </a:p>
                  </a:txBody>
                  <a:tcPr>
                    <a:solidFill>
                      <a:srgbClr val="FFFFFF"/>
                    </a:solidFill>
                  </a:tcPr>
                </a:tc>
                <a:tc>
                  <a:txBody>
                    <a:bodyPr/>
                    <a:lstStyle/>
                    <a:p>
                      <a:pPr algn="l"/>
                      <a:r>
                        <a:rPr sz="850" b="0">
                          <a:solidFill>
                            <a:srgbClr val="333333"/>
                          </a:solidFill>
                          <a:latin typeface="Calibri"/>
                        </a:rPr>
                        <a:t>149.50</a:t>
                      </a:r>
                    </a:p>
                  </a:txBody>
                  <a:tcPr>
                    <a:solidFill>
                      <a:srgbClr val="FFFFFF"/>
                    </a:solidFill>
                  </a:tcPr>
                </a:tc>
                <a:extLst>
                  <a:ext uri="{0D108BD9-81ED-4DB2-BD59-A6C34878D82A}">
                    <a16:rowId xmlns:a16="http://schemas.microsoft.com/office/drawing/2014/main" val="10001"/>
                  </a:ext>
                </a:extLst>
              </a:tr>
              <a:tr h="807720">
                <a:tc>
                  <a:txBody>
                    <a:bodyPr/>
                    <a:lstStyle/>
                    <a:p>
                      <a:pPr algn="l"/>
                      <a:r>
                        <a:rPr sz="850" b="0">
                          <a:solidFill>
                            <a:srgbClr val="333333"/>
                          </a:solidFill>
                          <a:latin typeface="Calibri"/>
                        </a:rPr>
                        <a:t>2026-05-30</a:t>
                      </a:r>
                    </a:p>
                  </a:txBody>
                  <a:tcPr>
                    <a:solidFill>
                      <a:srgbClr val="F0F4FA"/>
                    </a:solidFill>
                  </a:tcPr>
                </a:tc>
                <a:tc>
                  <a:txBody>
                    <a:bodyPr/>
                    <a:lstStyle/>
                    <a:p>
                      <a:pPr algn="l"/>
                      <a:r>
                        <a:rPr sz="850" b="0">
                          <a:solidFill>
                            <a:srgbClr val="333333"/>
                          </a:solidFill>
                          <a:latin typeface="Calibri"/>
                        </a:rPr>
                        <a:t>4</a:t>
                      </a:r>
                    </a:p>
                  </a:txBody>
                  <a:tcPr>
                    <a:solidFill>
                      <a:srgbClr val="F0F4FA"/>
                    </a:solidFill>
                  </a:tcPr>
                </a:tc>
                <a:tc>
                  <a:txBody>
                    <a:bodyPr/>
                    <a:lstStyle/>
                    <a:p>
                      <a:pPr algn="l"/>
                      <a:r>
                        <a:rPr sz="850" b="0">
                          <a:solidFill>
                            <a:srgbClr val="333333"/>
                          </a:solidFill>
                          <a:latin typeface="Calibri"/>
                        </a:rPr>
                        <a:t>1887.18</a:t>
                      </a:r>
                    </a:p>
                  </a:txBody>
                  <a:tcPr>
                    <a:solidFill>
                      <a:srgbClr val="F0F4FA"/>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109</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Category Revenue KPI</a:t>
            </a:r>
          </a:p>
        </p:txBody>
      </p:sp>
      <p:sp>
        <p:nvSpPr>
          <p:cNvPr id="4" name="Rounded Rectangle 3"/>
          <p:cNvSpPr/>
          <p:nvPr/>
        </p:nvSpPr>
        <p:spPr>
          <a:xfrm>
            <a:off x="566928" y="1115568"/>
            <a:ext cx="4800600" cy="4114800"/>
          </a:xfrm>
          <a:prstGeom prst="roundRect">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100">
                <a:solidFill>
                  <a:srgbClr val="1B1B1B"/>
                </a:solidFill>
                <a:latin typeface="Consolas"/>
              </a:rPr>
              <a:t>category_revenue = (
    enriched
    .filter(F.col("status") != "CANCELLED")
    .groupBy("product_category")
    .agg(F.round(F.sum("amount_usd"), 2).alias("total_revenue_usd"))
    .orderBy(F.desc("total_revenue_usd"))
)</a:t>
            </a:r>
          </a:p>
        </p:txBody>
      </p:sp>
      <p:graphicFrame>
        <p:nvGraphicFramePr>
          <p:cNvPr id="5" name="Table 4"/>
          <p:cNvGraphicFramePr>
            <a:graphicFrameLocks noGrp="1"/>
          </p:cNvGraphicFramePr>
          <p:nvPr/>
        </p:nvGraphicFramePr>
        <p:xfrm>
          <a:off x="5532120" y="1298448"/>
          <a:ext cx="3063240" cy="2423160"/>
        </p:xfrm>
        <a:graphic>
          <a:graphicData uri="http://schemas.openxmlformats.org/drawingml/2006/table">
            <a:tbl>
              <a:tblPr firstRow="1" bandRow="1">
                <a:tableStyleId>{5C22544A-7EE6-4342-B048-85BDC9FD1C3A}</a:tableStyleId>
              </a:tblPr>
              <a:tblGrid>
                <a:gridCol w="1531620">
                  <a:extLst>
                    <a:ext uri="{9D8B030D-6E8A-4147-A177-3AD203B41FA5}">
                      <a16:colId xmlns:a16="http://schemas.microsoft.com/office/drawing/2014/main" val="20000"/>
                    </a:ext>
                  </a:extLst>
                </a:gridCol>
                <a:gridCol w="1531620">
                  <a:extLst>
                    <a:ext uri="{9D8B030D-6E8A-4147-A177-3AD203B41FA5}">
                      <a16:colId xmlns:a16="http://schemas.microsoft.com/office/drawing/2014/main" val="20001"/>
                    </a:ext>
                  </a:extLst>
                </a:gridCol>
              </a:tblGrid>
              <a:tr h="484632">
                <a:tc>
                  <a:txBody>
                    <a:bodyPr/>
                    <a:lstStyle/>
                    <a:p>
                      <a:pPr algn="ctr"/>
                      <a:r>
                        <a:rPr sz="850" b="1">
                          <a:solidFill>
                            <a:srgbClr val="FFFFFF"/>
                          </a:solidFill>
                          <a:latin typeface="Calibri"/>
                        </a:rPr>
                        <a:t>product_category</a:t>
                      </a:r>
                    </a:p>
                  </a:txBody>
                  <a:tcPr>
                    <a:solidFill>
                      <a:srgbClr val="002060"/>
                    </a:solidFill>
                  </a:tcPr>
                </a:tc>
                <a:tc>
                  <a:txBody>
                    <a:bodyPr/>
                    <a:lstStyle/>
                    <a:p>
                      <a:pPr algn="ctr"/>
                      <a:r>
                        <a:rPr sz="850" b="1">
                          <a:solidFill>
                            <a:srgbClr val="FFFFFF"/>
                          </a:solidFill>
                          <a:latin typeface="Calibri"/>
                        </a:rPr>
                        <a:t>total_revenue_usd</a:t>
                      </a:r>
                    </a:p>
                  </a:txBody>
                  <a:tcPr>
                    <a:solidFill>
                      <a:srgbClr val="002060"/>
                    </a:solidFill>
                  </a:tcPr>
                </a:tc>
                <a:extLst>
                  <a:ext uri="{0D108BD9-81ED-4DB2-BD59-A6C34878D82A}">
                    <a16:rowId xmlns:a16="http://schemas.microsoft.com/office/drawing/2014/main" val="10000"/>
                  </a:ext>
                </a:extLst>
              </a:tr>
              <a:tr h="484632">
                <a:tc>
                  <a:txBody>
                    <a:bodyPr/>
                    <a:lstStyle/>
                    <a:p>
                      <a:pPr algn="l"/>
                      <a:r>
                        <a:rPr sz="850" b="0">
                          <a:solidFill>
                            <a:srgbClr val="333333"/>
                          </a:solidFill>
                          <a:latin typeface="Calibri"/>
                        </a:rPr>
                        <a:t>ELECTRONICS</a:t>
                      </a:r>
                    </a:p>
                  </a:txBody>
                  <a:tcPr>
                    <a:solidFill>
                      <a:srgbClr val="FFFFFF"/>
                    </a:solidFill>
                  </a:tcPr>
                </a:tc>
                <a:tc>
                  <a:txBody>
                    <a:bodyPr/>
                    <a:lstStyle/>
                    <a:p>
                      <a:pPr algn="l"/>
                      <a:r>
                        <a:rPr sz="850" b="0">
                          <a:solidFill>
                            <a:srgbClr val="333333"/>
                          </a:solidFill>
                          <a:latin typeface="Calibri"/>
                        </a:rPr>
                        <a:t>1749.99</a:t>
                      </a:r>
                    </a:p>
                  </a:txBody>
                  <a:tcPr>
                    <a:solidFill>
                      <a:srgbClr val="FFFFFF"/>
                    </a:solidFill>
                  </a:tcPr>
                </a:tc>
                <a:extLst>
                  <a:ext uri="{0D108BD9-81ED-4DB2-BD59-A6C34878D82A}">
                    <a16:rowId xmlns:a16="http://schemas.microsoft.com/office/drawing/2014/main" val="10001"/>
                  </a:ext>
                </a:extLst>
              </a:tr>
              <a:tr h="484632">
                <a:tc>
                  <a:txBody>
                    <a:bodyPr/>
                    <a:lstStyle/>
                    <a:p>
                      <a:pPr algn="l"/>
                      <a:r>
                        <a:rPr sz="850" b="0">
                          <a:solidFill>
                            <a:srgbClr val="333333"/>
                          </a:solidFill>
                          <a:latin typeface="Calibri"/>
                        </a:rPr>
                        <a:t>ACCESSORIES</a:t>
                      </a:r>
                    </a:p>
                  </a:txBody>
                  <a:tcPr>
                    <a:solidFill>
                      <a:srgbClr val="F0F4FA"/>
                    </a:solidFill>
                  </a:tcPr>
                </a:tc>
                <a:tc>
                  <a:txBody>
                    <a:bodyPr/>
                    <a:lstStyle/>
                    <a:p>
                      <a:pPr algn="l"/>
                      <a:r>
                        <a:rPr sz="850" b="0">
                          <a:solidFill>
                            <a:srgbClr val="333333"/>
                          </a:solidFill>
                          <a:latin typeface="Calibri"/>
                        </a:rPr>
                        <a:t>149.50</a:t>
                      </a:r>
                    </a:p>
                  </a:txBody>
                  <a:tcPr>
                    <a:solidFill>
                      <a:srgbClr val="F0F4FA"/>
                    </a:solidFill>
                  </a:tcPr>
                </a:tc>
                <a:extLst>
                  <a:ext uri="{0D108BD9-81ED-4DB2-BD59-A6C34878D82A}">
                    <a16:rowId xmlns:a16="http://schemas.microsoft.com/office/drawing/2014/main" val="10002"/>
                  </a:ext>
                </a:extLst>
              </a:tr>
              <a:tr h="484632">
                <a:tc>
                  <a:txBody>
                    <a:bodyPr/>
                    <a:lstStyle/>
                    <a:p>
                      <a:pPr algn="l"/>
                      <a:r>
                        <a:rPr sz="850" b="0">
                          <a:solidFill>
                            <a:srgbClr val="333333"/>
                          </a:solidFill>
                          <a:latin typeface="Calibri"/>
                        </a:rPr>
                        <a:t>TRAVEL</a:t>
                      </a:r>
                    </a:p>
                  </a:txBody>
                  <a:tcPr>
                    <a:solidFill>
                      <a:srgbClr val="FFFFFF"/>
                    </a:solidFill>
                  </a:tcPr>
                </a:tc>
                <a:tc>
                  <a:txBody>
                    <a:bodyPr/>
                    <a:lstStyle/>
                    <a:p>
                      <a:pPr algn="l"/>
                      <a:r>
                        <a:rPr sz="850" b="0">
                          <a:solidFill>
                            <a:srgbClr val="333333"/>
                          </a:solidFill>
                          <a:latin typeface="Calibri"/>
                        </a:rPr>
                        <a:t>97.19</a:t>
                      </a:r>
                    </a:p>
                  </a:txBody>
                  <a:tcPr>
                    <a:solidFill>
                      <a:srgbClr val="FFFFFF"/>
                    </a:solidFill>
                  </a:tcPr>
                </a:tc>
                <a:extLst>
                  <a:ext uri="{0D108BD9-81ED-4DB2-BD59-A6C34878D82A}">
                    <a16:rowId xmlns:a16="http://schemas.microsoft.com/office/drawing/2014/main" val="10003"/>
                  </a:ext>
                </a:extLst>
              </a:tr>
              <a:tr h="484632">
                <a:tc>
                  <a:txBody>
                    <a:bodyPr/>
                    <a:lstStyle/>
                    <a:p>
                      <a:pPr algn="l"/>
                      <a:r>
                        <a:rPr sz="850" b="0">
                          <a:solidFill>
                            <a:srgbClr val="333333"/>
                          </a:solidFill>
                          <a:latin typeface="Calibri"/>
                        </a:rPr>
                        <a:t>SERVICES</a:t>
                      </a:r>
                    </a:p>
                  </a:txBody>
                  <a:tcPr>
                    <a:solidFill>
                      <a:srgbClr val="F0F4FA"/>
                    </a:solidFill>
                  </a:tcPr>
                </a:tc>
                <a:tc>
                  <a:txBody>
                    <a:bodyPr/>
                    <a:lstStyle/>
                    <a:p>
                      <a:pPr algn="l"/>
                      <a:r>
                        <a:rPr sz="850" b="0">
                          <a:solidFill>
                            <a:srgbClr val="333333"/>
                          </a:solidFill>
                          <a:latin typeface="Calibri"/>
                        </a:rPr>
                        <a:t>40.00</a:t>
                      </a:r>
                    </a:p>
                  </a:txBody>
                  <a:tcPr>
                    <a:solidFill>
                      <a:srgbClr val="F0F4FA"/>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110</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Customer Segment Revenue</a:t>
            </a:r>
          </a:p>
        </p:txBody>
      </p:sp>
      <p:sp>
        <p:nvSpPr>
          <p:cNvPr id="4" name="Rounded Rectangle 3"/>
          <p:cNvSpPr/>
          <p:nvPr/>
        </p:nvSpPr>
        <p:spPr>
          <a:xfrm>
            <a:off x="566928" y="1115568"/>
            <a:ext cx="4800600" cy="4114800"/>
          </a:xfrm>
          <a:prstGeom prst="roundRect">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100">
                <a:solidFill>
                  <a:srgbClr val="1B1B1B"/>
                </a:solidFill>
                <a:latin typeface="Consolas"/>
              </a:rPr>
              <a:t>segment_revenue = (
    enriched
    .filter(F.col("status") != "CANCELLED")
    .groupBy("region", "loyalty_tier")
    .agg(F.round(F.sum("amount_usd"), 2).alias("total_revenue_usd"))
    .orderBy("region", "loyalty_tier")
)</a:t>
            </a:r>
          </a:p>
        </p:txBody>
      </p:sp>
      <p:graphicFrame>
        <p:nvGraphicFramePr>
          <p:cNvPr id="5" name="Table 4"/>
          <p:cNvGraphicFramePr>
            <a:graphicFrameLocks noGrp="1"/>
          </p:cNvGraphicFramePr>
          <p:nvPr/>
        </p:nvGraphicFramePr>
        <p:xfrm>
          <a:off x="5532120" y="1298448"/>
          <a:ext cx="3063240" cy="2423160"/>
        </p:xfrm>
        <a:graphic>
          <a:graphicData uri="http://schemas.openxmlformats.org/drawingml/2006/table">
            <a:tbl>
              <a:tblPr firstRow="1" bandRow="1">
                <a:tableStyleId>{5C22544A-7EE6-4342-B048-85BDC9FD1C3A}</a:tableStyleId>
              </a:tblPr>
              <a:tblGrid>
                <a:gridCol w="1021080">
                  <a:extLst>
                    <a:ext uri="{9D8B030D-6E8A-4147-A177-3AD203B41FA5}">
                      <a16:colId xmlns:a16="http://schemas.microsoft.com/office/drawing/2014/main" val="20000"/>
                    </a:ext>
                  </a:extLst>
                </a:gridCol>
                <a:gridCol w="1021080">
                  <a:extLst>
                    <a:ext uri="{9D8B030D-6E8A-4147-A177-3AD203B41FA5}">
                      <a16:colId xmlns:a16="http://schemas.microsoft.com/office/drawing/2014/main" val="20001"/>
                    </a:ext>
                  </a:extLst>
                </a:gridCol>
                <a:gridCol w="1021080">
                  <a:extLst>
                    <a:ext uri="{9D8B030D-6E8A-4147-A177-3AD203B41FA5}">
                      <a16:colId xmlns:a16="http://schemas.microsoft.com/office/drawing/2014/main" val="20002"/>
                    </a:ext>
                  </a:extLst>
                </a:gridCol>
              </a:tblGrid>
              <a:tr h="403860">
                <a:tc>
                  <a:txBody>
                    <a:bodyPr/>
                    <a:lstStyle/>
                    <a:p>
                      <a:pPr algn="ctr"/>
                      <a:r>
                        <a:rPr sz="850" b="1">
                          <a:solidFill>
                            <a:srgbClr val="FFFFFF"/>
                          </a:solidFill>
                          <a:latin typeface="Calibri"/>
                        </a:rPr>
                        <a:t>region</a:t>
                      </a:r>
                    </a:p>
                  </a:txBody>
                  <a:tcPr>
                    <a:solidFill>
                      <a:srgbClr val="002060"/>
                    </a:solidFill>
                  </a:tcPr>
                </a:tc>
                <a:tc>
                  <a:txBody>
                    <a:bodyPr/>
                    <a:lstStyle/>
                    <a:p>
                      <a:pPr algn="ctr"/>
                      <a:r>
                        <a:rPr sz="850" b="1">
                          <a:solidFill>
                            <a:srgbClr val="FFFFFF"/>
                          </a:solidFill>
                          <a:latin typeface="Calibri"/>
                        </a:rPr>
                        <a:t>loyalty_tier</a:t>
                      </a:r>
                    </a:p>
                  </a:txBody>
                  <a:tcPr>
                    <a:solidFill>
                      <a:srgbClr val="002060"/>
                    </a:solidFill>
                  </a:tcPr>
                </a:tc>
                <a:tc>
                  <a:txBody>
                    <a:bodyPr/>
                    <a:lstStyle/>
                    <a:p>
                      <a:pPr algn="ctr"/>
                      <a:r>
                        <a:rPr sz="850" b="1">
                          <a:solidFill>
                            <a:srgbClr val="FFFFFF"/>
                          </a:solidFill>
                          <a:latin typeface="Calibri"/>
                        </a:rPr>
                        <a:t>total_revenue_usd</a:t>
                      </a:r>
                    </a:p>
                  </a:txBody>
                  <a:tcPr>
                    <a:solidFill>
                      <a:srgbClr val="002060"/>
                    </a:solidFill>
                  </a:tcPr>
                </a:tc>
                <a:extLst>
                  <a:ext uri="{0D108BD9-81ED-4DB2-BD59-A6C34878D82A}">
                    <a16:rowId xmlns:a16="http://schemas.microsoft.com/office/drawing/2014/main" val="10000"/>
                  </a:ext>
                </a:extLst>
              </a:tr>
              <a:tr h="403860">
                <a:tc>
                  <a:txBody>
                    <a:bodyPr/>
                    <a:lstStyle/>
                    <a:p>
                      <a:pPr algn="l"/>
                      <a:r>
                        <a:rPr sz="850" b="0">
                          <a:solidFill>
                            <a:srgbClr val="333333"/>
                          </a:solidFill>
                          <a:latin typeface="Calibri"/>
                        </a:rPr>
                        <a:t>EMEA</a:t>
                      </a:r>
                    </a:p>
                  </a:txBody>
                  <a:tcPr>
                    <a:solidFill>
                      <a:srgbClr val="FFFFFF"/>
                    </a:solidFill>
                  </a:tcPr>
                </a:tc>
                <a:tc>
                  <a:txBody>
                    <a:bodyPr/>
                    <a:lstStyle/>
                    <a:p>
                      <a:pPr algn="l"/>
                      <a:r>
                        <a:rPr sz="850" b="0">
                          <a:solidFill>
                            <a:srgbClr val="333333"/>
                          </a:solidFill>
                          <a:latin typeface="Calibri"/>
                        </a:rPr>
                        <a:t>Bronze</a:t>
                      </a:r>
                    </a:p>
                  </a:txBody>
                  <a:tcPr>
                    <a:solidFill>
                      <a:srgbClr val="FFFFFF"/>
                    </a:solidFill>
                  </a:tcPr>
                </a:tc>
                <a:tc>
                  <a:txBody>
                    <a:bodyPr/>
                    <a:lstStyle/>
                    <a:p>
                      <a:pPr algn="l"/>
                      <a:r>
                        <a:rPr sz="850" b="0">
                          <a:solidFill>
                            <a:srgbClr val="333333"/>
                          </a:solidFill>
                          <a:latin typeface="Calibri"/>
                        </a:rPr>
                        <a:t>149.50</a:t>
                      </a:r>
                    </a:p>
                  </a:txBody>
                  <a:tcPr>
                    <a:solidFill>
                      <a:srgbClr val="FFFFFF"/>
                    </a:solidFill>
                  </a:tcPr>
                </a:tc>
                <a:extLst>
                  <a:ext uri="{0D108BD9-81ED-4DB2-BD59-A6C34878D82A}">
                    <a16:rowId xmlns:a16="http://schemas.microsoft.com/office/drawing/2014/main" val="10001"/>
                  </a:ext>
                </a:extLst>
              </a:tr>
              <a:tr h="403860">
                <a:tc>
                  <a:txBody>
                    <a:bodyPr/>
                    <a:lstStyle/>
                    <a:p>
                      <a:pPr algn="l"/>
                      <a:r>
                        <a:rPr sz="850" b="0">
                          <a:solidFill>
                            <a:srgbClr val="333333"/>
                          </a:solidFill>
                          <a:latin typeface="Calibri"/>
                        </a:rPr>
                        <a:t>EMEA</a:t>
                      </a:r>
                    </a:p>
                  </a:txBody>
                  <a:tcPr>
                    <a:solidFill>
                      <a:srgbClr val="F0F4FA"/>
                    </a:solidFill>
                  </a:tcPr>
                </a:tc>
                <a:tc>
                  <a:txBody>
                    <a:bodyPr/>
                    <a:lstStyle/>
                    <a:p>
                      <a:pPr algn="l"/>
                      <a:r>
                        <a:rPr sz="850" b="0">
                          <a:solidFill>
                            <a:srgbClr val="333333"/>
                          </a:solidFill>
                          <a:latin typeface="Calibri"/>
                        </a:rPr>
                        <a:t>Gold</a:t>
                      </a:r>
                    </a:p>
                  </a:txBody>
                  <a:tcPr>
                    <a:solidFill>
                      <a:srgbClr val="F0F4FA"/>
                    </a:solidFill>
                  </a:tcPr>
                </a:tc>
                <a:tc>
                  <a:txBody>
                    <a:bodyPr/>
                    <a:lstStyle/>
                    <a:p>
                      <a:pPr algn="l"/>
                      <a:r>
                        <a:rPr sz="850" b="0">
                          <a:solidFill>
                            <a:srgbClr val="333333"/>
                          </a:solidFill>
                          <a:latin typeface="Calibri"/>
                        </a:rPr>
                        <a:t>97.19</a:t>
                      </a:r>
                    </a:p>
                  </a:txBody>
                  <a:tcPr>
                    <a:solidFill>
                      <a:srgbClr val="F0F4FA"/>
                    </a:solidFill>
                  </a:tcPr>
                </a:tc>
                <a:extLst>
                  <a:ext uri="{0D108BD9-81ED-4DB2-BD59-A6C34878D82A}">
                    <a16:rowId xmlns:a16="http://schemas.microsoft.com/office/drawing/2014/main" val="10002"/>
                  </a:ext>
                </a:extLst>
              </a:tr>
              <a:tr h="403860">
                <a:tc>
                  <a:txBody>
                    <a:bodyPr/>
                    <a:lstStyle/>
                    <a:p>
                      <a:pPr algn="l"/>
                      <a:r>
                        <a:rPr sz="850" b="0">
                          <a:solidFill>
                            <a:srgbClr val="333333"/>
                          </a:solidFill>
                          <a:latin typeface="Calibri"/>
                        </a:rPr>
                        <a:t>MEA</a:t>
                      </a:r>
                    </a:p>
                  </a:txBody>
                  <a:tcPr>
                    <a:solidFill>
                      <a:srgbClr val="FFFFFF"/>
                    </a:solidFill>
                  </a:tcPr>
                </a:tc>
                <a:tc>
                  <a:txBody>
                    <a:bodyPr/>
                    <a:lstStyle/>
                    <a:p>
                      <a:pPr algn="l"/>
                      <a:r>
                        <a:rPr sz="850" b="0">
                          <a:solidFill>
                            <a:srgbClr val="333333"/>
                          </a:solidFill>
                          <a:latin typeface="Calibri"/>
                        </a:rPr>
                        <a:t>Silver</a:t>
                      </a:r>
                    </a:p>
                  </a:txBody>
                  <a:tcPr>
                    <a:solidFill>
                      <a:srgbClr val="FFFFFF"/>
                    </a:solidFill>
                  </a:tcPr>
                </a:tc>
                <a:tc>
                  <a:txBody>
                    <a:bodyPr/>
                    <a:lstStyle/>
                    <a:p>
                      <a:pPr algn="l"/>
                      <a:r>
                        <a:rPr sz="850" b="0">
                          <a:solidFill>
                            <a:srgbClr val="333333"/>
                          </a:solidFill>
                          <a:latin typeface="Calibri"/>
                        </a:rPr>
                        <a:t>40.00</a:t>
                      </a:r>
                    </a:p>
                  </a:txBody>
                  <a:tcPr>
                    <a:solidFill>
                      <a:srgbClr val="FFFFFF"/>
                    </a:solidFill>
                  </a:tcPr>
                </a:tc>
                <a:extLst>
                  <a:ext uri="{0D108BD9-81ED-4DB2-BD59-A6C34878D82A}">
                    <a16:rowId xmlns:a16="http://schemas.microsoft.com/office/drawing/2014/main" val="10003"/>
                  </a:ext>
                </a:extLst>
              </a:tr>
              <a:tr h="403860">
                <a:tc>
                  <a:txBody>
                    <a:bodyPr/>
                    <a:lstStyle/>
                    <a:p>
                      <a:pPr algn="l"/>
                      <a:r>
                        <a:rPr sz="850" b="0">
                          <a:solidFill>
                            <a:srgbClr val="333333"/>
                          </a:solidFill>
                          <a:latin typeface="Calibri"/>
                        </a:rPr>
                        <a:t>NA</a:t>
                      </a:r>
                    </a:p>
                  </a:txBody>
                  <a:tcPr>
                    <a:solidFill>
                      <a:srgbClr val="F0F4FA"/>
                    </a:solidFill>
                  </a:tcPr>
                </a:tc>
                <a:tc>
                  <a:txBody>
                    <a:bodyPr/>
                    <a:lstStyle/>
                    <a:p>
                      <a:pPr algn="l"/>
                      <a:r>
                        <a:rPr sz="850" b="0">
                          <a:solidFill>
                            <a:srgbClr val="333333"/>
                          </a:solidFill>
                          <a:latin typeface="Calibri"/>
                        </a:rPr>
                        <a:t>Gold</a:t>
                      </a:r>
                    </a:p>
                  </a:txBody>
                  <a:tcPr>
                    <a:solidFill>
                      <a:srgbClr val="F0F4FA"/>
                    </a:solidFill>
                  </a:tcPr>
                </a:tc>
                <a:tc>
                  <a:txBody>
                    <a:bodyPr/>
                    <a:lstStyle/>
                    <a:p>
                      <a:pPr algn="l"/>
                      <a:r>
                        <a:rPr sz="850" b="0">
                          <a:solidFill>
                            <a:srgbClr val="333333"/>
                          </a:solidFill>
                          <a:latin typeface="Calibri"/>
                        </a:rPr>
                        <a:t>1299.99</a:t>
                      </a:r>
                    </a:p>
                  </a:txBody>
                  <a:tcPr>
                    <a:solidFill>
                      <a:srgbClr val="F0F4FA"/>
                    </a:solidFill>
                  </a:tcPr>
                </a:tc>
                <a:extLst>
                  <a:ext uri="{0D108BD9-81ED-4DB2-BD59-A6C34878D82A}">
                    <a16:rowId xmlns:a16="http://schemas.microsoft.com/office/drawing/2014/main" val="10004"/>
                  </a:ext>
                </a:extLst>
              </a:tr>
              <a:tr h="403860">
                <a:tc>
                  <a:txBody>
                    <a:bodyPr/>
                    <a:lstStyle/>
                    <a:p>
                      <a:pPr algn="l"/>
                      <a:r>
                        <a:rPr sz="850" b="0">
                          <a:solidFill>
                            <a:srgbClr val="333333"/>
                          </a:solidFill>
                          <a:latin typeface="Calibri"/>
                        </a:rPr>
                        <a:t>UNKNOWN</a:t>
                      </a:r>
                    </a:p>
                  </a:txBody>
                  <a:tcPr>
                    <a:solidFill>
                      <a:srgbClr val="FFFFFF"/>
                    </a:solidFill>
                  </a:tcPr>
                </a:tc>
                <a:tc>
                  <a:txBody>
                    <a:bodyPr/>
                    <a:lstStyle/>
                    <a:p>
                      <a:pPr algn="l"/>
                      <a:r>
                        <a:rPr sz="850" b="0">
                          <a:solidFill>
                            <a:srgbClr val="333333"/>
                          </a:solidFill>
                          <a:latin typeface="Calibri"/>
                        </a:rPr>
                        <a:t>UNKNOWN</a:t>
                      </a:r>
                    </a:p>
                  </a:txBody>
                  <a:tcPr>
                    <a:solidFill>
                      <a:srgbClr val="FFFFFF"/>
                    </a:solidFill>
                  </a:tcPr>
                </a:tc>
                <a:tc>
                  <a:txBody>
                    <a:bodyPr/>
                    <a:lstStyle/>
                    <a:p>
                      <a:pPr algn="l"/>
                      <a:r>
                        <a:rPr sz="850" b="0">
                          <a:solidFill>
                            <a:srgbClr val="333333"/>
                          </a:solidFill>
                          <a:latin typeface="Calibri"/>
                        </a:rPr>
                        <a:t>450.00</a:t>
                      </a:r>
                    </a:p>
                  </a:txBody>
                  <a:tcP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111</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Revenue Rules: Excluding CANCELLED Orders</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Cancelled orders should not contribute to booked revenue.</a:t>
            </a:r>
          </a:p>
          <a:p>
            <a:pPr>
              <a:spcAft>
                <a:spcPts val="500"/>
              </a:spcAft>
              <a:defRPr sz="1300">
                <a:solidFill>
                  <a:srgbClr val="333333"/>
                </a:solidFill>
                <a:latin typeface="Calibri"/>
              </a:defRPr>
            </a:pPr>
            <a:r>
              <a:t>• The rule must be applied consistently across every Gold revenue table.</a:t>
            </a:r>
          </a:p>
          <a:p>
            <a:pPr>
              <a:spcAft>
                <a:spcPts val="500"/>
              </a:spcAft>
              <a:defRPr sz="1300">
                <a:solidFill>
                  <a:srgbClr val="333333"/>
                </a:solidFill>
                <a:latin typeface="Calibri"/>
              </a:defRPr>
            </a:pPr>
            <a:r>
              <a:t>• Centralizing the filter reduces metric drift between dashboards.</a:t>
            </a:r>
          </a:p>
        </p:txBody>
      </p:sp>
      <p:sp>
        <p:nvSpPr>
          <p:cNvPr id="5" name="Rounded Rectangle 4"/>
          <p:cNvSpPr/>
          <p:nvPr/>
        </p:nvSpPr>
        <p:spPr>
          <a:xfrm>
            <a:off x="594360" y="2633472"/>
            <a:ext cx="7955279" cy="3337560"/>
          </a:xfrm>
          <a:prstGeom prst="roundRect">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100">
                <a:solidFill>
                  <a:srgbClr val="1B1B1B"/>
                </a:solidFill>
                <a:latin typeface="Consolas"/>
              </a:rPr>
              <a:t>revenue_base = enriched.filter(
    F.col("status") != F.lit("CANCELLED")
)
# All revenue KPIs aggregate from revenue_base.</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112</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Code Walkthrough: Lab 10 gold_frames Function</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Create one reusable base DataFrame for valid revenue rows.</a:t>
            </a:r>
          </a:p>
          <a:p>
            <a:pPr>
              <a:spcAft>
                <a:spcPts val="500"/>
              </a:spcAft>
              <a:defRPr sz="1300">
                <a:solidFill>
                  <a:srgbClr val="333333"/>
                </a:solidFill>
                <a:latin typeface="Calibri"/>
              </a:defRPr>
            </a:pPr>
            <a:r>
              <a:t>• Build daily, category, and segment aggregates from the same base.</a:t>
            </a:r>
          </a:p>
          <a:p>
            <a:pPr>
              <a:spcAft>
                <a:spcPts val="500"/>
              </a:spcAft>
              <a:defRPr sz="1300">
                <a:solidFill>
                  <a:srgbClr val="333333"/>
                </a:solidFill>
                <a:latin typeface="Calibri"/>
              </a:defRPr>
            </a:pPr>
            <a:r>
              <a:t>• Return named DataFrames so orchestration can write each output.</a:t>
            </a:r>
          </a:p>
        </p:txBody>
      </p:sp>
      <p:sp>
        <p:nvSpPr>
          <p:cNvPr id="5" name="Rounded Rectangle 4"/>
          <p:cNvSpPr/>
          <p:nvPr/>
        </p:nvSpPr>
        <p:spPr>
          <a:xfrm>
            <a:off x="594360" y="2633472"/>
            <a:ext cx="7955279" cy="3337560"/>
          </a:xfrm>
          <a:prstGeom prst="roundRect">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100">
                <a:solidFill>
                  <a:srgbClr val="1B1B1B"/>
                </a:solidFill>
                <a:latin typeface="Consolas"/>
              </a:rPr>
              <a:t>def gold_frames(enriched):
    revenue_base = enriched.filter(F.col("status") != "CANCELLED")
    return {
        "daily_revenue": daily_revenue(revenue_base),
        "category_revenue": category_revenue(revenue_base),
        "segment_revenue": segment_revenue(revenue_base),
    }</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113</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Gold Layer Output Structure</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Separate folders make each Gold table independently consumable.</a:t>
            </a:r>
          </a:p>
          <a:p>
            <a:pPr>
              <a:spcAft>
                <a:spcPts val="500"/>
              </a:spcAft>
              <a:defRPr sz="1300">
                <a:solidFill>
                  <a:srgbClr val="333333"/>
                </a:solidFill>
                <a:latin typeface="Calibri"/>
              </a:defRPr>
            </a:pPr>
            <a:r>
              <a:t>• A manifest can record counts, write paths, and run status.</a:t>
            </a:r>
          </a:p>
          <a:p>
            <a:pPr>
              <a:spcAft>
                <a:spcPts val="500"/>
              </a:spcAft>
              <a:defRPr sz="1300">
                <a:solidFill>
                  <a:srgbClr val="333333"/>
                </a:solidFill>
                <a:latin typeface="Calibri"/>
              </a:defRPr>
            </a:pPr>
            <a:r>
              <a:t>• The folder layout mirrors how BI tools discover curated datasets.</a:t>
            </a:r>
          </a:p>
        </p:txBody>
      </p:sp>
      <p:sp>
        <p:nvSpPr>
          <p:cNvPr id="5" name="Rounded Rectangle 4"/>
          <p:cNvSpPr/>
          <p:nvPr/>
        </p:nvSpPr>
        <p:spPr>
          <a:xfrm>
            <a:off x="1417320" y="2971800"/>
            <a:ext cx="6126480" cy="329184"/>
          </a:xfrm>
          <a:prstGeom prst="roundRect">
            <a:avLst/>
          </a:prstGeom>
          <a:solidFill>
            <a:srgbClr val="FFD700"/>
          </a:solidFill>
          <a:ln w="12700">
            <a:solidFill>
              <a:srgbClr val="B7950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19" b="1">
                <a:solidFill>
                  <a:srgbClr val="333333"/>
                </a:solidFill>
                <a:latin typeface="Calibri"/>
              </a:rPr>
              <a:t>[folder] lake/gold/</a:t>
            </a:r>
          </a:p>
        </p:txBody>
      </p:sp>
      <p:sp>
        <p:nvSpPr>
          <p:cNvPr id="6" name="Rounded Rectangle 5"/>
          <p:cNvSpPr/>
          <p:nvPr/>
        </p:nvSpPr>
        <p:spPr>
          <a:xfrm>
            <a:off x="2011680" y="3447288"/>
            <a:ext cx="5532120" cy="329184"/>
          </a:xfrm>
          <a:prstGeom prst="roundRect">
            <a:avLst/>
          </a:prstGeom>
          <a:solidFill>
            <a:srgbClr val="FFF9C4"/>
          </a:solidFill>
          <a:ln w="12700">
            <a:solidFill>
              <a:srgbClr val="B7950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19" b="1">
                <a:solidFill>
                  <a:srgbClr val="333333"/>
                </a:solidFill>
                <a:latin typeface="Calibri"/>
              </a:rPr>
              <a:t>[folder] daily_revenue/      part-0000.parquet</a:t>
            </a:r>
          </a:p>
        </p:txBody>
      </p:sp>
      <p:sp>
        <p:nvSpPr>
          <p:cNvPr id="7" name="Rounded Rectangle 6"/>
          <p:cNvSpPr/>
          <p:nvPr/>
        </p:nvSpPr>
        <p:spPr>
          <a:xfrm>
            <a:off x="2011680" y="3922776"/>
            <a:ext cx="5532120" cy="329184"/>
          </a:xfrm>
          <a:prstGeom prst="roundRect">
            <a:avLst/>
          </a:prstGeom>
          <a:solidFill>
            <a:srgbClr val="FFF9C4"/>
          </a:solidFill>
          <a:ln w="12700">
            <a:solidFill>
              <a:srgbClr val="B7950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19" b="1">
                <a:solidFill>
                  <a:srgbClr val="333333"/>
                </a:solidFill>
                <a:latin typeface="Calibri"/>
              </a:rPr>
              <a:t>[folder] category_revenue/   part-0000.parquet</a:t>
            </a:r>
          </a:p>
        </p:txBody>
      </p:sp>
      <p:sp>
        <p:nvSpPr>
          <p:cNvPr id="8" name="Rounded Rectangle 7"/>
          <p:cNvSpPr/>
          <p:nvPr/>
        </p:nvSpPr>
        <p:spPr>
          <a:xfrm>
            <a:off x="2011680" y="4398264"/>
            <a:ext cx="5532120" cy="329184"/>
          </a:xfrm>
          <a:prstGeom prst="roundRect">
            <a:avLst/>
          </a:prstGeom>
          <a:solidFill>
            <a:srgbClr val="FFF9C4"/>
          </a:solidFill>
          <a:ln w="12700">
            <a:solidFill>
              <a:srgbClr val="B7950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19" b="1">
                <a:solidFill>
                  <a:srgbClr val="333333"/>
                </a:solidFill>
                <a:latin typeface="Calibri"/>
              </a:rPr>
              <a:t>[folder] segment_revenue/    part-0000.parquet</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114</a:t>
            </a:r>
          </a:p>
        </p:txBody>
      </p:sp>
      <p:sp>
        <p:nvSpPr>
          <p:cNvPr id="3" name="Rectangle 2"/>
          <p:cNvSpPr/>
          <p:nvPr/>
        </p:nvSpPr>
        <p:spPr>
          <a:xfrm>
            <a:off x="201168" y="868680"/>
            <a:ext cx="73152" cy="5440680"/>
          </a:xfrm>
          <a:prstGeom prst="rect">
            <a:avLst/>
          </a:prstGeom>
          <a:solidFill>
            <a:srgbClr val="E67E22"/>
          </a:solidFill>
          <a:ln w="127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Mini-Exercise: Gold KPI Design</a:t>
            </a:r>
          </a:p>
        </p:txBody>
      </p:sp>
      <p:sp>
        <p:nvSpPr>
          <p:cNvPr id="5" name="TextBox 4"/>
          <p:cNvSpPr txBox="1"/>
          <p:nvPr/>
        </p:nvSpPr>
        <p:spPr>
          <a:xfrm>
            <a:off x="658368" y="960120"/>
            <a:ext cx="7772400" cy="502920"/>
          </a:xfrm>
          <a:prstGeom prst="rect">
            <a:avLst/>
          </a:prstGeom>
          <a:noFill/>
        </p:spPr>
        <p:txBody>
          <a:bodyPr wrap="square" lIns="73152" tIns="36576" rIns="73152" bIns="36576" anchor="t">
            <a:spAutoFit/>
          </a:bodyPr>
          <a:lstStyle/>
          <a:p>
            <a:pPr algn="l"/>
            <a:r>
              <a:rPr sz="1600" b="0">
                <a:solidFill>
                  <a:srgbClr val="585858"/>
                </a:solidFill>
                <a:latin typeface="Calibri"/>
              </a:rPr>
              <a:t>Fill in the business choices for average order value by channel.</a:t>
            </a:r>
          </a:p>
        </p:txBody>
      </p:sp>
      <p:sp>
        <p:nvSpPr>
          <p:cNvPr id="6" name="Rounded Rectangle 5"/>
          <p:cNvSpPr/>
          <p:nvPr/>
        </p:nvSpPr>
        <p:spPr>
          <a:xfrm>
            <a:off x="822960" y="1783080"/>
            <a:ext cx="7498079" cy="457200"/>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1. KPI grain: ______________________________</a:t>
            </a:r>
          </a:p>
        </p:txBody>
      </p:sp>
      <p:sp>
        <p:nvSpPr>
          <p:cNvPr id="7" name="Rounded Rectangle 6"/>
          <p:cNvSpPr/>
          <p:nvPr/>
        </p:nvSpPr>
        <p:spPr>
          <a:xfrm>
            <a:off x="822960" y="2496312"/>
            <a:ext cx="7498079" cy="457200"/>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2. Revenue exclusion rule: ______________________________</a:t>
            </a:r>
          </a:p>
        </p:txBody>
      </p:sp>
      <p:sp>
        <p:nvSpPr>
          <p:cNvPr id="8" name="Rounded Rectangle 7"/>
          <p:cNvSpPr/>
          <p:nvPr/>
        </p:nvSpPr>
        <p:spPr>
          <a:xfrm>
            <a:off x="822960" y="3209544"/>
            <a:ext cx="7498079" cy="457200"/>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3. Average order value formula: ______________________________</a:t>
            </a:r>
          </a:p>
        </p:txBody>
      </p:sp>
      <p:sp>
        <p:nvSpPr>
          <p:cNvPr id="9" name="Rounded Rectangle 8"/>
          <p:cNvSpPr/>
          <p:nvPr/>
        </p:nvSpPr>
        <p:spPr>
          <a:xfrm>
            <a:off x="822960" y="5166360"/>
            <a:ext cx="7498079" cy="457200"/>
          </a:xfrm>
          <a:prstGeom prst="roundRect">
            <a:avLst/>
          </a:prstGeom>
          <a:solidFill>
            <a:srgbClr val="FFF8E1"/>
          </a:solidFill>
          <a:ln w="12700">
            <a:solidFill>
              <a:srgbClr val="F9A82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200" b="0">
                <a:solidFill>
                  <a:srgbClr val="333333"/>
                </a:solidFill>
                <a:latin typeface="Calibri"/>
              </a:rPr>
              <a:t>Hint: Gold tables should answer a business question at a clear grain.</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115</a:t>
            </a:r>
          </a:p>
        </p:txBody>
      </p:sp>
      <p:sp>
        <p:nvSpPr>
          <p:cNvPr id="3" name="Rectangle 2"/>
          <p:cNvSpPr/>
          <p:nvPr/>
        </p:nvSpPr>
        <p:spPr>
          <a:xfrm>
            <a:off x="201168" y="868680"/>
            <a:ext cx="73152" cy="5440680"/>
          </a:xfrm>
          <a:prstGeom prst="rect">
            <a:avLst/>
          </a:prstGeom>
          <a:solidFill>
            <a:srgbClr val="27AE60"/>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Answers: Gold KPI Design</a:t>
            </a:r>
          </a:p>
        </p:txBody>
      </p:sp>
      <p:sp>
        <p:nvSpPr>
          <p:cNvPr id="5" name="TextBox 4"/>
          <p:cNvSpPr txBox="1"/>
          <p:nvPr/>
        </p:nvSpPr>
        <p:spPr>
          <a:xfrm>
            <a:off x="658368" y="960120"/>
            <a:ext cx="7772400" cy="384048"/>
          </a:xfrm>
          <a:prstGeom prst="rect">
            <a:avLst/>
          </a:prstGeom>
          <a:noFill/>
        </p:spPr>
        <p:txBody>
          <a:bodyPr wrap="square" lIns="73152" tIns="36576" rIns="73152" bIns="36576" anchor="t">
            <a:spAutoFit/>
          </a:bodyPr>
          <a:lstStyle/>
          <a:p>
            <a:pPr algn="l"/>
            <a:r>
              <a:rPr sz="1600" b="0">
                <a:solidFill>
                  <a:srgbClr val="585858"/>
                </a:solidFill>
                <a:latin typeface="Calibri"/>
              </a:rPr>
              <a:t>Compare your blanks with the reference answers.</a:t>
            </a:r>
          </a:p>
        </p:txBody>
      </p:sp>
      <p:sp>
        <p:nvSpPr>
          <p:cNvPr id="6" name="Rounded Rectangle 5"/>
          <p:cNvSpPr/>
          <p:nvPr/>
        </p:nvSpPr>
        <p:spPr>
          <a:xfrm>
            <a:off x="822960" y="1664208"/>
            <a:ext cx="7498079" cy="457200"/>
          </a:xfrm>
          <a:prstGeom prst="roundRect">
            <a:avLst/>
          </a:prstGeom>
          <a:solidFill>
            <a:srgbClr val="E9F7EF"/>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1">
                <a:solidFill>
                  <a:srgbClr val="333333"/>
                </a:solidFill>
                <a:latin typeface="Calibri"/>
              </a:rPr>
              <a:t>✓ KPI grain: event_date + channel</a:t>
            </a:r>
          </a:p>
        </p:txBody>
      </p:sp>
      <p:sp>
        <p:nvSpPr>
          <p:cNvPr id="7" name="Rounded Rectangle 6"/>
          <p:cNvSpPr/>
          <p:nvPr/>
        </p:nvSpPr>
        <p:spPr>
          <a:xfrm>
            <a:off x="822960" y="2377440"/>
            <a:ext cx="7498079" cy="457200"/>
          </a:xfrm>
          <a:prstGeom prst="roundRect">
            <a:avLst/>
          </a:prstGeom>
          <a:solidFill>
            <a:srgbClr val="E9F7EF"/>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1">
                <a:solidFill>
                  <a:srgbClr val="333333"/>
                </a:solidFill>
                <a:latin typeface="Calibri"/>
              </a:rPr>
              <a:t>✓ Revenue exclusion rule: exclude CANCELLED orders</a:t>
            </a:r>
          </a:p>
        </p:txBody>
      </p:sp>
      <p:sp>
        <p:nvSpPr>
          <p:cNvPr id="8" name="Rounded Rectangle 7"/>
          <p:cNvSpPr/>
          <p:nvPr/>
        </p:nvSpPr>
        <p:spPr>
          <a:xfrm>
            <a:off x="822960" y="3090672"/>
            <a:ext cx="7498079" cy="457200"/>
          </a:xfrm>
          <a:prstGeom prst="roundRect">
            <a:avLst/>
          </a:prstGeom>
          <a:solidFill>
            <a:srgbClr val="E9F7EF"/>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1">
                <a:solidFill>
                  <a:srgbClr val="333333"/>
                </a:solidFill>
                <a:latin typeface="Calibri"/>
              </a:rPr>
              <a:t>✓ Average order value formula: total_revenue_usd / order_count</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116</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Quiz: Which Orders Are Excluded from Revenue Calculations?</a:t>
            </a:r>
          </a:p>
        </p:txBody>
      </p:sp>
      <p:sp>
        <p:nvSpPr>
          <p:cNvPr id="4" name="TextBox 3"/>
          <p:cNvSpPr txBox="1"/>
          <p:nvPr/>
        </p:nvSpPr>
        <p:spPr>
          <a:xfrm>
            <a:off x="658368" y="914400"/>
            <a:ext cx="7863840" cy="292608"/>
          </a:xfrm>
          <a:prstGeom prst="rect">
            <a:avLst/>
          </a:prstGeom>
          <a:noFill/>
        </p:spPr>
        <p:txBody>
          <a:bodyPr wrap="square" lIns="73152" tIns="36576" rIns="73152" bIns="36576" anchor="t">
            <a:spAutoFit/>
          </a:bodyPr>
          <a:lstStyle/>
          <a:p>
            <a:pPr algn="l"/>
            <a:r>
              <a:rPr sz="1600" b="0">
                <a:solidFill>
                  <a:srgbClr val="585858"/>
                </a:solidFill>
                <a:latin typeface="Calibri"/>
              </a:rPr>
              <a:t>Choose the best answer.</a:t>
            </a:r>
          </a:p>
        </p:txBody>
      </p:sp>
      <p:sp>
        <p:nvSpPr>
          <p:cNvPr id="5" name="Rounded Rectangle 4"/>
          <p:cNvSpPr/>
          <p:nvPr/>
        </p:nvSpPr>
        <p:spPr>
          <a:xfrm>
            <a:off x="822960" y="1481328"/>
            <a:ext cx="7498079" cy="420624"/>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A. All SHIPPED orders.</a:t>
            </a:r>
          </a:p>
        </p:txBody>
      </p:sp>
      <p:sp>
        <p:nvSpPr>
          <p:cNvPr id="6" name="Rounded Rectangle 5"/>
          <p:cNvSpPr/>
          <p:nvPr/>
        </p:nvSpPr>
        <p:spPr>
          <a:xfrm>
            <a:off x="822960" y="2139696"/>
            <a:ext cx="7498079" cy="420624"/>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B. All PLACED orders.</a:t>
            </a:r>
          </a:p>
        </p:txBody>
      </p:sp>
      <p:sp>
        <p:nvSpPr>
          <p:cNvPr id="7" name="Rounded Rectangle 6"/>
          <p:cNvSpPr/>
          <p:nvPr/>
        </p:nvSpPr>
        <p:spPr>
          <a:xfrm>
            <a:off x="822960" y="2798064"/>
            <a:ext cx="7498079" cy="420624"/>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C. All CANCELLED orders.</a:t>
            </a:r>
          </a:p>
        </p:txBody>
      </p:sp>
      <p:sp>
        <p:nvSpPr>
          <p:cNvPr id="8" name="Rounded Rectangle 7"/>
          <p:cNvSpPr/>
          <p:nvPr/>
        </p:nvSpPr>
        <p:spPr>
          <a:xfrm>
            <a:off x="822960" y="3456432"/>
            <a:ext cx="7498079" cy="420624"/>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D. All orders with matched customers.</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117</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Answer: Which Orders Are Excluded from Revenue Calculations?</a:t>
            </a:r>
          </a:p>
        </p:txBody>
      </p:sp>
      <p:sp>
        <p:nvSpPr>
          <p:cNvPr id="4" name="TextBox 3"/>
          <p:cNvSpPr txBox="1"/>
          <p:nvPr/>
        </p:nvSpPr>
        <p:spPr>
          <a:xfrm>
            <a:off x="658368" y="914400"/>
            <a:ext cx="7863840" cy="292608"/>
          </a:xfrm>
          <a:prstGeom prst="rect">
            <a:avLst/>
          </a:prstGeom>
          <a:noFill/>
        </p:spPr>
        <p:txBody>
          <a:bodyPr wrap="square" lIns="73152" tIns="36576" rIns="73152" bIns="36576" anchor="t">
            <a:spAutoFit/>
          </a:bodyPr>
          <a:lstStyle/>
          <a:p>
            <a:pPr algn="l"/>
            <a:r>
              <a:rPr sz="1600" b="0">
                <a:solidFill>
                  <a:srgbClr val="585858"/>
                </a:solidFill>
                <a:latin typeface="Calibri"/>
              </a:rPr>
              <a:t>Review the correct answer and why it matters.</a:t>
            </a:r>
          </a:p>
        </p:txBody>
      </p:sp>
      <p:sp>
        <p:nvSpPr>
          <p:cNvPr id="5" name="Rounded Rectangle 4"/>
          <p:cNvSpPr/>
          <p:nvPr/>
        </p:nvSpPr>
        <p:spPr>
          <a:xfrm>
            <a:off x="822960" y="1481328"/>
            <a:ext cx="7498079" cy="420624"/>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A. All SHIPPED orders.</a:t>
            </a:r>
          </a:p>
        </p:txBody>
      </p:sp>
      <p:sp>
        <p:nvSpPr>
          <p:cNvPr id="6" name="Rounded Rectangle 5"/>
          <p:cNvSpPr/>
          <p:nvPr/>
        </p:nvSpPr>
        <p:spPr>
          <a:xfrm>
            <a:off x="822960" y="2139696"/>
            <a:ext cx="7498079" cy="420624"/>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B. All PLACED orders.</a:t>
            </a:r>
          </a:p>
        </p:txBody>
      </p:sp>
      <p:sp>
        <p:nvSpPr>
          <p:cNvPr id="7" name="Rounded Rectangle 6"/>
          <p:cNvSpPr/>
          <p:nvPr/>
        </p:nvSpPr>
        <p:spPr>
          <a:xfrm>
            <a:off x="822960" y="2798064"/>
            <a:ext cx="7498079" cy="420624"/>
          </a:xfrm>
          <a:prstGeom prst="roundRect">
            <a:avLst/>
          </a:prstGeom>
          <a:solidFill>
            <a:srgbClr val="E9F7EF"/>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1">
                <a:solidFill>
                  <a:srgbClr val="333333"/>
                </a:solidFill>
                <a:latin typeface="Calibri"/>
              </a:rPr>
              <a:t>✓ C. All CANCELLED orders.</a:t>
            </a:r>
          </a:p>
        </p:txBody>
      </p:sp>
      <p:sp>
        <p:nvSpPr>
          <p:cNvPr id="8" name="Rounded Rectangle 7"/>
          <p:cNvSpPr/>
          <p:nvPr/>
        </p:nvSpPr>
        <p:spPr>
          <a:xfrm>
            <a:off x="822960" y="3456432"/>
            <a:ext cx="7498079" cy="420624"/>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a:solidFill>
                  <a:srgbClr val="333333"/>
                </a:solidFill>
                <a:latin typeface="Calibri"/>
              </a:rPr>
              <a:t>D. All orders with matched customers.</a:t>
            </a:r>
          </a:p>
        </p:txBody>
      </p:sp>
      <p:sp>
        <p:nvSpPr>
          <p:cNvPr id="9" name="Rounded Rectangle 8"/>
          <p:cNvSpPr/>
          <p:nvPr/>
        </p:nvSpPr>
        <p:spPr>
          <a:xfrm>
            <a:off x="822960" y="5074920"/>
            <a:ext cx="7498079" cy="621792"/>
          </a:xfrm>
          <a:prstGeom prst="roundRect">
            <a:avLst/>
          </a:prstGeom>
          <a:solidFill>
            <a:srgbClr val="F5FBF7"/>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200" b="0">
                <a:solidFill>
                  <a:srgbClr val="333333"/>
                </a:solidFill>
                <a:latin typeface="Calibri"/>
              </a:rPr>
              <a:t>Correct: CANCELLED orders are excluded from the Gold revenue base.</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118</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Real-World Gold Layer</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Dashboards read Gold tables for fast and governed metrics.</a:t>
            </a:r>
          </a:p>
          <a:p>
            <a:pPr>
              <a:spcAft>
                <a:spcPts val="500"/>
              </a:spcAft>
              <a:defRPr sz="1300">
                <a:solidFill>
                  <a:srgbClr val="333333"/>
                </a:solidFill>
                <a:latin typeface="Calibri"/>
              </a:defRPr>
            </a:pPr>
            <a:r>
              <a:t>• BI tools benefit from clear table names and stable column contracts.</a:t>
            </a:r>
          </a:p>
          <a:p>
            <a:pPr>
              <a:spcAft>
                <a:spcPts val="500"/>
              </a:spcAft>
              <a:defRPr sz="1300">
                <a:solidFill>
                  <a:srgbClr val="333333"/>
                </a:solidFill>
                <a:latin typeface="Calibri"/>
              </a:defRPr>
            </a:pPr>
            <a:r>
              <a:t>• Data mesh consumers often treat Gold datasets as domain products.</a:t>
            </a:r>
          </a:p>
          <a:p>
            <a:pPr>
              <a:spcAft>
                <a:spcPts val="500"/>
              </a:spcAft>
              <a:defRPr sz="1300">
                <a:solidFill>
                  <a:srgbClr val="333333"/>
                </a:solidFill>
                <a:latin typeface="Calibri"/>
              </a:defRPr>
            </a:pPr>
            <a:r>
              <a:t>• Gold can serve both aggregate tables and curated detail tables.</a:t>
            </a:r>
          </a:p>
        </p:txBody>
      </p:sp>
      <p:sp>
        <p:nvSpPr>
          <p:cNvPr id="5" name="Rectangle 4"/>
          <p:cNvSpPr/>
          <p:nvPr/>
        </p:nvSpPr>
        <p:spPr>
          <a:xfrm>
            <a:off x="731520" y="2926080"/>
            <a:ext cx="7680960" cy="384048"/>
          </a:xfrm>
          <a:prstGeom prst="rect">
            <a:avLst/>
          </a:prstGeom>
          <a:solidFill>
            <a:srgbClr val="002060"/>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FFFFFF"/>
                </a:solidFill>
                <a:latin typeface="Calibri"/>
              </a:rPr>
              <a:t>Executive Revenue Dashboard</a:t>
            </a:r>
          </a:p>
        </p:txBody>
      </p:sp>
      <p:sp>
        <p:nvSpPr>
          <p:cNvPr id="6" name="Rounded Rectangle 5"/>
          <p:cNvSpPr/>
          <p:nvPr/>
        </p:nvSpPr>
        <p:spPr>
          <a:xfrm>
            <a:off x="731520" y="3474720"/>
            <a:ext cx="2377440" cy="1188720"/>
          </a:xfrm>
          <a:prstGeom prst="roundRect">
            <a:avLst/>
          </a:prstGeom>
          <a:solidFill>
            <a:srgbClr val="E9F7EF"/>
          </a:solidFill>
          <a:ln w="12700">
            <a:solidFill>
              <a:srgbClr val="7CB34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333333"/>
                </a:solidFill>
                <a:latin typeface="Calibri"/>
              </a:rPr>
              <a:t>Total Revenue
$2,036.68
5 revenue orders</a:t>
            </a:r>
          </a:p>
        </p:txBody>
      </p:sp>
      <p:sp>
        <p:nvSpPr>
          <p:cNvPr id="7" name="Rounded Rectangle 6"/>
          <p:cNvSpPr/>
          <p:nvPr/>
        </p:nvSpPr>
        <p:spPr>
          <a:xfrm>
            <a:off x="3291840" y="3474720"/>
            <a:ext cx="2377440" cy="1188720"/>
          </a:xfrm>
          <a:prstGeom prst="roundRect">
            <a:avLst/>
          </a:prstGeom>
          <a:solidFill>
            <a:srgbClr val="E3F2FD"/>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333333"/>
                </a:solidFill>
                <a:latin typeface="Calibri"/>
              </a:rPr>
              <a:t>Top Category
ELECTRONICS
$1,749.99</a:t>
            </a:r>
          </a:p>
        </p:txBody>
      </p:sp>
      <p:sp>
        <p:nvSpPr>
          <p:cNvPr id="8" name="Rounded Rectangle 7"/>
          <p:cNvSpPr/>
          <p:nvPr/>
        </p:nvSpPr>
        <p:spPr>
          <a:xfrm>
            <a:off x="5852160" y="3474720"/>
            <a:ext cx="2560320" cy="1188720"/>
          </a:xfrm>
          <a:prstGeom prst="roundRect">
            <a:avLst/>
          </a:prstGeom>
          <a:solidFill>
            <a:srgbClr val="FFF8E1"/>
          </a:solidFill>
          <a:ln w="12700">
            <a:solidFill>
              <a:srgbClr val="F9A82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333333"/>
                </a:solidFill>
                <a:latin typeface="Calibri"/>
              </a:rPr>
              <a:t>Data Quality
10 valid / 2 invalid
7 current orders</a:t>
            </a:r>
          </a:p>
        </p:txBody>
      </p:sp>
      <p:sp>
        <p:nvSpPr>
          <p:cNvPr id="9" name="TextBox 8"/>
          <p:cNvSpPr txBox="1"/>
          <p:nvPr/>
        </p:nvSpPr>
        <p:spPr>
          <a:xfrm>
            <a:off x="914400" y="4937760"/>
            <a:ext cx="7315200" cy="274320"/>
          </a:xfrm>
          <a:prstGeom prst="rect">
            <a:avLst/>
          </a:prstGeom>
          <a:noFill/>
        </p:spPr>
        <p:txBody>
          <a:bodyPr wrap="square" lIns="73152" tIns="36576" rIns="73152" bIns="36576" anchor="t">
            <a:spAutoFit/>
          </a:bodyPr>
          <a:lstStyle/>
          <a:p>
            <a:pPr algn="ctr"/>
            <a:r>
              <a:rPr sz="1100" b="0">
                <a:solidFill>
                  <a:srgbClr val="585858"/>
                </a:solidFill>
                <a:latin typeface="Calibri"/>
              </a:rPr>
              <a:t>Numbers match the generated 12-row Day 7 classroom dataset.</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119</a:t>
            </a:r>
          </a:p>
        </p:txBody>
      </p:sp>
      <p:sp>
        <p:nvSpPr>
          <p:cNvPr id="3" name="Rectangle 2"/>
          <p:cNvSpPr/>
          <p:nvPr/>
        </p:nvSpPr>
        <p:spPr>
          <a:xfrm>
            <a:off x="201168" y="868680"/>
            <a:ext cx="73152" cy="5440680"/>
          </a:xfrm>
          <a:prstGeom prst="rect">
            <a:avLst/>
          </a:prstGeom>
          <a:solidFill>
            <a:srgbClr val="002060"/>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Key Takeaways: Gold Layer</a:t>
            </a:r>
          </a:p>
        </p:txBody>
      </p:sp>
      <p:sp>
        <p:nvSpPr>
          <p:cNvPr id="5" name="TextBox 4"/>
          <p:cNvSpPr txBox="1"/>
          <p:nvPr/>
        </p:nvSpPr>
        <p:spPr>
          <a:xfrm>
            <a:off x="658368" y="868680"/>
            <a:ext cx="7909560" cy="5257800"/>
          </a:xfrm>
          <a:prstGeom prst="rect">
            <a:avLst/>
          </a:prstGeom>
          <a:noFill/>
        </p:spPr>
        <p:txBody>
          <a:bodyPr wrap="square" lIns="27432" tIns="18288" rIns="27432">
            <a:spAutoFit/>
          </a:bodyPr>
          <a:lstStyle/>
          <a:p>
            <a:pPr>
              <a:spcAft>
                <a:spcPts val="300"/>
              </a:spcAft>
              <a:defRPr sz="1200">
                <a:solidFill>
                  <a:srgbClr val="333333"/>
                </a:solidFill>
                <a:latin typeface="Calibri"/>
              </a:defRPr>
            </a:pPr>
            <a:r>
              <a:t>• Gold is business-ready and consumer-focused.</a:t>
            </a:r>
          </a:p>
          <a:p>
            <a:pPr>
              <a:spcAft>
                <a:spcPts val="300"/>
              </a:spcAft>
              <a:defRPr sz="1200">
                <a:solidFill>
                  <a:srgbClr val="333333"/>
                </a:solidFill>
                <a:latin typeface="Calibri"/>
              </a:defRPr>
            </a:pPr>
            <a:r>
              <a:t>• KPI rules should be centralized and consistently reused.</a:t>
            </a:r>
          </a:p>
          <a:p>
            <a:pPr>
              <a:spcAft>
                <a:spcPts val="300"/>
              </a:spcAft>
              <a:defRPr sz="1200">
                <a:solidFill>
                  <a:srgbClr val="333333"/>
                </a:solidFill>
                <a:latin typeface="Calibri"/>
              </a:defRPr>
            </a:pPr>
            <a:r>
              <a:t>• Aggregates should be named at a clear grain.</a:t>
            </a:r>
          </a:p>
          <a:p>
            <a:pPr>
              <a:spcAft>
                <a:spcPts val="300"/>
              </a:spcAft>
              <a:defRPr sz="1200">
                <a:solidFill>
                  <a:srgbClr val="333333"/>
                </a:solidFill>
                <a:latin typeface="Calibri"/>
              </a:defRPr>
            </a:pPr>
            <a:r>
              <a:t>• Gold tables trade processing effort for simpler consumption.</a:t>
            </a:r>
          </a:p>
          <a:p>
            <a:pPr>
              <a:spcAft>
                <a:spcPts val="300"/>
              </a:spcAft>
              <a:defRPr sz="1200">
                <a:solidFill>
                  <a:srgbClr val="333333"/>
                </a:solidFill>
                <a:latin typeface="Calibri"/>
              </a:defRPr>
            </a:pPr>
            <a:r>
              <a:t>• Metric trust depends on transparent Silver-to-Gold rules.</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120</a:t>
            </a:r>
          </a:p>
        </p:txBody>
      </p:sp>
      <p:sp>
        <p:nvSpPr>
          <p:cNvPr id="3" name="TextBox 2"/>
          <p:cNvSpPr txBox="1"/>
          <p:nvPr/>
        </p:nvSpPr>
        <p:spPr>
          <a:xfrm>
            <a:off x="731520" y="2743200"/>
            <a:ext cx="7680960" cy="731520"/>
          </a:xfrm>
          <a:prstGeom prst="rect">
            <a:avLst/>
          </a:prstGeom>
          <a:noFill/>
        </p:spPr>
        <p:txBody>
          <a:bodyPr wrap="square" lIns="73152" tIns="36576" rIns="73152" bIns="36576" anchor="t">
            <a:spAutoFit/>
          </a:bodyPr>
          <a:lstStyle/>
          <a:p>
            <a:pPr algn="ctr"/>
            <a:r>
              <a:rPr sz="2400" b="1">
                <a:solidFill>
                  <a:srgbClr val="002060"/>
                </a:solidFill>
                <a:latin typeface="Calibri"/>
              </a:rPr>
              <a:t>☕ Break — 15 Minutes</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121</a:t>
            </a:r>
          </a:p>
        </p:txBody>
      </p:sp>
      <p:sp>
        <p:nvSpPr>
          <p:cNvPr id="3" name="Rectangle 2"/>
          <p:cNvSpPr/>
          <p:nvPr/>
        </p:nvSpPr>
        <p:spPr>
          <a:xfrm>
            <a:off x="0" y="0"/>
            <a:ext cx="9144000" cy="777240"/>
          </a:xfrm>
          <a:prstGeom prst="rect">
            <a:avLst/>
          </a:prstGeom>
          <a:solidFill>
            <a:srgbClr val="002060"/>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82880"/>
            <a:ext cx="8138160" cy="384048"/>
          </a:xfrm>
          <a:prstGeom prst="rect">
            <a:avLst/>
          </a:prstGeom>
          <a:noFill/>
        </p:spPr>
        <p:txBody>
          <a:bodyPr wrap="square" lIns="73152" tIns="36576" rIns="73152" bIns="36576" anchor="t">
            <a:spAutoFit/>
          </a:bodyPr>
          <a:lstStyle/>
          <a:p>
            <a:pPr algn="ctr"/>
            <a:r>
              <a:rPr sz="2000" b="1">
                <a:solidFill>
                  <a:srgbClr val="FFFFFF"/>
                </a:solidFill>
                <a:latin typeface="Calibri"/>
              </a:rPr>
              <a:t>MODULE 6: Full Pipeline, MinIO &amp; Incremental Processing</a:t>
            </a:r>
          </a:p>
        </p:txBody>
      </p:sp>
      <p:sp>
        <p:nvSpPr>
          <p:cNvPr id="5" name="TextBox 4"/>
          <p:cNvSpPr txBox="1"/>
          <p:nvPr/>
        </p:nvSpPr>
        <p:spPr>
          <a:xfrm>
            <a:off x="822960" y="2487168"/>
            <a:ext cx="7498079" cy="457200"/>
          </a:xfrm>
          <a:prstGeom prst="rect">
            <a:avLst/>
          </a:prstGeom>
          <a:noFill/>
        </p:spPr>
        <p:txBody>
          <a:bodyPr wrap="square" lIns="73152" tIns="36576" rIns="73152" bIns="36576" anchor="t">
            <a:spAutoFit/>
          </a:bodyPr>
          <a:lstStyle/>
          <a:p>
            <a:pPr algn="ctr"/>
            <a:r>
              <a:rPr sz="2400" b="1">
                <a:solidFill>
                  <a:srgbClr val="002060"/>
                </a:solidFill>
                <a:latin typeface="Calibri"/>
              </a:rPr>
              <a:t>MODULE 6: Full Pipeline, MinIO &amp; Incremental Processing</a:t>
            </a:r>
          </a:p>
        </p:txBody>
      </p:sp>
      <p:sp>
        <p:nvSpPr>
          <p:cNvPr id="6" name="Rectangle 5"/>
          <p:cNvSpPr/>
          <p:nvPr/>
        </p:nvSpPr>
        <p:spPr>
          <a:xfrm>
            <a:off x="2926080" y="3291840"/>
            <a:ext cx="3291840" cy="73152"/>
          </a:xfrm>
          <a:prstGeom prst="rect">
            <a:avLst/>
          </a:prstGeom>
          <a:solidFill>
            <a:srgbClr val="002060"/>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122</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End-to-End Pipeline Overview</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Bronze ingests raw source-aligned files with metadata.</a:t>
            </a:r>
          </a:p>
          <a:p>
            <a:pPr>
              <a:spcAft>
                <a:spcPts val="500"/>
              </a:spcAft>
              <a:defRPr sz="1300">
                <a:solidFill>
                  <a:srgbClr val="333333"/>
                </a:solidFill>
                <a:latin typeface="Calibri"/>
              </a:defRPr>
            </a:pPr>
            <a:r>
              <a:t>• Silver cleans, validates, deduplicates, and enriches.</a:t>
            </a:r>
          </a:p>
          <a:p>
            <a:pPr>
              <a:spcAft>
                <a:spcPts val="500"/>
              </a:spcAft>
              <a:defRPr sz="1300">
                <a:solidFill>
                  <a:srgbClr val="333333"/>
                </a:solidFill>
                <a:latin typeface="Calibri"/>
              </a:defRPr>
            </a:pPr>
            <a:r>
              <a:t>• Gold aggregates trusted data into stakeholder-ready outputs.</a:t>
            </a:r>
          </a:p>
          <a:p>
            <a:pPr>
              <a:spcAft>
                <a:spcPts val="500"/>
              </a:spcAft>
              <a:defRPr sz="1300">
                <a:solidFill>
                  <a:srgbClr val="333333"/>
                </a:solidFill>
                <a:latin typeface="Calibri"/>
              </a:defRPr>
            </a:pPr>
            <a:r>
              <a:t>• The final lab wires every step into one orchestrated run.</a:t>
            </a:r>
          </a:p>
        </p:txBody>
      </p:sp>
      <p:sp>
        <p:nvSpPr>
          <p:cNvPr id="5" name="Rounded Rectangle 4"/>
          <p:cNvSpPr/>
          <p:nvPr/>
        </p:nvSpPr>
        <p:spPr>
          <a:xfrm>
            <a:off x="411480" y="2743200"/>
            <a:ext cx="2331720" cy="2331720"/>
          </a:xfrm>
          <a:prstGeom prst="roundRect">
            <a:avLst/>
          </a:prstGeom>
          <a:solidFill>
            <a:srgbClr val="CD7F32"/>
          </a:solidFill>
          <a:ln w="12700">
            <a:solidFill>
              <a:srgbClr val="CD7F3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FFFFFF"/>
                </a:solidFill>
                <a:latin typeface="Calibri"/>
              </a:rPr>
              <a:t>Bronze</a:t>
            </a:r>
          </a:p>
        </p:txBody>
      </p:sp>
      <p:sp>
        <p:nvSpPr>
          <p:cNvPr id="6" name="Rounded Rectangle 5"/>
          <p:cNvSpPr/>
          <p:nvPr/>
        </p:nvSpPr>
        <p:spPr>
          <a:xfrm>
            <a:off x="2907792" y="2743200"/>
            <a:ext cx="3246120" cy="2331720"/>
          </a:xfrm>
          <a:prstGeom prst="roundRect">
            <a:avLst/>
          </a:prstGeom>
          <a:solidFill>
            <a:srgbClr val="C0C0C0"/>
          </a:solidFill>
          <a:ln w="12700">
            <a:solidFill>
              <a:srgbClr val="C0C0C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333333"/>
                </a:solidFill>
                <a:latin typeface="Calibri"/>
              </a:rPr>
              <a:t>Silver</a:t>
            </a:r>
          </a:p>
        </p:txBody>
      </p:sp>
      <p:sp>
        <p:nvSpPr>
          <p:cNvPr id="7" name="Rounded Rectangle 6"/>
          <p:cNvSpPr/>
          <p:nvPr/>
        </p:nvSpPr>
        <p:spPr>
          <a:xfrm>
            <a:off x="6309360" y="2743200"/>
            <a:ext cx="2423160" cy="2331720"/>
          </a:xfrm>
          <a:prstGeom prst="roundRect">
            <a:avLst/>
          </a:prstGeom>
          <a:solidFill>
            <a:srgbClr val="FFD700"/>
          </a:solidFill>
          <a:ln w="12700">
            <a:solidFill>
              <a:srgbClr val="FFD70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333333"/>
                </a:solidFill>
                <a:latin typeface="Calibri"/>
              </a:rPr>
              <a:t>Gold</a:t>
            </a:r>
          </a:p>
        </p:txBody>
      </p:sp>
      <p:sp>
        <p:nvSpPr>
          <p:cNvPr id="8" name="Rounded Rectangle 7"/>
          <p:cNvSpPr/>
          <p:nvPr/>
        </p:nvSpPr>
        <p:spPr>
          <a:xfrm>
            <a:off x="685800" y="3337560"/>
            <a:ext cx="1170432" cy="329184"/>
          </a:xfrm>
          <a:prstGeom prst="roundRect">
            <a:avLst/>
          </a:prstGeom>
          <a:solidFill>
            <a:srgbClr val="FFFFFF"/>
          </a:solidFill>
          <a:ln w="12700">
            <a:solidFill>
              <a:srgbClr val="8C8C8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30" b="1">
                <a:solidFill>
                  <a:srgbClr val="333333"/>
                </a:solidFill>
                <a:latin typeface="Calibri"/>
              </a:rPr>
              <a:t>Sources</a:t>
            </a:r>
          </a:p>
        </p:txBody>
      </p:sp>
      <p:sp>
        <p:nvSpPr>
          <p:cNvPr id="9" name="Rounded Rectangle 8"/>
          <p:cNvSpPr/>
          <p:nvPr/>
        </p:nvSpPr>
        <p:spPr>
          <a:xfrm>
            <a:off x="685800" y="3977639"/>
            <a:ext cx="1170432" cy="329184"/>
          </a:xfrm>
          <a:prstGeom prst="roundRect">
            <a:avLst/>
          </a:prstGeom>
          <a:solidFill>
            <a:srgbClr val="FFFFFF"/>
          </a:solidFill>
          <a:ln w="12700">
            <a:solidFill>
              <a:srgbClr val="8C8C8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30" b="1">
                <a:solidFill>
                  <a:srgbClr val="333333"/>
                </a:solidFill>
                <a:latin typeface="Calibri"/>
              </a:rPr>
              <a:t>Raw + metadata</a:t>
            </a:r>
          </a:p>
        </p:txBody>
      </p:sp>
      <p:sp>
        <p:nvSpPr>
          <p:cNvPr id="10" name="Rounded Rectangle 9"/>
          <p:cNvSpPr/>
          <p:nvPr/>
        </p:nvSpPr>
        <p:spPr>
          <a:xfrm>
            <a:off x="3154680" y="3154680"/>
            <a:ext cx="1170432" cy="329184"/>
          </a:xfrm>
          <a:prstGeom prst="roundRect">
            <a:avLst/>
          </a:prstGeom>
          <a:solidFill>
            <a:srgbClr val="FFFFFF"/>
          </a:solidFill>
          <a:ln w="12700">
            <a:solidFill>
              <a:srgbClr val="8C8C8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30" b="1">
                <a:solidFill>
                  <a:srgbClr val="333333"/>
                </a:solidFill>
                <a:latin typeface="Calibri"/>
              </a:rPr>
              <a:t>Clean</a:t>
            </a:r>
          </a:p>
        </p:txBody>
      </p:sp>
      <p:sp>
        <p:nvSpPr>
          <p:cNvPr id="11" name="Rounded Rectangle 10"/>
          <p:cNvSpPr/>
          <p:nvPr/>
        </p:nvSpPr>
        <p:spPr>
          <a:xfrm>
            <a:off x="4343400" y="3154680"/>
            <a:ext cx="1170432" cy="329184"/>
          </a:xfrm>
          <a:prstGeom prst="roundRect">
            <a:avLst/>
          </a:prstGeom>
          <a:solidFill>
            <a:srgbClr val="FFFFFF"/>
          </a:solidFill>
          <a:ln w="12700">
            <a:solidFill>
              <a:srgbClr val="8C8C8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30" b="1">
                <a:solidFill>
                  <a:srgbClr val="333333"/>
                </a:solidFill>
                <a:latin typeface="Calibri"/>
              </a:rPr>
              <a:t>Quality gate</a:t>
            </a:r>
          </a:p>
        </p:txBody>
      </p:sp>
      <p:sp>
        <p:nvSpPr>
          <p:cNvPr id="12" name="Rounded Rectangle 11"/>
          <p:cNvSpPr/>
          <p:nvPr/>
        </p:nvSpPr>
        <p:spPr>
          <a:xfrm>
            <a:off x="3154680" y="4069080"/>
            <a:ext cx="1170432" cy="329184"/>
          </a:xfrm>
          <a:prstGeom prst="roundRect">
            <a:avLst/>
          </a:prstGeom>
          <a:solidFill>
            <a:srgbClr val="FFFFFF"/>
          </a:solidFill>
          <a:ln w="12700">
            <a:solidFill>
              <a:srgbClr val="8C8C8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30" b="1">
                <a:solidFill>
                  <a:srgbClr val="333333"/>
                </a:solidFill>
                <a:latin typeface="Calibri"/>
              </a:rPr>
              <a:t>CDC</a:t>
            </a:r>
          </a:p>
        </p:txBody>
      </p:sp>
      <p:sp>
        <p:nvSpPr>
          <p:cNvPr id="13" name="Rounded Rectangle 12"/>
          <p:cNvSpPr/>
          <p:nvPr/>
        </p:nvSpPr>
        <p:spPr>
          <a:xfrm>
            <a:off x="4343400" y="4069080"/>
            <a:ext cx="1170432" cy="329184"/>
          </a:xfrm>
          <a:prstGeom prst="roundRect">
            <a:avLst/>
          </a:prstGeom>
          <a:solidFill>
            <a:srgbClr val="FFFFFF"/>
          </a:solidFill>
          <a:ln w="12700">
            <a:solidFill>
              <a:srgbClr val="8C8C8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30" b="1">
                <a:solidFill>
                  <a:srgbClr val="333333"/>
                </a:solidFill>
                <a:latin typeface="Calibri"/>
              </a:rPr>
              <a:t>Enriched</a:t>
            </a:r>
          </a:p>
        </p:txBody>
      </p:sp>
      <p:sp>
        <p:nvSpPr>
          <p:cNvPr id="14" name="Rounded Rectangle 13"/>
          <p:cNvSpPr/>
          <p:nvPr/>
        </p:nvSpPr>
        <p:spPr>
          <a:xfrm>
            <a:off x="6537960" y="3154680"/>
            <a:ext cx="1170432" cy="329184"/>
          </a:xfrm>
          <a:prstGeom prst="roundRect">
            <a:avLst/>
          </a:prstGeom>
          <a:solidFill>
            <a:srgbClr val="FFFFFF"/>
          </a:solidFill>
          <a:ln w="12700">
            <a:solidFill>
              <a:srgbClr val="8C8C8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30" b="1">
                <a:solidFill>
                  <a:srgbClr val="333333"/>
                </a:solidFill>
                <a:latin typeface="Calibri"/>
              </a:rPr>
              <a:t>daily_revenue</a:t>
            </a:r>
          </a:p>
        </p:txBody>
      </p:sp>
      <p:sp>
        <p:nvSpPr>
          <p:cNvPr id="15" name="Rounded Rectangle 14"/>
          <p:cNvSpPr/>
          <p:nvPr/>
        </p:nvSpPr>
        <p:spPr>
          <a:xfrm>
            <a:off x="6537960" y="3794760"/>
            <a:ext cx="1170432" cy="329184"/>
          </a:xfrm>
          <a:prstGeom prst="roundRect">
            <a:avLst/>
          </a:prstGeom>
          <a:solidFill>
            <a:srgbClr val="FFFFFF"/>
          </a:solidFill>
          <a:ln w="12700">
            <a:solidFill>
              <a:srgbClr val="8C8C8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30" b="1">
                <a:solidFill>
                  <a:srgbClr val="333333"/>
                </a:solidFill>
                <a:latin typeface="Calibri"/>
              </a:rPr>
              <a:t>category_revenue</a:t>
            </a:r>
          </a:p>
        </p:txBody>
      </p:sp>
      <p:sp>
        <p:nvSpPr>
          <p:cNvPr id="16" name="Rounded Rectangle 15"/>
          <p:cNvSpPr/>
          <p:nvPr/>
        </p:nvSpPr>
        <p:spPr>
          <a:xfrm>
            <a:off x="6537960" y="4434840"/>
            <a:ext cx="1170432" cy="329184"/>
          </a:xfrm>
          <a:prstGeom prst="roundRect">
            <a:avLst/>
          </a:prstGeom>
          <a:solidFill>
            <a:srgbClr val="FFFFFF"/>
          </a:solidFill>
          <a:ln w="12700">
            <a:solidFill>
              <a:srgbClr val="8C8C8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30" b="1">
                <a:solidFill>
                  <a:srgbClr val="333333"/>
                </a:solidFill>
                <a:latin typeface="Calibri"/>
              </a:rPr>
              <a:t>segment_revenue</a:t>
            </a:r>
          </a:p>
        </p:txBody>
      </p:sp>
      <p:sp>
        <p:nvSpPr>
          <p:cNvPr id="17" name="TextBox 16"/>
          <p:cNvSpPr txBox="1"/>
          <p:nvPr/>
        </p:nvSpPr>
        <p:spPr>
          <a:xfrm>
            <a:off x="2724912" y="3730752"/>
            <a:ext cx="256032" cy="164592"/>
          </a:xfrm>
          <a:prstGeom prst="rect">
            <a:avLst/>
          </a:prstGeom>
          <a:noFill/>
        </p:spPr>
        <p:txBody>
          <a:bodyPr wrap="square" lIns="73152" tIns="36576" rIns="73152" bIns="36576" anchor="t">
            <a:spAutoFit/>
          </a:bodyPr>
          <a:lstStyle/>
          <a:p>
            <a:pPr algn="ctr"/>
            <a:r>
              <a:rPr sz="1000" b="1">
                <a:solidFill>
                  <a:srgbClr val="002060"/>
                </a:solidFill>
                <a:latin typeface="Calibri"/>
              </a:rPr>
              <a:t>→</a:t>
            </a:r>
          </a:p>
        </p:txBody>
      </p:sp>
      <p:sp>
        <p:nvSpPr>
          <p:cNvPr id="18" name="TextBox 17"/>
          <p:cNvSpPr txBox="1"/>
          <p:nvPr/>
        </p:nvSpPr>
        <p:spPr>
          <a:xfrm>
            <a:off x="6144768" y="3730752"/>
            <a:ext cx="256032" cy="164592"/>
          </a:xfrm>
          <a:prstGeom prst="rect">
            <a:avLst/>
          </a:prstGeom>
          <a:noFill/>
        </p:spPr>
        <p:txBody>
          <a:bodyPr wrap="square" lIns="73152" tIns="36576" rIns="73152" bIns="36576" anchor="t">
            <a:spAutoFit/>
          </a:bodyPr>
          <a:lstStyle/>
          <a:p>
            <a:pPr algn="ctr"/>
            <a:r>
              <a:rPr sz="1000" b="1">
                <a:solidFill>
                  <a:srgbClr val="002060"/>
                </a:solidFill>
                <a:latin typeface="Calibri"/>
              </a:rPr>
              <a:t>→</a:t>
            </a:r>
          </a:p>
        </p:txBody>
      </p:sp>
      <p:sp>
        <p:nvSpPr>
          <p:cNvPr id="19" name="Rounded Rectangle 18"/>
          <p:cNvSpPr/>
          <p:nvPr/>
        </p:nvSpPr>
        <p:spPr>
          <a:xfrm>
            <a:off x="1051560" y="5349240"/>
            <a:ext cx="7040880" cy="384048"/>
          </a:xfrm>
          <a:prstGeom prst="roundRect">
            <a:avLst/>
          </a:prstGeom>
          <a:solidFill>
            <a:srgbClr val="E3F2FD"/>
          </a:solidFill>
          <a:ln w="12700">
            <a:solidFill>
              <a:srgbClr val="90CAF9"/>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002060"/>
                </a:solidFill>
                <a:latin typeface="Calibri"/>
              </a:rPr>
              <a:t>MinIO day7-lakehouse bucket: bronze/  silver/  gold/  quarantine/</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123</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Incremental Processing — Why Batch-at-a-Time Matters</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Production pipelines should process new arrivals without reprocessing everything.</a:t>
            </a:r>
          </a:p>
          <a:p>
            <a:pPr>
              <a:spcAft>
                <a:spcPts val="500"/>
              </a:spcAft>
              <a:defRPr sz="1300">
                <a:solidFill>
                  <a:srgbClr val="333333"/>
                </a:solidFill>
                <a:latin typeface="Calibri"/>
              </a:defRPr>
            </a:pPr>
            <a:r>
              <a:t>• Batch identifiers make each run observable and auditable.</a:t>
            </a:r>
          </a:p>
          <a:p>
            <a:pPr>
              <a:spcAft>
                <a:spcPts val="500"/>
              </a:spcAft>
              <a:defRPr sz="1300">
                <a:solidFill>
                  <a:srgbClr val="333333"/>
                </a:solidFill>
                <a:latin typeface="Calibri"/>
              </a:defRPr>
            </a:pPr>
            <a:r>
              <a:t>• Incremental processing reduces cost and shortens recovery windows.</a:t>
            </a:r>
          </a:p>
        </p:txBody>
      </p:sp>
      <p:sp>
        <p:nvSpPr>
          <p:cNvPr id="5" name="Rounded Rectangle 4"/>
          <p:cNvSpPr/>
          <p:nvPr/>
        </p:nvSpPr>
        <p:spPr>
          <a:xfrm>
            <a:off x="320040" y="3566160"/>
            <a:ext cx="1481328" cy="822960"/>
          </a:xfrm>
          <a:prstGeom prst="roundRect">
            <a:avLst/>
          </a:prstGeom>
          <a:solidFill>
            <a:srgbClr val="FFFFFF"/>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80" b="1">
                <a:solidFill>
                  <a:srgbClr val="333333"/>
                </a:solidFill>
                <a:latin typeface="Calibri"/>
              </a:rPr>
              <a:t>[file]
Source Files
CSV + JSONL</a:t>
            </a:r>
          </a:p>
        </p:txBody>
      </p:sp>
      <p:sp>
        <p:nvSpPr>
          <p:cNvPr id="6" name="TextBox 5"/>
          <p:cNvSpPr txBox="1"/>
          <p:nvPr/>
        </p:nvSpPr>
        <p:spPr>
          <a:xfrm>
            <a:off x="1801368" y="3858768"/>
            <a:ext cx="256032" cy="164592"/>
          </a:xfrm>
          <a:prstGeom prst="rect">
            <a:avLst/>
          </a:prstGeom>
          <a:noFill/>
        </p:spPr>
        <p:txBody>
          <a:bodyPr wrap="square" lIns="73152" tIns="36576" rIns="73152" bIns="36576" anchor="t">
            <a:spAutoFit/>
          </a:bodyPr>
          <a:lstStyle/>
          <a:p>
            <a:pPr algn="ctr"/>
            <a:r>
              <a:rPr sz="1000" b="1">
                <a:solidFill>
                  <a:srgbClr val="002060"/>
                </a:solidFill>
                <a:latin typeface="Calibri"/>
              </a:rPr>
              <a:t>→</a:t>
            </a:r>
          </a:p>
        </p:txBody>
      </p:sp>
      <p:sp>
        <p:nvSpPr>
          <p:cNvPr id="7" name="Rounded Rectangle 6"/>
          <p:cNvSpPr/>
          <p:nvPr/>
        </p:nvSpPr>
        <p:spPr>
          <a:xfrm>
            <a:off x="2057400" y="3566160"/>
            <a:ext cx="1481328" cy="822960"/>
          </a:xfrm>
          <a:prstGeom prst="roundRect">
            <a:avLst/>
          </a:prstGeom>
          <a:solidFill>
            <a:srgbClr val="E3F2FD"/>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80" b="1">
                <a:solidFill>
                  <a:srgbClr val="333333"/>
                </a:solidFill>
                <a:latin typeface="Calibri"/>
              </a:rPr>
              <a:t>[spark]
Spark Read</a:t>
            </a:r>
          </a:p>
        </p:txBody>
      </p:sp>
      <p:sp>
        <p:nvSpPr>
          <p:cNvPr id="8" name="TextBox 7"/>
          <p:cNvSpPr txBox="1"/>
          <p:nvPr/>
        </p:nvSpPr>
        <p:spPr>
          <a:xfrm>
            <a:off x="3538728" y="3858768"/>
            <a:ext cx="256032" cy="164592"/>
          </a:xfrm>
          <a:prstGeom prst="rect">
            <a:avLst/>
          </a:prstGeom>
          <a:noFill/>
        </p:spPr>
        <p:txBody>
          <a:bodyPr wrap="square" lIns="73152" tIns="36576" rIns="73152" bIns="36576" anchor="t">
            <a:spAutoFit/>
          </a:bodyPr>
          <a:lstStyle/>
          <a:p>
            <a:pPr algn="ctr"/>
            <a:r>
              <a:rPr sz="1000" b="1">
                <a:solidFill>
                  <a:srgbClr val="002060"/>
                </a:solidFill>
                <a:latin typeface="Calibri"/>
              </a:rPr>
              <a:t>→</a:t>
            </a:r>
          </a:p>
        </p:txBody>
      </p:sp>
      <p:sp>
        <p:nvSpPr>
          <p:cNvPr id="9" name="Rounded Rectangle 8"/>
          <p:cNvSpPr/>
          <p:nvPr/>
        </p:nvSpPr>
        <p:spPr>
          <a:xfrm>
            <a:off x="3794760" y="3566160"/>
            <a:ext cx="1481328" cy="822960"/>
          </a:xfrm>
          <a:prstGeom prst="roundRect">
            <a:avLst/>
          </a:prstGeom>
          <a:solidFill>
            <a:srgbClr val="FFF8E1"/>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80" b="1">
                <a:solidFill>
                  <a:srgbClr val="333333"/>
                </a:solidFill>
                <a:latin typeface="Calibri"/>
              </a:rPr>
              <a:t>[tag]
Add Metadata
_source_file
_batch_id
_ingested_at</a:t>
            </a:r>
          </a:p>
        </p:txBody>
      </p:sp>
      <p:sp>
        <p:nvSpPr>
          <p:cNvPr id="10" name="TextBox 9"/>
          <p:cNvSpPr txBox="1"/>
          <p:nvPr/>
        </p:nvSpPr>
        <p:spPr>
          <a:xfrm>
            <a:off x="5276088" y="3858768"/>
            <a:ext cx="256032" cy="164592"/>
          </a:xfrm>
          <a:prstGeom prst="rect">
            <a:avLst/>
          </a:prstGeom>
          <a:noFill/>
        </p:spPr>
        <p:txBody>
          <a:bodyPr wrap="square" lIns="73152" tIns="36576" rIns="73152" bIns="36576" anchor="t">
            <a:spAutoFit/>
          </a:bodyPr>
          <a:lstStyle/>
          <a:p>
            <a:pPr algn="ctr"/>
            <a:r>
              <a:rPr sz="1000" b="1">
                <a:solidFill>
                  <a:srgbClr val="002060"/>
                </a:solidFill>
                <a:latin typeface="Calibri"/>
              </a:rPr>
              <a:t>→</a:t>
            </a:r>
          </a:p>
        </p:txBody>
      </p:sp>
      <p:sp>
        <p:nvSpPr>
          <p:cNvPr id="11" name="Rounded Rectangle 10"/>
          <p:cNvSpPr/>
          <p:nvPr/>
        </p:nvSpPr>
        <p:spPr>
          <a:xfrm>
            <a:off x="5532120" y="3566160"/>
            <a:ext cx="1481328" cy="822960"/>
          </a:xfrm>
          <a:prstGeom prst="roundRect">
            <a:avLst/>
          </a:prstGeom>
          <a:solidFill>
            <a:srgbClr val="FFFFFF"/>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80" b="1">
                <a:solidFill>
                  <a:srgbClr val="333333"/>
                </a:solidFill>
                <a:latin typeface="Calibri"/>
              </a:rPr>
              <a:t>[disk]
Write Parquet</a:t>
            </a:r>
          </a:p>
        </p:txBody>
      </p:sp>
      <p:sp>
        <p:nvSpPr>
          <p:cNvPr id="12" name="TextBox 11"/>
          <p:cNvSpPr txBox="1"/>
          <p:nvPr/>
        </p:nvSpPr>
        <p:spPr>
          <a:xfrm>
            <a:off x="7013448" y="3858768"/>
            <a:ext cx="256032" cy="164592"/>
          </a:xfrm>
          <a:prstGeom prst="rect">
            <a:avLst/>
          </a:prstGeom>
          <a:noFill/>
        </p:spPr>
        <p:txBody>
          <a:bodyPr wrap="square" lIns="73152" tIns="36576" rIns="73152" bIns="36576" anchor="t">
            <a:spAutoFit/>
          </a:bodyPr>
          <a:lstStyle/>
          <a:p>
            <a:pPr algn="ctr"/>
            <a:r>
              <a:rPr sz="1000" b="1">
                <a:solidFill>
                  <a:srgbClr val="002060"/>
                </a:solidFill>
                <a:latin typeface="Calibri"/>
              </a:rPr>
              <a:t>→</a:t>
            </a:r>
          </a:p>
        </p:txBody>
      </p:sp>
      <p:sp>
        <p:nvSpPr>
          <p:cNvPr id="13" name="Rounded Rectangle 12"/>
          <p:cNvSpPr/>
          <p:nvPr/>
        </p:nvSpPr>
        <p:spPr>
          <a:xfrm>
            <a:off x="7269480" y="3566160"/>
            <a:ext cx="1481328" cy="822960"/>
          </a:xfrm>
          <a:prstGeom prst="roundRect">
            <a:avLst/>
          </a:prstGeom>
          <a:solidFill>
            <a:srgbClr val="CD7F32"/>
          </a:solidFill>
          <a:ln w="12700">
            <a:solidFill>
              <a:srgbClr val="CD7F3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80" b="1">
                <a:solidFill>
                  <a:srgbClr val="FFFFFF"/>
                </a:solidFill>
                <a:latin typeface="Calibri"/>
              </a:rPr>
              <a:t>[db]
Bronze Layer
lake/bronze/orders_raw/</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124</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File Manifest Pattern — Tracking Processed Files with JSON</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The manifest records which files have already been ingested.</a:t>
            </a:r>
          </a:p>
          <a:p>
            <a:pPr>
              <a:spcAft>
                <a:spcPts val="500"/>
              </a:spcAft>
              <a:defRPr sz="1300">
                <a:solidFill>
                  <a:srgbClr val="333333"/>
                </a:solidFill>
                <a:latin typeface="Calibri"/>
              </a:defRPr>
            </a:pPr>
            <a:r>
              <a:t>• New runs compare source files against the manifest before reading.</a:t>
            </a:r>
          </a:p>
          <a:p>
            <a:pPr>
              <a:spcAft>
                <a:spcPts val="500"/>
              </a:spcAft>
              <a:defRPr sz="1300">
                <a:solidFill>
                  <a:srgbClr val="333333"/>
                </a:solidFill>
                <a:latin typeface="Calibri"/>
              </a:defRPr>
            </a:pPr>
            <a:r>
              <a:t>• A JSON manifest is simple enough for the lab and illustrates the pattern.</a:t>
            </a:r>
          </a:p>
        </p:txBody>
      </p:sp>
      <p:sp>
        <p:nvSpPr>
          <p:cNvPr id="5" name="Rounded Rectangle 4"/>
          <p:cNvSpPr/>
          <p:nvPr/>
        </p:nvSpPr>
        <p:spPr>
          <a:xfrm>
            <a:off x="777240" y="3154680"/>
            <a:ext cx="1325880" cy="566928"/>
          </a:xfrm>
          <a:prstGeom prst="roundRect">
            <a:avLst/>
          </a:prstGeom>
          <a:solidFill>
            <a:srgbClr val="E3F2FD"/>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333333"/>
                </a:solidFill>
                <a:latin typeface="Calibri"/>
              </a:rPr>
              <a:t>Batch 1
file A</a:t>
            </a:r>
          </a:p>
        </p:txBody>
      </p:sp>
      <p:sp>
        <p:nvSpPr>
          <p:cNvPr id="6" name="Rounded Rectangle 5"/>
          <p:cNvSpPr/>
          <p:nvPr/>
        </p:nvSpPr>
        <p:spPr>
          <a:xfrm>
            <a:off x="2514600" y="3154680"/>
            <a:ext cx="1188720" cy="566928"/>
          </a:xfrm>
          <a:prstGeom prst="roundRect">
            <a:avLst/>
          </a:prstGeom>
          <a:solidFill>
            <a:srgbClr val="FFF8E1"/>
          </a:solidFill>
          <a:ln w="12700">
            <a:solidFill>
              <a:srgbClr val="F9A82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50" b="1">
                <a:solidFill>
                  <a:srgbClr val="333333"/>
                </a:solidFill>
                <a:latin typeface="Calibri"/>
              </a:rPr>
              <a:t>Manifest
+ file A</a:t>
            </a:r>
          </a:p>
        </p:txBody>
      </p:sp>
      <p:sp>
        <p:nvSpPr>
          <p:cNvPr id="7" name="Rounded Rectangle 6"/>
          <p:cNvSpPr/>
          <p:nvPr/>
        </p:nvSpPr>
        <p:spPr>
          <a:xfrm>
            <a:off x="4160520" y="3154680"/>
            <a:ext cx="1325880" cy="566928"/>
          </a:xfrm>
          <a:prstGeom prst="roundRect">
            <a:avLst/>
          </a:prstGeom>
          <a:solidFill>
            <a:srgbClr val="E3F2FD"/>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333333"/>
                </a:solidFill>
                <a:latin typeface="Calibri"/>
              </a:rPr>
              <a:t>Batch 2
file B</a:t>
            </a:r>
          </a:p>
        </p:txBody>
      </p:sp>
      <p:sp>
        <p:nvSpPr>
          <p:cNvPr id="8" name="Rounded Rectangle 7"/>
          <p:cNvSpPr/>
          <p:nvPr/>
        </p:nvSpPr>
        <p:spPr>
          <a:xfrm>
            <a:off x="5897880" y="3154680"/>
            <a:ext cx="1188720" cy="566928"/>
          </a:xfrm>
          <a:prstGeom prst="roundRect">
            <a:avLst/>
          </a:prstGeom>
          <a:solidFill>
            <a:srgbClr val="FFF8E1"/>
          </a:solidFill>
          <a:ln w="12700">
            <a:solidFill>
              <a:srgbClr val="F9A82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50" b="1">
                <a:solidFill>
                  <a:srgbClr val="333333"/>
                </a:solidFill>
                <a:latin typeface="Calibri"/>
              </a:rPr>
              <a:t>Manifest
+ file B</a:t>
            </a:r>
          </a:p>
        </p:txBody>
      </p:sp>
      <p:sp>
        <p:nvSpPr>
          <p:cNvPr id="9" name="Rounded Rectangle 8"/>
          <p:cNvSpPr/>
          <p:nvPr/>
        </p:nvSpPr>
        <p:spPr>
          <a:xfrm>
            <a:off x="5349240" y="4370832"/>
            <a:ext cx="2240280" cy="475488"/>
          </a:xfrm>
          <a:prstGeom prst="roundRect">
            <a:avLst/>
          </a:prstGeom>
          <a:solidFill>
            <a:srgbClr val="E9F7EF"/>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30" b="1">
                <a:solidFill>
                  <a:srgbClr val="333333"/>
                </a:solidFill>
                <a:latin typeface="Calibri"/>
              </a:rPr>
              <a:t>Re-run: skip file A
process only new files</a:t>
            </a:r>
          </a:p>
        </p:txBody>
      </p:sp>
      <p:sp>
        <p:nvSpPr>
          <p:cNvPr id="10" name="TextBox 9"/>
          <p:cNvSpPr txBox="1"/>
          <p:nvPr/>
        </p:nvSpPr>
        <p:spPr>
          <a:xfrm>
            <a:off x="2121408" y="3346704"/>
            <a:ext cx="274320" cy="164592"/>
          </a:xfrm>
          <a:prstGeom prst="rect">
            <a:avLst/>
          </a:prstGeom>
          <a:noFill/>
        </p:spPr>
        <p:txBody>
          <a:bodyPr wrap="square" lIns="73152" tIns="36576" rIns="73152" bIns="36576" anchor="t">
            <a:spAutoFit/>
          </a:bodyPr>
          <a:lstStyle/>
          <a:p>
            <a:pPr algn="ctr"/>
            <a:r>
              <a:rPr sz="1000" b="1">
                <a:solidFill>
                  <a:srgbClr val="002060"/>
                </a:solidFill>
                <a:latin typeface="Calibri"/>
              </a:rPr>
              <a:t>→</a:t>
            </a:r>
          </a:p>
        </p:txBody>
      </p:sp>
      <p:sp>
        <p:nvSpPr>
          <p:cNvPr id="11" name="TextBox 10"/>
          <p:cNvSpPr txBox="1"/>
          <p:nvPr/>
        </p:nvSpPr>
        <p:spPr>
          <a:xfrm>
            <a:off x="3730752" y="3346704"/>
            <a:ext cx="274320" cy="164592"/>
          </a:xfrm>
          <a:prstGeom prst="rect">
            <a:avLst/>
          </a:prstGeom>
          <a:noFill/>
        </p:spPr>
        <p:txBody>
          <a:bodyPr wrap="square" lIns="73152" tIns="36576" rIns="73152" bIns="36576" anchor="t">
            <a:spAutoFit/>
          </a:bodyPr>
          <a:lstStyle/>
          <a:p>
            <a:pPr algn="ctr"/>
            <a:r>
              <a:rPr sz="1000" b="1">
                <a:solidFill>
                  <a:srgbClr val="002060"/>
                </a:solidFill>
                <a:latin typeface="Calibri"/>
              </a:rPr>
              <a:t>→</a:t>
            </a:r>
          </a:p>
        </p:txBody>
      </p:sp>
      <p:sp>
        <p:nvSpPr>
          <p:cNvPr id="12" name="TextBox 11"/>
          <p:cNvSpPr txBox="1"/>
          <p:nvPr/>
        </p:nvSpPr>
        <p:spPr>
          <a:xfrm>
            <a:off x="5513832" y="3346704"/>
            <a:ext cx="274320" cy="164592"/>
          </a:xfrm>
          <a:prstGeom prst="rect">
            <a:avLst/>
          </a:prstGeom>
          <a:noFill/>
        </p:spPr>
        <p:txBody>
          <a:bodyPr wrap="square" lIns="73152" tIns="36576" rIns="73152" bIns="36576" anchor="t">
            <a:spAutoFit/>
          </a:bodyPr>
          <a:lstStyle/>
          <a:p>
            <a:pPr algn="ctr"/>
            <a:r>
              <a:rPr sz="1000" b="1">
                <a:solidFill>
                  <a:srgbClr val="002060"/>
                </a:solidFill>
                <a:latin typeface="Calibri"/>
              </a:rPr>
              <a:t>→</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125</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Idempotent Ingestion — Skip Already-Processed Files</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Idempotent code can be rerun without duplicating results.</a:t>
            </a:r>
          </a:p>
          <a:p>
            <a:pPr>
              <a:spcAft>
                <a:spcPts val="500"/>
              </a:spcAft>
              <a:defRPr sz="1300">
                <a:solidFill>
                  <a:srgbClr val="333333"/>
                </a:solidFill>
                <a:latin typeface="Calibri"/>
              </a:defRPr>
            </a:pPr>
            <a:r>
              <a:t>• File-level tracking is a common first step for batch ingestion.</a:t>
            </a:r>
          </a:p>
          <a:p>
            <a:pPr>
              <a:spcAft>
                <a:spcPts val="500"/>
              </a:spcAft>
              <a:defRPr sz="1300">
                <a:solidFill>
                  <a:srgbClr val="333333"/>
                </a:solidFill>
                <a:latin typeface="Calibri"/>
              </a:defRPr>
            </a:pPr>
            <a:r>
              <a:t>• Production systems may use transaction logs, checkpoints, or table metadata.</a:t>
            </a:r>
          </a:p>
        </p:txBody>
      </p:sp>
      <p:sp>
        <p:nvSpPr>
          <p:cNvPr id="5" name="Rounded Rectangle 4"/>
          <p:cNvSpPr/>
          <p:nvPr/>
        </p:nvSpPr>
        <p:spPr>
          <a:xfrm>
            <a:off x="594360" y="2633472"/>
            <a:ext cx="7955279" cy="3337560"/>
          </a:xfrm>
          <a:prstGeom prst="roundRect">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100">
                <a:solidFill>
                  <a:srgbClr val="1B1B1B"/>
                </a:solidFill>
                <a:latin typeface="Consolas"/>
              </a:rPr>
              <a:t>all_files = list_source_files(raw_path)
processed = set(manifest["processed_files"])
new_files = [path for path in all_files if path.name not in processed]
if not new_files:
    print("No new files to ingest")</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126</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Code Walkthrough: Lab 11 — Incremental Processing</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Load the previous file manifest.</a:t>
            </a:r>
          </a:p>
          <a:p>
            <a:pPr>
              <a:spcAft>
                <a:spcPts val="500"/>
              </a:spcAft>
              <a:defRPr sz="1300">
                <a:solidFill>
                  <a:srgbClr val="333333"/>
                </a:solidFill>
                <a:latin typeface="Calibri"/>
              </a:defRPr>
            </a:pPr>
            <a:r>
              <a:t>• Identify files not yet processed.</a:t>
            </a:r>
          </a:p>
          <a:p>
            <a:pPr>
              <a:spcAft>
                <a:spcPts val="500"/>
              </a:spcAft>
              <a:defRPr sz="1300">
                <a:solidFill>
                  <a:srgbClr val="333333"/>
                </a:solidFill>
                <a:latin typeface="Calibri"/>
              </a:defRPr>
            </a:pPr>
            <a:r>
              <a:t>• Ingest only the new files and then update the manifest.</a:t>
            </a:r>
          </a:p>
        </p:txBody>
      </p:sp>
      <p:sp>
        <p:nvSpPr>
          <p:cNvPr id="5" name="Rounded Rectangle 4"/>
          <p:cNvSpPr/>
          <p:nvPr/>
        </p:nvSpPr>
        <p:spPr>
          <a:xfrm>
            <a:off x="594360" y="2633472"/>
            <a:ext cx="7955279" cy="3337560"/>
          </a:xfrm>
          <a:prstGeom prst="roundRect">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100">
                <a:solidFill>
                  <a:srgbClr val="1B1B1B"/>
                </a:solidFill>
                <a:latin typeface="Consolas"/>
              </a:rPr>
              <a:t>manifest = load_manifest(manifest_path)
new_files = discover_new_files(raw_dir, manifest)
if new_files:
    bronze = ingest_files(new_files, batch_id)
    write_bronze(bronze)
    save_manifest(manifest_path, manifest, new_files, batch_id)</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127</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Full Medallion Pipeline — Lab 12 Orchestration</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Orchestration stitches individual lab functions into a full run.</a:t>
            </a:r>
          </a:p>
          <a:p>
            <a:pPr>
              <a:spcAft>
                <a:spcPts val="500"/>
              </a:spcAft>
              <a:defRPr sz="1300">
                <a:solidFill>
                  <a:srgbClr val="333333"/>
                </a:solidFill>
                <a:latin typeface="Calibri"/>
              </a:defRPr>
            </a:pPr>
            <a:r>
              <a:t>• Each layer writes outputs consumed by the next layer.</a:t>
            </a:r>
          </a:p>
          <a:p>
            <a:pPr>
              <a:spcAft>
                <a:spcPts val="500"/>
              </a:spcAft>
              <a:defRPr sz="1300">
                <a:solidFill>
                  <a:srgbClr val="333333"/>
                </a:solidFill>
                <a:latin typeface="Calibri"/>
              </a:defRPr>
            </a:pPr>
            <a:r>
              <a:t>• A single pipeline entry point makes validation and reruns easier.</a:t>
            </a:r>
          </a:p>
        </p:txBody>
      </p:sp>
      <p:sp>
        <p:nvSpPr>
          <p:cNvPr id="5" name="Rounded Rectangle 4"/>
          <p:cNvSpPr/>
          <p:nvPr/>
        </p:nvSpPr>
        <p:spPr>
          <a:xfrm>
            <a:off x="594360" y="2633472"/>
            <a:ext cx="7955279" cy="3337560"/>
          </a:xfrm>
          <a:prstGeom prst="roundRect">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100">
                <a:solidFill>
                  <a:srgbClr val="1B1B1B"/>
                </a:solidFill>
                <a:latin typeface="Consolas"/>
              </a:rPr>
              <a:t>def run_pipeline(batch_id):
    bronze = run_bronze_ingestion(batch_id)
    clean = run_silver_cleaning(bronze)
    checked = run_quality_checks(clean)
    deduplicated = deduplicate_order_events(checked.valid_orders)
    current = latest_order_state(deduplicated)
    enriched = enriched_orders(current, bronze.customers, bronze.products, bronze.fx_rates)
    gold = gold_frames(enriched)
    write_outputs(gold)</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128</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Assertion-Based Validation</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Assertions turn expected row counts into executable contracts.</a:t>
            </a:r>
          </a:p>
          <a:p>
            <a:pPr>
              <a:spcAft>
                <a:spcPts val="500"/>
              </a:spcAft>
              <a:defRPr sz="1300">
                <a:solidFill>
                  <a:srgbClr val="333333"/>
                </a:solidFill>
                <a:latin typeface="Calibri"/>
              </a:defRPr>
            </a:pPr>
            <a:r>
              <a:t>• They catch accidental data loss between layers.</a:t>
            </a:r>
          </a:p>
          <a:p>
            <a:pPr>
              <a:spcAft>
                <a:spcPts val="500"/>
              </a:spcAft>
              <a:defRPr sz="1300">
                <a:solidFill>
                  <a:srgbClr val="333333"/>
                </a:solidFill>
                <a:latin typeface="Calibri"/>
              </a:defRPr>
            </a:pPr>
            <a:r>
              <a:t>• Small lab datasets make expected counts easy to understand.</a:t>
            </a:r>
          </a:p>
          <a:p>
            <a:pPr>
              <a:spcAft>
                <a:spcPts val="500"/>
              </a:spcAft>
              <a:defRPr sz="1300">
                <a:solidFill>
                  <a:srgbClr val="333333"/>
                </a:solidFill>
                <a:latin typeface="Calibri"/>
              </a:defRPr>
            </a:pPr>
            <a:r>
              <a:t>• In production, assertions often become data quality monitors.</a:t>
            </a:r>
          </a:p>
        </p:txBody>
      </p:sp>
      <p:sp>
        <p:nvSpPr>
          <p:cNvPr id="5" name="Rounded Rectangle 4"/>
          <p:cNvSpPr/>
          <p:nvPr/>
        </p:nvSpPr>
        <p:spPr>
          <a:xfrm>
            <a:off x="594360" y="2633472"/>
            <a:ext cx="7955279" cy="3337560"/>
          </a:xfrm>
          <a:prstGeom prst="roundRect">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100">
                <a:solidFill>
                  <a:srgbClr val="1B1B1B"/>
                </a:solidFill>
                <a:latin typeface="Consolas"/>
              </a:rPr>
              <a:t>assert bronze.orders.count() == expected["bronze_orders"]
assert silver.valid_orders.count() == expected["silver_valid_orders"]
assert silver.deduplicated_orders.count() == expected["silver_deduplicated_rows"]
assert gold["daily_revenue"].count() == expected["daily_revenue_rows"]</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129</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Pipeline Manifest — Production-Style Run Reporting</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A run manifest captures inputs, outputs, counts, timings, and status.</a:t>
            </a:r>
          </a:p>
          <a:p>
            <a:pPr>
              <a:spcAft>
                <a:spcPts val="500"/>
              </a:spcAft>
              <a:defRPr sz="1300">
                <a:solidFill>
                  <a:srgbClr val="333333"/>
                </a:solidFill>
                <a:latin typeface="Calibri"/>
              </a:defRPr>
            </a:pPr>
            <a:r>
              <a:t>• It gives operators a compact record of what happened.</a:t>
            </a:r>
          </a:p>
          <a:p>
            <a:pPr>
              <a:spcAft>
                <a:spcPts val="500"/>
              </a:spcAft>
              <a:defRPr sz="1300">
                <a:solidFill>
                  <a:srgbClr val="333333"/>
                </a:solidFill>
                <a:latin typeface="Calibri"/>
              </a:defRPr>
            </a:pPr>
            <a:r>
              <a:t>• It also supports audit, incident response, and SLA reporting.</a:t>
            </a:r>
          </a:p>
        </p:txBody>
      </p:sp>
      <p:sp>
        <p:nvSpPr>
          <p:cNvPr id="5" name="Rounded Rectangle 4"/>
          <p:cNvSpPr/>
          <p:nvPr/>
        </p:nvSpPr>
        <p:spPr>
          <a:xfrm>
            <a:off x="594360" y="2633472"/>
            <a:ext cx="7955279" cy="3337560"/>
          </a:xfrm>
          <a:prstGeom prst="roundRect">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ctr"/>
            <a:r>
              <a:rPr sz="1100">
                <a:solidFill>
                  <a:srgbClr val="1B1B1B"/>
                </a:solidFill>
                <a:latin typeface="Consolas"/>
              </a:rPr>
              <a:t>run_report = {
    "batch_id": batch_id,
    "status": "SUCCESS",
    "bronze_rows": bronze_count,
    "silver_valid_rows": valid_count,
    "silver_deduplicated_rows": deduplicated_count,
    "gold_tables": list(gold.keys()),
}</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130</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Architecture Diagram: Complete Lab Pipeline</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Labs 01-03 build Spark and storage foundations.</a:t>
            </a:r>
          </a:p>
          <a:p>
            <a:pPr>
              <a:spcAft>
                <a:spcPts val="500"/>
              </a:spcAft>
              <a:defRPr sz="1300">
                <a:solidFill>
                  <a:srgbClr val="333333"/>
                </a:solidFill>
                <a:latin typeface="Calibri"/>
              </a:defRPr>
            </a:pPr>
            <a:r>
              <a:t>• Labs 04-05 create and inspect Bronze.</a:t>
            </a:r>
          </a:p>
          <a:p>
            <a:pPr>
              <a:spcAft>
                <a:spcPts val="500"/>
              </a:spcAft>
              <a:defRPr sz="1300">
                <a:solidFill>
                  <a:srgbClr val="333333"/>
                </a:solidFill>
                <a:latin typeface="Calibri"/>
              </a:defRPr>
            </a:pPr>
            <a:r>
              <a:t>• Labs 06-09 clean, validate, deduplicate, and enrich Silver.</a:t>
            </a:r>
          </a:p>
          <a:p>
            <a:pPr>
              <a:spcAft>
                <a:spcPts val="500"/>
              </a:spcAft>
              <a:defRPr sz="1300">
                <a:solidFill>
                  <a:srgbClr val="333333"/>
                </a:solidFill>
                <a:latin typeface="Calibri"/>
              </a:defRPr>
            </a:pPr>
            <a:r>
              <a:t>• Lab 10 creates Gold KPIs; Labs 11-12 add incremental orchestration.</a:t>
            </a:r>
          </a:p>
        </p:txBody>
      </p:sp>
      <p:graphicFrame>
        <p:nvGraphicFramePr>
          <p:cNvPr id="5" name="Table 4"/>
          <p:cNvGraphicFramePr>
            <a:graphicFrameLocks noGrp="1"/>
          </p:cNvGraphicFramePr>
          <p:nvPr/>
        </p:nvGraphicFramePr>
        <p:xfrm>
          <a:off x="1371600" y="2880360"/>
          <a:ext cx="6400800" cy="196596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327660">
                <a:tc>
                  <a:txBody>
                    <a:bodyPr/>
                    <a:lstStyle/>
                    <a:p>
                      <a:pPr algn="ctr"/>
                      <a:r>
                        <a:rPr sz="1000" b="1">
                          <a:solidFill>
                            <a:srgbClr val="FFFFFF"/>
                          </a:solidFill>
                          <a:latin typeface="Calibri"/>
                        </a:rPr>
                        <a:t>Layer</a:t>
                      </a:r>
                    </a:p>
                  </a:txBody>
                  <a:tcPr>
                    <a:solidFill>
                      <a:srgbClr val="002060"/>
                    </a:solidFill>
                  </a:tcPr>
                </a:tc>
                <a:tc>
                  <a:txBody>
                    <a:bodyPr/>
                    <a:lstStyle/>
                    <a:p>
                      <a:pPr algn="ctr"/>
                      <a:r>
                        <a:rPr sz="1000" b="1">
                          <a:solidFill>
                            <a:srgbClr val="FFFFFF"/>
                          </a:solidFill>
                          <a:latin typeface="Calibri"/>
                        </a:rPr>
                        <a:t>Labs</a:t>
                      </a:r>
                    </a:p>
                  </a:txBody>
                  <a:tcPr>
                    <a:solidFill>
                      <a:srgbClr val="002060"/>
                    </a:solidFill>
                  </a:tcPr>
                </a:tc>
                <a:extLst>
                  <a:ext uri="{0D108BD9-81ED-4DB2-BD59-A6C34878D82A}">
                    <a16:rowId xmlns:a16="http://schemas.microsoft.com/office/drawing/2014/main" val="10000"/>
                  </a:ext>
                </a:extLst>
              </a:tr>
              <a:tr h="327660">
                <a:tc>
                  <a:txBody>
                    <a:bodyPr/>
                    <a:lstStyle/>
                    <a:p>
                      <a:pPr algn="l"/>
                      <a:r>
                        <a:rPr sz="1000" b="0">
                          <a:solidFill>
                            <a:srgbClr val="333333"/>
                          </a:solidFill>
                          <a:latin typeface="Calibri"/>
                        </a:rPr>
                        <a:t>Spark</a:t>
                      </a:r>
                    </a:p>
                  </a:txBody>
                  <a:tcPr>
                    <a:solidFill>
                      <a:srgbClr val="FFFFFF"/>
                    </a:solidFill>
                  </a:tcPr>
                </a:tc>
                <a:tc>
                  <a:txBody>
                    <a:bodyPr/>
                    <a:lstStyle/>
                    <a:p>
                      <a:pPr algn="l"/>
                      <a:r>
                        <a:rPr sz="1000" b="0">
                          <a:solidFill>
                            <a:srgbClr val="333333"/>
                          </a:solidFill>
                          <a:latin typeface="Calibri"/>
                        </a:rPr>
                        <a:t>01, 02, 03</a:t>
                      </a:r>
                    </a:p>
                  </a:txBody>
                  <a:tcPr>
                    <a:solidFill>
                      <a:srgbClr val="FFFFFF"/>
                    </a:solidFill>
                  </a:tcPr>
                </a:tc>
                <a:extLst>
                  <a:ext uri="{0D108BD9-81ED-4DB2-BD59-A6C34878D82A}">
                    <a16:rowId xmlns:a16="http://schemas.microsoft.com/office/drawing/2014/main" val="10001"/>
                  </a:ext>
                </a:extLst>
              </a:tr>
              <a:tr h="327660">
                <a:tc>
                  <a:txBody>
                    <a:bodyPr/>
                    <a:lstStyle/>
                    <a:p>
                      <a:pPr algn="l"/>
                      <a:r>
                        <a:rPr sz="1000" b="0">
                          <a:solidFill>
                            <a:srgbClr val="333333"/>
                          </a:solidFill>
                          <a:latin typeface="Calibri"/>
                        </a:rPr>
                        <a:t>Bronze</a:t>
                      </a:r>
                    </a:p>
                  </a:txBody>
                  <a:tcPr>
                    <a:solidFill>
                      <a:srgbClr val="F0F4FA"/>
                    </a:solidFill>
                  </a:tcPr>
                </a:tc>
                <a:tc>
                  <a:txBody>
                    <a:bodyPr/>
                    <a:lstStyle/>
                    <a:p>
                      <a:pPr algn="l"/>
                      <a:r>
                        <a:rPr sz="1000" b="0">
                          <a:solidFill>
                            <a:srgbClr val="333333"/>
                          </a:solidFill>
                          <a:latin typeface="Calibri"/>
                        </a:rPr>
                        <a:t>04, 05</a:t>
                      </a:r>
                    </a:p>
                  </a:txBody>
                  <a:tcPr>
                    <a:solidFill>
                      <a:srgbClr val="F0F4FA"/>
                    </a:solidFill>
                  </a:tcPr>
                </a:tc>
                <a:extLst>
                  <a:ext uri="{0D108BD9-81ED-4DB2-BD59-A6C34878D82A}">
                    <a16:rowId xmlns:a16="http://schemas.microsoft.com/office/drawing/2014/main" val="10002"/>
                  </a:ext>
                </a:extLst>
              </a:tr>
              <a:tr h="327660">
                <a:tc>
                  <a:txBody>
                    <a:bodyPr/>
                    <a:lstStyle/>
                    <a:p>
                      <a:pPr algn="l"/>
                      <a:r>
                        <a:rPr sz="1000" b="0">
                          <a:solidFill>
                            <a:srgbClr val="333333"/>
                          </a:solidFill>
                          <a:latin typeface="Calibri"/>
                        </a:rPr>
                        <a:t>Silver</a:t>
                      </a:r>
                    </a:p>
                  </a:txBody>
                  <a:tcPr>
                    <a:solidFill>
                      <a:srgbClr val="FFFFFF"/>
                    </a:solidFill>
                  </a:tcPr>
                </a:tc>
                <a:tc>
                  <a:txBody>
                    <a:bodyPr/>
                    <a:lstStyle/>
                    <a:p>
                      <a:pPr algn="l"/>
                      <a:r>
                        <a:rPr sz="1000" b="0">
                          <a:solidFill>
                            <a:srgbClr val="333333"/>
                          </a:solidFill>
                          <a:latin typeface="Calibri"/>
                        </a:rPr>
                        <a:t>06, 07, 08, 09</a:t>
                      </a:r>
                    </a:p>
                  </a:txBody>
                  <a:tcPr>
                    <a:solidFill>
                      <a:srgbClr val="FFFFFF"/>
                    </a:solidFill>
                  </a:tcPr>
                </a:tc>
                <a:extLst>
                  <a:ext uri="{0D108BD9-81ED-4DB2-BD59-A6C34878D82A}">
                    <a16:rowId xmlns:a16="http://schemas.microsoft.com/office/drawing/2014/main" val="10003"/>
                  </a:ext>
                </a:extLst>
              </a:tr>
              <a:tr h="327660">
                <a:tc>
                  <a:txBody>
                    <a:bodyPr/>
                    <a:lstStyle/>
                    <a:p>
                      <a:pPr algn="l"/>
                      <a:r>
                        <a:rPr sz="1000" b="0">
                          <a:solidFill>
                            <a:srgbClr val="333333"/>
                          </a:solidFill>
                          <a:latin typeface="Calibri"/>
                        </a:rPr>
                        <a:t>Gold</a:t>
                      </a:r>
                    </a:p>
                  </a:txBody>
                  <a:tcPr>
                    <a:solidFill>
                      <a:srgbClr val="F0F4FA"/>
                    </a:solidFill>
                  </a:tcPr>
                </a:tc>
                <a:tc>
                  <a:txBody>
                    <a:bodyPr/>
                    <a:lstStyle/>
                    <a:p>
                      <a:pPr algn="l"/>
                      <a:r>
                        <a:rPr sz="1000" b="0">
                          <a:solidFill>
                            <a:srgbClr val="333333"/>
                          </a:solidFill>
                          <a:latin typeface="Calibri"/>
                        </a:rPr>
                        <a:t>10</a:t>
                      </a:r>
                    </a:p>
                  </a:txBody>
                  <a:tcPr>
                    <a:solidFill>
                      <a:srgbClr val="F0F4FA"/>
                    </a:solidFill>
                  </a:tcPr>
                </a:tc>
                <a:extLst>
                  <a:ext uri="{0D108BD9-81ED-4DB2-BD59-A6C34878D82A}">
                    <a16:rowId xmlns:a16="http://schemas.microsoft.com/office/drawing/2014/main" val="10004"/>
                  </a:ext>
                </a:extLst>
              </a:tr>
              <a:tr h="327660">
                <a:tc>
                  <a:txBody>
                    <a:bodyPr/>
                    <a:lstStyle/>
                    <a:p>
                      <a:pPr algn="l"/>
                      <a:r>
                        <a:rPr sz="1000" b="0">
                          <a:solidFill>
                            <a:srgbClr val="333333"/>
                          </a:solidFill>
                          <a:latin typeface="Calibri"/>
                        </a:rPr>
                        <a:t>Pipeline</a:t>
                      </a:r>
                    </a:p>
                  </a:txBody>
                  <a:tcPr>
                    <a:solidFill>
                      <a:srgbClr val="FFFFFF"/>
                    </a:solidFill>
                  </a:tcPr>
                </a:tc>
                <a:tc>
                  <a:txBody>
                    <a:bodyPr/>
                    <a:lstStyle/>
                    <a:p>
                      <a:pPr algn="l"/>
                      <a:r>
                        <a:rPr sz="1000" b="0">
                          <a:solidFill>
                            <a:srgbClr val="333333"/>
                          </a:solidFill>
                          <a:latin typeface="Calibri"/>
                        </a:rPr>
                        <a:t>11, 12</a:t>
                      </a:r>
                    </a:p>
                  </a:txBody>
                  <a:tcP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131</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Docker Environment</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Spark master coordinates cluster resources.</a:t>
            </a:r>
          </a:p>
          <a:p>
            <a:pPr>
              <a:spcAft>
                <a:spcPts val="500"/>
              </a:spcAft>
              <a:defRPr sz="1300">
                <a:solidFill>
                  <a:srgbClr val="333333"/>
                </a:solidFill>
                <a:latin typeface="Calibri"/>
              </a:defRPr>
            </a:pPr>
            <a:r>
              <a:t>• Spark worker executes distributed tasks.</a:t>
            </a:r>
          </a:p>
          <a:p>
            <a:pPr>
              <a:spcAft>
                <a:spcPts val="500"/>
              </a:spcAft>
              <a:defRPr sz="1300">
                <a:solidFill>
                  <a:srgbClr val="333333"/>
                </a:solidFill>
                <a:latin typeface="Calibri"/>
              </a:defRPr>
            </a:pPr>
            <a:r>
              <a:t>• Spark client runs lab scripts.</a:t>
            </a:r>
          </a:p>
          <a:p>
            <a:pPr>
              <a:spcAft>
                <a:spcPts val="500"/>
              </a:spcAft>
              <a:defRPr sz="1300">
                <a:solidFill>
                  <a:srgbClr val="333333"/>
                </a:solidFill>
                <a:latin typeface="Calibri"/>
              </a:defRPr>
            </a:pPr>
            <a:r>
              <a:t>• MinIO is the Day 7 object-store target; Kafka is only pre-staged.</a:t>
            </a:r>
          </a:p>
        </p:txBody>
      </p:sp>
      <p:sp>
        <p:nvSpPr>
          <p:cNvPr id="5" name="Rounded Rectangle 4"/>
          <p:cNvSpPr/>
          <p:nvPr/>
        </p:nvSpPr>
        <p:spPr>
          <a:xfrm>
            <a:off x="502920" y="2606040"/>
            <a:ext cx="8138160" cy="2788920"/>
          </a:xfrm>
          <a:prstGeom prst="roundRect">
            <a:avLst/>
          </a:prstGeom>
          <a:solidFill>
            <a:srgbClr val="FFFFFF"/>
          </a:solidFill>
          <a:ln w="12700">
            <a:solidFill>
              <a:srgbClr val="90A4A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585858"/>
                </a:solidFill>
                <a:latin typeface="Calibri"/>
              </a:rPr>
              <a:t>day7-lab Docker network</a:t>
            </a:r>
          </a:p>
        </p:txBody>
      </p:sp>
      <p:sp>
        <p:nvSpPr>
          <p:cNvPr id="6" name="Rounded Rectangle 5"/>
          <p:cNvSpPr/>
          <p:nvPr/>
        </p:nvSpPr>
        <p:spPr>
          <a:xfrm>
            <a:off x="914400" y="2971800"/>
            <a:ext cx="1325880" cy="566928"/>
          </a:xfrm>
          <a:prstGeom prst="roundRect">
            <a:avLst/>
          </a:prstGeom>
          <a:solidFill>
            <a:srgbClr val="E3F2FD"/>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50" b="1">
                <a:solidFill>
                  <a:srgbClr val="333333"/>
                </a:solidFill>
                <a:latin typeface="Calibri"/>
              </a:rPr>
              <a:t>spark-master
8081</a:t>
            </a:r>
          </a:p>
        </p:txBody>
      </p:sp>
      <p:sp>
        <p:nvSpPr>
          <p:cNvPr id="7" name="Rounded Rectangle 6"/>
          <p:cNvSpPr/>
          <p:nvPr/>
        </p:nvSpPr>
        <p:spPr>
          <a:xfrm>
            <a:off x="2743200" y="2971800"/>
            <a:ext cx="1325880" cy="566928"/>
          </a:xfrm>
          <a:prstGeom prst="roundRect">
            <a:avLst/>
          </a:prstGeom>
          <a:solidFill>
            <a:srgbClr val="E3F2FD"/>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50" b="1">
                <a:solidFill>
                  <a:srgbClr val="333333"/>
                </a:solidFill>
                <a:latin typeface="Calibri"/>
              </a:rPr>
              <a:t>spark-worker</a:t>
            </a:r>
          </a:p>
        </p:txBody>
      </p:sp>
      <p:sp>
        <p:nvSpPr>
          <p:cNvPr id="8" name="Rounded Rectangle 7"/>
          <p:cNvSpPr/>
          <p:nvPr/>
        </p:nvSpPr>
        <p:spPr>
          <a:xfrm>
            <a:off x="4572000" y="2971800"/>
            <a:ext cx="1325880" cy="566928"/>
          </a:xfrm>
          <a:prstGeom prst="roundRect">
            <a:avLst/>
          </a:prstGeom>
          <a:solidFill>
            <a:srgbClr val="E3F2FD"/>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50" b="1">
                <a:solidFill>
                  <a:srgbClr val="333333"/>
                </a:solidFill>
                <a:latin typeface="Calibri"/>
              </a:rPr>
              <a:t>spark-client</a:t>
            </a:r>
          </a:p>
        </p:txBody>
      </p:sp>
      <p:sp>
        <p:nvSpPr>
          <p:cNvPr id="9" name="Rounded Rectangle 8"/>
          <p:cNvSpPr/>
          <p:nvPr/>
        </p:nvSpPr>
        <p:spPr>
          <a:xfrm>
            <a:off x="6400800" y="2971800"/>
            <a:ext cx="1325880" cy="566928"/>
          </a:xfrm>
          <a:prstGeom prst="roundRect">
            <a:avLst/>
          </a:prstGeom>
          <a:solidFill>
            <a:srgbClr val="E3F2FD"/>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50" b="1">
                <a:solidFill>
                  <a:srgbClr val="333333"/>
                </a:solidFill>
                <a:latin typeface="Calibri"/>
              </a:rPr>
              <a:t>minio
bucket UI 9001</a:t>
            </a:r>
          </a:p>
        </p:txBody>
      </p:sp>
      <p:sp>
        <p:nvSpPr>
          <p:cNvPr id="10" name="Rounded Rectangle 9"/>
          <p:cNvSpPr/>
          <p:nvPr/>
        </p:nvSpPr>
        <p:spPr>
          <a:xfrm>
            <a:off x="2743200" y="4343400"/>
            <a:ext cx="1325880" cy="566928"/>
          </a:xfrm>
          <a:prstGeom prst="roundRect">
            <a:avLst/>
          </a:prstGeom>
          <a:solidFill>
            <a:srgbClr val="E3F2FD"/>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50" b="1">
                <a:solidFill>
                  <a:srgbClr val="333333"/>
                </a:solidFill>
                <a:latin typeface="Calibri"/>
              </a:rPr>
              <a:t>zookeeper
optional</a:t>
            </a:r>
          </a:p>
        </p:txBody>
      </p:sp>
      <p:sp>
        <p:nvSpPr>
          <p:cNvPr id="11" name="Rounded Rectangle 10"/>
          <p:cNvSpPr/>
          <p:nvPr/>
        </p:nvSpPr>
        <p:spPr>
          <a:xfrm>
            <a:off x="4572000" y="4343400"/>
            <a:ext cx="1325880" cy="566928"/>
          </a:xfrm>
          <a:prstGeom prst="roundRect">
            <a:avLst/>
          </a:prstGeom>
          <a:solidFill>
            <a:srgbClr val="E3F2FD"/>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50" b="1">
                <a:solidFill>
                  <a:srgbClr val="333333"/>
                </a:solidFill>
                <a:latin typeface="Calibri"/>
              </a:rPr>
              <a:t>kafka
optional</a:t>
            </a:r>
          </a:p>
        </p:txBody>
      </p:sp>
      <p:sp>
        <p:nvSpPr>
          <p:cNvPr id="12" name="TextBox 11"/>
          <p:cNvSpPr txBox="1"/>
          <p:nvPr/>
        </p:nvSpPr>
        <p:spPr>
          <a:xfrm>
            <a:off x="2240280" y="3163824"/>
            <a:ext cx="320040" cy="164592"/>
          </a:xfrm>
          <a:prstGeom prst="rect">
            <a:avLst/>
          </a:prstGeom>
          <a:noFill/>
        </p:spPr>
        <p:txBody>
          <a:bodyPr wrap="square" lIns="73152" tIns="36576" rIns="73152" bIns="36576" anchor="t">
            <a:spAutoFit/>
          </a:bodyPr>
          <a:lstStyle/>
          <a:p>
            <a:pPr algn="ctr"/>
            <a:r>
              <a:rPr sz="1000" b="1">
                <a:solidFill>
                  <a:srgbClr val="002060"/>
                </a:solidFill>
                <a:latin typeface="Calibri"/>
              </a:rPr>
              <a:t>→</a:t>
            </a:r>
          </a:p>
        </p:txBody>
      </p:sp>
      <p:sp>
        <p:nvSpPr>
          <p:cNvPr id="13" name="TextBox 12"/>
          <p:cNvSpPr txBox="1"/>
          <p:nvPr/>
        </p:nvSpPr>
        <p:spPr>
          <a:xfrm>
            <a:off x="4069080" y="3163824"/>
            <a:ext cx="320040" cy="164592"/>
          </a:xfrm>
          <a:prstGeom prst="rect">
            <a:avLst/>
          </a:prstGeom>
          <a:noFill/>
        </p:spPr>
        <p:txBody>
          <a:bodyPr wrap="square" lIns="73152" tIns="36576" rIns="73152" bIns="36576" anchor="t">
            <a:spAutoFit/>
          </a:bodyPr>
          <a:lstStyle/>
          <a:p>
            <a:pPr algn="ctr"/>
            <a:r>
              <a:rPr sz="1000" b="1">
                <a:solidFill>
                  <a:srgbClr val="002060"/>
                </a:solidFill>
                <a:latin typeface="Calibri"/>
              </a:rPr>
              <a:t>→</a:t>
            </a:r>
          </a:p>
        </p:txBody>
      </p:sp>
      <p:sp>
        <p:nvSpPr>
          <p:cNvPr id="14" name="TextBox 13"/>
          <p:cNvSpPr txBox="1"/>
          <p:nvPr/>
        </p:nvSpPr>
        <p:spPr>
          <a:xfrm>
            <a:off x="5897880" y="3163824"/>
            <a:ext cx="320040" cy="164592"/>
          </a:xfrm>
          <a:prstGeom prst="rect">
            <a:avLst/>
          </a:prstGeom>
          <a:noFill/>
        </p:spPr>
        <p:txBody>
          <a:bodyPr wrap="square" lIns="73152" tIns="36576" rIns="73152" bIns="36576" anchor="t">
            <a:spAutoFit/>
          </a:bodyPr>
          <a:lstStyle/>
          <a:p>
            <a:pPr algn="ctr"/>
            <a:r>
              <a:rPr sz="1000" b="1">
                <a:solidFill>
                  <a:srgbClr val="002060"/>
                </a:solidFill>
                <a:latin typeface="Calibri"/>
              </a:rPr>
              <a:t>→</a:t>
            </a:r>
          </a:p>
        </p:txBody>
      </p:sp>
      <p:sp>
        <p:nvSpPr>
          <p:cNvPr id="15" name="TextBox 14"/>
          <p:cNvSpPr txBox="1"/>
          <p:nvPr/>
        </p:nvSpPr>
        <p:spPr>
          <a:xfrm>
            <a:off x="4069080" y="4535424"/>
            <a:ext cx="320040" cy="164592"/>
          </a:xfrm>
          <a:prstGeom prst="rect">
            <a:avLst/>
          </a:prstGeom>
          <a:noFill/>
        </p:spPr>
        <p:txBody>
          <a:bodyPr wrap="square" lIns="73152" tIns="36576" rIns="73152" bIns="36576" anchor="t">
            <a:spAutoFit/>
          </a:bodyPr>
          <a:lstStyle/>
          <a:p>
            <a:pPr algn="ctr"/>
            <a:r>
              <a:rPr sz="1000" b="1">
                <a:solidFill>
                  <a:srgbClr val="002060"/>
                </a:solidFill>
                <a:latin typeface="Calibri"/>
              </a:rPr>
              <a:t>→</a:t>
            </a:r>
          </a:p>
        </p:txBody>
      </p:sp>
      <p:sp>
        <p:nvSpPr>
          <p:cNvPr id="16" name="TextBox 15"/>
          <p:cNvSpPr txBox="1"/>
          <p:nvPr/>
        </p:nvSpPr>
        <p:spPr>
          <a:xfrm>
            <a:off x="1005840" y="4983480"/>
            <a:ext cx="7132320" cy="237744"/>
          </a:xfrm>
          <a:prstGeom prst="rect">
            <a:avLst/>
          </a:prstGeom>
          <a:noFill/>
        </p:spPr>
        <p:txBody>
          <a:bodyPr wrap="square" lIns="73152" tIns="36576" rIns="73152" bIns="36576" anchor="t">
            <a:spAutoFit/>
          </a:bodyPr>
          <a:lstStyle/>
          <a:p>
            <a:pPr algn="ctr"/>
            <a:r>
              <a:rPr sz="1050" b="0">
                <a:solidFill>
                  <a:srgbClr val="585858"/>
                </a:solidFill>
                <a:latin typeface="Calibri"/>
              </a:rPr>
              <a:t>Day 7 focus: Spark writes lakehouse files; MinIO makes Bronze/Silver/Gold buckets visible.</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132</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MinIO Bucket Objective</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The visible lab outcome is a lakehouse bucket learners can inspect.</a:t>
            </a:r>
          </a:p>
          <a:p>
            <a:pPr>
              <a:spcAft>
                <a:spcPts val="500"/>
              </a:spcAft>
              <a:defRPr sz="1300">
                <a:solidFill>
                  <a:srgbClr val="333333"/>
                </a:solidFill>
                <a:latin typeface="Calibri"/>
              </a:defRPr>
            </a:pPr>
            <a:r>
              <a:t>• Bronze, Silver, Gold, and quarantine paths show how data matures.</a:t>
            </a:r>
          </a:p>
          <a:p>
            <a:pPr>
              <a:spcAft>
                <a:spcPts val="500"/>
              </a:spcAft>
              <a:defRPr sz="1300">
                <a:solidFill>
                  <a:srgbClr val="333333"/>
                </a:solidFill>
                <a:latin typeface="Calibri"/>
              </a:defRPr>
            </a:pPr>
            <a:r>
              <a:t>• Spark writes Parquet; MinIO makes the layer boundaries tangible.</a:t>
            </a:r>
          </a:p>
        </p:txBody>
      </p:sp>
      <p:sp>
        <p:nvSpPr>
          <p:cNvPr id="5" name="Rectangle 4"/>
          <p:cNvSpPr/>
          <p:nvPr/>
        </p:nvSpPr>
        <p:spPr>
          <a:xfrm>
            <a:off x="685800" y="2514600"/>
            <a:ext cx="7772400" cy="475488"/>
          </a:xfrm>
          <a:prstGeom prst="rect">
            <a:avLst/>
          </a:prstGeom>
          <a:solidFill>
            <a:srgbClr val="002060"/>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FFFFFF"/>
                </a:solidFill>
                <a:latin typeface="Calibri"/>
              </a:rPr>
              <a:t>MinIO Object Store: day7-lakehouse bucket</a:t>
            </a:r>
          </a:p>
        </p:txBody>
      </p:sp>
      <p:sp>
        <p:nvSpPr>
          <p:cNvPr id="6" name="Rounded Rectangle 5"/>
          <p:cNvSpPr/>
          <p:nvPr/>
        </p:nvSpPr>
        <p:spPr>
          <a:xfrm>
            <a:off x="868680" y="3337560"/>
            <a:ext cx="1600200" cy="1051560"/>
          </a:xfrm>
          <a:prstGeom prst="roundRect">
            <a:avLst/>
          </a:prstGeom>
          <a:solidFill>
            <a:srgbClr val="CD7F32"/>
          </a:solidFill>
          <a:ln w="12700">
            <a:solidFill>
              <a:srgbClr val="8C8C8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50" b="1">
                <a:solidFill>
                  <a:srgbClr val="FFFFFF"/>
                </a:solidFill>
                <a:latin typeface="Calibri"/>
              </a:rPr>
              <a:t>bronze/
Raw files + metadata
orders_raw/</a:t>
            </a:r>
          </a:p>
        </p:txBody>
      </p:sp>
      <p:sp>
        <p:nvSpPr>
          <p:cNvPr id="7" name="Rounded Rectangle 6"/>
          <p:cNvSpPr/>
          <p:nvPr/>
        </p:nvSpPr>
        <p:spPr>
          <a:xfrm>
            <a:off x="2807208" y="3337560"/>
            <a:ext cx="1600200" cy="1051560"/>
          </a:xfrm>
          <a:prstGeom prst="roundRect">
            <a:avLst/>
          </a:prstGeom>
          <a:solidFill>
            <a:srgbClr val="C0C0C0"/>
          </a:solidFill>
          <a:ln w="12700">
            <a:solidFill>
              <a:srgbClr val="8C8C8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50" b="1">
                <a:solidFill>
                  <a:srgbClr val="333333"/>
                </a:solidFill>
                <a:latin typeface="Calibri"/>
              </a:rPr>
              <a:t>silver/
Valid, current,
enriched tables</a:t>
            </a:r>
          </a:p>
        </p:txBody>
      </p:sp>
      <p:sp>
        <p:nvSpPr>
          <p:cNvPr id="8" name="Rounded Rectangle 7"/>
          <p:cNvSpPr/>
          <p:nvPr/>
        </p:nvSpPr>
        <p:spPr>
          <a:xfrm>
            <a:off x="4745736" y="3337560"/>
            <a:ext cx="1600200" cy="1051560"/>
          </a:xfrm>
          <a:prstGeom prst="roundRect">
            <a:avLst/>
          </a:prstGeom>
          <a:solidFill>
            <a:srgbClr val="FFD700"/>
          </a:solidFill>
          <a:ln w="12700">
            <a:solidFill>
              <a:srgbClr val="8C8C8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50" b="1">
                <a:solidFill>
                  <a:srgbClr val="333333"/>
                </a:solidFill>
                <a:latin typeface="Calibri"/>
              </a:rPr>
              <a:t>gold/
Revenue KPIs
BI-ready outputs</a:t>
            </a:r>
          </a:p>
        </p:txBody>
      </p:sp>
      <p:sp>
        <p:nvSpPr>
          <p:cNvPr id="9" name="Rounded Rectangle 8"/>
          <p:cNvSpPr/>
          <p:nvPr/>
        </p:nvSpPr>
        <p:spPr>
          <a:xfrm>
            <a:off x="6684264" y="3337560"/>
            <a:ext cx="1600200" cy="1051560"/>
          </a:xfrm>
          <a:prstGeom prst="roundRect">
            <a:avLst/>
          </a:prstGeom>
          <a:solidFill>
            <a:srgbClr val="E74C3C"/>
          </a:solidFill>
          <a:ln w="12700">
            <a:solidFill>
              <a:srgbClr val="8C8C8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50" b="1">
                <a:solidFill>
                  <a:srgbClr val="FFFFFF"/>
                </a:solidFill>
                <a:latin typeface="Calibri"/>
              </a:rPr>
              <a:t>quarantine/
Invalid records
with reasons</a:t>
            </a:r>
          </a:p>
        </p:txBody>
      </p:sp>
      <p:sp>
        <p:nvSpPr>
          <p:cNvPr id="10" name="Rounded Rectangle 9"/>
          <p:cNvSpPr/>
          <p:nvPr/>
        </p:nvSpPr>
        <p:spPr>
          <a:xfrm>
            <a:off x="1234440" y="4892040"/>
            <a:ext cx="1969008" cy="621792"/>
          </a:xfrm>
          <a:prstGeom prst="roundRect">
            <a:avLst/>
          </a:prstGeom>
          <a:solidFill>
            <a:srgbClr val="E3F2FD"/>
          </a:solidFill>
          <a:ln w="12700">
            <a:solidFill>
              <a:srgbClr val="90A4A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333333"/>
                </a:solidFill>
                <a:latin typeface="Calibri"/>
              </a:rPr>
              <a:t>Spark writes Parquet</a:t>
            </a:r>
          </a:p>
        </p:txBody>
      </p:sp>
      <p:sp>
        <p:nvSpPr>
          <p:cNvPr id="11" name="Rectangle 10"/>
          <p:cNvSpPr/>
          <p:nvPr/>
        </p:nvSpPr>
        <p:spPr>
          <a:xfrm>
            <a:off x="3267456" y="5102352"/>
            <a:ext cx="256032" cy="164592"/>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002060"/>
                </a:solidFill>
                <a:latin typeface="Calibri"/>
              </a:rPr>
              <a:t>→</a:t>
            </a:r>
          </a:p>
        </p:txBody>
      </p:sp>
      <p:sp>
        <p:nvSpPr>
          <p:cNvPr id="12" name="Rounded Rectangle 11"/>
          <p:cNvSpPr/>
          <p:nvPr/>
        </p:nvSpPr>
        <p:spPr>
          <a:xfrm>
            <a:off x="3587496" y="4892040"/>
            <a:ext cx="1969008" cy="621792"/>
          </a:xfrm>
          <a:prstGeom prst="roundRect">
            <a:avLst/>
          </a:prstGeom>
          <a:solidFill>
            <a:srgbClr val="FFFFFF"/>
          </a:solidFill>
          <a:ln w="12700">
            <a:solidFill>
              <a:srgbClr val="90A4A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333333"/>
                </a:solidFill>
                <a:latin typeface="Calibri"/>
              </a:rPr>
              <a:t>MinIO stores lake paths</a:t>
            </a:r>
          </a:p>
        </p:txBody>
      </p:sp>
      <p:sp>
        <p:nvSpPr>
          <p:cNvPr id="13" name="Rectangle 12"/>
          <p:cNvSpPr/>
          <p:nvPr/>
        </p:nvSpPr>
        <p:spPr>
          <a:xfrm>
            <a:off x="5620512" y="5102352"/>
            <a:ext cx="256032" cy="164592"/>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002060"/>
                </a:solidFill>
                <a:latin typeface="Calibri"/>
              </a:rPr>
              <a:t>→</a:t>
            </a:r>
          </a:p>
        </p:txBody>
      </p:sp>
      <p:sp>
        <p:nvSpPr>
          <p:cNvPr id="14" name="Rounded Rectangle 13"/>
          <p:cNvSpPr/>
          <p:nvPr/>
        </p:nvSpPr>
        <p:spPr>
          <a:xfrm>
            <a:off x="5940551" y="4892040"/>
            <a:ext cx="1969008" cy="621792"/>
          </a:xfrm>
          <a:prstGeom prst="roundRect">
            <a:avLst/>
          </a:prstGeom>
          <a:solidFill>
            <a:srgbClr val="E9F7EF"/>
          </a:solidFill>
          <a:ln w="12700">
            <a:solidFill>
              <a:srgbClr val="90A4A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333333"/>
                </a:solidFill>
                <a:latin typeface="Calibri"/>
              </a:rPr>
              <a:t>Learners inspect buckets</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135</a:t>
            </a:r>
          </a:p>
        </p:txBody>
      </p:sp>
      <p:sp>
        <p:nvSpPr>
          <p:cNvPr id="3" name="Rectangle 2"/>
          <p:cNvSpPr/>
          <p:nvPr/>
        </p:nvSpPr>
        <p:spPr>
          <a:xfrm>
            <a:off x="201168" y="868680"/>
            <a:ext cx="73152" cy="5440680"/>
          </a:xfrm>
          <a:prstGeom prst="rect">
            <a:avLst/>
          </a:prstGeom>
          <a:solidFill>
            <a:srgbClr val="002060"/>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8229600" cy="443198"/>
          </a:xfrm>
          <a:prstGeom prst="rect">
            <a:avLst/>
          </a:prstGeom>
          <a:noFill/>
        </p:spPr>
        <p:txBody>
          <a:bodyPr wrap="square" lIns="73152" tIns="36576" rIns="73152" bIns="36576" anchor="t">
            <a:spAutoFit/>
          </a:bodyPr>
          <a:lstStyle/>
          <a:p>
            <a:pPr algn="l"/>
            <a:r>
              <a:rPr lang="en-US" sz="2400" b="1" dirty="0">
                <a:solidFill>
                  <a:srgbClr val="002060"/>
                </a:solidFill>
                <a:latin typeface="Calibri"/>
              </a:rPr>
              <a:t>Mini exercise</a:t>
            </a:r>
            <a:endParaRPr sz="2400" b="1" dirty="0">
              <a:solidFill>
                <a:srgbClr val="002060"/>
              </a:solidFill>
              <a:latin typeface="Calibri"/>
            </a:endParaRPr>
          </a:p>
        </p:txBody>
      </p:sp>
      <p:sp>
        <p:nvSpPr>
          <p:cNvPr id="5" name="TextBox 4"/>
          <p:cNvSpPr txBox="1"/>
          <p:nvPr/>
        </p:nvSpPr>
        <p:spPr>
          <a:xfrm>
            <a:off x="658368" y="868680"/>
            <a:ext cx="7909560" cy="5073697"/>
          </a:xfrm>
          <a:prstGeom prst="rect">
            <a:avLst/>
          </a:prstGeom>
          <a:noFill/>
        </p:spPr>
        <p:txBody>
          <a:bodyPr wrap="square" lIns="27432" tIns="18288" rIns="27432">
            <a:spAutoFit/>
          </a:bodyPr>
          <a:lstStyle/>
          <a:p>
            <a:r>
              <a:rPr lang="en-US" b="1" dirty="0"/>
              <a:t>Q1. What is </a:t>
            </a:r>
            <a:r>
              <a:rPr lang="en-US" b="1" dirty="0" err="1"/>
              <a:t>MinIO</a:t>
            </a:r>
            <a:r>
              <a:rPr lang="en-US" b="1" dirty="0"/>
              <a:t> mainly used for?</a:t>
            </a:r>
          </a:p>
          <a:p>
            <a:r>
              <a:rPr lang="en-US" dirty="0"/>
              <a:t>a) Running SQL queries</a:t>
            </a:r>
            <a:br>
              <a:rPr lang="en-US" dirty="0"/>
            </a:br>
            <a:r>
              <a:rPr lang="en-US" dirty="0"/>
              <a:t>b) Object storage</a:t>
            </a:r>
            <a:br>
              <a:rPr lang="en-US" dirty="0"/>
            </a:br>
            <a:r>
              <a:rPr lang="en-US" dirty="0"/>
              <a:t>c) Message streaming</a:t>
            </a:r>
            <a:br>
              <a:rPr lang="en-US" dirty="0"/>
            </a:br>
            <a:r>
              <a:rPr lang="en-US" dirty="0"/>
              <a:t>d) Data visualization</a:t>
            </a:r>
          </a:p>
          <a:p>
            <a:pPr>
              <a:spcAft>
                <a:spcPts val="300"/>
              </a:spcAft>
              <a:defRPr sz="1200">
                <a:solidFill>
                  <a:srgbClr val="333333"/>
                </a:solidFill>
                <a:latin typeface="Calibri"/>
              </a:defRPr>
            </a:pPr>
            <a:endParaRPr lang="en-US" dirty="0"/>
          </a:p>
          <a:p>
            <a:r>
              <a:rPr lang="en-US" b="1" dirty="0"/>
              <a:t>Q2. In a data lake architecture, </a:t>
            </a:r>
            <a:r>
              <a:rPr lang="en-US" b="1" dirty="0" err="1"/>
              <a:t>MinIO</a:t>
            </a:r>
            <a:r>
              <a:rPr lang="en-US" b="1" dirty="0"/>
              <a:t> is commonly used to store:</a:t>
            </a:r>
          </a:p>
          <a:p>
            <a:r>
              <a:rPr lang="en-US" dirty="0"/>
              <a:t>a) Only user passwords</a:t>
            </a:r>
            <a:br>
              <a:rPr lang="en-US" dirty="0"/>
            </a:br>
            <a:r>
              <a:rPr lang="en-US" dirty="0"/>
              <a:t>b) Files such as Parquet, CSV, JSON, Avro, and Iceberg/Delta data</a:t>
            </a:r>
            <a:br>
              <a:rPr lang="en-US" dirty="0"/>
            </a:br>
            <a:r>
              <a:rPr lang="en-US" dirty="0"/>
              <a:t>c) Only dashboard reports</a:t>
            </a:r>
            <a:br>
              <a:rPr lang="en-US" dirty="0"/>
            </a:br>
            <a:r>
              <a:rPr lang="en-US" dirty="0"/>
              <a:t>d) Only Kafka offsets</a:t>
            </a:r>
          </a:p>
          <a:p>
            <a:pPr>
              <a:spcAft>
                <a:spcPts val="300"/>
              </a:spcAft>
              <a:defRPr sz="1200">
                <a:solidFill>
                  <a:srgbClr val="333333"/>
                </a:solidFill>
                <a:latin typeface="Calibri"/>
              </a:defRPr>
            </a:pPr>
            <a:endParaRPr lang="en-US" dirty="0"/>
          </a:p>
          <a:p>
            <a:r>
              <a:rPr lang="en-US" b="1" dirty="0"/>
              <a:t>Q3. What is a bucket in </a:t>
            </a:r>
            <a:r>
              <a:rPr lang="en-US" b="1" dirty="0" err="1"/>
              <a:t>MinIO</a:t>
            </a:r>
            <a:r>
              <a:rPr lang="en-US" b="1" dirty="0"/>
              <a:t>?</a:t>
            </a:r>
          </a:p>
          <a:p>
            <a:r>
              <a:rPr lang="en-US" dirty="0"/>
              <a:t>a) A Spark cluster</a:t>
            </a:r>
            <a:br>
              <a:rPr lang="en-US" dirty="0"/>
            </a:br>
            <a:r>
              <a:rPr lang="en-US" dirty="0"/>
              <a:t>b) A storage container for objects/files</a:t>
            </a:r>
            <a:br>
              <a:rPr lang="en-US" dirty="0"/>
            </a:br>
            <a:r>
              <a:rPr lang="en-US" dirty="0"/>
              <a:t>c) A Kafka topic</a:t>
            </a:r>
            <a:br>
              <a:rPr lang="en-US" dirty="0"/>
            </a:br>
            <a:r>
              <a:rPr lang="en-US" dirty="0"/>
              <a:t>d) A SQL table</a:t>
            </a:r>
          </a:p>
          <a:p>
            <a:pPr>
              <a:spcAft>
                <a:spcPts val="300"/>
              </a:spcAft>
              <a:defRPr sz="1200">
                <a:solidFill>
                  <a:srgbClr val="333333"/>
                </a:solidFill>
                <a:latin typeface="Calibri"/>
              </a:defRPr>
            </a:pPr>
            <a:endParaRPr lang="en-US" dirty="0"/>
          </a:p>
          <a:p>
            <a:pPr>
              <a:spcAft>
                <a:spcPts val="300"/>
              </a:spcAft>
              <a:defRPr sz="1200">
                <a:solidFill>
                  <a:srgbClr val="333333"/>
                </a:solidFill>
                <a:latin typeface="Calibri"/>
              </a:defRPr>
            </a:pPr>
            <a:endParaRPr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C6D0C-2B8D-8631-8700-ADD13B4AA8C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0A22704-55C8-77B0-39AE-5E8BB4FA3BD6}"/>
              </a:ext>
            </a:extLst>
          </p:cNvPr>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135</a:t>
            </a:r>
          </a:p>
        </p:txBody>
      </p:sp>
      <p:sp>
        <p:nvSpPr>
          <p:cNvPr id="3" name="Rectangle 2">
            <a:extLst>
              <a:ext uri="{FF2B5EF4-FFF2-40B4-BE49-F238E27FC236}">
                <a16:creationId xmlns:a16="http://schemas.microsoft.com/office/drawing/2014/main" id="{E157103C-21E7-1C12-BEE3-21BC6ECE3333}"/>
              </a:ext>
            </a:extLst>
          </p:cNvPr>
          <p:cNvSpPr/>
          <p:nvPr/>
        </p:nvSpPr>
        <p:spPr>
          <a:xfrm>
            <a:off x="201168" y="868680"/>
            <a:ext cx="73152" cy="5440680"/>
          </a:xfrm>
          <a:prstGeom prst="rect">
            <a:avLst/>
          </a:prstGeom>
          <a:solidFill>
            <a:srgbClr val="002060"/>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358DE9BC-2A27-B41F-2F3B-B1EA01CA5FFD}"/>
              </a:ext>
            </a:extLst>
          </p:cNvPr>
          <p:cNvSpPr txBox="1"/>
          <p:nvPr/>
        </p:nvSpPr>
        <p:spPr>
          <a:xfrm>
            <a:off x="457200" y="274320"/>
            <a:ext cx="8229600" cy="443198"/>
          </a:xfrm>
          <a:prstGeom prst="rect">
            <a:avLst/>
          </a:prstGeom>
          <a:noFill/>
        </p:spPr>
        <p:txBody>
          <a:bodyPr wrap="square" lIns="73152" tIns="36576" rIns="73152" bIns="36576" anchor="t">
            <a:spAutoFit/>
          </a:bodyPr>
          <a:lstStyle/>
          <a:p>
            <a:pPr algn="l"/>
            <a:r>
              <a:rPr lang="en-US" sz="2400" b="1" dirty="0">
                <a:solidFill>
                  <a:srgbClr val="002060"/>
                </a:solidFill>
                <a:latin typeface="Calibri"/>
              </a:rPr>
              <a:t>Answers</a:t>
            </a:r>
            <a:endParaRPr sz="2400" b="1" dirty="0">
              <a:solidFill>
                <a:srgbClr val="002060"/>
              </a:solidFill>
              <a:latin typeface="Calibri"/>
            </a:endParaRPr>
          </a:p>
        </p:txBody>
      </p:sp>
      <p:sp>
        <p:nvSpPr>
          <p:cNvPr id="5" name="TextBox 4">
            <a:extLst>
              <a:ext uri="{FF2B5EF4-FFF2-40B4-BE49-F238E27FC236}">
                <a16:creationId xmlns:a16="http://schemas.microsoft.com/office/drawing/2014/main" id="{7A05A133-55EB-D19D-D6F0-9E5AD0CDF245}"/>
              </a:ext>
            </a:extLst>
          </p:cNvPr>
          <p:cNvSpPr txBox="1"/>
          <p:nvPr/>
        </p:nvSpPr>
        <p:spPr>
          <a:xfrm>
            <a:off x="658368" y="868680"/>
            <a:ext cx="7909560" cy="3019288"/>
          </a:xfrm>
          <a:prstGeom prst="rect">
            <a:avLst/>
          </a:prstGeom>
          <a:noFill/>
        </p:spPr>
        <p:txBody>
          <a:bodyPr wrap="square" lIns="27432" tIns="18288" rIns="27432">
            <a:spAutoFit/>
          </a:bodyPr>
          <a:lstStyle/>
          <a:p>
            <a:r>
              <a:rPr lang="en-US" b="1" dirty="0"/>
              <a:t>Q1. What is </a:t>
            </a:r>
            <a:r>
              <a:rPr lang="en-US" b="1" dirty="0" err="1"/>
              <a:t>MinIO</a:t>
            </a:r>
            <a:r>
              <a:rPr lang="en-US" b="1" dirty="0"/>
              <a:t> mainly used for?</a:t>
            </a:r>
          </a:p>
          <a:p>
            <a:r>
              <a:rPr lang="en-US" b="1" dirty="0"/>
              <a:t>Answer:</a:t>
            </a:r>
            <a:r>
              <a:rPr lang="en-US" dirty="0"/>
              <a:t> b) Object storage</a:t>
            </a:r>
          </a:p>
          <a:p>
            <a:endParaRPr lang="en-US" b="1" dirty="0"/>
          </a:p>
          <a:p>
            <a:endParaRPr lang="en-US" b="1" dirty="0"/>
          </a:p>
          <a:p>
            <a:r>
              <a:rPr lang="en-US" b="1" dirty="0"/>
              <a:t>Q2. In a data lake architecture, </a:t>
            </a:r>
            <a:r>
              <a:rPr lang="en-US" b="1" dirty="0" err="1"/>
              <a:t>MinIO</a:t>
            </a:r>
            <a:r>
              <a:rPr lang="en-US" b="1" dirty="0"/>
              <a:t> is commonly used to store:</a:t>
            </a:r>
          </a:p>
          <a:p>
            <a:r>
              <a:rPr lang="en-US" b="1" dirty="0"/>
              <a:t>Answer:</a:t>
            </a:r>
            <a:r>
              <a:rPr lang="en-US" dirty="0"/>
              <a:t> b) Files such as Parquet, CSV, JSON, Avro, and Iceberg/Delta data</a:t>
            </a:r>
          </a:p>
          <a:p>
            <a:br>
              <a:rPr lang="en-US" dirty="0"/>
            </a:br>
            <a:endParaRPr lang="en-US" dirty="0"/>
          </a:p>
          <a:p>
            <a:r>
              <a:rPr lang="en-US" b="1" dirty="0"/>
              <a:t>Q3. What is a bucket in </a:t>
            </a:r>
            <a:r>
              <a:rPr lang="en-US" b="1" dirty="0" err="1"/>
              <a:t>MinIO</a:t>
            </a:r>
            <a:r>
              <a:rPr lang="en-US" b="1" dirty="0"/>
              <a:t>?</a:t>
            </a:r>
          </a:p>
          <a:p>
            <a:r>
              <a:rPr lang="en-US" b="1" dirty="0"/>
              <a:t>Answer:</a:t>
            </a:r>
            <a:r>
              <a:rPr lang="en-US" dirty="0"/>
              <a:t> b) A storage container for objects/files</a:t>
            </a:r>
          </a:p>
          <a:p>
            <a:pPr>
              <a:spcAft>
                <a:spcPts val="300"/>
              </a:spcAft>
              <a:defRPr sz="1200">
                <a:solidFill>
                  <a:srgbClr val="333333"/>
                </a:solidFill>
                <a:latin typeface="Calibri"/>
              </a:defRPr>
            </a:pPr>
            <a:endParaRPr dirty="0"/>
          </a:p>
        </p:txBody>
      </p:sp>
    </p:spTree>
    <p:extLst>
      <p:ext uri="{BB962C8B-B14F-4D97-AF65-F5344CB8AC3E}">
        <p14:creationId xmlns:p14="http://schemas.microsoft.com/office/powerpoint/2010/main" val="288728845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887CC-DAAB-36E9-C3AB-C000C227965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B0B5AFE-8D1B-45C5-5FEA-CDD0F36B32A6}"/>
              </a:ext>
            </a:extLst>
          </p:cNvPr>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135</a:t>
            </a:r>
          </a:p>
        </p:txBody>
      </p:sp>
      <p:sp>
        <p:nvSpPr>
          <p:cNvPr id="3" name="Rectangle 2">
            <a:extLst>
              <a:ext uri="{FF2B5EF4-FFF2-40B4-BE49-F238E27FC236}">
                <a16:creationId xmlns:a16="http://schemas.microsoft.com/office/drawing/2014/main" id="{F7B5038E-CBA4-446F-D138-D4884C0B1DBC}"/>
              </a:ext>
            </a:extLst>
          </p:cNvPr>
          <p:cNvSpPr/>
          <p:nvPr/>
        </p:nvSpPr>
        <p:spPr>
          <a:xfrm>
            <a:off x="201168" y="868680"/>
            <a:ext cx="73152" cy="5440680"/>
          </a:xfrm>
          <a:prstGeom prst="rect">
            <a:avLst/>
          </a:prstGeom>
          <a:solidFill>
            <a:srgbClr val="002060"/>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A20076F1-37C7-DC48-E161-AE867373AE20}"/>
              </a:ext>
            </a:extLst>
          </p:cNvPr>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Key Takeaways: Full Pipeline</a:t>
            </a:r>
          </a:p>
        </p:txBody>
      </p:sp>
      <p:sp>
        <p:nvSpPr>
          <p:cNvPr id="5" name="TextBox 4">
            <a:extLst>
              <a:ext uri="{FF2B5EF4-FFF2-40B4-BE49-F238E27FC236}">
                <a16:creationId xmlns:a16="http://schemas.microsoft.com/office/drawing/2014/main" id="{6BCD03E9-FEF5-A62B-B872-A6EE34A08137}"/>
              </a:ext>
            </a:extLst>
          </p:cNvPr>
          <p:cNvSpPr txBox="1"/>
          <p:nvPr/>
        </p:nvSpPr>
        <p:spPr>
          <a:xfrm>
            <a:off x="658368" y="868680"/>
            <a:ext cx="7909560" cy="5257800"/>
          </a:xfrm>
          <a:prstGeom prst="rect">
            <a:avLst/>
          </a:prstGeom>
          <a:noFill/>
        </p:spPr>
        <p:txBody>
          <a:bodyPr wrap="square" lIns="27432" tIns="18288" rIns="27432">
            <a:spAutoFit/>
          </a:bodyPr>
          <a:lstStyle/>
          <a:p>
            <a:pPr>
              <a:spcAft>
                <a:spcPts val="300"/>
              </a:spcAft>
              <a:defRPr sz="1200">
                <a:solidFill>
                  <a:srgbClr val="333333"/>
                </a:solidFill>
                <a:latin typeface="Calibri"/>
              </a:defRPr>
            </a:pPr>
            <a:r>
              <a:t>• A Medallion pipeline is a sequence of clear layer contracts.</a:t>
            </a:r>
          </a:p>
          <a:p>
            <a:pPr>
              <a:spcAft>
                <a:spcPts val="300"/>
              </a:spcAft>
              <a:defRPr sz="1200">
                <a:solidFill>
                  <a:srgbClr val="333333"/>
                </a:solidFill>
                <a:latin typeface="Calibri"/>
              </a:defRPr>
            </a:pPr>
            <a:r>
              <a:t>• Incremental processing makes reruns efficient and predictable.</a:t>
            </a:r>
          </a:p>
          <a:p>
            <a:pPr>
              <a:spcAft>
                <a:spcPts val="300"/>
              </a:spcAft>
              <a:defRPr sz="1200">
                <a:solidFill>
                  <a:srgbClr val="333333"/>
                </a:solidFill>
                <a:latin typeface="Calibri"/>
              </a:defRPr>
            </a:pPr>
            <a:r>
              <a:t>• Manifests record inputs, outputs, and operational status.</a:t>
            </a:r>
          </a:p>
          <a:p>
            <a:pPr>
              <a:spcAft>
                <a:spcPts val="300"/>
              </a:spcAft>
              <a:defRPr sz="1200">
                <a:solidFill>
                  <a:srgbClr val="333333"/>
                </a:solidFill>
                <a:latin typeface="Calibri"/>
              </a:defRPr>
            </a:pPr>
            <a:r>
              <a:t>• Assertions make pipeline assumptions executable.</a:t>
            </a:r>
          </a:p>
          <a:p>
            <a:pPr>
              <a:spcAft>
                <a:spcPts val="300"/>
              </a:spcAft>
              <a:defRPr sz="1200">
                <a:solidFill>
                  <a:srgbClr val="333333"/>
                </a:solidFill>
                <a:latin typeface="Calibri"/>
              </a:defRPr>
            </a:pPr>
            <a:r>
              <a:t>• The final orchestration turns separate labs into one complete workflow.</a:t>
            </a:r>
          </a:p>
        </p:txBody>
      </p:sp>
    </p:spTree>
    <p:extLst>
      <p:ext uri="{BB962C8B-B14F-4D97-AF65-F5344CB8AC3E}">
        <p14:creationId xmlns:p14="http://schemas.microsoft.com/office/powerpoint/2010/main" val="415937226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136</a:t>
            </a:r>
          </a:p>
        </p:txBody>
      </p:sp>
      <p:sp>
        <p:nvSpPr>
          <p:cNvPr id="3" name="Rectangle 2"/>
          <p:cNvSpPr/>
          <p:nvPr/>
        </p:nvSpPr>
        <p:spPr>
          <a:xfrm>
            <a:off x="0" y="0"/>
            <a:ext cx="9144000" cy="777240"/>
          </a:xfrm>
          <a:prstGeom prst="rect">
            <a:avLst/>
          </a:prstGeom>
          <a:solidFill>
            <a:srgbClr val="002060"/>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82880"/>
            <a:ext cx="8138160" cy="384048"/>
          </a:xfrm>
          <a:prstGeom prst="rect">
            <a:avLst/>
          </a:prstGeom>
          <a:noFill/>
        </p:spPr>
        <p:txBody>
          <a:bodyPr wrap="square" lIns="73152" tIns="36576" rIns="73152" bIns="36576" anchor="t">
            <a:spAutoFit/>
          </a:bodyPr>
          <a:lstStyle/>
          <a:p>
            <a:pPr algn="ctr"/>
            <a:r>
              <a:rPr sz="2000" b="1">
                <a:solidFill>
                  <a:srgbClr val="FFFFFF"/>
                </a:solidFill>
                <a:latin typeface="Calibri"/>
              </a:rPr>
              <a:t>Wrap-Up &amp; Day 8 Preview</a:t>
            </a:r>
          </a:p>
        </p:txBody>
      </p:sp>
      <p:sp>
        <p:nvSpPr>
          <p:cNvPr id="5" name="TextBox 4"/>
          <p:cNvSpPr txBox="1"/>
          <p:nvPr/>
        </p:nvSpPr>
        <p:spPr>
          <a:xfrm>
            <a:off x="822960" y="2487168"/>
            <a:ext cx="7498079" cy="457200"/>
          </a:xfrm>
          <a:prstGeom prst="rect">
            <a:avLst/>
          </a:prstGeom>
          <a:noFill/>
        </p:spPr>
        <p:txBody>
          <a:bodyPr wrap="square" lIns="73152" tIns="36576" rIns="73152" bIns="36576" anchor="t">
            <a:spAutoFit/>
          </a:bodyPr>
          <a:lstStyle/>
          <a:p>
            <a:pPr algn="ctr"/>
            <a:r>
              <a:rPr sz="2400" b="1">
                <a:solidFill>
                  <a:srgbClr val="002060"/>
                </a:solidFill>
                <a:latin typeface="Calibri"/>
              </a:rPr>
              <a:t>Wrap-Up &amp; Day 8 Preview</a:t>
            </a:r>
          </a:p>
        </p:txBody>
      </p:sp>
      <p:sp>
        <p:nvSpPr>
          <p:cNvPr id="6" name="Rectangle 5"/>
          <p:cNvSpPr/>
          <p:nvPr/>
        </p:nvSpPr>
        <p:spPr>
          <a:xfrm>
            <a:off x="2926080" y="3291840"/>
            <a:ext cx="3291840" cy="73152"/>
          </a:xfrm>
          <a:prstGeom prst="rect">
            <a:avLst/>
          </a:prstGeom>
          <a:solidFill>
            <a:srgbClr val="002060"/>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137</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Day 7 Summary — Visual Recap</a:t>
            </a:r>
          </a:p>
        </p:txBody>
      </p:sp>
      <p:sp>
        <p:nvSpPr>
          <p:cNvPr id="4" name="TextBox 3"/>
          <p:cNvSpPr txBox="1"/>
          <p:nvPr/>
        </p:nvSpPr>
        <p:spPr>
          <a:xfrm>
            <a:off x="658368" y="868680"/>
            <a:ext cx="7909560" cy="2057400"/>
          </a:xfrm>
          <a:prstGeom prst="rect">
            <a:avLst/>
          </a:prstGeom>
          <a:noFill/>
        </p:spPr>
        <p:txBody>
          <a:bodyPr wrap="square" lIns="27432" tIns="18288" rIns="27432">
            <a:spAutoFit/>
          </a:bodyPr>
          <a:lstStyle/>
          <a:p>
            <a:pPr>
              <a:spcAft>
                <a:spcPts val="300"/>
              </a:spcAft>
              <a:defRPr sz="1150">
                <a:solidFill>
                  <a:srgbClr val="333333"/>
                </a:solidFill>
                <a:latin typeface="Calibri"/>
              </a:defRPr>
            </a:pPr>
            <a:r>
              <a:t>• Spark provides the distributed compute foundation.</a:t>
            </a:r>
          </a:p>
          <a:p>
            <a:pPr>
              <a:spcAft>
                <a:spcPts val="300"/>
              </a:spcAft>
              <a:defRPr sz="1150">
                <a:solidFill>
                  <a:srgbClr val="333333"/>
                </a:solidFill>
                <a:latin typeface="Calibri"/>
              </a:defRPr>
            </a:pPr>
            <a:r>
              <a:t>• Bronze captures raw data with metadata and replayability.</a:t>
            </a:r>
          </a:p>
          <a:p>
            <a:pPr>
              <a:spcAft>
                <a:spcPts val="300"/>
              </a:spcAft>
              <a:defRPr sz="1150">
                <a:solidFill>
                  <a:srgbClr val="333333"/>
                </a:solidFill>
                <a:latin typeface="Calibri"/>
              </a:defRPr>
            </a:pPr>
            <a:r>
              <a:t>• Silver cleans, validates, deduplicates, and enriches data.</a:t>
            </a:r>
          </a:p>
          <a:p>
            <a:pPr>
              <a:spcAft>
                <a:spcPts val="300"/>
              </a:spcAft>
              <a:defRPr sz="1150">
                <a:solidFill>
                  <a:srgbClr val="333333"/>
                </a:solidFill>
                <a:latin typeface="Calibri"/>
              </a:defRPr>
            </a:pPr>
            <a:r>
              <a:t>• Gold publishes governed KPIs and business-ready tables.</a:t>
            </a:r>
          </a:p>
          <a:p>
            <a:pPr>
              <a:spcAft>
                <a:spcPts val="300"/>
              </a:spcAft>
              <a:defRPr sz="1150">
                <a:solidFill>
                  <a:srgbClr val="333333"/>
                </a:solidFill>
                <a:latin typeface="Calibri"/>
              </a:defRPr>
            </a:pPr>
            <a:r>
              <a:t>• Incremental orchestration ties the layers together.</a:t>
            </a:r>
          </a:p>
        </p:txBody>
      </p:sp>
      <p:sp>
        <p:nvSpPr>
          <p:cNvPr id="5" name="Rounded Rectangle 4"/>
          <p:cNvSpPr/>
          <p:nvPr/>
        </p:nvSpPr>
        <p:spPr>
          <a:xfrm>
            <a:off x="411480" y="2743200"/>
            <a:ext cx="2331720" cy="2331720"/>
          </a:xfrm>
          <a:prstGeom prst="roundRect">
            <a:avLst/>
          </a:prstGeom>
          <a:solidFill>
            <a:srgbClr val="CD7F32"/>
          </a:solidFill>
          <a:ln w="12700">
            <a:solidFill>
              <a:srgbClr val="CD7F3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FFFFFF"/>
                </a:solidFill>
                <a:latin typeface="Calibri"/>
              </a:rPr>
              <a:t>Bronze</a:t>
            </a:r>
          </a:p>
        </p:txBody>
      </p:sp>
      <p:sp>
        <p:nvSpPr>
          <p:cNvPr id="6" name="Rounded Rectangle 5"/>
          <p:cNvSpPr/>
          <p:nvPr/>
        </p:nvSpPr>
        <p:spPr>
          <a:xfrm>
            <a:off x="2907792" y="2743200"/>
            <a:ext cx="3246120" cy="2331720"/>
          </a:xfrm>
          <a:prstGeom prst="roundRect">
            <a:avLst/>
          </a:prstGeom>
          <a:solidFill>
            <a:srgbClr val="C0C0C0"/>
          </a:solidFill>
          <a:ln w="12700">
            <a:solidFill>
              <a:srgbClr val="C0C0C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333333"/>
                </a:solidFill>
                <a:latin typeface="Calibri"/>
              </a:rPr>
              <a:t>Silver</a:t>
            </a:r>
          </a:p>
        </p:txBody>
      </p:sp>
      <p:sp>
        <p:nvSpPr>
          <p:cNvPr id="7" name="Rounded Rectangle 6"/>
          <p:cNvSpPr/>
          <p:nvPr/>
        </p:nvSpPr>
        <p:spPr>
          <a:xfrm>
            <a:off x="6309360" y="2743200"/>
            <a:ext cx="2423160" cy="2331720"/>
          </a:xfrm>
          <a:prstGeom prst="roundRect">
            <a:avLst/>
          </a:prstGeom>
          <a:solidFill>
            <a:srgbClr val="FFD700"/>
          </a:solidFill>
          <a:ln w="12700">
            <a:solidFill>
              <a:srgbClr val="FFD70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333333"/>
                </a:solidFill>
                <a:latin typeface="Calibri"/>
              </a:rPr>
              <a:t>Gold</a:t>
            </a:r>
          </a:p>
        </p:txBody>
      </p:sp>
      <p:sp>
        <p:nvSpPr>
          <p:cNvPr id="8" name="Rounded Rectangle 7"/>
          <p:cNvSpPr/>
          <p:nvPr/>
        </p:nvSpPr>
        <p:spPr>
          <a:xfrm>
            <a:off x="685800" y="3337560"/>
            <a:ext cx="1170432" cy="329184"/>
          </a:xfrm>
          <a:prstGeom prst="roundRect">
            <a:avLst/>
          </a:prstGeom>
          <a:solidFill>
            <a:srgbClr val="FFFFFF"/>
          </a:solidFill>
          <a:ln w="12700">
            <a:solidFill>
              <a:srgbClr val="8C8C8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30" b="1">
                <a:solidFill>
                  <a:srgbClr val="333333"/>
                </a:solidFill>
                <a:latin typeface="Calibri"/>
              </a:rPr>
              <a:t>Sources</a:t>
            </a:r>
          </a:p>
        </p:txBody>
      </p:sp>
      <p:sp>
        <p:nvSpPr>
          <p:cNvPr id="9" name="Rounded Rectangle 8"/>
          <p:cNvSpPr/>
          <p:nvPr/>
        </p:nvSpPr>
        <p:spPr>
          <a:xfrm>
            <a:off x="685800" y="3977639"/>
            <a:ext cx="1170432" cy="329184"/>
          </a:xfrm>
          <a:prstGeom prst="roundRect">
            <a:avLst/>
          </a:prstGeom>
          <a:solidFill>
            <a:srgbClr val="FFFFFF"/>
          </a:solidFill>
          <a:ln w="12700">
            <a:solidFill>
              <a:srgbClr val="8C8C8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30" b="1">
                <a:solidFill>
                  <a:srgbClr val="333333"/>
                </a:solidFill>
                <a:latin typeface="Calibri"/>
              </a:rPr>
              <a:t>Raw + metadata</a:t>
            </a:r>
          </a:p>
        </p:txBody>
      </p:sp>
      <p:sp>
        <p:nvSpPr>
          <p:cNvPr id="10" name="Rounded Rectangle 9"/>
          <p:cNvSpPr/>
          <p:nvPr/>
        </p:nvSpPr>
        <p:spPr>
          <a:xfrm>
            <a:off x="3154680" y="3154680"/>
            <a:ext cx="1170432" cy="329184"/>
          </a:xfrm>
          <a:prstGeom prst="roundRect">
            <a:avLst/>
          </a:prstGeom>
          <a:solidFill>
            <a:srgbClr val="FFFFFF"/>
          </a:solidFill>
          <a:ln w="12700">
            <a:solidFill>
              <a:srgbClr val="8C8C8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30" b="1">
                <a:solidFill>
                  <a:srgbClr val="333333"/>
                </a:solidFill>
                <a:latin typeface="Calibri"/>
              </a:rPr>
              <a:t>Clean</a:t>
            </a:r>
          </a:p>
        </p:txBody>
      </p:sp>
      <p:sp>
        <p:nvSpPr>
          <p:cNvPr id="11" name="Rounded Rectangle 10"/>
          <p:cNvSpPr/>
          <p:nvPr/>
        </p:nvSpPr>
        <p:spPr>
          <a:xfrm>
            <a:off x="4343400" y="3154680"/>
            <a:ext cx="1170432" cy="329184"/>
          </a:xfrm>
          <a:prstGeom prst="roundRect">
            <a:avLst/>
          </a:prstGeom>
          <a:solidFill>
            <a:srgbClr val="FFFFFF"/>
          </a:solidFill>
          <a:ln w="12700">
            <a:solidFill>
              <a:srgbClr val="8C8C8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30" b="1">
                <a:solidFill>
                  <a:srgbClr val="333333"/>
                </a:solidFill>
                <a:latin typeface="Calibri"/>
              </a:rPr>
              <a:t>Quality gate</a:t>
            </a:r>
          </a:p>
        </p:txBody>
      </p:sp>
      <p:sp>
        <p:nvSpPr>
          <p:cNvPr id="12" name="Rounded Rectangle 11"/>
          <p:cNvSpPr/>
          <p:nvPr/>
        </p:nvSpPr>
        <p:spPr>
          <a:xfrm>
            <a:off x="3154680" y="4069080"/>
            <a:ext cx="1170432" cy="329184"/>
          </a:xfrm>
          <a:prstGeom prst="roundRect">
            <a:avLst/>
          </a:prstGeom>
          <a:solidFill>
            <a:srgbClr val="FFFFFF"/>
          </a:solidFill>
          <a:ln w="12700">
            <a:solidFill>
              <a:srgbClr val="8C8C8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30" b="1">
                <a:solidFill>
                  <a:srgbClr val="333333"/>
                </a:solidFill>
                <a:latin typeface="Calibri"/>
              </a:rPr>
              <a:t>CDC</a:t>
            </a:r>
          </a:p>
        </p:txBody>
      </p:sp>
      <p:sp>
        <p:nvSpPr>
          <p:cNvPr id="13" name="Rounded Rectangle 12"/>
          <p:cNvSpPr/>
          <p:nvPr/>
        </p:nvSpPr>
        <p:spPr>
          <a:xfrm>
            <a:off x="4343400" y="4069080"/>
            <a:ext cx="1170432" cy="329184"/>
          </a:xfrm>
          <a:prstGeom prst="roundRect">
            <a:avLst/>
          </a:prstGeom>
          <a:solidFill>
            <a:srgbClr val="FFFFFF"/>
          </a:solidFill>
          <a:ln w="12700">
            <a:solidFill>
              <a:srgbClr val="8C8C8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30" b="1">
                <a:solidFill>
                  <a:srgbClr val="333333"/>
                </a:solidFill>
                <a:latin typeface="Calibri"/>
              </a:rPr>
              <a:t>Enriched</a:t>
            </a:r>
          </a:p>
        </p:txBody>
      </p:sp>
      <p:sp>
        <p:nvSpPr>
          <p:cNvPr id="14" name="Rounded Rectangle 13"/>
          <p:cNvSpPr/>
          <p:nvPr/>
        </p:nvSpPr>
        <p:spPr>
          <a:xfrm>
            <a:off x="6537960" y="3154680"/>
            <a:ext cx="1170432" cy="329184"/>
          </a:xfrm>
          <a:prstGeom prst="roundRect">
            <a:avLst/>
          </a:prstGeom>
          <a:solidFill>
            <a:srgbClr val="FFFFFF"/>
          </a:solidFill>
          <a:ln w="12700">
            <a:solidFill>
              <a:srgbClr val="8C8C8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30" b="1">
                <a:solidFill>
                  <a:srgbClr val="333333"/>
                </a:solidFill>
                <a:latin typeface="Calibri"/>
              </a:rPr>
              <a:t>daily_revenue</a:t>
            </a:r>
          </a:p>
        </p:txBody>
      </p:sp>
      <p:sp>
        <p:nvSpPr>
          <p:cNvPr id="15" name="Rounded Rectangle 14"/>
          <p:cNvSpPr/>
          <p:nvPr/>
        </p:nvSpPr>
        <p:spPr>
          <a:xfrm>
            <a:off x="6537960" y="3794760"/>
            <a:ext cx="1170432" cy="329184"/>
          </a:xfrm>
          <a:prstGeom prst="roundRect">
            <a:avLst/>
          </a:prstGeom>
          <a:solidFill>
            <a:srgbClr val="FFFFFF"/>
          </a:solidFill>
          <a:ln w="12700">
            <a:solidFill>
              <a:srgbClr val="8C8C8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30" b="1">
                <a:solidFill>
                  <a:srgbClr val="333333"/>
                </a:solidFill>
                <a:latin typeface="Calibri"/>
              </a:rPr>
              <a:t>category_revenue</a:t>
            </a:r>
          </a:p>
        </p:txBody>
      </p:sp>
      <p:sp>
        <p:nvSpPr>
          <p:cNvPr id="16" name="Rounded Rectangle 15"/>
          <p:cNvSpPr/>
          <p:nvPr/>
        </p:nvSpPr>
        <p:spPr>
          <a:xfrm>
            <a:off x="6537960" y="4434840"/>
            <a:ext cx="1170432" cy="329184"/>
          </a:xfrm>
          <a:prstGeom prst="roundRect">
            <a:avLst/>
          </a:prstGeom>
          <a:solidFill>
            <a:srgbClr val="FFFFFF"/>
          </a:solidFill>
          <a:ln w="12700">
            <a:solidFill>
              <a:srgbClr val="8C8C8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830" b="1">
                <a:solidFill>
                  <a:srgbClr val="333333"/>
                </a:solidFill>
                <a:latin typeface="Calibri"/>
              </a:rPr>
              <a:t>segment_revenue</a:t>
            </a:r>
          </a:p>
        </p:txBody>
      </p:sp>
      <p:sp>
        <p:nvSpPr>
          <p:cNvPr id="17" name="TextBox 16"/>
          <p:cNvSpPr txBox="1"/>
          <p:nvPr/>
        </p:nvSpPr>
        <p:spPr>
          <a:xfrm>
            <a:off x="2724912" y="3730752"/>
            <a:ext cx="256032" cy="164592"/>
          </a:xfrm>
          <a:prstGeom prst="rect">
            <a:avLst/>
          </a:prstGeom>
          <a:noFill/>
        </p:spPr>
        <p:txBody>
          <a:bodyPr wrap="square" lIns="73152" tIns="36576" rIns="73152" bIns="36576" anchor="t">
            <a:spAutoFit/>
          </a:bodyPr>
          <a:lstStyle/>
          <a:p>
            <a:pPr algn="ctr"/>
            <a:r>
              <a:rPr sz="1000" b="1">
                <a:solidFill>
                  <a:srgbClr val="002060"/>
                </a:solidFill>
                <a:latin typeface="Calibri"/>
              </a:rPr>
              <a:t>→</a:t>
            </a:r>
          </a:p>
        </p:txBody>
      </p:sp>
      <p:sp>
        <p:nvSpPr>
          <p:cNvPr id="18" name="TextBox 17"/>
          <p:cNvSpPr txBox="1"/>
          <p:nvPr/>
        </p:nvSpPr>
        <p:spPr>
          <a:xfrm>
            <a:off x="6144768" y="3730752"/>
            <a:ext cx="256032" cy="164592"/>
          </a:xfrm>
          <a:prstGeom prst="rect">
            <a:avLst/>
          </a:prstGeom>
          <a:noFill/>
        </p:spPr>
        <p:txBody>
          <a:bodyPr wrap="square" lIns="73152" tIns="36576" rIns="73152" bIns="36576" anchor="t">
            <a:spAutoFit/>
          </a:bodyPr>
          <a:lstStyle/>
          <a:p>
            <a:pPr algn="ctr"/>
            <a:r>
              <a:rPr sz="1000" b="1">
                <a:solidFill>
                  <a:srgbClr val="002060"/>
                </a:solidFill>
                <a:latin typeface="Calibri"/>
              </a:rPr>
              <a:t>→</a:t>
            </a:r>
          </a:p>
        </p:txBody>
      </p:sp>
      <p:sp>
        <p:nvSpPr>
          <p:cNvPr id="19" name="Rounded Rectangle 18"/>
          <p:cNvSpPr/>
          <p:nvPr/>
        </p:nvSpPr>
        <p:spPr>
          <a:xfrm>
            <a:off x="1051560" y="5349240"/>
            <a:ext cx="7040880" cy="384048"/>
          </a:xfrm>
          <a:prstGeom prst="roundRect">
            <a:avLst/>
          </a:prstGeom>
          <a:solidFill>
            <a:srgbClr val="E3F2FD"/>
          </a:solidFill>
          <a:ln w="12700">
            <a:solidFill>
              <a:srgbClr val="90CAF9"/>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002060"/>
                </a:solidFill>
                <a:latin typeface="Calibri"/>
              </a:rPr>
              <a:t>MinIO day7-lakehouse bucket: bronze/  silver/  gold/  quarantine/</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138</a:t>
            </a:r>
          </a:p>
        </p:txBody>
      </p:sp>
      <p:sp>
        <p:nvSpPr>
          <p:cNvPr id="3" name="TextBox 2"/>
          <p:cNvSpPr txBox="1"/>
          <p:nvPr/>
        </p:nvSpPr>
        <p:spPr>
          <a:xfrm>
            <a:off x="457200" y="274320"/>
            <a:ext cx="8229600" cy="411480"/>
          </a:xfrm>
          <a:prstGeom prst="rect">
            <a:avLst/>
          </a:prstGeom>
          <a:noFill/>
        </p:spPr>
        <p:txBody>
          <a:bodyPr wrap="square" lIns="73152" tIns="36576" rIns="73152" bIns="36576" anchor="t">
            <a:spAutoFit/>
          </a:bodyPr>
          <a:lstStyle/>
          <a:p>
            <a:pPr algn="l"/>
            <a:r>
              <a:rPr sz="2400" b="1">
                <a:solidFill>
                  <a:srgbClr val="002060"/>
                </a:solidFill>
                <a:latin typeface="Calibri"/>
              </a:rPr>
              <a:t>Lab Exercise Map</a:t>
            </a:r>
          </a:p>
        </p:txBody>
      </p:sp>
      <p:graphicFrame>
        <p:nvGraphicFramePr>
          <p:cNvPr id="4" name="Table 3"/>
          <p:cNvGraphicFramePr>
            <a:graphicFrameLocks noGrp="1"/>
          </p:cNvGraphicFramePr>
          <p:nvPr/>
        </p:nvGraphicFramePr>
        <p:xfrm>
          <a:off x="530352" y="1143000"/>
          <a:ext cx="8092437" cy="4983480"/>
        </p:xfrm>
        <a:graphic>
          <a:graphicData uri="http://schemas.openxmlformats.org/drawingml/2006/table">
            <a:tbl>
              <a:tblPr firstRow="1" bandRow="1">
                <a:tableStyleId>{5C22544A-7EE6-4342-B048-85BDC9FD1C3A}</a:tableStyleId>
              </a:tblPr>
              <a:tblGrid>
                <a:gridCol w="2697479">
                  <a:extLst>
                    <a:ext uri="{9D8B030D-6E8A-4147-A177-3AD203B41FA5}">
                      <a16:colId xmlns:a16="http://schemas.microsoft.com/office/drawing/2014/main" val="20000"/>
                    </a:ext>
                  </a:extLst>
                </a:gridCol>
                <a:gridCol w="2697479">
                  <a:extLst>
                    <a:ext uri="{9D8B030D-6E8A-4147-A177-3AD203B41FA5}">
                      <a16:colId xmlns:a16="http://schemas.microsoft.com/office/drawing/2014/main" val="20001"/>
                    </a:ext>
                  </a:extLst>
                </a:gridCol>
                <a:gridCol w="2697479">
                  <a:extLst>
                    <a:ext uri="{9D8B030D-6E8A-4147-A177-3AD203B41FA5}">
                      <a16:colId xmlns:a16="http://schemas.microsoft.com/office/drawing/2014/main" val="20002"/>
                    </a:ext>
                  </a:extLst>
                </a:gridCol>
              </a:tblGrid>
              <a:tr h="383344">
                <a:tc>
                  <a:txBody>
                    <a:bodyPr/>
                    <a:lstStyle/>
                    <a:p>
                      <a:pPr algn="ctr"/>
                      <a:r>
                        <a:rPr sz="770" b="1">
                          <a:solidFill>
                            <a:srgbClr val="FFFFFF"/>
                          </a:solidFill>
                          <a:latin typeface="Calibri"/>
                        </a:rPr>
                        <a:t>Lab</a:t>
                      </a:r>
                    </a:p>
                  </a:txBody>
                  <a:tcPr>
                    <a:solidFill>
                      <a:srgbClr val="002060"/>
                    </a:solidFill>
                  </a:tcPr>
                </a:tc>
                <a:tc>
                  <a:txBody>
                    <a:bodyPr/>
                    <a:lstStyle/>
                    <a:p>
                      <a:pPr algn="ctr"/>
                      <a:r>
                        <a:rPr sz="770" b="1">
                          <a:solidFill>
                            <a:srgbClr val="FFFFFF"/>
                          </a:solidFill>
                          <a:latin typeface="Calibri"/>
                        </a:rPr>
                        <a:t>Layer</a:t>
                      </a:r>
                    </a:p>
                  </a:txBody>
                  <a:tcPr>
                    <a:solidFill>
                      <a:srgbClr val="002060"/>
                    </a:solidFill>
                  </a:tcPr>
                </a:tc>
                <a:tc>
                  <a:txBody>
                    <a:bodyPr/>
                    <a:lstStyle/>
                    <a:p>
                      <a:pPr algn="ctr"/>
                      <a:r>
                        <a:rPr sz="770" b="1">
                          <a:solidFill>
                            <a:srgbClr val="FFFFFF"/>
                          </a:solidFill>
                          <a:latin typeface="Calibri"/>
                        </a:rPr>
                        <a:t>Description</a:t>
                      </a:r>
                    </a:p>
                  </a:txBody>
                  <a:tcPr>
                    <a:solidFill>
                      <a:srgbClr val="002060"/>
                    </a:solidFill>
                  </a:tcPr>
                </a:tc>
                <a:extLst>
                  <a:ext uri="{0D108BD9-81ED-4DB2-BD59-A6C34878D82A}">
                    <a16:rowId xmlns:a16="http://schemas.microsoft.com/office/drawing/2014/main" val="10000"/>
                  </a:ext>
                </a:extLst>
              </a:tr>
              <a:tr h="383344">
                <a:tc>
                  <a:txBody>
                    <a:bodyPr/>
                    <a:lstStyle/>
                    <a:p>
                      <a:pPr algn="l"/>
                      <a:r>
                        <a:rPr sz="770" b="0">
                          <a:solidFill>
                            <a:srgbClr val="333333"/>
                          </a:solidFill>
                          <a:latin typeface="Calibri"/>
                        </a:rPr>
                        <a:t>01</a:t>
                      </a:r>
                    </a:p>
                  </a:txBody>
                  <a:tcPr>
                    <a:solidFill>
                      <a:srgbClr val="FFFFFF"/>
                    </a:solidFill>
                  </a:tcPr>
                </a:tc>
                <a:tc>
                  <a:txBody>
                    <a:bodyPr/>
                    <a:lstStyle/>
                    <a:p>
                      <a:pPr algn="l"/>
                      <a:r>
                        <a:rPr sz="770" b="0">
                          <a:solidFill>
                            <a:srgbClr val="333333"/>
                          </a:solidFill>
                          <a:latin typeface="Calibri"/>
                        </a:rPr>
                        <a:t>Spark</a:t>
                      </a:r>
                    </a:p>
                  </a:txBody>
                  <a:tcPr>
                    <a:solidFill>
                      <a:srgbClr val="FFFFFF"/>
                    </a:solidFill>
                  </a:tcPr>
                </a:tc>
                <a:tc>
                  <a:txBody>
                    <a:bodyPr/>
                    <a:lstStyle/>
                    <a:p>
                      <a:pPr algn="l"/>
                      <a:r>
                        <a:rPr sz="770" b="0">
                          <a:solidFill>
                            <a:srgbClr val="333333"/>
                          </a:solidFill>
                          <a:latin typeface="Calibri"/>
                        </a:rPr>
                        <a:t>DataFrame basics</a:t>
                      </a:r>
                    </a:p>
                  </a:txBody>
                  <a:tcPr>
                    <a:solidFill>
                      <a:srgbClr val="FFFFFF"/>
                    </a:solidFill>
                  </a:tcPr>
                </a:tc>
                <a:extLst>
                  <a:ext uri="{0D108BD9-81ED-4DB2-BD59-A6C34878D82A}">
                    <a16:rowId xmlns:a16="http://schemas.microsoft.com/office/drawing/2014/main" val="10001"/>
                  </a:ext>
                </a:extLst>
              </a:tr>
              <a:tr h="383344">
                <a:tc>
                  <a:txBody>
                    <a:bodyPr/>
                    <a:lstStyle/>
                    <a:p>
                      <a:pPr algn="l"/>
                      <a:r>
                        <a:rPr sz="770" b="0">
                          <a:solidFill>
                            <a:srgbClr val="333333"/>
                          </a:solidFill>
                          <a:latin typeface="Calibri"/>
                        </a:rPr>
                        <a:t>02</a:t>
                      </a:r>
                    </a:p>
                  </a:txBody>
                  <a:tcPr>
                    <a:solidFill>
                      <a:srgbClr val="F0F4FA"/>
                    </a:solidFill>
                  </a:tcPr>
                </a:tc>
                <a:tc>
                  <a:txBody>
                    <a:bodyPr/>
                    <a:lstStyle/>
                    <a:p>
                      <a:pPr algn="l"/>
                      <a:r>
                        <a:rPr sz="770" b="0">
                          <a:solidFill>
                            <a:srgbClr val="333333"/>
                          </a:solidFill>
                          <a:latin typeface="Calibri"/>
                        </a:rPr>
                        <a:t>Spark SQL</a:t>
                      </a:r>
                    </a:p>
                  </a:txBody>
                  <a:tcPr>
                    <a:solidFill>
                      <a:srgbClr val="F0F4FA"/>
                    </a:solidFill>
                  </a:tcPr>
                </a:tc>
                <a:tc>
                  <a:txBody>
                    <a:bodyPr/>
                    <a:lstStyle/>
                    <a:p>
                      <a:pPr algn="l"/>
                      <a:r>
                        <a:rPr sz="770" b="0">
                          <a:solidFill>
                            <a:srgbClr val="333333"/>
                          </a:solidFill>
                          <a:latin typeface="Calibri"/>
                        </a:rPr>
                        <a:t>Temp views and SQL exploration</a:t>
                      </a:r>
                    </a:p>
                  </a:txBody>
                  <a:tcPr>
                    <a:solidFill>
                      <a:srgbClr val="F0F4FA"/>
                    </a:solidFill>
                  </a:tcPr>
                </a:tc>
                <a:extLst>
                  <a:ext uri="{0D108BD9-81ED-4DB2-BD59-A6C34878D82A}">
                    <a16:rowId xmlns:a16="http://schemas.microsoft.com/office/drawing/2014/main" val="10002"/>
                  </a:ext>
                </a:extLst>
              </a:tr>
              <a:tr h="383344">
                <a:tc>
                  <a:txBody>
                    <a:bodyPr/>
                    <a:lstStyle/>
                    <a:p>
                      <a:pPr algn="l"/>
                      <a:r>
                        <a:rPr sz="770" b="0">
                          <a:solidFill>
                            <a:srgbClr val="333333"/>
                          </a:solidFill>
                          <a:latin typeface="Calibri"/>
                        </a:rPr>
                        <a:t>03</a:t>
                      </a:r>
                    </a:p>
                  </a:txBody>
                  <a:tcPr>
                    <a:solidFill>
                      <a:srgbClr val="FFFFFF"/>
                    </a:solidFill>
                  </a:tcPr>
                </a:tc>
                <a:tc>
                  <a:txBody>
                    <a:bodyPr/>
                    <a:lstStyle/>
                    <a:p>
                      <a:pPr algn="l"/>
                      <a:r>
                        <a:rPr sz="770" b="0">
                          <a:solidFill>
                            <a:srgbClr val="333333"/>
                          </a:solidFill>
                          <a:latin typeface="Calibri"/>
                        </a:rPr>
                        <a:t>Storage</a:t>
                      </a:r>
                    </a:p>
                  </a:txBody>
                  <a:tcPr>
                    <a:solidFill>
                      <a:srgbClr val="FFFFFF"/>
                    </a:solidFill>
                  </a:tcPr>
                </a:tc>
                <a:tc>
                  <a:txBody>
                    <a:bodyPr/>
                    <a:lstStyle/>
                    <a:p>
                      <a:pPr algn="l"/>
                      <a:r>
                        <a:rPr sz="770" b="0">
                          <a:solidFill>
                            <a:srgbClr val="333333"/>
                          </a:solidFill>
                          <a:latin typeface="Calibri"/>
                        </a:rPr>
                        <a:t>Formats and partitioning</a:t>
                      </a:r>
                    </a:p>
                  </a:txBody>
                  <a:tcPr>
                    <a:solidFill>
                      <a:srgbClr val="FFFFFF"/>
                    </a:solidFill>
                  </a:tcPr>
                </a:tc>
                <a:extLst>
                  <a:ext uri="{0D108BD9-81ED-4DB2-BD59-A6C34878D82A}">
                    <a16:rowId xmlns:a16="http://schemas.microsoft.com/office/drawing/2014/main" val="10003"/>
                  </a:ext>
                </a:extLst>
              </a:tr>
              <a:tr h="383344">
                <a:tc>
                  <a:txBody>
                    <a:bodyPr/>
                    <a:lstStyle/>
                    <a:p>
                      <a:pPr algn="l"/>
                      <a:r>
                        <a:rPr sz="770" b="0">
                          <a:solidFill>
                            <a:srgbClr val="333333"/>
                          </a:solidFill>
                          <a:latin typeface="Calibri"/>
                        </a:rPr>
                        <a:t>04</a:t>
                      </a:r>
                    </a:p>
                  </a:txBody>
                  <a:tcPr>
                    <a:solidFill>
                      <a:srgbClr val="F0F4FA"/>
                    </a:solidFill>
                  </a:tcPr>
                </a:tc>
                <a:tc>
                  <a:txBody>
                    <a:bodyPr/>
                    <a:lstStyle/>
                    <a:p>
                      <a:pPr algn="l"/>
                      <a:r>
                        <a:rPr sz="770" b="0">
                          <a:solidFill>
                            <a:srgbClr val="333333"/>
                          </a:solidFill>
                          <a:latin typeface="Calibri"/>
                        </a:rPr>
                        <a:t>Bronze</a:t>
                      </a:r>
                    </a:p>
                  </a:txBody>
                  <a:tcPr>
                    <a:solidFill>
                      <a:srgbClr val="F0F4FA"/>
                    </a:solidFill>
                  </a:tcPr>
                </a:tc>
                <a:tc>
                  <a:txBody>
                    <a:bodyPr/>
                    <a:lstStyle/>
                    <a:p>
                      <a:pPr algn="l"/>
                      <a:r>
                        <a:rPr sz="770" b="0">
                          <a:solidFill>
                            <a:srgbClr val="333333"/>
                          </a:solidFill>
                          <a:latin typeface="Calibri"/>
                        </a:rPr>
                        <a:t>Raw ingestion</a:t>
                      </a:r>
                    </a:p>
                  </a:txBody>
                  <a:tcPr>
                    <a:solidFill>
                      <a:srgbClr val="F0F4FA"/>
                    </a:solidFill>
                  </a:tcPr>
                </a:tc>
                <a:extLst>
                  <a:ext uri="{0D108BD9-81ED-4DB2-BD59-A6C34878D82A}">
                    <a16:rowId xmlns:a16="http://schemas.microsoft.com/office/drawing/2014/main" val="10004"/>
                  </a:ext>
                </a:extLst>
              </a:tr>
              <a:tr h="383344">
                <a:tc>
                  <a:txBody>
                    <a:bodyPr/>
                    <a:lstStyle/>
                    <a:p>
                      <a:pPr algn="l"/>
                      <a:r>
                        <a:rPr sz="770" b="0">
                          <a:solidFill>
                            <a:srgbClr val="333333"/>
                          </a:solidFill>
                          <a:latin typeface="Calibri"/>
                        </a:rPr>
                        <a:t>05</a:t>
                      </a:r>
                    </a:p>
                  </a:txBody>
                  <a:tcPr>
                    <a:solidFill>
                      <a:srgbClr val="FFFFFF"/>
                    </a:solidFill>
                  </a:tcPr>
                </a:tc>
                <a:tc>
                  <a:txBody>
                    <a:bodyPr/>
                    <a:lstStyle/>
                    <a:p>
                      <a:pPr algn="l"/>
                      <a:r>
                        <a:rPr sz="770" b="0">
                          <a:solidFill>
                            <a:srgbClr val="333333"/>
                          </a:solidFill>
                          <a:latin typeface="Calibri"/>
                        </a:rPr>
                        <a:t>Bronze</a:t>
                      </a:r>
                    </a:p>
                  </a:txBody>
                  <a:tcPr>
                    <a:solidFill>
                      <a:srgbClr val="FFFFFF"/>
                    </a:solidFill>
                  </a:tcPr>
                </a:tc>
                <a:tc>
                  <a:txBody>
                    <a:bodyPr/>
                    <a:lstStyle/>
                    <a:p>
                      <a:pPr algn="l"/>
                      <a:r>
                        <a:rPr sz="770" b="0">
                          <a:solidFill>
                            <a:srgbClr val="333333"/>
                          </a:solidFill>
                          <a:latin typeface="Calibri"/>
                        </a:rPr>
                        <a:t>Schema drift</a:t>
                      </a:r>
                    </a:p>
                  </a:txBody>
                  <a:tcPr>
                    <a:solidFill>
                      <a:srgbClr val="FFFFFF"/>
                    </a:solidFill>
                  </a:tcPr>
                </a:tc>
                <a:extLst>
                  <a:ext uri="{0D108BD9-81ED-4DB2-BD59-A6C34878D82A}">
                    <a16:rowId xmlns:a16="http://schemas.microsoft.com/office/drawing/2014/main" val="10005"/>
                  </a:ext>
                </a:extLst>
              </a:tr>
              <a:tr h="383344">
                <a:tc>
                  <a:txBody>
                    <a:bodyPr/>
                    <a:lstStyle/>
                    <a:p>
                      <a:pPr algn="l"/>
                      <a:r>
                        <a:rPr sz="770" b="0">
                          <a:solidFill>
                            <a:srgbClr val="333333"/>
                          </a:solidFill>
                          <a:latin typeface="Calibri"/>
                        </a:rPr>
                        <a:t>06</a:t>
                      </a:r>
                    </a:p>
                  </a:txBody>
                  <a:tcPr>
                    <a:solidFill>
                      <a:srgbClr val="F0F4FA"/>
                    </a:solidFill>
                  </a:tcPr>
                </a:tc>
                <a:tc>
                  <a:txBody>
                    <a:bodyPr/>
                    <a:lstStyle/>
                    <a:p>
                      <a:pPr algn="l"/>
                      <a:r>
                        <a:rPr sz="770" b="0">
                          <a:solidFill>
                            <a:srgbClr val="333333"/>
                          </a:solidFill>
                          <a:latin typeface="Calibri"/>
                        </a:rPr>
                        <a:t>Silver</a:t>
                      </a:r>
                    </a:p>
                  </a:txBody>
                  <a:tcPr>
                    <a:solidFill>
                      <a:srgbClr val="F0F4FA"/>
                    </a:solidFill>
                  </a:tcPr>
                </a:tc>
                <a:tc>
                  <a:txBody>
                    <a:bodyPr/>
                    <a:lstStyle/>
                    <a:p>
                      <a:pPr algn="l"/>
                      <a:r>
                        <a:rPr sz="770" b="0">
                          <a:solidFill>
                            <a:srgbClr val="333333"/>
                          </a:solidFill>
                          <a:latin typeface="Calibri"/>
                        </a:rPr>
                        <a:t>Cleaning and standardization</a:t>
                      </a:r>
                    </a:p>
                  </a:txBody>
                  <a:tcPr>
                    <a:solidFill>
                      <a:srgbClr val="F0F4FA"/>
                    </a:solidFill>
                  </a:tcPr>
                </a:tc>
                <a:extLst>
                  <a:ext uri="{0D108BD9-81ED-4DB2-BD59-A6C34878D82A}">
                    <a16:rowId xmlns:a16="http://schemas.microsoft.com/office/drawing/2014/main" val="10006"/>
                  </a:ext>
                </a:extLst>
              </a:tr>
              <a:tr h="383344">
                <a:tc>
                  <a:txBody>
                    <a:bodyPr/>
                    <a:lstStyle/>
                    <a:p>
                      <a:pPr algn="l"/>
                      <a:r>
                        <a:rPr sz="770" b="0">
                          <a:solidFill>
                            <a:srgbClr val="333333"/>
                          </a:solidFill>
                          <a:latin typeface="Calibri"/>
                        </a:rPr>
                        <a:t>07</a:t>
                      </a:r>
                    </a:p>
                  </a:txBody>
                  <a:tcPr>
                    <a:solidFill>
                      <a:srgbClr val="FFFFFF"/>
                    </a:solidFill>
                  </a:tcPr>
                </a:tc>
                <a:tc>
                  <a:txBody>
                    <a:bodyPr/>
                    <a:lstStyle/>
                    <a:p>
                      <a:pPr algn="l"/>
                      <a:r>
                        <a:rPr sz="770" b="0">
                          <a:solidFill>
                            <a:srgbClr val="333333"/>
                          </a:solidFill>
                          <a:latin typeface="Calibri"/>
                        </a:rPr>
                        <a:t>Silver</a:t>
                      </a:r>
                    </a:p>
                  </a:txBody>
                  <a:tcPr>
                    <a:solidFill>
                      <a:srgbClr val="FFFFFF"/>
                    </a:solidFill>
                  </a:tcPr>
                </a:tc>
                <a:tc>
                  <a:txBody>
                    <a:bodyPr/>
                    <a:lstStyle/>
                    <a:p>
                      <a:pPr algn="l"/>
                      <a:r>
                        <a:rPr sz="770" b="0">
                          <a:solidFill>
                            <a:srgbClr val="333333"/>
                          </a:solidFill>
                          <a:latin typeface="Calibri"/>
                        </a:rPr>
                        <a:t>Quality quarantine</a:t>
                      </a:r>
                    </a:p>
                  </a:txBody>
                  <a:tcPr>
                    <a:solidFill>
                      <a:srgbClr val="FFFFFF"/>
                    </a:solidFill>
                  </a:tcPr>
                </a:tc>
                <a:extLst>
                  <a:ext uri="{0D108BD9-81ED-4DB2-BD59-A6C34878D82A}">
                    <a16:rowId xmlns:a16="http://schemas.microsoft.com/office/drawing/2014/main" val="10007"/>
                  </a:ext>
                </a:extLst>
              </a:tr>
              <a:tr h="383344">
                <a:tc>
                  <a:txBody>
                    <a:bodyPr/>
                    <a:lstStyle/>
                    <a:p>
                      <a:pPr algn="l"/>
                      <a:r>
                        <a:rPr sz="770" b="0">
                          <a:solidFill>
                            <a:srgbClr val="333333"/>
                          </a:solidFill>
                          <a:latin typeface="Calibri"/>
                        </a:rPr>
                        <a:t>08</a:t>
                      </a:r>
                    </a:p>
                  </a:txBody>
                  <a:tcPr>
                    <a:solidFill>
                      <a:srgbClr val="F0F4FA"/>
                    </a:solidFill>
                  </a:tcPr>
                </a:tc>
                <a:tc>
                  <a:txBody>
                    <a:bodyPr/>
                    <a:lstStyle/>
                    <a:p>
                      <a:pPr algn="l"/>
                      <a:r>
                        <a:rPr sz="770" b="0">
                          <a:solidFill>
                            <a:srgbClr val="333333"/>
                          </a:solidFill>
                          <a:latin typeface="Calibri"/>
                        </a:rPr>
                        <a:t>Silver</a:t>
                      </a:r>
                    </a:p>
                  </a:txBody>
                  <a:tcPr>
                    <a:solidFill>
                      <a:srgbClr val="F0F4FA"/>
                    </a:solidFill>
                  </a:tcPr>
                </a:tc>
                <a:tc>
                  <a:txBody>
                    <a:bodyPr/>
                    <a:lstStyle/>
                    <a:p>
                      <a:pPr algn="l"/>
                      <a:r>
                        <a:rPr sz="770" b="0">
                          <a:solidFill>
                            <a:srgbClr val="333333"/>
                          </a:solidFill>
                          <a:latin typeface="Calibri"/>
                        </a:rPr>
                        <a:t>CDC latest state</a:t>
                      </a:r>
                    </a:p>
                  </a:txBody>
                  <a:tcPr>
                    <a:solidFill>
                      <a:srgbClr val="F0F4FA"/>
                    </a:solidFill>
                  </a:tcPr>
                </a:tc>
                <a:extLst>
                  <a:ext uri="{0D108BD9-81ED-4DB2-BD59-A6C34878D82A}">
                    <a16:rowId xmlns:a16="http://schemas.microsoft.com/office/drawing/2014/main" val="10008"/>
                  </a:ext>
                </a:extLst>
              </a:tr>
              <a:tr h="383344">
                <a:tc>
                  <a:txBody>
                    <a:bodyPr/>
                    <a:lstStyle/>
                    <a:p>
                      <a:pPr algn="l"/>
                      <a:r>
                        <a:rPr sz="770" b="0">
                          <a:solidFill>
                            <a:srgbClr val="333333"/>
                          </a:solidFill>
                          <a:latin typeface="Calibri"/>
                        </a:rPr>
                        <a:t>09</a:t>
                      </a:r>
                    </a:p>
                  </a:txBody>
                  <a:tcPr>
                    <a:solidFill>
                      <a:srgbClr val="FFFFFF"/>
                    </a:solidFill>
                  </a:tcPr>
                </a:tc>
                <a:tc>
                  <a:txBody>
                    <a:bodyPr/>
                    <a:lstStyle/>
                    <a:p>
                      <a:pPr algn="l"/>
                      <a:r>
                        <a:rPr sz="770" b="0">
                          <a:solidFill>
                            <a:srgbClr val="333333"/>
                          </a:solidFill>
                          <a:latin typeface="Calibri"/>
                        </a:rPr>
                        <a:t>Silver</a:t>
                      </a:r>
                    </a:p>
                  </a:txBody>
                  <a:tcPr>
                    <a:solidFill>
                      <a:srgbClr val="FFFFFF"/>
                    </a:solidFill>
                  </a:tcPr>
                </a:tc>
                <a:tc>
                  <a:txBody>
                    <a:bodyPr/>
                    <a:lstStyle/>
                    <a:p>
                      <a:pPr algn="l"/>
                      <a:r>
                        <a:rPr sz="770" b="0">
                          <a:solidFill>
                            <a:srgbClr val="333333"/>
                          </a:solidFill>
                          <a:latin typeface="Calibri"/>
                        </a:rPr>
                        <a:t>Enrichment</a:t>
                      </a:r>
                    </a:p>
                  </a:txBody>
                  <a:tcPr>
                    <a:solidFill>
                      <a:srgbClr val="FFFFFF"/>
                    </a:solidFill>
                  </a:tcPr>
                </a:tc>
                <a:extLst>
                  <a:ext uri="{0D108BD9-81ED-4DB2-BD59-A6C34878D82A}">
                    <a16:rowId xmlns:a16="http://schemas.microsoft.com/office/drawing/2014/main" val="10009"/>
                  </a:ext>
                </a:extLst>
              </a:tr>
              <a:tr h="383344">
                <a:tc>
                  <a:txBody>
                    <a:bodyPr/>
                    <a:lstStyle/>
                    <a:p>
                      <a:pPr algn="l"/>
                      <a:r>
                        <a:rPr sz="770" b="0">
                          <a:solidFill>
                            <a:srgbClr val="333333"/>
                          </a:solidFill>
                          <a:latin typeface="Calibri"/>
                        </a:rPr>
                        <a:t>10</a:t>
                      </a:r>
                    </a:p>
                  </a:txBody>
                  <a:tcPr>
                    <a:solidFill>
                      <a:srgbClr val="F0F4FA"/>
                    </a:solidFill>
                  </a:tcPr>
                </a:tc>
                <a:tc>
                  <a:txBody>
                    <a:bodyPr/>
                    <a:lstStyle/>
                    <a:p>
                      <a:pPr algn="l"/>
                      <a:r>
                        <a:rPr sz="770" b="0">
                          <a:solidFill>
                            <a:srgbClr val="333333"/>
                          </a:solidFill>
                          <a:latin typeface="Calibri"/>
                        </a:rPr>
                        <a:t>Gold</a:t>
                      </a:r>
                    </a:p>
                  </a:txBody>
                  <a:tcPr>
                    <a:solidFill>
                      <a:srgbClr val="F0F4FA"/>
                    </a:solidFill>
                  </a:tcPr>
                </a:tc>
                <a:tc>
                  <a:txBody>
                    <a:bodyPr/>
                    <a:lstStyle/>
                    <a:p>
                      <a:pPr algn="l"/>
                      <a:r>
                        <a:rPr sz="770" b="0">
                          <a:solidFill>
                            <a:srgbClr val="333333"/>
                          </a:solidFill>
                          <a:latin typeface="Calibri"/>
                        </a:rPr>
                        <a:t>KPI aggregations</a:t>
                      </a:r>
                    </a:p>
                  </a:txBody>
                  <a:tcPr>
                    <a:solidFill>
                      <a:srgbClr val="F0F4FA"/>
                    </a:solidFill>
                  </a:tcPr>
                </a:tc>
                <a:extLst>
                  <a:ext uri="{0D108BD9-81ED-4DB2-BD59-A6C34878D82A}">
                    <a16:rowId xmlns:a16="http://schemas.microsoft.com/office/drawing/2014/main" val="10010"/>
                  </a:ext>
                </a:extLst>
              </a:tr>
              <a:tr h="383344">
                <a:tc>
                  <a:txBody>
                    <a:bodyPr/>
                    <a:lstStyle/>
                    <a:p>
                      <a:pPr algn="l"/>
                      <a:r>
                        <a:rPr sz="770" b="0">
                          <a:solidFill>
                            <a:srgbClr val="333333"/>
                          </a:solidFill>
                          <a:latin typeface="Calibri"/>
                        </a:rPr>
                        <a:t>11</a:t>
                      </a:r>
                    </a:p>
                  </a:txBody>
                  <a:tcPr>
                    <a:solidFill>
                      <a:srgbClr val="FFFFFF"/>
                    </a:solidFill>
                  </a:tcPr>
                </a:tc>
                <a:tc>
                  <a:txBody>
                    <a:bodyPr/>
                    <a:lstStyle/>
                    <a:p>
                      <a:pPr algn="l"/>
                      <a:r>
                        <a:rPr sz="770" b="0">
                          <a:solidFill>
                            <a:srgbClr val="333333"/>
                          </a:solidFill>
                          <a:latin typeface="Calibri"/>
                        </a:rPr>
                        <a:t>Cross-layer</a:t>
                      </a:r>
                    </a:p>
                  </a:txBody>
                  <a:tcPr>
                    <a:solidFill>
                      <a:srgbClr val="FFFFFF"/>
                    </a:solidFill>
                  </a:tcPr>
                </a:tc>
                <a:tc>
                  <a:txBody>
                    <a:bodyPr/>
                    <a:lstStyle/>
                    <a:p>
                      <a:pPr algn="l"/>
                      <a:r>
                        <a:rPr sz="770" b="0">
                          <a:solidFill>
                            <a:srgbClr val="333333"/>
                          </a:solidFill>
                          <a:latin typeface="Calibri"/>
                        </a:rPr>
                        <a:t>Incremental processing</a:t>
                      </a:r>
                    </a:p>
                  </a:txBody>
                  <a:tcPr>
                    <a:solidFill>
                      <a:srgbClr val="FFFFFF"/>
                    </a:solidFill>
                  </a:tcPr>
                </a:tc>
                <a:extLst>
                  <a:ext uri="{0D108BD9-81ED-4DB2-BD59-A6C34878D82A}">
                    <a16:rowId xmlns:a16="http://schemas.microsoft.com/office/drawing/2014/main" val="10011"/>
                  </a:ext>
                </a:extLst>
              </a:tr>
              <a:tr h="383352">
                <a:tc>
                  <a:txBody>
                    <a:bodyPr/>
                    <a:lstStyle/>
                    <a:p>
                      <a:pPr algn="l"/>
                      <a:r>
                        <a:rPr sz="770" b="0">
                          <a:solidFill>
                            <a:srgbClr val="333333"/>
                          </a:solidFill>
                          <a:latin typeface="Calibri"/>
                        </a:rPr>
                        <a:t>12</a:t>
                      </a:r>
                    </a:p>
                  </a:txBody>
                  <a:tcPr>
                    <a:solidFill>
                      <a:srgbClr val="F0F4FA"/>
                    </a:solidFill>
                  </a:tcPr>
                </a:tc>
                <a:tc>
                  <a:txBody>
                    <a:bodyPr/>
                    <a:lstStyle/>
                    <a:p>
                      <a:pPr algn="l"/>
                      <a:r>
                        <a:rPr sz="770" b="0">
                          <a:solidFill>
                            <a:srgbClr val="333333"/>
                          </a:solidFill>
                          <a:latin typeface="Calibri"/>
                        </a:rPr>
                        <a:t>End-to-end</a:t>
                      </a:r>
                    </a:p>
                  </a:txBody>
                  <a:tcPr>
                    <a:solidFill>
                      <a:srgbClr val="F0F4FA"/>
                    </a:solidFill>
                  </a:tcPr>
                </a:tc>
                <a:tc>
                  <a:txBody>
                    <a:bodyPr/>
                    <a:lstStyle/>
                    <a:p>
                      <a:pPr algn="l"/>
                      <a:r>
                        <a:rPr sz="770" b="0">
                          <a:solidFill>
                            <a:srgbClr val="333333"/>
                          </a:solidFill>
                          <a:latin typeface="Calibri"/>
                        </a:rPr>
                        <a:t>Full pipeline</a:t>
                      </a:r>
                    </a:p>
                  </a:txBody>
                  <a:tcPr>
                    <a:solidFill>
                      <a:srgbClr val="F0F4FA"/>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23560" y="6547104"/>
            <a:ext cx="3063240" cy="164592"/>
          </a:xfrm>
          <a:prstGeom prst="rect">
            <a:avLst/>
          </a:prstGeom>
          <a:noFill/>
        </p:spPr>
        <p:txBody>
          <a:bodyPr wrap="square" lIns="73152" tIns="36576" rIns="73152" bIns="36576" anchor="t">
            <a:spAutoFit/>
          </a:bodyPr>
          <a:lstStyle/>
          <a:p>
            <a:pPr algn="r"/>
            <a:r>
              <a:rPr sz="800" b="0">
                <a:solidFill>
                  <a:srgbClr val="9E9E9E"/>
                </a:solidFill>
                <a:latin typeface="Calibri"/>
              </a:rPr>
              <a:t>Day 7 · Spark &amp; Medallion  |  139</a:t>
            </a:r>
          </a:p>
        </p:txBody>
      </p:sp>
      <p:sp>
        <p:nvSpPr>
          <p:cNvPr id="3" name="TextBox 2"/>
          <p:cNvSpPr txBox="1"/>
          <p:nvPr/>
        </p:nvSpPr>
        <p:spPr>
          <a:xfrm>
            <a:off x="457200" y="274320"/>
            <a:ext cx="8229600" cy="443198"/>
          </a:xfrm>
          <a:prstGeom prst="rect">
            <a:avLst/>
          </a:prstGeom>
          <a:noFill/>
        </p:spPr>
        <p:txBody>
          <a:bodyPr wrap="square" lIns="73152" tIns="36576" rIns="73152" bIns="36576" anchor="t">
            <a:spAutoFit/>
          </a:bodyPr>
          <a:lstStyle/>
          <a:p>
            <a:pPr algn="l"/>
            <a:r>
              <a:rPr sz="2400" b="1" dirty="0">
                <a:solidFill>
                  <a:srgbClr val="002060"/>
                </a:solidFill>
                <a:latin typeface="Calibri"/>
              </a:rPr>
              <a:t>Day 8 — Workflow Orchestration with Airflow</a:t>
            </a:r>
          </a:p>
        </p:txBody>
      </p:sp>
      <p:sp>
        <p:nvSpPr>
          <p:cNvPr id="4" name="TextBox 3"/>
          <p:cNvSpPr txBox="1"/>
          <p:nvPr/>
        </p:nvSpPr>
        <p:spPr>
          <a:xfrm>
            <a:off x="658368" y="868680"/>
            <a:ext cx="7909560" cy="1600200"/>
          </a:xfrm>
          <a:prstGeom prst="rect">
            <a:avLst/>
          </a:prstGeom>
          <a:noFill/>
        </p:spPr>
        <p:txBody>
          <a:bodyPr wrap="square" lIns="27432" tIns="18288" rIns="27432">
            <a:spAutoFit/>
          </a:bodyPr>
          <a:lstStyle/>
          <a:p>
            <a:pPr>
              <a:spcAft>
                <a:spcPts val="500"/>
              </a:spcAft>
              <a:defRPr sz="1300">
                <a:solidFill>
                  <a:srgbClr val="333333"/>
                </a:solidFill>
                <a:latin typeface="Calibri"/>
              </a:defRPr>
            </a:pPr>
            <a:r>
              <a:t>• Airflow Architecture and core concepts.</a:t>
            </a:r>
          </a:p>
          <a:p>
            <a:pPr>
              <a:spcAft>
                <a:spcPts val="500"/>
              </a:spcAft>
              <a:defRPr sz="1300">
                <a:solidFill>
                  <a:srgbClr val="333333"/>
                </a:solidFill>
                <a:latin typeface="Calibri"/>
              </a:defRPr>
            </a:pPr>
            <a:r>
              <a:t>• DAGs (Directed Acyclic Graphs) for pipeline orchestration.</a:t>
            </a:r>
          </a:p>
          <a:p>
            <a:pPr>
              <a:spcAft>
                <a:spcPts val="500"/>
              </a:spcAft>
              <a:defRPr sz="1300">
                <a:solidFill>
                  <a:srgbClr val="333333"/>
                </a:solidFill>
                <a:latin typeface="Calibri"/>
              </a:defRPr>
            </a:pPr>
            <a:r>
              <a:t>• Operators and Scheduling for automated workflows.</a:t>
            </a:r>
          </a:p>
          <a:p>
            <a:pPr>
              <a:spcAft>
                <a:spcPts val="500"/>
              </a:spcAft>
              <a:defRPr sz="1300">
                <a:solidFill>
                  <a:srgbClr val="333333"/>
                </a:solidFill>
                <a:latin typeface="Calibri"/>
              </a:defRPr>
            </a:pPr>
            <a:r>
              <a:t>• Integrating Airflow with Kafka and Hop.</a:t>
            </a:r>
          </a:p>
        </p:txBody>
      </p:sp>
      <p:sp>
        <p:nvSpPr>
          <p:cNvPr id="5" name="Rounded Rectangle 4"/>
          <p:cNvSpPr/>
          <p:nvPr/>
        </p:nvSpPr>
        <p:spPr>
          <a:xfrm>
            <a:off x="594360" y="3840480"/>
            <a:ext cx="1283817" cy="621792"/>
          </a:xfrm>
          <a:prstGeom prst="roundRect">
            <a:avLst/>
          </a:prstGeom>
          <a:solidFill>
            <a:srgbClr val="E3F2FD"/>
          </a:solidFill>
          <a:ln w="12700">
            <a:solidFill>
              <a:srgbClr val="90A4A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333333"/>
                </a:solidFill>
                <a:latin typeface="Calibri"/>
              </a:rPr>
              <a:t>Airflow
Architecture</a:t>
            </a:r>
          </a:p>
        </p:txBody>
      </p:sp>
      <p:sp>
        <p:nvSpPr>
          <p:cNvPr id="6" name="Rectangle 5"/>
          <p:cNvSpPr/>
          <p:nvPr/>
        </p:nvSpPr>
        <p:spPr>
          <a:xfrm>
            <a:off x="1942185" y="4050792"/>
            <a:ext cx="256032" cy="164592"/>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002060"/>
                </a:solidFill>
                <a:latin typeface="Calibri"/>
              </a:rPr>
              <a:t>→</a:t>
            </a:r>
          </a:p>
        </p:txBody>
      </p:sp>
      <p:sp>
        <p:nvSpPr>
          <p:cNvPr id="7" name="Rounded Rectangle 6"/>
          <p:cNvSpPr/>
          <p:nvPr/>
        </p:nvSpPr>
        <p:spPr>
          <a:xfrm>
            <a:off x="2262225" y="3840480"/>
            <a:ext cx="1283817" cy="621792"/>
          </a:xfrm>
          <a:prstGeom prst="roundRect">
            <a:avLst/>
          </a:prstGeom>
          <a:solidFill>
            <a:srgbClr val="FFFFFF"/>
          </a:solidFill>
          <a:ln w="12700">
            <a:solidFill>
              <a:srgbClr val="90A4A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333333"/>
                </a:solidFill>
                <a:latin typeface="Calibri"/>
              </a:rPr>
              <a:t>DAGs</a:t>
            </a:r>
          </a:p>
        </p:txBody>
      </p:sp>
      <p:sp>
        <p:nvSpPr>
          <p:cNvPr id="8" name="Rectangle 7"/>
          <p:cNvSpPr/>
          <p:nvPr/>
        </p:nvSpPr>
        <p:spPr>
          <a:xfrm>
            <a:off x="3610051" y="4050792"/>
            <a:ext cx="256032" cy="164592"/>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002060"/>
                </a:solidFill>
                <a:latin typeface="Calibri"/>
              </a:rPr>
              <a:t>→</a:t>
            </a:r>
          </a:p>
        </p:txBody>
      </p:sp>
      <p:sp>
        <p:nvSpPr>
          <p:cNvPr id="9" name="Rounded Rectangle 8"/>
          <p:cNvSpPr/>
          <p:nvPr/>
        </p:nvSpPr>
        <p:spPr>
          <a:xfrm>
            <a:off x="3930091" y="3840480"/>
            <a:ext cx="1283817" cy="621792"/>
          </a:xfrm>
          <a:prstGeom prst="roundRect">
            <a:avLst/>
          </a:prstGeom>
          <a:solidFill>
            <a:srgbClr val="FFF8E1"/>
          </a:solidFill>
          <a:ln w="12700">
            <a:solidFill>
              <a:srgbClr val="90A4A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333333"/>
                </a:solidFill>
                <a:latin typeface="Calibri"/>
              </a:rPr>
              <a:t>Operators &amp;
Scheduling</a:t>
            </a:r>
          </a:p>
        </p:txBody>
      </p:sp>
      <p:sp>
        <p:nvSpPr>
          <p:cNvPr id="10" name="Rectangle 9"/>
          <p:cNvSpPr/>
          <p:nvPr/>
        </p:nvSpPr>
        <p:spPr>
          <a:xfrm>
            <a:off x="5277916" y="4050792"/>
            <a:ext cx="256032" cy="164592"/>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002060"/>
                </a:solidFill>
                <a:latin typeface="Calibri"/>
              </a:rPr>
              <a:t>→</a:t>
            </a:r>
          </a:p>
        </p:txBody>
      </p:sp>
      <p:sp>
        <p:nvSpPr>
          <p:cNvPr id="11" name="Rounded Rectangle 10"/>
          <p:cNvSpPr/>
          <p:nvPr/>
        </p:nvSpPr>
        <p:spPr>
          <a:xfrm>
            <a:off x="5597956" y="3840480"/>
            <a:ext cx="1283817" cy="621792"/>
          </a:xfrm>
          <a:prstGeom prst="roundRect">
            <a:avLst/>
          </a:prstGeom>
          <a:solidFill>
            <a:srgbClr val="F1F8E9"/>
          </a:solidFill>
          <a:ln w="12700">
            <a:solidFill>
              <a:srgbClr val="90A4A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333333"/>
                </a:solidFill>
                <a:latin typeface="Calibri"/>
              </a:rPr>
              <a:t>Kafka + Hop
Integration</a:t>
            </a:r>
          </a:p>
        </p:txBody>
      </p:sp>
      <p:sp>
        <p:nvSpPr>
          <p:cNvPr id="12" name="Rectangle 11"/>
          <p:cNvSpPr/>
          <p:nvPr/>
        </p:nvSpPr>
        <p:spPr>
          <a:xfrm>
            <a:off x="6945782" y="4050792"/>
            <a:ext cx="256032" cy="164592"/>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002060"/>
                </a:solidFill>
                <a:latin typeface="Calibri"/>
              </a:rPr>
              <a:t>→</a:t>
            </a:r>
          </a:p>
        </p:txBody>
      </p:sp>
      <p:sp>
        <p:nvSpPr>
          <p:cNvPr id="13" name="Rounded Rectangle 12"/>
          <p:cNvSpPr/>
          <p:nvPr/>
        </p:nvSpPr>
        <p:spPr>
          <a:xfrm>
            <a:off x="7265822" y="3840480"/>
            <a:ext cx="1283817" cy="621792"/>
          </a:xfrm>
          <a:prstGeom prst="roundRect">
            <a:avLst/>
          </a:prstGeom>
          <a:solidFill>
            <a:srgbClr val="E9F7EF"/>
          </a:solidFill>
          <a:ln w="12700">
            <a:solidFill>
              <a:srgbClr val="90A4A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333333"/>
                </a:solidFill>
                <a:latin typeface="Calibri"/>
              </a:rPr>
              <a:t>Lab: Schedule
Pipelines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TotalTime>
  <Words>12412</Words>
  <Application>Microsoft Office PowerPoint</Application>
  <PresentationFormat>On-screen Show (4:3)</PresentationFormat>
  <Paragraphs>1493</Paragraphs>
  <Slides>144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144</vt:i4>
      </vt:variant>
    </vt:vector>
  </HeadingPairs>
  <TitlesOfParts>
    <vt:vector size="150" baseType="lpstr">
      <vt:lpstr>Aptos</vt:lpstr>
      <vt:lpstr>Arial</vt:lpstr>
      <vt:lpstr>Calibri</vt:lpstr>
      <vt:lpstr>Consolas</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Quidzohar Morbiwala</cp:lastModifiedBy>
  <cp:revision>1</cp:revision>
  <dcterms:created xsi:type="dcterms:W3CDTF">2013-01-27T09:14:16Z</dcterms:created>
  <dcterms:modified xsi:type="dcterms:W3CDTF">2026-06-09T02:06:15Z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637e5cc-ed1f-4ad6-a881-35c0f1c6f3d8_Enabled">
    <vt:lpwstr>true</vt:lpwstr>
  </property>
  <property fmtid="{D5CDD505-2E9C-101B-9397-08002B2CF9AE}" pid="3" name="MSIP_Label_4637e5cc-ed1f-4ad6-a881-35c0f1c6f3d8_SetDate">
    <vt:lpwstr>2026-06-09T00:49:53Z</vt:lpwstr>
  </property>
  <property fmtid="{D5CDD505-2E9C-101B-9397-08002B2CF9AE}" pid="4" name="MSIP_Label_4637e5cc-ed1f-4ad6-a881-35c0f1c6f3d8_Method">
    <vt:lpwstr>Standard</vt:lpwstr>
  </property>
  <property fmtid="{D5CDD505-2E9C-101B-9397-08002B2CF9AE}" pid="5" name="MSIP_Label_4637e5cc-ed1f-4ad6-a881-35c0f1c6f3d8_Name">
    <vt:lpwstr>General</vt:lpwstr>
  </property>
  <property fmtid="{D5CDD505-2E9C-101B-9397-08002B2CF9AE}" pid="6" name="MSIP_Label_4637e5cc-ed1f-4ad6-a881-35c0f1c6f3d8_SiteId">
    <vt:lpwstr>e3cf3c98-a978-465f-8254-9d541eeea73c</vt:lpwstr>
  </property>
  <property fmtid="{D5CDD505-2E9C-101B-9397-08002B2CF9AE}" pid="7" name="MSIP_Label_4637e5cc-ed1f-4ad6-a881-35c0f1c6f3d8_ActionId">
    <vt:lpwstr>d8f16d20-fd08-492f-b83a-051ebdf4ba72</vt:lpwstr>
  </property>
  <property fmtid="{D5CDD505-2E9C-101B-9397-08002B2CF9AE}" pid="8" name="MSIP_Label_4637e5cc-ed1f-4ad6-a881-35c0f1c6f3d8_ContentBits">
    <vt:lpwstr>2</vt:lpwstr>
  </property>
  <property fmtid="{D5CDD505-2E9C-101B-9397-08002B2CF9AE}" pid="9" name="MSIP_Label_4637e5cc-ed1f-4ad6-a881-35c0f1c6f3d8_Tag">
    <vt:lpwstr>10, 3, 0, 1</vt:lpwstr>
  </property>
  <property fmtid="{D5CDD505-2E9C-101B-9397-08002B2CF9AE}" pid="10" name="ClassificationContentMarkingFooterLocations">
    <vt:lpwstr>Office Theme:8</vt:lpwstr>
  </property>
  <property fmtid="{D5CDD505-2E9C-101B-9397-08002B2CF9AE}" pid="11" name="ClassificationContentMarkingFooterText">
    <vt:lpwstr>Sensitivity Label: General</vt:lpwstr>
  </property>
</Properties>
</file>