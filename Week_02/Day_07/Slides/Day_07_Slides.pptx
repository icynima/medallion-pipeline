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notesMasters/notesMaster1.xml" ContentType="application/vnd.openxmlformats-officedocument.presentationml.notesMaster+xml"/>
  <Override PartName="/ppt/notesMasters/theme/theme2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0fd0829be5e648e4" /><Relationship Type="http://schemas.openxmlformats.org/officeDocument/2006/relationships/extended-properties" Target="/docProps/app.xml" Id="R72ca0b1fd915498c" /><Relationship Type="http://schemas.openxmlformats.org/officeDocument/2006/relationships/officeDocument" Target="/ppt/presentation.xml" Id="Raa042e97fbb7451b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26675a354bff4760"/>
  </p:sldMasterIdLst>
  <p:notesMasterIdLst>
    <p:notesMasterId xmlns:r="http://schemas.openxmlformats.org/officeDocument/2006/relationships" r:id="R38cf3ece42a64250"/>
  </p:notesMasterIdLst>
  <p:sldIdLst>
    <p:sldId xmlns:r="http://schemas.openxmlformats.org/officeDocument/2006/relationships" id="256" r:id="Rd5dd8fc3783f4a8d"/>
    <p:sldId xmlns:r="http://schemas.openxmlformats.org/officeDocument/2006/relationships" id="257" r:id="Raab54849c27f4c4b"/>
    <p:sldId xmlns:r="http://schemas.openxmlformats.org/officeDocument/2006/relationships" id="258" r:id="R00b448915d294dbb"/>
    <p:sldId xmlns:r="http://schemas.openxmlformats.org/officeDocument/2006/relationships" id="259" r:id="R2c1383b81cbe4486"/>
    <p:sldId xmlns:r="http://schemas.openxmlformats.org/officeDocument/2006/relationships" id="260" r:id="Rf4608205e77349ee"/>
    <p:sldId xmlns:r="http://schemas.openxmlformats.org/officeDocument/2006/relationships" id="261" r:id="Ra40f8936d7ee4c87"/>
    <p:sldId xmlns:r="http://schemas.openxmlformats.org/officeDocument/2006/relationships" id="262" r:id="R5eb533ff91814781"/>
    <p:sldId xmlns:r="http://schemas.openxmlformats.org/officeDocument/2006/relationships" id="263" r:id="R5466eb814e7a4e31"/>
    <p:sldId xmlns:r="http://schemas.openxmlformats.org/officeDocument/2006/relationships" id="264" r:id="Ra0355ed1e9fb4720"/>
    <p:sldId xmlns:r="http://schemas.openxmlformats.org/officeDocument/2006/relationships" id="265" r:id="R94a24b18fe774bcb"/>
    <p:sldId xmlns:r="http://schemas.openxmlformats.org/officeDocument/2006/relationships" id="266" r:id="R51ef6c98c22f41f6"/>
    <p:sldId xmlns:r="http://schemas.openxmlformats.org/officeDocument/2006/relationships" id="267" r:id="R4221fddf1d4b4161"/>
    <p:sldId xmlns:r="http://schemas.openxmlformats.org/officeDocument/2006/relationships" id="268" r:id="Rb6240a993f3d4f98"/>
    <p:sldId xmlns:r="http://schemas.openxmlformats.org/officeDocument/2006/relationships" id="269" r:id="Rbde2109ad72d4eac"/>
    <p:sldId xmlns:r="http://schemas.openxmlformats.org/officeDocument/2006/relationships" id="270" r:id="Ra1bedc3ca6a441b9"/>
    <p:sldId xmlns:r="http://schemas.openxmlformats.org/officeDocument/2006/relationships" id="271" r:id="Rc841f53315804320"/>
    <p:sldId xmlns:r="http://schemas.openxmlformats.org/officeDocument/2006/relationships" id="272" r:id="R1e571fcd21d5452d"/>
    <p:sldId xmlns:r="http://schemas.openxmlformats.org/officeDocument/2006/relationships" id="273" r:id="Raccca49018784f75"/>
    <p:sldId xmlns:r="http://schemas.openxmlformats.org/officeDocument/2006/relationships" id="274" r:id="Rac552829ecd64428"/>
    <p:sldId xmlns:r="http://schemas.openxmlformats.org/officeDocument/2006/relationships" id="275" r:id="Rb43d916d82104bf9"/>
    <p:sldId xmlns:r="http://schemas.openxmlformats.org/officeDocument/2006/relationships" id="276" r:id="Rc37995280c0048c7"/>
    <p:sldId xmlns:r="http://schemas.openxmlformats.org/officeDocument/2006/relationships" id="277" r:id="R5e2add583c024275"/>
    <p:sldId xmlns:r="http://schemas.openxmlformats.org/officeDocument/2006/relationships" id="278" r:id="Recfc6bb49a2244f3"/>
    <p:sldId xmlns:r="http://schemas.openxmlformats.org/officeDocument/2006/relationships" id="279" r:id="R3a6a153a614d4c64"/>
    <p:sldId xmlns:r="http://schemas.openxmlformats.org/officeDocument/2006/relationships" id="280" r:id="R4bd116c5fc014967"/>
    <p:sldId xmlns:r="http://schemas.openxmlformats.org/officeDocument/2006/relationships" id="281" r:id="Rc3e9d2384f304050"/>
    <p:sldId xmlns:r="http://schemas.openxmlformats.org/officeDocument/2006/relationships" id="282" r:id="R679c6f51cfc54dd2"/>
    <p:sldId xmlns:r="http://schemas.openxmlformats.org/officeDocument/2006/relationships" id="283" r:id="R2b29cb42a2f248f8"/>
    <p:sldId xmlns:r="http://schemas.openxmlformats.org/officeDocument/2006/relationships" id="284" r:id="R66a53e6915e0423d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xmlns:a="http://schemas.openxmlformats.org/drawingml/2006/main" n="120" d="100"/>
          <a:sy xmlns:a="http://schemas.openxmlformats.org/drawingml/2006/main" n="120" d="100"/>
        </p:scale>
        <p:origin x="800" y="184"/>
      </p:cViewPr>
      <p:guideLst/>
    </p:cSldViewPr>
  </p:slideViewPr>
  <p:notesTextViewPr>
    <p:cViewPr>
      <p:scale>
        <a:sx xmlns:a="http://schemas.openxmlformats.org/drawingml/2006/main" n="1" d="1"/>
        <a:sy xmlns:a="http://schemas.openxmlformats.org/drawingml/2006/main" n="1" d="1"/>
      </p:scale>
      <p:origin x="0" y="0"/>
    </p:cViewPr>
  </p:notesText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6675a354bff4760" /><Relationship Type="http://schemas.openxmlformats.org/officeDocument/2006/relationships/theme" Target="/ppt/theme/theme1.xml" Id="R8a261b22ccba42ba" /><Relationship Type="http://schemas.openxmlformats.org/officeDocument/2006/relationships/notesMaster" Target="/ppt/notesMasters/notesMaster1.xml" Id="R38cf3ece42a64250" /><Relationship Type="http://schemas.openxmlformats.org/officeDocument/2006/relationships/presProps" Target="/ppt/presProps.xml" Id="Re46b23ff0d9b45b1" /><Relationship Type="http://schemas.openxmlformats.org/officeDocument/2006/relationships/viewProps" Target="/ppt/viewProps.xml" Id="Rf794a1613b1b4644" /><Relationship Type="http://schemas.openxmlformats.org/officeDocument/2006/relationships/tableStyles" Target="/ppt/tableStyles.xml" Id="Rf1c3dd6424e047d8" /><Relationship Type="http://schemas.openxmlformats.org/officeDocument/2006/relationships/slide" Target="/ppt/slides/slide1.xml" Id="Rd5dd8fc3783f4a8d" /><Relationship Type="http://schemas.openxmlformats.org/officeDocument/2006/relationships/slide" Target="/ppt/slides/slide2.xml" Id="Raab54849c27f4c4b" /><Relationship Type="http://schemas.openxmlformats.org/officeDocument/2006/relationships/slide" Target="/ppt/slides/slide3.xml" Id="R00b448915d294dbb" /><Relationship Type="http://schemas.openxmlformats.org/officeDocument/2006/relationships/slide" Target="/ppt/slides/slide4.xml" Id="R2c1383b81cbe4486" /><Relationship Type="http://schemas.openxmlformats.org/officeDocument/2006/relationships/slide" Target="/ppt/slides/slide5.xml" Id="Rf4608205e77349ee" /><Relationship Type="http://schemas.openxmlformats.org/officeDocument/2006/relationships/slide" Target="/ppt/slides/slide6.xml" Id="Ra40f8936d7ee4c87" /><Relationship Type="http://schemas.openxmlformats.org/officeDocument/2006/relationships/slide" Target="/ppt/slides/slide7.xml" Id="R5eb533ff91814781" /><Relationship Type="http://schemas.openxmlformats.org/officeDocument/2006/relationships/slide" Target="/ppt/slides/slide8.xml" Id="R5466eb814e7a4e31" /><Relationship Type="http://schemas.openxmlformats.org/officeDocument/2006/relationships/slide" Target="/ppt/slides/slide9.xml" Id="Ra0355ed1e9fb4720" /><Relationship Type="http://schemas.openxmlformats.org/officeDocument/2006/relationships/slide" Target="/ppt/slides/slide10.xml" Id="R94a24b18fe774bcb" /><Relationship Type="http://schemas.openxmlformats.org/officeDocument/2006/relationships/slide" Target="/ppt/slides/slide11.xml" Id="R51ef6c98c22f41f6" /><Relationship Type="http://schemas.openxmlformats.org/officeDocument/2006/relationships/slide" Target="/ppt/slides/slide12.xml" Id="R4221fddf1d4b4161" /><Relationship Type="http://schemas.openxmlformats.org/officeDocument/2006/relationships/slide" Target="/ppt/slides/slide13.xml" Id="Rb6240a993f3d4f98" /><Relationship Type="http://schemas.openxmlformats.org/officeDocument/2006/relationships/slide" Target="/ppt/slides/slide14.xml" Id="Rbde2109ad72d4eac" /><Relationship Type="http://schemas.openxmlformats.org/officeDocument/2006/relationships/slide" Target="/ppt/slides/slide15.xml" Id="Ra1bedc3ca6a441b9" /><Relationship Type="http://schemas.openxmlformats.org/officeDocument/2006/relationships/slide" Target="/ppt/slides/slide16.xml" Id="Rc841f53315804320" /><Relationship Type="http://schemas.openxmlformats.org/officeDocument/2006/relationships/slide" Target="/ppt/slides/slide17.xml" Id="R1e571fcd21d5452d" /><Relationship Type="http://schemas.openxmlformats.org/officeDocument/2006/relationships/slide" Target="/ppt/slides/slide18.xml" Id="Raccca49018784f75" /><Relationship Type="http://schemas.openxmlformats.org/officeDocument/2006/relationships/slide" Target="/ppt/slides/slide19.xml" Id="Rac552829ecd64428" /><Relationship Type="http://schemas.openxmlformats.org/officeDocument/2006/relationships/slide" Target="/ppt/slides/slide20.xml" Id="Rb43d916d82104bf9" /><Relationship Type="http://schemas.openxmlformats.org/officeDocument/2006/relationships/slide" Target="/ppt/slides/slide21.xml" Id="Rc37995280c0048c7" /><Relationship Type="http://schemas.openxmlformats.org/officeDocument/2006/relationships/slide" Target="/ppt/slides/slide22.xml" Id="R5e2add583c024275" /><Relationship Type="http://schemas.openxmlformats.org/officeDocument/2006/relationships/slide" Target="/ppt/slides/slide23.xml" Id="Recfc6bb49a2244f3" /><Relationship Type="http://schemas.openxmlformats.org/officeDocument/2006/relationships/slide" Target="/ppt/slides/slide24.xml" Id="R3a6a153a614d4c64" /><Relationship Type="http://schemas.openxmlformats.org/officeDocument/2006/relationships/slide" Target="/ppt/slides/slide25.xml" Id="R4bd116c5fc014967" /><Relationship Type="http://schemas.openxmlformats.org/officeDocument/2006/relationships/slide" Target="/ppt/slides/slide26.xml" Id="Rc3e9d2384f304050" /><Relationship Type="http://schemas.openxmlformats.org/officeDocument/2006/relationships/slide" Target="/ppt/slides/slide27.xml" Id="R679c6f51cfc54dd2" /><Relationship Type="http://schemas.openxmlformats.org/officeDocument/2006/relationships/slide" Target="/ppt/slides/slide28.xml" Id="R2b29cb42a2f248f8" /><Relationship Type="http://schemas.openxmlformats.org/officeDocument/2006/relationships/slide" Target="/ppt/slides/slide29.xml" Id="R66a53e6915e0423d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2.xml" Id="R80fe0cf775694aa8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2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114888e16e5474c" /><Relationship Type="http://schemas.openxmlformats.org/officeDocument/2006/relationships/notesMaster" Target="/ppt/notesMasters/notesMaster1.xml" Id="Red560739f2884e59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d1b6303592d74582" /><Relationship Type="http://schemas.openxmlformats.org/officeDocument/2006/relationships/notesMaster" Target="/ppt/notesMasters/notesMaster1.xml" Id="Ra4b8e57b0f8b4e32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7676f40362204f69" /><Relationship Type="http://schemas.openxmlformats.org/officeDocument/2006/relationships/notesMaster" Target="/ppt/notesMasters/notesMaster1.xml" Id="Ra0065e6be1614908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f78e070d6ab4f78" /><Relationship Type="http://schemas.openxmlformats.org/officeDocument/2006/relationships/notesMaster" Target="/ppt/notesMasters/notesMaster1.xml" Id="R2c093a64b1c7434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1509fdcd8fa541f8" /><Relationship Type="http://schemas.openxmlformats.org/officeDocument/2006/relationships/notesMaster" Target="/ppt/notesMasters/notesMaster1.xml" Id="R9fd97d8a086342f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32f444e836914be3" /><Relationship Type="http://schemas.openxmlformats.org/officeDocument/2006/relationships/notesMaster" Target="/ppt/notesMasters/notesMaster1.xml" Id="R8a480d600fe949cb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8b0a2c98ade4d41" /><Relationship Type="http://schemas.openxmlformats.org/officeDocument/2006/relationships/notesMaster" Target="/ppt/notesMasters/notesMaster1.xml" Id="Rcf190e369b3646b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1bd618820f54a5f" /><Relationship Type="http://schemas.openxmlformats.org/officeDocument/2006/relationships/notesMaster" Target="/ppt/notesMasters/notesMaster1.xml" Id="Rea85a88efcdf4b4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8044e55c44d454a" /><Relationship Type="http://schemas.openxmlformats.org/officeDocument/2006/relationships/notesMaster" Target="/ppt/notesMasters/notesMaster1.xml" Id="R9326c7d4e0d64d43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9d1dadd718d49c1" /><Relationship Type="http://schemas.openxmlformats.org/officeDocument/2006/relationships/notesMaster" Target="/ppt/notesMasters/notesMaster1.xml" Id="R21feec2302154944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9e581d924284a19" /><Relationship Type="http://schemas.openxmlformats.org/officeDocument/2006/relationships/notesMaster" Target="/ppt/notesMasters/notesMaster1.xml" Id="R4df7e1af65fb4745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ee21a2e8750049a1" /><Relationship Type="http://schemas.openxmlformats.org/officeDocument/2006/relationships/notesMaster" Target="/ppt/notesMasters/notesMaster1.xml" Id="Rc2bc33c4a9dc4be8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8548641fa4ce4717" /><Relationship Type="http://schemas.openxmlformats.org/officeDocument/2006/relationships/notesMaster" Target="/ppt/notesMasters/notesMaster1.xml" Id="Raf481fc8985445c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f6c0fc629244475" /><Relationship Type="http://schemas.openxmlformats.org/officeDocument/2006/relationships/notesMaster" Target="/ppt/notesMasters/notesMaster1.xml" Id="R3f6b69c5c3a44a91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7be6f98ed69442d7" /><Relationship Type="http://schemas.openxmlformats.org/officeDocument/2006/relationships/notesMaster" Target="/ppt/notesMasters/notesMaster1.xml" Id="Rbfdc15e9b15d4fc1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78065ba258247b1" /><Relationship Type="http://schemas.openxmlformats.org/officeDocument/2006/relationships/notesMaster" Target="/ppt/notesMasters/notesMaster1.xml" Id="R34fe4c46fbcc4ddf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4d34eeda20d84809" /><Relationship Type="http://schemas.openxmlformats.org/officeDocument/2006/relationships/notesMaster" Target="/ppt/notesMasters/notesMaster1.xml" Id="R532395909b0648ed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ebe7505cded410e" /><Relationship Type="http://schemas.openxmlformats.org/officeDocument/2006/relationships/notesMaster" Target="/ppt/notesMasters/notesMaster1.xml" Id="R3e7bff9e4b044a9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b3d0fb777f624f8a" /><Relationship Type="http://schemas.openxmlformats.org/officeDocument/2006/relationships/notesMaster" Target="/ppt/notesMasters/notesMaster1.xml" Id="R48aaf9aa1ced46ff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c04bd403e7f24125" /><Relationship Type="http://schemas.openxmlformats.org/officeDocument/2006/relationships/notesMaster" Target="/ppt/notesMasters/notesMaster1.xml" Id="Rc13a61ed93b14509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d59e1d308514322" /><Relationship Type="http://schemas.openxmlformats.org/officeDocument/2006/relationships/notesMaster" Target="/ppt/notesMasters/notesMaster1.xml" Id="Rc68edd2f4abe4944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4e83e8747274a6d" /><Relationship Type="http://schemas.openxmlformats.org/officeDocument/2006/relationships/notesMaster" Target="/ppt/notesMasters/notesMaster1.xml" Id="R4433fa4b138a4f01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33ad7934c144154" /><Relationship Type="http://schemas.openxmlformats.org/officeDocument/2006/relationships/notesMaster" Target="/ppt/notesMasters/notesMaster1.xml" Id="R31bb55df111e449b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3996c50dca8d4c71" /><Relationship Type="http://schemas.openxmlformats.org/officeDocument/2006/relationships/notesMaster" Target="/ppt/notesMasters/notesMaster1.xml" Id="R493af7d0ab92449d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f567e0527a43455a" /><Relationship Type="http://schemas.openxmlformats.org/officeDocument/2006/relationships/notesMaster" Target="/ppt/notesMasters/notesMaster1.xml" Id="Rca2000ce06864b23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3faca85b95e44c1" /><Relationship Type="http://schemas.openxmlformats.org/officeDocument/2006/relationships/notesMaster" Target="/ppt/notesMasters/notesMaster1.xml" Id="R2a8156036e03473d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ced633256548489c" /><Relationship Type="http://schemas.openxmlformats.org/officeDocument/2006/relationships/notesMaster" Target="/ppt/notesMasters/notesMaster1.xml" Id="R1c48ed447afa4fd7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9e7285b441804970" /><Relationship Type="http://schemas.openxmlformats.org/officeDocument/2006/relationships/notesMaster" Target="/ppt/notesMasters/notesMaster1.xml" Id="R6d4a179ed369443f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555b4a5a327b437b" /><Relationship Type="http://schemas.openxmlformats.org/officeDocument/2006/relationships/notesMaster" Target="/ppt/notesMasters/notesMaster1.xml" Id="Rc1cf02f8eb3c468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6ca80f7321748ef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c1e6ef9036e4573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90e0eb4b79e4b99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b81d473f5e49c5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f9e56a8c4684f0e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9d180906364439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a9b3414b005b4d22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d5d40971636475a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fd9ea34e0e84996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d400519f82445d7" /></Relationships>
</file>

<file path=ppt/slideLayouts/_rels/slideLayout1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36d74e3724e4603" /></Relationships>
</file>

<file path=ppt/slideLayouts/slideLayout2.xml><?xml version="1.0" encoding="utf-8"?>
<p:sldLayout xmlns:p="http://schemas.openxmlformats.org/presentationml/2006/main" type="titleOnly">
  <p:cSld name="Title Only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0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E67BF561-3183-40F2-AE6C-62EE1CFF01E4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1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4F03EC42-1411-436C-AAAE-E456F0B75C12}"/>
              </a:ext>
            </a:extLst>
          </p:cNvPr>
          <p:cNvSpPr/>
          <p:nvPr>
            <p:ph type="dt" idx="22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2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7C33FCF5-B0FC-441C-AA48-9F774DCDF8ED}"/>
              </a:ext>
            </a:extLst>
          </p:cNvPr>
          <p:cNvSpPr/>
          <p:nvPr>
            <p:ph type="ftr" idx="23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43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AE6BE7A5-9A19-4298-9F22-2AA6247E28CF}"/>
              </a:ext>
            </a:extLst>
          </p:cNvPr>
          <p:cNvSpPr/>
          <p:nvPr>
            <p:ph type="sldNum" idx="24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 type="vertTitleAndTx">
  <p:cSld name="Vertical Title and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CDF1FD1-6447-41C5-BCF5-1147E5C69FA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629400" y="274680"/>
            <a:ext cx="205704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BB42F4A3-9D1D-4F25-8EFB-3840B0E070E0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274680"/>
            <a:ext cx="6019560" cy="58510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E6538878-EDB3-422F-8C31-03974FAF1F43}"/>
              </a:ext>
            </a:extLst>
          </p:cNvPr>
          <p:cNvSpPr/>
          <p:nvPr>
            <p:ph type="dt" idx="7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1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C02212F-68F3-481A-97DB-BEDF15A0255B}"/>
              </a:ext>
            </a:extLst>
          </p:cNvPr>
          <p:cNvSpPr/>
          <p:nvPr>
            <p:ph type="ftr" idx="8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1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94854C68-BE3C-4C1F-9910-DB6114DE9CE3}"/>
              </a:ext>
            </a:extLst>
          </p:cNvPr>
          <p:cNvSpPr/>
          <p:nvPr>
            <p:ph type="sldNum" idx="9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 type="blank">
  <p:cSld name="Comparis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414DD78-6756-44DD-863A-721F662D1E99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1C65545-31EE-4886-B88F-884F4325EDCE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535040"/>
            <a:ext cx="403992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98BD590-629F-4203-8E8C-4C98C63DAE06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2174760"/>
            <a:ext cx="403992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65FA328B-E582-4AFF-BFC8-EF417603D5D1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5080" y="1535040"/>
            <a:ext cx="4041360" cy="639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6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80D5C15-0F40-4DBD-998B-821D870CCFA7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5080" y="2174760"/>
            <a:ext cx="4041360" cy="395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7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24722F4-332C-4DEF-BFB2-4D92BB370976}"/>
              </a:ext>
            </a:extLst>
          </p:cNvPr>
          <p:cNvSpPr/>
          <p:nvPr>
            <p:ph type="dt" idx="19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38" name="PlaceHolder 7">
            <a:extLst xmlns:a="http://schemas.openxmlformats.org/drawingml/2006/main">
              <a:ext uri="{FF2B5EF4-FFF2-40B4-BE49-F238E27FC236}">
                <a16:creationId xmlns:a16="http://schemas.microsoft.com/office/drawing/2014/main" id="{D4695F61-75B2-4E6B-9E81-3E2E4EFF97B2}"/>
              </a:ext>
            </a:extLst>
          </p:cNvPr>
          <p:cNvSpPr/>
          <p:nvPr>
            <p:ph type="ftr" idx="20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39" name="PlaceHolder 8">
            <a:extLst xmlns:a="http://schemas.openxmlformats.org/drawingml/2006/main">
              <a:ext uri="{FF2B5EF4-FFF2-40B4-BE49-F238E27FC236}">
                <a16:creationId xmlns:a16="http://schemas.microsoft.com/office/drawing/2014/main" id="{C5CC92E4-E74E-4C05-AFED-DCD44B3E1ECE}"/>
              </a:ext>
            </a:extLst>
          </p:cNvPr>
          <p:cNvSpPr/>
          <p:nvPr>
            <p:ph type="sldNum" idx="21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 type="vertTx">
  <p:cSld name="Title and Vertical Tex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103A40EB-4105-4321-B557-59758A3296C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61A27FE2-D42E-4C69-9E38-5984017A7050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vert="eaVert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AB2385F7-3E8C-4EFC-A11C-6A2BE9609BAE}"/>
              </a:ext>
            </a:extLst>
          </p:cNvPr>
          <p:cNvSpPr/>
          <p:nvPr>
            <p:ph type="dt" idx="4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2F0B452-8168-4094-B3D0-B07519145F75}"/>
              </a:ext>
            </a:extLst>
          </p:cNvPr>
          <p:cNvSpPr/>
          <p:nvPr>
            <p:ph type="ftr" idx="5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1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19FABEE1-1139-4074-AD2D-B562A67B1D72}"/>
              </a:ext>
            </a:extLst>
          </p:cNvPr>
          <p:cNvSpPr/>
          <p:nvPr>
            <p:ph type="sldNum" idx="6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title">
  <p:cSld name="Title Slide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256F22B0-A940-4D6C-8F5D-9030533A57AC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85800" y="2130480"/>
            <a:ext cx="7772040" cy="14695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3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23601B31-5B98-4C52-84FC-09CA3C580758}"/>
              </a:ext>
            </a:extLst>
          </p:cNvPr>
          <p:cNvSpPr/>
          <p:nvPr>
            <p:ph type="dt" idx="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9079DDC-60EE-4AA1-BCA5-2BD156854D6A}"/>
              </a:ext>
            </a:extLst>
          </p:cNvPr>
          <p:cNvSpPr/>
          <p:nvPr>
            <p:ph type="ftr" idx="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5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9E041B27-F093-4621-9314-13FDAF4B42AD}"/>
              </a:ext>
            </a:extLst>
          </p:cNvPr>
          <p:cNvSpPr/>
          <p:nvPr>
            <p:ph type="sldNum" idx="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7.xml><?xml version="1.0" encoding="utf-8"?>
<p:sldLayout xmlns:p="http://schemas.openxmlformats.org/presentationml/2006/main" type="twoObj">
  <p:cSld name="Two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84D96314-B83A-48E7-9866-A3E0A9D3FA61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33D0222-427E-4083-A1E1-9751B0AE674F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E6A5B4E-F80C-45E5-A548-63C862234BD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648320" y="1600200"/>
            <a:ext cx="403812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5B7D9F58-9CC0-41E9-9EA9-BB6F1E395358}"/>
              </a:ext>
            </a:extLst>
          </p:cNvPr>
          <p:cNvSpPr/>
          <p:nvPr>
            <p:ph type="dt" idx="16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3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44B986E-69E2-425F-9537-C38E97ED179D}"/>
              </a:ext>
            </a:extLst>
          </p:cNvPr>
          <p:cNvSpPr/>
          <p:nvPr>
            <p:ph type="ftr" idx="17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31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DFFB7781-65F0-4CD5-AF73-3CA6C9BBE69E}"/>
              </a:ext>
            </a:extLst>
          </p:cNvPr>
          <p:cNvSpPr/>
          <p:nvPr>
            <p:ph type="sldNum" idx="18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8.xml><?xml version="1.0" encoding="utf-8"?>
<p:sldLayout xmlns:p="http://schemas.openxmlformats.org/presentationml/2006/main" type="blank">
  <p:cSld name="Picture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57CF848C-EF64-428D-8849-484E02199E6E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1792440" y="4800600"/>
            <a:ext cx="5486040" cy="566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6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7CE09E3C-A9C3-46BD-8203-2B333F3D59CF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1792440" y="612720"/>
            <a:ext cx="54860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0000" tIns="45000" rIns="90000" bIns="4500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7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960AB893-6259-4047-93BD-166EEAE235FA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1792440" y="5367240"/>
            <a:ext cx="5486040" cy="804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8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8F56ED01-B828-4B8A-8700-B51CE76AE61E}"/>
              </a:ext>
            </a:extLst>
          </p:cNvPr>
          <p:cNvSpPr/>
          <p:nvPr>
            <p:ph type="dt" idx="31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59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638A6FD4-A21D-4306-B169-5E20C1FA2234}"/>
              </a:ext>
            </a:extLst>
          </p:cNvPr>
          <p:cNvSpPr/>
          <p:nvPr>
            <p:ph type="ftr" idx="32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60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3C37968A-9695-4BB4-919A-3FC4E512A638}"/>
              </a:ext>
            </a:extLst>
          </p:cNvPr>
          <p:cNvSpPr/>
          <p:nvPr>
            <p:ph type="sldNum" idx="33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9.xml><?xml version="1.0" encoding="utf-8"?>
<p:sldLayout xmlns:p="http://schemas.openxmlformats.org/presentationml/2006/main" type="blank">
  <p:cSld name="Section Header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FEBA8737-C487-457F-A37C-6955A462E45B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722160" y="4406760"/>
            <a:ext cx="7772040" cy="1361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2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A7F01F08-5F8E-44D7-9240-D94502810B0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722160" y="2906640"/>
            <a:ext cx="7772040" cy="1499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23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55A03AF-1112-4AC1-8B32-82D3C6A87D78}"/>
              </a:ext>
            </a:extLst>
          </p:cNvPr>
          <p:cNvSpPr/>
          <p:nvPr>
            <p:ph type="dt" idx="13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24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10CAC49A-5E8F-4FCA-BF00-AB890CE93F51}"/>
              </a:ext>
            </a:extLst>
          </p:cNvPr>
          <p:cNvSpPr/>
          <p:nvPr>
            <p:ph type="ftr" idx="14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25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7856EA2B-9718-4270-8E58-ECB7B3BD86B3}"/>
              </a:ext>
            </a:extLst>
          </p:cNvPr>
          <p:cNvSpPr/>
          <p:nvPr>
            <p:ph type="sldNum" idx="15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0.xml><?xml version="1.0" encoding="utf-8"?>
<p:sldLayout xmlns:p="http://schemas.openxmlformats.org/presentationml/2006/main" type="blank">
  <p:cSld name="Content with Caption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B6AEFA01-E4BE-4D63-88C7-6317CF10155A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2880"/>
            <a:ext cx="3007800" cy="1161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b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0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0F31089E-8D8C-43D1-AA1E-E8FA82B179F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3575160" y="272880"/>
            <a:ext cx="5111280" cy="58528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1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17E40CE3-0E10-4062-8848-007BD74DA664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434960"/>
            <a:ext cx="3007800" cy="4690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52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74563D26-2356-43F3-B907-A4DBACAB3F4D}"/>
              </a:ext>
            </a:extLst>
          </p:cNvPr>
          <p:cNvSpPr/>
          <p:nvPr>
            <p:ph type="dt" idx="28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53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D21DA361-1709-40B4-9490-E8840F078AD7}"/>
              </a:ext>
            </a:extLst>
          </p:cNvPr>
          <p:cNvSpPr/>
          <p:nvPr>
            <p:ph type="ftr" idx="29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54" name="PlaceHolder 6">
            <a:extLst xmlns:a="http://schemas.openxmlformats.org/drawingml/2006/main">
              <a:ext uri="{FF2B5EF4-FFF2-40B4-BE49-F238E27FC236}">
                <a16:creationId xmlns:a16="http://schemas.microsoft.com/office/drawing/2014/main" id="{5993F214-EB0A-40E0-B03E-0CAE4E791E05}"/>
              </a:ext>
            </a:extLst>
          </p:cNvPr>
          <p:cNvSpPr/>
          <p:nvPr>
            <p:ph type="sldNum" idx="30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1.xml><?xml version="1.0" encoding="utf-8"?>
<p:sldLayout xmlns:p="http://schemas.openxmlformats.org/presentationml/2006/main" type="obj">
  <p:cSld name="Title and Content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0A9361ED-7F96-4F38-803B-BF1FF11A7AD4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457200" y="274680"/>
            <a:ext cx="8229240" cy="11426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7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339C8551-28BF-4385-A293-50432C12CB77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457200" y="1600200"/>
            <a:ext cx="8229240" cy="4525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t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18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FB533420-AE46-444C-93BE-73F1D34984E3}"/>
              </a:ext>
            </a:extLst>
          </p:cNvPr>
          <p:cNvSpPr/>
          <p:nvPr>
            <p:ph type="dt" idx="10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19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0B2C9108-9BE2-42F8-A862-880CB5064BC7}"/>
              </a:ext>
            </a:extLst>
          </p:cNvPr>
          <p:cNvSpPr/>
          <p:nvPr>
            <p:ph type="ftr" idx="11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20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C060080C-11C6-42B3-93B3-7B6AF2E4B53A}"/>
              </a:ext>
            </a:extLst>
          </p:cNvPr>
          <p:cNvSpPr/>
          <p:nvPr>
            <p:ph type="sldNum" idx="12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</p:spTree>
  </p:cSld>
</p:sldLayout>
</file>

<file path=ppt/slideLayouts/slideLayout12.xml><?xml version="1.0" encoding="utf-8"?>
<p:sldLayout xmlns:p="http://schemas.openxmlformats.org/presentationml/2006/main" type="blank">
  <p:cSld name="Blank"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PlaceHolder 1">
            <a:extLst xmlns:a="http://schemas.openxmlformats.org/drawingml/2006/main">
              <a:ext uri="{FF2B5EF4-FFF2-40B4-BE49-F238E27FC236}">
                <a16:creationId xmlns:a16="http://schemas.microsoft.com/office/drawing/2014/main" id="{786E649F-F22F-4AE9-A028-0D9C9FD8D709}"/>
              </a:ext>
            </a:extLst>
          </p:cNvPr>
          <p:cNvSpPr/>
          <p:nvPr>
            <p:ph type="dt" idx="25"/>
          </p:nvPr>
        </p:nvSpPr>
        <p:spPr>
          <a:xfrm xmlns:a="http://schemas.openxmlformats.org/drawingml/2006/main">
            <a:off x="45720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5" name="PlaceHolder 2">
            <a:extLst xmlns:a="http://schemas.openxmlformats.org/drawingml/2006/main">
              <a:ext uri="{FF2B5EF4-FFF2-40B4-BE49-F238E27FC236}">
                <a16:creationId xmlns:a16="http://schemas.microsoft.com/office/drawing/2014/main" id="{CF77DF4F-8A27-43C4-8ED2-B09F20839DAA}"/>
              </a:ext>
            </a:extLst>
          </p:cNvPr>
          <p:cNvSpPr/>
          <p:nvPr>
            <p:ph type="ftr" idx="26"/>
          </p:nvPr>
        </p:nvSpPr>
        <p:spPr>
          <a:xfrm xmlns:a="http://schemas.openxmlformats.org/drawingml/2006/main">
            <a:off x="3124080" y="6356520"/>
            <a:ext cx="289512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ctr">
              <a:buNone/>
              <a:defRPr sz="1400" b="0" u="none">
                <a:solidFill>
                  <a:srgbClr val="000000"/>
                </a:solidFill>
                <a:latin typeface="Times New Roman"/>
                <a:ea typeface="Times New Roman"/>
                <a:cs typeface="Times New Roman"/>
              </a:defRPr>
            </a:lvl1pPr>
          </a:lstStyle>
          <a:p xmlns:a="http://schemas.openxmlformats.org/drawingml/2006/main"/>
        </p:txBody>
      </p:sp>
      <p:sp>
        <p:nvSpPr>
          <p:cNvPr id="46" name="PlaceHolder 3">
            <a:extLst xmlns:a="http://schemas.openxmlformats.org/drawingml/2006/main">
              <a:ext uri="{FF2B5EF4-FFF2-40B4-BE49-F238E27FC236}">
                <a16:creationId xmlns:a16="http://schemas.microsoft.com/office/drawing/2014/main" id="{31C3CE3F-ED21-40B5-8E0A-F09CFFC27C24}"/>
              </a:ext>
            </a:extLst>
          </p:cNvPr>
          <p:cNvSpPr/>
          <p:nvPr>
            <p:ph type="sldNum" idx="27"/>
          </p:nvPr>
        </p:nvSpPr>
        <p:spPr>
          <a:xfrm xmlns:a="http://schemas.openxmlformats.org/drawingml/2006/main">
            <a:off x="6553080" y="6356520"/>
            <a:ext cx="2133360" cy="364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91440" tIns="45720" rIns="91440" bIns="45720" anchor="ctr">
            <a:noAutofit/>
          </a:bodyPr>
          <a:lstStyle xmlns:a="http://schemas.openxmlformats.org/drawingml/2006/main">
            <a:lvl1pPr indent="0" algn="r">
              <a:lnSpc>
                <a:spcPct val="100000"/>
              </a:lnSpc>
              <a:buNone/>
              <a:defRPr sz="1200" b="0" u="none">
                <a:solidFill>
                  <a:schemeClr val="dk1">
                    <a:tint val="75000"/>
                  </a:schemeClr>
                </a:solidFill>
                <a:latin typeface="Calibri"/>
                <a:ea typeface="Calibri"/>
                <a:cs typeface="Calibri"/>
              </a:defRPr>
            </a:lvl1pPr>
          </a:lstStyle>
          <a:p xmlns:a="http://schemas.openxmlformats.org/drawingml/2006/main"/>
        </p:txBody>
      </p:sp>
      <p:sp>
        <p:nvSpPr>
          <p:cNvPr id="47" name="PlaceHolder 4">
            <a:extLst xmlns:a="http://schemas.openxmlformats.org/drawingml/2006/main">
              <a:ext uri="{FF2B5EF4-FFF2-40B4-BE49-F238E27FC236}">
                <a16:creationId xmlns:a16="http://schemas.microsoft.com/office/drawing/2014/main" id="{3CD199A1-FC9A-49D0-93AD-634442255092}"/>
              </a:ext>
            </a:extLst>
          </p:cNvPr>
          <p:cNvSpPr/>
          <p:nvPr>
            <p:ph type="title" idx="0"/>
          </p:nvPr>
        </p:nvSpPr>
        <p:spPr>
          <a:xfrm xmlns:a="http://schemas.openxmlformats.org/drawingml/2006/main">
            <a:off x="609480" y="273600"/>
            <a:ext cx="10972080" cy="114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/>
        </p:txBody>
      </p:sp>
      <p:sp>
        <p:nvSpPr>
          <p:cNvPr id="48" name="PlaceHolder 5">
            <a:extLst xmlns:a="http://schemas.openxmlformats.org/drawingml/2006/main">
              <a:ext uri="{FF2B5EF4-FFF2-40B4-BE49-F238E27FC236}">
                <a16:creationId xmlns:a16="http://schemas.microsoft.com/office/drawing/2014/main" id="{58278D1B-4A09-4ABF-996D-B18D6970C155}"/>
              </a:ext>
            </a:extLst>
          </p:cNvPr>
          <p:cNvSpPr/>
          <p:nvPr>
            <p:ph type="body" idx="0"/>
          </p:nvPr>
        </p:nvSpPr>
        <p:spPr>
          <a:xfrm xmlns:a="http://schemas.openxmlformats.org/drawingml/2006/main">
            <a:off x="609480" y="1604520"/>
            <a:ext cx="10972080" cy="3977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rmAutofit/>
          </a:bodyPr>
          <a:lstStyle xmlns:a="http://schemas.openxmlformats.org/drawingml/2006/main"/>
          <a:p xmlns:a="http://schemas.openxmlformats.org/drawingml/2006/main"/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theme/theme1.xml" Id="R59daea03e48d4cab" /><Relationship Type="http://schemas.openxmlformats.org/officeDocument/2006/relationships/slideLayout" Target="/ppt/slideLayouts/slideLayout2.xml" Id="Rbd0220ea98bf4290" /><Relationship Type="http://schemas.openxmlformats.org/officeDocument/2006/relationships/slideLayout" Target="/ppt/slideLayouts/slideLayout3.xml" Id="Rb412677392c94a46" /><Relationship Type="http://schemas.openxmlformats.org/officeDocument/2006/relationships/slideLayout" Target="/ppt/slideLayouts/slideLayout4.xml" Id="R2d8b7a07d78c47c1" /><Relationship Type="http://schemas.openxmlformats.org/officeDocument/2006/relationships/slideLayout" Target="/ppt/slideLayouts/slideLayout5.xml" Id="R54513a634a5f4d58" /><Relationship Type="http://schemas.openxmlformats.org/officeDocument/2006/relationships/slideLayout" Target="/ppt/slideLayouts/slideLayout6.xml" Id="R55e7f3c86b8e4601" /><Relationship Type="http://schemas.openxmlformats.org/officeDocument/2006/relationships/slideLayout" Target="/ppt/slideLayouts/slideLayout7.xml" Id="R063ed63a5c3d485e" /><Relationship Type="http://schemas.openxmlformats.org/officeDocument/2006/relationships/slideLayout" Target="/ppt/slideLayouts/slideLayout8.xml" Id="R357aabac981c4f8e" /><Relationship Type="http://schemas.openxmlformats.org/officeDocument/2006/relationships/slideLayout" Target="/ppt/slideLayouts/slideLayout9.xml" Id="R20a477d1ed2147ee" /><Relationship Type="http://schemas.openxmlformats.org/officeDocument/2006/relationships/slideLayout" Target="/ppt/slideLayouts/slideLayout10.xml" Id="Ref87a8fef0a74207" /><Relationship Type="http://schemas.openxmlformats.org/officeDocument/2006/relationships/slideLayout" Target="/ppt/slideLayouts/slideLayout11.xml" Id="R7672d3a8b4074771" /><Relationship Type="http://schemas.openxmlformats.org/officeDocument/2006/relationships/slideLayout" Target="/ppt/slideLayouts/slideLayout12.xml" Id="R23e8fd8c2fc9469c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bd0220ea98bf4290"/>
    <p:sldLayoutId xmlns:r="http://schemas.openxmlformats.org/officeDocument/2006/relationships" id="2147483650" r:id="Rb412677392c94a46"/>
    <p:sldLayoutId xmlns:r="http://schemas.openxmlformats.org/officeDocument/2006/relationships" id="2147483651" r:id="R2d8b7a07d78c47c1"/>
    <p:sldLayoutId xmlns:r="http://schemas.openxmlformats.org/officeDocument/2006/relationships" id="2147483652" r:id="R54513a634a5f4d58"/>
    <p:sldLayoutId xmlns:r="http://schemas.openxmlformats.org/officeDocument/2006/relationships" id="2147483653" r:id="R55e7f3c86b8e4601"/>
    <p:sldLayoutId xmlns:r="http://schemas.openxmlformats.org/officeDocument/2006/relationships" id="2147483654" r:id="R063ed63a5c3d485e"/>
    <p:sldLayoutId xmlns:r="http://schemas.openxmlformats.org/officeDocument/2006/relationships" id="2147483655" r:id="R357aabac981c4f8e"/>
    <p:sldLayoutId xmlns:r="http://schemas.openxmlformats.org/officeDocument/2006/relationships" id="2147483656" r:id="R20a477d1ed2147ee"/>
    <p:sldLayoutId xmlns:r="http://schemas.openxmlformats.org/officeDocument/2006/relationships" id="2147483657" r:id="Ref87a8fef0a74207"/>
    <p:sldLayoutId xmlns:r="http://schemas.openxmlformats.org/officeDocument/2006/relationships" id="2147483658" r:id="R7672d3a8b4074771"/>
    <p:sldLayoutId xmlns:r="http://schemas.openxmlformats.org/officeDocument/2006/relationships" id="2147483659" r:id="R23e8fd8c2fc9469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fbca17e19ddc4ba3" /><Relationship Type="http://schemas.openxmlformats.org/officeDocument/2006/relationships/notesSlide" Target="/ppt/notesSlides/notesSlide1.xml" Id="R1aadfeaf564642de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d7711fdeccc4015" /><Relationship Type="http://schemas.openxmlformats.org/officeDocument/2006/relationships/notesSlide" Target="/ppt/notesSlides/notesSlide2.xml" Id="Rbe2cb1a66c1241aa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52db0781180436d" /><Relationship Type="http://schemas.openxmlformats.org/officeDocument/2006/relationships/notesSlide" Target="/ppt/notesSlides/notesSlide3.xml" Id="R0d435523dd714d20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74ef1b65e874f92" /><Relationship Type="http://schemas.openxmlformats.org/officeDocument/2006/relationships/notesSlide" Target="/ppt/notesSlides/notesSlide4.xml" Id="R6c03c4996407487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ac0bec586d74ebf" /><Relationship Type="http://schemas.openxmlformats.org/officeDocument/2006/relationships/notesSlide" Target="/ppt/notesSlides/notesSlide5.xml" Id="R15c47ac1ce76479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6e471f7b780448a" /><Relationship Type="http://schemas.openxmlformats.org/officeDocument/2006/relationships/notesSlide" Target="/ppt/notesSlides/notesSlide6.xml" Id="R6652c14258ba4f58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33cbf2d93a643a4" /><Relationship Type="http://schemas.openxmlformats.org/officeDocument/2006/relationships/notesSlide" Target="/ppt/notesSlides/notesSlide7.xml" Id="Rca361e6631d84c4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6349ed109094749" /><Relationship Type="http://schemas.openxmlformats.org/officeDocument/2006/relationships/notesSlide" Target="/ppt/notesSlides/notesSlide8.xml" Id="R5a562ca7420241d4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8b61c21cecc4b60" /><Relationship Type="http://schemas.openxmlformats.org/officeDocument/2006/relationships/notesSlide" Target="/ppt/notesSlides/notesSlide9.xml" Id="R299327269b034129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e9ccc2756844145" /><Relationship Type="http://schemas.openxmlformats.org/officeDocument/2006/relationships/notesSlide" Target="/ppt/notesSlides/notesSlide10.xml" Id="R099fdd19064c4b29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5dbbafc0a744208" /><Relationship Type="http://schemas.openxmlformats.org/officeDocument/2006/relationships/notesSlide" Target="/ppt/notesSlides/notesSlide11.xml" Id="Rde95536c4bc34fbe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4600ca674b34551" /><Relationship Type="http://schemas.openxmlformats.org/officeDocument/2006/relationships/notesSlide" Target="/ppt/notesSlides/notesSlide12.xml" Id="R90a9cfc9bdde48b2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eb8185549734c50" /><Relationship Type="http://schemas.openxmlformats.org/officeDocument/2006/relationships/notesSlide" Target="/ppt/notesSlides/notesSlide13.xml" Id="R534121b43785479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f00532f69bd489f" /><Relationship Type="http://schemas.openxmlformats.org/officeDocument/2006/relationships/notesSlide" Target="/ppt/notesSlides/notesSlide14.xml" Id="R72ea919dad4e4e5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2a474e7a9c944a48" /><Relationship Type="http://schemas.openxmlformats.org/officeDocument/2006/relationships/notesSlide" Target="/ppt/notesSlides/notesSlide15.xml" Id="R9d8af2d16f494a3f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dfe061587f444f30" /><Relationship Type="http://schemas.openxmlformats.org/officeDocument/2006/relationships/notesSlide" Target="/ppt/notesSlides/notesSlide16.xml" Id="R6a3a614666c7447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9e2373389c354d01" /><Relationship Type="http://schemas.openxmlformats.org/officeDocument/2006/relationships/notesSlide" Target="/ppt/notesSlides/notesSlide17.xml" Id="Rb536e777bb3347ba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d329a64ffcb4ee6" /><Relationship Type="http://schemas.openxmlformats.org/officeDocument/2006/relationships/notesSlide" Target="/ppt/notesSlides/notesSlide18.xml" Id="R7394da4f91f44bb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cbc163cd83ff4241" /><Relationship Type="http://schemas.openxmlformats.org/officeDocument/2006/relationships/notesSlide" Target="/ppt/notesSlides/notesSlide19.xml" Id="Rde9cda23d12c4603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49afd42add2d4d99" /><Relationship Type="http://schemas.openxmlformats.org/officeDocument/2006/relationships/notesSlide" Target="/ppt/notesSlides/notesSlide20.xml" Id="Rb5a417b81a27412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efb69e1f03543cd" /><Relationship Type="http://schemas.openxmlformats.org/officeDocument/2006/relationships/notesSlide" Target="/ppt/notesSlides/notesSlide21.xml" Id="Rcc166bbbee1e43c8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82649fd71fb4e19" /><Relationship Type="http://schemas.openxmlformats.org/officeDocument/2006/relationships/notesSlide" Target="/ppt/notesSlides/notesSlide22.xml" Id="R734a69960df24654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db4e961b5eb4cfb" /><Relationship Type="http://schemas.openxmlformats.org/officeDocument/2006/relationships/notesSlide" Target="/ppt/notesSlides/notesSlide23.xml" Id="R6152597dea904292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62911802e7ec474c" /><Relationship Type="http://schemas.openxmlformats.org/officeDocument/2006/relationships/notesSlide" Target="/ppt/notesSlides/notesSlide24.xml" Id="Ra888d027383442a8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0aeeee7afe4e4b32" /><Relationship Type="http://schemas.openxmlformats.org/officeDocument/2006/relationships/notesSlide" Target="/ppt/notesSlides/notesSlide25.xml" Id="R1d11b0ee6a5a4fc2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b08e24e05ac04cc2" /><Relationship Type="http://schemas.openxmlformats.org/officeDocument/2006/relationships/notesSlide" Target="/ppt/notesSlides/notesSlide26.xml" Id="Rd462fc5bc26f4359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93529df82a446b9" /><Relationship Type="http://schemas.openxmlformats.org/officeDocument/2006/relationships/notesSlide" Target="/ppt/notesSlides/notesSlide27.xml" Id="R0440126879f9413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e7882a716b2b4576" /><Relationship Type="http://schemas.openxmlformats.org/officeDocument/2006/relationships/notesSlide" Target="/ppt/notesSlides/notesSlide28.xml" Id="R500c9520c4724675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2.xml" Id="R84e2a0cfdc584a1a" /><Relationship Type="http://schemas.openxmlformats.org/officeDocument/2006/relationships/notesSlide" Target="/ppt/notesSlides/notesSlide29.xml" Id="Ra547962916cb46a5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0F17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1" name="TextBox 20">
            <a:extLst xmlns:a="http://schemas.openxmlformats.org/drawingml/2006/main">
              <a:ext uri="{FF2B5EF4-FFF2-40B4-BE49-F238E27FC236}">
                <a16:creationId xmlns:a16="http://schemas.microsoft.com/office/drawing/2014/main" id="{0E89A4D6-49CE-41E0-96F6-D621689C5D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097280"/>
            <a:ext cx="32000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200" b="1" u="none">
                <a:solidFill>
                  <a:srgbClr val="14B8A6"/>
                </a:solidFill>
                <a:latin typeface="Calibri"/>
                <a:ea typeface="Calibri"/>
                <a:cs typeface="Calibri"/>
              </a:rPr>
              <a:t>Day 7</a:t>
            </a:r>
          </a:p>
        </p:txBody>
      </p:sp>
      <p:sp>
        <p:nvSpPr>
          <p:cNvPr id="62" name="TextBox 23">
            <a:extLst xmlns:a="http://schemas.openxmlformats.org/drawingml/2006/main">
              <a:ext uri="{FF2B5EF4-FFF2-40B4-BE49-F238E27FC236}">
                <a16:creationId xmlns:a16="http://schemas.microsoft.com/office/drawing/2014/main" id="{908BA3FD-46B3-4911-8B64-973B9B40B0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1645920"/>
            <a:ext cx="7772040" cy="731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6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Building Medallion Architecture Pipelines</a:t>
            </a:r>
          </a:p>
        </p:txBody>
      </p:sp>
      <p:sp>
        <p:nvSpPr>
          <p:cNvPr id="63" name="TextBox 26">
            <a:extLst xmlns:a="http://schemas.openxmlformats.org/drawingml/2006/main">
              <a:ext uri="{FF2B5EF4-FFF2-40B4-BE49-F238E27FC236}">
                <a16:creationId xmlns:a16="http://schemas.microsoft.com/office/drawing/2014/main" id="{E592CD69-6DC6-4212-B5D5-EE10387CE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0000" y="3420000"/>
            <a:ext cx="77720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D2D2D2"/>
                </a:solidFill>
                <a:latin typeface="Calibri"/>
                <a:ea typeface="Calibri"/>
                <a:cs typeface="Calibri"/>
              </a:rPr>
              <a:t>From Bronze to Silver to Gold using Iceberg, Delta &amp; Object Storage</a:t>
            </a:r>
          </a:p>
        </p:txBody>
      </p:sp>
      <p:sp>
        <p:nvSpPr>
          <p:cNvPr id="64" name="Rounded Rectangle 1">
            <a:extLst xmlns:a="http://schemas.openxmlformats.org/drawingml/2006/main">
              <a:ext uri="{FF2B5EF4-FFF2-40B4-BE49-F238E27FC236}">
                <a16:creationId xmlns:a16="http://schemas.microsoft.com/office/drawing/2014/main" id="{C8182F25-C9F9-4A70-B384-9BB2B70FFB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438912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5" name="TextBox 30">
            <a:extLst xmlns:a="http://schemas.openxmlformats.org/drawingml/2006/main">
              <a:ext uri="{FF2B5EF4-FFF2-40B4-BE49-F238E27FC236}">
                <a16:creationId xmlns:a16="http://schemas.microsoft.com/office/drawing/2014/main" id="{1D535F16-81A3-42FB-B387-07E821C3D0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2628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Sources</a:t>
            </a:r>
          </a:p>
        </p:txBody>
      </p:sp>
      <p:sp>
        <p:nvSpPr>
          <p:cNvPr id="66" name="Right Arrow 1">
            <a:extLst xmlns:a="http://schemas.openxmlformats.org/drawingml/2006/main">
              <a:ext uri="{FF2B5EF4-FFF2-40B4-BE49-F238E27FC236}">
                <a16:creationId xmlns:a16="http://schemas.microsoft.com/office/drawing/2014/main" id="{3C6A86FC-3154-4D94-97FA-D85630BF1B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455364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7" name="Rounded Rectangle 15">
            <a:extLst xmlns:a="http://schemas.openxmlformats.org/drawingml/2006/main">
              <a:ext uri="{FF2B5EF4-FFF2-40B4-BE49-F238E27FC236}">
                <a16:creationId xmlns:a16="http://schemas.microsoft.com/office/drawing/2014/main" id="{F96F8816-7554-4305-BC18-5E1930E70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14600" y="438912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68" name="TextBox 31">
            <a:extLst xmlns:a="http://schemas.openxmlformats.org/drawingml/2006/main">
              <a:ext uri="{FF2B5EF4-FFF2-40B4-BE49-F238E27FC236}">
                <a16:creationId xmlns:a16="http://schemas.microsoft.com/office/drawing/2014/main" id="{6E4B5B4E-B72C-42BB-B9A4-126F019F1A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452628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Bronze</a:t>
            </a:r>
          </a:p>
        </p:txBody>
      </p:sp>
      <p:sp>
        <p:nvSpPr>
          <p:cNvPr id="69" name="Right Arrow 2">
            <a:extLst xmlns:a="http://schemas.openxmlformats.org/drawingml/2006/main">
              <a:ext uri="{FF2B5EF4-FFF2-40B4-BE49-F238E27FC236}">
                <a16:creationId xmlns:a16="http://schemas.microsoft.com/office/drawing/2014/main" id="{D0A12ABD-771E-4D72-AA87-5C7EAD4D9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23360" y="455364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0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8FA50573-03C4-4663-9ECF-0ABFD7480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438912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1" name="TextBox 32">
            <a:extLst xmlns:a="http://schemas.openxmlformats.org/drawingml/2006/main">
              <a:ext uri="{FF2B5EF4-FFF2-40B4-BE49-F238E27FC236}">
                <a16:creationId xmlns:a16="http://schemas.microsoft.com/office/drawing/2014/main" id="{72EAF79F-F0A2-483F-904A-91E0C77470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34840" y="452628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Silver</a:t>
            </a:r>
          </a:p>
        </p:txBody>
      </p:sp>
      <p:sp>
        <p:nvSpPr>
          <p:cNvPr id="72" name="Right Arrow 3">
            <a:extLst xmlns:a="http://schemas.openxmlformats.org/drawingml/2006/main">
              <a:ext uri="{FF2B5EF4-FFF2-40B4-BE49-F238E27FC236}">
                <a16:creationId xmlns:a16="http://schemas.microsoft.com/office/drawing/2014/main" id="{B8E084FC-ED85-4A2F-B236-98F917F4E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455364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3" name="Rounded Rectangle 19">
            <a:extLst xmlns:a="http://schemas.openxmlformats.org/drawingml/2006/main">
              <a:ext uri="{FF2B5EF4-FFF2-40B4-BE49-F238E27FC236}">
                <a16:creationId xmlns:a16="http://schemas.microsoft.com/office/drawing/2014/main" id="{80F0ACDB-2A4E-454A-92DC-26875A894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3640" y="438912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4" name="TextBox 33">
            <a:extLst xmlns:a="http://schemas.openxmlformats.org/drawingml/2006/main">
              <a:ext uri="{FF2B5EF4-FFF2-40B4-BE49-F238E27FC236}">
                <a16:creationId xmlns:a16="http://schemas.microsoft.com/office/drawing/2014/main" id="{0F3F131D-ADC7-4E09-82DE-F87FC8DA36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9360" y="452628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Gold</a:t>
            </a:r>
          </a:p>
        </p:txBody>
      </p:sp>
      <p:sp>
        <p:nvSpPr>
          <p:cNvPr id="75" name="Right Arrow 14">
            <a:extLst xmlns:a="http://schemas.openxmlformats.org/drawingml/2006/main">
              <a:ext uri="{FF2B5EF4-FFF2-40B4-BE49-F238E27FC236}">
                <a16:creationId xmlns:a16="http://schemas.microsoft.com/office/drawing/2014/main" id="{A3BC2F3E-D301-4A18-810B-7DDCE63C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0" y="455364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6" name="Rounded Rectangle 21">
            <a:extLst xmlns:a="http://schemas.openxmlformats.org/drawingml/2006/main">
              <a:ext uri="{FF2B5EF4-FFF2-40B4-BE49-F238E27FC236}">
                <a16:creationId xmlns:a16="http://schemas.microsoft.com/office/drawing/2014/main" id="{61A6AEC8-DCB6-4948-AAF3-F2C5E5829B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38160" y="438912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77" name="TextBox 34">
            <a:extLst xmlns:a="http://schemas.openxmlformats.org/drawingml/2006/main">
              <a:ext uri="{FF2B5EF4-FFF2-40B4-BE49-F238E27FC236}">
                <a16:creationId xmlns:a16="http://schemas.microsoft.com/office/drawing/2014/main" id="{8D703CEC-CF32-42BF-82B7-4CC4C2A76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83880" y="452628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</a:t>
            </a:r>
          </a:p>
        </p:txBody>
      </p:sp>
      <p:sp>
        <p:nvSpPr>
          <p:cNvPr id="78" name="TextBox 35">
            <a:extLst xmlns:a="http://schemas.openxmlformats.org/drawingml/2006/main">
              <a:ext uri="{FF2B5EF4-FFF2-40B4-BE49-F238E27FC236}">
                <a16:creationId xmlns:a16="http://schemas.microsoft.com/office/drawing/2014/main" id="{1D395F78-C9A1-4CEC-B858-51AC3A68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Sources: MinIO Apache Iceberg article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; Delta Lake paper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938439415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9" name="TextBox 1">
            <a:extLst xmlns:a="http://schemas.openxmlformats.org/drawingml/2006/main">
              <a:ext uri="{FF2B5EF4-FFF2-40B4-BE49-F238E27FC236}">
                <a16:creationId xmlns:a16="http://schemas.microsoft.com/office/drawing/2014/main" id="{C6410AEB-2E8F-4704-8992-8C386E2DD2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8686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Learning Objectives</a:t>
            </a:r>
          </a:p>
        </p:txBody>
      </p:sp>
      <p:sp>
        <p:nvSpPr>
          <p:cNvPr id="80" name="TextBox 2">
            <a:extLst xmlns:a="http://schemas.openxmlformats.org/drawingml/2006/main">
              <a:ext uri="{FF2B5EF4-FFF2-40B4-BE49-F238E27FC236}">
                <a16:creationId xmlns:a16="http://schemas.microsoft.com/office/drawing/2014/main" id="{2C78C160-E4F0-436E-AB06-FE4B4E332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105152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Understand modern table formats (Iceberg vs Delta vs Hudi)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Explain object storage and its role in medallion pipelines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Design Bronze, Silver &amp; Gold layers with appropriate transformations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Apply partitioning, schema evolution &amp; time travel concepts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Build an end-to-end medallion pipeline in the lab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Analyze best practices for reliability and optimization</a:t>
            </a:r>
          </a:p>
        </p:txBody>
      </p:sp>
      <p:sp>
        <p:nvSpPr>
          <p:cNvPr id="81" name="TextBox 3">
            <a:extLst xmlns:a="http://schemas.openxmlformats.org/drawingml/2006/main">
              <a:ext uri="{FF2B5EF4-FFF2-40B4-BE49-F238E27FC236}">
                <a16:creationId xmlns:a16="http://schemas.microsoft.com/office/drawing/2014/main" id="{8EB2A98B-98CE-4474-9363-DBF699D13D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Sources: MinIO Apache Iceberg article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; Delta Lake paper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599025348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82" name="TextBox 1">
            <a:extLst xmlns:a="http://schemas.openxmlformats.org/drawingml/2006/main">
              <a:ext uri="{FF2B5EF4-FFF2-40B4-BE49-F238E27FC236}">
                <a16:creationId xmlns:a16="http://schemas.microsoft.com/office/drawing/2014/main" id="{64C336CC-1292-4761-975B-17D71E56AD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548640"/>
            <a:ext cx="5486040" cy="5482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30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Agenda</a:t>
            </a:r>
          </a:p>
        </p:txBody>
      </p:sp>
      <p:sp>
        <p:nvSpPr>
          <p:cNvPr id="8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5BAB8542-AC73-4CF1-BD98-4B840AABB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28016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84" name="TextBox 3">
            <a:extLst xmlns:a="http://schemas.openxmlformats.org/drawingml/2006/main">
              <a:ext uri="{FF2B5EF4-FFF2-40B4-BE49-F238E27FC236}">
                <a16:creationId xmlns:a16="http://schemas.microsoft.com/office/drawing/2014/main" id="{E123493D-2ED3-4F8A-A327-C409DFE83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37160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1. Recap Day 6: Transformation principles</a:t>
            </a:r>
          </a:p>
        </p:txBody>
      </p:sp>
      <p:sp>
        <p:nvSpPr>
          <p:cNvPr id="85" name="TextBox 4">
            <a:extLst xmlns:a="http://schemas.openxmlformats.org/drawingml/2006/main">
              <a:ext uri="{FF2B5EF4-FFF2-40B4-BE49-F238E27FC236}">
                <a16:creationId xmlns:a16="http://schemas.microsoft.com/office/drawing/2014/main" id="{79153497-FAC5-4A80-A495-EE3F20462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169164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86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A50AFF0A-8990-447C-95CD-D7A0CB5F6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128016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87" name="TextBox 6">
            <a:extLst xmlns:a="http://schemas.openxmlformats.org/drawingml/2006/main">
              <a:ext uri="{FF2B5EF4-FFF2-40B4-BE49-F238E27FC236}">
                <a16:creationId xmlns:a16="http://schemas.microsoft.com/office/drawing/2014/main" id="{0DFA4B31-63D6-4352-9171-1ABCB07DC7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37160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2. Motivation: Challenges of cloud object stores</a:t>
            </a:r>
          </a:p>
        </p:txBody>
      </p:sp>
      <p:sp>
        <p:nvSpPr>
          <p:cNvPr id="88" name="TextBox 7">
            <a:extLst xmlns:a="http://schemas.openxmlformats.org/drawingml/2006/main">
              <a:ext uri="{FF2B5EF4-FFF2-40B4-BE49-F238E27FC236}">
                <a16:creationId xmlns:a16="http://schemas.microsoft.com/office/drawing/2014/main" id="{AD70EDD3-279D-4AB6-AEDE-18D294E646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169164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8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977CAD9-4F1C-4617-A2CD-9B32A2819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10312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0" name="TextBox 9">
            <a:extLst xmlns:a="http://schemas.openxmlformats.org/drawingml/2006/main">
              <a:ext uri="{FF2B5EF4-FFF2-40B4-BE49-F238E27FC236}">
                <a16:creationId xmlns:a16="http://schemas.microsoft.com/office/drawing/2014/main" id="{56BC51E0-2A7A-4B29-A0A8-46FE02869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19456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3. Modern Table Formats: Iceberg &amp; Delta</a:t>
            </a:r>
          </a:p>
        </p:txBody>
      </p:sp>
      <p:sp>
        <p:nvSpPr>
          <p:cNvPr id="91" name="TextBox 10">
            <a:extLst xmlns:a="http://schemas.openxmlformats.org/drawingml/2006/main">
              <a:ext uri="{FF2B5EF4-FFF2-40B4-BE49-F238E27FC236}">
                <a16:creationId xmlns:a16="http://schemas.microsoft.com/office/drawing/2014/main" id="{121D9918-8F3D-4F74-A04A-9EB425586F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251460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2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E80F833E-6C14-4062-8910-F6D6DD5BB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10312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3" name="TextBox 12">
            <a:extLst xmlns:a="http://schemas.openxmlformats.org/drawingml/2006/main">
              <a:ext uri="{FF2B5EF4-FFF2-40B4-BE49-F238E27FC236}">
                <a16:creationId xmlns:a16="http://schemas.microsoft.com/office/drawing/2014/main" id="{04774785-B6DA-4C6B-B017-43F2C88FE7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19456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4. Object Storage &amp; MinIO</a:t>
            </a:r>
          </a:p>
        </p:txBody>
      </p:sp>
      <p:sp>
        <p:nvSpPr>
          <p:cNvPr id="94" name="TextBox 13">
            <a:extLst xmlns:a="http://schemas.openxmlformats.org/drawingml/2006/main">
              <a:ext uri="{FF2B5EF4-FFF2-40B4-BE49-F238E27FC236}">
                <a16:creationId xmlns:a16="http://schemas.microsoft.com/office/drawing/2014/main" id="{B6527329-C231-4C1A-AD1A-9D671906A0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251460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026AB512-49F7-453A-8CAE-6B594CD909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6" name="TextBox 15">
            <a:extLst xmlns:a="http://schemas.openxmlformats.org/drawingml/2006/main">
              <a:ext uri="{FF2B5EF4-FFF2-40B4-BE49-F238E27FC236}">
                <a16:creationId xmlns:a16="http://schemas.microsoft.com/office/drawing/2014/main" id="{534A35A7-92AB-42E4-BFEF-FA63768BF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01752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5. Bronze–Silver–Gold layers</a:t>
            </a:r>
          </a:p>
        </p:txBody>
      </p:sp>
      <p:sp>
        <p:nvSpPr>
          <p:cNvPr id="97" name="TextBox 16">
            <a:extLst xmlns:a="http://schemas.openxmlformats.org/drawingml/2006/main">
              <a:ext uri="{FF2B5EF4-FFF2-40B4-BE49-F238E27FC236}">
                <a16:creationId xmlns:a16="http://schemas.microsoft.com/office/drawing/2014/main" id="{DA6567DF-67D0-43E2-A785-394B471501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33756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98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CBFF52E2-5193-4AD5-ABF9-F39EF2AB7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292608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99" name="TextBox 18">
            <a:extLst xmlns:a="http://schemas.openxmlformats.org/drawingml/2006/main">
              <a:ext uri="{FF2B5EF4-FFF2-40B4-BE49-F238E27FC236}">
                <a16:creationId xmlns:a16="http://schemas.microsoft.com/office/drawing/2014/main" id="{E8420F43-3977-4A72-A1C2-E573ED2724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01752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6. Partitioning &amp; Optimization</a:t>
            </a:r>
          </a:p>
        </p:txBody>
      </p:sp>
      <p:sp>
        <p:nvSpPr>
          <p:cNvPr id="100" name="TextBox 19">
            <a:extLst xmlns:a="http://schemas.openxmlformats.org/drawingml/2006/main">
              <a:ext uri="{FF2B5EF4-FFF2-40B4-BE49-F238E27FC236}">
                <a16:creationId xmlns:a16="http://schemas.microsoft.com/office/drawing/2014/main" id="{75993EDD-C3F8-45C7-A585-1FDD067AE4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33756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01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8489DA12-552C-437C-975A-C9523E15B3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374904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2" name="TextBox 21">
            <a:extLst xmlns:a="http://schemas.openxmlformats.org/drawingml/2006/main">
              <a:ext uri="{FF2B5EF4-FFF2-40B4-BE49-F238E27FC236}">
                <a16:creationId xmlns:a16="http://schemas.microsoft.com/office/drawing/2014/main" id="{96712B48-A707-4FD4-9558-D3D40C7D5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384048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7. End-to-End Pipeline Design</a:t>
            </a:r>
          </a:p>
        </p:txBody>
      </p:sp>
      <p:sp>
        <p:nvSpPr>
          <p:cNvPr id="103" name="TextBox 22">
            <a:extLst xmlns:a="http://schemas.openxmlformats.org/drawingml/2006/main">
              <a:ext uri="{FF2B5EF4-FFF2-40B4-BE49-F238E27FC236}">
                <a16:creationId xmlns:a16="http://schemas.microsoft.com/office/drawing/2014/main" id="{034B448B-B64B-43C9-9D95-F32A63B1D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16052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04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6189EC5D-1C75-463B-9989-AAED9A6989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75120" y="374904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5" name="TextBox 24">
            <a:extLst xmlns:a="http://schemas.openxmlformats.org/drawingml/2006/main">
              <a:ext uri="{FF2B5EF4-FFF2-40B4-BE49-F238E27FC236}">
                <a16:creationId xmlns:a16="http://schemas.microsoft.com/office/drawing/2014/main" id="{00CD5739-DC98-41ED-B9B8-C10306727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384048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8. Lab &amp; Exercises</a:t>
            </a:r>
          </a:p>
        </p:txBody>
      </p:sp>
      <p:sp>
        <p:nvSpPr>
          <p:cNvPr id="106" name="TextBox 25">
            <a:extLst xmlns:a="http://schemas.openxmlformats.org/drawingml/2006/main">
              <a:ext uri="{FF2B5EF4-FFF2-40B4-BE49-F238E27FC236}">
                <a16:creationId xmlns:a16="http://schemas.microsoft.com/office/drawing/2014/main" id="{25DDB4E1-C576-4CA1-BC3B-21C5CAC862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66560" y="416052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07" name="Rounded Rectangle 26">
            <a:extLst xmlns:a="http://schemas.openxmlformats.org/drawingml/2006/main">
              <a:ext uri="{FF2B5EF4-FFF2-40B4-BE49-F238E27FC236}">
                <a16:creationId xmlns:a16="http://schemas.microsoft.com/office/drawing/2014/main" id="{B1F4CEA9-5183-48C5-8A1F-90AA54319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572000"/>
            <a:ext cx="521172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08" name="TextBox 27">
            <a:extLst xmlns:a="http://schemas.openxmlformats.org/drawingml/2006/main">
              <a:ext uri="{FF2B5EF4-FFF2-40B4-BE49-F238E27FC236}">
                <a16:creationId xmlns:a16="http://schemas.microsoft.com/office/drawing/2014/main" id="{A7B5A156-945D-4D81-9CD8-0D9DF3D4F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663440"/>
            <a:ext cx="5028840" cy="3196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4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9. MCQs &amp; Recap</a:t>
            </a:r>
          </a:p>
        </p:txBody>
      </p:sp>
      <p:sp>
        <p:nvSpPr>
          <p:cNvPr id="109" name="TextBox 28">
            <a:extLst xmlns:a="http://schemas.openxmlformats.org/drawingml/2006/main">
              <a:ext uri="{FF2B5EF4-FFF2-40B4-BE49-F238E27FC236}">
                <a16:creationId xmlns:a16="http://schemas.microsoft.com/office/drawing/2014/main" id="{88DA147E-C51D-4444-B160-1CB1EBC071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" y="4983480"/>
            <a:ext cx="5028840" cy="228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</a:p>
        </p:txBody>
      </p:sp>
      <p:sp>
        <p:nvSpPr>
          <p:cNvPr id="110" name="TextBox 29">
            <a:extLst xmlns:a="http://schemas.openxmlformats.org/drawingml/2006/main">
              <a:ext uri="{FF2B5EF4-FFF2-40B4-BE49-F238E27FC236}">
                <a16:creationId xmlns:a16="http://schemas.microsoft.com/office/drawing/2014/main" id="{54494F80-1BA0-4A65-8B17-E935BF2A1E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Course outline: Medallion pipeline Day 7 topics</a:t>
            </a:r>
          </a:p>
        </p:txBody>
      </p:sp>
    </p:spTree>
    <p:extLst>
      <p:ext uri="{BB962C8B-B14F-4D97-AF65-F5344CB8AC3E}">
        <p14:creationId xmlns:p14="http://schemas.microsoft.com/office/powerpoint/2010/main" val="1583475308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1" name="TextBox 1">
            <a:extLst xmlns:a="http://schemas.openxmlformats.org/drawingml/2006/main">
              <a:ext uri="{FF2B5EF4-FFF2-40B4-BE49-F238E27FC236}">
                <a16:creationId xmlns:a16="http://schemas.microsoft.com/office/drawing/2014/main" id="{E3AD9E62-4A73-40A6-AA52-CF4B10ECA3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Recap: Data Transformation &amp; Hop</a:t>
            </a:r>
          </a:p>
        </p:txBody>
      </p:sp>
      <p:sp>
        <p:nvSpPr>
          <p:cNvPr id="112" name="TextBox 2">
            <a:extLst xmlns:a="http://schemas.openxmlformats.org/drawingml/2006/main">
              <a:ext uri="{FF2B5EF4-FFF2-40B4-BE49-F238E27FC236}">
                <a16:creationId xmlns:a16="http://schemas.microsoft.com/office/drawing/2014/main" id="{E82204D2-D44F-4003-8DDB-0649C5B85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240920" cy="2925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Hop pipelines transform raw data into clean datasets using visual designs.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Workflows orchestrate tasks and handle control flow and error paths.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Streaming transforms consume from Kafka and publish to Kafka topics.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Transformation patterns: filter, map, join, aggregate, deduplicate, clean.</a:t>
            </a:r>
          </a:p>
        </p:txBody>
      </p:sp>
      <p:sp>
        <p:nvSpPr>
          <p:cNvPr id="113" name="Rounded Rectangle 3">
            <a:extLst xmlns:a="http://schemas.openxmlformats.org/drawingml/2006/main">
              <a:ext uri="{FF2B5EF4-FFF2-40B4-BE49-F238E27FC236}">
                <a16:creationId xmlns:a16="http://schemas.microsoft.com/office/drawing/2014/main" id="{17FA2084-79AF-48A8-A031-D4896F2847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466344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4" name="TextBox 4">
            <a:extLst xmlns:a="http://schemas.openxmlformats.org/drawingml/2006/main">
              <a:ext uri="{FF2B5EF4-FFF2-40B4-BE49-F238E27FC236}">
                <a16:creationId xmlns:a16="http://schemas.microsoft.com/office/drawing/2014/main" id="{DE386435-BA4A-4922-B238-377886BFC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480060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Raw Data</a:t>
            </a:r>
          </a:p>
        </p:txBody>
      </p:sp>
      <p:sp>
        <p:nvSpPr>
          <p:cNvPr id="115" name="Right Arrow 5">
            <a:extLst xmlns:a="http://schemas.openxmlformats.org/drawingml/2006/main">
              <a:ext uri="{FF2B5EF4-FFF2-40B4-BE49-F238E27FC236}">
                <a16:creationId xmlns:a16="http://schemas.microsoft.com/office/drawing/2014/main" id="{AAA2A722-2728-4F73-BF22-A3D96A9DD6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40280" y="482796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6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6A8D03EC-2465-49AB-8650-73D296312D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6040" y="466344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7" name="TextBox 7">
            <a:extLst xmlns:a="http://schemas.openxmlformats.org/drawingml/2006/main">
              <a:ext uri="{FF2B5EF4-FFF2-40B4-BE49-F238E27FC236}">
                <a16:creationId xmlns:a16="http://schemas.microsoft.com/office/drawing/2014/main" id="{39B19B67-6CF7-4AF2-A497-CBD5D9623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51760" y="480060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Hop Pipeline</a:t>
            </a:r>
          </a:p>
        </p:txBody>
      </p:sp>
      <p:sp>
        <p:nvSpPr>
          <p:cNvPr id="118" name="Right Arrow 8">
            <a:extLst xmlns:a="http://schemas.openxmlformats.org/drawingml/2006/main">
              <a:ext uri="{FF2B5EF4-FFF2-40B4-BE49-F238E27FC236}">
                <a16:creationId xmlns:a16="http://schemas.microsoft.com/office/drawing/2014/main" id="{8073561A-F772-433E-A4A3-34CBD36CC5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14800" y="482796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19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CDF007E7-6135-46A9-B5F5-B00F130C7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80560" y="466344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0" name="TextBox 10">
            <a:extLst xmlns:a="http://schemas.openxmlformats.org/drawingml/2006/main">
              <a:ext uri="{FF2B5EF4-FFF2-40B4-BE49-F238E27FC236}">
                <a16:creationId xmlns:a16="http://schemas.microsoft.com/office/drawing/2014/main" id="{0BB4D636-94B8-4D2B-B831-769414A96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6280" y="480060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Clean Data</a:t>
            </a:r>
          </a:p>
        </p:txBody>
      </p:sp>
      <p:sp>
        <p:nvSpPr>
          <p:cNvPr id="121" name="Right Arrow 11">
            <a:extLst xmlns:a="http://schemas.openxmlformats.org/drawingml/2006/main">
              <a:ext uri="{FF2B5EF4-FFF2-40B4-BE49-F238E27FC236}">
                <a16:creationId xmlns:a16="http://schemas.microsoft.com/office/drawing/2014/main" id="{E5F3FAD5-BB73-4C46-B757-E2A3A8165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4827960"/>
            <a:ext cx="273960" cy="22824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2" name="Rounded Rectangle 12">
            <a:extLst xmlns:a="http://schemas.openxmlformats.org/drawingml/2006/main">
              <a:ext uri="{FF2B5EF4-FFF2-40B4-BE49-F238E27FC236}">
                <a16:creationId xmlns:a16="http://schemas.microsoft.com/office/drawing/2014/main" id="{891156DA-2C3C-4B6D-8D0E-EB7A524CBC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55080" y="4663440"/>
            <a:ext cx="1462680" cy="54828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23" name="TextBox 13">
            <a:extLst xmlns:a="http://schemas.openxmlformats.org/drawingml/2006/main">
              <a:ext uri="{FF2B5EF4-FFF2-40B4-BE49-F238E27FC236}">
                <a16:creationId xmlns:a16="http://schemas.microsoft.com/office/drawing/2014/main" id="{DCEBD86D-B7F2-4489-ADD1-25B02EF18E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4800600"/>
            <a:ext cx="137124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0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Analytics</a:t>
            </a:r>
          </a:p>
        </p:txBody>
      </p:sp>
      <p:sp>
        <p:nvSpPr>
          <p:cNvPr id="124" name="TextBox 14">
            <a:extLst xmlns:a="http://schemas.openxmlformats.org/drawingml/2006/main">
              <a:ext uri="{FF2B5EF4-FFF2-40B4-BE49-F238E27FC236}">
                <a16:creationId xmlns:a16="http://schemas.microsoft.com/office/drawing/2014/main" id="{44F3333B-064A-4373-899D-1BBB9A826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Sources: Day 6 materials and Hop documentation</a:t>
            </a:r>
          </a:p>
        </p:txBody>
      </p:sp>
    </p:spTree>
    <p:extLst>
      <p:ext uri="{BB962C8B-B14F-4D97-AF65-F5344CB8AC3E}">
        <p14:creationId xmlns:p14="http://schemas.microsoft.com/office/powerpoint/2010/main" val="129478875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5" name="TextBox 1">
            <a:extLst xmlns:a="http://schemas.openxmlformats.org/drawingml/2006/main">
              <a:ext uri="{FF2B5EF4-FFF2-40B4-BE49-F238E27FC236}">
                <a16:creationId xmlns:a16="http://schemas.microsoft.com/office/drawing/2014/main" id="{8DB8D149-0668-4EC4-98B6-8D307ACCF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Why New Table Formats?</a:t>
            </a:r>
          </a:p>
        </p:txBody>
      </p:sp>
      <p:sp>
        <p:nvSpPr>
          <p:cNvPr id="126" name="TextBox 2">
            <a:extLst xmlns:a="http://schemas.openxmlformats.org/drawingml/2006/main">
              <a:ext uri="{FF2B5EF4-FFF2-40B4-BE49-F238E27FC236}">
                <a16:creationId xmlns:a16="http://schemas.microsoft.com/office/drawing/2014/main" id="{F4227A40-3531-4388-B864-A2C2686123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0171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Cloud object stores like S3 and Azure Blob are key-value stores with eventual consistency.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Traditional tables stored as Parquet files require multi-object operations; lack atomicity leads to corruption.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Metadata operations (listing thousands of files) are expensive and slow.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No built-in support for schema evolution or time travel.</a:t>
            </a:r>
          </a:p>
        </p:txBody>
      </p:sp>
      <p:sp>
        <p:nvSpPr>
          <p:cNvPr id="127" name="TextBox 3">
            <a:extLst xmlns:a="http://schemas.openxmlformats.org/drawingml/2006/main">
              <a:ext uri="{FF2B5EF4-FFF2-40B4-BE49-F238E27FC236}">
                <a16:creationId xmlns:a16="http://schemas.microsoft.com/office/drawing/2014/main" id="{9EBCEC05-880A-4C5F-90CA-7FA17AD8ED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Delta Lake paper highlighting challenges of cloud object stores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250973830134938†L15-L33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250973830134938†L69-L97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736534248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8" name="TextBox 1">
            <a:extLst xmlns:a="http://schemas.openxmlformats.org/drawingml/2006/main">
              <a:ext uri="{FF2B5EF4-FFF2-40B4-BE49-F238E27FC236}">
                <a16:creationId xmlns:a16="http://schemas.microsoft.com/office/drawing/2014/main" id="{994FC299-43D0-4BF7-B59E-99AAF136D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Apache Iceberg: Open Table Format</a:t>
            </a:r>
          </a:p>
        </p:txBody>
      </p:sp>
      <p:sp>
        <p:nvSpPr>
          <p:cNvPr id="129" name="TextBox 2">
            <a:extLst xmlns:a="http://schemas.openxmlformats.org/drawingml/2006/main">
              <a:ext uri="{FF2B5EF4-FFF2-40B4-BE49-F238E27FC236}">
                <a16:creationId xmlns:a16="http://schemas.microsoft.com/office/drawing/2014/main" id="{A39D6C97-107E-42C8-8373-29B6C4B26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47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Iceberg is an open table format designed for huge analytic datasets.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Brings reliability and simplicity of SQL tables to data lakes.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Introduces a metadata layer that tracks table schema, partitions and files.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Allows concurrent reads and writes from multiple engines via optimistic concurrency control.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Supports hidden partitioning: users query without specifying partitions.</a:t>
            </a:r>
          </a:p>
        </p:txBody>
      </p:sp>
      <p:sp>
        <p:nvSpPr>
          <p:cNvPr id="130" name="TextBox 3">
            <a:extLst xmlns:a="http://schemas.openxmlformats.org/drawingml/2006/main">
              <a:ext uri="{FF2B5EF4-FFF2-40B4-BE49-F238E27FC236}">
                <a16:creationId xmlns:a16="http://schemas.microsoft.com/office/drawing/2014/main" id="{23DF6BE0-C2BC-431B-8F2F-F3D463A67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reliability &amp; metadata layer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269605588080244†L294-L304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63782005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1" name="TextBox 1">
            <a:extLst xmlns:a="http://schemas.openxmlformats.org/drawingml/2006/main">
              <a:ext uri="{FF2B5EF4-FFF2-40B4-BE49-F238E27FC236}">
                <a16:creationId xmlns:a16="http://schemas.microsoft.com/office/drawing/2014/main" id="{5F200EC2-271C-406B-94E2-4C1C7B4EF7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400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Iceberg Metadata Hierarchy</a:t>
            </a:r>
          </a:p>
        </p:txBody>
      </p:sp>
      <p:sp>
        <p:nvSpPr>
          <p:cNvPr id="132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847BE3F-8C82-493C-B14E-03ABFE718D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7370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3" name="TextBox 3">
            <a:extLst xmlns:a="http://schemas.openxmlformats.org/drawingml/2006/main">
              <a:ext uri="{FF2B5EF4-FFF2-40B4-BE49-F238E27FC236}">
                <a16:creationId xmlns:a16="http://schemas.microsoft.com/office/drawing/2014/main" id="{48D2D5D0-0706-405C-9892-0EDB7B720B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600200"/>
            <a:ext cx="17370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Catalog</a:t>
            </a:r>
          </a:p>
        </p:txBody>
      </p:sp>
      <p:sp>
        <p:nvSpPr>
          <p:cNvPr id="134" name="Right Arrow 4">
            <a:extLst xmlns:a="http://schemas.openxmlformats.org/drawingml/2006/main">
              <a:ext uri="{FF2B5EF4-FFF2-40B4-BE49-F238E27FC236}">
                <a16:creationId xmlns:a16="http://schemas.microsoft.com/office/drawing/2014/main" id="{E8F0C76B-75C8-4B0C-ABB4-A27FA3204A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1720" y="16459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5" name="Rectangle 5">
            <a:extLst xmlns:a="http://schemas.openxmlformats.org/drawingml/2006/main">
              <a:ext uri="{FF2B5EF4-FFF2-40B4-BE49-F238E27FC236}">
                <a16:creationId xmlns:a16="http://schemas.microsoft.com/office/drawing/2014/main" id="{4F3AFC7E-1695-4C7D-B530-060C4A7A1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463040"/>
            <a:ext cx="17370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6" name="TextBox 6">
            <a:extLst xmlns:a="http://schemas.openxmlformats.org/drawingml/2006/main">
              <a:ext uri="{FF2B5EF4-FFF2-40B4-BE49-F238E27FC236}">
                <a16:creationId xmlns:a16="http://schemas.microsoft.com/office/drawing/2014/main" id="{6E953E88-6CB7-40AE-99BF-77E74DD54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60320" y="1600200"/>
            <a:ext cx="17370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Metadata File</a:t>
            </a:r>
          </a:p>
        </p:txBody>
      </p:sp>
      <p:sp>
        <p:nvSpPr>
          <p:cNvPr id="137" name="Right Arrow 7">
            <a:extLst xmlns:a="http://schemas.openxmlformats.org/drawingml/2006/main">
              <a:ext uri="{FF2B5EF4-FFF2-40B4-BE49-F238E27FC236}">
                <a16:creationId xmlns:a16="http://schemas.microsoft.com/office/drawing/2014/main" id="{190BBB54-DC81-44D8-B8B5-9B05BF4C1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0520" y="16459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8" name="Rectangle 8">
            <a:extLst xmlns:a="http://schemas.openxmlformats.org/drawingml/2006/main">
              <a:ext uri="{FF2B5EF4-FFF2-40B4-BE49-F238E27FC236}">
                <a16:creationId xmlns:a16="http://schemas.microsoft.com/office/drawing/2014/main" id="{5FCAFA58-1E0E-43B4-8551-D0F2BEBAA0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463040"/>
            <a:ext cx="17370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39" name="TextBox 9">
            <a:extLst xmlns:a="http://schemas.openxmlformats.org/drawingml/2006/main">
              <a:ext uri="{FF2B5EF4-FFF2-40B4-BE49-F238E27FC236}">
                <a16:creationId xmlns:a16="http://schemas.microsoft.com/office/drawing/2014/main" id="{D0106001-C8DE-49E9-874F-994CD581D9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9120" y="1600200"/>
            <a:ext cx="17370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Manifest List</a:t>
            </a:r>
          </a:p>
        </p:txBody>
      </p:sp>
      <p:sp>
        <p:nvSpPr>
          <p:cNvPr id="140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A1924B7C-A839-4936-AF7B-00C3CBC38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16459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1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692F8880-66F5-485E-9FF9-7BF139258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463040"/>
            <a:ext cx="17370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2" name="TextBox 12">
            <a:extLst xmlns:a="http://schemas.openxmlformats.org/drawingml/2006/main">
              <a:ext uri="{FF2B5EF4-FFF2-40B4-BE49-F238E27FC236}">
                <a16:creationId xmlns:a16="http://schemas.microsoft.com/office/drawing/2014/main" id="{9B1B6B61-80A8-49A0-8695-4F14D2F75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7920" y="1600200"/>
            <a:ext cx="17370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Manifest</a:t>
            </a:r>
          </a:p>
        </p:txBody>
      </p:sp>
      <p:sp>
        <p:nvSpPr>
          <p:cNvPr id="143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31895720-654E-4697-A48A-F52DC5B2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8120" y="16459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4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16F4648B-A162-49F0-AA77-192EFB147C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463040"/>
            <a:ext cx="1737000" cy="63972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45" name="TextBox 15">
            <a:extLst xmlns:a="http://schemas.openxmlformats.org/drawingml/2006/main">
              <a:ext uri="{FF2B5EF4-FFF2-40B4-BE49-F238E27FC236}">
                <a16:creationId xmlns:a16="http://schemas.microsoft.com/office/drawing/2014/main" id="{4EF37AE8-3A6E-4670-B587-E48222A13C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46720" y="1600200"/>
            <a:ext cx="1737000" cy="365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11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Data Files</a:t>
            </a:r>
          </a:p>
        </p:txBody>
      </p:sp>
      <p:sp>
        <p:nvSpPr>
          <p:cNvPr id="146" name="TextBox 16">
            <a:extLst xmlns:a="http://schemas.openxmlformats.org/drawingml/2006/main">
              <a:ext uri="{FF2B5EF4-FFF2-40B4-BE49-F238E27FC236}">
                <a16:creationId xmlns:a16="http://schemas.microsoft.com/office/drawing/2014/main" id="{4BAB6296-404A-4430-AE54-99A1699E74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2926080"/>
            <a:ext cx="10606680" cy="21027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Catalog stores pointer to current metadata file and snapshot history.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Metadata file stores schema, partition spec &amp; list of manifests.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Manifests track groups of data files with statistics for pruning.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Enables fast planning without expensive directory listings.</a:t>
            </a:r>
          </a:p>
        </p:txBody>
      </p:sp>
      <p:sp>
        <p:nvSpPr>
          <p:cNvPr id="147" name="TextBox 17">
            <a:extLst xmlns:a="http://schemas.openxmlformats.org/drawingml/2006/main">
              <a:ext uri="{FF2B5EF4-FFF2-40B4-BE49-F238E27FC236}">
                <a16:creationId xmlns:a16="http://schemas.microsoft.com/office/drawing/2014/main" id="{9D0C1D58-62E1-4F0B-AE9E-3AC2C3DA55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metadata hierarchy &amp; fast scan planning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269605588080244†L276-L304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27905064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8" name="TextBox 1">
            <a:extLst xmlns:a="http://schemas.openxmlformats.org/drawingml/2006/main">
              <a:ext uri="{FF2B5EF4-FFF2-40B4-BE49-F238E27FC236}">
                <a16:creationId xmlns:a16="http://schemas.microsoft.com/office/drawing/2014/main" id="{2C82905B-1E38-4FCB-BC0F-8037069729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Iceberg: Features &amp; Innovations</a:t>
            </a:r>
          </a:p>
        </p:txBody>
      </p:sp>
      <p:sp>
        <p:nvSpPr>
          <p:cNvPr id="149" name="TextBox 2">
            <a:extLst xmlns:a="http://schemas.openxmlformats.org/drawingml/2006/main">
              <a:ext uri="{FF2B5EF4-FFF2-40B4-BE49-F238E27FC236}">
                <a16:creationId xmlns:a16="http://schemas.microsoft.com/office/drawing/2014/main" id="{D3A2D4D0-E780-4BA4-8380-145A6A4EF0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698120" cy="39315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ACID transactions: atomic, consistent, isolated, durable changes with optimistic concurrency control.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Schema evolution without rewrites: add, drop, rename columns while retaining history.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Partition evolution: change partitioning strategy over time without rewriting old 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Time travel &amp; snapshots: query previous versions and roll back to earlier states.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Data compaction &amp; file management: combine small files and optimize data layout.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Expressive SQL support: updates, merges, deletes via delete files.</a:t>
            </a:r>
          </a:p>
        </p:txBody>
      </p:sp>
      <p:sp>
        <p:nvSpPr>
          <p:cNvPr id="150" name="TextBox 3">
            <a:extLst xmlns:a="http://schemas.openxmlformats.org/drawingml/2006/main">
              <a:ext uri="{FF2B5EF4-FFF2-40B4-BE49-F238E27FC236}">
                <a16:creationId xmlns:a16="http://schemas.microsoft.com/office/drawing/2014/main" id="{817D49C5-953D-4591-B924-342089B7E0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ACID, schema &amp; partition evolution, time travel &amp; compaction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269605588080244†L305-L377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269605588080244†L381-L399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14588232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1" name="TextBox 1">
            <a:extLst xmlns:a="http://schemas.openxmlformats.org/drawingml/2006/main">
              <a:ext uri="{FF2B5EF4-FFF2-40B4-BE49-F238E27FC236}">
                <a16:creationId xmlns:a16="http://schemas.microsoft.com/office/drawing/2014/main" id="{27A473D5-9FD9-4CF6-8DB5-FA66E9ACF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Delta Lake: ACID Table Storage</a:t>
            </a:r>
          </a:p>
        </p:txBody>
      </p:sp>
      <p:sp>
        <p:nvSpPr>
          <p:cNvPr id="152" name="TextBox 2">
            <a:extLst xmlns:a="http://schemas.openxmlformats.org/drawingml/2006/main">
              <a:ext uri="{FF2B5EF4-FFF2-40B4-BE49-F238E27FC236}">
                <a16:creationId xmlns:a16="http://schemas.microsoft.com/office/drawing/2014/main" id="{28750EBE-C264-4D23-AC1A-FDC2E0D36A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47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Delta Lake is an open-source storage layer that provides ACID transactions on cloud object stores.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Uses a transaction log stored alongside Parquet files to maintain table state.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Supports time travel to query historical versions of 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Enforces schema and allows evolution; supports upserts and merges into existing tables.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Offers data layout optimization, caching, and vacuuming for performance.</a:t>
            </a:r>
          </a:p>
        </p:txBody>
      </p:sp>
      <p:sp>
        <p:nvSpPr>
          <p:cNvPr id="153" name="TextBox 3">
            <a:extLst xmlns:a="http://schemas.openxmlformats.org/drawingml/2006/main">
              <a:ext uri="{FF2B5EF4-FFF2-40B4-BE49-F238E27FC236}">
                <a16:creationId xmlns:a16="http://schemas.microsoft.com/office/drawing/2014/main" id="{9A859152-4F87-4E35-A7A1-E0C5373A5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Delta Lake paper: transaction log, ACID, time travel, upserts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961835000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4" name="TextBox 1">
            <a:extLst xmlns:a="http://schemas.openxmlformats.org/drawingml/2006/main">
              <a:ext uri="{FF2B5EF4-FFF2-40B4-BE49-F238E27FC236}">
                <a16:creationId xmlns:a16="http://schemas.microsoft.com/office/drawing/2014/main" id="{04317A61-40A7-474C-B5EA-A68BF1CFD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400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Comparing Table Formats</a:t>
            </a:r>
          </a:p>
        </p:txBody>
      </p:sp>
      <p:graphicFrame>
        <p:nvGraphicFramePr>
          <p:cNvPr id="155" name="Table 2"/>
          <p:cNvGraphicFramePr/>
          <p:nvPr/>
        </p:nvGraphicFramePr>
        <p:xfrm>
          <a:off xmlns:a="http://schemas.openxmlformats.org/drawingml/2006/main" x="640080" y="1463040"/>
          <a:ext xmlns:a="http://schemas.openxmlformats.org/drawingml/2006/main" cx="10789560" cy="320004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697480"/>
                <a:gridCol w="2697480"/>
                <a:gridCol w="2697480"/>
                <a:gridCol w="2697480"/>
              </a:tblGrid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Feature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Iceberg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Delta Lake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200" b="1" u="none">
                          <a:solidFill>
                            <a:srgbClr val="FFFFFF"/>
                          </a:solidFill>
                          <a:latin typeface="Calibri"/>
                          <a:ea typeface="Calibri"/>
                          <a:cs typeface="Calibri"/>
                        </a:rPr>
                        <a:t>Apache Hudi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0F172A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ACID transactions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Schema evolution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Time travel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Partition evolution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Partial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Upserts/Merges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Hidden partitioning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Yes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No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F5F5F5"/>
                    </a:solidFill>
                  </a:tcPr>
                </a:tc>
              </a:tr>
              <a:tr h="399960"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Time travel granularity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Snapshot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Version log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lnSpc>
                          <a:spcPct val="100000"/>
                        </a:lnSpc>
                        <a:buNone/>
                      </a:pPr>
                      <a:r>
                        <a:rPr sz="1100" b="0" u="none">
                          <a:solidFill>
                            <a:srgbClr val="000000"/>
                          </a:solidFill>
                          <a:latin typeface="Calibri"/>
                          <a:ea typeface="Calibri"/>
                          <a:cs typeface="Calibri"/>
                        </a:rPr>
                        <a:t>Commit timeline</a:t>
                      </a:r>
                    </a:p>
                  </a:txBody>
                  <a:tcPr marL="91440" marR="91440" marT="45720" marB="45720">
                    <a:lnL w="12240">
                      <a:solidFill>
                        <a:srgbClr val="FFFFFF"/>
                      </a:solidFill>
                      <a:prstDash val="solid"/>
                    </a:lnL>
                    <a:lnR w="12240">
                      <a:solidFill>
                        <a:srgbClr val="FFFFFF"/>
                      </a:solidFill>
                      <a:prstDash val="solid"/>
                    </a:lnR>
                    <a:lnT w="12240">
                      <a:solidFill>
                        <a:srgbClr val="FFFFFF"/>
                      </a:solidFill>
                      <a:prstDash val="solid"/>
                    </a:lnT>
                    <a:lnB w="12240">
                      <a:solidFill>
                        <a:srgbClr val="FFFFFF"/>
                      </a:solidFill>
                      <a:prstDash val="solid"/>
                    </a:lnB>
                    <a:solidFill>
                      <a:srgbClr val="D0D8E7"/>
                    </a:solidFill>
                  </a:tcPr>
                </a:tc>
              </a:tr>
            </a:tbl>
          </a:graphicData>
        </a:graphic>
      </p:graphicFrame>
      <p:sp>
        <p:nvSpPr>
          <p:cNvPr id="156" name="TextBox 3">
            <a:extLst xmlns:a="http://schemas.openxmlformats.org/drawingml/2006/main">
              <a:ext uri="{FF2B5EF4-FFF2-40B4-BE49-F238E27FC236}">
                <a16:creationId xmlns:a16="http://schemas.microsoft.com/office/drawing/2014/main" id="{71C0D237-6744-4CB1-B6FA-EF509281FB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Comparative features summarised from Iceberg and Delta sources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460837975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7" name="TextBox 1">
            <a:extLst xmlns:a="http://schemas.openxmlformats.org/drawingml/2006/main">
              <a:ext uri="{FF2B5EF4-FFF2-40B4-BE49-F238E27FC236}">
                <a16:creationId xmlns:a16="http://schemas.microsoft.com/office/drawing/2014/main" id="{FB5F2100-2B50-4498-BEED-CB96E54AB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400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Object Storage and MinIO</a:t>
            </a:r>
          </a:p>
        </p:txBody>
      </p:sp>
      <p:sp>
        <p:nvSpPr>
          <p:cNvPr id="158" name="TextBox 2">
            <a:extLst xmlns:a="http://schemas.openxmlformats.org/drawingml/2006/main">
              <a:ext uri="{FF2B5EF4-FFF2-40B4-BE49-F238E27FC236}">
                <a16:creationId xmlns:a16="http://schemas.microsoft.com/office/drawing/2014/main" id="{717E8B06-1213-41BB-BEF6-C09105D6BF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47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Object stores (S3, Azure Blob, MinIO) provide scalable, durable, cost-effective storage for data lakes.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They decouple compute and storage: scale clusters independently of capacity.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MinIO is an open-source S3-compatible object store for on-prem and cloud environments.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Object stores treat data as immutable objects; table formats like Iceberg/Delta manage metadata and transactions on top.</a:t>
            </a:r>
          </a:p>
        </p:txBody>
      </p:sp>
      <p:sp>
        <p:nvSpPr>
          <p:cNvPr id="159" name="TextBox 3">
            <a:extLst xmlns:a="http://schemas.openxmlformats.org/drawingml/2006/main">
              <a:ext uri="{FF2B5EF4-FFF2-40B4-BE49-F238E27FC236}">
                <a16:creationId xmlns:a16="http://schemas.microsoft.com/office/drawing/2014/main" id="{79FCAA6B-439C-4D65-8EFF-F61192B8C2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Delta Lake paper: object store challenges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250973830134938†L15-L33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; MinIO docs (summary)</a:t>
            </a:r>
          </a:p>
        </p:txBody>
      </p:sp>
    </p:spTree>
    <p:extLst>
      <p:ext uri="{BB962C8B-B14F-4D97-AF65-F5344CB8AC3E}">
        <p14:creationId xmlns:p14="http://schemas.microsoft.com/office/powerpoint/2010/main" val="1328575040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0" name="TextBox 1">
            <a:extLst xmlns:a="http://schemas.openxmlformats.org/drawingml/2006/main">
              <a:ext uri="{FF2B5EF4-FFF2-40B4-BE49-F238E27FC236}">
                <a16:creationId xmlns:a16="http://schemas.microsoft.com/office/drawing/2014/main" id="{53859C01-55A8-4962-90AC-A8D91B224F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Bronze Layer: Raw Data Landing</a:t>
            </a:r>
          </a:p>
        </p:txBody>
      </p:sp>
      <p:sp>
        <p:nvSpPr>
          <p:cNvPr id="161" name="TextBox 2">
            <a:extLst xmlns:a="http://schemas.openxmlformats.org/drawingml/2006/main">
              <a:ext uri="{FF2B5EF4-FFF2-40B4-BE49-F238E27FC236}">
                <a16:creationId xmlns:a16="http://schemas.microsoft.com/office/drawing/2014/main" id="{D830BE49-CA13-4D1B-A987-7C6A5719F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Ingest raw CDC events from source databases using Debezium/Kafka Connect.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Store events as Avro/JSON records in a Bronze Iceberg/Delta table with minimal transformation.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Retain metadata (operation type, timestamp, transaction ID) for auditing and replay.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object storage for long-term retention and infinite scaling.</a:t>
            </a:r>
          </a:p>
        </p:txBody>
      </p:sp>
      <p:sp>
        <p:nvSpPr>
          <p:cNvPr id="162" name="TextBox 3">
            <a:extLst xmlns:a="http://schemas.openxmlformats.org/drawingml/2006/main">
              <a:ext uri="{FF2B5EF4-FFF2-40B4-BE49-F238E27FC236}">
                <a16:creationId xmlns:a16="http://schemas.microsoft.com/office/drawing/2014/main" id="{CDFFE4C9-A57D-4CFE-8AA8-9A56359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Medallion architecture: Bronze layer definition</a:t>
            </a:r>
          </a:p>
        </p:txBody>
      </p:sp>
    </p:spTree>
    <p:extLst>
      <p:ext uri="{BB962C8B-B14F-4D97-AF65-F5344CB8AC3E}">
        <p14:creationId xmlns:p14="http://schemas.microsoft.com/office/powerpoint/2010/main" val="92641299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3" name="TextBox 1">
            <a:extLst xmlns:a="http://schemas.openxmlformats.org/drawingml/2006/main">
              <a:ext uri="{FF2B5EF4-FFF2-40B4-BE49-F238E27FC236}">
                <a16:creationId xmlns:a16="http://schemas.microsoft.com/office/drawing/2014/main" id="{A5F12993-A291-47DD-9322-7BCBE77A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Silver Layer: Clean &amp; Standardize</a:t>
            </a:r>
          </a:p>
        </p:txBody>
      </p:sp>
      <p:sp>
        <p:nvSpPr>
          <p:cNvPr id="164" name="TextBox 2">
            <a:extLst xmlns:a="http://schemas.openxmlformats.org/drawingml/2006/main">
              <a:ext uri="{FF2B5EF4-FFF2-40B4-BE49-F238E27FC236}">
                <a16:creationId xmlns:a16="http://schemas.microsoft.com/office/drawing/2014/main" id="{F2A977B8-F702-4B8D-A770-EBBC006133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Read from Bronze table and apply filtering, deduplication, type casting and transformations.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Merge with reference data (e.g., product catalog) for enrichment.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Write cleaned data to a Silver table using Iceberg/Delta with partitioning on business keys and date.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Maintain schema evolution: add new fields without rewriting the table.</a:t>
            </a:r>
          </a:p>
        </p:txBody>
      </p:sp>
      <p:sp>
        <p:nvSpPr>
          <p:cNvPr id="165" name="TextBox 3">
            <a:extLst xmlns:a="http://schemas.openxmlformats.org/drawingml/2006/main">
              <a:ext uri="{FF2B5EF4-FFF2-40B4-BE49-F238E27FC236}">
                <a16:creationId xmlns:a16="http://schemas.microsoft.com/office/drawing/2014/main" id="{A93EA2A6-5333-44B2-89E5-B01E38A85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schema evolution &amp; hidden partitioning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269605588080244†L328-L334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269605588080244†L342-L352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7181056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6" name="TextBox 1">
            <a:extLst xmlns:a="http://schemas.openxmlformats.org/drawingml/2006/main">
              <a:ext uri="{FF2B5EF4-FFF2-40B4-BE49-F238E27FC236}">
                <a16:creationId xmlns:a16="http://schemas.microsoft.com/office/drawing/2014/main" id="{E6ECE888-9EFF-4BED-B6B0-A002B08F1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Gold Layer: Aggregated &amp; Serving</a:t>
            </a:r>
          </a:p>
        </p:txBody>
      </p:sp>
      <p:sp>
        <p:nvSpPr>
          <p:cNvPr id="167" name="TextBox 2">
            <a:extLst xmlns:a="http://schemas.openxmlformats.org/drawingml/2006/main">
              <a:ext uri="{FF2B5EF4-FFF2-40B4-BE49-F238E27FC236}">
                <a16:creationId xmlns:a16="http://schemas.microsoft.com/office/drawing/2014/main" id="{734EF347-A37B-4222-8036-D30DBAA57E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Compute aggregated metrics and denormalized views for BI dashboards.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query engines (Spark, Presto, Flink) to materialize Gold tables in Iceberg/Delta format.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Optimize storage via Z-order or clustering to improve query performance.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Expose Gold tables to BI tools (e.g., Power BI, Tableau, Superset).</a:t>
            </a:r>
          </a:p>
        </p:txBody>
      </p:sp>
      <p:sp>
        <p:nvSpPr>
          <p:cNvPr id="168" name="TextBox 3">
            <a:extLst xmlns:a="http://schemas.openxmlformats.org/drawingml/2006/main">
              <a:ext uri="{FF2B5EF4-FFF2-40B4-BE49-F238E27FC236}">
                <a16:creationId xmlns:a16="http://schemas.microsoft.com/office/drawing/2014/main" id="{C2D85C97-96C9-4695-8048-51A975461E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Medallion architecture: Gold layer definition</a:t>
            </a:r>
          </a:p>
        </p:txBody>
      </p:sp>
    </p:spTree>
    <p:extLst>
      <p:ext uri="{BB962C8B-B14F-4D97-AF65-F5344CB8AC3E}">
        <p14:creationId xmlns:p14="http://schemas.microsoft.com/office/powerpoint/2010/main" val="877981641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9" name="TextBox 1">
            <a:extLst xmlns:a="http://schemas.openxmlformats.org/drawingml/2006/main">
              <a:ext uri="{FF2B5EF4-FFF2-40B4-BE49-F238E27FC236}">
                <a16:creationId xmlns:a16="http://schemas.microsoft.com/office/drawing/2014/main" id="{CAF5F671-C6E7-498F-A242-3598721696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Partitioning and Optimization</a:t>
            </a:r>
          </a:p>
        </p:txBody>
      </p:sp>
      <p:sp>
        <p:nvSpPr>
          <p:cNvPr id="170" name="TextBox 2">
            <a:extLst xmlns:a="http://schemas.openxmlformats.org/drawingml/2006/main">
              <a:ext uri="{FF2B5EF4-FFF2-40B4-BE49-F238E27FC236}">
                <a16:creationId xmlns:a16="http://schemas.microsoft.com/office/drawing/2014/main" id="{64584C30-AB09-442B-8ACB-3F3A3C40E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Hidden partitioning: Iceberg tracks partition values in metadata; queries do not require partition filters.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Partition evolution: change partition spec as table grows (e.g., daily to hourly).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Data compaction: combine small files to optimize query performance.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Clustering &amp; Z-ordering (Delta) to improve pruning on multi-dimensional queries.</a:t>
            </a:r>
          </a:p>
        </p:txBody>
      </p:sp>
      <p:sp>
        <p:nvSpPr>
          <p:cNvPr id="171" name="TextBox 3">
            <a:extLst xmlns:a="http://schemas.openxmlformats.org/drawingml/2006/main">
              <a:ext uri="{FF2B5EF4-FFF2-40B4-BE49-F238E27FC236}">
                <a16:creationId xmlns:a16="http://schemas.microsoft.com/office/drawing/2014/main" id="{87A430CF-250B-48D7-B9FF-15247F191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partition evolution &amp; compaction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269605588080244†L342-L363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269605588080244†L381-L389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9016410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2" name="TextBox 1">
            <a:extLst xmlns:a="http://schemas.openxmlformats.org/drawingml/2006/main">
              <a:ext uri="{FF2B5EF4-FFF2-40B4-BE49-F238E27FC236}">
                <a16:creationId xmlns:a16="http://schemas.microsoft.com/office/drawing/2014/main" id="{00ECB0EB-18E2-4EA6-9007-E954B629C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Schema Evolution &amp; Time Travel</a:t>
            </a:r>
          </a:p>
        </p:txBody>
      </p:sp>
      <p:sp>
        <p:nvSpPr>
          <p:cNvPr id="173" name="TextBox 2">
            <a:extLst xmlns:a="http://schemas.openxmlformats.org/drawingml/2006/main">
              <a:ext uri="{FF2B5EF4-FFF2-40B4-BE49-F238E27FC236}">
                <a16:creationId xmlns:a16="http://schemas.microsoft.com/office/drawing/2014/main" id="{0EB90D32-4E1A-4B6E-99B7-005269E070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Iceberg &amp; Delta support adding, dropping, renaming columns without rewriting 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Old and new schemas coexist; metadata tracks schema versions and file-level schema.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Time travel: query previous snapshots by timestamp or version ID for auditing and debugging.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Rollback: restore table to a previous state after erroneous writes.</a:t>
            </a:r>
          </a:p>
        </p:txBody>
      </p:sp>
      <p:sp>
        <p:nvSpPr>
          <p:cNvPr id="174" name="TextBox 3">
            <a:extLst xmlns:a="http://schemas.openxmlformats.org/drawingml/2006/main">
              <a:ext uri="{FF2B5EF4-FFF2-40B4-BE49-F238E27FC236}">
                <a16:creationId xmlns:a16="http://schemas.microsoft.com/office/drawing/2014/main" id="{BDB0C2F4-ACB1-4AC1-B13F-B8DA8F8620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schema evolution &amp; time travel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269605588080244†L328-L377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; Delta Lake paper: time travel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154092067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5" name="TextBox 1">
            <a:extLst xmlns:a="http://schemas.openxmlformats.org/drawingml/2006/main">
              <a:ext uri="{FF2B5EF4-FFF2-40B4-BE49-F238E27FC236}">
                <a16:creationId xmlns:a16="http://schemas.microsoft.com/office/drawing/2014/main" id="{E7899926-F536-490A-B065-4654674FF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82292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End-to-End Medallion Pipeline</a:t>
            </a:r>
          </a:p>
        </p:txBody>
      </p:sp>
      <p:sp>
        <p:nvSpPr>
          <p:cNvPr id="176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CB8FD73B-7AC9-410D-AF6A-1CF04DF577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7" name="TextBox 3">
            <a:extLst xmlns:a="http://schemas.openxmlformats.org/drawingml/2006/main">
              <a:ext uri="{FF2B5EF4-FFF2-40B4-BE49-F238E27FC236}">
                <a16:creationId xmlns:a16="http://schemas.microsoft.com/office/drawing/2014/main" id="{CA852EC8-3033-4460-A74B-C5C09BB317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724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Source DB</a:t>
            </a:r>
          </a:p>
        </p:txBody>
      </p:sp>
      <p:sp>
        <p:nvSpPr>
          <p:cNvPr id="178" name="Right Arrow 4">
            <a:extLst xmlns:a="http://schemas.openxmlformats.org/drawingml/2006/main">
              <a:ext uri="{FF2B5EF4-FFF2-40B4-BE49-F238E27FC236}">
                <a16:creationId xmlns:a16="http://schemas.microsoft.com/office/drawing/2014/main" id="{FACD4C8A-D784-498B-95EB-9841801733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4884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79" name="Rounded Rectangle 5">
            <a:extLst xmlns:a="http://schemas.openxmlformats.org/drawingml/2006/main">
              <a:ext uri="{FF2B5EF4-FFF2-40B4-BE49-F238E27FC236}">
                <a16:creationId xmlns:a16="http://schemas.microsoft.com/office/drawing/2014/main" id="{E0EBC8CA-D83A-4EFA-9B6D-7C5BEE97B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1168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B4D8"/>
          </a:solidFill>
          <a:ln xmlns:a="http://schemas.openxmlformats.org/drawingml/2006/main">
            <a:solidFill>
              <a:srgbClr val="00B4D8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0" name="TextBox 6">
            <a:extLst xmlns:a="http://schemas.openxmlformats.org/drawingml/2006/main">
              <a:ext uri="{FF2B5EF4-FFF2-40B4-BE49-F238E27FC236}">
                <a16:creationId xmlns:a16="http://schemas.microsoft.com/office/drawing/2014/main" id="{16FA0E82-E9A7-4451-BB40-BEA840EF6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5740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Debezium/Kafka</a:t>
            </a:r>
          </a:p>
        </p:txBody>
      </p:sp>
      <p:sp>
        <p:nvSpPr>
          <p:cNvPr id="181" name="Right Arrow 7">
            <a:extLst xmlns:a="http://schemas.openxmlformats.org/drawingml/2006/main">
              <a:ext uri="{FF2B5EF4-FFF2-40B4-BE49-F238E27FC236}">
                <a16:creationId xmlns:a16="http://schemas.microsoft.com/office/drawing/2014/main" id="{6B22CFF0-7D36-4DEC-98BD-DC82DEB5F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2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64A6F626-6E86-4F41-9ABF-E2DCB17CEE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9184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A84ACB"/>
          </a:solidFill>
          <a:ln xmlns:a="http://schemas.openxmlformats.org/drawingml/2006/main">
            <a:solidFill>
              <a:srgbClr val="A84ACB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3" name="TextBox 9">
            <a:extLst xmlns:a="http://schemas.openxmlformats.org/drawingml/2006/main">
              <a:ext uri="{FF2B5EF4-FFF2-40B4-BE49-F238E27FC236}">
                <a16:creationId xmlns:a16="http://schemas.microsoft.com/office/drawing/2014/main" id="{3E52CFEA-CEEC-4536-8DB5-A6D8402576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756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Bronze Table</a:t>
            </a:r>
          </a:p>
        </p:txBody>
      </p:sp>
      <p:sp>
        <p:nvSpPr>
          <p:cNvPr id="184" name="Right Arrow 10">
            <a:extLst xmlns:a="http://schemas.openxmlformats.org/drawingml/2006/main">
              <a:ext uri="{FF2B5EF4-FFF2-40B4-BE49-F238E27FC236}">
                <a16:creationId xmlns:a16="http://schemas.microsoft.com/office/drawing/2014/main" id="{124FC495-D269-457A-B597-21583D18A0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0916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5" name="Rounded Rectangle 11">
            <a:extLst xmlns:a="http://schemas.openxmlformats.org/drawingml/2006/main">
              <a:ext uri="{FF2B5EF4-FFF2-40B4-BE49-F238E27FC236}">
                <a16:creationId xmlns:a16="http://schemas.microsoft.com/office/drawing/2014/main" id="{5C3327CA-3B82-45E1-BB35-5A290C72B3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B703"/>
          </a:solidFill>
          <a:ln xmlns:a="http://schemas.openxmlformats.org/drawingml/2006/main">
            <a:solidFill>
              <a:srgbClr val="FFB703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6" name="TextBox 12">
            <a:extLst xmlns:a="http://schemas.openxmlformats.org/drawingml/2006/main">
              <a:ext uri="{FF2B5EF4-FFF2-40B4-BE49-F238E27FC236}">
                <a16:creationId xmlns:a16="http://schemas.microsoft.com/office/drawing/2014/main" id="{B59618F7-5455-4085-B3EB-DC2E5B1DD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772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Transform</a:t>
            </a:r>
          </a:p>
        </p:txBody>
      </p:sp>
      <p:sp>
        <p:nvSpPr>
          <p:cNvPr id="187" name="Right Arrow 13">
            <a:extLst xmlns:a="http://schemas.openxmlformats.org/drawingml/2006/main">
              <a:ext uri="{FF2B5EF4-FFF2-40B4-BE49-F238E27FC236}">
                <a16:creationId xmlns:a16="http://schemas.microsoft.com/office/drawing/2014/main" id="{F70508C0-1AF7-4232-B8F6-087D9313F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8932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8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6361EC55-7B2E-4D0E-AFC1-135B44433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5216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>
            <a:solidFill>
              <a:srgbClr val="2E8B57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89" name="TextBox 15">
            <a:extLst xmlns:a="http://schemas.openxmlformats.org/drawingml/2006/main">
              <a:ext uri="{FF2B5EF4-FFF2-40B4-BE49-F238E27FC236}">
                <a16:creationId xmlns:a16="http://schemas.microsoft.com/office/drawing/2014/main" id="{C2D35E56-1BBB-49AD-81BA-2E1BBADD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9788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Silver Table</a:t>
            </a:r>
          </a:p>
        </p:txBody>
      </p:sp>
      <p:sp>
        <p:nvSpPr>
          <p:cNvPr id="190" name="Right Arrow 16">
            <a:extLst xmlns:a="http://schemas.openxmlformats.org/drawingml/2006/main">
              <a:ext uri="{FF2B5EF4-FFF2-40B4-BE49-F238E27FC236}">
                <a16:creationId xmlns:a16="http://schemas.microsoft.com/office/drawing/2014/main" id="{FB7C24E0-5E8C-4488-93E2-E2366D760B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6948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1" name="Rounded Rectangle 17">
            <a:extLst xmlns:a="http://schemas.openxmlformats.org/drawingml/2006/main">
              <a:ext uri="{FF2B5EF4-FFF2-40B4-BE49-F238E27FC236}">
                <a16:creationId xmlns:a16="http://schemas.microsoft.com/office/drawing/2014/main" id="{9702EE49-D9FD-4A2C-8AE5-38C4D9134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3232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0077B6"/>
          </a:solidFill>
          <a:ln xmlns:a="http://schemas.openxmlformats.org/drawingml/2006/main">
            <a:solidFill>
              <a:srgbClr val="0077B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2" name="TextBox 18">
            <a:extLst xmlns:a="http://schemas.openxmlformats.org/drawingml/2006/main">
              <a:ext uri="{FF2B5EF4-FFF2-40B4-BE49-F238E27FC236}">
                <a16:creationId xmlns:a16="http://schemas.microsoft.com/office/drawing/2014/main" id="{B300966E-0F9C-47B0-AB09-831A0BE14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7804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Aggregate</a:t>
            </a:r>
          </a:p>
        </p:txBody>
      </p:sp>
      <p:sp>
        <p:nvSpPr>
          <p:cNvPr id="193" name="Right Arrow 19">
            <a:extLst xmlns:a="http://schemas.openxmlformats.org/drawingml/2006/main">
              <a:ext uri="{FF2B5EF4-FFF2-40B4-BE49-F238E27FC236}">
                <a16:creationId xmlns:a16="http://schemas.microsoft.com/office/drawing/2014/main" id="{B03DF65F-5374-428C-A35C-2768EA9797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4964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4" name="Rounded Rectangle 20">
            <a:extLst xmlns:a="http://schemas.openxmlformats.org/drawingml/2006/main">
              <a:ext uri="{FF2B5EF4-FFF2-40B4-BE49-F238E27FC236}">
                <a16:creationId xmlns:a16="http://schemas.microsoft.com/office/drawing/2014/main" id="{E92BB95D-1BF7-4C2A-8DC4-6C8BA0E556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1248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8482"/>
          </a:solidFill>
          <a:ln xmlns:a="http://schemas.openxmlformats.org/drawingml/2006/main">
            <a:solidFill>
              <a:srgbClr val="F28482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5" name="TextBox 21">
            <a:extLst xmlns:a="http://schemas.openxmlformats.org/drawingml/2006/main">
              <a:ext uri="{FF2B5EF4-FFF2-40B4-BE49-F238E27FC236}">
                <a16:creationId xmlns:a16="http://schemas.microsoft.com/office/drawing/2014/main" id="{F029FA6A-DFB0-4B09-8366-605C2F17B1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5820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Gold Table</a:t>
            </a:r>
          </a:p>
        </p:txBody>
      </p:sp>
      <p:sp>
        <p:nvSpPr>
          <p:cNvPr id="196" name="Right Arrow 22">
            <a:extLst xmlns:a="http://schemas.openxmlformats.org/drawingml/2006/main">
              <a:ext uri="{FF2B5EF4-FFF2-40B4-BE49-F238E27FC236}">
                <a16:creationId xmlns:a16="http://schemas.microsoft.com/office/drawing/2014/main" id="{E9611BC0-FAD2-4237-BCD6-CB564C4C0E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103120"/>
            <a:ext cx="365400" cy="182520"/>
          </a:xfrm>
          <a:prstGeom xmlns:a="http://schemas.openxmlformats.org/drawingml/2006/main" prst="rightArrow">
            <a:avLst>
              <a:gd name="adj1" fmla="val 50000"/>
              <a:gd name="adj2" fmla="val 50000"/>
            </a:avLst>
          </a:prstGeom>
          <a:solidFill xmlns:a="http://schemas.openxmlformats.org/drawingml/2006/main">
            <a:srgbClr val="0F172A"/>
          </a:solidFill>
          <a:ln xmlns:a="http://schemas.openxmlformats.org/drawingml/2006/main">
            <a:solidFill>
              <a:srgbClr val="0F172A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7" name="Rounded Rectangle 23">
            <a:extLst xmlns:a="http://schemas.openxmlformats.org/drawingml/2006/main">
              <a:ext uri="{FF2B5EF4-FFF2-40B4-BE49-F238E27FC236}">
                <a16:creationId xmlns:a16="http://schemas.microsoft.com/office/drawing/2014/main" id="{FFE05A73-14F5-46AB-A3EA-2FA8A2D8C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2640" y="1828800"/>
            <a:ext cx="1371240" cy="73116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14B8A6"/>
          </a:solidFill>
          <a:ln xmlns:a="http://schemas.openxmlformats.org/drawingml/2006/main">
            <a:solidFill>
              <a:srgbClr val="14B8A6"/>
            </a:solidFill>
          </a:ln>
          <a:effectLst xmlns:a="http://schemas.openxmlformats.org/drawingml/2006/main">
            <a:outerShdw blurRad="39960" dist="23040" dir="5400000" rotWithShape="0">
              <a:srgbClr val="000000">
                <a:alpha val="35000"/>
              </a:srgbClr>
            </a:outerShdw>
          </a:effectLst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2">
            <a:schemeClr val="accent1"/>
          </a:effectRef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</a:p>
        </p:txBody>
      </p:sp>
      <p:sp>
        <p:nvSpPr>
          <p:cNvPr id="198" name="TextBox 24">
            <a:extLst xmlns:a="http://schemas.openxmlformats.org/drawingml/2006/main">
              <a:ext uri="{FF2B5EF4-FFF2-40B4-BE49-F238E27FC236}">
                <a16:creationId xmlns:a16="http://schemas.microsoft.com/office/drawing/2014/main" id="{515ECF93-A7DE-4AE7-8552-0041EF95D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38360" y="2057400"/>
            <a:ext cx="127980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</a:pPr>
            <a:r>
              <a:rPr sz="800" b="1" u="none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BI</a:t>
            </a:r>
          </a:p>
        </p:txBody>
      </p:sp>
      <p:sp>
        <p:nvSpPr>
          <p:cNvPr id="199" name="TextBox 25">
            <a:extLst xmlns:a="http://schemas.openxmlformats.org/drawingml/2006/main">
              <a:ext uri="{FF2B5EF4-FFF2-40B4-BE49-F238E27FC236}">
                <a16:creationId xmlns:a16="http://schemas.microsoft.com/office/drawing/2014/main" id="{BFBC3386-E620-458D-B6F2-B55281C22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Summary pipeline diagram created for instruction</a:t>
            </a:r>
          </a:p>
        </p:txBody>
      </p:sp>
    </p:spTree>
    <p:extLst>
      <p:ext uri="{BB962C8B-B14F-4D97-AF65-F5344CB8AC3E}">
        <p14:creationId xmlns:p14="http://schemas.microsoft.com/office/powerpoint/2010/main" val="115195716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0" name="TextBox 1">
            <a:extLst xmlns:a="http://schemas.openxmlformats.org/drawingml/2006/main">
              <a:ext uri="{FF2B5EF4-FFF2-40B4-BE49-F238E27FC236}">
                <a16:creationId xmlns:a16="http://schemas.microsoft.com/office/drawing/2014/main" id="{F5BF3213-A056-4377-88F2-23B1CC42B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3148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Lab: Build a Medallion Pipeline</a:t>
            </a:r>
          </a:p>
        </p:txBody>
      </p:sp>
      <p:sp>
        <p:nvSpPr>
          <p:cNvPr id="201" name="TextBox 2">
            <a:extLst xmlns:a="http://schemas.openxmlformats.org/drawingml/2006/main">
              <a:ext uri="{FF2B5EF4-FFF2-40B4-BE49-F238E27FC236}">
                <a16:creationId xmlns:a16="http://schemas.microsoft.com/office/drawing/2014/main" id="{67EEFFDB-B030-4F42-AD52-1708FC83B6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65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Provided starter path: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1. Start MinIO and Kafka with the supplied Docker Compose file.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2. Configure Spark plus an Iceberg or Delta catalog locally.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3. Run the supplied Bronze-to-Silver PySpark starter after a Bronze table exists.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Student extension: create CDC ingestion and a Gold aggregation, then submit table/query evidence.</a:t>
            </a:r>
          </a:p>
        </p:txBody>
      </p:sp>
      <p:sp>
        <p:nvSpPr>
          <p:cNvPr id="202" name="TextBox 3">
            <a:extLst xmlns:a="http://schemas.openxmlformats.org/drawingml/2006/main">
              <a:ext uri="{FF2B5EF4-FFF2-40B4-BE49-F238E27FC236}">
                <a16:creationId xmlns:a16="http://schemas.microsoft.com/office/drawing/2014/main" id="{574B056D-C5A6-4D39-9DA8-9B22427CF5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Lab tasks inspired by course outline</a:t>
            </a:r>
          </a:p>
        </p:txBody>
      </p:sp>
    </p:spTree>
    <p:extLst>
      <p:ext uri="{BB962C8B-B14F-4D97-AF65-F5344CB8AC3E}">
        <p14:creationId xmlns:p14="http://schemas.microsoft.com/office/powerpoint/2010/main" val="117778048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3" name="TextBox 1">
            <a:extLst xmlns:a="http://schemas.openxmlformats.org/drawingml/2006/main">
              <a:ext uri="{FF2B5EF4-FFF2-40B4-BE49-F238E27FC236}">
                <a16:creationId xmlns:a16="http://schemas.microsoft.com/office/drawing/2014/main" id="{65E47339-465E-448C-843C-AE4CCCFFB7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1: Setup &amp; Catalog</a:t>
            </a:r>
          </a:p>
        </p:txBody>
      </p:sp>
      <p:sp>
        <p:nvSpPr>
          <p:cNvPr id="204" name="TextBox 2">
            <a:extLst xmlns:a="http://schemas.openxmlformats.org/drawingml/2006/main">
              <a:ext uri="{FF2B5EF4-FFF2-40B4-BE49-F238E27FC236}">
                <a16:creationId xmlns:a16="http://schemas.microsoft.com/office/drawing/2014/main" id="{343EEE3D-02D7-44CA-9371-0FF7527E0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84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The supplied Docker Compose file starts MinIO and Kafka only.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Create bronze, silver and gold buckets in MinIO.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Install Spark and the selected Iceberg or Delta dependencies separately.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Configure an S3-compatible catalog and verify a sample table.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Evidence: bucket view, catalog configuration and one successful table query.</a:t>
            </a:r>
          </a:p>
        </p:txBody>
      </p:sp>
      <p:sp>
        <p:nvSpPr>
          <p:cNvPr id="205" name="TextBox 3">
            <a:extLst xmlns:a="http://schemas.openxmlformats.org/drawingml/2006/main">
              <a:ext uri="{FF2B5EF4-FFF2-40B4-BE49-F238E27FC236}">
                <a16:creationId xmlns:a16="http://schemas.microsoft.com/office/drawing/2014/main" id="{D51E28D3-8AC0-47DB-8232-BF252D1894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Setup tasks summarised from Iceberg and Delta docs</a:t>
            </a:r>
          </a:p>
        </p:txBody>
      </p:sp>
    </p:spTree>
    <p:extLst>
      <p:ext uri="{BB962C8B-B14F-4D97-AF65-F5344CB8AC3E}">
        <p14:creationId xmlns:p14="http://schemas.microsoft.com/office/powerpoint/2010/main" val="731301590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6" name="TextBox 1">
            <a:extLst xmlns:a="http://schemas.openxmlformats.org/drawingml/2006/main">
              <a:ext uri="{FF2B5EF4-FFF2-40B4-BE49-F238E27FC236}">
                <a16:creationId xmlns:a16="http://schemas.microsoft.com/office/drawing/2014/main" id="{A70D4A01-A7A8-4C87-8DD7-2E125CD6E1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2: Ingest to Bronze</a:t>
            </a:r>
          </a:p>
        </p:txBody>
      </p:sp>
      <p:sp>
        <p:nvSpPr>
          <p:cNvPr id="207" name="TextBox 2">
            <a:extLst xmlns:a="http://schemas.openxmlformats.org/drawingml/2006/main">
              <a:ext uri="{FF2B5EF4-FFF2-40B4-BE49-F238E27FC236}">
                <a16:creationId xmlns:a16="http://schemas.microsoft.com/office/drawing/2014/main" id="{D9E2A162-3D38-4A90-939E-988B876772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4743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CDC-to-Bronze is an extension integration step: Day 7 does not include a Debezium connector or event producer.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Reuse verified Day 4/5 CDC topics, or load instructor-provided events.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Write raw events unchanged into Bronze with ingestion metadata.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Record source topic, event key, arrival time and replay strategy.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Evidence: raw Bronze rows plus the ingestion method used.</a:t>
            </a:r>
          </a:p>
        </p:txBody>
      </p:sp>
      <p:sp>
        <p:nvSpPr>
          <p:cNvPr id="208" name="TextBox 3">
            <a:extLst xmlns:a="http://schemas.openxmlformats.org/drawingml/2006/main">
              <a:ext uri="{FF2B5EF4-FFF2-40B4-BE49-F238E27FC236}">
                <a16:creationId xmlns:a16="http://schemas.microsoft.com/office/drawing/2014/main" id="{49F80600-6A98-4904-BF2C-5233056B6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Debezium tutorial &amp; Iceberg/Delta streaming examples</a:t>
            </a:r>
          </a:p>
        </p:txBody>
      </p:sp>
    </p:spTree>
    <p:extLst>
      <p:ext uri="{BB962C8B-B14F-4D97-AF65-F5344CB8AC3E}">
        <p14:creationId xmlns:p14="http://schemas.microsoft.com/office/powerpoint/2010/main" val="332309500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9" name="TextBox 1">
            <a:extLst xmlns:a="http://schemas.openxmlformats.org/drawingml/2006/main">
              <a:ext uri="{FF2B5EF4-FFF2-40B4-BE49-F238E27FC236}">
                <a16:creationId xmlns:a16="http://schemas.microsoft.com/office/drawing/2014/main" id="{E81FB70B-82B8-4F3B-BA8B-F9DB984D1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3: Transform to Silver</a:t>
            </a:r>
          </a:p>
        </p:txBody>
      </p:sp>
      <p:sp>
        <p:nvSpPr>
          <p:cNvPr id="210" name="TextBox 2">
            <a:extLst xmlns:a="http://schemas.openxmlformats.org/drawingml/2006/main">
              <a:ext uri="{FF2B5EF4-FFF2-40B4-BE49-F238E27FC236}">
                <a16:creationId xmlns:a16="http://schemas.microsoft.com/office/drawing/2014/main" id="{819612C1-56B3-4323-A268-62353226B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84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Use spark_bronze_to_silver.py as a starter sketch after configuring your table catalog and checkpoints.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Parse event times and enforce expected types.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Define a deterministic latest-record rule before deduplication.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Quarantine invalid rows and document the rule.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Write clean Silver records and prove the rerun outcome.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Evidence: Silver query results and validation/replay notes.</a:t>
            </a:r>
          </a:p>
        </p:txBody>
      </p:sp>
      <p:sp>
        <p:nvSpPr>
          <p:cNvPr id="211" name="TextBox 3">
            <a:extLst xmlns:a="http://schemas.openxmlformats.org/drawingml/2006/main">
              <a:ext uri="{FF2B5EF4-FFF2-40B4-BE49-F238E27FC236}">
                <a16:creationId xmlns:a16="http://schemas.microsoft.com/office/drawing/2014/main" id="{240EE91F-0FFD-4B9A-B4EF-CA9CECB5D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Transformation tasks referencing Iceberg schema evolution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269605588080244†L328-L334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487251393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2" name="TextBox 1">
            <a:extLst xmlns:a="http://schemas.openxmlformats.org/drawingml/2006/main">
              <a:ext uri="{FF2B5EF4-FFF2-40B4-BE49-F238E27FC236}">
                <a16:creationId xmlns:a16="http://schemas.microsoft.com/office/drawing/2014/main" id="{E28CDDAF-E09C-4857-B15D-C1FDDC94E1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Exercise 4: Create Gold &amp; Query</a:t>
            </a:r>
          </a:p>
        </p:txBody>
      </p:sp>
      <p:sp>
        <p:nvSpPr>
          <p:cNvPr id="213" name="TextBox 2">
            <a:extLst xmlns:a="http://schemas.openxmlformats.org/drawingml/2006/main">
              <a:ext uri="{FF2B5EF4-FFF2-40B4-BE49-F238E27FC236}">
                <a16:creationId xmlns:a16="http://schemas.microsoft.com/office/drawing/2014/main" id="{2C2441A5-61DA-4E04-8A5B-A5E417FE5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8401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Student-authored Gold extension: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Aggregate Silver data into one KPI table such as daily sales by product.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Query the result and explain its business grain.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- Demonstrate a snapshot or time-travel query only if your selected table format is configured for it.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Evidence: Gold SQL, result capture and a note on partition/maintenance choice.</a:t>
            </a:r>
          </a:p>
        </p:txBody>
      </p:sp>
      <p:sp>
        <p:nvSpPr>
          <p:cNvPr id="214" name="TextBox 3">
            <a:extLst xmlns:a="http://schemas.openxmlformats.org/drawingml/2006/main">
              <a:ext uri="{FF2B5EF4-FFF2-40B4-BE49-F238E27FC236}">
                <a16:creationId xmlns:a16="http://schemas.microsoft.com/office/drawing/2014/main" id="{2434AD48-59E5-4904-A4D6-C21D5B9BD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Aggregation tasks referencing Delta &amp; Iceberg time travel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269605588080244†L366-L377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907632378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5" name="TextBox 1">
            <a:extLst xmlns:a="http://schemas.openxmlformats.org/drawingml/2006/main">
              <a:ext uri="{FF2B5EF4-FFF2-40B4-BE49-F238E27FC236}">
                <a16:creationId xmlns:a16="http://schemas.microsoft.com/office/drawing/2014/main" id="{E6A439E5-8E17-4C1F-8085-013FFB9E4E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7720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1: Pick a Table Format</a:t>
            </a:r>
          </a:p>
        </p:txBody>
      </p:sp>
      <p:sp>
        <p:nvSpPr>
          <p:cNvPr id="216" name="TextBox 2">
            <a:extLst xmlns:a="http://schemas.openxmlformats.org/drawingml/2006/main">
              <a:ext uri="{FF2B5EF4-FFF2-40B4-BE49-F238E27FC236}">
                <a16:creationId xmlns:a16="http://schemas.microsoft.com/office/drawing/2014/main" id="{94DCC227-9EA1-4D82-B783-AE9B720E9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Given a use case (high volume streaming updates, frequent schema changes, cross-engine reads), choose between Iceberg, Delta or Hudi.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Discuss trade-offs: hidden partitioning, ACID semantics, concurrency, community support.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What would you use for a data lake that needs high concurrency and time travel?</a:t>
            </a:r>
          </a:p>
        </p:txBody>
      </p:sp>
      <p:sp>
        <p:nvSpPr>
          <p:cNvPr id="217" name="TextBox 3">
            <a:extLst xmlns:a="http://schemas.openxmlformats.org/drawingml/2006/main">
              <a:ext uri="{FF2B5EF4-FFF2-40B4-BE49-F238E27FC236}">
                <a16:creationId xmlns:a16="http://schemas.microsoft.com/office/drawing/2014/main" id="{E94F403E-48B4-4017-9B39-EE4F3CA7F2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Comparison slide &amp; sources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203164830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8" name="TextBox 1">
            <a:extLst xmlns:a="http://schemas.openxmlformats.org/drawingml/2006/main">
              <a:ext uri="{FF2B5EF4-FFF2-40B4-BE49-F238E27FC236}">
                <a16:creationId xmlns:a16="http://schemas.microsoft.com/office/drawing/2014/main" id="{0243747C-C808-40A0-9511-7145F9324A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7720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2: Partition &amp; Compaction</a:t>
            </a:r>
          </a:p>
        </p:txBody>
      </p:sp>
      <p:sp>
        <p:nvSpPr>
          <p:cNvPr id="219" name="TextBox 2">
            <a:extLst xmlns:a="http://schemas.openxmlformats.org/drawingml/2006/main">
              <a:ext uri="{FF2B5EF4-FFF2-40B4-BE49-F238E27FC236}">
                <a16:creationId xmlns:a16="http://schemas.microsoft.com/office/drawing/2014/main" id="{24647C33-14B1-41D7-96B1-1B1EEF3013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Design a partition strategy for an orders table with millions of daily transactions.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How would you evolve the partitioning over time as volume grows?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When and how would you run compaction jobs to merge small files?</a:t>
            </a:r>
          </a:p>
        </p:txBody>
      </p:sp>
      <p:sp>
        <p:nvSpPr>
          <p:cNvPr id="220" name="TextBox 3">
            <a:extLst xmlns:a="http://schemas.openxmlformats.org/drawingml/2006/main">
              <a:ext uri="{FF2B5EF4-FFF2-40B4-BE49-F238E27FC236}">
                <a16:creationId xmlns:a16="http://schemas.microsoft.com/office/drawing/2014/main" id="{205F5CC7-614C-41B7-A5E0-A4948F403B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Iceberg article: partition evolution &amp; compaction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269605588080244†L342-L363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269605588080244†L381-L389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1957041526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1" name="TextBox 1">
            <a:extLst xmlns:a="http://schemas.openxmlformats.org/drawingml/2006/main">
              <a:ext uri="{FF2B5EF4-FFF2-40B4-BE49-F238E27FC236}">
                <a16:creationId xmlns:a16="http://schemas.microsoft.com/office/drawing/2014/main" id="{5E41AA5A-989D-4FB9-A3F5-16346B2999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8576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3: Build the Pipeline</a:t>
            </a:r>
          </a:p>
        </p:txBody>
      </p:sp>
      <p:sp>
        <p:nvSpPr>
          <p:cNvPr id="222" name="TextBox 2">
            <a:extLst xmlns:a="http://schemas.openxmlformats.org/drawingml/2006/main">
              <a:ext uri="{FF2B5EF4-FFF2-40B4-BE49-F238E27FC236}">
                <a16:creationId xmlns:a16="http://schemas.microsoft.com/office/drawing/2014/main" id="{236A8F38-2DC6-4FFE-8938-704AD5FB0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29148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Sketch a pipeline from CDC ingestion to Bronze to Silver to Gold for a retail dataset.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Identify the transforms, joins and aggregations used at each stage.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Discuss how you would handle late arriving data and reprocessing.</a:t>
            </a:r>
          </a:p>
        </p:txBody>
      </p:sp>
      <p:sp>
        <p:nvSpPr>
          <p:cNvPr id="223" name="TextBox 3">
            <a:extLst xmlns:a="http://schemas.openxmlformats.org/drawingml/2006/main">
              <a:ext uri="{FF2B5EF4-FFF2-40B4-BE49-F238E27FC236}">
                <a16:creationId xmlns:a16="http://schemas.microsoft.com/office/drawing/2014/main" id="{23301194-4052-4A81-9A33-D6992450A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Medallion architecture best practices</a:t>
            </a:r>
          </a:p>
        </p:txBody>
      </p:sp>
    </p:spTree>
    <p:extLst>
      <p:ext uri="{BB962C8B-B14F-4D97-AF65-F5344CB8AC3E}">
        <p14:creationId xmlns:p14="http://schemas.microsoft.com/office/powerpoint/2010/main" val="1762634696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4" name="TextBox 1">
            <a:extLst xmlns:a="http://schemas.openxmlformats.org/drawingml/2006/main">
              <a:ext uri="{FF2B5EF4-FFF2-40B4-BE49-F238E27FC236}">
                <a16:creationId xmlns:a16="http://schemas.microsoft.com/office/drawing/2014/main" id="{016CE5AC-9992-4ECB-A07E-2A1A72868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77720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Mini Exercise 4: Troubleshooting</a:t>
            </a:r>
          </a:p>
        </p:txBody>
      </p:sp>
      <p:sp>
        <p:nvSpPr>
          <p:cNvPr id="225" name="TextBox 2">
            <a:extLst xmlns:a="http://schemas.openxmlformats.org/drawingml/2006/main">
              <a:ext uri="{FF2B5EF4-FFF2-40B4-BE49-F238E27FC236}">
                <a16:creationId xmlns:a16="http://schemas.microsoft.com/office/drawing/2014/main" id="{DE5FDB1B-BA4C-4181-9143-65A1C8F04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3829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Iceberg table shows missing data: verify commits and manifest files in catalog.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Delta table vacuum removed required history: check retention settings and time travel limits.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Write fails due to concurrent commits: examine optimistic concurrency and commit conflicts.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Slow queries: consider partition pruning, file sizes, compaction and Z-ordering.</a:t>
            </a:r>
          </a:p>
        </p:txBody>
      </p:sp>
      <p:sp>
        <p:nvSpPr>
          <p:cNvPr id="226" name="TextBox 3">
            <a:extLst xmlns:a="http://schemas.openxmlformats.org/drawingml/2006/main">
              <a:ext uri="{FF2B5EF4-FFF2-40B4-BE49-F238E27FC236}">
                <a16:creationId xmlns:a16="http://schemas.microsoft.com/office/drawing/2014/main" id="{9F684C47-EF03-4052-B1C9-B962033DA3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Troubleshooting: Iceberg/Delta docs and user guides</a:t>
            </a:r>
          </a:p>
        </p:txBody>
      </p:sp>
    </p:spTree>
    <p:extLst>
      <p:ext uri="{BB962C8B-B14F-4D97-AF65-F5344CB8AC3E}">
        <p14:creationId xmlns:p14="http://schemas.microsoft.com/office/powerpoint/2010/main" val="939863370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7" name="TextBox 1">
            <a:extLst xmlns:a="http://schemas.openxmlformats.org/drawingml/2006/main">
              <a:ext uri="{FF2B5EF4-FFF2-40B4-BE49-F238E27FC236}">
                <a16:creationId xmlns:a16="http://schemas.microsoft.com/office/drawing/2014/main" id="{EF63CE85-0E95-48C2-848B-B1128F9727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82292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Multiple Choice Questions</a:t>
            </a:r>
          </a:p>
        </p:txBody>
      </p:sp>
      <p:sp>
        <p:nvSpPr>
          <p:cNvPr id="228" name="TextBox 2">
            <a:extLst xmlns:a="http://schemas.openxmlformats.org/drawingml/2006/main">
              <a:ext uri="{FF2B5EF4-FFF2-40B4-BE49-F238E27FC236}">
                <a16:creationId xmlns:a16="http://schemas.microsoft.com/office/drawing/2014/main" id="{C15E1F9B-4C51-41F2-8950-4E6793EED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41144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1. Which table format supports hidden partitioning? A) Iceberg B) Delta C) Hudi D) All of the above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2. The Bronze layer stores: A) Cleaned and aggregated data B) Raw CDC events C) BI dashboards D) None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3. Partition evolution allows: A) Changing partition spec over time B) Changing schema C) Time travel D) All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4. Time travel lets you: A) Query previous snapshots B) Change partition names C) Improve compaction D) None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5. Which component tracks schema, partition spec, and manifests in Iceberg? A) Catalog B) Metadata File C) Manifest List D) Data File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6. Upserts and merges are natively supported in: A) Iceberg B) Delta Lake C) Both D) Neither</a:t>
            </a:r>
          </a:p>
        </p:txBody>
      </p:sp>
      <p:sp>
        <p:nvSpPr>
          <p:cNvPr id="229" name="TextBox 3">
            <a:extLst xmlns:a="http://schemas.openxmlformats.org/drawingml/2006/main">
              <a:ext uri="{FF2B5EF4-FFF2-40B4-BE49-F238E27FC236}">
                <a16:creationId xmlns:a16="http://schemas.microsoft.com/office/drawing/2014/main" id="{443F693C-6FE1-4338-9775-54CC76D5A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MCQ topics from lecture content</a:t>
            </a:r>
          </a:p>
        </p:txBody>
      </p:sp>
    </p:spTree>
    <p:extLst>
      <p:ext uri="{BB962C8B-B14F-4D97-AF65-F5344CB8AC3E}">
        <p14:creationId xmlns:p14="http://schemas.microsoft.com/office/powerpoint/2010/main" val="417075859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0" name="TextBox 1">
            <a:extLst xmlns:a="http://schemas.openxmlformats.org/drawingml/2006/main">
              <a:ext uri="{FF2B5EF4-FFF2-40B4-BE49-F238E27FC236}">
                <a16:creationId xmlns:a16="http://schemas.microsoft.com/office/drawing/2014/main" id="{23B93E0C-951E-4B22-8333-15DA59C3F1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64004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MCQ Answers</a:t>
            </a:r>
          </a:p>
        </p:txBody>
      </p:sp>
      <p:sp>
        <p:nvSpPr>
          <p:cNvPr id="231" name="TextBox 2">
            <a:extLst xmlns:a="http://schemas.openxmlformats.org/drawingml/2006/main">
              <a:ext uri="{FF2B5EF4-FFF2-40B4-BE49-F238E27FC236}">
                <a16:creationId xmlns:a16="http://schemas.microsoft.com/office/drawing/2014/main" id="{F2036534-6112-4545-9790-26D7AA243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65724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1 = A. Iceberg implements hidden partitioning; Delta &amp; Hudi require explicit partitions.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2 = B. Bronze layer stores raw events.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3 = A. Partition evolution allows changing the partition strategy without rewriting.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4 = A. Time travel allows querying previous versions.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5 = B. The metadata file stores schema, partition spec and manifest list.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6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6 = C. Both Iceberg (with SQL support) and Delta support upserts and merges.</a:t>
            </a:r>
          </a:p>
        </p:txBody>
      </p:sp>
      <p:sp>
        <p:nvSpPr>
          <p:cNvPr id="232" name="TextBox 3">
            <a:extLst xmlns:a="http://schemas.openxmlformats.org/drawingml/2006/main">
              <a:ext uri="{FF2B5EF4-FFF2-40B4-BE49-F238E27FC236}">
                <a16:creationId xmlns:a16="http://schemas.microsoft.com/office/drawing/2014/main" id="{9E65092A-E854-4529-8C9D-2F41CEF7EB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Answers explained using Iceberg and Delta sources</a:t>
            </a:r>
          </a:p>
        </p:txBody>
      </p:sp>
    </p:spTree>
    <p:extLst>
      <p:ext uri="{BB962C8B-B14F-4D97-AF65-F5344CB8AC3E}">
        <p14:creationId xmlns:p14="http://schemas.microsoft.com/office/powerpoint/2010/main" val="1254949075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F7F9F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3" name="TextBox 1">
            <a:extLst xmlns:a="http://schemas.openxmlformats.org/drawingml/2006/main">
              <a:ext uri="{FF2B5EF4-FFF2-40B4-BE49-F238E27FC236}">
                <a16:creationId xmlns:a16="http://schemas.microsoft.com/office/drawing/2014/main" id="{0C83919F-49F0-4082-990D-368915C09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" y="548640"/>
            <a:ext cx="8229240" cy="63972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2800" b="1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Day 7 Recap &amp; Next Steps</a:t>
            </a:r>
          </a:p>
        </p:txBody>
      </p:sp>
      <p:sp>
        <p:nvSpPr>
          <p:cNvPr id="234" name="TextBox 2">
            <a:extLst xmlns:a="http://schemas.openxmlformats.org/drawingml/2006/main">
              <a:ext uri="{FF2B5EF4-FFF2-40B4-BE49-F238E27FC236}">
                <a16:creationId xmlns:a16="http://schemas.microsoft.com/office/drawing/2014/main" id="{7ADF8259-AA50-45DF-B2F7-207D5B131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1520" y="1463040"/>
            <a:ext cx="10515240" cy="310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Today you mapped Bronze, Silver and Gold responsibilities and examined how Iceberg or Delta add table metadata, schema evolution and historical snapshots on object storage.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Lab reality: supplied files seed MinIO/Kafka and a Bronze-to-Silver Spark starter; CDC ingestion and Gold output are learner extensions.</a:t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/>
            </a:r>
          </a:p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1800" b="0" u="none">
                <a:solidFill>
                  <a:srgbClr val="0F172A"/>
                </a:solidFill>
                <a:latin typeface="Calibri"/>
                <a:ea typeface="Calibri"/>
                <a:cs typeface="Calibri"/>
              </a:rPr>
              <a:t>Next: Day 8 orchestrates bounded pipeline tasks with Airflow.</a:t>
            </a:r>
          </a:p>
        </p:txBody>
      </p:sp>
      <p:sp>
        <p:nvSpPr>
          <p:cNvPr id="235" name="TextBox 3">
            <a:extLst xmlns:a="http://schemas.openxmlformats.org/drawingml/2006/main">
              <a:ext uri="{FF2B5EF4-FFF2-40B4-BE49-F238E27FC236}">
                <a16:creationId xmlns:a16="http://schemas.microsoft.com/office/drawing/2014/main" id="{93BE3840-2B75-464D-B7C8-3FD6247FA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" y="6446520"/>
            <a:ext cx="11063880" cy="27396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0"/>
          <a:fontRef xmlns:a="http://schemas.openxmlformats.org/drawingml/2006/main" idx="minor"/>
        </p:style>
        <p:txBody>
          <a:bodyPr xmlns:a="http://schemas.openxmlformats.org/drawingml/2006/main" lIns="90000" tIns="45000" rIns="90000" bIns="45000" anchor="t">
            <a:spAutoFit/>
          </a:bodyPr>
          <a:lstStyle xmlns:a="http://schemas.openxmlformats.org/drawingml/2006/main"/>
          <a:p xmlns:a="http://schemas.openxmlformats.org/drawingml/2006/main">
            <a:pPr>
              <a:lnSpc>
                <a:spcPct val="100000"/>
              </a:lnSpc>
              <a:buNone/>
            </a:pP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Summary derived from lecture content &amp; sources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269605588080244†L259-L334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】【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250973830134938†L21-L31</a:t>
            </a:r>
            <a:r>
              <a:rPr sz="700" b="0" u="none">
                <a:solidFill>
                  <a:srgbClr val="505050"/>
                </a:solidFill>
                <a:latin typeface="Calibri"/>
                <a:ea typeface="Calibri"/>
                <a:cs typeface="Calibri"/>
              </a:rPr>
              <a:t>】</a:t>
            </a:r>
          </a:p>
        </p:txBody>
      </p:sp>
    </p:spTree>
    <p:extLst>
      <p:ext uri="{BB962C8B-B14F-4D97-AF65-F5344CB8AC3E}">
        <p14:creationId xmlns:p14="http://schemas.microsoft.com/office/powerpoint/2010/main" val="983687120"/>
      </p:ext>
    </p:extLst>
  </p:cSld>
</p:sld>
</file>

<file path=ppt/theme/theme1.xml><?xml version="1.0" encoding="utf-8"?>
<a:theme xmlns:a="http://schemas.openxmlformats.org/drawingml/2006/main" name="Offic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solidFill>
          <a:schemeClr val="dk1"/>
        </a:solidFill>
        <a:solidFill>
          <a:schemeClr val="accent1"/>
        </a:solidFill>
      </a:fillStyleLst>
      <a:lnStyleLst>
        <a:ln w="9525">
          <a:prstDash val="solid"/>
        </a:ln>
        <a:ln w="25400">
          <a:prstDash val="solid"/>
        </a:ln>
        <a:ln w="38100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2026-05-26T10:12:12.7860000Z</dcterms:created>
  <dcterms:modified xsi:type="dcterms:W3CDTF">2026-05-26T10:12:12.7860000Z</dcterms:modified>
</coreProperties>
</file>