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0453e0373e4115" /><Relationship Type="http://schemas.openxmlformats.org/officeDocument/2006/relationships/extended-properties" Target="/docProps/app.xml" Id="R4cae51a52d534504" /><Relationship Type="http://schemas.openxmlformats.org/officeDocument/2006/relationships/officeDocument" Target="/ppt/presentation.xml" Id="R39298ddc4d6345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1937f7a3944b54"/>
  </p:sldMasterIdLst>
  <p:notesMasterIdLst>
    <p:notesMasterId xmlns:r="http://schemas.openxmlformats.org/officeDocument/2006/relationships" r:id="Rec6f27f74be7460a"/>
  </p:notesMasterIdLst>
  <p:sldIdLst>
    <p:sldId xmlns:r="http://schemas.openxmlformats.org/officeDocument/2006/relationships" id="256" r:id="Ra83d9c28ad99496a"/>
    <p:sldId xmlns:r="http://schemas.openxmlformats.org/officeDocument/2006/relationships" id="257" r:id="R16b77c92271d4d60"/>
    <p:sldId xmlns:r="http://schemas.openxmlformats.org/officeDocument/2006/relationships" id="258" r:id="R5152fcf7da9342e8"/>
    <p:sldId xmlns:r="http://schemas.openxmlformats.org/officeDocument/2006/relationships" id="259" r:id="Ra96def9666ae45db"/>
    <p:sldId xmlns:r="http://schemas.openxmlformats.org/officeDocument/2006/relationships" id="260" r:id="Rfeee58d9b909448e"/>
    <p:sldId xmlns:r="http://schemas.openxmlformats.org/officeDocument/2006/relationships" id="261" r:id="Rcd14ff76235d4512"/>
    <p:sldId xmlns:r="http://schemas.openxmlformats.org/officeDocument/2006/relationships" id="262" r:id="R834b88af348e4bb1"/>
    <p:sldId xmlns:r="http://schemas.openxmlformats.org/officeDocument/2006/relationships" id="263" r:id="R1906dfba7a6e4735"/>
    <p:sldId xmlns:r="http://schemas.openxmlformats.org/officeDocument/2006/relationships" id="264" r:id="R6081de5b628848f2"/>
    <p:sldId xmlns:r="http://schemas.openxmlformats.org/officeDocument/2006/relationships" id="265" r:id="R001c01afb9a643bf"/>
    <p:sldId xmlns:r="http://schemas.openxmlformats.org/officeDocument/2006/relationships" id="266" r:id="Rd52bddd3b87f4743"/>
    <p:sldId xmlns:r="http://schemas.openxmlformats.org/officeDocument/2006/relationships" id="267" r:id="Rd94d00af2cab4ad2"/>
    <p:sldId xmlns:r="http://schemas.openxmlformats.org/officeDocument/2006/relationships" id="268" r:id="R1dc3334850f34adb"/>
    <p:sldId xmlns:r="http://schemas.openxmlformats.org/officeDocument/2006/relationships" id="269" r:id="Rdeb60e191de54f2d"/>
    <p:sldId xmlns:r="http://schemas.openxmlformats.org/officeDocument/2006/relationships" id="270" r:id="R4e559f51842142bb"/>
    <p:sldId xmlns:r="http://schemas.openxmlformats.org/officeDocument/2006/relationships" id="271" r:id="Rbe11e1abecf24cce"/>
    <p:sldId xmlns:r="http://schemas.openxmlformats.org/officeDocument/2006/relationships" id="272" r:id="Ra3260dc44cf947c8"/>
    <p:sldId xmlns:r="http://schemas.openxmlformats.org/officeDocument/2006/relationships" id="273" r:id="Re94c203818274b69"/>
    <p:sldId xmlns:r="http://schemas.openxmlformats.org/officeDocument/2006/relationships" id="274" r:id="Rf896d81a558c43f9"/>
    <p:sldId xmlns:r="http://schemas.openxmlformats.org/officeDocument/2006/relationships" id="275" r:id="Rec3ac59763ec4d69"/>
    <p:sldId xmlns:r="http://schemas.openxmlformats.org/officeDocument/2006/relationships" id="276" r:id="Ra8054ba1bedd469e"/>
    <p:sldId xmlns:r="http://schemas.openxmlformats.org/officeDocument/2006/relationships" id="277" r:id="R0752ae71e18445ff"/>
    <p:sldId xmlns:r="http://schemas.openxmlformats.org/officeDocument/2006/relationships" id="278" r:id="Radcef38e5c24436b"/>
    <p:sldId xmlns:r="http://schemas.openxmlformats.org/officeDocument/2006/relationships" id="279" r:id="Re470ea1fb4824c88"/>
    <p:sldId xmlns:r="http://schemas.openxmlformats.org/officeDocument/2006/relationships" id="280" r:id="Rfaf7ee7ecdae46f4"/>
    <p:sldId xmlns:r="http://schemas.openxmlformats.org/officeDocument/2006/relationships" id="281" r:id="Rc2934593638648aa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1937f7a3944b54" /><Relationship Type="http://schemas.openxmlformats.org/officeDocument/2006/relationships/theme" Target="/ppt/theme/theme1.xml" Id="R17e61fb9bd984ed5" /><Relationship Type="http://schemas.openxmlformats.org/officeDocument/2006/relationships/notesMaster" Target="/ppt/notesMasters/notesMaster1.xml" Id="Rec6f27f74be7460a" /><Relationship Type="http://schemas.openxmlformats.org/officeDocument/2006/relationships/presProps" Target="/ppt/presProps.xml" Id="R4d0cad1ea4384719" /><Relationship Type="http://schemas.openxmlformats.org/officeDocument/2006/relationships/viewProps" Target="/ppt/viewProps.xml" Id="Re200c76b14ae4559" /><Relationship Type="http://schemas.openxmlformats.org/officeDocument/2006/relationships/tableStyles" Target="/ppt/tableStyles.xml" Id="R7f4caf2b43b94081" /><Relationship Type="http://schemas.openxmlformats.org/officeDocument/2006/relationships/slide" Target="/ppt/slides/slide1.xml" Id="Ra83d9c28ad99496a" /><Relationship Type="http://schemas.openxmlformats.org/officeDocument/2006/relationships/slide" Target="/ppt/slides/slide2.xml" Id="R16b77c92271d4d60" /><Relationship Type="http://schemas.openxmlformats.org/officeDocument/2006/relationships/slide" Target="/ppt/slides/slide3.xml" Id="R5152fcf7da9342e8" /><Relationship Type="http://schemas.openxmlformats.org/officeDocument/2006/relationships/slide" Target="/ppt/slides/slide4.xml" Id="Ra96def9666ae45db" /><Relationship Type="http://schemas.openxmlformats.org/officeDocument/2006/relationships/slide" Target="/ppt/slides/slide5.xml" Id="Rfeee58d9b909448e" /><Relationship Type="http://schemas.openxmlformats.org/officeDocument/2006/relationships/slide" Target="/ppt/slides/slide6.xml" Id="Rcd14ff76235d4512" /><Relationship Type="http://schemas.openxmlformats.org/officeDocument/2006/relationships/slide" Target="/ppt/slides/slide7.xml" Id="R834b88af348e4bb1" /><Relationship Type="http://schemas.openxmlformats.org/officeDocument/2006/relationships/slide" Target="/ppt/slides/slide8.xml" Id="R1906dfba7a6e4735" /><Relationship Type="http://schemas.openxmlformats.org/officeDocument/2006/relationships/slide" Target="/ppt/slides/slide9.xml" Id="R6081de5b628848f2" /><Relationship Type="http://schemas.openxmlformats.org/officeDocument/2006/relationships/slide" Target="/ppt/slides/slide10.xml" Id="R001c01afb9a643bf" /><Relationship Type="http://schemas.openxmlformats.org/officeDocument/2006/relationships/slide" Target="/ppt/slides/slide11.xml" Id="Rd52bddd3b87f4743" /><Relationship Type="http://schemas.openxmlformats.org/officeDocument/2006/relationships/slide" Target="/ppt/slides/slide12.xml" Id="Rd94d00af2cab4ad2" /><Relationship Type="http://schemas.openxmlformats.org/officeDocument/2006/relationships/slide" Target="/ppt/slides/slide13.xml" Id="R1dc3334850f34adb" /><Relationship Type="http://schemas.openxmlformats.org/officeDocument/2006/relationships/slide" Target="/ppt/slides/slide14.xml" Id="Rdeb60e191de54f2d" /><Relationship Type="http://schemas.openxmlformats.org/officeDocument/2006/relationships/slide" Target="/ppt/slides/slide15.xml" Id="R4e559f51842142bb" /><Relationship Type="http://schemas.openxmlformats.org/officeDocument/2006/relationships/slide" Target="/ppt/slides/slide16.xml" Id="Rbe11e1abecf24cce" /><Relationship Type="http://schemas.openxmlformats.org/officeDocument/2006/relationships/slide" Target="/ppt/slides/slide17.xml" Id="Ra3260dc44cf947c8" /><Relationship Type="http://schemas.openxmlformats.org/officeDocument/2006/relationships/slide" Target="/ppt/slides/slide18.xml" Id="Re94c203818274b69" /><Relationship Type="http://schemas.openxmlformats.org/officeDocument/2006/relationships/slide" Target="/ppt/slides/slide19.xml" Id="Rf896d81a558c43f9" /><Relationship Type="http://schemas.openxmlformats.org/officeDocument/2006/relationships/slide" Target="/ppt/slides/slide20.xml" Id="Rec3ac59763ec4d69" /><Relationship Type="http://schemas.openxmlformats.org/officeDocument/2006/relationships/slide" Target="/ppt/slides/slide21.xml" Id="Ra8054ba1bedd469e" /><Relationship Type="http://schemas.openxmlformats.org/officeDocument/2006/relationships/slide" Target="/ppt/slides/slide22.xml" Id="R0752ae71e18445ff" /><Relationship Type="http://schemas.openxmlformats.org/officeDocument/2006/relationships/slide" Target="/ppt/slides/slide23.xml" Id="Radcef38e5c24436b" /><Relationship Type="http://schemas.openxmlformats.org/officeDocument/2006/relationships/slide" Target="/ppt/slides/slide24.xml" Id="Re470ea1fb4824c88" /><Relationship Type="http://schemas.openxmlformats.org/officeDocument/2006/relationships/slide" Target="/ppt/slides/slide25.xml" Id="Rfaf7ee7ecdae46f4" /><Relationship Type="http://schemas.openxmlformats.org/officeDocument/2006/relationships/slide" Target="/ppt/slides/slide26.xml" Id="Rc2934593638648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74158bea1094d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be004d983b4f96" /><Relationship Type="http://schemas.openxmlformats.org/officeDocument/2006/relationships/notesMaster" Target="/ppt/notesMasters/notesMaster1.xml" Id="R660c26473e4240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596521296a4c76" /><Relationship Type="http://schemas.openxmlformats.org/officeDocument/2006/relationships/notesMaster" Target="/ppt/notesMasters/notesMaster1.xml" Id="R7b2ca4ed8e0841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ed96afa2f446b9" /><Relationship Type="http://schemas.openxmlformats.org/officeDocument/2006/relationships/notesMaster" Target="/ppt/notesMasters/notesMaster1.xml" Id="Rfdb2247f5d874c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3ace9b495f40b3" /><Relationship Type="http://schemas.openxmlformats.org/officeDocument/2006/relationships/notesMaster" Target="/ppt/notesMasters/notesMaster1.xml" Id="R223ed51fcbc24b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1b51a69b9e4470" /><Relationship Type="http://schemas.openxmlformats.org/officeDocument/2006/relationships/notesMaster" Target="/ppt/notesMasters/notesMaster1.xml" Id="Rafc15defdd4848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ea56163f3047fc" /><Relationship Type="http://schemas.openxmlformats.org/officeDocument/2006/relationships/notesMaster" Target="/ppt/notesMasters/notesMaster1.xml" Id="R1d5553cb914647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3d9070291d4bfc" /><Relationship Type="http://schemas.openxmlformats.org/officeDocument/2006/relationships/notesMaster" Target="/ppt/notesMasters/notesMaster1.xml" Id="Rd265ca0e48ee4f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710e3074da4b90" /><Relationship Type="http://schemas.openxmlformats.org/officeDocument/2006/relationships/notesMaster" Target="/ppt/notesMasters/notesMaster1.xml" Id="R63757d7233dd46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64c7c808ff457c" /><Relationship Type="http://schemas.openxmlformats.org/officeDocument/2006/relationships/notesMaster" Target="/ppt/notesMasters/notesMaster1.xml" Id="R59d18918c25e4f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9e666d36794dd9" /><Relationship Type="http://schemas.openxmlformats.org/officeDocument/2006/relationships/notesMaster" Target="/ppt/notesMasters/notesMaster1.xml" Id="R9405adf6345c44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69caa106764426c" /><Relationship Type="http://schemas.openxmlformats.org/officeDocument/2006/relationships/notesMaster" Target="/ppt/notesMasters/notesMaster1.xml" Id="R88d91fbcd62d4a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e0a5c348c04744" /><Relationship Type="http://schemas.openxmlformats.org/officeDocument/2006/relationships/notesMaster" Target="/ppt/notesMasters/notesMaster1.xml" Id="R018543339e104c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b9e965eca643ec" /><Relationship Type="http://schemas.openxmlformats.org/officeDocument/2006/relationships/notesMaster" Target="/ppt/notesMasters/notesMaster1.xml" Id="Raa7e5b228ca54b6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37921ba9d74678" /><Relationship Type="http://schemas.openxmlformats.org/officeDocument/2006/relationships/notesMaster" Target="/ppt/notesMasters/notesMaster1.xml" Id="R146c59091c3842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cdf910aed574a17" /><Relationship Type="http://schemas.openxmlformats.org/officeDocument/2006/relationships/notesMaster" Target="/ppt/notesMasters/notesMaster1.xml" Id="Rf16b2f3ccb90455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4342c0c0c0f45b2" /><Relationship Type="http://schemas.openxmlformats.org/officeDocument/2006/relationships/notesMaster" Target="/ppt/notesMasters/notesMaster1.xml" Id="R88e20fa7da6c4a3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7232fcaf004c5f" /><Relationship Type="http://schemas.openxmlformats.org/officeDocument/2006/relationships/notesMaster" Target="/ppt/notesMasters/notesMaster1.xml" Id="Rcd04013ab8b841c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c096ad91254530" /><Relationship Type="http://schemas.openxmlformats.org/officeDocument/2006/relationships/notesMaster" Target="/ppt/notesMasters/notesMaster1.xml" Id="Rb0fb481cabcb4d4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dffad1abd0d4019" /><Relationship Type="http://schemas.openxmlformats.org/officeDocument/2006/relationships/notesMaster" Target="/ppt/notesMasters/notesMaster1.xml" Id="Rb65907aaa55d4ba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cfbfd14033c4ecb" /><Relationship Type="http://schemas.openxmlformats.org/officeDocument/2006/relationships/notesMaster" Target="/ppt/notesMasters/notesMaster1.xml" Id="R2122579688c5475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996c7a809ed482b" /><Relationship Type="http://schemas.openxmlformats.org/officeDocument/2006/relationships/notesMaster" Target="/ppt/notesMasters/notesMaster1.xml" Id="R96739e9b8a4a46f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5087cbfc63347ed" /><Relationship Type="http://schemas.openxmlformats.org/officeDocument/2006/relationships/notesMaster" Target="/ppt/notesMasters/notesMaster1.xml" Id="R0e2abe452f95429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61c5cab1efd493f" /><Relationship Type="http://schemas.openxmlformats.org/officeDocument/2006/relationships/notesMaster" Target="/ppt/notesMasters/notesMaster1.xml" Id="R2e39f647347d433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b0265d551e94f9c" /><Relationship Type="http://schemas.openxmlformats.org/officeDocument/2006/relationships/notesMaster" Target="/ppt/notesMasters/notesMaster1.xml" Id="R855d1935e68c491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d1aa1ef47d64e11" /><Relationship Type="http://schemas.openxmlformats.org/officeDocument/2006/relationships/notesMaster" Target="/ppt/notesMasters/notesMaster1.xml" Id="R69d223ee3ea24a5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13138173b0745fc" /><Relationship Type="http://schemas.openxmlformats.org/officeDocument/2006/relationships/notesMaster" Target="/ppt/notesMasters/notesMaster1.xml" Id="R806daf88dda149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db1ce4f092474b" /></Relationships>
</file>

<file path=ppt/slideLayouts/slideLayout2.xml><?xml version="1.0" encoding="utf-8"?>
<p:sldLayout xmlns:p="http://schemas.openxmlformats.org/presentationml/2006/main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396d000e49e40b6" /><Relationship Type="http://schemas.openxmlformats.org/officeDocument/2006/relationships/slideLayout" Target="/ppt/slideLayouts/slideLayout2.xml" Id="R3d2a282886424c2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2a282886424c2e"/>
  </p:sldLayoutIdLst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ad6822225b4ca0" /><Relationship Type="http://schemas.openxmlformats.org/officeDocument/2006/relationships/image" Target="/ppt/media/image.png" Id="Rc947cc3708c54cb6" /><Relationship Type="http://schemas.openxmlformats.org/officeDocument/2006/relationships/hyperlink" Target="&#12304;76655757129239&#8224;L164-L176&#12305;" TargetMode="External" Id="R31cb3955f9394a4d" /><Relationship Type="http://schemas.openxmlformats.org/officeDocument/2006/relationships/hyperlink" Target="&#12304;76655757129239&#8224;L187-L207&#12305;" TargetMode="External" Id="Ra1b74f007ca34871" /><Relationship Type="http://schemas.openxmlformats.org/officeDocument/2006/relationships/notesSlide" Target="/ppt/notesSlides/notesSlide1.xml" Id="R818bf63a9b8143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541e0c8bfa42cf" /><Relationship Type="http://schemas.openxmlformats.org/officeDocument/2006/relationships/image" Target="/ppt/media/image2.png" Id="R68ae9372a49642f4" /><Relationship Type="http://schemas.openxmlformats.org/officeDocument/2006/relationships/image" Target="/ppt/media/image3.png" Id="Rd14f47544be14b1a" /><Relationship Type="http://schemas.openxmlformats.org/officeDocument/2006/relationships/image" Target="/ppt/media/image4.png" Id="Rb4fa549f49574f1d" /><Relationship Type="http://schemas.openxmlformats.org/officeDocument/2006/relationships/image" Target="/ppt/media/image5.png" Id="R2c7328ebbac74dbf" /><Relationship Type="http://schemas.openxmlformats.org/officeDocument/2006/relationships/image" Target="/ppt/media/image6.png" Id="R61a5e63a19eb4982" /><Relationship Type="http://schemas.openxmlformats.org/officeDocument/2006/relationships/image" Target="/ppt/media/image7.png" Id="R2d85c8592eb648d6" /><Relationship Type="http://schemas.openxmlformats.org/officeDocument/2006/relationships/hyperlink" Target="&#12304;76655757129239&#8224;L164-L176&#12305;" TargetMode="External" Id="Re8257afa11394d26" /><Relationship Type="http://schemas.openxmlformats.org/officeDocument/2006/relationships/hyperlink" Target="&#12304;702206152357481&#8224;L131-L153&#12305;" TargetMode="External" Id="R8fd878866c6940a2" /><Relationship Type="http://schemas.openxmlformats.org/officeDocument/2006/relationships/notesSlide" Target="/ppt/notesSlides/notesSlide2.xml" Id="Re4c162af6a7c40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8a12df68514304" /><Relationship Type="http://schemas.openxmlformats.org/officeDocument/2006/relationships/hyperlink" Target="&#12304;76655757129239&#8224;L164-L176&#12305;" TargetMode="External" Id="Re3827529c72f42bd" /><Relationship Type="http://schemas.openxmlformats.org/officeDocument/2006/relationships/notesSlide" Target="/ppt/notesSlides/notesSlide3.xml" Id="R91a254ff26154d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faffc9f7c54760" /><Relationship Type="http://schemas.openxmlformats.org/officeDocument/2006/relationships/hyperlink" Target="&#12304;76655757129239&#8224;L164-L176&#12305;" TargetMode="External" Id="R3a4f9dd19b88439e" /><Relationship Type="http://schemas.openxmlformats.org/officeDocument/2006/relationships/hyperlink" Target="&#12304;76655757129239&#8224;L292-L297&#12305;" TargetMode="External" Id="Ra8b9bc6f0e72410e" /><Relationship Type="http://schemas.openxmlformats.org/officeDocument/2006/relationships/notesSlide" Target="/ppt/notesSlides/notesSlide4.xml" Id="Ra2e9c344610e4c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e7581bdcbd490f" /><Relationship Type="http://schemas.openxmlformats.org/officeDocument/2006/relationships/image" Target="/ppt/media/image5.png" Id="R7c032e9fda15456e" /><Relationship Type="http://schemas.openxmlformats.org/officeDocument/2006/relationships/image" Target="/ppt/media/image8.png" Id="Rc4596c05eefb4044" /><Relationship Type="http://schemas.openxmlformats.org/officeDocument/2006/relationships/image" Target="/ppt/media/image7.png" Id="R6c511d81efde4e23" /><Relationship Type="http://schemas.openxmlformats.org/officeDocument/2006/relationships/image" Target="/ppt/media/image9.png" Id="Rce3befe8e4024a89" /><Relationship Type="http://schemas.openxmlformats.org/officeDocument/2006/relationships/image" Target="/ppt/media/image4.png" Id="R2421a8a820e54469" /><Relationship Type="http://schemas.openxmlformats.org/officeDocument/2006/relationships/hyperlink" Target="&#12304;76655757129239&#8224;L187-L207&#12305;" TargetMode="External" Id="Rd087398752154bec" /><Relationship Type="http://schemas.openxmlformats.org/officeDocument/2006/relationships/hyperlink" Target="&#12304;702206152357481&#8224;L131-L153&#12305;" TargetMode="External" Id="Raf5e44a680f44cd4" /><Relationship Type="http://schemas.openxmlformats.org/officeDocument/2006/relationships/notesSlide" Target="/ppt/notesSlides/notesSlide5.xml" Id="R218aac9993a445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cbdf57697b437e" /><Relationship Type="http://schemas.openxmlformats.org/officeDocument/2006/relationships/image" Target="/ppt/media/image10.png" Id="R21f13388a5464937" /><Relationship Type="http://schemas.openxmlformats.org/officeDocument/2006/relationships/hyperlink" Target="&#12304;76655757129239&#8224;L217-L224&#12305;" TargetMode="External" Id="Re31ba5aeef7a4cad" /><Relationship Type="http://schemas.openxmlformats.org/officeDocument/2006/relationships/hyperlink" Target="&#12304;702206152357481&#8224;L151-L153&#12305;" TargetMode="External" Id="R8ef5bdb7073a4d6e" /><Relationship Type="http://schemas.openxmlformats.org/officeDocument/2006/relationships/hyperlink" Target="&#12304;76655757129239&#8224;L240-L249&#12305;" TargetMode="External" Id="Rc2cdb1a639644d36" /><Relationship Type="http://schemas.openxmlformats.org/officeDocument/2006/relationships/notesSlide" Target="/ppt/notesSlides/notesSlide6.xml" Id="Rdc591ed3fdd94e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a41ca8ef1f425c" /><Relationship Type="http://schemas.openxmlformats.org/officeDocument/2006/relationships/hyperlink" Target="&#12304;702206152357481&#8224;L180-L209&#12305;" TargetMode="External" Id="Reb3d5ba936ec49c2" /><Relationship Type="http://schemas.openxmlformats.org/officeDocument/2006/relationships/notesSlide" Target="/ppt/notesSlides/notesSlide7.xml" Id="R821589e3976d47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d0d0e970f643b5" /><Relationship Type="http://schemas.openxmlformats.org/officeDocument/2006/relationships/hyperlink" Target="&#12304;458076587485110&#8224;L229-L276&#12305;" TargetMode="External" Id="R36f6ea632e1c4d4e" /><Relationship Type="http://schemas.openxmlformats.org/officeDocument/2006/relationships/hyperlink" Target="&#12304;458076587485110&#8224;L395-L405&#12305;" TargetMode="External" Id="Re2bdfb04d8ac478a" /><Relationship Type="http://schemas.openxmlformats.org/officeDocument/2006/relationships/notesSlide" Target="/ppt/notesSlides/notesSlide8.xml" Id="R921459cebc544f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06acfc6590405d" /><Relationship Type="http://schemas.openxmlformats.org/officeDocument/2006/relationships/hyperlink" Target="&#12304;458076587485110&#8224;L283-L336&#12305;" TargetMode="External" Id="Ra7233fba984542fd" /><Relationship Type="http://schemas.openxmlformats.org/officeDocument/2006/relationships/notesSlide" Target="/ppt/notesSlides/notesSlide9.xml" Id="Rf71a52817e724f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8a56cf51a74a01" /><Relationship Type="http://schemas.openxmlformats.org/officeDocument/2006/relationships/image" Target="/ppt/media/image11.png" Id="R88b8f85ed1ae4e97" /><Relationship Type="http://schemas.openxmlformats.org/officeDocument/2006/relationships/image" Target="/ppt/media/image6.png" Id="Rb11ebca61429417a" /><Relationship Type="http://schemas.openxmlformats.org/officeDocument/2006/relationships/image" Target="/ppt/media/image4.png" Id="R06af20569436479d" /><Relationship Type="http://schemas.openxmlformats.org/officeDocument/2006/relationships/hyperlink" Target="&#12304;755441039674975&#8224;L164-L183&#12305;" TargetMode="External" Id="R2ee8344e673f42f0" /><Relationship Type="http://schemas.openxmlformats.org/officeDocument/2006/relationships/hyperlink" Target="&#12304;504349275456659&#8224;L148-L170&#12305;" TargetMode="External" Id="R4d1451ec898744da" /><Relationship Type="http://schemas.openxmlformats.org/officeDocument/2006/relationships/hyperlink" Target="&#12304;298368715109598&#8224;L154-L180&#12305;" TargetMode="External" Id="R93f419584baa4fcf" /><Relationship Type="http://schemas.openxmlformats.org/officeDocument/2006/relationships/notesSlide" Target="/ppt/notesSlides/notesSlide10.xml" Id="R44aaa8d9417c45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b1805af7ec44e4" /><Relationship Type="http://schemas.openxmlformats.org/officeDocument/2006/relationships/image" Target="/ppt/media/image6.png" Id="Ree11f0c6c0f7475a" /><Relationship Type="http://schemas.openxmlformats.org/officeDocument/2006/relationships/image" Target="/ppt/media/image12.png" Id="R1722b346d13e4c20" /><Relationship Type="http://schemas.openxmlformats.org/officeDocument/2006/relationships/image" Target="/ppt/media/image5.png" Id="R3591077904434275" /><Relationship Type="http://schemas.openxmlformats.org/officeDocument/2006/relationships/hyperlink" Target="&#12304;504349275456659&#8224;L148-L170&#12305;" TargetMode="External" Id="Rcee42b78e3f74ae5" /><Relationship Type="http://schemas.openxmlformats.org/officeDocument/2006/relationships/notesSlide" Target="/ppt/notesSlides/notesSlide11.xml" Id="Rbb47f288d7354df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21a05cccd04d62" /><Relationship Type="http://schemas.openxmlformats.org/officeDocument/2006/relationships/hyperlink" Target="&#12304;298368715109598&#8224;L154-L180&#12305;" TargetMode="External" Id="Rf07d5133449d43ae" /><Relationship Type="http://schemas.openxmlformats.org/officeDocument/2006/relationships/hyperlink" Target="&#12304;597154716266446&#8224;L146-L169&#12305;" TargetMode="External" Id="R42e2079a33ec4c10" /><Relationship Type="http://schemas.openxmlformats.org/officeDocument/2006/relationships/notesSlide" Target="/ppt/notesSlides/notesSlide12.xml" Id="Ra915989d3aea41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378396521b443c" /><Relationship Type="http://schemas.openxmlformats.org/officeDocument/2006/relationships/image" Target="/ppt/media/image5.png" Id="R03dd185999b24538" /><Relationship Type="http://schemas.openxmlformats.org/officeDocument/2006/relationships/image" Target="/ppt/media/image12.png" Id="Rf90608f32ac74084" /><Relationship Type="http://schemas.openxmlformats.org/officeDocument/2006/relationships/hyperlink" Target="&#12304;458076587485110&#8224;L395-L405&#12305;" TargetMode="External" Id="R4c66611bd3d545f3" /><Relationship Type="http://schemas.openxmlformats.org/officeDocument/2006/relationships/hyperlink" Target="&#12304;702206152357481&#8224;L131-L153&#12305;" TargetMode="External" Id="R25c52ad0be204739" /><Relationship Type="http://schemas.openxmlformats.org/officeDocument/2006/relationships/notesSlide" Target="/ppt/notesSlides/notesSlide13.xml" Id="R3550a0189af442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1059aacba64a46" /><Relationship Type="http://schemas.openxmlformats.org/officeDocument/2006/relationships/hyperlink" Target="&#12304;597154716266446&#8224;L146-L169&#12305;" TargetMode="External" Id="Rfdc90650eb664e73" /><Relationship Type="http://schemas.openxmlformats.org/officeDocument/2006/relationships/hyperlink" Target="&#12304;597154716266446&#8224;L165-L178&#12305;" TargetMode="External" Id="R2032cbde1e254a33" /><Relationship Type="http://schemas.openxmlformats.org/officeDocument/2006/relationships/notesSlide" Target="/ppt/notesSlides/notesSlide14.xml" Id="R57b10eb23d5449f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34a266e6c746b5" /><Relationship Type="http://schemas.openxmlformats.org/officeDocument/2006/relationships/hyperlink" Target="&#12304;702206152357481&#8224;L180-L209&#12305;" TargetMode="External" Id="R7efb097258ff4db3" /><Relationship Type="http://schemas.openxmlformats.org/officeDocument/2006/relationships/notesSlide" Target="/ppt/notesSlides/notesSlide15.xml" Id="Rb2c6821452ac47c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fbe7b777e54f8b" /><Relationship Type="http://schemas.openxmlformats.org/officeDocument/2006/relationships/hyperlink" Target="&#12304;76655757129239&#8224;L240-L249&#12305;" TargetMode="External" Id="Re5621d1d28484f69" /><Relationship Type="http://schemas.openxmlformats.org/officeDocument/2006/relationships/hyperlink" Target="&#12304;702206152357481&#8224;L231-L236&#12305;" TargetMode="External" Id="R22fad839d98048be" /><Relationship Type="http://schemas.openxmlformats.org/officeDocument/2006/relationships/notesSlide" Target="/ppt/notesSlides/notesSlide16.xml" Id="Rbac23719497845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a7d31c3b6e4003" /><Relationship Type="http://schemas.openxmlformats.org/officeDocument/2006/relationships/hyperlink" Target="&#12304;483910231113331&#8224;L580-L603&#12305;" TargetMode="External" Id="Rddefc847485d435e" /><Relationship Type="http://schemas.openxmlformats.org/officeDocument/2006/relationships/hyperlink" Target="&#12304;483910231113331&#8224;L704-L719&#12305;" TargetMode="External" Id="R0c191cfc049f471d" /><Relationship Type="http://schemas.openxmlformats.org/officeDocument/2006/relationships/hyperlink" Target="&#12304;271472564699728&#8224;L567-L617&#12305;" TargetMode="External" Id="Rc206a28bee134eee" /><Relationship Type="http://schemas.openxmlformats.org/officeDocument/2006/relationships/notesSlide" Target="/ppt/notesSlides/notesSlide17.xml" Id="R8e1b33b76c8e44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202dfeaa714eeb" /><Relationship Type="http://schemas.openxmlformats.org/officeDocument/2006/relationships/hyperlink" Target="&#12304;702206152357481&#8224;L131-L153&#12305;" TargetMode="External" Id="Rcfcf68594e214fc3" /><Relationship Type="http://schemas.openxmlformats.org/officeDocument/2006/relationships/hyperlink" Target="&#12304;483910231113331&#8224;L580-L603&#12305;" TargetMode="External" Id="Rb94b70cd01574204" /><Relationship Type="http://schemas.openxmlformats.org/officeDocument/2006/relationships/notesSlide" Target="/ppt/notesSlides/notesSlide18.xml" Id="R8f5d8e2dedaf4f6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c2cb4677fa4db0" /><Relationship Type="http://schemas.openxmlformats.org/officeDocument/2006/relationships/hyperlink" Target="&#12304;702206152357481&#8224;L131-L153&#12305;" TargetMode="External" Id="Rdf6abcfc27c04030" /><Relationship Type="http://schemas.openxmlformats.org/officeDocument/2006/relationships/notesSlide" Target="/ppt/notesSlides/notesSlide19.xml" Id="R57c9b74ec055417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9826f18a264d3a" /><Relationship Type="http://schemas.openxmlformats.org/officeDocument/2006/relationships/hyperlink" Target="&#12304;458076587485110&#8224;L283-L336&#12305;" TargetMode="External" Id="R605dcd6a135a4dda" /><Relationship Type="http://schemas.openxmlformats.org/officeDocument/2006/relationships/notesSlide" Target="/ppt/notesSlides/notesSlide20.xml" Id="R650bb20ee672485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d22d3d056a41ed" /><Relationship Type="http://schemas.openxmlformats.org/officeDocument/2006/relationships/hyperlink" Target="&#12304;504349275456659&#8224;L148-L170&#12305;" TargetMode="External" Id="R8d1a15ce8d86413b" /><Relationship Type="http://schemas.openxmlformats.org/officeDocument/2006/relationships/hyperlink" Target="&#12304;458076587485110&#8224;L395-L405&#12305;" TargetMode="External" Id="R5b42f45600a34d8b" /><Relationship Type="http://schemas.openxmlformats.org/officeDocument/2006/relationships/notesSlide" Target="/ppt/notesSlides/notesSlide21.xml" Id="R5fd10a16a0474cc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0f466eda7d475d" /><Relationship Type="http://schemas.openxmlformats.org/officeDocument/2006/relationships/hyperlink" Target="&#12304;702206152357481&#8224;L180-L209&#12305;" TargetMode="External" Id="R065db49953be4228" /><Relationship Type="http://schemas.openxmlformats.org/officeDocument/2006/relationships/hyperlink" Target="&#12304;504349275456659&#8224;L157-L170&#12305;" TargetMode="External" Id="R224fe0812e72478b" /><Relationship Type="http://schemas.openxmlformats.org/officeDocument/2006/relationships/notesSlide" Target="/ppt/notesSlides/notesSlide22.xml" Id="Raba4712aaf0b4eb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5a7675416c448c" /><Relationship Type="http://schemas.openxmlformats.org/officeDocument/2006/relationships/hyperlink" Target="&#12304;76655757129239&#8224;L187-L207&#12305;" TargetMode="External" Id="R6536756eb2ea4267" /><Relationship Type="http://schemas.openxmlformats.org/officeDocument/2006/relationships/hyperlink" Target="&#12304;298368715109598&#8224;L154-L180&#12305;" TargetMode="External" Id="R7318001e4b334e42" /><Relationship Type="http://schemas.openxmlformats.org/officeDocument/2006/relationships/hyperlink" Target="&#12304;504349275456659&#8224;L148-L170&#12305;" TargetMode="External" Id="Rd9fa1ebae7a54148" /><Relationship Type="http://schemas.openxmlformats.org/officeDocument/2006/relationships/notesSlide" Target="/ppt/notesSlides/notesSlide23.xml" Id="R2f4790b6d47a420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2e6288508b41f6" /><Relationship Type="http://schemas.openxmlformats.org/officeDocument/2006/relationships/hyperlink" Target="&#12304;76655757129239&#8224;L187-L207&#12305;" TargetMode="External" Id="R484a0307a4154751" /><Relationship Type="http://schemas.openxmlformats.org/officeDocument/2006/relationships/hyperlink" Target="&#12304;504349275456659&#8224;L148-L170&#12305;" TargetMode="External" Id="R655b44875b0a4368" /><Relationship Type="http://schemas.openxmlformats.org/officeDocument/2006/relationships/hyperlink" Target="&#12304;702206152357481&#8224;L231-L236&#12305;" TargetMode="External" Id="R2c3cefee15214fd8" /><Relationship Type="http://schemas.openxmlformats.org/officeDocument/2006/relationships/notesSlide" Target="/ppt/notesSlides/notesSlide24.xml" Id="R360fa47bf62548c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b33e8a0c384584" /><Relationship Type="http://schemas.openxmlformats.org/officeDocument/2006/relationships/hyperlink" Target="&#12304;76655757129239&#8224;L187-L207&#12305;" TargetMode="External" Id="Rd5acd552f7174e1f" /><Relationship Type="http://schemas.openxmlformats.org/officeDocument/2006/relationships/hyperlink" Target="&#12304;298368715109598&#8224;L154-L180&#12305;" TargetMode="External" Id="Ra2a3131cf5f04790" /><Relationship Type="http://schemas.openxmlformats.org/officeDocument/2006/relationships/hyperlink" Target="&#12304;504349275456659&#8224;L148-L170&#12305;" TargetMode="External" Id="Ra21ce5940d034ae0" /><Relationship Type="http://schemas.openxmlformats.org/officeDocument/2006/relationships/hyperlink" Target="&#12304;597154716266446&#8224;L146-L169&#12305;" TargetMode="External" Id="R542cd97ba2f64f49" /><Relationship Type="http://schemas.openxmlformats.org/officeDocument/2006/relationships/hyperlink" Target="&#12304;702206152357481&#8224;L231-L236&#12305;" TargetMode="External" Id="R1f355f964fa64b81" /><Relationship Type="http://schemas.openxmlformats.org/officeDocument/2006/relationships/notesSlide" Target="/ppt/notesSlides/notesSlide25.xml" Id="R2865316d44bf452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b3a1da5fa94369" /><Relationship Type="http://schemas.openxmlformats.org/officeDocument/2006/relationships/hyperlink" Target="&#12304;76655757129239&#8224;L164-L176&#12305;" TargetMode="External" Id="Rcee3f13535d6449e" /><Relationship Type="http://schemas.openxmlformats.org/officeDocument/2006/relationships/hyperlink" Target="&#12304;702206152357481&#8224;L131-L153&#12305;" TargetMode="External" Id="R79ea7aad58a548e9" /><Relationship Type="http://schemas.openxmlformats.org/officeDocument/2006/relationships/hyperlink" Target="&#12304;458076587485110&#8224;L229-L276&#12305;" TargetMode="External" Id="R5f690612eb2e4f3e" /><Relationship Type="http://schemas.openxmlformats.org/officeDocument/2006/relationships/hyperlink" Target="&#12304;755441039674975&#8224;L164-L183&#12305;" TargetMode="External" Id="R74853c2f39554456" /><Relationship Type="http://schemas.openxmlformats.org/officeDocument/2006/relationships/hyperlink" Target="&#12304;504349275456659&#8224;L148-L170&#12305;" TargetMode="External" Id="Rd0c95d20fe304c3b" /><Relationship Type="http://schemas.openxmlformats.org/officeDocument/2006/relationships/hyperlink" Target="&#12304;298368715109598&#8224;L154-L180&#12305;" TargetMode="External" Id="R69a4b13a9e1541d2" /><Relationship Type="http://schemas.openxmlformats.org/officeDocument/2006/relationships/hyperlink" Target="&#12304;597154716266446&#8224;L146-L169&#12305;" TargetMode="External" Id="Raca6ffb31b1e468f" /><Relationship Type="http://schemas.openxmlformats.org/officeDocument/2006/relationships/notesSlide" Target="/ppt/notesSlides/notesSlide26.xml" Id="R9c519d3156544a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748EA08-0D46-4735-894A-4D957F41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EA60A4E-881D-48F3-A63A-9457948B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FFFFFF"/>
                </a:solidFill>
              </a:rPr>
              <a:t>Day 8</a:t>
            </a:r>
            <a:r>
              <a:rPr sz="1600">
                <a:solidFill>
                  <a:srgbClr val="FFFFFF"/>
                </a:solidFill>
              </a:rPr>
              <a:t>  Workflow Orchestration with Apache Airflow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1BFBD0B-53A9-4F2C-9558-24281BDC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91440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FFFFFF"/>
                </a:solidFill>
              </a:rPr>
              <a:t>2026-05-25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77B6A5F-F76F-45D1-B09A-E16C95B2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50292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B3D51"/>
                </a:solidFill>
              </a:rPr>
              <a:t>Workflow Orchestration with Apache Airflow
</a:t>
            </a:r>
            <a:r>
              <a:rPr sz="1400" i="1">
                <a:solidFill>
                  <a:srgbClr val="6A6A6A"/>
                </a:solidFill>
              </a:rPr>
              <a:t>Design, schedule &amp; monitor your data pipelines</a:t>
            </a:r>
          </a:p>
        </p:txBody>
      </p:sp>
      <p:pic>
        <p:nvPicPr>
          <p:cNvPr id="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7cc3708c54c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0" y="914400"/>
            <a:ext cx="3200400" cy="182880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C623AE0-E14A-4829-9798-1D471147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31cb3955f9394a4d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1b74f007ca34871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2799140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CE86B1B-8DD5-4C65-A11D-BA9ADD6C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B7A809-DB95-467F-9970-828C2B21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</a:rPr>
              <a:t>Learning Objectives</a:t>
            </a:r>
          </a:p>
        </p:txBody>
      </p:sp>
      <p:pic>
        <p:nvPicPr>
          <p:cNvPr id="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e9372a49642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7772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656F2F5-7B10-45F7-909A-876FAD53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7315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003C54"/>
                </a:solidFill>
              </a:rPr>
              <a:t>Understand Airflow architecture &amp; components</a:t>
            </a:r>
          </a:p>
        </p:txBody>
      </p:sp>
      <p:pic>
        <p:nvPicPr>
          <p:cNvPr id="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f47544be14b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2344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B81CD09F-26A7-43DA-8DE5-2087DC09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003C54"/>
                </a:solidFill>
              </a:rPr>
              <a:t>Author Dags with tasks, operators &amp; sensors</a:t>
            </a:r>
          </a:p>
        </p:txBody>
      </p:sp>
      <p:pic>
        <p:nvPicPr>
          <p:cNvPr id="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a549f49574f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6916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E9ADE2DC-6BDF-4786-9B11-B9FB5CC4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003C54"/>
                </a:solidFill>
              </a:rPr>
              <a:t>Use TaskFlow API and XCom for data transfer</a:t>
            </a:r>
          </a:p>
        </p:txBody>
      </p:sp>
      <p:pic>
        <p:nvPicPr>
          <p:cNvPr id="1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328ebbac74d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1488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1" name="Text 5">
            <a:extLst xmlns:a="http://schemas.openxmlformats.org/drawingml/2006/main">
              <a:ext uri="{FF2B5EF4-FFF2-40B4-BE49-F238E27FC236}">
                <a16:creationId xmlns:a16="http://schemas.microsoft.com/office/drawing/2014/main" id="{040277B8-4D45-43A5-8EFC-DAAA8679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003C54"/>
                </a:solidFill>
              </a:rPr>
              <a:t>Configure scheduling, triggers &amp; event-driven workflows</a:t>
            </a:r>
          </a:p>
        </p:txBody>
      </p:sp>
      <p:pic>
        <p:nvPicPr>
          <p:cNvPr id="1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5e63a19eb49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6060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3" name="Text 6">
            <a:extLst xmlns:a="http://schemas.openxmlformats.org/drawingml/2006/main">
              <a:ext uri="{FF2B5EF4-FFF2-40B4-BE49-F238E27FC236}">
                <a16:creationId xmlns:a16="http://schemas.microsoft.com/office/drawing/2014/main" id="{50632C34-F469-4549-9F50-DFB76DF1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603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003C54"/>
                </a:solidFill>
              </a:rPr>
              <a:t>Monitor, debug &amp; manage Airflow via the UI</a:t>
            </a:r>
          </a:p>
        </p:txBody>
      </p:sp>
      <p:pic>
        <p:nvPicPr>
          <p:cNvPr id="1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5c8592eb648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0632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5" name="Text 7">
            <a:extLst xmlns:a="http://schemas.openxmlformats.org/drawingml/2006/main">
              <a:ext uri="{FF2B5EF4-FFF2-40B4-BE49-F238E27FC236}">
                <a16:creationId xmlns:a16="http://schemas.microsoft.com/office/drawing/2014/main" id="{9750A2EA-B6DA-4F37-923E-8A24EC3A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175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003C54"/>
                </a:solidFill>
              </a:rPr>
              <a:t>Hands‑on lab building an orchestrated pipeline</a:t>
            </a:r>
          </a:p>
        </p:txBody>
      </p:sp>
      <p:sp>
        <p:nvSpPr>
          <p:cNvPr id="16" name="Text 8">
            <a:extLst xmlns:a="http://schemas.openxmlformats.org/drawingml/2006/main">
              <a:ext uri="{FF2B5EF4-FFF2-40B4-BE49-F238E27FC236}">
                <a16:creationId xmlns:a16="http://schemas.microsoft.com/office/drawing/2014/main" id="{AE1B8AEF-8D17-4587-A83C-F5170A9D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e8257afa11394d26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8fd878866c6940a2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7139962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3F2020D-8A8F-4910-9239-EA55C911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CE4F34E-DEBC-4D5D-AF2A-786BEE27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3115A6E-1CED-45DA-B814-A5F79D4A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048B86E-EEA0-48D1-8ECC-C78E162B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77724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3FC44BF-3365-412F-85B0-2658DD6E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3152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Day 7 recap &amp; motivation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0CBFB0F-4D7F-4192-A6DA-AF414768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14300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025F4CA-ACA4-404D-83CC-BD732296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14300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587858D-F971-491F-B5D3-771608C7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Airflow architecture &amp; components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4B38806-CA44-48E3-A872-99CFAB05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0876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D93C5DA-34BD-4568-A586-F78A874D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50876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A46422C-DB2E-4F09-8740-B3E33D76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DAG fundamentals &amp; authoring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DB7046D-49E2-4EB2-BC08-48AA959A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87452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48242FB-0BF5-47D3-A9D3-696EE11E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87452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23C7F40-CB56-48D0-B049-AB1BE2FC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Tasks: operators, sensors &amp; TaskFlow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7B3DBA3-A248-4562-871E-E2EFE3F5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24028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002C76F-CEBA-4E0F-8FD4-ECD7988E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24028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2C2FE3A-F253-4FA2-B93F-FDD3BCBA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Scheduling &amp; triggers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FFAFED5-5A09-4462-9F1D-8BC74F9A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0604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5112A8A-D475-482E-9A70-22A5E05F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60604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0AD7CF4-BA5C-4E14-8F00-6CB20826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6032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XComs &amp; variables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FDB58DD-F0C3-4FFD-B4F1-87DE52E3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7180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362B0A3-3B5B-44FF-A44D-6050EAD9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97180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C40E592-3865-4472-8519-4ABC10CA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Best practices &amp; observability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1685807-F03B-4E05-B265-F5B65ACA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3756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553B61-9F1B-488D-8F70-62D1BE53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33756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95E4714-248D-4978-BD1F-34F9B302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Lab &amp; mini exercises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75928E0-BE46-4794-9873-21F8D467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70332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A3A988D-AC1C-4CB5-A79B-D8FDF45F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703320"/>
            <a:ext cx="182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6A28F94-3195-4F67-BDF2-9BCE73CC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5760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03C54"/>
                </a:solidFill>
              </a:rPr>
              <a:t>Quiz &amp; recap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6B3BB2F-1E99-4406-B7BB-1EEE8585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e3827529c72f42bd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0122419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E4C1CE2-FB8E-49E6-A186-2D275C48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BE09781-14AB-43E6-A838-D7866DFF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Recap: From Table Formats to Orchestration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E850708-27C7-496B-9281-48D7E923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0080"/>
            <a:ext cx="4572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Yesterday we explored modern table formats (Iceberg, Delta, Hudi) and how to layer data into Bronze, Silver and Gold tables.
</a:t>
            </a:r>
            <a:r>
              <a:rPr sz="1200">
                <a:solidFill>
                  <a:srgbClr val="003C54"/>
                </a:solidFill>
              </a:rPr>
              <a:t>Today we focus on orchestrating these pipelines: sequencing ingestion, transformation and validation tasks with Airflow.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A78D5AF-F756-4ACA-9334-BF12E4E2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4008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A28AC02-1DFC-4163-A37B-D9C0155A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4008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Bronze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B3A1A6C-E6A6-40F1-AF81-63F941B7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731520"/>
            <a:ext cx="457200" cy="2743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C9DDB7A-102F-41C9-BB8E-C402BD78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0058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6A6A6A"/>
                </a:solidFill>
              </a:rPr>
              <a:t>transform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CE52547-F2DF-4E81-9C27-5A619E28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4008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A78D"/>
          </a:solidFill>
          <a:ln xmlns:a="http://schemas.openxmlformats.org/drawingml/2006/main" w="12700">
            <a:solidFill>
              <a:srgbClr val="00A78D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C184FA1-3CAF-4371-B1B5-7698DDA0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4008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30380DF-D503-4C2E-B1B5-1A872A46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731520"/>
            <a:ext cx="457200" cy="2743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857AF6B-CB27-436B-B4B7-2733B49C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0058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6A6A6A"/>
                </a:solidFill>
              </a:rPr>
              <a:t>load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4FA145A-A59E-4C2C-AFB1-DD280BC0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4008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473170E-5F80-4138-901E-01C61AB8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4008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876895F-B61E-4831-9C69-6FB491C3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188720"/>
            <a:ext cx="365760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6FD9197-CCE5-4D78-9B73-97EEDE02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2344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6A6A6A"/>
                </a:solidFill>
              </a:rPr>
              <a:t>Airflow orchestrates the movement from Bronze to Gold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CD0F78C-22BF-4752-AF2B-711F79EC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3a4f9dd19b88439e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8b9bc6f0e72410e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844376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5068361-330A-4A64-A25B-F99BDD32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6B199B-7A9C-4CB8-AFDD-F6FE0D72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Core Components of Airflow</a:t>
            </a:r>
          </a:p>
        </p:txBody>
      </p:sp>
      <p:pic>
        <p:nvPicPr>
          <p:cNvPr id="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32e9fda1545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5486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7CF96E6-1447-445E-8709-CCBD5ADB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2743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Scheduler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96525B8-ACAE-47D0-8BC0-9A82C166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13232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Monitors DAGs &amp; tasks, schedules execution when dependencies are met.</a:t>
            </a:r>
          </a:p>
        </p:txBody>
      </p:sp>
      <p:pic>
        <p:nvPicPr>
          <p:cNvPr id="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96c05eefb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10972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9502F99-8A44-4186-9300-5E2E54D2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097280"/>
            <a:ext cx="2743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DAG processor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B437298-EF40-4A35-9C62-CAA248FF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61872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Parses DAG files and serializes definitions to the metadata database.</a:t>
            </a:r>
          </a:p>
        </p:txBody>
      </p:sp>
      <p:pic>
        <p:nvPicPr>
          <p:cNvPr id="1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11d81efde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1645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82CF9AA5-BE8D-41DE-9D6F-D13974B2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2743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Webserver/API</a:t>
            </a:r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FDD912A6-A905-46BA-97CF-816F060F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10512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FastAPI server serving the UI and APIs for workers and users.</a:t>
            </a:r>
          </a:p>
        </p:txBody>
      </p:sp>
      <p:pic>
        <p:nvPicPr>
          <p:cNvPr id="1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befe8e4024a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21945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74419067-27BF-438B-946E-FDB5D564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2743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Metadata DB</a:t>
            </a: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854AAC6D-8A03-4F1D-9A52-7D0A80E6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59152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Stores DAGs, task states, connections and XComs.</a:t>
            </a:r>
          </a:p>
        </p:txBody>
      </p:sp>
      <p:pic>
        <p:nvPicPr>
          <p:cNvPr id="1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1a8a820e54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27432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71DEB893-A549-49B0-BCEF-F97D5792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2743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DAG files</a:t>
            </a:r>
          </a:p>
        </p:txBody>
      </p:sp>
      <p:sp>
        <p:nvSpPr>
          <p:cNvPr id="18" name="Text 11">
            <a:extLst xmlns:a="http://schemas.openxmlformats.org/drawingml/2006/main">
              <a:ext uri="{FF2B5EF4-FFF2-40B4-BE49-F238E27FC236}">
                <a16:creationId xmlns:a16="http://schemas.microsoft.com/office/drawing/2014/main" id="{F707C225-CB33-43F0-A6C5-3495D052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07792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Python files defining your DAGs; loaded and parsed by the scheduler.</a:t>
            </a:r>
          </a:p>
        </p:txBody>
      </p:sp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3DE9F606-8525-4508-8AD9-CE78AB71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d087398752154bec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f5e44a680f44cd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3930220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40C8EA3-5A8E-487E-9168-805B2683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E2A9DF-8A1F-4AEC-8C0B-ED7C6770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Optional &amp; Distributed Components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562B14-03F1-4CE0-845F-5A448AE3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3200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Workers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042C090-62CA-4E2B-A54D-C6CF8DFE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4944"/>
            <a:ext cx="3200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Execute tasks given by the scheduler; run as separate processes (Celery, Kubernetes).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69ED23A-0707-45F9-A059-7F038E63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3200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Triggerer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E57540C-B6AF-4495-BE9C-23FE9D47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52144"/>
            <a:ext cx="3200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Executes asynchronous deferrable tasks (event-driven scheduling).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FD3673-69F6-4A6D-A1B2-3E969ECC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3200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Plugins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D540B33-8B1B-4263-A045-BC2D7F17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9344"/>
            <a:ext cx="3200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Extend Airflow with custom operators, sensors &amp; hooks.</a:t>
            </a:r>
          </a:p>
        </p:txBody>
      </p:sp>
      <p:pic>
        <p:nvPicPr>
          <p:cNvPr id="1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13388a54649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31920" y="548640"/>
            <a:ext cx="4846320" cy="2468880"/>
          </a:xfrm>
          <a:prstGeom xmlns:a="http://schemas.openxmlformats.org/drawingml/2006/main" prst="rect">
            <a:avLst/>
          </a:prstGeom>
        </p:spPr>
      </p:pic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407AF4ED-2812-43D4-BB76-B1AD2151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306324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i="1">
                <a:solidFill>
                  <a:srgbClr val="6A6A6A"/>
                </a:solidFill>
              </a:rPr>
              <a:t>Distributed deployment decouples components for scalability &amp; security.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EE36C9D-5903-43C4-A09D-55B06644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e31ba5aeef7a4cad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8ef5bdb7073a4d6e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c2cdb1a639644d36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2347321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355C3DD-D342-48C4-AE03-2954E75F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  <a:ln xmlns:a="http://schemas.openxmlformats.org/drawingml/2006/main" w="12700">
            <a:solidFill>
              <a:srgbClr val="0B3D5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B4F15A-B3E1-4E25-A6EA-D3FB8EA1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Component Interaction Workflow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A720D64-607C-4D0E-95E7-E073C381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137160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1B4749F-DE3E-41E4-B2DA-405B7356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097280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DAG file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934B2AB-9E3D-427F-871F-036604C1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097280"/>
            <a:ext cx="137160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65400A6-9FCD-40CD-810E-7091B059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097280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DAG Processor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084C92C-476D-4E79-8204-EE1F2953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097280"/>
            <a:ext cx="137160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A78D"/>
          </a:solidFill>
          <a:ln xmlns:a="http://schemas.openxmlformats.org/drawingml/2006/main" w="12700">
            <a:solidFill>
              <a:srgbClr val="00A78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058F0C3-CAEC-4BC3-9EC5-AB042DE3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097280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Scheduler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3F6339C-41E5-4BD3-94C8-BD7D9596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097280"/>
            <a:ext cx="137160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485B97F-EB7F-480E-B31A-DA1DB747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097280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Worker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EC258C6-93F5-48DA-9515-5D200E55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097280"/>
            <a:ext cx="137160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07A1B63-61A7-4A52-B48B-0B9FB31D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097280"/>
            <a:ext cx="1371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Metadata DB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E405677-621F-4406-BD0D-78A1CCB1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1298448"/>
            <a:ext cx="457200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E36D0F9-C48B-400F-849A-5870199F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298448"/>
            <a:ext cx="457200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98C79F-9721-4233-9D7F-1A5C7BC1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298448"/>
            <a:ext cx="457200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A596B1D-8573-437E-951F-4105525D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98448"/>
            <a:ext cx="457200" cy="10972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AB2DBE9-834D-4889-9302-6F598802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1680"/>
            <a:ext cx="8229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1. DAG parsed &amp; serialized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2. Scheduler schedules tasks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3. Worker executes task &amp; sends status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4. Metadata DB stores task states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EEEE3EB-A54A-4B22-A1E5-02918F72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eb3d5ba936ec49c2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716048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C365DB2-CEFF-46D8-8991-B722E1D3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14A996-AE24-44AF-A152-C56DE552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Defining Dags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BBB4785-331C-4300-88CA-A5F825AD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3C54"/>
                </a:solidFill>
              </a:rPr>
              <a:t>A Dag (Directed Acyclic Graph) defines the order of tasks. There are three ways to declare one: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0121B63-54F4-4FDB-98AD-A0606181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4114800" cy="73152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A063414-9896-44B5-B608-D7412E8D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4023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with DAG(dag_id="my_dag", start_date=..., schedule="@daily"):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task = EmptyOperator(task_id="task")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1A75AEB-D7AC-4C10-A652-27C88B32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1680"/>
            <a:ext cx="4114800" cy="73152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7716E5B-E76E-45B9-87AE-C60CC182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57400"/>
            <a:ext cx="4023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my_dag = DAG(dag_id="my_dag", start_date=..., schedule="0 0 * * *")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EmptyOperator(task_id="task", dag=my_dag)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4D63232-ECD1-49C2-9FB9-AABF87CA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4114800" cy="73152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EB04E98-7BF0-4814-AD11-BDFF0E5C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71800"/>
            <a:ext cx="4023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@dag(start_date=..., schedule="@daily")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generate_dag():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EmptyOperator(task_id="task")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generate_dag()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328F632-A97F-46F7-B1E1-25CFCEB8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097280"/>
            <a:ext cx="3931920" cy="219456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DD1BBDB-1CEB-4886-A8E3-FCB2AA76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143000"/>
            <a:ext cx="384048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3C54"/>
                </a:solidFill>
              </a:rPr>
              <a:t>Tips for DAG definition:
</a:t>
            </a:r>
            <a:r>
              <a:rPr sz="900">
                <a:solidFill>
                  <a:srgbClr val="003C54"/>
                </a:solidFill>
              </a:rPr>
              <a:t>• Use unique dag_id; avoid spaces
• Provide a timezone-aware start_date
• Choose cron presets (@daily, 0 0 * * * etc.)
• Set catchup=False unless backfilling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7E3A9A7-DBD8-4A0C-AA8B-B84F5F62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36f6ea632e1c4d4e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e2bdfb04d8ac478a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13742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F4C820-682B-430A-B59A-0F4166B8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ACDF54-7B0A-47F5-90FD-B06A13FD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Task Dependencies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316569A-91C0-4DF6-8272-8AC1A8A0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86B88A6-65E9-454A-A1AC-323D7A9F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91440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Task A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771DAC8-495F-4988-81B2-B101E250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1051560"/>
            <a:ext cx="54864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D386582-186C-421E-91CB-BE265287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051560"/>
            <a:ext cx="182880" cy="4572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432A2C4-9207-43AD-A42F-CDEADD75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91440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A78D"/>
          </a:solidFill>
          <a:ln xmlns:a="http://schemas.openxmlformats.org/drawingml/2006/main" w="12700">
            <a:solidFill>
              <a:srgbClr val="00A78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1946E3C-112C-4857-8DC6-3BA6CF4C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91440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Task B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FF00B0A-E596-45F9-B435-3CE23067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64592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0A78D"/>
          </a:solidFill>
          <a:ln xmlns:a="http://schemas.openxmlformats.org/drawingml/2006/main" w="12700">
            <a:solidFill>
              <a:srgbClr val="00A78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A23B05-F575-4538-9345-55E30534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645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Task C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35FF02C-BE37-40C3-A721-CC974298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1051560"/>
            <a:ext cx="54864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0ADE77A-16D5-4259-97E3-139CCAFD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1783080"/>
            <a:ext cx="54864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8AC67BE-635A-421D-BB4A-DDFEE183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280160"/>
            <a:ext cx="1097280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2C9689F-0D0B-41FF-B6B8-114FCD85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28016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Task D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F0B9B13-83F4-4B11-8755-F55FCDFD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914400"/>
            <a:ext cx="2926080" cy="128016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526C406-EB32-4FA4-88D0-B8B4A6D3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960120"/>
            <a:ext cx="283464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first_task &gt;&gt; [second, third]
third &lt;&lt; fourth
cross_downstream([op1, op2], [op3, op4])
chain(op1, [op2, op3], op4)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19637F6-6046-4E00-B7B8-7C95EA44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7233fba984542fd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4531385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1A984B2-AEE4-4B24-801D-FBAC6CFF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25D49DC-5D34-4EB8-90E9-C60CA0A9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Task Types</a:t>
            </a:r>
          </a:p>
        </p:txBody>
      </p:sp>
      <p:pic>
        <p:nvPicPr>
          <p:cNvPr id="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8f85ed1ae4e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59436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B7CBD1-0723-44E7-8F06-AD625040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Operators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6D71CF5-3B3F-4307-A6D0-2F515F2C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94944"/>
            <a:ext cx="4114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Templates for defining tasks; examples include BashOperator, PythonOperator, EmailOperator.</a:t>
            </a:r>
          </a:p>
        </p:txBody>
      </p:sp>
      <p:pic>
        <p:nvPicPr>
          <p:cNvPr id="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1ebca6142941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10972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5FC65DA-3026-4FCD-827E-07AF647F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Sensors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7C73717-64EE-4ED8-A01B-98E560F3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97864"/>
            <a:ext cx="4114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Tasks that wait for external events (files, API responses). Modes: poke vs reschedule.</a:t>
            </a:r>
          </a:p>
        </p:txBody>
      </p:sp>
      <p:pic>
        <p:nvPicPr>
          <p:cNvPr id="1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f2056943647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160020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F52C1F44-BCC9-4881-9A79-0337D3CE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TaskFlow @task</a:t>
            </a:r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2FAC1A4-4734-408E-94B1-1CABA059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00784"/>
            <a:ext cx="4114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Decorated Python functions returning values; dependencies handled via XComArg.</a:t>
            </a:r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BB69501E-87C4-4856-AD4C-8EC9E310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48640"/>
            <a:ext cx="3931920" cy="128016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D62B3E4D-0924-43BE-AE6F-A20D5B0D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594360"/>
            <a:ext cx="3840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from airflow.sdk import task
</a:t>
            </a: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@task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extract_data():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return get_data()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file_sensor = FileSensor(task_id="wait_for_file", filepath="data/file.csv")</a:t>
            </a:r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9672CFEA-12C4-409C-9D08-C96ABFA7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2ee8344e673f42f0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4d1451ec898744da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93f419584baa4fcf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5951666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2B1A3A-5B54-4510-AFDF-B575BE0B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0D8478-627E-4501-812B-0F078F53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Sensors &amp; Waiting for Events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C428949-C61E-4C45-B4A2-D5A9A5F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0080"/>
            <a:ext cx="4572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3C54"/>
                </a:solidFill>
              </a:rPr>
              <a:t>• Sensors wait for external events before succeeding.
</a:t>
            </a:r>
            <a:r>
              <a:rPr sz="1000" b="1">
                <a:solidFill>
                  <a:srgbClr val="003C54"/>
                </a:solidFill>
              </a:rPr>
              <a:t>• Modes:
</a:t>
            </a:r>
            <a:r>
              <a:rPr sz="900">
                <a:solidFill>
                  <a:srgbClr val="6A6A6A"/>
                </a:solidFill>
              </a:rPr>
              <a:t>  poke – occupies a worker for entire runtime
  reschedule – sleeps between checks and frees the worker
• Use poke for frequent checks (e.g., API every second); use reschedule for infrequent events (e.g., daily file arrival).
• Examples: FileSensor, TimeSensor, S3KeySensor, ExternalTaskSensor.</a:t>
            </a:r>
          </a:p>
        </p:txBody>
      </p:sp>
      <p:pic>
        <p:nvPicPr>
          <p:cNvPr id="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11f0c6c0f747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0" y="7315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002622-100A-4EC7-A38F-70AC644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31520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Wait for file to appear</a:t>
            </a:r>
          </a:p>
        </p:txBody>
      </p:sp>
      <p:pic>
        <p:nvPicPr>
          <p:cNvPr id="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22b346d13e4c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0" y="11887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7B0B492-23F5-41CE-A51C-62C6E276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188720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Check every minute (reschedule)</a:t>
            </a:r>
          </a:p>
        </p:txBody>
      </p:sp>
      <p:pic>
        <p:nvPicPr>
          <p:cNvPr id="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1077904434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0" y="16459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A9B46E7B-0A69-40B4-9C93-E485D0FD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45920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Check continuously (poke)</a:t>
            </a:r>
          </a:p>
        </p:txBody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235CB58F-4DFE-41C4-8224-60AEB650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cee42b78e3f74ae5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1285150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298C810-74CD-4EB2-8D17-BE2A726E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736FE8-0200-474E-A346-BE08A980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TaskFlow API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4CA8B8D-EDC2-427A-9EB4-2E6A5D50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3C54"/>
                </a:solidFill>
              </a:rPr>
              <a:t>Write pure Python functions with @task decorator – the easiest way to author tasks and pass data between them.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F11E310-5BC5-4530-B375-4D71C66F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5840"/>
            <a:ext cx="5029200" cy="256032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E1AC78F-D2F1-4BF6-96EA-F3D53513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51560"/>
            <a:ext cx="493776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from airflow.sdk import dag, task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import datetime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@task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extract_orders():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# fetch orders from Bronze table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return orders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@task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transform_orders(orders):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# filter and aggregate orders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return summary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@task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load_orders(summary):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# write summary to Gold table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pass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@dag(start_date=datetime.datetime(2024,1,1), schedule='@daily')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order_pipeline():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orders = extract_orders()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summary = transform_orders(orders)</a:t>
            </a: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load_orders(summary)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order_pipeline()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42E6AA6-DCE0-49BF-9E2C-21607CD6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188720"/>
            <a:ext cx="32918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• Returns are automatically XComArg objects
• Dependencies inferred from argument order
• Recommended for lightweight Python logic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86D3FA5-19D1-4F1D-8747-4D5107DD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f07d5133449d43ae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42e2079a33ec4c10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8180372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2DCA56F-D920-4246-B443-D362ECF9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5E7BAB-B48B-4D66-B157-6B663322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Scheduling &amp; Event Triggers</a:t>
            </a:r>
          </a:p>
        </p:txBody>
      </p:sp>
      <p:pic>
        <p:nvPicPr>
          <p:cNvPr id="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dd185999b245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6400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1E98852-6411-4A60-B0F2-9ECCFEA9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0080"/>
            <a:ext cx="3657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Time‑based Scheduling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95C0A9C-034D-414E-B51E-64AB6020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4672"/>
            <a:ext cx="3840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• Use cron syntax to schedule DAGs: @daily, 0 0 * * *
• Catchup=True runs missed intervals on deployment
• Use timetables for advanced calendars</a:t>
            </a:r>
          </a:p>
        </p:txBody>
      </p:sp>
      <p:pic>
        <p:nvPicPr>
          <p:cNvPr id="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608f32ac740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0" y="6400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EC0BB38-0C87-4892-8D70-504E1BC1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640080"/>
            <a:ext cx="3200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3C54"/>
                </a:solidFill>
              </a:rPr>
              <a:t>Event‑Driven Triggers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B1BA799-72E3-4CF5-B91D-E5DF6EAF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804672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A6A6A"/>
                </a:solidFill>
              </a:rPr>
              <a:t>• Deferrable operators suspend tasks until events occur (e.g., file arrives)
• Triggerer process handles deferred tasks asynchronously
• Sensors can act as event triggers</a:t>
            </a: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99CF158-327C-45E2-A6F8-6DB5A672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4c66611bd3d545f3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25c52ad0be204739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5389558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6860674-7CFE-40A1-9927-C78ADABD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A0A2DA-17A3-4BF6-A80D-195ABEF0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XComs &amp; Data Exchange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7D9B3-60B2-4D04-8D00-3ADA99FE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5029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• XComs let tasks exchange small pieces of data across the DAG.
• Each XCom is identified by key, task_id &amp; dag_id.
• Use xcom_push() and xcom_pull() in Task Context.
• Avoid large objects: XComs are stored in the metadata DB.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F0E929F-9465-4E1A-9FB7-3B49D752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548640"/>
            <a:ext cx="3291840" cy="13716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F94B1ED-8288-4812-ADBC-C807AA14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94360"/>
            <a:ext cx="32004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produce(**context):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context['task_instance'].xcom_push(key='result', value=42)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def consume(**context):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value = context['task_instance'].xcom_pull(key='result', task_ids='produce')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    print(f'Got {value}')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8A64D2-C293-4CBC-A5C6-FAA287C4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fdc90650eb664e73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2032cbde1e254a33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253782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E6DE72A-C4CB-477C-BD61-363E7203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8BFB063-769C-4F41-AFF1-ED905670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UI &amp; Observability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6C2DBC9-47FF-4D3D-BB7B-995DDD8B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22860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9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2BBBB19-BCC6-4E6C-969B-267B6E95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1520"/>
            <a:ext cx="2286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003C54"/>
                </a:solidFill>
              </a:rPr>
              <a:t>Graph View</a:t>
            </a:r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003C54"/>
                </a:solidFill>
              </a:rPr>
              <a:t>Visualise DAG structure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CA0B0F0-55F1-4AD7-BAA0-E1A7B019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731520"/>
            <a:ext cx="22860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9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341A171-E7B5-4465-A561-E60F9D93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731520"/>
            <a:ext cx="2286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003C54"/>
                </a:solidFill>
              </a:rPr>
              <a:t>Tree/Calendar View</a:t>
            </a:r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003C54"/>
                </a:solidFill>
              </a:rPr>
              <a:t>Track runs over time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B928A5D-9F4D-4526-8DF1-ED47D245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731520"/>
            <a:ext cx="22860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2F9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0F8BB89-3096-4369-85F4-79CC6B0A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731520"/>
            <a:ext cx="2286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003C54"/>
                </a:solidFill>
              </a:rPr>
              <a:t>Code View</a:t>
            </a:r>
          </a:p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003C54"/>
                </a:solidFill>
              </a:rPr>
              <a:t>Inspect source code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807E2A-8F5B-4EBB-B773-B773AB1D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1680"/>
            <a:ext cx="84124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• Each task writes logs accessible via the UI.
• Configure remote log storage for production (e.g., S3, GCS).
• Use task instance states and colour coding to monitor runs.
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FC351A4-90E1-4DBF-87FF-6271DDBD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7efb097258ff4db3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6657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860AF37-EEDC-432C-A257-93330E3C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15AA91B-0CCB-476D-95D1-DF072C8B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Best Practices &amp; Pitfalls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5A50A4E-AEC9-4C15-AB01-D57DCAAB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42976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Best practices: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Keep tasks bounded, idempotent and deterministic.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Make retries produce the same target result.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Use TaskFlow for small Python control tasks; call external engines for heavy transforms.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Test task behavior before scheduling it.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3055DEC-40E0-41AB-9CB6-B6F9B254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48640"/>
            <a:ext cx="41148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Pitfalls in this lab: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load_bronze appends, so reruns can duplicate raw rows unless you add run IDs or deduplication.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XCom is for small metadata, not datasets.</a:t>
            </a:r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- Airflow coordinates work; it is not the endless Kafka stream processor.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EAF29A8-1BE3-4E01-89D4-C07E887D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e5621d1d28484f69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22fad839d98048be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1327114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473FAAE-B1B8-4FF9-82CA-99EA748E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E0F81C9-20FF-4C49-9D38-6797FFB2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Airflow with Kafka &amp; Debezium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934842F-6984-42E1-A268-9FC16BFF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0"/>
            <a:ext cx="109728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D1DC8C-C4AA-461D-BDDF-DBBD5BFA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orders.cdc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EED93B4-49E1-4AFE-8FCA-97B7CAF9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63040"/>
            <a:ext cx="109728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7E8D51-2399-4A9A-85F3-38542A27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6304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inventory.cdc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4D825B6-2FB7-45CE-A7D6-76B1FB35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005840"/>
            <a:ext cx="45720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0FB872B-F3A7-4E28-9D05-EC659C54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554480"/>
            <a:ext cx="45720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EA82C82-D2A7-4602-AB60-419D8F9B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914400"/>
            <a:ext cx="2286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0A78D"/>
          </a:solidFill>
          <a:ln xmlns:a="http://schemas.openxmlformats.org/drawingml/2006/main" w="12700">
            <a:solidFill>
              <a:srgbClr val="00A78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AC331D0-D51B-491E-9C47-FA21EAD7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914400"/>
            <a:ext cx="2286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>
                <a:solidFill>
                  <a:srgbClr val="FFFFFF"/>
                </a:solidFill>
              </a:rPr>
              <a:t>Airflow DAG</a:t>
            </a:r>
          </a:p>
          <a:p xmlns:a="http://schemas.openxmlformats.org/drawingml/2006/main">
            <a:pPr marL="0" indent="0" algn="ctr">
              <a:buNone/>
            </a:pPr>
          </a:p>
          <a:p xmlns:a="http://schemas.openxmlformats.org/drawingml/2006/main">
            <a:pPr marL="0" indent="0" algn="ctr">
              <a:buNone/>
            </a:pPr>
            <a:r>
              <a:rPr sz="750">
                <a:solidFill>
                  <a:srgbClr val="FFFFFF"/>
                </a:solidFill>
              </a:rPr>
              <a:t>Sensor waits for topic offset</a:t>
            </a:r>
          </a:p>
          <a:p xmlns:a="http://schemas.openxmlformats.org/drawingml/2006/main">
            <a:pPr marL="0" indent="0" algn="ctr">
              <a:buNone/>
            </a:pPr>
            <a:r>
              <a:rPr sz="750">
                <a:solidFill>
                  <a:srgbClr val="FFFFFF"/>
                </a:solidFill>
              </a:rPr>
              <a:t>PythonOperator processes batch</a:t>
            </a:r>
          </a:p>
          <a:p xmlns:a="http://schemas.openxmlformats.org/drawingml/2006/main">
            <a:pPr marL="0" indent="0" algn="ctr">
              <a:buNone/>
            </a:pPr>
            <a:r>
              <a:rPr sz="750">
                <a:solidFill>
                  <a:srgbClr val="FFFFFF"/>
                </a:solidFill>
              </a:rPr>
              <a:t>TaskFlow tasks transform &amp; load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315109F-7CE8-4EAC-8246-EC66FD38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143000"/>
            <a:ext cx="45720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78FABE3-9EC7-470F-BCE6-31C0932B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00200"/>
            <a:ext cx="45720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8E29ABA-47BF-477A-A734-B39090FE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914400"/>
            <a:ext cx="128016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D0863BF-5FE7-4B07-82E4-C0B3B1C0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91440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Silver table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CE5967F-7925-4440-83F2-682CBB58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63040"/>
            <a:ext cx="128016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E62F59E-3D12-486D-BFB5-A26880AB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6304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Gold table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E381993-0B82-42C8-9C86-BC5D9DE2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Architecture extension: a production DAG may wait for a bounded readiness condition, then invoke validation or transformation work. It does not replace Debezium or Kafka streaming consumers.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B5BF7A8-4C66-46CB-9077-79A9E544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ddefc847485d435e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0c191cfc049f471d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c206a28bee134eee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12953871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50D3F0-84AF-4F52-A15E-5D07BD50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36E49CD-6405-44E1-9A74-9C5AC329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Lab: Orchestrating a Medallion Pipeline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F63D240-5C6A-4720-9F0D-1B3140E3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029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- Start the supplied Airflow, Redis and Postgres services with Docker Compose.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- Run the included medallion_pipeline DAG: FileSensor -&gt; load_bronze -&gt; transform_silver -&gt; aggregate_gold.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- Inspect task logs and XCom row counts in the Airflow UI.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- Rerun once and explain how append behavior can duplicate Bronze rows.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- Extension design: replace CSV arrival with a Kafka/Hop readiness or execution task.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F63195-04C7-4DBC-8D09-D238E3BA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14400"/>
            <a:ext cx="109728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ACE60C5-CC31-4DB0-B170-E5EFB2F8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1440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FFFFFF"/>
                </a:solidFill>
              </a:rPr>
              <a:t>Postgres DB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2ED2F7E-A93E-43CD-97CA-56A03FF6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463040"/>
            <a:ext cx="109728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07ACC"/>
          </a:solidFill>
          <a:ln xmlns:a="http://schemas.openxmlformats.org/drawingml/2006/main" w="12700">
            <a:solidFill>
              <a:srgbClr val="007AC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3FC10C1-0939-4ABA-AA28-97BD9F01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463040"/>
            <a:ext cx="1097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FFFFFF"/>
                </a:solidFill>
              </a:rPr>
              <a:t>Kafka topics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FE3A029-09A0-4869-B144-CBDDE881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051560"/>
            <a:ext cx="54864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B099416-4091-45A9-9B55-2E74281C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914400"/>
            <a:ext cx="10972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A78D"/>
          </a:solidFill>
          <a:ln xmlns:a="http://schemas.openxmlformats.org/drawingml/2006/main" w="12700">
            <a:solidFill>
              <a:srgbClr val="00A78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E8475FC-A738-4750-BEFF-93089418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914400"/>
            <a:ext cx="1097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FFFFFF"/>
                </a:solidFill>
              </a:rPr>
              <a:t>Airflow DAG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82048B9-860E-450B-9B27-14653FF7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45920"/>
            <a:ext cx="548640" cy="18288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A6A6A"/>
          </a:solidFill>
          <a:ln xmlns:a="http://schemas.openxmlformats.org/drawingml/2006/main" w="12700">
            <a:solidFill>
              <a:srgbClr val="6A6A6A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A98D5A4-88C4-4821-A7A6-B7EA85E5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463040"/>
            <a:ext cx="10972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C28"/>
          </a:solidFill>
          <a:ln xmlns:a="http://schemas.openxmlformats.org/drawingml/2006/main" w="12700">
            <a:solidFill>
              <a:srgbClr val="F28C2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E31C8AC-1AC3-479D-9421-1A48C4A0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463040"/>
            <a:ext cx="1097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FFFFFF"/>
                </a:solidFill>
              </a:rPr>
              <a:t>Data Lake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DC7564-8ECF-4BFC-8068-081097FB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cfcf68594e214fc3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b94b70cd01574204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8031431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110E2A3-A311-49C3-BBE6-570B6951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488E243-AF6F-4ABD-9B6A-71904AD4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Mini Exercise 1: Components &amp; Roles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C51FC50-6BA4-4034-A560-815A0959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03C54"/>
                </a:solidFill>
              </a:rPr>
              <a:t>Match the description to the Airflow component: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9892C38-4236-43CD-B501-8109F379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22960"/>
            <a:ext cx="50292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1. Monitors tasks and schedules them once dependencies are met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2. Parses DAG Python files and serializes them to DB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3. Exposes UI and REST APIs for task monitoring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4. Executes tasks using Celery or Kubernetes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9A3C0AF-F0AE-499C-98E7-F2AB4427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822960"/>
            <a:ext cx="32004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Options: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Scheduler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B) DAG Processor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C) Worker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D) API Server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ABE168B-3230-477D-82CC-14019D65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df6abcfc27c04030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60473957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0DCC02A-1418-40C6-9E4C-396F016B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1B94BD-F308-441B-BB1A-B1B4B8FD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Mini Exercise 2: Building Dependencies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B7DC60F-CA0F-4161-BDE4-83EBD7DF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50292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Given tasks A, B, C, D and E, select the correct code to achieve: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• A precedes B and C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• Both B and C must finish before D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• Finally E runs after 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34A0B18-E695-4305-B053-84D0D9E8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463040"/>
            <a:ext cx="320040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CFABF7-D4BB-47A5-B67B-BA45FC29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463040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A) A &gt;&gt; B &gt;&gt; D &gt;&gt; E; A &gt;&gt; C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511E038-3D86-429B-86A8-E612D8DA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920240"/>
            <a:ext cx="320040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DDFA91-F69D-42C8-9F7A-0A3A31A0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920240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B) A &gt;&gt; [B, C]; [B, C] &gt;&gt; D &gt;&gt; E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6ABC05-401E-4084-A415-12FC1378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377440"/>
            <a:ext cx="320040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51323B2-01BC-4C2E-B9A8-B29EC1C6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77440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C) chain(A, [B, C], D, E)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89C4145-9A27-49BD-998C-6560688A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834640"/>
            <a:ext cx="320040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12700">
            <a:solidFill>
              <a:srgbClr val="D0D7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5E7FBF6-237C-439E-BCA8-198BD9A5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834640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B3D51"/>
                </a:solidFill>
                <a:latin typeface="Consolas"/>
                <a:ea typeface="Consolas"/>
                <a:cs typeface="Consolas"/>
              </a:rPr>
              <a:t>D) cross_downstream([A], [B, C, D, E])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13293E2-8944-4387-8699-C7A37587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605dcd6a135a4dda"/>
              </a:rPr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15659652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EC93B96-5C3F-4BFE-B320-74C0389F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E9BAEA8-9F09-4EE3-8B31-0C25D3C8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Mini Exercise 3: Sensors &amp; Scheduling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6AC977A-70C9-4E61-9F32-B9515D28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594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1. Which mode frees up the worker slot between checks?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2. What happens if a FileSensor fails to find the file within timeout?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3. Which schedule expression runs at midnight UTC every day?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6A7838D-4968-416F-9DFC-015A3236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8640"/>
            <a:ext cx="21945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03C54"/>
                </a:solidFill>
              </a:rPr>
              <a:t>A) poke, Task fails, @daily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03C54"/>
                </a:solidFill>
              </a:rPr>
              <a:t>B) reschedule, Sensor retries, 0 0 * * *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03C54"/>
                </a:solidFill>
              </a:rPr>
              <a:t>C) reschedule, Sensor fails, @hourly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003C54"/>
                </a:solidFill>
              </a:rPr>
              <a:t>D) poke, Sensor is skipped, None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A34EDC2-69E7-4C72-B159-F7F0EBD1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8d1a15ce8d86413b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5b42f45600a34d8b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1218627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86BE082-7FB5-473B-B99A-84F4363F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780CF9-6B20-4241-8808-CC29712B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Mini Exercise 4: Troubleshooting &amp; Optimisation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8C74988-ED38-4CEC-B4E1-588747C0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The supplied DAG succeeds once, but a manual rerun duplicates Bronze input because the first transform appends rows. What change would make the rerun safe?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5AC86BF-5C19-4894-94D0-10767076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Ignore the duplicate rows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B) Add a run/file key and idempotent merge or dedup rule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C) Increase scheduler parsing frequency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D) Remove task logs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9D11499-9D68-450C-AD88-E9333A94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97280"/>
            <a:ext cx="40233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A6A6A"/>
                </a:solidFill>
              </a:rPr>
              <a:t>Discussion prompts: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A6A6A"/>
                </a:solidFill>
              </a:rPr>
              <a:t>- Where should row-count validation run?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A6A6A"/>
                </a:solidFill>
              </a:rPr>
              <a:t>- Which evidence proves a retry did not double count Gold?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6A6A6A"/>
                </a:solidFill>
              </a:rPr>
              <a:t>- When should the pipeline invoke Hop rather than transform inside Airflow?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B1BE382-BE9C-4430-83E3-C7E2F0C9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065db49953be4228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224fe0812e72478b"/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12449386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2ED10C2-63FB-4140-A262-410E30A9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5334B8C-3112-4F43-878E-AB725976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Quiz: Airflow Fundamentals (1/2)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DD8EBE9-F64D-416D-9A75-86578B36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1. Which component processes DAG files?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Scheduler  B) DAG Processor  C) API Server  D) Triggerer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0058EA-60CB-45CD-B7FA-14196F9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2. What does the @task decorator return?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XComArg  B) PythonOperator  C) Sensor  D) Nothing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E761714-ECEE-444C-A85C-834E32CA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3. Which statement about sensors is true?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They run heavy ETL logic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B) They wait for events then succeed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C) They always require an external API call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D) They do not occupy worker slots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F4FF53B-C7B7-4E29-9551-C6C7D69D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6536756eb2ea4267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7318001e4b334e42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d9fa1ebae7a54148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13523324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83649E-B4AE-4281-A972-68CEDE61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9D6D4B7-06F8-44E5-A847-C7A39A1C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7772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Quiz: Airflow Fundamentals (2/2)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EA32ABE-3BF3-417E-AFEE-C4521F23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4. What is the purpose of the metadata database?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Store DAG Python files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B) Store task states and XComs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C) Provide UI templates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D) Act as a message queue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254B4C0-1A36-495F-8A71-C09DC62E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5. Which mode should you choose for a sensor that checks a file once per hour?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poke  B) reschedule  C) event-driven  D) deferrable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BC2475E-068E-4F36-AB6A-3B143464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6. Which of the following is NOT a best practice?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A) Use TaskFlow for Python logic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B) Keep tasks idempotent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C) Pass large dataframes via XCom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D) Test DAGs locally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1F5F5B4-EB15-48CC-8210-D238750E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484a0307a4154751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655b44875b0a4368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2c3cefee15214fd8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16426295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AE0107F-CE8E-490B-8615-B79C5B2C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F0DFE87-4CED-4CAC-8F8A-0748353D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Quiz Answers &amp; Explanations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9CD2F3-302A-4ECC-A87F-AD8FB7EC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8686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03C54"/>
                </a:solidFill>
              </a:rPr>
              <a:t>1) B – The DAG processor parses and serializes DAGs.
2) A – @task functions return an XComArg representing the output.
3) B – Sensors wait for conditions and then succeed or fail.
4) B – The metadata DB stores DAGs, task states, connections and XComs.
5) B – Reschedule mode is ideal for infrequent checks to free workers.
6) C – You should not pass large dataframes via XCom; use external storage.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8CC9F41-8856-45F0-814D-273AA8A0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d5acd552f7174e1f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2a3131cf5f04790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21ce5940d034ae0"/>
              </a:rPr>
              <a:t>[3]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542cd97ba2f64f49"/>
              </a:rPr>
              <a:t>[4]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1f355f964fa64b81"/>
              </a:rPr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116743071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9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B7F50E7-5C66-4655-BC57-1B8DE083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D51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8B46953-38AE-494C-97E4-CA641511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</a:rPr>
              <a:t>Recap &amp; Looking Ahead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36ABE33-D5E7-47D6-8346-2DFCDA1D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"/>
            <a:ext cx="86868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3C54"/>
                </a:solidFill>
              </a:rPr>
              <a:t>Today you learned how Airflow schedules and observes bounded pipeline tasks through DAGs, sensors, task logs and retries.</a:t>
            </a:r>
          </a:p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007ACC"/>
                </a:solidFill>
              </a:rPr>
              <a:t>- The supplied lab runs CSV-to-Postgres Bronze/Silver/Gold tasks.</a:t>
            </a:r>
          </a:p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007ACC"/>
                </a:solidFill>
              </a:rPr>
              <a:t>- Kafka/Debezium keep streaming independently; a DAG coordinates checks or external jobs.</a:t>
            </a:r>
          </a:p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007ACC"/>
                </a:solidFill>
              </a:rPr>
              <a:t>- Reliable retries require idempotent outputs.</a:t>
            </a:r>
          </a:p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007ACC"/>
                </a:solidFill>
              </a:rPr>
              <a:t/>
            </a:r>
          </a:p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007ACC"/>
                </a:solidFill>
              </a:rPr>
              <a:t>Next: Day 9 operates the pipeline through monitoring, lag analysis, incident diagnosis and recovery evidence.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EDC61A1-C17C-465F-952D-038856AB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9360"/>
            <a:ext cx="8229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cee3f13535d6449e"/>
              </a:rPr>
              <a:t>[1]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79ea7aad58a548e9"/>
              </a:rPr>
              <a:t>[2]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5f690612eb2e4f3e"/>
              </a:rPr>
              <a:t>[3]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74853c2f39554456"/>
              </a:rPr>
              <a:t>[4]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d0c95d20fe304c3b"/>
              </a:rPr>
              <a:t>[5]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69a4b13a9e1541d2"/>
              </a:rPr>
              <a:t>[6]</a:t>
            </a:r>
            <a:r>
              <a:rPr sz="600">
                <a:solidFill>
                  <a:srgbClr val="000000"/>
                </a:solidFill>
              </a:rPr>
              <a:t>   </a:t>
            </a:r>
            <a:r>
              <a:rPr sz="600" u="sng">
                <a:solidFill>
                  <a:srgbClr val="0066CC"/>
                </a:solidFill>
                <a:hlinkClick xmlns:r="http://schemas.openxmlformats.org/officeDocument/2006/relationships" r:id="Raca6ffb31b1e468f"/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440436908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2026-05-26T10:14:15.4150000Z</dcterms:created>
  <dcterms:modified xsi:type="dcterms:W3CDTF">2026-05-26T10:14:15.4150000Z</dcterms:modified>
</coreProperties>
</file>