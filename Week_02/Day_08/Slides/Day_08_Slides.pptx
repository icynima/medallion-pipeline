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9144000" cy="5143500" type="screen16x9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03" d="100"/>
          <a:sy n="103" d="100"/>
        </p:scale>
        <p:origin x="87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>
        <a:spcBef>
          <a:spcPts val="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>
        <a:spcBef>
          <a:spcPts val="0"/>
        </a:spcBef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spcBef>
          <a:spcPts val="0"/>
        </a:spcBef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spcBef>
          <a:spcPts val="0"/>
        </a:spcBef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hyperlink" Target="&#12304;76655757129239&#8224;L187-L207&#12305;" TargetMode="External"/><Relationship Id="rId4" Type="http://schemas.openxmlformats.org/officeDocument/2006/relationships/hyperlink" Target="&#12304;76655757129239&#8224;L164-L176&#12305;" TargetMode="Externa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hyperlink" Target="&#12304;702206152357481&#8224;L131-L153&#12305;" TargetMode="External"/><Relationship Id="rId4" Type="http://schemas.openxmlformats.org/officeDocument/2006/relationships/image" Target="../media/image3.png"/><Relationship Id="rId9" Type="http://schemas.openxmlformats.org/officeDocument/2006/relationships/hyperlink" Target="&#12304;76655757129239&#8224;L164-L176&#12305;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&#12304;76655757129239&#8224;L164-L176&#12305;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&#12304;76655757129239&#8224;L164-L176&#12305;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hyperlink" Target="&#12304;76655757129239&#8224;L292-L297&#12305;" TargetMode="Externa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&#12304;76655757129239&#8224;L187-L207&#12305;" TargetMode="External"/><Relationship Id="rId3" Type="http://schemas.openxmlformats.org/officeDocument/2006/relationships/image" Target="../media/image5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7.png"/><Relationship Id="rId4" Type="http://schemas.openxmlformats.org/officeDocument/2006/relationships/image" Target="../media/image8.png"/><Relationship Id="rId9" Type="http://schemas.openxmlformats.org/officeDocument/2006/relationships/hyperlink" Target="&#12304;702206152357481&#8224;L131-L153&#12305;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hyperlink" Target="&#12304;76655757129239&#8224;L240-L249&#12305;" TargetMode="External"/><Relationship Id="rId5" Type="http://schemas.openxmlformats.org/officeDocument/2006/relationships/hyperlink" Target="&#12304;702206152357481&#8224;L151-L153&#12305;" TargetMode="External"/><Relationship Id="rId4" Type="http://schemas.openxmlformats.org/officeDocument/2006/relationships/hyperlink" Target="&#12304;76655757129239&#8224;L217-L224&#12305;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&#12304;702206152357481&#8224;L180-L209&#12305;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&#12304;458076587485110&#8224;L229-L276&#12305;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hyperlink" Target="&#12304;458076587485110&#8224;L395-L405&#12305;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&#12304;458076587485110&#8224;L283-L336&#12305;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&#12304;298368715109598&#8224;L154-L180&#12305;" TargetMode="External"/><Relationship Id="rId3" Type="http://schemas.openxmlformats.org/officeDocument/2006/relationships/image" Target="../media/image11.png"/><Relationship Id="rId7" Type="http://schemas.openxmlformats.org/officeDocument/2006/relationships/hyperlink" Target="&#12304;504349275456659&#8224;L148-L170&#12305;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hyperlink" Target="&#12304;755441039674975&#8224;L164-L183&#12305;" TargetMode="External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hyperlink" Target="&#12304;504349275456659&#8224;L148-L170&#12305;" TargetMode="External"/><Relationship Id="rId5" Type="http://schemas.openxmlformats.org/officeDocument/2006/relationships/image" Target="../media/image5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&#12304;298368715109598&#8224;L154-L180&#12305;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hyperlink" Target="&#12304;597154716266446&#8224;L146-L169&#12305;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hyperlink" Target="&#12304;702206152357481&#8224;L131-L153&#12305;" TargetMode="External"/><Relationship Id="rId5" Type="http://schemas.openxmlformats.org/officeDocument/2006/relationships/hyperlink" Target="&#12304;458076587485110&#8224;L395-L405&#12305;" TargetMode="Externa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&#12304;597154716266446&#8224;L146-L169&#12305;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hyperlink" Target="&#12304;597154716266446&#8224;L165-L178&#12305;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&#12304;702206152357481&#8224;L180-L209&#12305;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&#12304;76655757129239&#8224;L240-L249&#12305;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hyperlink" Target="&#12304;702206152357481&#8224;L231-L236&#12305;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&#12304;483910231113331&#8224;L580-L603&#12305;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hyperlink" Target="&#12304;271472564699728&#8224;L567-L617&#12305;" TargetMode="External"/><Relationship Id="rId4" Type="http://schemas.openxmlformats.org/officeDocument/2006/relationships/hyperlink" Target="&#12304;483910231113331&#8224;L704-L719&#12305;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&#12304;702206152357481&#8224;L131-L153&#12305;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hyperlink" Target="&#12304;483910231113331&#8224;L580-L603&#12305;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&#12304;702206152357481&#8224;L131-L153&#12305;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&#12304;458076587485110&#8224;L283-L336&#12305;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&#12304;504349275456659&#8224;L148-L170&#12305;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hyperlink" Target="&#12304;458076587485110&#8224;L395-L405&#12305;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&#12304;702206152357481&#8224;L180-L209&#12305;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hyperlink" Target="&#12304;504349275456659&#8224;L157-L170&#12305;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&#12304;76655757129239&#8224;L187-L207&#12305;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hyperlink" Target="&#12304;504349275456659&#8224;L148-L170&#12305;" TargetMode="External"/><Relationship Id="rId4" Type="http://schemas.openxmlformats.org/officeDocument/2006/relationships/hyperlink" Target="&#12304;298368715109598&#8224;L154-L180&#12305;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&#12304;76655757129239&#8224;L187-L207&#12305;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hyperlink" Target="&#12304;702206152357481&#8224;L231-L236&#12305;" TargetMode="External"/><Relationship Id="rId4" Type="http://schemas.openxmlformats.org/officeDocument/2006/relationships/hyperlink" Target="&#12304;504349275456659&#8224;L148-L170&#12305;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&#12304;76655757129239&#8224;L187-L207&#12305;" TargetMode="External"/><Relationship Id="rId7" Type="http://schemas.openxmlformats.org/officeDocument/2006/relationships/hyperlink" Target="&#12304;702206152357481&#8224;L231-L236&#12305;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hyperlink" Target="&#12304;597154716266446&#8224;L146-L169&#12305;" TargetMode="External"/><Relationship Id="rId5" Type="http://schemas.openxmlformats.org/officeDocument/2006/relationships/hyperlink" Target="&#12304;504349275456659&#8224;L148-L170&#12305;" TargetMode="External"/><Relationship Id="rId4" Type="http://schemas.openxmlformats.org/officeDocument/2006/relationships/hyperlink" Target="&#12304;298368715109598&#8224;L154-L180&#12305;" TargetMode="Externa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hyperlink" Target="&#12304;298368715109598&#8224;L154-L180&#12305;" TargetMode="External"/><Relationship Id="rId3" Type="http://schemas.openxmlformats.org/officeDocument/2006/relationships/hyperlink" Target="&#12304;76655757129239&#8224;L164-L176&#12305;" TargetMode="External"/><Relationship Id="rId7" Type="http://schemas.openxmlformats.org/officeDocument/2006/relationships/hyperlink" Target="&#12304;504349275456659&#8224;L148-L170&#12305;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hyperlink" Target="&#12304;755441039674975&#8224;L164-L183&#12305;" TargetMode="External"/><Relationship Id="rId5" Type="http://schemas.openxmlformats.org/officeDocument/2006/relationships/hyperlink" Target="&#12304;458076587485110&#8224;L229-L276&#12305;" TargetMode="External"/><Relationship Id="rId4" Type="http://schemas.openxmlformats.org/officeDocument/2006/relationships/hyperlink" Target="&#12304;702206152357481&#8224;L131-L153&#12305;" TargetMode="External"/><Relationship Id="rId9" Type="http://schemas.openxmlformats.org/officeDocument/2006/relationships/hyperlink" Target="&#12304;597154716266446&#8224;L146-L169&#12305;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748EA08-0D46-4735-894A-4D957F41F00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B3D51"/>
          </a:solidFill>
          <a:ln w="12700">
            <a:solidFill>
              <a:srgbClr val="0B3D5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EA60A4E-881D-48F3-A63A-9457948B47C1}"/>
              </a:ext>
            </a:extLst>
          </p:cNvPr>
          <p:cNvSpPr>
            <a:spLocks noGrp="1"/>
          </p:cNvSpPr>
          <p:nvPr/>
        </p:nvSpPr>
        <p:spPr>
          <a:xfrm>
            <a:off x="457200" y="91440"/>
            <a:ext cx="73152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sz="2000" b="1">
                <a:solidFill>
                  <a:srgbClr val="FFFFFF"/>
                </a:solidFill>
              </a:rPr>
              <a:t>Day 8</a:t>
            </a:r>
            <a:r>
              <a:rPr sz="1600">
                <a:solidFill>
                  <a:srgbClr val="FFFFFF"/>
                </a:solidFill>
              </a:rPr>
              <a:t>  Workflow Orchestration with Apache Airflow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1BFBD0B-53A9-4F2C-9558-24281BDCD37F}"/>
              </a:ext>
            </a:extLst>
          </p:cNvPr>
          <p:cNvSpPr>
            <a:spLocks noGrp="1"/>
          </p:cNvSpPr>
          <p:nvPr/>
        </p:nvSpPr>
        <p:spPr>
          <a:xfrm>
            <a:off x="7589520" y="91440"/>
            <a:ext cx="155448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endParaRPr sz="1000" dirty="0">
              <a:solidFill>
                <a:srgbClr val="FFFFFF"/>
              </a:solidFill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77B6A5F-F76F-45D1-B09A-E16C95B2D85B}"/>
              </a:ext>
            </a:extLst>
          </p:cNvPr>
          <p:cNvSpPr>
            <a:spLocks noGrp="1"/>
          </p:cNvSpPr>
          <p:nvPr/>
        </p:nvSpPr>
        <p:spPr>
          <a:xfrm>
            <a:off x="457200" y="1097280"/>
            <a:ext cx="5029200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2800" b="1">
                <a:solidFill>
                  <a:srgbClr val="0B3D51"/>
                </a:solidFill>
              </a:rPr>
              <a:t>Workflow Orchestration with Apache Airflow
</a:t>
            </a:r>
            <a:r>
              <a:rPr sz="1400" i="1">
                <a:solidFill>
                  <a:srgbClr val="6A6A6A"/>
                </a:solidFill>
              </a:rPr>
              <a:t>Design, schedule &amp; monitor your data pipelines</a:t>
            </a:r>
          </a:p>
        </p:txBody>
      </p:sp>
      <p:pic>
        <p:nvPicPr>
          <p:cNvPr id="6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914400"/>
            <a:ext cx="3200400" cy="1828800"/>
          </a:xfrm>
          <a:prstGeom prst="rect">
            <a:avLst/>
          </a:prstGeom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id="{4C623AE0-E14A-4829-9798-1D4711473791}"/>
              </a:ext>
            </a:extLst>
          </p:cNvPr>
          <p:cNvSpPr>
            <a:spLocks noGrp="1"/>
          </p:cNvSpPr>
          <p:nvPr/>
        </p:nvSpPr>
        <p:spPr>
          <a:xfrm>
            <a:off x="457200" y="630936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600" u="sng">
                <a:solidFill>
                  <a:srgbClr val="0066CC"/>
                </a:solidFill>
                <a:hlinkClick r:id="rId4"/>
              </a:rPr>
              <a:t>[1]</a:t>
            </a:r>
            <a:r>
              <a:rPr sz="600">
                <a:solidFill>
                  <a:srgbClr val="000000"/>
                </a:solidFill>
              </a:rPr>
              <a:t>   </a:t>
            </a:r>
            <a:r>
              <a:rPr sz="600" u="sng">
                <a:solidFill>
                  <a:srgbClr val="0066CC"/>
                </a:solidFill>
                <a:hlinkClick r:id="rId5"/>
              </a:rPr>
              <a:t>[2]</a:t>
            </a:r>
          </a:p>
        </p:txBody>
      </p:sp>
    </p:spTree>
    <p:extLst>
      <p:ext uri="{BB962C8B-B14F-4D97-AF65-F5344CB8AC3E}">
        <p14:creationId xmlns:p14="http://schemas.microsoft.com/office/powerpoint/2010/main" val="12799140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CE86B1B-8DD5-4C65-A11D-BA9ADD6CCC0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B3D51"/>
          </a:solidFill>
          <a:ln w="12700">
            <a:solidFill>
              <a:srgbClr val="0B3D5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9B7A809-DB95-467F-9970-828C2B21DC71}"/>
              </a:ext>
            </a:extLst>
          </p:cNvPr>
          <p:cNvSpPr>
            <a:spLocks noGrp="1"/>
          </p:cNvSpPr>
          <p:nvPr/>
        </p:nvSpPr>
        <p:spPr>
          <a:xfrm>
            <a:off x="457200" y="91440"/>
            <a:ext cx="73152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2000" b="1">
                <a:solidFill>
                  <a:srgbClr val="FFFFFF"/>
                </a:solidFill>
              </a:rPr>
              <a:t>Learning Objectives</a:t>
            </a:r>
          </a:p>
        </p:txBody>
      </p:sp>
      <p:pic>
        <p:nvPicPr>
          <p:cNvPr id="4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228600" cy="228600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5656F2F5-7B10-45F7-909A-876FAD53C370}"/>
              </a:ext>
            </a:extLst>
          </p:cNvPr>
          <p:cNvSpPr>
            <a:spLocks noGrp="1"/>
          </p:cNvSpPr>
          <p:nvPr/>
        </p:nvSpPr>
        <p:spPr>
          <a:xfrm>
            <a:off x="822960" y="731520"/>
            <a:ext cx="82296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>
                <a:solidFill>
                  <a:srgbClr val="003C54"/>
                </a:solidFill>
              </a:rPr>
              <a:t>Understand Airflow architecture &amp; components</a:t>
            </a:r>
          </a:p>
        </p:txBody>
      </p:sp>
      <p:pic>
        <p:nvPicPr>
          <p:cNvPr id="6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234440"/>
            <a:ext cx="228600" cy="228600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B81CD09F-26A7-43DA-8DE5-2087DC09DEF7}"/>
              </a:ext>
            </a:extLst>
          </p:cNvPr>
          <p:cNvSpPr>
            <a:spLocks noGrp="1"/>
          </p:cNvSpPr>
          <p:nvPr/>
        </p:nvSpPr>
        <p:spPr>
          <a:xfrm>
            <a:off x="822960" y="1188720"/>
            <a:ext cx="82296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>
                <a:solidFill>
                  <a:srgbClr val="003C54"/>
                </a:solidFill>
              </a:rPr>
              <a:t>Author Dags with tasks, operators &amp; sensors</a:t>
            </a:r>
          </a:p>
        </p:txBody>
      </p:sp>
      <p:pic>
        <p:nvPicPr>
          <p:cNvPr id="8" name="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691640"/>
            <a:ext cx="228600" cy="228600"/>
          </a:xfrm>
          <a:prstGeom prst="rect">
            <a:avLst/>
          </a:prstGeom>
        </p:spPr>
      </p:pic>
      <p:sp>
        <p:nvSpPr>
          <p:cNvPr id="9" name="Text 4">
            <a:extLst>
              <a:ext uri="{FF2B5EF4-FFF2-40B4-BE49-F238E27FC236}">
                <a16:creationId xmlns:a16="http://schemas.microsoft.com/office/drawing/2014/main" id="{E9ADE2DC-6BDF-4786-9B11-B9FB5CC4EABE}"/>
              </a:ext>
            </a:extLst>
          </p:cNvPr>
          <p:cNvSpPr>
            <a:spLocks noGrp="1"/>
          </p:cNvSpPr>
          <p:nvPr/>
        </p:nvSpPr>
        <p:spPr>
          <a:xfrm>
            <a:off x="822960" y="1645920"/>
            <a:ext cx="82296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>
                <a:solidFill>
                  <a:srgbClr val="003C54"/>
                </a:solidFill>
              </a:rPr>
              <a:t>Use TaskFlow API and XCom for data transfer</a:t>
            </a:r>
          </a:p>
        </p:txBody>
      </p:sp>
      <p:pic>
        <p:nvPicPr>
          <p:cNvPr id="10" name="Imag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2148840"/>
            <a:ext cx="228600" cy="228600"/>
          </a:xfrm>
          <a:prstGeom prst="rect">
            <a:avLst/>
          </a:prstGeom>
        </p:spPr>
      </p:pic>
      <p:sp>
        <p:nvSpPr>
          <p:cNvPr id="11" name="Text 5">
            <a:extLst>
              <a:ext uri="{FF2B5EF4-FFF2-40B4-BE49-F238E27FC236}">
                <a16:creationId xmlns:a16="http://schemas.microsoft.com/office/drawing/2014/main" id="{040277B8-4D45-43A5-8EFC-DAAA8679459E}"/>
              </a:ext>
            </a:extLst>
          </p:cNvPr>
          <p:cNvSpPr>
            <a:spLocks noGrp="1"/>
          </p:cNvSpPr>
          <p:nvPr/>
        </p:nvSpPr>
        <p:spPr>
          <a:xfrm>
            <a:off x="822960" y="2103120"/>
            <a:ext cx="82296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>
                <a:solidFill>
                  <a:srgbClr val="003C54"/>
                </a:solidFill>
              </a:rPr>
              <a:t>Configure scheduling, triggers &amp; event-driven workflows</a:t>
            </a:r>
          </a:p>
        </p:txBody>
      </p:sp>
      <p:pic>
        <p:nvPicPr>
          <p:cNvPr id="12" name="Imag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2606040"/>
            <a:ext cx="228600" cy="228600"/>
          </a:xfrm>
          <a:prstGeom prst="rect">
            <a:avLst/>
          </a:prstGeom>
        </p:spPr>
      </p:pic>
      <p:sp>
        <p:nvSpPr>
          <p:cNvPr id="13" name="Text 6">
            <a:extLst>
              <a:ext uri="{FF2B5EF4-FFF2-40B4-BE49-F238E27FC236}">
                <a16:creationId xmlns:a16="http://schemas.microsoft.com/office/drawing/2014/main" id="{50632C34-F469-4549-9F50-DFB76DF121FA}"/>
              </a:ext>
            </a:extLst>
          </p:cNvPr>
          <p:cNvSpPr>
            <a:spLocks noGrp="1"/>
          </p:cNvSpPr>
          <p:nvPr/>
        </p:nvSpPr>
        <p:spPr>
          <a:xfrm>
            <a:off x="822960" y="2560320"/>
            <a:ext cx="82296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>
                <a:solidFill>
                  <a:srgbClr val="003C54"/>
                </a:solidFill>
              </a:rPr>
              <a:t>Monitor, debug &amp; manage Airflow via the UI</a:t>
            </a:r>
          </a:p>
        </p:txBody>
      </p:sp>
      <p:pic>
        <p:nvPicPr>
          <p:cNvPr id="14" name="Image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3063240"/>
            <a:ext cx="228600" cy="228600"/>
          </a:xfrm>
          <a:prstGeom prst="rect">
            <a:avLst/>
          </a:prstGeom>
        </p:spPr>
      </p:pic>
      <p:sp>
        <p:nvSpPr>
          <p:cNvPr id="15" name="Text 7">
            <a:extLst>
              <a:ext uri="{FF2B5EF4-FFF2-40B4-BE49-F238E27FC236}">
                <a16:creationId xmlns:a16="http://schemas.microsoft.com/office/drawing/2014/main" id="{9750A2EA-B6DA-4F37-923E-8A24EC3A422A}"/>
              </a:ext>
            </a:extLst>
          </p:cNvPr>
          <p:cNvSpPr>
            <a:spLocks noGrp="1"/>
          </p:cNvSpPr>
          <p:nvPr/>
        </p:nvSpPr>
        <p:spPr>
          <a:xfrm>
            <a:off x="822960" y="3017520"/>
            <a:ext cx="82296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>
                <a:solidFill>
                  <a:srgbClr val="003C54"/>
                </a:solidFill>
              </a:rPr>
              <a:t>Hands‑on lab building an orchestrated pipeline</a:t>
            </a:r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AE1B8AEF-8D17-4587-A83C-F5170A9D5003}"/>
              </a:ext>
            </a:extLst>
          </p:cNvPr>
          <p:cNvSpPr>
            <a:spLocks noGrp="1"/>
          </p:cNvSpPr>
          <p:nvPr/>
        </p:nvSpPr>
        <p:spPr>
          <a:xfrm>
            <a:off x="457200" y="630936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600" u="sng">
                <a:solidFill>
                  <a:srgbClr val="0066CC"/>
                </a:solidFill>
                <a:hlinkClick r:id="rId9"/>
              </a:rPr>
              <a:t>[1]</a:t>
            </a:r>
            <a:r>
              <a:rPr sz="600">
                <a:solidFill>
                  <a:srgbClr val="000000"/>
                </a:solidFill>
              </a:rPr>
              <a:t>   </a:t>
            </a:r>
            <a:r>
              <a:rPr sz="600" u="sng">
                <a:solidFill>
                  <a:srgbClr val="0066CC"/>
                </a:solidFill>
                <a:hlinkClick r:id="rId10"/>
              </a:rPr>
              <a:t>[2]</a:t>
            </a:r>
          </a:p>
        </p:txBody>
      </p:sp>
    </p:spTree>
    <p:extLst>
      <p:ext uri="{BB962C8B-B14F-4D97-AF65-F5344CB8AC3E}">
        <p14:creationId xmlns:p14="http://schemas.microsoft.com/office/powerpoint/2010/main" val="7139962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3F2020D-8A8F-4910-9239-EA55C911872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B3D51"/>
          </a:solidFill>
          <a:ln w="12700">
            <a:solidFill>
              <a:srgbClr val="0B3D5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CE4F34E-DEBC-4D5D-AF2A-786BEE27B09C}"/>
              </a:ext>
            </a:extLst>
          </p:cNvPr>
          <p:cNvSpPr>
            <a:spLocks noGrp="1"/>
          </p:cNvSpPr>
          <p:nvPr/>
        </p:nvSpPr>
        <p:spPr>
          <a:xfrm>
            <a:off x="457200" y="91440"/>
            <a:ext cx="73152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2000" b="1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3115A6E-1CED-45DA-B814-A5F79D4A9CBF}"/>
              </a:ext>
            </a:extLst>
          </p:cNvPr>
          <p:cNvSpPr>
            <a:spLocks noGrp="1"/>
          </p:cNvSpPr>
          <p:nvPr/>
        </p:nvSpPr>
        <p:spPr>
          <a:xfrm>
            <a:off x="365760" y="777240"/>
            <a:ext cx="182880" cy="182880"/>
          </a:xfrm>
          <a:prstGeom prst="ellipse">
            <a:avLst/>
          </a:prstGeom>
          <a:solidFill>
            <a:srgbClr val="007ACC"/>
          </a:solidFill>
          <a:ln w="12700">
            <a:solidFill>
              <a:srgbClr val="007A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048B86E-EEA0-48D1-8ECC-C78E162B6C19}"/>
              </a:ext>
            </a:extLst>
          </p:cNvPr>
          <p:cNvSpPr>
            <a:spLocks noGrp="1"/>
          </p:cNvSpPr>
          <p:nvPr/>
        </p:nvSpPr>
        <p:spPr>
          <a:xfrm>
            <a:off x="411480" y="777240"/>
            <a:ext cx="182880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3FC44BF-3365-412F-85B0-2658DD6E1EC7}"/>
              </a:ext>
            </a:extLst>
          </p:cNvPr>
          <p:cNvSpPr>
            <a:spLocks noGrp="1"/>
          </p:cNvSpPr>
          <p:nvPr/>
        </p:nvSpPr>
        <p:spPr>
          <a:xfrm>
            <a:off x="731520" y="731520"/>
            <a:ext cx="77724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003C54"/>
                </a:solidFill>
              </a:rPr>
              <a:t>Day 7 recap &amp; motivation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50CBFB0F-4D7F-4192-A6DA-AF4147684244}"/>
              </a:ext>
            </a:extLst>
          </p:cNvPr>
          <p:cNvSpPr>
            <a:spLocks noGrp="1"/>
          </p:cNvSpPr>
          <p:nvPr/>
        </p:nvSpPr>
        <p:spPr>
          <a:xfrm>
            <a:off x="365760" y="1143000"/>
            <a:ext cx="182880" cy="182880"/>
          </a:xfrm>
          <a:prstGeom prst="ellipse">
            <a:avLst/>
          </a:prstGeom>
          <a:solidFill>
            <a:srgbClr val="007ACC"/>
          </a:solidFill>
          <a:ln w="12700">
            <a:solidFill>
              <a:srgbClr val="007A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025F4CA-ACA4-404D-83CC-BD732296976C}"/>
              </a:ext>
            </a:extLst>
          </p:cNvPr>
          <p:cNvSpPr>
            <a:spLocks noGrp="1"/>
          </p:cNvSpPr>
          <p:nvPr/>
        </p:nvSpPr>
        <p:spPr>
          <a:xfrm>
            <a:off x="411480" y="1143000"/>
            <a:ext cx="182880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587858D-F971-491F-B5D3-771608C77BF1}"/>
              </a:ext>
            </a:extLst>
          </p:cNvPr>
          <p:cNvSpPr>
            <a:spLocks noGrp="1"/>
          </p:cNvSpPr>
          <p:nvPr/>
        </p:nvSpPr>
        <p:spPr>
          <a:xfrm>
            <a:off x="731520" y="1097280"/>
            <a:ext cx="77724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003C54"/>
                </a:solidFill>
              </a:rPr>
              <a:t>Airflow architecture &amp; components</a:t>
            </a: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44B38806-CA44-48E3-A872-99CFAB0561F6}"/>
              </a:ext>
            </a:extLst>
          </p:cNvPr>
          <p:cNvSpPr>
            <a:spLocks noGrp="1"/>
          </p:cNvSpPr>
          <p:nvPr/>
        </p:nvSpPr>
        <p:spPr>
          <a:xfrm>
            <a:off x="365760" y="1508760"/>
            <a:ext cx="182880" cy="182880"/>
          </a:xfrm>
          <a:prstGeom prst="ellipse">
            <a:avLst/>
          </a:prstGeom>
          <a:solidFill>
            <a:srgbClr val="007ACC"/>
          </a:solidFill>
          <a:ln w="12700">
            <a:solidFill>
              <a:srgbClr val="007A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3D93C5DA-34BD-4568-A586-F78A874DFC70}"/>
              </a:ext>
            </a:extLst>
          </p:cNvPr>
          <p:cNvSpPr>
            <a:spLocks noGrp="1"/>
          </p:cNvSpPr>
          <p:nvPr/>
        </p:nvSpPr>
        <p:spPr>
          <a:xfrm>
            <a:off x="411480" y="1508760"/>
            <a:ext cx="182880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CA46422C-DB2E-4F09-8740-B3E33D76C2D3}"/>
              </a:ext>
            </a:extLst>
          </p:cNvPr>
          <p:cNvSpPr>
            <a:spLocks noGrp="1"/>
          </p:cNvSpPr>
          <p:nvPr/>
        </p:nvSpPr>
        <p:spPr>
          <a:xfrm>
            <a:off x="731520" y="1463040"/>
            <a:ext cx="77724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003C54"/>
                </a:solidFill>
              </a:rPr>
              <a:t>DAG fundamentals &amp; authoring</a:t>
            </a: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EDB7046D-49E2-4EB2-BC08-48AA959A12B1}"/>
              </a:ext>
            </a:extLst>
          </p:cNvPr>
          <p:cNvSpPr>
            <a:spLocks noGrp="1"/>
          </p:cNvSpPr>
          <p:nvPr/>
        </p:nvSpPr>
        <p:spPr>
          <a:xfrm>
            <a:off x="365760" y="1874520"/>
            <a:ext cx="182880" cy="182880"/>
          </a:xfrm>
          <a:prstGeom prst="ellipse">
            <a:avLst/>
          </a:prstGeom>
          <a:solidFill>
            <a:srgbClr val="007ACC"/>
          </a:solidFill>
          <a:ln w="12700">
            <a:solidFill>
              <a:srgbClr val="007A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948242FB-0BF5-47D3-A9D3-696EE11ECD2D}"/>
              </a:ext>
            </a:extLst>
          </p:cNvPr>
          <p:cNvSpPr>
            <a:spLocks noGrp="1"/>
          </p:cNvSpPr>
          <p:nvPr/>
        </p:nvSpPr>
        <p:spPr>
          <a:xfrm>
            <a:off x="411480" y="1874520"/>
            <a:ext cx="182880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023C7F40-CB56-48D0-B049-AB1BE2FCC931}"/>
              </a:ext>
            </a:extLst>
          </p:cNvPr>
          <p:cNvSpPr>
            <a:spLocks noGrp="1"/>
          </p:cNvSpPr>
          <p:nvPr/>
        </p:nvSpPr>
        <p:spPr>
          <a:xfrm>
            <a:off x="731520" y="1828800"/>
            <a:ext cx="77724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003C54"/>
                </a:solidFill>
              </a:rPr>
              <a:t>Tasks: operators, sensors &amp; TaskFlow</a:t>
            </a: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37B3DBA3-A248-4562-871E-E2EFE3F53AD2}"/>
              </a:ext>
            </a:extLst>
          </p:cNvPr>
          <p:cNvSpPr>
            <a:spLocks noGrp="1"/>
          </p:cNvSpPr>
          <p:nvPr/>
        </p:nvSpPr>
        <p:spPr>
          <a:xfrm>
            <a:off x="365760" y="2240280"/>
            <a:ext cx="182880" cy="182880"/>
          </a:xfrm>
          <a:prstGeom prst="ellipse">
            <a:avLst/>
          </a:prstGeom>
          <a:solidFill>
            <a:srgbClr val="007ACC"/>
          </a:solidFill>
          <a:ln w="12700">
            <a:solidFill>
              <a:srgbClr val="007A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C002C76F-CEBA-4E0F-8FD4-ECD7988E1639}"/>
              </a:ext>
            </a:extLst>
          </p:cNvPr>
          <p:cNvSpPr>
            <a:spLocks noGrp="1"/>
          </p:cNvSpPr>
          <p:nvPr/>
        </p:nvSpPr>
        <p:spPr>
          <a:xfrm>
            <a:off x="411480" y="2240280"/>
            <a:ext cx="182880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F2C2FE3A-F253-4FA2-B93F-FDD3BCBAF7C8}"/>
              </a:ext>
            </a:extLst>
          </p:cNvPr>
          <p:cNvSpPr>
            <a:spLocks noGrp="1"/>
          </p:cNvSpPr>
          <p:nvPr/>
        </p:nvSpPr>
        <p:spPr>
          <a:xfrm>
            <a:off x="731520" y="2194560"/>
            <a:ext cx="77724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003C54"/>
                </a:solidFill>
              </a:rPr>
              <a:t>Scheduling &amp; triggers</a:t>
            </a: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FFFAFED5-5A09-4462-9F1D-8BC74F9A6FD3}"/>
              </a:ext>
            </a:extLst>
          </p:cNvPr>
          <p:cNvSpPr>
            <a:spLocks noGrp="1"/>
          </p:cNvSpPr>
          <p:nvPr/>
        </p:nvSpPr>
        <p:spPr>
          <a:xfrm>
            <a:off x="365760" y="2606040"/>
            <a:ext cx="182880" cy="182880"/>
          </a:xfrm>
          <a:prstGeom prst="ellipse">
            <a:avLst/>
          </a:prstGeom>
          <a:solidFill>
            <a:srgbClr val="007ACC"/>
          </a:solidFill>
          <a:ln w="12700">
            <a:solidFill>
              <a:srgbClr val="007A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E5112A8A-D475-482E-9A70-22A5E05F304B}"/>
              </a:ext>
            </a:extLst>
          </p:cNvPr>
          <p:cNvSpPr>
            <a:spLocks noGrp="1"/>
          </p:cNvSpPr>
          <p:nvPr/>
        </p:nvSpPr>
        <p:spPr>
          <a:xfrm>
            <a:off x="411480" y="2606040"/>
            <a:ext cx="182880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F0AD7CF4-BA5C-4E14-8F00-6CB20826CAAE}"/>
              </a:ext>
            </a:extLst>
          </p:cNvPr>
          <p:cNvSpPr>
            <a:spLocks noGrp="1"/>
          </p:cNvSpPr>
          <p:nvPr/>
        </p:nvSpPr>
        <p:spPr>
          <a:xfrm>
            <a:off x="731520" y="2560320"/>
            <a:ext cx="77724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003C54"/>
                </a:solidFill>
              </a:rPr>
              <a:t>XComs &amp; variables</a:t>
            </a: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6FDB58DD-F0C3-4FFD-B4F1-87DE52E3F938}"/>
              </a:ext>
            </a:extLst>
          </p:cNvPr>
          <p:cNvSpPr>
            <a:spLocks noGrp="1"/>
          </p:cNvSpPr>
          <p:nvPr/>
        </p:nvSpPr>
        <p:spPr>
          <a:xfrm>
            <a:off x="365760" y="2971800"/>
            <a:ext cx="182880" cy="182880"/>
          </a:xfrm>
          <a:prstGeom prst="ellipse">
            <a:avLst/>
          </a:prstGeom>
          <a:solidFill>
            <a:srgbClr val="007ACC"/>
          </a:solidFill>
          <a:ln w="12700">
            <a:solidFill>
              <a:srgbClr val="007A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5362B0A3-3B5B-44FF-A44D-6050EAD917EE}"/>
              </a:ext>
            </a:extLst>
          </p:cNvPr>
          <p:cNvSpPr>
            <a:spLocks noGrp="1"/>
          </p:cNvSpPr>
          <p:nvPr/>
        </p:nvSpPr>
        <p:spPr>
          <a:xfrm>
            <a:off x="411480" y="2971800"/>
            <a:ext cx="182880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AC40E592-3865-4472-8519-4ABC10CACA9C}"/>
              </a:ext>
            </a:extLst>
          </p:cNvPr>
          <p:cNvSpPr>
            <a:spLocks noGrp="1"/>
          </p:cNvSpPr>
          <p:nvPr/>
        </p:nvSpPr>
        <p:spPr>
          <a:xfrm>
            <a:off x="731520" y="2926080"/>
            <a:ext cx="77724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003C54"/>
                </a:solidFill>
              </a:rPr>
              <a:t>Best practices &amp; observability</a:t>
            </a: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41685807-F03B-4E05-B265-F5B65ACAEF52}"/>
              </a:ext>
            </a:extLst>
          </p:cNvPr>
          <p:cNvSpPr>
            <a:spLocks noGrp="1"/>
          </p:cNvSpPr>
          <p:nvPr/>
        </p:nvSpPr>
        <p:spPr>
          <a:xfrm>
            <a:off x="365760" y="3337560"/>
            <a:ext cx="182880" cy="182880"/>
          </a:xfrm>
          <a:prstGeom prst="ellipse">
            <a:avLst/>
          </a:prstGeom>
          <a:solidFill>
            <a:srgbClr val="007ACC"/>
          </a:solidFill>
          <a:ln w="12700">
            <a:solidFill>
              <a:srgbClr val="007A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CD553B61-9F1B-488D-8F70-62D1BE53FBFC}"/>
              </a:ext>
            </a:extLst>
          </p:cNvPr>
          <p:cNvSpPr>
            <a:spLocks noGrp="1"/>
          </p:cNvSpPr>
          <p:nvPr/>
        </p:nvSpPr>
        <p:spPr>
          <a:xfrm>
            <a:off x="411480" y="3337560"/>
            <a:ext cx="182880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095E4714-248D-4978-BD1F-34F9B3020064}"/>
              </a:ext>
            </a:extLst>
          </p:cNvPr>
          <p:cNvSpPr>
            <a:spLocks noGrp="1"/>
          </p:cNvSpPr>
          <p:nvPr/>
        </p:nvSpPr>
        <p:spPr>
          <a:xfrm>
            <a:off x="731520" y="3291840"/>
            <a:ext cx="77724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003C54"/>
                </a:solidFill>
              </a:rPr>
              <a:t>Lab &amp; mini exercises</a:t>
            </a:r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475928E0-BE46-4794-9873-21F8D467D9F1}"/>
              </a:ext>
            </a:extLst>
          </p:cNvPr>
          <p:cNvSpPr>
            <a:spLocks noGrp="1"/>
          </p:cNvSpPr>
          <p:nvPr/>
        </p:nvSpPr>
        <p:spPr>
          <a:xfrm>
            <a:off x="365760" y="3703320"/>
            <a:ext cx="182880" cy="182880"/>
          </a:xfrm>
          <a:prstGeom prst="ellipse">
            <a:avLst/>
          </a:prstGeom>
          <a:solidFill>
            <a:srgbClr val="007ACC"/>
          </a:solidFill>
          <a:ln w="12700">
            <a:solidFill>
              <a:srgbClr val="007A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8A3A988D-AC1C-4CB5-A79B-D8FDF45F4D72}"/>
              </a:ext>
            </a:extLst>
          </p:cNvPr>
          <p:cNvSpPr>
            <a:spLocks noGrp="1"/>
          </p:cNvSpPr>
          <p:nvPr/>
        </p:nvSpPr>
        <p:spPr>
          <a:xfrm>
            <a:off x="411480" y="3703320"/>
            <a:ext cx="182880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46A28F94-3195-4F67-BDF2-9BCE73CC6276}"/>
              </a:ext>
            </a:extLst>
          </p:cNvPr>
          <p:cNvSpPr>
            <a:spLocks noGrp="1"/>
          </p:cNvSpPr>
          <p:nvPr/>
        </p:nvSpPr>
        <p:spPr>
          <a:xfrm>
            <a:off x="731520" y="3657600"/>
            <a:ext cx="77724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003C54"/>
                </a:solidFill>
              </a:rPr>
              <a:t>Quiz &amp; recap</a:t>
            </a:r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76B3BB2F-1E99-4406-B7BB-1EEE8585FE4E}"/>
              </a:ext>
            </a:extLst>
          </p:cNvPr>
          <p:cNvSpPr>
            <a:spLocks noGrp="1"/>
          </p:cNvSpPr>
          <p:nvPr/>
        </p:nvSpPr>
        <p:spPr>
          <a:xfrm>
            <a:off x="457200" y="630936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600" u="sng">
                <a:solidFill>
                  <a:srgbClr val="0066CC"/>
                </a:solidFill>
                <a:hlinkClick r:id="rId3"/>
              </a:rPr>
              <a:t>[1]</a:t>
            </a:r>
          </a:p>
        </p:txBody>
      </p:sp>
    </p:spTree>
    <p:extLst>
      <p:ext uri="{BB962C8B-B14F-4D97-AF65-F5344CB8AC3E}">
        <p14:creationId xmlns:p14="http://schemas.microsoft.com/office/powerpoint/2010/main" val="20122419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E4C1CE2-FB8E-49E6-A186-2D275C48615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B3D51"/>
          </a:solidFill>
          <a:ln w="12700">
            <a:solidFill>
              <a:srgbClr val="0B3D5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BE09781-14AB-43E6-A838-D7866DFF3FC2}"/>
              </a:ext>
            </a:extLst>
          </p:cNvPr>
          <p:cNvSpPr>
            <a:spLocks noGrp="1"/>
          </p:cNvSpPr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800" b="1">
                <a:solidFill>
                  <a:srgbClr val="FFFFFF"/>
                </a:solidFill>
              </a:rPr>
              <a:t>Recap: From Table Formats to Orchestration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E850708-27C7-496B-9281-48D7E923098C}"/>
              </a:ext>
            </a:extLst>
          </p:cNvPr>
          <p:cNvSpPr>
            <a:spLocks noGrp="1"/>
          </p:cNvSpPr>
          <p:nvPr/>
        </p:nvSpPr>
        <p:spPr>
          <a:xfrm>
            <a:off x="457200" y="640080"/>
            <a:ext cx="4572000" cy="10972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 b="1">
                <a:solidFill>
                  <a:srgbClr val="003C54"/>
                </a:solidFill>
              </a:rPr>
              <a:t>Yesterday we explored modern table formats (Iceberg, Delta, Hudi) and how to layer data into Bronze, Silver and Gold tables.
</a:t>
            </a:r>
            <a:r>
              <a:rPr sz="1200">
                <a:solidFill>
                  <a:srgbClr val="003C54"/>
                </a:solidFill>
              </a:rPr>
              <a:t>Today we focus on orchestrating these pipelines: sequencing ingestion, transformation and validation tasks with Airflow.</a:t>
            </a: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A78D5AF-F756-4ACA-9334-BF12E4E22768}"/>
              </a:ext>
            </a:extLst>
          </p:cNvPr>
          <p:cNvSpPr>
            <a:spLocks noGrp="1"/>
          </p:cNvSpPr>
          <p:nvPr/>
        </p:nvSpPr>
        <p:spPr>
          <a:xfrm>
            <a:off x="5486400" y="640080"/>
            <a:ext cx="1097280" cy="457200"/>
          </a:xfrm>
          <a:prstGeom prst="roundRect">
            <a:avLst>
              <a:gd name="adj" fmla="val 20000"/>
            </a:avLst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A28AC02-1DFC-4163-A37B-D9C0155A9802}"/>
              </a:ext>
            </a:extLst>
          </p:cNvPr>
          <p:cNvSpPr>
            <a:spLocks noGrp="1"/>
          </p:cNvSpPr>
          <p:nvPr/>
        </p:nvSpPr>
        <p:spPr>
          <a:xfrm>
            <a:off x="5486400" y="640080"/>
            <a:ext cx="109728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</a:rPr>
              <a:t>Bronze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EB3A1A6C-E6A6-40F1-AF81-63F941B71520}"/>
              </a:ext>
            </a:extLst>
          </p:cNvPr>
          <p:cNvSpPr>
            <a:spLocks noGrp="1"/>
          </p:cNvSpPr>
          <p:nvPr/>
        </p:nvSpPr>
        <p:spPr>
          <a:xfrm>
            <a:off x="6675120" y="731520"/>
            <a:ext cx="457200" cy="274320"/>
          </a:xfrm>
          <a:prstGeom prst="rightArrow">
            <a:avLst/>
          </a:prstGeom>
          <a:solidFill>
            <a:srgbClr val="007ACC"/>
          </a:solidFill>
          <a:ln w="12700">
            <a:solidFill>
              <a:srgbClr val="007A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C9DDB7A-102F-41C9-BB8E-C402BD78A398}"/>
              </a:ext>
            </a:extLst>
          </p:cNvPr>
          <p:cNvSpPr>
            <a:spLocks noGrp="1"/>
          </p:cNvSpPr>
          <p:nvPr/>
        </p:nvSpPr>
        <p:spPr>
          <a:xfrm>
            <a:off x="6675120" y="1005840"/>
            <a:ext cx="4572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700">
                <a:solidFill>
                  <a:srgbClr val="6A6A6A"/>
                </a:solidFill>
              </a:rPr>
              <a:t>transform</a:t>
            </a: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7CE52547-F2DF-4E81-9C27-5A619E284D14}"/>
              </a:ext>
            </a:extLst>
          </p:cNvPr>
          <p:cNvSpPr>
            <a:spLocks noGrp="1"/>
          </p:cNvSpPr>
          <p:nvPr/>
        </p:nvSpPr>
        <p:spPr>
          <a:xfrm>
            <a:off x="7315200" y="640080"/>
            <a:ext cx="1097280" cy="457200"/>
          </a:xfrm>
          <a:prstGeom prst="roundRect">
            <a:avLst>
              <a:gd name="adj" fmla="val 20000"/>
            </a:avLst>
          </a:prstGeom>
          <a:solidFill>
            <a:srgbClr val="00A78D"/>
          </a:solidFill>
          <a:ln w="12700">
            <a:solidFill>
              <a:srgbClr val="00A78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CC184FA1-3CAF-4371-B1B5-7698DDA034DD}"/>
              </a:ext>
            </a:extLst>
          </p:cNvPr>
          <p:cNvSpPr>
            <a:spLocks noGrp="1"/>
          </p:cNvSpPr>
          <p:nvPr/>
        </p:nvSpPr>
        <p:spPr>
          <a:xfrm>
            <a:off x="7315200" y="640080"/>
            <a:ext cx="109728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</a:rPr>
              <a:t>Silver</a:t>
            </a: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130380DF-D503-4C2E-B1B5-1A872A4666AF}"/>
              </a:ext>
            </a:extLst>
          </p:cNvPr>
          <p:cNvSpPr>
            <a:spLocks noGrp="1"/>
          </p:cNvSpPr>
          <p:nvPr/>
        </p:nvSpPr>
        <p:spPr>
          <a:xfrm>
            <a:off x="8503920" y="731520"/>
            <a:ext cx="457200" cy="274320"/>
          </a:xfrm>
          <a:prstGeom prst="rightArrow">
            <a:avLst/>
          </a:prstGeom>
          <a:solidFill>
            <a:srgbClr val="007ACC"/>
          </a:solidFill>
          <a:ln w="12700">
            <a:solidFill>
              <a:srgbClr val="007A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9857AF6B-CB27-436B-B4B7-2733B49C62C0}"/>
              </a:ext>
            </a:extLst>
          </p:cNvPr>
          <p:cNvSpPr>
            <a:spLocks noGrp="1"/>
          </p:cNvSpPr>
          <p:nvPr/>
        </p:nvSpPr>
        <p:spPr>
          <a:xfrm>
            <a:off x="8503920" y="1005840"/>
            <a:ext cx="4572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700">
                <a:solidFill>
                  <a:srgbClr val="6A6A6A"/>
                </a:solidFill>
              </a:rPr>
              <a:t>load</a:t>
            </a: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74FA145A-A59E-4C2C-AFB1-DD280BC01FEF}"/>
              </a:ext>
            </a:extLst>
          </p:cNvPr>
          <p:cNvSpPr>
            <a:spLocks noGrp="1"/>
          </p:cNvSpPr>
          <p:nvPr/>
        </p:nvSpPr>
        <p:spPr>
          <a:xfrm>
            <a:off x="9144000" y="640080"/>
            <a:ext cx="1097280" cy="457200"/>
          </a:xfrm>
          <a:prstGeom prst="roundRect">
            <a:avLst>
              <a:gd name="adj" fmla="val 20000"/>
            </a:avLst>
          </a:prstGeom>
          <a:solidFill>
            <a:srgbClr val="007ACC"/>
          </a:solidFill>
          <a:ln w="12700">
            <a:solidFill>
              <a:srgbClr val="007A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B473170E-5F80-4138-901E-01C61AB84A0E}"/>
              </a:ext>
            </a:extLst>
          </p:cNvPr>
          <p:cNvSpPr>
            <a:spLocks noGrp="1"/>
          </p:cNvSpPr>
          <p:nvPr/>
        </p:nvSpPr>
        <p:spPr>
          <a:xfrm>
            <a:off x="9144000" y="640080"/>
            <a:ext cx="109728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</a:rPr>
              <a:t>Gold</a:t>
            </a: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8876895F-B61E-4831-9C69-6FB491C38F66}"/>
              </a:ext>
            </a:extLst>
          </p:cNvPr>
          <p:cNvSpPr>
            <a:spLocks noGrp="1"/>
          </p:cNvSpPr>
          <p:nvPr/>
        </p:nvSpPr>
        <p:spPr>
          <a:xfrm>
            <a:off x="5669280" y="1188720"/>
            <a:ext cx="3657600" cy="18288"/>
          </a:xfrm>
          <a:prstGeom prst="rect">
            <a:avLst/>
          </a:prstGeom>
          <a:solidFill>
            <a:srgbClr val="6A6A6A"/>
          </a:solidFill>
          <a:ln w="12700">
            <a:solidFill>
              <a:srgbClr val="6A6A6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C6FD9197-CCE5-4D78-9B73-97EEDE020499}"/>
              </a:ext>
            </a:extLst>
          </p:cNvPr>
          <p:cNvSpPr>
            <a:spLocks noGrp="1"/>
          </p:cNvSpPr>
          <p:nvPr/>
        </p:nvSpPr>
        <p:spPr>
          <a:xfrm>
            <a:off x="5486400" y="1234440"/>
            <a:ext cx="45720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800" i="1">
                <a:solidFill>
                  <a:srgbClr val="6A6A6A"/>
                </a:solidFill>
              </a:rPr>
              <a:t>Airflow orchestrates the movement from Bronze to Gold</a:t>
            </a: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FCD0F78C-22BF-4752-AF2B-711F79EC6C11}"/>
              </a:ext>
            </a:extLst>
          </p:cNvPr>
          <p:cNvSpPr>
            <a:spLocks noGrp="1"/>
          </p:cNvSpPr>
          <p:nvPr/>
        </p:nvSpPr>
        <p:spPr>
          <a:xfrm>
            <a:off x="457200" y="630936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600" u="sng">
                <a:solidFill>
                  <a:srgbClr val="0066CC"/>
                </a:solidFill>
                <a:hlinkClick r:id="rId3"/>
              </a:rPr>
              <a:t>[1]</a:t>
            </a:r>
            <a:r>
              <a:rPr sz="600">
                <a:solidFill>
                  <a:srgbClr val="000000"/>
                </a:solidFill>
              </a:rPr>
              <a:t>   </a:t>
            </a:r>
            <a:r>
              <a:rPr sz="600" u="sng">
                <a:solidFill>
                  <a:srgbClr val="0066CC"/>
                </a:solidFill>
                <a:hlinkClick r:id="rId4"/>
              </a:rPr>
              <a:t>[2]</a:t>
            </a:r>
          </a:p>
        </p:txBody>
      </p:sp>
    </p:spTree>
    <p:extLst>
      <p:ext uri="{BB962C8B-B14F-4D97-AF65-F5344CB8AC3E}">
        <p14:creationId xmlns:p14="http://schemas.microsoft.com/office/powerpoint/2010/main" val="2844376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5068361-330A-4A64-A25B-F99BDD32A74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B3D51"/>
          </a:solidFill>
          <a:ln w="12700">
            <a:solidFill>
              <a:srgbClr val="0B3D5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96B199B-7A9C-4CB8-AFDD-F6FE0D724FA1}"/>
              </a:ext>
            </a:extLst>
          </p:cNvPr>
          <p:cNvSpPr>
            <a:spLocks noGrp="1"/>
          </p:cNvSpPr>
          <p:nvPr/>
        </p:nvSpPr>
        <p:spPr>
          <a:xfrm>
            <a:off x="457200" y="91440"/>
            <a:ext cx="73152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800" b="1">
                <a:solidFill>
                  <a:srgbClr val="FFFFFF"/>
                </a:solidFill>
              </a:rPr>
              <a:t>Core Components of Airflow</a:t>
            </a:r>
          </a:p>
        </p:txBody>
      </p:sp>
      <p:pic>
        <p:nvPicPr>
          <p:cNvPr id="4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548640"/>
            <a:ext cx="274320" cy="274320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E7CF96E6-1447-445E-8709-CCBD5ADBDFF2}"/>
              </a:ext>
            </a:extLst>
          </p:cNvPr>
          <p:cNvSpPr>
            <a:spLocks noGrp="1"/>
          </p:cNvSpPr>
          <p:nvPr/>
        </p:nvSpPr>
        <p:spPr>
          <a:xfrm>
            <a:off x="731520" y="548640"/>
            <a:ext cx="2743200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 b="1">
                <a:solidFill>
                  <a:srgbClr val="003C54"/>
                </a:solidFill>
              </a:rPr>
              <a:t>Scheduler</a:t>
            </a: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96525B8-ACAE-47D0-8BC0-9A82C166BCEB}"/>
              </a:ext>
            </a:extLst>
          </p:cNvPr>
          <p:cNvSpPr>
            <a:spLocks noGrp="1"/>
          </p:cNvSpPr>
          <p:nvPr/>
        </p:nvSpPr>
        <p:spPr>
          <a:xfrm>
            <a:off x="731520" y="713232"/>
            <a:ext cx="45720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900">
                <a:solidFill>
                  <a:srgbClr val="6A6A6A"/>
                </a:solidFill>
              </a:rPr>
              <a:t>Monitors DAGs &amp; tasks, schedules execution when dependencies are met.</a:t>
            </a:r>
          </a:p>
        </p:txBody>
      </p:sp>
      <p:pic>
        <p:nvPicPr>
          <p:cNvPr id="7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097280"/>
            <a:ext cx="274320" cy="274320"/>
          </a:xfrm>
          <a:prstGeom prst="rect">
            <a:avLst/>
          </a:prstGeom>
        </p:spPr>
      </p:pic>
      <p:sp>
        <p:nvSpPr>
          <p:cNvPr id="8" name="Text 4">
            <a:extLst>
              <a:ext uri="{FF2B5EF4-FFF2-40B4-BE49-F238E27FC236}">
                <a16:creationId xmlns:a16="http://schemas.microsoft.com/office/drawing/2014/main" id="{59502F99-8A44-4186-9300-5E2E54D2FA11}"/>
              </a:ext>
            </a:extLst>
          </p:cNvPr>
          <p:cNvSpPr>
            <a:spLocks noGrp="1"/>
          </p:cNvSpPr>
          <p:nvPr/>
        </p:nvSpPr>
        <p:spPr>
          <a:xfrm>
            <a:off x="731520" y="1097280"/>
            <a:ext cx="2743200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 b="1">
                <a:solidFill>
                  <a:srgbClr val="003C54"/>
                </a:solidFill>
              </a:rPr>
              <a:t>DAG processor</a:t>
            </a: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2B437298-EF40-4A35-9C62-CAA248FF0666}"/>
              </a:ext>
            </a:extLst>
          </p:cNvPr>
          <p:cNvSpPr>
            <a:spLocks noGrp="1"/>
          </p:cNvSpPr>
          <p:nvPr/>
        </p:nvSpPr>
        <p:spPr>
          <a:xfrm>
            <a:off x="731520" y="1261872"/>
            <a:ext cx="45720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900">
                <a:solidFill>
                  <a:srgbClr val="6A6A6A"/>
                </a:solidFill>
              </a:rPr>
              <a:t>Parses DAG files and serializes definitions to the metadata database.</a:t>
            </a:r>
          </a:p>
        </p:txBody>
      </p:sp>
      <p:pic>
        <p:nvPicPr>
          <p:cNvPr id="10" name="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1645920"/>
            <a:ext cx="274320" cy="274320"/>
          </a:xfrm>
          <a:prstGeom prst="rect">
            <a:avLst/>
          </a:prstGeom>
        </p:spPr>
      </p:pic>
      <p:sp>
        <p:nvSpPr>
          <p:cNvPr id="11" name="Text 6">
            <a:extLst>
              <a:ext uri="{FF2B5EF4-FFF2-40B4-BE49-F238E27FC236}">
                <a16:creationId xmlns:a16="http://schemas.microsoft.com/office/drawing/2014/main" id="{82CF9AA5-BE8D-41DE-9D6F-D13974B24287}"/>
              </a:ext>
            </a:extLst>
          </p:cNvPr>
          <p:cNvSpPr>
            <a:spLocks noGrp="1"/>
          </p:cNvSpPr>
          <p:nvPr/>
        </p:nvSpPr>
        <p:spPr>
          <a:xfrm>
            <a:off x="731520" y="1645920"/>
            <a:ext cx="2743200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 b="1">
                <a:solidFill>
                  <a:srgbClr val="003C54"/>
                </a:solidFill>
              </a:rPr>
              <a:t>Webserver/API</a:t>
            </a:r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FDD912A6-A905-46BA-97CF-816F060FD8F6}"/>
              </a:ext>
            </a:extLst>
          </p:cNvPr>
          <p:cNvSpPr>
            <a:spLocks noGrp="1"/>
          </p:cNvSpPr>
          <p:nvPr/>
        </p:nvSpPr>
        <p:spPr>
          <a:xfrm>
            <a:off x="731520" y="1810512"/>
            <a:ext cx="45720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900">
                <a:solidFill>
                  <a:srgbClr val="6A6A6A"/>
                </a:solidFill>
              </a:rPr>
              <a:t>FastAPI server serving the UI and APIs for workers and users.</a:t>
            </a:r>
          </a:p>
        </p:txBody>
      </p:sp>
      <p:pic>
        <p:nvPicPr>
          <p:cNvPr id="13" name="Imag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2194560"/>
            <a:ext cx="274320" cy="274320"/>
          </a:xfrm>
          <a:prstGeom prst="rect">
            <a:avLst/>
          </a:prstGeom>
        </p:spPr>
      </p:pic>
      <p:sp>
        <p:nvSpPr>
          <p:cNvPr id="14" name="Text 8">
            <a:extLst>
              <a:ext uri="{FF2B5EF4-FFF2-40B4-BE49-F238E27FC236}">
                <a16:creationId xmlns:a16="http://schemas.microsoft.com/office/drawing/2014/main" id="{74419067-27BF-438B-946E-FDB5D564EFE8}"/>
              </a:ext>
            </a:extLst>
          </p:cNvPr>
          <p:cNvSpPr>
            <a:spLocks noGrp="1"/>
          </p:cNvSpPr>
          <p:nvPr/>
        </p:nvSpPr>
        <p:spPr>
          <a:xfrm>
            <a:off x="731520" y="2194560"/>
            <a:ext cx="2743200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 b="1">
                <a:solidFill>
                  <a:srgbClr val="003C54"/>
                </a:solidFill>
              </a:rPr>
              <a:t>Metadata DB</a:t>
            </a:r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854AAC6D-8A03-4F1D-9A52-7D0A80E6E732}"/>
              </a:ext>
            </a:extLst>
          </p:cNvPr>
          <p:cNvSpPr>
            <a:spLocks noGrp="1"/>
          </p:cNvSpPr>
          <p:nvPr/>
        </p:nvSpPr>
        <p:spPr>
          <a:xfrm>
            <a:off x="731520" y="2359152"/>
            <a:ext cx="45720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900">
                <a:solidFill>
                  <a:srgbClr val="6A6A6A"/>
                </a:solidFill>
              </a:rPr>
              <a:t>Stores DAGs, task states, connections and XComs.</a:t>
            </a:r>
          </a:p>
        </p:txBody>
      </p:sp>
      <p:pic>
        <p:nvPicPr>
          <p:cNvPr id="16" name="Imag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760" y="2743200"/>
            <a:ext cx="274320" cy="274320"/>
          </a:xfrm>
          <a:prstGeom prst="rect">
            <a:avLst/>
          </a:prstGeom>
        </p:spPr>
      </p:pic>
      <p:sp>
        <p:nvSpPr>
          <p:cNvPr id="17" name="Text 10">
            <a:extLst>
              <a:ext uri="{FF2B5EF4-FFF2-40B4-BE49-F238E27FC236}">
                <a16:creationId xmlns:a16="http://schemas.microsoft.com/office/drawing/2014/main" id="{71DEB893-A549-49B0-BCEF-F97D5792CC11}"/>
              </a:ext>
            </a:extLst>
          </p:cNvPr>
          <p:cNvSpPr>
            <a:spLocks noGrp="1"/>
          </p:cNvSpPr>
          <p:nvPr/>
        </p:nvSpPr>
        <p:spPr>
          <a:xfrm>
            <a:off x="731520" y="2743200"/>
            <a:ext cx="2743200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 b="1">
                <a:solidFill>
                  <a:srgbClr val="003C54"/>
                </a:solidFill>
              </a:rPr>
              <a:t>DAG files</a:t>
            </a:r>
          </a:p>
        </p:txBody>
      </p:sp>
      <p:sp>
        <p:nvSpPr>
          <p:cNvPr id="18" name="Text 11">
            <a:extLst>
              <a:ext uri="{FF2B5EF4-FFF2-40B4-BE49-F238E27FC236}">
                <a16:creationId xmlns:a16="http://schemas.microsoft.com/office/drawing/2014/main" id="{F707C225-CB33-43F0-A6C5-3495D052FFDA}"/>
              </a:ext>
            </a:extLst>
          </p:cNvPr>
          <p:cNvSpPr>
            <a:spLocks noGrp="1"/>
          </p:cNvSpPr>
          <p:nvPr/>
        </p:nvSpPr>
        <p:spPr>
          <a:xfrm>
            <a:off x="731520" y="2907792"/>
            <a:ext cx="45720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900">
                <a:solidFill>
                  <a:srgbClr val="6A6A6A"/>
                </a:solidFill>
              </a:rPr>
              <a:t>Python files defining your DAGs; loaded and parsed by the scheduler.</a:t>
            </a:r>
          </a:p>
        </p:txBody>
      </p:sp>
      <p:sp>
        <p:nvSpPr>
          <p:cNvPr id="19" name="Text 12">
            <a:extLst>
              <a:ext uri="{FF2B5EF4-FFF2-40B4-BE49-F238E27FC236}">
                <a16:creationId xmlns:a16="http://schemas.microsoft.com/office/drawing/2014/main" id="{3DE9F606-8525-4508-8AD9-CE78AB715EC7}"/>
              </a:ext>
            </a:extLst>
          </p:cNvPr>
          <p:cNvSpPr>
            <a:spLocks noGrp="1"/>
          </p:cNvSpPr>
          <p:nvPr/>
        </p:nvSpPr>
        <p:spPr>
          <a:xfrm>
            <a:off x="457200" y="630936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600" u="sng">
                <a:solidFill>
                  <a:srgbClr val="0066CC"/>
                </a:solidFill>
                <a:hlinkClick r:id="rId8"/>
              </a:rPr>
              <a:t>[1]</a:t>
            </a:r>
            <a:r>
              <a:rPr sz="600">
                <a:solidFill>
                  <a:srgbClr val="000000"/>
                </a:solidFill>
              </a:rPr>
              <a:t>   </a:t>
            </a:r>
            <a:r>
              <a:rPr sz="600" u="sng">
                <a:solidFill>
                  <a:srgbClr val="0066CC"/>
                </a:solidFill>
                <a:hlinkClick r:id="rId9"/>
              </a:rPr>
              <a:t>[2]</a:t>
            </a:r>
          </a:p>
        </p:txBody>
      </p:sp>
    </p:spTree>
    <p:extLst>
      <p:ext uri="{BB962C8B-B14F-4D97-AF65-F5344CB8AC3E}">
        <p14:creationId xmlns:p14="http://schemas.microsoft.com/office/powerpoint/2010/main" val="13930220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40C8EA3-5A8E-487E-9168-805B268328F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B3D51"/>
          </a:solidFill>
          <a:ln w="12700">
            <a:solidFill>
              <a:srgbClr val="0B3D5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6E2A9DF-8A1F-4AEC-8C0B-ED7C67702F6F}"/>
              </a:ext>
            </a:extLst>
          </p:cNvPr>
          <p:cNvSpPr>
            <a:spLocks noGrp="1"/>
          </p:cNvSpPr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800" b="1">
                <a:solidFill>
                  <a:srgbClr val="FFFFFF"/>
                </a:solidFill>
              </a:rPr>
              <a:t>Optional &amp; Distributed Components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5562B14-03F1-4CE0-845F-5A448AE39C86}"/>
              </a:ext>
            </a:extLst>
          </p:cNvPr>
          <p:cNvSpPr>
            <a:spLocks noGrp="1"/>
          </p:cNvSpPr>
          <p:nvPr/>
        </p:nvSpPr>
        <p:spPr>
          <a:xfrm>
            <a:off x="457200" y="548640"/>
            <a:ext cx="3200400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 b="1">
                <a:solidFill>
                  <a:srgbClr val="003C54"/>
                </a:solidFill>
              </a:rPr>
              <a:t>Workers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042C090-62CA-4E2B-A54D-C6CF8DFE9860}"/>
              </a:ext>
            </a:extLst>
          </p:cNvPr>
          <p:cNvSpPr>
            <a:spLocks noGrp="1"/>
          </p:cNvSpPr>
          <p:nvPr/>
        </p:nvSpPr>
        <p:spPr>
          <a:xfrm>
            <a:off x="457200" y="694944"/>
            <a:ext cx="32004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900">
                <a:solidFill>
                  <a:srgbClr val="6A6A6A"/>
                </a:solidFill>
              </a:rPr>
              <a:t>Execute tasks given by the scheduler; run as separate processes (Celery, Kubernetes).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69ED23A-0707-45F9-A059-7F038E63FA51}"/>
              </a:ext>
            </a:extLst>
          </p:cNvPr>
          <p:cNvSpPr>
            <a:spLocks noGrp="1"/>
          </p:cNvSpPr>
          <p:nvPr/>
        </p:nvSpPr>
        <p:spPr>
          <a:xfrm>
            <a:off x="457200" y="1005840"/>
            <a:ext cx="3200400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 b="1">
                <a:solidFill>
                  <a:srgbClr val="003C54"/>
                </a:solidFill>
              </a:rPr>
              <a:t>Triggerer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E57540C-B6AF-4495-BE9C-23FE9D471CB4}"/>
              </a:ext>
            </a:extLst>
          </p:cNvPr>
          <p:cNvSpPr>
            <a:spLocks noGrp="1"/>
          </p:cNvSpPr>
          <p:nvPr/>
        </p:nvSpPr>
        <p:spPr>
          <a:xfrm>
            <a:off x="457200" y="1152144"/>
            <a:ext cx="32004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900">
                <a:solidFill>
                  <a:srgbClr val="6A6A6A"/>
                </a:solidFill>
              </a:rPr>
              <a:t>Executes asynchronous deferrable tasks (event-driven scheduling).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0FD3673-69F6-4A6D-A1B2-3E969ECC36E9}"/>
              </a:ext>
            </a:extLst>
          </p:cNvPr>
          <p:cNvSpPr>
            <a:spLocks noGrp="1"/>
          </p:cNvSpPr>
          <p:nvPr/>
        </p:nvSpPr>
        <p:spPr>
          <a:xfrm>
            <a:off x="457200" y="1463040"/>
            <a:ext cx="3200400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 b="1">
                <a:solidFill>
                  <a:srgbClr val="003C54"/>
                </a:solidFill>
              </a:rPr>
              <a:t>Plugins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D540B33-8B1B-4263-A045-BC2D7F17D593}"/>
              </a:ext>
            </a:extLst>
          </p:cNvPr>
          <p:cNvSpPr>
            <a:spLocks noGrp="1"/>
          </p:cNvSpPr>
          <p:nvPr/>
        </p:nvSpPr>
        <p:spPr>
          <a:xfrm>
            <a:off x="457200" y="1609344"/>
            <a:ext cx="32004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900">
                <a:solidFill>
                  <a:srgbClr val="6A6A6A"/>
                </a:solidFill>
              </a:rPr>
              <a:t>Extend Airflow with custom operators, sensors &amp; hooks.</a:t>
            </a:r>
          </a:p>
        </p:txBody>
      </p:sp>
      <p:pic>
        <p:nvPicPr>
          <p:cNvPr id="10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548640"/>
            <a:ext cx="4846320" cy="2468880"/>
          </a:xfrm>
          <a:prstGeom prst="rect">
            <a:avLst/>
          </a:prstGeom>
        </p:spPr>
      </p:pic>
      <p:sp>
        <p:nvSpPr>
          <p:cNvPr id="11" name="Text 8">
            <a:extLst>
              <a:ext uri="{FF2B5EF4-FFF2-40B4-BE49-F238E27FC236}">
                <a16:creationId xmlns:a16="http://schemas.microsoft.com/office/drawing/2014/main" id="{407AF4ED-2812-43D4-BB76-B1AD21510FB3}"/>
              </a:ext>
            </a:extLst>
          </p:cNvPr>
          <p:cNvSpPr>
            <a:spLocks noGrp="1"/>
          </p:cNvSpPr>
          <p:nvPr/>
        </p:nvSpPr>
        <p:spPr>
          <a:xfrm>
            <a:off x="3931920" y="3063240"/>
            <a:ext cx="484632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sz="800" i="1">
                <a:solidFill>
                  <a:srgbClr val="6A6A6A"/>
                </a:solidFill>
              </a:rPr>
              <a:t>Distributed deployment decouples components for scalability &amp; security.</a:t>
            </a: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8EE36C9D-5903-43C4-A09D-55B066442345}"/>
              </a:ext>
            </a:extLst>
          </p:cNvPr>
          <p:cNvSpPr>
            <a:spLocks noGrp="1"/>
          </p:cNvSpPr>
          <p:nvPr/>
        </p:nvSpPr>
        <p:spPr>
          <a:xfrm>
            <a:off x="457200" y="630936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600" u="sng">
                <a:solidFill>
                  <a:srgbClr val="0066CC"/>
                </a:solidFill>
                <a:hlinkClick r:id="rId4"/>
              </a:rPr>
              <a:t>[1]</a:t>
            </a:r>
            <a:r>
              <a:rPr sz="600">
                <a:solidFill>
                  <a:srgbClr val="000000"/>
                </a:solidFill>
              </a:rPr>
              <a:t>   </a:t>
            </a:r>
            <a:r>
              <a:rPr sz="600" u="sng">
                <a:solidFill>
                  <a:srgbClr val="0066CC"/>
                </a:solidFill>
                <a:hlinkClick r:id="rId5"/>
              </a:rPr>
              <a:t>[2]</a:t>
            </a:r>
            <a:r>
              <a:rPr sz="600">
                <a:solidFill>
                  <a:srgbClr val="000000"/>
                </a:solidFill>
              </a:rPr>
              <a:t>   </a:t>
            </a:r>
            <a:r>
              <a:rPr sz="600" u="sng">
                <a:solidFill>
                  <a:srgbClr val="0066CC"/>
                </a:solidFill>
                <a:hlinkClick r:id="rId6"/>
              </a:rPr>
              <a:t>[3]</a:t>
            </a:r>
          </a:p>
        </p:txBody>
      </p:sp>
    </p:spTree>
    <p:extLst>
      <p:ext uri="{BB962C8B-B14F-4D97-AF65-F5344CB8AC3E}">
        <p14:creationId xmlns:p14="http://schemas.microsoft.com/office/powerpoint/2010/main" val="2347321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355C3DD-D342-48C4-AE03-2954E75F6F7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B3D51"/>
          </a:solidFill>
          <a:ln w="12700">
            <a:solidFill>
              <a:srgbClr val="0B3D5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2B4F15A-B3E1-4E25-A6EA-D3FB8EA177FD}"/>
              </a:ext>
            </a:extLst>
          </p:cNvPr>
          <p:cNvSpPr>
            <a:spLocks noGrp="1"/>
          </p:cNvSpPr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800" b="1">
                <a:solidFill>
                  <a:srgbClr val="FFFFFF"/>
                </a:solidFill>
              </a:rPr>
              <a:t>Component Interaction Workflow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A720D64-607C-4D0E-95E7-E073C381AEC2}"/>
              </a:ext>
            </a:extLst>
          </p:cNvPr>
          <p:cNvSpPr>
            <a:spLocks noGrp="1"/>
          </p:cNvSpPr>
          <p:nvPr/>
        </p:nvSpPr>
        <p:spPr>
          <a:xfrm>
            <a:off x="274320" y="1097280"/>
            <a:ext cx="1371600" cy="548640"/>
          </a:xfrm>
          <a:prstGeom prst="roundRect">
            <a:avLst>
              <a:gd name="adj" fmla="val 16667"/>
            </a:avLst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1B4749F-DE3E-41E4-B2DA-405B7356CA35}"/>
              </a:ext>
            </a:extLst>
          </p:cNvPr>
          <p:cNvSpPr>
            <a:spLocks noGrp="1"/>
          </p:cNvSpPr>
          <p:nvPr/>
        </p:nvSpPr>
        <p:spPr>
          <a:xfrm>
            <a:off x="274320" y="1097280"/>
            <a:ext cx="137160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</a:rPr>
              <a:t>DAG file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D934B2AB-9E3D-427F-871F-036604C14A93}"/>
              </a:ext>
            </a:extLst>
          </p:cNvPr>
          <p:cNvSpPr>
            <a:spLocks noGrp="1"/>
          </p:cNvSpPr>
          <p:nvPr/>
        </p:nvSpPr>
        <p:spPr>
          <a:xfrm>
            <a:off x="1828800" y="1097280"/>
            <a:ext cx="1371600" cy="548640"/>
          </a:xfrm>
          <a:prstGeom prst="roundRect">
            <a:avLst>
              <a:gd name="adj" fmla="val 16667"/>
            </a:avLst>
          </a:prstGeom>
          <a:solidFill>
            <a:srgbClr val="007ACC"/>
          </a:solidFill>
          <a:ln w="12700">
            <a:solidFill>
              <a:srgbClr val="007A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65400A6-9FCD-40CD-810E-7091B05935AD}"/>
              </a:ext>
            </a:extLst>
          </p:cNvPr>
          <p:cNvSpPr>
            <a:spLocks noGrp="1"/>
          </p:cNvSpPr>
          <p:nvPr/>
        </p:nvSpPr>
        <p:spPr>
          <a:xfrm>
            <a:off x="1828800" y="1097280"/>
            <a:ext cx="137160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</a:rPr>
              <a:t>DAG Processor</a:t>
            </a: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A084C92C-476D-4E79-8204-EE1F2953B115}"/>
              </a:ext>
            </a:extLst>
          </p:cNvPr>
          <p:cNvSpPr>
            <a:spLocks noGrp="1"/>
          </p:cNvSpPr>
          <p:nvPr/>
        </p:nvSpPr>
        <p:spPr>
          <a:xfrm>
            <a:off x="3383280" y="1097280"/>
            <a:ext cx="1371600" cy="548640"/>
          </a:xfrm>
          <a:prstGeom prst="roundRect">
            <a:avLst>
              <a:gd name="adj" fmla="val 16667"/>
            </a:avLst>
          </a:prstGeom>
          <a:solidFill>
            <a:srgbClr val="00A78D"/>
          </a:solidFill>
          <a:ln w="12700">
            <a:solidFill>
              <a:srgbClr val="00A78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058F0C3-CAEC-4BC3-9EC5-AB042DE3F44E}"/>
              </a:ext>
            </a:extLst>
          </p:cNvPr>
          <p:cNvSpPr>
            <a:spLocks noGrp="1"/>
          </p:cNvSpPr>
          <p:nvPr/>
        </p:nvSpPr>
        <p:spPr>
          <a:xfrm>
            <a:off x="3383280" y="1097280"/>
            <a:ext cx="137160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</a:rPr>
              <a:t>Scheduler</a:t>
            </a: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A3F6339C-41E5-4BD3-94C8-BD7D95969DEE}"/>
              </a:ext>
            </a:extLst>
          </p:cNvPr>
          <p:cNvSpPr>
            <a:spLocks noGrp="1"/>
          </p:cNvSpPr>
          <p:nvPr/>
        </p:nvSpPr>
        <p:spPr>
          <a:xfrm>
            <a:off x="4937760" y="1097280"/>
            <a:ext cx="1371600" cy="548640"/>
          </a:xfrm>
          <a:prstGeom prst="roundRect">
            <a:avLst>
              <a:gd name="adj" fmla="val 16667"/>
            </a:avLst>
          </a:prstGeom>
          <a:solidFill>
            <a:srgbClr val="007ACC"/>
          </a:solidFill>
          <a:ln w="12700">
            <a:solidFill>
              <a:srgbClr val="007A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0485B97F-EB7F-480E-B31A-DA1DB747D9A1}"/>
              </a:ext>
            </a:extLst>
          </p:cNvPr>
          <p:cNvSpPr>
            <a:spLocks noGrp="1"/>
          </p:cNvSpPr>
          <p:nvPr/>
        </p:nvSpPr>
        <p:spPr>
          <a:xfrm>
            <a:off x="4937760" y="1097280"/>
            <a:ext cx="137160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</a:rPr>
              <a:t>Worker</a:t>
            </a: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BEC258C6-93F5-48DA-9515-5D200E5517C2}"/>
              </a:ext>
            </a:extLst>
          </p:cNvPr>
          <p:cNvSpPr>
            <a:spLocks noGrp="1"/>
          </p:cNvSpPr>
          <p:nvPr/>
        </p:nvSpPr>
        <p:spPr>
          <a:xfrm>
            <a:off x="6492240" y="1097280"/>
            <a:ext cx="1371600" cy="548640"/>
          </a:xfrm>
          <a:prstGeom prst="roundRect">
            <a:avLst>
              <a:gd name="adj" fmla="val 16667"/>
            </a:avLst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107A1B63-61A7-4A52-B48B-0B9FB31D928D}"/>
              </a:ext>
            </a:extLst>
          </p:cNvPr>
          <p:cNvSpPr>
            <a:spLocks noGrp="1"/>
          </p:cNvSpPr>
          <p:nvPr/>
        </p:nvSpPr>
        <p:spPr>
          <a:xfrm>
            <a:off x="6492240" y="1097280"/>
            <a:ext cx="137160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</a:rPr>
              <a:t>Metadata DB</a:t>
            </a: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CE405677-621F-4406-BD0D-78A1CCB18720}"/>
              </a:ext>
            </a:extLst>
          </p:cNvPr>
          <p:cNvSpPr>
            <a:spLocks noGrp="1"/>
          </p:cNvSpPr>
          <p:nvPr/>
        </p:nvSpPr>
        <p:spPr>
          <a:xfrm>
            <a:off x="1645920" y="1298448"/>
            <a:ext cx="457200" cy="109728"/>
          </a:xfrm>
          <a:prstGeom prst="rightArrow">
            <a:avLst/>
          </a:prstGeom>
          <a:solidFill>
            <a:srgbClr val="6A6A6A"/>
          </a:solidFill>
          <a:ln w="12700">
            <a:solidFill>
              <a:srgbClr val="6A6A6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2E36D0F9-C48B-400F-849A-5870199FDBC7}"/>
              </a:ext>
            </a:extLst>
          </p:cNvPr>
          <p:cNvSpPr>
            <a:spLocks noGrp="1"/>
          </p:cNvSpPr>
          <p:nvPr/>
        </p:nvSpPr>
        <p:spPr>
          <a:xfrm>
            <a:off x="3200400" y="1298448"/>
            <a:ext cx="457200" cy="109728"/>
          </a:xfrm>
          <a:prstGeom prst="rightArrow">
            <a:avLst/>
          </a:prstGeom>
          <a:solidFill>
            <a:srgbClr val="6A6A6A"/>
          </a:solidFill>
          <a:ln w="12700">
            <a:solidFill>
              <a:srgbClr val="6A6A6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4998C79F-9721-4233-9D7F-1A5C7BC17A9A}"/>
              </a:ext>
            </a:extLst>
          </p:cNvPr>
          <p:cNvSpPr>
            <a:spLocks noGrp="1"/>
          </p:cNvSpPr>
          <p:nvPr/>
        </p:nvSpPr>
        <p:spPr>
          <a:xfrm>
            <a:off x="4754880" y="1298448"/>
            <a:ext cx="457200" cy="109728"/>
          </a:xfrm>
          <a:prstGeom prst="rightArrow">
            <a:avLst/>
          </a:prstGeom>
          <a:solidFill>
            <a:srgbClr val="6A6A6A"/>
          </a:solidFill>
          <a:ln w="12700">
            <a:solidFill>
              <a:srgbClr val="6A6A6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2A596B1D-8573-437E-951F-4105525DE9FA}"/>
              </a:ext>
            </a:extLst>
          </p:cNvPr>
          <p:cNvSpPr>
            <a:spLocks noGrp="1"/>
          </p:cNvSpPr>
          <p:nvPr/>
        </p:nvSpPr>
        <p:spPr>
          <a:xfrm>
            <a:off x="6309360" y="1298448"/>
            <a:ext cx="457200" cy="109728"/>
          </a:xfrm>
          <a:prstGeom prst="rightArrow">
            <a:avLst/>
          </a:prstGeom>
          <a:solidFill>
            <a:srgbClr val="6A6A6A"/>
          </a:solidFill>
          <a:ln w="12700">
            <a:solidFill>
              <a:srgbClr val="6A6A6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8AB2DBE9-834D-4889-9302-6F5988027983}"/>
              </a:ext>
            </a:extLst>
          </p:cNvPr>
          <p:cNvSpPr>
            <a:spLocks noGrp="1"/>
          </p:cNvSpPr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900">
                <a:solidFill>
                  <a:srgbClr val="003C54"/>
                </a:solidFill>
              </a:rPr>
              <a:t>1. DAG parsed &amp; serialized</a:t>
            </a:r>
          </a:p>
          <a:p>
            <a:pPr marL="0" indent="0">
              <a:buNone/>
            </a:pPr>
            <a:r>
              <a:rPr sz="900">
                <a:solidFill>
                  <a:srgbClr val="003C54"/>
                </a:solidFill>
              </a:rPr>
              <a:t>2. Scheduler schedules tasks</a:t>
            </a:r>
          </a:p>
          <a:p>
            <a:pPr marL="0" indent="0">
              <a:buNone/>
            </a:pPr>
            <a:r>
              <a:rPr sz="900">
                <a:solidFill>
                  <a:srgbClr val="003C54"/>
                </a:solidFill>
              </a:rPr>
              <a:t>3. Worker executes task &amp; sends status</a:t>
            </a:r>
          </a:p>
          <a:p>
            <a:pPr marL="0" indent="0">
              <a:buNone/>
            </a:pPr>
            <a:r>
              <a:rPr sz="900">
                <a:solidFill>
                  <a:srgbClr val="003C54"/>
                </a:solidFill>
              </a:rPr>
              <a:t>4. Metadata DB stores task states</a:t>
            </a: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8EEEE3EB-A54A-4B22-A1E5-02918F72CFA2}"/>
              </a:ext>
            </a:extLst>
          </p:cNvPr>
          <p:cNvSpPr>
            <a:spLocks noGrp="1"/>
          </p:cNvSpPr>
          <p:nvPr/>
        </p:nvSpPr>
        <p:spPr>
          <a:xfrm>
            <a:off x="457200" y="630936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600" u="sng">
                <a:solidFill>
                  <a:srgbClr val="0066CC"/>
                </a:solidFill>
                <a:hlinkClick r:id="rId3"/>
              </a:rPr>
              <a:t>[1]</a:t>
            </a:r>
          </a:p>
        </p:txBody>
      </p:sp>
    </p:spTree>
    <p:extLst>
      <p:ext uri="{BB962C8B-B14F-4D97-AF65-F5344CB8AC3E}">
        <p14:creationId xmlns:p14="http://schemas.microsoft.com/office/powerpoint/2010/main" val="2716048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C365DB2-CEFF-46D8-8991-B722E1D3C43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B3D51"/>
          </a:solidFill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B14A996-AE24-44AF-A152-C56DE5528E8E}"/>
              </a:ext>
            </a:extLst>
          </p:cNvPr>
          <p:cNvSpPr>
            <a:spLocks noGrp="1"/>
          </p:cNvSpPr>
          <p:nvPr/>
        </p:nvSpPr>
        <p:spPr>
          <a:xfrm>
            <a:off x="457200" y="91440"/>
            <a:ext cx="73152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800" b="1">
                <a:solidFill>
                  <a:srgbClr val="FFFFFF"/>
                </a:solidFill>
              </a:rPr>
              <a:t>Defining Dags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BBB4785-331C-4300-88CA-A5F825ADC241}"/>
              </a:ext>
            </a:extLst>
          </p:cNvPr>
          <p:cNvSpPr>
            <a:spLocks noGrp="1"/>
          </p:cNvSpPr>
          <p:nvPr/>
        </p:nvSpPr>
        <p:spPr>
          <a:xfrm>
            <a:off x="457200" y="594360"/>
            <a:ext cx="484632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>
                <a:solidFill>
                  <a:srgbClr val="003C54"/>
                </a:solidFill>
              </a:rPr>
              <a:t>A Dag (Directed Acyclic Graph) defines the order of tasks. There are three ways to declare one:</a:t>
            </a: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0121B63-54F4-4FDB-98AD-A06061816336}"/>
              </a:ext>
            </a:extLst>
          </p:cNvPr>
          <p:cNvSpPr>
            <a:spLocks noGrp="1"/>
          </p:cNvSpPr>
          <p:nvPr/>
        </p:nvSpPr>
        <p:spPr>
          <a:xfrm>
            <a:off x="457200" y="1097280"/>
            <a:ext cx="4114800" cy="731520"/>
          </a:xfrm>
          <a:prstGeom prst="roundRect">
            <a:avLst>
              <a:gd name="adj" fmla="val 6250"/>
            </a:avLst>
          </a:prstGeom>
          <a:solidFill>
            <a:srgbClr val="F1F5F8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A063414-9896-44B5-B608-D7412E8DE87A}"/>
              </a:ext>
            </a:extLst>
          </p:cNvPr>
          <p:cNvSpPr>
            <a:spLocks noGrp="1"/>
          </p:cNvSpPr>
          <p:nvPr/>
        </p:nvSpPr>
        <p:spPr>
          <a:xfrm>
            <a:off x="502920" y="1143000"/>
            <a:ext cx="402336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800">
                <a:solidFill>
                  <a:srgbClr val="0B3D51"/>
                </a:solidFill>
                <a:latin typeface="Consolas"/>
                <a:ea typeface="Consolas"/>
                <a:cs typeface="Consolas"/>
              </a:rPr>
              <a:t>with DAG(dag_id="my_dag", start_date=..., schedule="@daily"):</a:t>
            </a:r>
          </a:p>
          <a:p>
            <a:pPr marL="0" indent="0">
              <a:buNone/>
            </a:pPr>
            <a:r>
              <a:rPr sz="800">
                <a:solidFill>
                  <a:srgbClr val="0B3D51"/>
                </a:solidFill>
                <a:latin typeface="Consolas"/>
                <a:ea typeface="Consolas"/>
                <a:cs typeface="Consolas"/>
              </a:rPr>
              <a:t>    task = EmptyOperator(task_id="task")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91A75AEB-D7AC-4C10-A652-27C88B3202BA}"/>
              </a:ext>
            </a:extLst>
          </p:cNvPr>
          <p:cNvSpPr>
            <a:spLocks noGrp="1"/>
          </p:cNvSpPr>
          <p:nvPr/>
        </p:nvSpPr>
        <p:spPr>
          <a:xfrm>
            <a:off x="457200" y="2011680"/>
            <a:ext cx="4114800" cy="731520"/>
          </a:xfrm>
          <a:prstGeom prst="roundRect">
            <a:avLst>
              <a:gd name="adj" fmla="val 6250"/>
            </a:avLst>
          </a:prstGeom>
          <a:solidFill>
            <a:srgbClr val="F1F5F8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7716E5B-E76E-45B9-87AE-C60CC182637C}"/>
              </a:ext>
            </a:extLst>
          </p:cNvPr>
          <p:cNvSpPr>
            <a:spLocks noGrp="1"/>
          </p:cNvSpPr>
          <p:nvPr/>
        </p:nvSpPr>
        <p:spPr>
          <a:xfrm>
            <a:off x="502920" y="2057400"/>
            <a:ext cx="402336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800">
                <a:solidFill>
                  <a:srgbClr val="0B3D51"/>
                </a:solidFill>
                <a:latin typeface="Consolas"/>
                <a:ea typeface="Consolas"/>
                <a:cs typeface="Consolas"/>
              </a:rPr>
              <a:t>my_dag = DAG(dag_id="my_dag", start_date=..., schedule="0 0 * * *")</a:t>
            </a:r>
          </a:p>
          <a:p>
            <a:pPr marL="0" indent="0">
              <a:buNone/>
            </a:pPr>
            <a:r>
              <a:rPr sz="800">
                <a:solidFill>
                  <a:srgbClr val="0B3D51"/>
                </a:solidFill>
                <a:latin typeface="Consolas"/>
                <a:ea typeface="Consolas"/>
                <a:cs typeface="Consolas"/>
              </a:rPr>
              <a:t>EmptyOperator(task_id="task", dag=my_dag)</a:t>
            </a: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04D63232-ECD1-49C2-9FB9-AABF87CA9396}"/>
              </a:ext>
            </a:extLst>
          </p:cNvPr>
          <p:cNvSpPr>
            <a:spLocks noGrp="1"/>
          </p:cNvSpPr>
          <p:nvPr/>
        </p:nvSpPr>
        <p:spPr>
          <a:xfrm>
            <a:off x="457200" y="2926080"/>
            <a:ext cx="4114800" cy="731520"/>
          </a:xfrm>
          <a:prstGeom prst="roundRect">
            <a:avLst>
              <a:gd name="adj" fmla="val 6250"/>
            </a:avLst>
          </a:prstGeom>
          <a:solidFill>
            <a:srgbClr val="F1F5F8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EB04E98-7BF0-4814-AD11-BDFF0E5CE985}"/>
              </a:ext>
            </a:extLst>
          </p:cNvPr>
          <p:cNvSpPr>
            <a:spLocks noGrp="1"/>
          </p:cNvSpPr>
          <p:nvPr/>
        </p:nvSpPr>
        <p:spPr>
          <a:xfrm>
            <a:off x="502920" y="2971800"/>
            <a:ext cx="402336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800">
                <a:solidFill>
                  <a:srgbClr val="0B3D51"/>
                </a:solidFill>
                <a:latin typeface="Consolas"/>
                <a:ea typeface="Consolas"/>
                <a:cs typeface="Consolas"/>
              </a:rPr>
              <a:t>@dag(start_date=..., schedule="@daily")</a:t>
            </a:r>
          </a:p>
          <a:p>
            <a:pPr marL="0" indent="0">
              <a:buNone/>
            </a:pPr>
            <a:r>
              <a:rPr sz="800">
                <a:solidFill>
                  <a:srgbClr val="0B3D51"/>
                </a:solidFill>
                <a:latin typeface="Consolas"/>
                <a:ea typeface="Consolas"/>
                <a:cs typeface="Consolas"/>
              </a:rPr>
              <a:t>def generate_dag():</a:t>
            </a:r>
          </a:p>
          <a:p>
            <a:pPr marL="0" indent="0">
              <a:buNone/>
            </a:pPr>
            <a:r>
              <a:rPr sz="800">
                <a:solidFill>
                  <a:srgbClr val="0B3D51"/>
                </a:solidFill>
                <a:latin typeface="Consolas"/>
                <a:ea typeface="Consolas"/>
                <a:cs typeface="Consolas"/>
              </a:rPr>
              <a:t>    EmptyOperator(task_id="task")</a:t>
            </a:r>
          </a:p>
          <a:p>
            <a:pPr marL="0" indent="0">
              <a:buNone/>
            </a:pPr>
            <a:r>
              <a:rPr sz="800">
                <a:solidFill>
                  <a:srgbClr val="0B3D51"/>
                </a:solidFill>
                <a:latin typeface="Consolas"/>
                <a:ea typeface="Consolas"/>
                <a:cs typeface="Consolas"/>
              </a:rPr>
              <a:t>generate_dag()</a:t>
            </a: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7328F632-A97F-46F7-B1E1-25CFCEB87735}"/>
              </a:ext>
            </a:extLst>
          </p:cNvPr>
          <p:cNvSpPr>
            <a:spLocks noGrp="1"/>
          </p:cNvSpPr>
          <p:nvPr/>
        </p:nvSpPr>
        <p:spPr>
          <a:xfrm>
            <a:off x="4754880" y="1097280"/>
            <a:ext cx="3931920" cy="2194560"/>
          </a:xfrm>
          <a:prstGeom prst="roundRect">
            <a:avLst>
              <a:gd name="adj" fmla="val 2083"/>
            </a:avLst>
          </a:prstGeom>
          <a:solidFill>
            <a:srgbClr val="F1F5F8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BDD1BBDB-1CEB-4886-A8E3-FCB2AA76A706}"/>
              </a:ext>
            </a:extLst>
          </p:cNvPr>
          <p:cNvSpPr>
            <a:spLocks noGrp="1"/>
          </p:cNvSpPr>
          <p:nvPr/>
        </p:nvSpPr>
        <p:spPr>
          <a:xfrm>
            <a:off x="4800600" y="1143000"/>
            <a:ext cx="3840480" cy="21031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003C54"/>
                </a:solidFill>
              </a:rPr>
              <a:t>Tips for DAG definition:
</a:t>
            </a:r>
            <a:r>
              <a:rPr sz="900">
                <a:solidFill>
                  <a:srgbClr val="003C54"/>
                </a:solidFill>
              </a:rPr>
              <a:t>• Use unique dag_id; avoid spaces
• Provide a timezone-aware start_date
• Choose cron presets (@daily, 0 0 * * * etc.)
• Set catchup=False unless backfilling</a:t>
            </a: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37E3A9A7-DBD8-4A0C-AA8B-B84F5F6200FE}"/>
              </a:ext>
            </a:extLst>
          </p:cNvPr>
          <p:cNvSpPr>
            <a:spLocks noGrp="1"/>
          </p:cNvSpPr>
          <p:nvPr/>
        </p:nvSpPr>
        <p:spPr>
          <a:xfrm>
            <a:off x="457200" y="630936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600" u="sng">
                <a:solidFill>
                  <a:srgbClr val="0066CC"/>
                </a:solidFill>
                <a:hlinkClick r:id="rId3"/>
              </a:rPr>
              <a:t>[1]</a:t>
            </a:r>
            <a:r>
              <a:rPr sz="600">
                <a:solidFill>
                  <a:srgbClr val="000000"/>
                </a:solidFill>
              </a:rPr>
              <a:t>   </a:t>
            </a:r>
            <a:r>
              <a:rPr sz="600" u="sng">
                <a:solidFill>
                  <a:srgbClr val="0066CC"/>
                </a:solidFill>
                <a:hlinkClick r:id="rId4"/>
              </a:rPr>
              <a:t>[2]</a:t>
            </a:r>
          </a:p>
        </p:txBody>
      </p:sp>
    </p:spTree>
    <p:extLst>
      <p:ext uri="{BB962C8B-B14F-4D97-AF65-F5344CB8AC3E}">
        <p14:creationId xmlns:p14="http://schemas.microsoft.com/office/powerpoint/2010/main" val="213742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CF4C820-682B-430A-B59A-0F4166B846D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B3D51"/>
          </a:solidFill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DACDF54-7B0A-47F5-90FD-B06A13FDED43}"/>
              </a:ext>
            </a:extLst>
          </p:cNvPr>
          <p:cNvSpPr>
            <a:spLocks noGrp="1"/>
          </p:cNvSpPr>
          <p:nvPr/>
        </p:nvSpPr>
        <p:spPr>
          <a:xfrm>
            <a:off x="457200" y="91440"/>
            <a:ext cx="73152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800" b="1">
                <a:solidFill>
                  <a:srgbClr val="FFFFFF"/>
                </a:solidFill>
              </a:rPr>
              <a:t>Task Dependencies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316569A-91C0-4DF6-8272-8AC1A8A012BB}"/>
              </a:ext>
            </a:extLst>
          </p:cNvPr>
          <p:cNvSpPr>
            <a:spLocks noGrp="1"/>
          </p:cNvSpPr>
          <p:nvPr/>
        </p:nvSpPr>
        <p:spPr>
          <a:xfrm>
            <a:off x="548640" y="914400"/>
            <a:ext cx="1097280" cy="457200"/>
          </a:xfrm>
          <a:prstGeom prst="roundRect">
            <a:avLst>
              <a:gd name="adj" fmla="val 20000"/>
            </a:avLst>
          </a:prstGeom>
          <a:solidFill>
            <a:srgbClr val="007ACC"/>
          </a:solidFill>
          <a:ln w="12700">
            <a:solidFill>
              <a:srgbClr val="007A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86B88A6-65E9-454A-A1AC-323D7A9FB573}"/>
              </a:ext>
            </a:extLst>
          </p:cNvPr>
          <p:cNvSpPr>
            <a:spLocks noGrp="1"/>
          </p:cNvSpPr>
          <p:nvPr/>
        </p:nvSpPr>
        <p:spPr>
          <a:xfrm>
            <a:off x="548640" y="914400"/>
            <a:ext cx="109728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</a:rPr>
              <a:t>Task A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1771DAC8-495F-4988-81B2-B101E2501B23}"/>
              </a:ext>
            </a:extLst>
          </p:cNvPr>
          <p:cNvSpPr>
            <a:spLocks noGrp="1"/>
          </p:cNvSpPr>
          <p:nvPr/>
        </p:nvSpPr>
        <p:spPr>
          <a:xfrm>
            <a:off x="1737360" y="1051560"/>
            <a:ext cx="548640" cy="182880"/>
          </a:xfrm>
          <a:prstGeom prst="rightArrow">
            <a:avLst/>
          </a:prstGeom>
          <a:solidFill>
            <a:srgbClr val="6A6A6A"/>
          </a:solidFill>
          <a:ln w="12700">
            <a:solidFill>
              <a:srgbClr val="6A6A6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CD386582-186C-421E-91CB-BE265287AFB6}"/>
              </a:ext>
            </a:extLst>
          </p:cNvPr>
          <p:cNvSpPr>
            <a:spLocks noGrp="1"/>
          </p:cNvSpPr>
          <p:nvPr/>
        </p:nvSpPr>
        <p:spPr>
          <a:xfrm>
            <a:off x="2011680" y="1051560"/>
            <a:ext cx="182880" cy="457200"/>
          </a:xfrm>
          <a:prstGeom prst="downArrow">
            <a:avLst/>
          </a:prstGeom>
          <a:solidFill>
            <a:srgbClr val="6A6A6A"/>
          </a:solidFill>
          <a:ln w="12700">
            <a:solidFill>
              <a:srgbClr val="6A6A6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6432A2C4-9207-43AD-A42F-CDEADD75C1A3}"/>
              </a:ext>
            </a:extLst>
          </p:cNvPr>
          <p:cNvSpPr>
            <a:spLocks noGrp="1"/>
          </p:cNvSpPr>
          <p:nvPr/>
        </p:nvSpPr>
        <p:spPr>
          <a:xfrm>
            <a:off x="2560320" y="914400"/>
            <a:ext cx="1097280" cy="457200"/>
          </a:xfrm>
          <a:prstGeom prst="roundRect">
            <a:avLst>
              <a:gd name="adj" fmla="val 20000"/>
            </a:avLst>
          </a:prstGeom>
          <a:solidFill>
            <a:srgbClr val="00A78D"/>
          </a:solidFill>
          <a:ln w="12700">
            <a:solidFill>
              <a:srgbClr val="00A78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1946E3C-112C-4857-8DC6-3BA6CF4CE2B6}"/>
              </a:ext>
            </a:extLst>
          </p:cNvPr>
          <p:cNvSpPr>
            <a:spLocks noGrp="1"/>
          </p:cNvSpPr>
          <p:nvPr/>
        </p:nvSpPr>
        <p:spPr>
          <a:xfrm>
            <a:off x="2560320" y="914400"/>
            <a:ext cx="109728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</a:rPr>
              <a:t>Task B</a:t>
            </a: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4FF00B0A-E596-45F9-B435-3CE23067461C}"/>
              </a:ext>
            </a:extLst>
          </p:cNvPr>
          <p:cNvSpPr>
            <a:spLocks noGrp="1"/>
          </p:cNvSpPr>
          <p:nvPr/>
        </p:nvSpPr>
        <p:spPr>
          <a:xfrm>
            <a:off x="2560320" y="1645920"/>
            <a:ext cx="1097280" cy="457200"/>
          </a:xfrm>
          <a:prstGeom prst="roundRect">
            <a:avLst>
              <a:gd name="adj" fmla="val 20000"/>
            </a:avLst>
          </a:prstGeom>
          <a:solidFill>
            <a:srgbClr val="00A78D"/>
          </a:solidFill>
          <a:ln w="12700">
            <a:solidFill>
              <a:srgbClr val="00A78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47A23B05-F575-4538-9345-55E305340819}"/>
              </a:ext>
            </a:extLst>
          </p:cNvPr>
          <p:cNvSpPr>
            <a:spLocks noGrp="1"/>
          </p:cNvSpPr>
          <p:nvPr/>
        </p:nvSpPr>
        <p:spPr>
          <a:xfrm>
            <a:off x="2560320" y="1645920"/>
            <a:ext cx="109728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</a:rPr>
              <a:t>Task C</a:t>
            </a: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835FF02C-BE37-40C3-A721-CC974298910A}"/>
              </a:ext>
            </a:extLst>
          </p:cNvPr>
          <p:cNvSpPr>
            <a:spLocks noGrp="1"/>
          </p:cNvSpPr>
          <p:nvPr/>
        </p:nvSpPr>
        <p:spPr>
          <a:xfrm>
            <a:off x="3749040" y="1051560"/>
            <a:ext cx="548640" cy="182880"/>
          </a:xfrm>
          <a:prstGeom prst="rightArrow">
            <a:avLst/>
          </a:prstGeom>
          <a:solidFill>
            <a:srgbClr val="6A6A6A"/>
          </a:solidFill>
          <a:ln w="12700">
            <a:solidFill>
              <a:srgbClr val="6A6A6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B0ADE77A-16D5-4259-97E3-139CCAFD09FE}"/>
              </a:ext>
            </a:extLst>
          </p:cNvPr>
          <p:cNvSpPr>
            <a:spLocks noGrp="1"/>
          </p:cNvSpPr>
          <p:nvPr/>
        </p:nvSpPr>
        <p:spPr>
          <a:xfrm>
            <a:off x="3749040" y="1783080"/>
            <a:ext cx="548640" cy="182880"/>
          </a:xfrm>
          <a:prstGeom prst="rightArrow">
            <a:avLst/>
          </a:prstGeom>
          <a:solidFill>
            <a:srgbClr val="6A6A6A"/>
          </a:solidFill>
          <a:ln w="12700">
            <a:solidFill>
              <a:srgbClr val="6A6A6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48AC67BE-635A-421D-BB4A-DDFEE18322D8}"/>
              </a:ext>
            </a:extLst>
          </p:cNvPr>
          <p:cNvSpPr>
            <a:spLocks noGrp="1"/>
          </p:cNvSpPr>
          <p:nvPr/>
        </p:nvSpPr>
        <p:spPr>
          <a:xfrm>
            <a:off x="4389120" y="1280160"/>
            <a:ext cx="1097280" cy="457200"/>
          </a:xfrm>
          <a:prstGeom prst="roundRect">
            <a:avLst>
              <a:gd name="adj" fmla="val 20000"/>
            </a:avLst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E2C9689F-0D0B-41FF-B6B8-114FCD857432}"/>
              </a:ext>
            </a:extLst>
          </p:cNvPr>
          <p:cNvSpPr>
            <a:spLocks noGrp="1"/>
          </p:cNvSpPr>
          <p:nvPr/>
        </p:nvSpPr>
        <p:spPr>
          <a:xfrm>
            <a:off x="4389120" y="1280160"/>
            <a:ext cx="109728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</a:rPr>
              <a:t>Task D</a:t>
            </a: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2F0B9B13-83F4-4B11-8755-F55FCDFDC141}"/>
              </a:ext>
            </a:extLst>
          </p:cNvPr>
          <p:cNvSpPr>
            <a:spLocks noGrp="1"/>
          </p:cNvSpPr>
          <p:nvPr/>
        </p:nvSpPr>
        <p:spPr>
          <a:xfrm>
            <a:off x="5852160" y="914400"/>
            <a:ext cx="2926080" cy="1280160"/>
          </a:xfrm>
          <a:prstGeom prst="roundRect">
            <a:avLst>
              <a:gd name="adj" fmla="val 3571"/>
            </a:avLst>
          </a:prstGeom>
          <a:solidFill>
            <a:srgbClr val="F1F5F8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C526C406-EB32-4FA4-88D0-B8B4A6D32E13}"/>
              </a:ext>
            </a:extLst>
          </p:cNvPr>
          <p:cNvSpPr>
            <a:spLocks noGrp="1"/>
          </p:cNvSpPr>
          <p:nvPr/>
        </p:nvSpPr>
        <p:spPr>
          <a:xfrm>
            <a:off x="5897880" y="960120"/>
            <a:ext cx="2834640" cy="11887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800">
                <a:solidFill>
                  <a:srgbClr val="0B3D51"/>
                </a:solidFill>
                <a:latin typeface="Consolas"/>
                <a:ea typeface="Consolas"/>
                <a:cs typeface="Consolas"/>
              </a:rPr>
              <a:t>first_task &gt;&gt; [second, third]
third &lt;&lt; fourth
cross_downstream([op1, op2], [op3, op4])
chain(op1, [op2, op3], op4)</a:t>
            </a: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F19637F6-6046-4E00-B7B8-7C95EA441EFC}"/>
              </a:ext>
            </a:extLst>
          </p:cNvPr>
          <p:cNvSpPr>
            <a:spLocks noGrp="1"/>
          </p:cNvSpPr>
          <p:nvPr/>
        </p:nvSpPr>
        <p:spPr>
          <a:xfrm>
            <a:off x="457200" y="630936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600" u="sng">
                <a:solidFill>
                  <a:srgbClr val="0066CC"/>
                </a:solidFill>
                <a:hlinkClick r:id="rId3"/>
              </a:rPr>
              <a:t>[1]</a:t>
            </a:r>
          </a:p>
        </p:txBody>
      </p:sp>
    </p:spTree>
    <p:extLst>
      <p:ext uri="{BB962C8B-B14F-4D97-AF65-F5344CB8AC3E}">
        <p14:creationId xmlns:p14="http://schemas.microsoft.com/office/powerpoint/2010/main" val="14531385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1A984B2-AEE4-4B24-801D-FBAC6CFF8E4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B3D51"/>
          </a:solidFill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25D49DC-5D34-4EB8-90E9-C60CA0A91702}"/>
              </a:ext>
            </a:extLst>
          </p:cNvPr>
          <p:cNvSpPr>
            <a:spLocks noGrp="1"/>
          </p:cNvSpPr>
          <p:nvPr/>
        </p:nvSpPr>
        <p:spPr>
          <a:xfrm>
            <a:off x="457200" y="91440"/>
            <a:ext cx="73152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800" b="1">
                <a:solidFill>
                  <a:srgbClr val="FFFFFF"/>
                </a:solidFill>
              </a:rPr>
              <a:t>Task Types</a:t>
            </a:r>
          </a:p>
        </p:txBody>
      </p:sp>
      <p:pic>
        <p:nvPicPr>
          <p:cNvPr id="4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594360"/>
            <a:ext cx="228600" cy="228600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12B7CBD1-0723-44E7-8F06-AD6250407A07}"/>
              </a:ext>
            </a:extLst>
          </p:cNvPr>
          <p:cNvSpPr>
            <a:spLocks noGrp="1"/>
          </p:cNvSpPr>
          <p:nvPr/>
        </p:nvSpPr>
        <p:spPr>
          <a:xfrm>
            <a:off x="640080" y="548640"/>
            <a:ext cx="3017520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 b="1">
                <a:solidFill>
                  <a:srgbClr val="003C54"/>
                </a:solidFill>
              </a:rPr>
              <a:t>Operators</a:t>
            </a: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C6D71CF5-3B3F-4307-A6D0-2F515F2CFF72}"/>
              </a:ext>
            </a:extLst>
          </p:cNvPr>
          <p:cNvSpPr>
            <a:spLocks noGrp="1"/>
          </p:cNvSpPr>
          <p:nvPr/>
        </p:nvSpPr>
        <p:spPr>
          <a:xfrm>
            <a:off x="640080" y="694944"/>
            <a:ext cx="41148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900">
                <a:solidFill>
                  <a:srgbClr val="6A6A6A"/>
                </a:solidFill>
              </a:rPr>
              <a:t>Templates for defining tasks; examples include BashOperator, PythonOperator, EmailOperator.</a:t>
            </a:r>
          </a:p>
        </p:txBody>
      </p:sp>
      <p:pic>
        <p:nvPicPr>
          <p:cNvPr id="7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097280"/>
            <a:ext cx="228600" cy="228600"/>
          </a:xfrm>
          <a:prstGeom prst="rect">
            <a:avLst/>
          </a:prstGeom>
        </p:spPr>
      </p:pic>
      <p:sp>
        <p:nvSpPr>
          <p:cNvPr id="8" name="Text 4">
            <a:extLst>
              <a:ext uri="{FF2B5EF4-FFF2-40B4-BE49-F238E27FC236}">
                <a16:creationId xmlns:a16="http://schemas.microsoft.com/office/drawing/2014/main" id="{55FC65DA-3026-4FCD-827E-07AF647FED1A}"/>
              </a:ext>
            </a:extLst>
          </p:cNvPr>
          <p:cNvSpPr>
            <a:spLocks noGrp="1"/>
          </p:cNvSpPr>
          <p:nvPr/>
        </p:nvSpPr>
        <p:spPr>
          <a:xfrm>
            <a:off x="640080" y="1051560"/>
            <a:ext cx="3017520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 b="1">
                <a:solidFill>
                  <a:srgbClr val="003C54"/>
                </a:solidFill>
              </a:rPr>
              <a:t>Sensors</a:t>
            </a: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27C73717-64EE-4ED8-A01B-98E560F3A9CD}"/>
              </a:ext>
            </a:extLst>
          </p:cNvPr>
          <p:cNvSpPr>
            <a:spLocks noGrp="1"/>
          </p:cNvSpPr>
          <p:nvPr/>
        </p:nvSpPr>
        <p:spPr>
          <a:xfrm>
            <a:off x="640080" y="1197864"/>
            <a:ext cx="41148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900">
                <a:solidFill>
                  <a:srgbClr val="6A6A6A"/>
                </a:solidFill>
              </a:rPr>
              <a:t>Tasks that wait for external events (files, API responses). Modes: poke vs reschedule.</a:t>
            </a:r>
          </a:p>
        </p:txBody>
      </p:sp>
      <p:pic>
        <p:nvPicPr>
          <p:cNvPr id="10" name="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1600200"/>
            <a:ext cx="228600" cy="228600"/>
          </a:xfrm>
          <a:prstGeom prst="rect">
            <a:avLst/>
          </a:prstGeom>
        </p:spPr>
      </p:pic>
      <p:sp>
        <p:nvSpPr>
          <p:cNvPr id="11" name="Text 6">
            <a:extLst>
              <a:ext uri="{FF2B5EF4-FFF2-40B4-BE49-F238E27FC236}">
                <a16:creationId xmlns:a16="http://schemas.microsoft.com/office/drawing/2014/main" id="{F52C1F44-BCC9-4881-9A79-0337D3CEE21D}"/>
              </a:ext>
            </a:extLst>
          </p:cNvPr>
          <p:cNvSpPr>
            <a:spLocks noGrp="1"/>
          </p:cNvSpPr>
          <p:nvPr/>
        </p:nvSpPr>
        <p:spPr>
          <a:xfrm>
            <a:off x="640080" y="1554480"/>
            <a:ext cx="3017520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 b="1">
                <a:solidFill>
                  <a:srgbClr val="003C54"/>
                </a:solidFill>
              </a:rPr>
              <a:t>TaskFlow @task</a:t>
            </a:r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A2FAC1A4-4734-408E-94B1-1CABA059C935}"/>
              </a:ext>
            </a:extLst>
          </p:cNvPr>
          <p:cNvSpPr>
            <a:spLocks noGrp="1"/>
          </p:cNvSpPr>
          <p:nvPr/>
        </p:nvSpPr>
        <p:spPr>
          <a:xfrm>
            <a:off x="640080" y="1700784"/>
            <a:ext cx="41148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900">
                <a:solidFill>
                  <a:srgbClr val="6A6A6A"/>
                </a:solidFill>
              </a:rPr>
              <a:t>Decorated Python functions returning values; dependencies handled via XComArg.</a:t>
            </a:r>
          </a:p>
        </p:txBody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BB69501E-87C4-4856-AD4C-8EC9E310EAAC}"/>
              </a:ext>
            </a:extLst>
          </p:cNvPr>
          <p:cNvSpPr>
            <a:spLocks noGrp="1"/>
          </p:cNvSpPr>
          <p:nvPr/>
        </p:nvSpPr>
        <p:spPr>
          <a:xfrm>
            <a:off x="5029200" y="548640"/>
            <a:ext cx="3931920" cy="1280160"/>
          </a:xfrm>
          <a:prstGeom prst="roundRect">
            <a:avLst>
              <a:gd name="adj" fmla="val 3571"/>
            </a:avLst>
          </a:prstGeom>
          <a:solidFill>
            <a:srgbClr val="F1F5F8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D62B3E4D-0924-43BE-AE6F-A20D5B0D8464}"/>
              </a:ext>
            </a:extLst>
          </p:cNvPr>
          <p:cNvSpPr>
            <a:spLocks noGrp="1"/>
          </p:cNvSpPr>
          <p:nvPr/>
        </p:nvSpPr>
        <p:spPr>
          <a:xfrm>
            <a:off x="5074920" y="594360"/>
            <a:ext cx="3840480" cy="11887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800" b="1">
                <a:solidFill>
                  <a:srgbClr val="0B3D51"/>
                </a:solidFill>
                <a:latin typeface="Consolas"/>
                <a:ea typeface="Consolas"/>
                <a:cs typeface="Consolas"/>
              </a:rPr>
              <a:t>from airflow.sdk import task
</a:t>
            </a:r>
            <a:r>
              <a:rPr sz="800">
                <a:solidFill>
                  <a:srgbClr val="0B3D51"/>
                </a:solidFill>
                <a:latin typeface="Consolas"/>
                <a:ea typeface="Consolas"/>
                <a:cs typeface="Consolas"/>
              </a:rPr>
              <a:t>@task</a:t>
            </a:r>
          </a:p>
          <a:p>
            <a:pPr marL="0" indent="0">
              <a:buNone/>
            </a:pPr>
            <a:r>
              <a:rPr sz="800">
                <a:solidFill>
                  <a:srgbClr val="0B3D51"/>
                </a:solidFill>
                <a:latin typeface="Consolas"/>
                <a:ea typeface="Consolas"/>
                <a:cs typeface="Consolas"/>
              </a:rPr>
              <a:t>def extract_data():</a:t>
            </a:r>
          </a:p>
          <a:p>
            <a:pPr marL="0" indent="0">
              <a:buNone/>
            </a:pPr>
            <a:r>
              <a:rPr sz="800">
                <a:solidFill>
                  <a:srgbClr val="0B3D51"/>
                </a:solidFill>
                <a:latin typeface="Consolas"/>
                <a:ea typeface="Consolas"/>
                <a:cs typeface="Consolas"/>
              </a:rPr>
              <a:t>    return get_data()</a:t>
            </a:r>
          </a:p>
          <a:p>
            <a:pPr marL="0" indent="0">
              <a:buNone/>
            </a:pPr>
            <a:endParaRPr sz="800">
              <a:solidFill>
                <a:srgbClr val="0B3D51"/>
              </a:solidFill>
              <a:latin typeface="Consolas"/>
              <a:ea typeface="Consolas"/>
              <a:cs typeface="Consolas"/>
            </a:endParaRPr>
          </a:p>
          <a:p>
            <a:pPr marL="0" indent="0">
              <a:buNone/>
            </a:pPr>
            <a:r>
              <a:rPr sz="800">
                <a:solidFill>
                  <a:srgbClr val="0B3D51"/>
                </a:solidFill>
                <a:latin typeface="Consolas"/>
                <a:ea typeface="Consolas"/>
                <a:cs typeface="Consolas"/>
              </a:rPr>
              <a:t>file_sensor = FileSensor(task_id="wait_for_file", filepath="data/file.csv")</a:t>
            </a:r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9672CFEA-12C4-409C-9D08-C96ABFA73534}"/>
              </a:ext>
            </a:extLst>
          </p:cNvPr>
          <p:cNvSpPr>
            <a:spLocks noGrp="1"/>
          </p:cNvSpPr>
          <p:nvPr/>
        </p:nvSpPr>
        <p:spPr>
          <a:xfrm>
            <a:off x="457200" y="630936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600" u="sng">
                <a:solidFill>
                  <a:srgbClr val="0066CC"/>
                </a:solidFill>
                <a:hlinkClick r:id="rId6"/>
              </a:rPr>
              <a:t>[1]</a:t>
            </a:r>
            <a:r>
              <a:rPr sz="600">
                <a:solidFill>
                  <a:srgbClr val="000000"/>
                </a:solidFill>
              </a:rPr>
              <a:t>   </a:t>
            </a:r>
            <a:r>
              <a:rPr sz="600" u="sng">
                <a:solidFill>
                  <a:srgbClr val="0066CC"/>
                </a:solidFill>
                <a:hlinkClick r:id="rId7"/>
              </a:rPr>
              <a:t>[2]</a:t>
            </a:r>
            <a:r>
              <a:rPr sz="600">
                <a:solidFill>
                  <a:srgbClr val="000000"/>
                </a:solidFill>
              </a:rPr>
              <a:t>   </a:t>
            </a:r>
            <a:r>
              <a:rPr sz="600" u="sng">
                <a:solidFill>
                  <a:srgbClr val="0066CC"/>
                </a:solidFill>
                <a:hlinkClick r:id="rId8"/>
              </a:rPr>
              <a:t>[3]</a:t>
            </a:r>
          </a:p>
        </p:txBody>
      </p:sp>
    </p:spTree>
    <p:extLst>
      <p:ext uri="{BB962C8B-B14F-4D97-AF65-F5344CB8AC3E}">
        <p14:creationId xmlns:p14="http://schemas.microsoft.com/office/powerpoint/2010/main" val="5951666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72B1A3A-5B54-4510-AFDF-B575BE0B387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B3D51"/>
          </a:solidFill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E0D8478-627E-4501-812B-0F078F5360A6}"/>
              </a:ext>
            </a:extLst>
          </p:cNvPr>
          <p:cNvSpPr>
            <a:spLocks noGrp="1"/>
          </p:cNvSpPr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800" b="1">
                <a:solidFill>
                  <a:srgbClr val="FFFFFF"/>
                </a:solidFill>
              </a:rPr>
              <a:t>Sensors &amp; Waiting for Events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C428949-C61E-4C45-B4A2-D5A9A5FDD457}"/>
              </a:ext>
            </a:extLst>
          </p:cNvPr>
          <p:cNvSpPr>
            <a:spLocks noGrp="1"/>
          </p:cNvSpPr>
          <p:nvPr/>
        </p:nvSpPr>
        <p:spPr>
          <a:xfrm>
            <a:off x="457200" y="640080"/>
            <a:ext cx="4572000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>
                <a:solidFill>
                  <a:srgbClr val="003C54"/>
                </a:solidFill>
              </a:rPr>
              <a:t>• Sensors wait for external events before succeeding.
</a:t>
            </a:r>
            <a:r>
              <a:rPr sz="1000" b="1">
                <a:solidFill>
                  <a:srgbClr val="003C54"/>
                </a:solidFill>
              </a:rPr>
              <a:t>• Modes:
</a:t>
            </a:r>
            <a:r>
              <a:rPr sz="900">
                <a:solidFill>
                  <a:srgbClr val="6A6A6A"/>
                </a:solidFill>
              </a:rPr>
              <a:t>  poke – occupies a worker for entire runtime
  reschedule – sleeps between checks and frees the worker
• Use poke for frequent checks (e.g., API every second); use reschedule for infrequent events (e.g., daily file arrival).
• Examples: FileSensor, TimeSensor, S3KeySensor, ExternalTaskSensor.</a:t>
            </a:r>
          </a:p>
        </p:txBody>
      </p:sp>
      <p:pic>
        <p:nvPicPr>
          <p:cNvPr id="5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731520"/>
            <a:ext cx="365760" cy="365760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34002622-100A-4EC7-A38F-70AC64494A1A}"/>
              </a:ext>
            </a:extLst>
          </p:cNvPr>
          <p:cNvSpPr>
            <a:spLocks noGrp="1"/>
          </p:cNvSpPr>
          <p:nvPr/>
        </p:nvSpPr>
        <p:spPr>
          <a:xfrm>
            <a:off x="5943600" y="731520"/>
            <a:ext cx="32004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900">
                <a:solidFill>
                  <a:srgbClr val="003C54"/>
                </a:solidFill>
              </a:rPr>
              <a:t>Wait for file to appear</a:t>
            </a:r>
          </a:p>
        </p:txBody>
      </p:sp>
      <p:pic>
        <p:nvPicPr>
          <p:cNvPr id="7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1188720"/>
            <a:ext cx="365760" cy="365760"/>
          </a:xfrm>
          <a:prstGeom prst="rect">
            <a:avLst/>
          </a:prstGeom>
        </p:spPr>
      </p:pic>
      <p:sp>
        <p:nvSpPr>
          <p:cNvPr id="8" name="Text 4">
            <a:extLst>
              <a:ext uri="{FF2B5EF4-FFF2-40B4-BE49-F238E27FC236}">
                <a16:creationId xmlns:a16="http://schemas.microsoft.com/office/drawing/2014/main" id="{C7B0B492-23F5-41CE-A51C-62C6E276F9F6}"/>
              </a:ext>
            </a:extLst>
          </p:cNvPr>
          <p:cNvSpPr>
            <a:spLocks noGrp="1"/>
          </p:cNvSpPr>
          <p:nvPr/>
        </p:nvSpPr>
        <p:spPr>
          <a:xfrm>
            <a:off x="5943600" y="1188720"/>
            <a:ext cx="32004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900">
                <a:solidFill>
                  <a:srgbClr val="003C54"/>
                </a:solidFill>
              </a:rPr>
              <a:t>Check every minute (reschedule)</a:t>
            </a:r>
          </a:p>
        </p:txBody>
      </p:sp>
      <p:pic>
        <p:nvPicPr>
          <p:cNvPr id="9" name="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1645920"/>
            <a:ext cx="365760" cy="365760"/>
          </a:xfrm>
          <a:prstGeom prst="rect">
            <a:avLst/>
          </a:prstGeom>
        </p:spPr>
      </p:pic>
      <p:sp>
        <p:nvSpPr>
          <p:cNvPr id="10" name="Text 5">
            <a:extLst>
              <a:ext uri="{FF2B5EF4-FFF2-40B4-BE49-F238E27FC236}">
                <a16:creationId xmlns:a16="http://schemas.microsoft.com/office/drawing/2014/main" id="{A9B46E7B-0A69-40B4-9C93-E485D0FD777E}"/>
              </a:ext>
            </a:extLst>
          </p:cNvPr>
          <p:cNvSpPr>
            <a:spLocks noGrp="1"/>
          </p:cNvSpPr>
          <p:nvPr/>
        </p:nvSpPr>
        <p:spPr>
          <a:xfrm>
            <a:off x="5943600" y="1645920"/>
            <a:ext cx="32004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900">
                <a:solidFill>
                  <a:srgbClr val="003C54"/>
                </a:solidFill>
              </a:rPr>
              <a:t>Check continuously (poke)</a:t>
            </a:r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235CB58F-4DFE-41C4-8224-60AEB650F7BA}"/>
              </a:ext>
            </a:extLst>
          </p:cNvPr>
          <p:cNvSpPr>
            <a:spLocks noGrp="1"/>
          </p:cNvSpPr>
          <p:nvPr/>
        </p:nvSpPr>
        <p:spPr>
          <a:xfrm>
            <a:off x="457200" y="630936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600" u="sng">
                <a:solidFill>
                  <a:srgbClr val="0066CC"/>
                </a:solidFill>
                <a:hlinkClick r:id="rId6"/>
              </a:rPr>
              <a:t>[1]</a:t>
            </a:r>
          </a:p>
        </p:txBody>
      </p:sp>
    </p:spTree>
    <p:extLst>
      <p:ext uri="{BB962C8B-B14F-4D97-AF65-F5344CB8AC3E}">
        <p14:creationId xmlns:p14="http://schemas.microsoft.com/office/powerpoint/2010/main" val="21285150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298C810-74CD-4EB2-8D17-BE2A726E201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B3D51"/>
          </a:solidFill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C736FE8-0200-474E-A346-BE08A9806CE3}"/>
              </a:ext>
            </a:extLst>
          </p:cNvPr>
          <p:cNvSpPr>
            <a:spLocks noGrp="1"/>
          </p:cNvSpPr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800" b="1">
                <a:solidFill>
                  <a:srgbClr val="FFFFFF"/>
                </a:solidFill>
              </a:rPr>
              <a:t>TaskFlow API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4CA8B8D-EDC2-427A-9EB4-2E6A5D501874}"/>
              </a:ext>
            </a:extLst>
          </p:cNvPr>
          <p:cNvSpPr>
            <a:spLocks noGrp="1"/>
          </p:cNvSpPr>
          <p:nvPr/>
        </p:nvSpPr>
        <p:spPr>
          <a:xfrm>
            <a:off x="457200" y="548640"/>
            <a:ext cx="45720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>
                <a:solidFill>
                  <a:srgbClr val="003C54"/>
                </a:solidFill>
              </a:rPr>
              <a:t>Write pure Python functions with @task decorator – the easiest way to author tasks and pass data between them.</a:t>
            </a: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F11E310-5BC5-4530-B375-4D71C66F90BE}"/>
              </a:ext>
            </a:extLst>
          </p:cNvPr>
          <p:cNvSpPr>
            <a:spLocks noGrp="1"/>
          </p:cNvSpPr>
          <p:nvPr/>
        </p:nvSpPr>
        <p:spPr>
          <a:xfrm>
            <a:off x="457200" y="1005840"/>
            <a:ext cx="5029200" cy="2560320"/>
          </a:xfrm>
          <a:prstGeom prst="roundRect">
            <a:avLst>
              <a:gd name="adj" fmla="val 1786"/>
            </a:avLst>
          </a:prstGeom>
          <a:solidFill>
            <a:srgbClr val="F1F5F8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E1AC78F-D2F1-4BF6-96EA-F3D5351331C4}"/>
              </a:ext>
            </a:extLst>
          </p:cNvPr>
          <p:cNvSpPr>
            <a:spLocks noGrp="1"/>
          </p:cNvSpPr>
          <p:nvPr/>
        </p:nvSpPr>
        <p:spPr>
          <a:xfrm>
            <a:off x="502920" y="1051560"/>
            <a:ext cx="4937760" cy="24688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750">
                <a:solidFill>
                  <a:srgbClr val="0B3D51"/>
                </a:solidFill>
                <a:latin typeface="Consolas"/>
                <a:ea typeface="Consolas"/>
                <a:cs typeface="Consolas"/>
              </a:rPr>
              <a:t>from airflow.sdk import dag, task</a:t>
            </a:r>
          </a:p>
          <a:p>
            <a:pPr marL="0" indent="0">
              <a:buNone/>
            </a:pPr>
            <a:r>
              <a:rPr sz="750">
                <a:solidFill>
                  <a:srgbClr val="0B3D51"/>
                </a:solidFill>
                <a:latin typeface="Consolas"/>
                <a:ea typeface="Consolas"/>
                <a:cs typeface="Consolas"/>
              </a:rPr>
              <a:t>import datetime</a:t>
            </a:r>
          </a:p>
          <a:p>
            <a:pPr marL="0" indent="0">
              <a:buNone/>
            </a:pPr>
            <a:endParaRPr sz="750">
              <a:solidFill>
                <a:srgbClr val="0B3D51"/>
              </a:solidFill>
              <a:latin typeface="Consolas"/>
              <a:ea typeface="Consolas"/>
              <a:cs typeface="Consolas"/>
            </a:endParaRPr>
          </a:p>
          <a:p>
            <a:pPr marL="0" indent="0">
              <a:buNone/>
            </a:pPr>
            <a:r>
              <a:rPr sz="750">
                <a:solidFill>
                  <a:srgbClr val="0B3D51"/>
                </a:solidFill>
                <a:latin typeface="Consolas"/>
                <a:ea typeface="Consolas"/>
                <a:cs typeface="Consolas"/>
              </a:rPr>
              <a:t>@task</a:t>
            </a:r>
          </a:p>
          <a:p>
            <a:pPr marL="0" indent="0">
              <a:buNone/>
            </a:pPr>
            <a:r>
              <a:rPr sz="750">
                <a:solidFill>
                  <a:srgbClr val="0B3D51"/>
                </a:solidFill>
                <a:latin typeface="Consolas"/>
                <a:ea typeface="Consolas"/>
                <a:cs typeface="Consolas"/>
              </a:rPr>
              <a:t>def extract_orders():</a:t>
            </a:r>
          </a:p>
          <a:p>
            <a:pPr marL="0" indent="0">
              <a:buNone/>
            </a:pPr>
            <a:r>
              <a:rPr sz="750">
                <a:solidFill>
                  <a:srgbClr val="0B3D51"/>
                </a:solidFill>
                <a:latin typeface="Consolas"/>
                <a:ea typeface="Consolas"/>
                <a:cs typeface="Consolas"/>
              </a:rPr>
              <a:t>    # fetch orders from Bronze table</a:t>
            </a:r>
          </a:p>
          <a:p>
            <a:pPr marL="0" indent="0">
              <a:buNone/>
            </a:pPr>
            <a:r>
              <a:rPr sz="750">
                <a:solidFill>
                  <a:srgbClr val="0B3D51"/>
                </a:solidFill>
                <a:latin typeface="Consolas"/>
                <a:ea typeface="Consolas"/>
                <a:cs typeface="Consolas"/>
              </a:rPr>
              <a:t>    return orders</a:t>
            </a:r>
          </a:p>
          <a:p>
            <a:pPr marL="0" indent="0">
              <a:buNone/>
            </a:pPr>
            <a:endParaRPr sz="750">
              <a:solidFill>
                <a:srgbClr val="0B3D51"/>
              </a:solidFill>
              <a:latin typeface="Consolas"/>
              <a:ea typeface="Consolas"/>
              <a:cs typeface="Consolas"/>
            </a:endParaRPr>
          </a:p>
          <a:p>
            <a:pPr marL="0" indent="0">
              <a:buNone/>
            </a:pPr>
            <a:r>
              <a:rPr sz="750">
                <a:solidFill>
                  <a:srgbClr val="0B3D51"/>
                </a:solidFill>
                <a:latin typeface="Consolas"/>
                <a:ea typeface="Consolas"/>
                <a:cs typeface="Consolas"/>
              </a:rPr>
              <a:t>@task</a:t>
            </a:r>
          </a:p>
          <a:p>
            <a:pPr marL="0" indent="0">
              <a:buNone/>
            </a:pPr>
            <a:r>
              <a:rPr sz="750">
                <a:solidFill>
                  <a:srgbClr val="0B3D51"/>
                </a:solidFill>
                <a:latin typeface="Consolas"/>
                <a:ea typeface="Consolas"/>
                <a:cs typeface="Consolas"/>
              </a:rPr>
              <a:t>def transform_orders(orders):</a:t>
            </a:r>
          </a:p>
          <a:p>
            <a:pPr marL="0" indent="0">
              <a:buNone/>
            </a:pPr>
            <a:r>
              <a:rPr sz="750">
                <a:solidFill>
                  <a:srgbClr val="0B3D51"/>
                </a:solidFill>
                <a:latin typeface="Consolas"/>
                <a:ea typeface="Consolas"/>
                <a:cs typeface="Consolas"/>
              </a:rPr>
              <a:t>    # filter and aggregate orders</a:t>
            </a:r>
          </a:p>
          <a:p>
            <a:pPr marL="0" indent="0">
              <a:buNone/>
            </a:pPr>
            <a:r>
              <a:rPr sz="750">
                <a:solidFill>
                  <a:srgbClr val="0B3D51"/>
                </a:solidFill>
                <a:latin typeface="Consolas"/>
                <a:ea typeface="Consolas"/>
                <a:cs typeface="Consolas"/>
              </a:rPr>
              <a:t>    return summary</a:t>
            </a:r>
          </a:p>
          <a:p>
            <a:pPr marL="0" indent="0">
              <a:buNone/>
            </a:pPr>
            <a:endParaRPr sz="750">
              <a:solidFill>
                <a:srgbClr val="0B3D51"/>
              </a:solidFill>
              <a:latin typeface="Consolas"/>
              <a:ea typeface="Consolas"/>
              <a:cs typeface="Consolas"/>
            </a:endParaRPr>
          </a:p>
          <a:p>
            <a:pPr marL="0" indent="0">
              <a:buNone/>
            </a:pPr>
            <a:r>
              <a:rPr sz="750">
                <a:solidFill>
                  <a:srgbClr val="0B3D51"/>
                </a:solidFill>
                <a:latin typeface="Consolas"/>
                <a:ea typeface="Consolas"/>
                <a:cs typeface="Consolas"/>
              </a:rPr>
              <a:t>@task</a:t>
            </a:r>
          </a:p>
          <a:p>
            <a:pPr marL="0" indent="0">
              <a:buNone/>
            </a:pPr>
            <a:r>
              <a:rPr sz="750">
                <a:solidFill>
                  <a:srgbClr val="0B3D51"/>
                </a:solidFill>
                <a:latin typeface="Consolas"/>
                <a:ea typeface="Consolas"/>
                <a:cs typeface="Consolas"/>
              </a:rPr>
              <a:t>def load_orders(summary):</a:t>
            </a:r>
          </a:p>
          <a:p>
            <a:pPr marL="0" indent="0">
              <a:buNone/>
            </a:pPr>
            <a:r>
              <a:rPr sz="750">
                <a:solidFill>
                  <a:srgbClr val="0B3D51"/>
                </a:solidFill>
                <a:latin typeface="Consolas"/>
                <a:ea typeface="Consolas"/>
                <a:cs typeface="Consolas"/>
              </a:rPr>
              <a:t>    # write summary to Gold table</a:t>
            </a:r>
          </a:p>
          <a:p>
            <a:pPr marL="0" indent="0">
              <a:buNone/>
            </a:pPr>
            <a:r>
              <a:rPr sz="750">
                <a:solidFill>
                  <a:srgbClr val="0B3D51"/>
                </a:solidFill>
                <a:latin typeface="Consolas"/>
                <a:ea typeface="Consolas"/>
                <a:cs typeface="Consolas"/>
              </a:rPr>
              <a:t>    pass</a:t>
            </a:r>
          </a:p>
          <a:p>
            <a:pPr marL="0" indent="0">
              <a:buNone/>
            </a:pPr>
            <a:endParaRPr sz="750">
              <a:solidFill>
                <a:srgbClr val="0B3D51"/>
              </a:solidFill>
              <a:latin typeface="Consolas"/>
              <a:ea typeface="Consolas"/>
              <a:cs typeface="Consolas"/>
            </a:endParaRPr>
          </a:p>
          <a:p>
            <a:pPr marL="0" indent="0">
              <a:buNone/>
            </a:pPr>
            <a:r>
              <a:rPr sz="750">
                <a:solidFill>
                  <a:srgbClr val="0B3D51"/>
                </a:solidFill>
                <a:latin typeface="Consolas"/>
                <a:ea typeface="Consolas"/>
                <a:cs typeface="Consolas"/>
              </a:rPr>
              <a:t>@dag(start_date=datetime.datetime(2024,1,1), schedule='@daily')</a:t>
            </a:r>
          </a:p>
          <a:p>
            <a:pPr marL="0" indent="0">
              <a:buNone/>
            </a:pPr>
            <a:r>
              <a:rPr sz="750">
                <a:solidFill>
                  <a:srgbClr val="0B3D51"/>
                </a:solidFill>
                <a:latin typeface="Consolas"/>
                <a:ea typeface="Consolas"/>
                <a:cs typeface="Consolas"/>
              </a:rPr>
              <a:t>def order_pipeline():</a:t>
            </a:r>
          </a:p>
          <a:p>
            <a:pPr marL="0" indent="0">
              <a:buNone/>
            </a:pPr>
            <a:r>
              <a:rPr sz="750">
                <a:solidFill>
                  <a:srgbClr val="0B3D51"/>
                </a:solidFill>
                <a:latin typeface="Consolas"/>
                <a:ea typeface="Consolas"/>
                <a:cs typeface="Consolas"/>
              </a:rPr>
              <a:t>    orders = extract_orders()</a:t>
            </a:r>
          </a:p>
          <a:p>
            <a:pPr marL="0" indent="0">
              <a:buNone/>
            </a:pPr>
            <a:r>
              <a:rPr sz="750">
                <a:solidFill>
                  <a:srgbClr val="0B3D51"/>
                </a:solidFill>
                <a:latin typeface="Consolas"/>
                <a:ea typeface="Consolas"/>
                <a:cs typeface="Consolas"/>
              </a:rPr>
              <a:t>    summary = transform_orders(orders)</a:t>
            </a:r>
          </a:p>
          <a:p>
            <a:pPr marL="0" indent="0">
              <a:buNone/>
            </a:pPr>
            <a:r>
              <a:rPr sz="750">
                <a:solidFill>
                  <a:srgbClr val="0B3D51"/>
                </a:solidFill>
                <a:latin typeface="Consolas"/>
                <a:ea typeface="Consolas"/>
                <a:cs typeface="Consolas"/>
              </a:rPr>
              <a:t>    load_orders(summary)</a:t>
            </a:r>
          </a:p>
          <a:p>
            <a:pPr marL="0" indent="0">
              <a:buNone/>
            </a:pPr>
            <a:endParaRPr sz="750">
              <a:solidFill>
                <a:srgbClr val="0B3D51"/>
              </a:solidFill>
              <a:latin typeface="Consolas"/>
              <a:ea typeface="Consolas"/>
              <a:cs typeface="Consolas"/>
            </a:endParaRPr>
          </a:p>
          <a:p>
            <a:pPr marL="0" indent="0">
              <a:buNone/>
            </a:pPr>
            <a:r>
              <a:rPr sz="750">
                <a:solidFill>
                  <a:srgbClr val="0B3D51"/>
                </a:solidFill>
                <a:latin typeface="Consolas"/>
                <a:ea typeface="Consolas"/>
                <a:cs typeface="Consolas"/>
              </a:rPr>
              <a:t>order_pipeline()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42E6AA6-DCE0-49BF-9E2C-21607CD61F76}"/>
              </a:ext>
            </a:extLst>
          </p:cNvPr>
          <p:cNvSpPr>
            <a:spLocks noGrp="1"/>
          </p:cNvSpPr>
          <p:nvPr/>
        </p:nvSpPr>
        <p:spPr>
          <a:xfrm>
            <a:off x="5669280" y="1188720"/>
            <a:ext cx="3291840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900">
                <a:solidFill>
                  <a:srgbClr val="003C54"/>
                </a:solidFill>
              </a:rPr>
              <a:t>• Returns are automatically XComArg objects
• Dependencies inferred from argument order
• Recommended for lightweight Python logic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86D3FA5-19D1-4F1D-8747-4D5107DDA736}"/>
              </a:ext>
            </a:extLst>
          </p:cNvPr>
          <p:cNvSpPr>
            <a:spLocks noGrp="1"/>
          </p:cNvSpPr>
          <p:nvPr/>
        </p:nvSpPr>
        <p:spPr>
          <a:xfrm>
            <a:off x="457200" y="630936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600" u="sng">
                <a:solidFill>
                  <a:srgbClr val="0066CC"/>
                </a:solidFill>
                <a:hlinkClick r:id="rId3"/>
              </a:rPr>
              <a:t>[1]</a:t>
            </a:r>
            <a:r>
              <a:rPr sz="600">
                <a:solidFill>
                  <a:srgbClr val="000000"/>
                </a:solidFill>
              </a:rPr>
              <a:t>   </a:t>
            </a:r>
            <a:r>
              <a:rPr sz="600" u="sng">
                <a:solidFill>
                  <a:srgbClr val="0066CC"/>
                </a:solidFill>
                <a:hlinkClick r:id="rId4"/>
              </a:rPr>
              <a:t>[2]</a:t>
            </a:r>
          </a:p>
        </p:txBody>
      </p:sp>
    </p:spTree>
    <p:extLst>
      <p:ext uri="{BB962C8B-B14F-4D97-AF65-F5344CB8AC3E}">
        <p14:creationId xmlns:p14="http://schemas.microsoft.com/office/powerpoint/2010/main" val="8180372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2DCA56F-D920-4246-B443-D362ECF9740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B3D51"/>
          </a:solidFill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25E7BAB-B48B-4D66-B157-6B663322FAAF}"/>
              </a:ext>
            </a:extLst>
          </p:cNvPr>
          <p:cNvSpPr>
            <a:spLocks noGrp="1"/>
          </p:cNvSpPr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800" b="1">
                <a:solidFill>
                  <a:srgbClr val="FFFFFF"/>
                </a:solidFill>
              </a:rPr>
              <a:t>Scheduling &amp; Event Triggers</a:t>
            </a:r>
          </a:p>
        </p:txBody>
      </p:sp>
      <p:pic>
        <p:nvPicPr>
          <p:cNvPr id="4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40080"/>
            <a:ext cx="365760" cy="365760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21E98852-6411-4A60-B0F2-9ECCFEA98725}"/>
              </a:ext>
            </a:extLst>
          </p:cNvPr>
          <p:cNvSpPr>
            <a:spLocks noGrp="1"/>
          </p:cNvSpPr>
          <p:nvPr/>
        </p:nvSpPr>
        <p:spPr>
          <a:xfrm>
            <a:off x="914400" y="640080"/>
            <a:ext cx="3657600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 b="1">
                <a:solidFill>
                  <a:srgbClr val="003C54"/>
                </a:solidFill>
              </a:rPr>
              <a:t>Time‑based Scheduling</a:t>
            </a: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895C0A9C-034D-414E-B51E-64AB6020920A}"/>
              </a:ext>
            </a:extLst>
          </p:cNvPr>
          <p:cNvSpPr>
            <a:spLocks noGrp="1"/>
          </p:cNvSpPr>
          <p:nvPr/>
        </p:nvSpPr>
        <p:spPr>
          <a:xfrm>
            <a:off x="914400" y="804672"/>
            <a:ext cx="384048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900">
                <a:solidFill>
                  <a:srgbClr val="6A6A6A"/>
                </a:solidFill>
              </a:rPr>
              <a:t>• Use cron syntax to schedule DAGs: @daily, 0 0 * * *
• Catchup=True runs missed intervals on deployment
• Use timetables for advanced calendars</a:t>
            </a:r>
          </a:p>
        </p:txBody>
      </p:sp>
      <p:pic>
        <p:nvPicPr>
          <p:cNvPr id="7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640080"/>
            <a:ext cx="365760" cy="365760"/>
          </a:xfrm>
          <a:prstGeom prst="rect">
            <a:avLst/>
          </a:prstGeom>
        </p:spPr>
      </p:pic>
      <p:sp>
        <p:nvSpPr>
          <p:cNvPr id="8" name="Text 4">
            <a:extLst>
              <a:ext uri="{FF2B5EF4-FFF2-40B4-BE49-F238E27FC236}">
                <a16:creationId xmlns:a16="http://schemas.microsoft.com/office/drawing/2014/main" id="{4EC0BB38-0C87-4892-8D70-504E1BC170CC}"/>
              </a:ext>
            </a:extLst>
          </p:cNvPr>
          <p:cNvSpPr>
            <a:spLocks noGrp="1"/>
          </p:cNvSpPr>
          <p:nvPr/>
        </p:nvSpPr>
        <p:spPr>
          <a:xfrm>
            <a:off x="5486400" y="640080"/>
            <a:ext cx="3200400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 b="1">
                <a:solidFill>
                  <a:srgbClr val="003C54"/>
                </a:solidFill>
              </a:rPr>
              <a:t>Event‑Driven Triggers</a:t>
            </a: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4B1BA799-72E3-4CF5-B91D-E5DF6EAFF7A5}"/>
              </a:ext>
            </a:extLst>
          </p:cNvPr>
          <p:cNvSpPr>
            <a:spLocks noGrp="1"/>
          </p:cNvSpPr>
          <p:nvPr/>
        </p:nvSpPr>
        <p:spPr>
          <a:xfrm>
            <a:off x="5486400" y="804672"/>
            <a:ext cx="329184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900">
                <a:solidFill>
                  <a:srgbClr val="6A6A6A"/>
                </a:solidFill>
              </a:rPr>
              <a:t>• Deferrable operators suspend tasks until events occur (e.g., file arrives)
• Triggerer process handles deferred tasks asynchronously
• Sensors can act as event triggers</a:t>
            </a: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499CF158-327C-45E2-A6F8-6DB5A672B525}"/>
              </a:ext>
            </a:extLst>
          </p:cNvPr>
          <p:cNvSpPr>
            <a:spLocks noGrp="1"/>
          </p:cNvSpPr>
          <p:nvPr/>
        </p:nvSpPr>
        <p:spPr>
          <a:xfrm>
            <a:off x="457200" y="630936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600" u="sng">
                <a:solidFill>
                  <a:srgbClr val="0066CC"/>
                </a:solidFill>
                <a:hlinkClick r:id="rId5"/>
              </a:rPr>
              <a:t>[1]</a:t>
            </a:r>
            <a:r>
              <a:rPr sz="600">
                <a:solidFill>
                  <a:srgbClr val="000000"/>
                </a:solidFill>
              </a:rPr>
              <a:t>   </a:t>
            </a:r>
            <a:r>
              <a:rPr sz="600" u="sng">
                <a:solidFill>
                  <a:srgbClr val="0066CC"/>
                </a:solidFill>
                <a:hlinkClick r:id="rId6"/>
              </a:rPr>
              <a:t>[2]</a:t>
            </a:r>
          </a:p>
        </p:txBody>
      </p:sp>
    </p:spTree>
    <p:extLst>
      <p:ext uri="{BB962C8B-B14F-4D97-AF65-F5344CB8AC3E}">
        <p14:creationId xmlns:p14="http://schemas.microsoft.com/office/powerpoint/2010/main" val="15389558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6860674-7CFE-40A1-9927-C78ADABD888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B3D51"/>
          </a:solidFill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6A0A2DA-17A3-4BF6-A80D-195ABEF0BE2B}"/>
              </a:ext>
            </a:extLst>
          </p:cNvPr>
          <p:cNvSpPr>
            <a:spLocks noGrp="1"/>
          </p:cNvSpPr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800" b="1">
                <a:solidFill>
                  <a:srgbClr val="FFFFFF"/>
                </a:solidFill>
              </a:rPr>
              <a:t>XComs &amp; Data Exchange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567D9B3-60B2-4D04-8D00-3ADA99FE57CA}"/>
              </a:ext>
            </a:extLst>
          </p:cNvPr>
          <p:cNvSpPr>
            <a:spLocks noGrp="1"/>
          </p:cNvSpPr>
          <p:nvPr/>
        </p:nvSpPr>
        <p:spPr>
          <a:xfrm>
            <a:off x="457200" y="548640"/>
            <a:ext cx="50292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900">
                <a:solidFill>
                  <a:srgbClr val="003C54"/>
                </a:solidFill>
              </a:rPr>
              <a:t>• XComs let tasks exchange small pieces of data across the DAG.
• Each XCom is identified by key, task_id &amp; dag_id.
• Use xcom_push() and xcom_pull() in Task Context.
• Avoid large objects: XComs are stored in the metadata DB.</a:t>
            </a: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F0E929F-9465-4E1A-9FB7-3B49D75295D8}"/>
              </a:ext>
            </a:extLst>
          </p:cNvPr>
          <p:cNvSpPr>
            <a:spLocks noGrp="1"/>
          </p:cNvSpPr>
          <p:nvPr/>
        </p:nvSpPr>
        <p:spPr>
          <a:xfrm>
            <a:off x="5669280" y="548640"/>
            <a:ext cx="3291840" cy="1371600"/>
          </a:xfrm>
          <a:prstGeom prst="roundRect">
            <a:avLst>
              <a:gd name="adj" fmla="val 3333"/>
            </a:avLst>
          </a:prstGeom>
          <a:solidFill>
            <a:srgbClr val="F1F5F8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F94B1ED-8288-4812-ADBC-C807AA14F5A0}"/>
              </a:ext>
            </a:extLst>
          </p:cNvPr>
          <p:cNvSpPr>
            <a:spLocks noGrp="1"/>
          </p:cNvSpPr>
          <p:nvPr/>
        </p:nvSpPr>
        <p:spPr>
          <a:xfrm>
            <a:off x="5715000" y="594360"/>
            <a:ext cx="3200400" cy="12801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800">
                <a:solidFill>
                  <a:srgbClr val="0B3D51"/>
                </a:solidFill>
                <a:latin typeface="Consolas"/>
                <a:ea typeface="Consolas"/>
                <a:cs typeface="Consolas"/>
              </a:rPr>
              <a:t>def produce(**context):</a:t>
            </a:r>
          </a:p>
          <a:p>
            <a:pPr marL="0" indent="0">
              <a:buNone/>
            </a:pPr>
            <a:r>
              <a:rPr sz="800">
                <a:solidFill>
                  <a:srgbClr val="0B3D51"/>
                </a:solidFill>
                <a:latin typeface="Consolas"/>
                <a:ea typeface="Consolas"/>
                <a:cs typeface="Consolas"/>
              </a:rPr>
              <a:t>    context['task_instance'].xcom_push(key='result', value=42)</a:t>
            </a:r>
          </a:p>
          <a:p>
            <a:pPr marL="0" indent="0">
              <a:buNone/>
            </a:pPr>
            <a:endParaRPr sz="800">
              <a:solidFill>
                <a:srgbClr val="0B3D51"/>
              </a:solidFill>
              <a:latin typeface="Consolas"/>
              <a:ea typeface="Consolas"/>
              <a:cs typeface="Consolas"/>
            </a:endParaRPr>
          </a:p>
          <a:p>
            <a:pPr marL="0" indent="0">
              <a:buNone/>
            </a:pPr>
            <a:r>
              <a:rPr sz="800">
                <a:solidFill>
                  <a:srgbClr val="0B3D51"/>
                </a:solidFill>
                <a:latin typeface="Consolas"/>
                <a:ea typeface="Consolas"/>
                <a:cs typeface="Consolas"/>
              </a:rPr>
              <a:t>def consume(**context):</a:t>
            </a:r>
          </a:p>
          <a:p>
            <a:pPr marL="0" indent="0">
              <a:buNone/>
            </a:pPr>
            <a:r>
              <a:rPr sz="800">
                <a:solidFill>
                  <a:srgbClr val="0B3D51"/>
                </a:solidFill>
                <a:latin typeface="Consolas"/>
                <a:ea typeface="Consolas"/>
                <a:cs typeface="Consolas"/>
              </a:rPr>
              <a:t>    value = context['task_instance'].xcom_pull(key='result', task_ids='produce')</a:t>
            </a:r>
          </a:p>
          <a:p>
            <a:pPr marL="0" indent="0">
              <a:buNone/>
            </a:pPr>
            <a:r>
              <a:rPr sz="800">
                <a:solidFill>
                  <a:srgbClr val="0B3D51"/>
                </a:solidFill>
                <a:latin typeface="Consolas"/>
                <a:ea typeface="Consolas"/>
                <a:cs typeface="Consolas"/>
              </a:rPr>
              <a:t>    print(f'Got {value}')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48A64D2-C293-4CBC-A5C6-FAA287C486C2}"/>
              </a:ext>
            </a:extLst>
          </p:cNvPr>
          <p:cNvSpPr>
            <a:spLocks noGrp="1"/>
          </p:cNvSpPr>
          <p:nvPr/>
        </p:nvSpPr>
        <p:spPr>
          <a:xfrm>
            <a:off x="457200" y="630936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600" u="sng">
                <a:solidFill>
                  <a:srgbClr val="0066CC"/>
                </a:solidFill>
                <a:hlinkClick r:id="rId3"/>
              </a:rPr>
              <a:t>[1]</a:t>
            </a:r>
            <a:r>
              <a:rPr sz="600">
                <a:solidFill>
                  <a:srgbClr val="000000"/>
                </a:solidFill>
              </a:rPr>
              <a:t>   </a:t>
            </a:r>
            <a:r>
              <a:rPr sz="600" u="sng">
                <a:solidFill>
                  <a:srgbClr val="0066CC"/>
                </a:solidFill>
                <a:hlinkClick r:id="rId4"/>
              </a:rPr>
              <a:t>[2]</a:t>
            </a:r>
          </a:p>
        </p:txBody>
      </p:sp>
    </p:spTree>
    <p:extLst>
      <p:ext uri="{BB962C8B-B14F-4D97-AF65-F5344CB8AC3E}">
        <p14:creationId xmlns:p14="http://schemas.microsoft.com/office/powerpoint/2010/main" val="253782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E6DE72A-C4CB-477C-BD61-363E7203E96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B3D51"/>
          </a:solidFill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8BFB063-769C-4F41-AFF1-ED90567016FA}"/>
              </a:ext>
            </a:extLst>
          </p:cNvPr>
          <p:cNvSpPr>
            <a:spLocks noGrp="1"/>
          </p:cNvSpPr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800" b="1">
                <a:solidFill>
                  <a:srgbClr val="FFFFFF"/>
                </a:solidFill>
              </a:rPr>
              <a:t>UI &amp; Observability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6C2DBC9-47FF-4D3D-BB7B-995DDD8B7D8A}"/>
              </a:ext>
            </a:extLst>
          </p:cNvPr>
          <p:cNvSpPr>
            <a:spLocks noGrp="1"/>
          </p:cNvSpPr>
          <p:nvPr/>
        </p:nvSpPr>
        <p:spPr>
          <a:xfrm>
            <a:off x="457200" y="731520"/>
            <a:ext cx="2286000" cy="1097280"/>
          </a:xfrm>
          <a:prstGeom prst="rect">
            <a:avLst/>
          </a:prstGeom>
          <a:solidFill>
            <a:srgbClr val="E9F2F9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2BBBB19-BCC6-4E6C-969B-267B6E954D8F}"/>
              </a:ext>
            </a:extLst>
          </p:cNvPr>
          <p:cNvSpPr>
            <a:spLocks noGrp="1"/>
          </p:cNvSpPr>
          <p:nvPr/>
        </p:nvSpPr>
        <p:spPr>
          <a:xfrm>
            <a:off x="457200" y="731520"/>
            <a:ext cx="2286000" cy="10972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900">
                <a:solidFill>
                  <a:srgbClr val="003C54"/>
                </a:solidFill>
              </a:rPr>
              <a:t>Graph View</a:t>
            </a:r>
          </a:p>
          <a:p>
            <a:pPr marL="0" indent="0" algn="ctr">
              <a:buNone/>
            </a:pPr>
            <a:r>
              <a:rPr sz="900">
                <a:solidFill>
                  <a:srgbClr val="003C54"/>
                </a:solidFill>
              </a:rPr>
              <a:t>Visualise DAG structure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8CA0B0F0-55F1-4AD7-BAA0-E1A7B0191DB9}"/>
              </a:ext>
            </a:extLst>
          </p:cNvPr>
          <p:cNvSpPr>
            <a:spLocks noGrp="1"/>
          </p:cNvSpPr>
          <p:nvPr/>
        </p:nvSpPr>
        <p:spPr>
          <a:xfrm>
            <a:off x="2926080" y="731520"/>
            <a:ext cx="2286000" cy="1097280"/>
          </a:xfrm>
          <a:prstGeom prst="rect">
            <a:avLst/>
          </a:prstGeom>
          <a:solidFill>
            <a:srgbClr val="E9F2F9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341A171-E7B5-4465-A561-E60F9D93D1A0}"/>
              </a:ext>
            </a:extLst>
          </p:cNvPr>
          <p:cNvSpPr>
            <a:spLocks noGrp="1"/>
          </p:cNvSpPr>
          <p:nvPr/>
        </p:nvSpPr>
        <p:spPr>
          <a:xfrm>
            <a:off x="2926080" y="731520"/>
            <a:ext cx="2286000" cy="10972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900">
                <a:solidFill>
                  <a:srgbClr val="003C54"/>
                </a:solidFill>
              </a:rPr>
              <a:t>Tree/Calendar View</a:t>
            </a:r>
          </a:p>
          <a:p>
            <a:pPr marL="0" indent="0" algn="ctr">
              <a:buNone/>
            </a:pPr>
            <a:r>
              <a:rPr sz="900">
                <a:solidFill>
                  <a:srgbClr val="003C54"/>
                </a:solidFill>
              </a:rPr>
              <a:t>Track runs over time</a:t>
            </a: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CB928A5D-9F4D-4526-8DF1-ED47D245E70D}"/>
              </a:ext>
            </a:extLst>
          </p:cNvPr>
          <p:cNvSpPr>
            <a:spLocks noGrp="1"/>
          </p:cNvSpPr>
          <p:nvPr/>
        </p:nvSpPr>
        <p:spPr>
          <a:xfrm>
            <a:off x="5394960" y="731520"/>
            <a:ext cx="2286000" cy="1097280"/>
          </a:xfrm>
          <a:prstGeom prst="rect">
            <a:avLst/>
          </a:prstGeom>
          <a:solidFill>
            <a:srgbClr val="E9F2F9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0F8BB89-3096-4369-85F4-79CC6B0A4246}"/>
              </a:ext>
            </a:extLst>
          </p:cNvPr>
          <p:cNvSpPr>
            <a:spLocks noGrp="1"/>
          </p:cNvSpPr>
          <p:nvPr/>
        </p:nvSpPr>
        <p:spPr>
          <a:xfrm>
            <a:off x="5394960" y="731520"/>
            <a:ext cx="2286000" cy="10972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900">
                <a:solidFill>
                  <a:srgbClr val="003C54"/>
                </a:solidFill>
              </a:rPr>
              <a:t>Code View</a:t>
            </a:r>
          </a:p>
          <a:p>
            <a:pPr marL="0" indent="0" algn="ctr">
              <a:buNone/>
            </a:pPr>
            <a:r>
              <a:rPr sz="900">
                <a:solidFill>
                  <a:srgbClr val="003C54"/>
                </a:solidFill>
              </a:rPr>
              <a:t>Inspect source code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DB807E2A-8F5B-4EBB-B773-B773AB1DE451}"/>
              </a:ext>
            </a:extLst>
          </p:cNvPr>
          <p:cNvSpPr>
            <a:spLocks noGrp="1"/>
          </p:cNvSpPr>
          <p:nvPr/>
        </p:nvSpPr>
        <p:spPr>
          <a:xfrm>
            <a:off x="457200" y="2011680"/>
            <a:ext cx="841248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900">
                <a:solidFill>
                  <a:srgbClr val="003C54"/>
                </a:solidFill>
              </a:rPr>
              <a:t>• Each task writes logs accessible via the UI.
• Configure remote log storage for production (e.g., S3, GCS).
• Use task instance states and colour coding to monitor runs.
</a:t>
            </a: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5FC351A4-90E1-4DBF-87FF-6271DDBDFC4A}"/>
              </a:ext>
            </a:extLst>
          </p:cNvPr>
          <p:cNvSpPr>
            <a:spLocks noGrp="1"/>
          </p:cNvSpPr>
          <p:nvPr/>
        </p:nvSpPr>
        <p:spPr>
          <a:xfrm>
            <a:off x="457200" y="630936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600" u="sng">
                <a:solidFill>
                  <a:srgbClr val="0066CC"/>
                </a:solidFill>
                <a:hlinkClick r:id="rId3"/>
              </a:rPr>
              <a:t>[1]</a:t>
            </a:r>
          </a:p>
        </p:txBody>
      </p:sp>
    </p:spTree>
    <p:extLst>
      <p:ext uri="{BB962C8B-B14F-4D97-AF65-F5344CB8AC3E}">
        <p14:creationId xmlns:p14="http://schemas.microsoft.com/office/powerpoint/2010/main" val="16657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860AF37-EEDC-432C-A257-93330E3CF14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B3D51"/>
          </a:solidFill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15AA91B-0CCB-476D-95D1-DF072C8BC533}"/>
              </a:ext>
            </a:extLst>
          </p:cNvPr>
          <p:cNvSpPr>
            <a:spLocks noGrp="1"/>
          </p:cNvSpPr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800" b="1">
                <a:solidFill>
                  <a:srgbClr val="FFFFFF"/>
                </a:solidFill>
              </a:rPr>
              <a:t>Best Practices &amp; Pitfalls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5A50A4E-AEC9-4C15-AB01-D57DCAABE5FF}"/>
              </a:ext>
            </a:extLst>
          </p:cNvPr>
          <p:cNvSpPr>
            <a:spLocks noGrp="1"/>
          </p:cNvSpPr>
          <p:nvPr/>
        </p:nvSpPr>
        <p:spPr>
          <a:xfrm>
            <a:off x="457200" y="548640"/>
            <a:ext cx="4297680" cy="10972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00" b="1">
                <a:solidFill>
                  <a:srgbClr val="003C54"/>
                </a:solidFill>
              </a:rPr>
              <a:t>Best practices:</a:t>
            </a:r>
          </a:p>
          <a:p>
            <a:pPr marL="0" indent="0">
              <a:buNone/>
            </a:pPr>
            <a:r>
              <a:rPr sz="1100" b="1">
                <a:solidFill>
                  <a:srgbClr val="003C54"/>
                </a:solidFill>
              </a:rPr>
              <a:t>- Keep tasks bounded, idempotent and deterministic.</a:t>
            </a:r>
          </a:p>
          <a:p>
            <a:pPr marL="0" indent="0">
              <a:buNone/>
            </a:pPr>
            <a:r>
              <a:rPr sz="1100" b="1">
                <a:solidFill>
                  <a:srgbClr val="003C54"/>
                </a:solidFill>
              </a:rPr>
              <a:t>- Make retries produce the same target result.</a:t>
            </a:r>
          </a:p>
          <a:p>
            <a:pPr marL="0" indent="0">
              <a:buNone/>
            </a:pPr>
            <a:r>
              <a:rPr sz="1100" b="1">
                <a:solidFill>
                  <a:srgbClr val="003C54"/>
                </a:solidFill>
              </a:rPr>
              <a:t>- Use TaskFlow for small Python control tasks; call external engines for heavy transforms.</a:t>
            </a:r>
          </a:p>
          <a:p>
            <a:pPr marL="0" indent="0">
              <a:buNone/>
            </a:pPr>
            <a:r>
              <a:rPr sz="1100" b="1">
                <a:solidFill>
                  <a:srgbClr val="003C54"/>
                </a:solidFill>
              </a:rPr>
              <a:t>- Test task behavior before scheduling it.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3055DEC-40E0-41AB-9CB6-B6F9B25449DD}"/>
              </a:ext>
            </a:extLst>
          </p:cNvPr>
          <p:cNvSpPr>
            <a:spLocks noGrp="1"/>
          </p:cNvSpPr>
          <p:nvPr/>
        </p:nvSpPr>
        <p:spPr>
          <a:xfrm>
            <a:off x="4754880" y="548640"/>
            <a:ext cx="4114800" cy="10972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00" b="1">
                <a:solidFill>
                  <a:srgbClr val="003C54"/>
                </a:solidFill>
              </a:rPr>
              <a:t>Pitfalls in this lab:</a:t>
            </a:r>
          </a:p>
          <a:p>
            <a:pPr marL="0" indent="0">
              <a:buNone/>
            </a:pPr>
            <a:r>
              <a:rPr sz="1100" b="1">
                <a:solidFill>
                  <a:srgbClr val="003C54"/>
                </a:solidFill>
              </a:rPr>
              <a:t>- load_bronze appends, so reruns can duplicate raw rows unless you add run IDs or deduplication.</a:t>
            </a:r>
          </a:p>
          <a:p>
            <a:pPr marL="0" indent="0">
              <a:buNone/>
            </a:pPr>
            <a:r>
              <a:rPr sz="1100" b="1">
                <a:solidFill>
                  <a:srgbClr val="003C54"/>
                </a:solidFill>
              </a:rPr>
              <a:t>- XCom is for small metadata, not datasets.</a:t>
            </a:r>
          </a:p>
          <a:p>
            <a:pPr marL="0" indent="0">
              <a:buNone/>
            </a:pPr>
            <a:r>
              <a:rPr sz="1100" b="1">
                <a:solidFill>
                  <a:srgbClr val="003C54"/>
                </a:solidFill>
              </a:rPr>
              <a:t>- Airflow coordinates work; it is not the endless Kafka stream processor.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EAF29A8-1BE3-4E01-89D4-C07E887D26D9}"/>
              </a:ext>
            </a:extLst>
          </p:cNvPr>
          <p:cNvSpPr>
            <a:spLocks noGrp="1"/>
          </p:cNvSpPr>
          <p:nvPr/>
        </p:nvSpPr>
        <p:spPr>
          <a:xfrm>
            <a:off x="457200" y="630936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600" u="sng">
                <a:solidFill>
                  <a:srgbClr val="0066CC"/>
                </a:solidFill>
                <a:hlinkClick r:id="rId3"/>
              </a:rPr>
              <a:t>[1]</a:t>
            </a:r>
            <a:r>
              <a:rPr sz="600">
                <a:solidFill>
                  <a:srgbClr val="000000"/>
                </a:solidFill>
              </a:rPr>
              <a:t>   </a:t>
            </a:r>
            <a:r>
              <a:rPr sz="600" u="sng">
                <a:solidFill>
                  <a:srgbClr val="0066CC"/>
                </a:solidFill>
                <a:hlinkClick r:id="rId4"/>
              </a:rPr>
              <a:t>[2]</a:t>
            </a:r>
          </a:p>
        </p:txBody>
      </p:sp>
    </p:spTree>
    <p:extLst>
      <p:ext uri="{BB962C8B-B14F-4D97-AF65-F5344CB8AC3E}">
        <p14:creationId xmlns:p14="http://schemas.microsoft.com/office/powerpoint/2010/main" val="11327114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473FAAE-B1B8-4FF9-82CA-99EA748E19D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B3D51"/>
          </a:solidFill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E0F81C9-20FF-4C49-9D38-6797FFB2929D}"/>
              </a:ext>
            </a:extLst>
          </p:cNvPr>
          <p:cNvSpPr>
            <a:spLocks noGrp="1"/>
          </p:cNvSpPr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800" b="1">
                <a:solidFill>
                  <a:srgbClr val="FFFFFF"/>
                </a:solidFill>
              </a:rPr>
              <a:t>Airflow with Kafka &amp; Debezium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934842F-6984-42E1-A268-9FC16BFFDF32}"/>
              </a:ext>
            </a:extLst>
          </p:cNvPr>
          <p:cNvSpPr>
            <a:spLocks noGrp="1"/>
          </p:cNvSpPr>
          <p:nvPr/>
        </p:nvSpPr>
        <p:spPr>
          <a:xfrm>
            <a:off x="365760" y="914400"/>
            <a:ext cx="1097280" cy="365760"/>
          </a:xfrm>
          <a:prstGeom prst="roundRect">
            <a:avLst>
              <a:gd name="adj" fmla="val 25000"/>
            </a:avLst>
          </a:prstGeom>
          <a:solidFill>
            <a:srgbClr val="007ACC"/>
          </a:solidFill>
          <a:ln w="12700">
            <a:solidFill>
              <a:srgbClr val="007A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1D1DC8C-C4AA-461D-BDDF-DBBD5BFAD380}"/>
              </a:ext>
            </a:extLst>
          </p:cNvPr>
          <p:cNvSpPr>
            <a:spLocks noGrp="1"/>
          </p:cNvSpPr>
          <p:nvPr/>
        </p:nvSpPr>
        <p:spPr>
          <a:xfrm>
            <a:off x="365760" y="914400"/>
            <a:ext cx="109728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800">
                <a:solidFill>
                  <a:srgbClr val="FFFFFF"/>
                </a:solidFill>
              </a:rPr>
              <a:t>orders.cdc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DEED93B4-49E1-4AFE-8FCA-97B7CAF9CADF}"/>
              </a:ext>
            </a:extLst>
          </p:cNvPr>
          <p:cNvSpPr>
            <a:spLocks noGrp="1"/>
          </p:cNvSpPr>
          <p:nvPr/>
        </p:nvSpPr>
        <p:spPr>
          <a:xfrm>
            <a:off x="365760" y="1463040"/>
            <a:ext cx="1097280" cy="365760"/>
          </a:xfrm>
          <a:prstGeom prst="roundRect">
            <a:avLst>
              <a:gd name="adj" fmla="val 25000"/>
            </a:avLst>
          </a:prstGeom>
          <a:solidFill>
            <a:srgbClr val="007ACC"/>
          </a:solidFill>
          <a:ln w="12700">
            <a:solidFill>
              <a:srgbClr val="007A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77E8D51-2399-4A9A-85F3-38542A27F6A3}"/>
              </a:ext>
            </a:extLst>
          </p:cNvPr>
          <p:cNvSpPr>
            <a:spLocks noGrp="1"/>
          </p:cNvSpPr>
          <p:nvPr/>
        </p:nvSpPr>
        <p:spPr>
          <a:xfrm>
            <a:off x="365760" y="1463040"/>
            <a:ext cx="109728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800">
                <a:solidFill>
                  <a:srgbClr val="FFFFFF"/>
                </a:solidFill>
              </a:rPr>
              <a:t>inventory.cdc</a:t>
            </a: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54D825B6-2FB7-45CE-A7D6-76B1FB35050A}"/>
              </a:ext>
            </a:extLst>
          </p:cNvPr>
          <p:cNvSpPr>
            <a:spLocks noGrp="1"/>
          </p:cNvSpPr>
          <p:nvPr/>
        </p:nvSpPr>
        <p:spPr>
          <a:xfrm>
            <a:off x="1554480" y="1005840"/>
            <a:ext cx="457200" cy="182880"/>
          </a:xfrm>
          <a:prstGeom prst="rightArrow">
            <a:avLst/>
          </a:prstGeom>
          <a:solidFill>
            <a:srgbClr val="6A6A6A"/>
          </a:solidFill>
          <a:ln w="12700">
            <a:solidFill>
              <a:srgbClr val="6A6A6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A0FB872B-F3A7-4E28-9D05-EC659C547F3D}"/>
              </a:ext>
            </a:extLst>
          </p:cNvPr>
          <p:cNvSpPr>
            <a:spLocks noGrp="1"/>
          </p:cNvSpPr>
          <p:nvPr/>
        </p:nvSpPr>
        <p:spPr>
          <a:xfrm>
            <a:off x="1554480" y="1554480"/>
            <a:ext cx="457200" cy="182880"/>
          </a:xfrm>
          <a:prstGeom prst="rightArrow">
            <a:avLst/>
          </a:prstGeom>
          <a:solidFill>
            <a:srgbClr val="6A6A6A"/>
          </a:solidFill>
          <a:ln w="12700">
            <a:solidFill>
              <a:srgbClr val="6A6A6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4EA82C82-D2A7-4602-AB60-419D8F9BE32F}"/>
              </a:ext>
            </a:extLst>
          </p:cNvPr>
          <p:cNvSpPr>
            <a:spLocks noGrp="1"/>
          </p:cNvSpPr>
          <p:nvPr/>
        </p:nvSpPr>
        <p:spPr>
          <a:xfrm>
            <a:off x="2103120" y="914400"/>
            <a:ext cx="2286000" cy="1097280"/>
          </a:xfrm>
          <a:prstGeom prst="roundRect">
            <a:avLst>
              <a:gd name="adj" fmla="val 8333"/>
            </a:avLst>
          </a:prstGeom>
          <a:solidFill>
            <a:srgbClr val="00A78D"/>
          </a:solidFill>
          <a:ln w="12700">
            <a:solidFill>
              <a:srgbClr val="00A78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9AC331D0-D51B-491E-9C47-FA21EAD7C2BE}"/>
              </a:ext>
            </a:extLst>
          </p:cNvPr>
          <p:cNvSpPr>
            <a:spLocks noGrp="1"/>
          </p:cNvSpPr>
          <p:nvPr/>
        </p:nvSpPr>
        <p:spPr>
          <a:xfrm>
            <a:off x="2103120" y="914400"/>
            <a:ext cx="2286000" cy="10972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750">
                <a:solidFill>
                  <a:srgbClr val="FFFFFF"/>
                </a:solidFill>
              </a:rPr>
              <a:t>Airflow DAG</a:t>
            </a:r>
          </a:p>
          <a:p>
            <a:pPr marL="0" indent="0" algn="ctr">
              <a:buNone/>
            </a:pPr>
            <a:endParaRPr sz="750">
              <a:solidFill>
                <a:srgbClr val="FFFFFF"/>
              </a:solidFill>
            </a:endParaRPr>
          </a:p>
          <a:p>
            <a:pPr marL="0" indent="0" algn="ctr">
              <a:buNone/>
            </a:pPr>
            <a:r>
              <a:rPr sz="750">
                <a:solidFill>
                  <a:srgbClr val="FFFFFF"/>
                </a:solidFill>
              </a:rPr>
              <a:t>Sensor waits for topic offset</a:t>
            </a:r>
          </a:p>
          <a:p>
            <a:pPr marL="0" indent="0" algn="ctr">
              <a:buNone/>
            </a:pPr>
            <a:r>
              <a:rPr sz="750">
                <a:solidFill>
                  <a:srgbClr val="FFFFFF"/>
                </a:solidFill>
              </a:rPr>
              <a:t>PythonOperator processes batch</a:t>
            </a:r>
          </a:p>
          <a:p>
            <a:pPr marL="0" indent="0" algn="ctr">
              <a:buNone/>
            </a:pPr>
            <a:r>
              <a:rPr sz="750">
                <a:solidFill>
                  <a:srgbClr val="FFFFFF"/>
                </a:solidFill>
              </a:rPr>
              <a:t>TaskFlow tasks transform &amp; load</a:t>
            </a: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B315109F-7CE8-4EAC-8246-EC66FD3851D5}"/>
              </a:ext>
            </a:extLst>
          </p:cNvPr>
          <p:cNvSpPr>
            <a:spLocks noGrp="1"/>
          </p:cNvSpPr>
          <p:nvPr/>
        </p:nvSpPr>
        <p:spPr>
          <a:xfrm>
            <a:off x="4480560" y="1143000"/>
            <a:ext cx="457200" cy="182880"/>
          </a:xfrm>
          <a:prstGeom prst="rightArrow">
            <a:avLst/>
          </a:prstGeom>
          <a:solidFill>
            <a:srgbClr val="6A6A6A"/>
          </a:solidFill>
          <a:ln w="12700">
            <a:solidFill>
              <a:srgbClr val="6A6A6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678FABE3-9EC7-470F-BCE6-31C0932B5A40}"/>
              </a:ext>
            </a:extLst>
          </p:cNvPr>
          <p:cNvSpPr>
            <a:spLocks noGrp="1"/>
          </p:cNvSpPr>
          <p:nvPr/>
        </p:nvSpPr>
        <p:spPr>
          <a:xfrm>
            <a:off x="4480560" y="1600200"/>
            <a:ext cx="457200" cy="182880"/>
          </a:xfrm>
          <a:prstGeom prst="rightArrow">
            <a:avLst/>
          </a:prstGeom>
          <a:solidFill>
            <a:srgbClr val="6A6A6A"/>
          </a:solidFill>
          <a:ln w="12700">
            <a:solidFill>
              <a:srgbClr val="6A6A6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E8E29ABA-47BF-477A-A734-B39090FE3E30}"/>
              </a:ext>
            </a:extLst>
          </p:cNvPr>
          <p:cNvSpPr>
            <a:spLocks noGrp="1"/>
          </p:cNvSpPr>
          <p:nvPr/>
        </p:nvSpPr>
        <p:spPr>
          <a:xfrm>
            <a:off x="5029200" y="914400"/>
            <a:ext cx="1280160" cy="365760"/>
          </a:xfrm>
          <a:prstGeom prst="roundRect">
            <a:avLst>
              <a:gd name="adj" fmla="val 25000"/>
            </a:avLst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3D0863BF-5FE7-4B07-82E4-C0B3B1C0AA47}"/>
              </a:ext>
            </a:extLst>
          </p:cNvPr>
          <p:cNvSpPr>
            <a:spLocks noGrp="1"/>
          </p:cNvSpPr>
          <p:nvPr/>
        </p:nvSpPr>
        <p:spPr>
          <a:xfrm>
            <a:off x="5029200" y="914400"/>
            <a:ext cx="12801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800">
                <a:solidFill>
                  <a:srgbClr val="FFFFFF"/>
                </a:solidFill>
              </a:rPr>
              <a:t>Silver table</a:t>
            </a: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0CE5967F-7925-4440-83F2-682CBB5847BB}"/>
              </a:ext>
            </a:extLst>
          </p:cNvPr>
          <p:cNvSpPr>
            <a:spLocks noGrp="1"/>
          </p:cNvSpPr>
          <p:nvPr/>
        </p:nvSpPr>
        <p:spPr>
          <a:xfrm>
            <a:off x="5029200" y="1463040"/>
            <a:ext cx="1280160" cy="365760"/>
          </a:xfrm>
          <a:prstGeom prst="roundRect">
            <a:avLst>
              <a:gd name="adj" fmla="val 25000"/>
            </a:avLst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9E62F59E-3D12-486D-BFB5-A26880AB848F}"/>
              </a:ext>
            </a:extLst>
          </p:cNvPr>
          <p:cNvSpPr>
            <a:spLocks noGrp="1"/>
          </p:cNvSpPr>
          <p:nvPr/>
        </p:nvSpPr>
        <p:spPr>
          <a:xfrm>
            <a:off x="5029200" y="1463040"/>
            <a:ext cx="12801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800">
                <a:solidFill>
                  <a:srgbClr val="FFFFFF"/>
                </a:solidFill>
              </a:rPr>
              <a:t>Gold table</a:t>
            </a: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8E381993-0B82-42C8-9C86-BC5D9DE2CD95}"/>
              </a:ext>
            </a:extLst>
          </p:cNvPr>
          <p:cNvSpPr>
            <a:spLocks noGrp="1"/>
          </p:cNvSpPr>
          <p:nvPr/>
        </p:nvSpPr>
        <p:spPr>
          <a:xfrm>
            <a:off x="457200" y="2286000"/>
            <a:ext cx="82296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900">
                <a:solidFill>
                  <a:srgbClr val="003C54"/>
                </a:solidFill>
              </a:rPr>
              <a:t>Architecture extension: a production DAG may wait for a bounded readiness condition, then invoke validation or transformation work. It does not replace Debezium or Kafka streaming consumers.</a:t>
            </a: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EB5BF7A8-4C66-46CB-9077-79A9E544DA7F}"/>
              </a:ext>
            </a:extLst>
          </p:cNvPr>
          <p:cNvSpPr>
            <a:spLocks noGrp="1"/>
          </p:cNvSpPr>
          <p:nvPr/>
        </p:nvSpPr>
        <p:spPr>
          <a:xfrm>
            <a:off x="457200" y="630936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600" u="sng">
                <a:solidFill>
                  <a:srgbClr val="0066CC"/>
                </a:solidFill>
                <a:hlinkClick r:id="rId3"/>
              </a:rPr>
              <a:t>[1]</a:t>
            </a:r>
            <a:r>
              <a:rPr sz="600">
                <a:solidFill>
                  <a:srgbClr val="000000"/>
                </a:solidFill>
              </a:rPr>
              <a:t>   </a:t>
            </a:r>
            <a:r>
              <a:rPr sz="600" u="sng">
                <a:solidFill>
                  <a:srgbClr val="0066CC"/>
                </a:solidFill>
                <a:hlinkClick r:id="rId4"/>
              </a:rPr>
              <a:t>[2]</a:t>
            </a:r>
            <a:r>
              <a:rPr sz="600">
                <a:solidFill>
                  <a:srgbClr val="000000"/>
                </a:solidFill>
              </a:rPr>
              <a:t>   </a:t>
            </a:r>
            <a:r>
              <a:rPr sz="600" u="sng">
                <a:solidFill>
                  <a:srgbClr val="0066CC"/>
                </a:solidFill>
                <a:hlinkClick r:id="rId5"/>
              </a:rPr>
              <a:t>[3]</a:t>
            </a:r>
          </a:p>
        </p:txBody>
      </p:sp>
    </p:spTree>
    <p:extLst>
      <p:ext uri="{BB962C8B-B14F-4D97-AF65-F5344CB8AC3E}">
        <p14:creationId xmlns:p14="http://schemas.microsoft.com/office/powerpoint/2010/main" val="12953871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050D3F0-84AF-4F52-A15E-5D07BD501C0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B3D51"/>
          </a:solidFill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36E49CD-6405-44E1-9A74-9C5AC329A35E}"/>
              </a:ext>
            </a:extLst>
          </p:cNvPr>
          <p:cNvSpPr>
            <a:spLocks noGrp="1"/>
          </p:cNvSpPr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800" b="1">
                <a:solidFill>
                  <a:srgbClr val="FFFFFF"/>
                </a:solidFill>
              </a:rPr>
              <a:t>Lab: Orchestrating a Medallion Pipeline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F63D240-5C6A-4720-9F0D-1B3140E30A2A}"/>
              </a:ext>
            </a:extLst>
          </p:cNvPr>
          <p:cNvSpPr>
            <a:spLocks noGrp="1"/>
          </p:cNvSpPr>
          <p:nvPr/>
        </p:nvSpPr>
        <p:spPr>
          <a:xfrm>
            <a:off x="457200" y="914400"/>
            <a:ext cx="5029200" cy="18288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900">
                <a:solidFill>
                  <a:srgbClr val="003C54"/>
                </a:solidFill>
              </a:rPr>
              <a:t>- Start the supplied Airflow, Redis and Postgres services with Docker Compose.</a:t>
            </a:r>
          </a:p>
          <a:p>
            <a:pPr marL="0" indent="0">
              <a:buNone/>
            </a:pPr>
            <a:r>
              <a:rPr sz="900">
                <a:solidFill>
                  <a:srgbClr val="003C54"/>
                </a:solidFill>
              </a:rPr>
              <a:t>- Run the included medallion_pipeline DAG: FileSensor -&gt; load_bronze -&gt; transform_silver -&gt; aggregate_gold.</a:t>
            </a:r>
          </a:p>
          <a:p>
            <a:pPr marL="0" indent="0">
              <a:buNone/>
            </a:pPr>
            <a:r>
              <a:rPr sz="900">
                <a:solidFill>
                  <a:srgbClr val="003C54"/>
                </a:solidFill>
              </a:rPr>
              <a:t>- Inspect task logs and XCom row counts in the Airflow UI.</a:t>
            </a:r>
          </a:p>
          <a:p>
            <a:pPr marL="0" indent="0">
              <a:buNone/>
            </a:pPr>
            <a:r>
              <a:rPr sz="900">
                <a:solidFill>
                  <a:srgbClr val="003C54"/>
                </a:solidFill>
              </a:rPr>
              <a:t>- Rerun once and explain how append behavior can duplicate Bronze rows.</a:t>
            </a:r>
          </a:p>
          <a:p>
            <a:pPr marL="0" indent="0">
              <a:buNone/>
            </a:pPr>
            <a:r>
              <a:rPr sz="900">
                <a:solidFill>
                  <a:srgbClr val="003C54"/>
                </a:solidFill>
              </a:rPr>
              <a:t>- Extension design: replace CSV arrival with a Kafka/Hop readiness or execution task.</a:t>
            </a: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9F63195-04C7-4DBC-8D09-D238E3BA585A}"/>
              </a:ext>
            </a:extLst>
          </p:cNvPr>
          <p:cNvSpPr>
            <a:spLocks noGrp="1"/>
          </p:cNvSpPr>
          <p:nvPr/>
        </p:nvSpPr>
        <p:spPr>
          <a:xfrm>
            <a:off x="5669280" y="914400"/>
            <a:ext cx="1097280" cy="365760"/>
          </a:xfrm>
          <a:prstGeom prst="roundRect">
            <a:avLst>
              <a:gd name="adj" fmla="val 25000"/>
            </a:avLst>
          </a:prstGeom>
          <a:solidFill>
            <a:srgbClr val="007ACC"/>
          </a:solidFill>
          <a:ln w="12700">
            <a:solidFill>
              <a:srgbClr val="007A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ACE60C5-CC31-4DB0-B170-E5EFB2F8BA53}"/>
              </a:ext>
            </a:extLst>
          </p:cNvPr>
          <p:cNvSpPr>
            <a:spLocks noGrp="1"/>
          </p:cNvSpPr>
          <p:nvPr/>
        </p:nvSpPr>
        <p:spPr>
          <a:xfrm>
            <a:off x="5669280" y="914400"/>
            <a:ext cx="109728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700">
                <a:solidFill>
                  <a:srgbClr val="FFFFFF"/>
                </a:solidFill>
              </a:rPr>
              <a:t>Postgres DB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52ED2F7E-A93E-43CD-97CA-56A03FF68C27}"/>
              </a:ext>
            </a:extLst>
          </p:cNvPr>
          <p:cNvSpPr>
            <a:spLocks noGrp="1"/>
          </p:cNvSpPr>
          <p:nvPr/>
        </p:nvSpPr>
        <p:spPr>
          <a:xfrm>
            <a:off x="5669280" y="1463040"/>
            <a:ext cx="1097280" cy="365760"/>
          </a:xfrm>
          <a:prstGeom prst="roundRect">
            <a:avLst>
              <a:gd name="adj" fmla="val 25000"/>
            </a:avLst>
          </a:prstGeom>
          <a:solidFill>
            <a:srgbClr val="007ACC"/>
          </a:solidFill>
          <a:ln w="12700">
            <a:solidFill>
              <a:srgbClr val="007A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3FC10C1-0939-4ABA-AA28-97BD9F015694}"/>
              </a:ext>
            </a:extLst>
          </p:cNvPr>
          <p:cNvSpPr>
            <a:spLocks noGrp="1"/>
          </p:cNvSpPr>
          <p:nvPr/>
        </p:nvSpPr>
        <p:spPr>
          <a:xfrm>
            <a:off x="5669280" y="1463040"/>
            <a:ext cx="109728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700">
                <a:solidFill>
                  <a:srgbClr val="FFFFFF"/>
                </a:solidFill>
              </a:rPr>
              <a:t>Kafka topics</a:t>
            </a: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2FE3A029-09A0-4869-B144-CBDDE8812B02}"/>
              </a:ext>
            </a:extLst>
          </p:cNvPr>
          <p:cNvSpPr>
            <a:spLocks noGrp="1"/>
          </p:cNvSpPr>
          <p:nvPr/>
        </p:nvSpPr>
        <p:spPr>
          <a:xfrm>
            <a:off x="6858000" y="1051560"/>
            <a:ext cx="548640" cy="182880"/>
          </a:xfrm>
          <a:prstGeom prst="rightArrow">
            <a:avLst/>
          </a:prstGeom>
          <a:solidFill>
            <a:srgbClr val="6A6A6A"/>
          </a:solidFill>
          <a:ln w="12700">
            <a:solidFill>
              <a:srgbClr val="6A6A6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8B099416-4091-45A9-9B55-2E74281CAF21}"/>
              </a:ext>
            </a:extLst>
          </p:cNvPr>
          <p:cNvSpPr>
            <a:spLocks noGrp="1"/>
          </p:cNvSpPr>
          <p:nvPr/>
        </p:nvSpPr>
        <p:spPr>
          <a:xfrm>
            <a:off x="7498080" y="914400"/>
            <a:ext cx="1097280" cy="548640"/>
          </a:xfrm>
          <a:prstGeom prst="roundRect">
            <a:avLst>
              <a:gd name="adj" fmla="val 16667"/>
            </a:avLst>
          </a:prstGeom>
          <a:solidFill>
            <a:srgbClr val="00A78D"/>
          </a:solidFill>
          <a:ln w="12700">
            <a:solidFill>
              <a:srgbClr val="00A78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5E8475FC-A738-4750-BEFF-930894185281}"/>
              </a:ext>
            </a:extLst>
          </p:cNvPr>
          <p:cNvSpPr>
            <a:spLocks noGrp="1"/>
          </p:cNvSpPr>
          <p:nvPr/>
        </p:nvSpPr>
        <p:spPr>
          <a:xfrm>
            <a:off x="7498080" y="914400"/>
            <a:ext cx="109728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700">
                <a:solidFill>
                  <a:srgbClr val="FFFFFF"/>
                </a:solidFill>
              </a:rPr>
              <a:t>Airflow DAG</a:t>
            </a: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B82048B9-860E-450B-9B27-14653FF74557}"/>
              </a:ext>
            </a:extLst>
          </p:cNvPr>
          <p:cNvSpPr>
            <a:spLocks noGrp="1"/>
          </p:cNvSpPr>
          <p:nvPr/>
        </p:nvSpPr>
        <p:spPr>
          <a:xfrm>
            <a:off x="6858000" y="1645920"/>
            <a:ext cx="548640" cy="182880"/>
          </a:xfrm>
          <a:prstGeom prst="rightArrow">
            <a:avLst/>
          </a:prstGeom>
          <a:solidFill>
            <a:srgbClr val="6A6A6A"/>
          </a:solidFill>
          <a:ln w="12700">
            <a:solidFill>
              <a:srgbClr val="6A6A6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7A98D5A4-88C4-4821-A7A6-B7EA85E5D703}"/>
              </a:ext>
            </a:extLst>
          </p:cNvPr>
          <p:cNvSpPr>
            <a:spLocks noGrp="1"/>
          </p:cNvSpPr>
          <p:nvPr/>
        </p:nvSpPr>
        <p:spPr>
          <a:xfrm>
            <a:off x="7498080" y="1463040"/>
            <a:ext cx="1097280" cy="548640"/>
          </a:xfrm>
          <a:prstGeom prst="roundRect">
            <a:avLst>
              <a:gd name="adj" fmla="val 16667"/>
            </a:avLst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FE31C8AC-1AC3-479D-9421-1A48C4A07A2E}"/>
              </a:ext>
            </a:extLst>
          </p:cNvPr>
          <p:cNvSpPr>
            <a:spLocks noGrp="1"/>
          </p:cNvSpPr>
          <p:nvPr/>
        </p:nvSpPr>
        <p:spPr>
          <a:xfrm>
            <a:off x="7498080" y="1463040"/>
            <a:ext cx="109728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700">
                <a:solidFill>
                  <a:srgbClr val="FFFFFF"/>
                </a:solidFill>
              </a:rPr>
              <a:t>Data Lake</a:t>
            </a: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CCDC7564-8ECF-4BFC-8068-081097FB32CE}"/>
              </a:ext>
            </a:extLst>
          </p:cNvPr>
          <p:cNvSpPr>
            <a:spLocks noGrp="1"/>
          </p:cNvSpPr>
          <p:nvPr/>
        </p:nvSpPr>
        <p:spPr>
          <a:xfrm>
            <a:off x="457200" y="630936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600" u="sng">
                <a:solidFill>
                  <a:srgbClr val="0066CC"/>
                </a:solidFill>
                <a:hlinkClick r:id="rId3"/>
              </a:rPr>
              <a:t>[1]</a:t>
            </a:r>
            <a:r>
              <a:rPr sz="600">
                <a:solidFill>
                  <a:srgbClr val="000000"/>
                </a:solidFill>
              </a:rPr>
              <a:t>   </a:t>
            </a:r>
            <a:r>
              <a:rPr sz="600" u="sng">
                <a:solidFill>
                  <a:srgbClr val="0066CC"/>
                </a:solidFill>
                <a:hlinkClick r:id="rId4"/>
              </a:rPr>
              <a:t>[2]</a:t>
            </a:r>
          </a:p>
        </p:txBody>
      </p:sp>
    </p:spTree>
    <p:extLst>
      <p:ext uri="{BB962C8B-B14F-4D97-AF65-F5344CB8AC3E}">
        <p14:creationId xmlns:p14="http://schemas.microsoft.com/office/powerpoint/2010/main" val="18031431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110E2A3-A311-49C3-BBE6-570B6951F21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B3D51"/>
          </a:solidFill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488E243-AF6F-4ABD-9B6A-71904AD4E372}"/>
              </a:ext>
            </a:extLst>
          </p:cNvPr>
          <p:cNvSpPr>
            <a:spLocks noGrp="1"/>
          </p:cNvSpPr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800" b="1">
                <a:solidFill>
                  <a:srgbClr val="FFFFFF"/>
                </a:solidFill>
              </a:rPr>
              <a:t>Mini Exercise 1: Components &amp; Roles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C51FC50-6BA4-4034-A560-815A0959BD66}"/>
              </a:ext>
            </a:extLst>
          </p:cNvPr>
          <p:cNvSpPr>
            <a:spLocks noGrp="1"/>
          </p:cNvSpPr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>
                <a:solidFill>
                  <a:srgbClr val="003C54"/>
                </a:solidFill>
              </a:rPr>
              <a:t>Match the description to the Airflow component: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9892C38-4236-43CD-B501-8109F3794D00}"/>
              </a:ext>
            </a:extLst>
          </p:cNvPr>
          <p:cNvSpPr>
            <a:spLocks noGrp="1"/>
          </p:cNvSpPr>
          <p:nvPr/>
        </p:nvSpPr>
        <p:spPr>
          <a:xfrm>
            <a:off x="457200" y="822960"/>
            <a:ext cx="5029200" cy="10972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900">
                <a:solidFill>
                  <a:srgbClr val="003C54"/>
                </a:solidFill>
              </a:rPr>
              <a:t>1. Monitors tasks and schedules them once dependencies are met</a:t>
            </a:r>
          </a:p>
          <a:p>
            <a:pPr marL="0" indent="0">
              <a:buNone/>
            </a:pPr>
            <a:r>
              <a:rPr sz="900">
                <a:solidFill>
                  <a:srgbClr val="003C54"/>
                </a:solidFill>
              </a:rPr>
              <a:t>2. Parses DAG Python files and serializes them to DB</a:t>
            </a:r>
          </a:p>
          <a:p>
            <a:pPr marL="0" indent="0">
              <a:buNone/>
            </a:pPr>
            <a:r>
              <a:rPr sz="900">
                <a:solidFill>
                  <a:srgbClr val="003C54"/>
                </a:solidFill>
              </a:rPr>
              <a:t>3. Exposes UI and REST APIs for task monitoring</a:t>
            </a:r>
          </a:p>
          <a:p>
            <a:pPr marL="0" indent="0">
              <a:buNone/>
            </a:pPr>
            <a:r>
              <a:rPr sz="900">
                <a:solidFill>
                  <a:srgbClr val="003C54"/>
                </a:solidFill>
              </a:rPr>
              <a:t>4. Executes tasks using Celery or Kubernetes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9A3C0AF-F0AE-499C-98E7-F2AB4427766F}"/>
              </a:ext>
            </a:extLst>
          </p:cNvPr>
          <p:cNvSpPr>
            <a:spLocks noGrp="1"/>
          </p:cNvSpPr>
          <p:nvPr/>
        </p:nvSpPr>
        <p:spPr>
          <a:xfrm>
            <a:off x="5669280" y="822960"/>
            <a:ext cx="3200400" cy="10972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900">
                <a:solidFill>
                  <a:srgbClr val="003C54"/>
                </a:solidFill>
              </a:rPr>
              <a:t>Options:</a:t>
            </a:r>
          </a:p>
          <a:p>
            <a:pPr marL="0" indent="0">
              <a:buNone/>
            </a:pPr>
            <a:r>
              <a:rPr sz="900">
                <a:solidFill>
                  <a:srgbClr val="003C54"/>
                </a:solidFill>
              </a:rPr>
              <a:t>A) Scheduler</a:t>
            </a:r>
          </a:p>
          <a:p>
            <a:pPr marL="0" indent="0">
              <a:buNone/>
            </a:pPr>
            <a:r>
              <a:rPr sz="900">
                <a:solidFill>
                  <a:srgbClr val="003C54"/>
                </a:solidFill>
              </a:rPr>
              <a:t>B) DAG Processor</a:t>
            </a:r>
          </a:p>
          <a:p>
            <a:pPr marL="0" indent="0">
              <a:buNone/>
            </a:pPr>
            <a:r>
              <a:rPr sz="900">
                <a:solidFill>
                  <a:srgbClr val="003C54"/>
                </a:solidFill>
              </a:rPr>
              <a:t>C) Worker</a:t>
            </a:r>
          </a:p>
          <a:p>
            <a:pPr marL="0" indent="0">
              <a:buNone/>
            </a:pPr>
            <a:r>
              <a:rPr sz="900">
                <a:solidFill>
                  <a:srgbClr val="003C54"/>
                </a:solidFill>
              </a:rPr>
              <a:t>D) API Server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ABE168B-3230-477D-82CC-14019D6551A6}"/>
              </a:ext>
            </a:extLst>
          </p:cNvPr>
          <p:cNvSpPr>
            <a:spLocks noGrp="1"/>
          </p:cNvSpPr>
          <p:nvPr/>
        </p:nvSpPr>
        <p:spPr>
          <a:xfrm>
            <a:off x="457200" y="630936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600" u="sng">
                <a:solidFill>
                  <a:srgbClr val="0066CC"/>
                </a:solidFill>
                <a:hlinkClick r:id="rId3"/>
              </a:rPr>
              <a:t>[1]</a:t>
            </a:r>
          </a:p>
        </p:txBody>
      </p:sp>
    </p:spTree>
    <p:extLst>
      <p:ext uri="{BB962C8B-B14F-4D97-AF65-F5344CB8AC3E}">
        <p14:creationId xmlns:p14="http://schemas.microsoft.com/office/powerpoint/2010/main" val="16047395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0DCC02A-1418-40C6-9E4C-396F016BACF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B3D51"/>
          </a:solidFill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D1B94BD-F308-441B-BB1A-B1B4B8FD7AC9}"/>
              </a:ext>
            </a:extLst>
          </p:cNvPr>
          <p:cNvSpPr>
            <a:spLocks noGrp="1"/>
          </p:cNvSpPr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800" b="1">
                <a:solidFill>
                  <a:srgbClr val="FFFFFF"/>
                </a:solidFill>
              </a:rPr>
              <a:t>Mini Exercise 2: Building Dependencies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B7DC60F-CA0F-4161-BDE4-83EBD7DFEE16}"/>
              </a:ext>
            </a:extLst>
          </p:cNvPr>
          <p:cNvSpPr>
            <a:spLocks noGrp="1"/>
          </p:cNvSpPr>
          <p:nvPr/>
        </p:nvSpPr>
        <p:spPr>
          <a:xfrm>
            <a:off x="457200" y="548640"/>
            <a:ext cx="50292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900">
                <a:solidFill>
                  <a:srgbClr val="003C54"/>
                </a:solidFill>
              </a:rPr>
              <a:t>Given tasks A, B, C, D and E, select the correct code to achieve:</a:t>
            </a:r>
          </a:p>
          <a:p>
            <a:pPr marL="0" indent="0">
              <a:buNone/>
            </a:pPr>
            <a:r>
              <a:rPr sz="900">
                <a:solidFill>
                  <a:srgbClr val="003C54"/>
                </a:solidFill>
              </a:rPr>
              <a:t>• A precedes B and C</a:t>
            </a:r>
          </a:p>
          <a:p>
            <a:pPr marL="0" indent="0">
              <a:buNone/>
            </a:pPr>
            <a:r>
              <a:rPr sz="900">
                <a:solidFill>
                  <a:srgbClr val="003C54"/>
                </a:solidFill>
              </a:rPr>
              <a:t>• Both B and C must finish before D</a:t>
            </a:r>
          </a:p>
          <a:p>
            <a:pPr marL="0" indent="0">
              <a:buNone/>
            </a:pPr>
            <a:r>
              <a:rPr sz="900">
                <a:solidFill>
                  <a:srgbClr val="003C54"/>
                </a:solidFill>
              </a:rPr>
              <a:t>• Finally E runs after D</a:t>
            </a: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34A0B18-E695-4305-B053-84D0D9E894CE}"/>
              </a:ext>
            </a:extLst>
          </p:cNvPr>
          <p:cNvSpPr>
            <a:spLocks noGrp="1"/>
          </p:cNvSpPr>
          <p:nvPr/>
        </p:nvSpPr>
        <p:spPr>
          <a:xfrm>
            <a:off x="5577840" y="1463040"/>
            <a:ext cx="3200400" cy="365760"/>
          </a:xfrm>
          <a:prstGeom prst="roundRect">
            <a:avLst>
              <a:gd name="adj" fmla="val 12500"/>
            </a:avLst>
          </a:prstGeom>
          <a:solidFill>
            <a:srgbClr val="F1F5F8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3CFABF7-D4BB-47A5-B67B-BA45FC2935D6}"/>
              </a:ext>
            </a:extLst>
          </p:cNvPr>
          <p:cNvSpPr>
            <a:spLocks noGrp="1"/>
          </p:cNvSpPr>
          <p:nvPr/>
        </p:nvSpPr>
        <p:spPr>
          <a:xfrm>
            <a:off x="5623560" y="1463040"/>
            <a:ext cx="31089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800">
                <a:solidFill>
                  <a:srgbClr val="0B3D51"/>
                </a:solidFill>
                <a:latin typeface="Consolas"/>
                <a:ea typeface="Consolas"/>
                <a:cs typeface="Consolas"/>
              </a:rPr>
              <a:t>A) A &gt;&gt; B &gt;&gt; D &gt;&gt; E; A &gt;&gt; C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4511E038-3D86-429B-86A8-E612D8DA11D1}"/>
              </a:ext>
            </a:extLst>
          </p:cNvPr>
          <p:cNvSpPr>
            <a:spLocks noGrp="1"/>
          </p:cNvSpPr>
          <p:nvPr/>
        </p:nvSpPr>
        <p:spPr>
          <a:xfrm>
            <a:off x="5577840" y="1920240"/>
            <a:ext cx="3200400" cy="365760"/>
          </a:xfrm>
          <a:prstGeom prst="roundRect">
            <a:avLst>
              <a:gd name="adj" fmla="val 12500"/>
            </a:avLst>
          </a:prstGeom>
          <a:solidFill>
            <a:srgbClr val="F1F5F8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6DDFA91-F69D-42C8-9F7A-0A3A31A07290}"/>
              </a:ext>
            </a:extLst>
          </p:cNvPr>
          <p:cNvSpPr>
            <a:spLocks noGrp="1"/>
          </p:cNvSpPr>
          <p:nvPr/>
        </p:nvSpPr>
        <p:spPr>
          <a:xfrm>
            <a:off x="5623560" y="1920240"/>
            <a:ext cx="31089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800">
                <a:solidFill>
                  <a:srgbClr val="0B3D51"/>
                </a:solidFill>
                <a:latin typeface="Consolas"/>
                <a:ea typeface="Consolas"/>
                <a:cs typeface="Consolas"/>
              </a:rPr>
              <a:t>B) A &gt;&gt; [B, C]; [B, C] &gt;&gt; D &gt;&gt; E</a:t>
            </a: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D86ABC05-401E-4084-A415-12FC1378092D}"/>
              </a:ext>
            </a:extLst>
          </p:cNvPr>
          <p:cNvSpPr>
            <a:spLocks noGrp="1"/>
          </p:cNvSpPr>
          <p:nvPr/>
        </p:nvSpPr>
        <p:spPr>
          <a:xfrm>
            <a:off x="5577840" y="2377440"/>
            <a:ext cx="3200400" cy="365760"/>
          </a:xfrm>
          <a:prstGeom prst="roundRect">
            <a:avLst>
              <a:gd name="adj" fmla="val 12500"/>
            </a:avLst>
          </a:prstGeom>
          <a:solidFill>
            <a:srgbClr val="F1F5F8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51323B2-01BC-4C2E-B9A8-B29EC1C653C5}"/>
              </a:ext>
            </a:extLst>
          </p:cNvPr>
          <p:cNvSpPr>
            <a:spLocks noGrp="1"/>
          </p:cNvSpPr>
          <p:nvPr/>
        </p:nvSpPr>
        <p:spPr>
          <a:xfrm>
            <a:off x="5623560" y="2377440"/>
            <a:ext cx="31089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800">
                <a:solidFill>
                  <a:srgbClr val="0B3D51"/>
                </a:solidFill>
                <a:latin typeface="Consolas"/>
                <a:ea typeface="Consolas"/>
                <a:cs typeface="Consolas"/>
              </a:rPr>
              <a:t>C) chain(A, [B, C], D, E)</a:t>
            </a: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E89C4145-9A27-49BD-998C-6560688A0288}"/>
              </a:ext>
            </a:extLst>
          </p:cNvPr>
          <p:cNvSpPr>
            <a:spLocks noGrp="1"/>
          </p:cNvSpPr>
          <p:nvPr/>
        </p:nvSpPr>
        <p:spPr>
          <a:xfrm>
            <a:off x="5577840" y="2834640"/>
            <a:ext cx="3200400" cy="365760"/>
          </a:xfrm>
          <a:prstGeom prst="roundRect">
            <a:avLst>
              <a:gd name="adj" fmla="val 12500"/>
            </a:avLst>
          </a:prstGeom>
          <a:solidFill>
            <a:srgbClr val="F1F5F8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F5E7FBF6-237C-439E-BCA8-198BD9A54F74}"/>
              </a:ext>
            </a:extLst>
          </p:cNvPr>
          <p:cNvSpPr>
            <a:spLocks noGrp="1"/>
          </p:cNvSpPr>
          <p:nvPr/>
        </p:nvSpPr>
        <p:spPr>
          <a:xfrm>
            <a:off x="5623560" y="2834640"/>
            <a:ext cx="31089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800">
                <a:solidFill>
                  <a:srgbClr val="0B3D51"/>
                </a:solidFill>
                <a:latin typeface="Consolas"/>
                <a:ea typeface="Consolas"/>
                <a:cs typeface="Consolas"/>
              </a:rPr>
              <a:t>D) cross_downstream([A], [B, C, D, E])</a:t>
            </a: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13293E2-8944-4387-8699-C7A3758737BF}"/>
              </a:ext>
            </a:extLst>
          </p:cNvPr>
          <p:cNvSpPr>
            <a:spLocks noGrp="1"/>
          </p:cNvSpPr>
          <p:nvPr/>
        </p:nvSpPr>
        <p:spPr>
          <a:xfrm>
            <a:off x="457200" y="630936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600" u="sng">
                <a:solidFill>
                  <a:srgbClr val="0066CC"/>
                </a:solidFill>
                <a:hlinkClick r:id="rId3"/>
              </a:rPr>
              <a:t>[1]</a:t>
            </a:r>
          </a:p>
        </p:txBody>
      </p:sp>
    </p:spTree>
    <p:extLst>
      <p:ext uri="{BB962C8B-B14F-4D97-AF65-F5344CB8AC3E}">
        <p14:creationId xmlns:p14="http://schemas.microsoft.com/office/powerpoint/2010/main" val="15659652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EC93B96-5C3F-4BFE-B320-74C0389F9A3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B3D51"/>
          </a:solidFill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E9BAEA8-9F09-4EE3-8B31-0C25D3C8BD94}"/>
              </a:ext>
            </a:extLst>
          </p:cNvPr>
          <p:cNvSpPr>
            <a:spLocks noGrp="1"/>
          </p:cNvSpPr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800" b="1">
                <a:solidFill>
                  <a:srgbClr val="FFFFFF"/>
                </a:solidFill>
              </a:rPr>
              <a:t>Mini Exercise 3: Sensors &amp; Scheduling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6AC977A-70C9-4E61-9F32-B9515D284F49}"/>
              </a:ext>
            </a:extLst>
          </p:cNvPr>
          <p:cNvSpPr>
            <a:spLocks noGrp="1"/>
          </p:cNvSpPr>
          <p:nvPr/>
        </p:nvSpPr>
        <p:spPr>
          <a:xfrm>
            <a:off x="457200" y="548640"/>
            <a:ext cx="5943600" cy="8229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900">
                <a:solidFill>
                  <a:srgbClr val="003C54"/>
                </a:solidFill>
              </a:rPr>
              <a:t>1. Which mode frees up the worker slot between checks?</a:t>
            </a:r>
          </a:p>
          <a:p>
            <a:pPr marL="0" indent="0">
              <a:buNone/>
            </a:pPr>
            <a:r>
              <a:rPr sz="900">
                <a:solidFill>
                  <a:srgbClr val="003C54"/>
                </a:solidFill>
              </a:rPr>
              <a:t>2. What happens if a FileSensor fails to find the file within timeout?</a:t>
            </a:r>
          </a:p>
          <a:p>
            <a:pPr marL="0" indent="0">
              <a:buNone/>
            </a:pPr>
            <a:r>
              <a:rPr sz="900">
                <a:solidFill>
                  <a:srgbClr val="003C54"/>
                </a:solidFill>
              </a:rPr>
              <a:t>3. Which schedule expression runs at midnight UTC every day?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6A7838D-4968-416F-9DFC-015A3236827B}"/>
              </a:ext>
            </a:extLst>
          </p:cNvPr>
          <p:cNvSpPr>
            <a:spLocks noGrp="1"/>
          </p:cNvSpPr>
          <p:nvPr/>
        </p:nvSpPr>
        <p:spPr>
          <a:xfrm>
            <a:off x="6492240" y="548640"/>
            <a:ext cx="2194560" cy="8229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800">
                <a:solidFill>
                  <a:srgbClr val="003C54"/>
                </a:solidFill>
              </a:rPr>
              <a:t>A) poke, Task fails, @daily</a:t>
            </a:r>
          </a:p>
          <a:p>
            <a:pPr marL="0" indent="0">
              <a:buNone/>
            </a:pPr>
            <a:r>
              <a:rPr sz="800">
                <a:solidFill>
                  <a:srgbClr val="003C54"/>
                </a:solidFill>
              </a:rPr>
              <a:t>B) reschedule, Sensor retries, 0 0 * * *</a:t>
            </a:r>
          </a:p>
          <a:p>
            <a:pPr marL="0" indent="0">
              <a:buNone/>
            </a:pPr>
            <a:r>
              <a:rPr sz="800">
                <a:solidFill>
                  <a:srgbClr val="003C54"/>
                </a:solidFill>
              </a:rPr>
              <a:t>C) reschedule, Sensor fails, @hourly</a:t>
            </a:r>
          </a:p>
          <a:p>
            <a:pPr marL="0" indent="0">
              <a:buNone/>
            </a:pPr>
            <a:r>
              <a:rPr sz="800">
                <a:solidFill>
                  <a:srgbClr val="003C54"/>
                </a:solidFill>
              </a:rPr>
              <a:t>D) poke, Sensor is skipped, None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A34EDC2-69E7-4C72-B159-F7F0EBD1C8EB}"/>
              </a:ext>
            </a:extLst>
          </p:cNvPr>
          <p:cNvSpPr>
            <a:spLocks noGrp="1"/>
          </p:cNvSpPr>
          <p:nvPr/>
        </p:nvSpPr>
        <p:spPr>
          <a:xfrm>
            <a:off x="457200" y="630936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600" u="sng">
                <a:solidFill>
                  <a:srgbClr val="0066CC"/>
                </a:solidFill>
                <a:hlinkClick r:id="rId3"/>
              </a:rPr>
              <a:t>[1]</a:t>
            </a:r>
            <a:r>
              <a:rPr sz="600">
                <a:solidFill>
                  <a:srgbClr val="000000"/>
                </a:solidFill>
              </a:rPr>
              <a:t>   </a:t>
            </a:r>
            <a:r>
              <a:rPr sz="600" u="sng">
                <a:solidFill>
                  <a:srgbClr val="0066CC"/>
                </a:solidFill>
                <a:hlinkClick r:id="rId4"/>
              </a:rPr>
              <a:t>[2]</a:t>
            </a:r>
          </a:p>
        </p:txBody>
      </p:sp>
    </p:spTree>
    <p:extLst>
      <p:ext uri="{BB962C8B-B14F-4D97-AF65-F5344CB8AC3E}">
        <p14:creationId xmlns:p14="http://schemas.microsoft.com/office/powerpoint/2010/main" val="11218627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86BE082-7FB5-473B-B99A-84F4363FF7A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B3D51"/>
          </a:solidFill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1780CF9-6B20-4241-8808-CC29712BE959}"/>
              </a:ext>
            </a:extLst>
          </p:cNvPr>
          <p:cNvSpPr>
            <a:spLocks noGrp="1"/>
          </p:cNvSpPr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800" b="1">
                <a:solidFill>
                  <a:srgbClr val="FFFFFF"/>
                </a:solidFill>
              </a:rPr>
              <a:t>Mini Exercise 4: Troubleshooting &amp; Optimisation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8C74988-ED38-4CEC-B4E1-588747C0129B}"/>
              </a:ext>
            </a:extLst>
          </p:cNvPr>
          <p:cNvSpPr>
            <a:spLocks noGrp="1"/>
          </p:cNvSpPr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900">
                <a:solidFill>
                  <a:srgbClr val="003C54"/>
                </a:solidFill>
              </a:rPr>
              <a:t>The supplied DAG succeeds once, but a manual rerun duplicates Bronze input because the first transform appends rows. What change would make the rerun safe?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5AC86BF-5C19-4894-94D0-10767076D3C3}"/>
              </a:ext>
            </a:extLst>
          </p:cNvPr>
          <p:cNvSpPr>
            <a:spLocks noGrp="1"/>
          </p:cNvSpPr>
          <p:nvPr/>
        </p:nvSpPr>
        <p:spPr>
          <a:xfrm>
            <a:off x="457200" y="1097280"/>
            <a:ext cx="411480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900">
                <a:solidFill>
                  <a:srgbClr val="003C54"/>
                </a:solidFill>
              </a:rPr>
              <a:t>A) Ignore the duplicate rows</a:t>
            </a:r>
          </a:p>
          <a:p>
            <a:pPr marL="0" indent="0">
              <a:buNone/>
            </a:pPr>
            <a:r>
              <a:rPr sz="900">
                <a:solidFill>
                  <a:srgbClr val="003C54"/>
                </a:solidFill>
              </a:rPr>
              <a:t>B) Add a run/file key and idempotent merge or dedup rule</a:t>
            </a:r>
          </a:p>
          <a:p>
            <a:pPr marL="0" indent="0">
              <a:buNone/>
            </a:pPr>
            <a:r>
              <a:rPr sz="900">
                <a:solidFill>
                  <a:srgbClr val="003C54"/>
                </a:solidFill>
              </a:rPr>
              <a:t>C) Increase scheduler parsing frequency</a:t>
            </a:r>
          </a:p>
          <a:p>
            <a:pPr marL="0" indent="0">
              <a:buNone/>
            </a:pPr>
            <a:r>
              <a:rPr sz="900">
                <a:solidFill>
                  <a:srgbClr val="003C54"/>
                </a:solidFill>
              </a:rPr>
              <a:t>D) Remove task logs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9D11499-9D68-450C-AD88-E9333A9488A7}"/>
              </a:ext>
            </a:extLst>
          </p:cNvPr>
          <p:cNvSpPr>
            <a:spLocks noGrp="1"/>
          </p:cNvSpPr>
          <p:nvPr/>
        </p:nvSpPr>
        <p:spPr>
          <a:xfrm>
            <a:off x="4663440" y="1097280"/>
            <a:ext cx="4023360" cy="8229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800">
                <a:solidFill>
                  <a:srgbClr val="6A6A6A"/>
                </a:solidFill>
              </a:rPr>
              <a:t>Discussion prompts:</a:t>
            </a:r>
          </a:p>
          <a:p>
            <a:pPr marL="0" indent="0">
              <a:buNone/>
            </a:pPr>
            <a:r>
              <a:rPr sz="800">
                <a:solidFill>
                  <a:srgbClr val="6A6A6A"/>
                </a:solidFill>
              </a:rPr>
              <a:t>- Where should row-count validation run?</a:t>
            </a:r>
          </a:p>
          <a:p>
            <a:pPr marL="0" indent="0">
              <a:buNone/>
            </a:pPr>
            <a:r>
              <a:rPr sz="800">
                <a:solidFill>
                  <a:srgbClr val="6A6A6A"/>
                </a:solidFill>
              </a:rPr>
              <a:t>- Which evidence proves a retry did not double count Gold?</a:t>
            </a:r>
          </a:p>
          <a:p>
            <a:pPr marL="0" indent="0">
              <a:buNone/>
            </a:pPr>
            <a:r>
              <a:rPr sz="800">
                <a:solidFill>
                  <a:srgbClr val="6A6A6A"/>
                </a:solidFill>
              </a:rPr>
              <a:t>- When should the pipeline invoke Hop rather than transform inside Airflow?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B1BE382-BE9C-4430-83E3-C7E2F0C90782}"/>
              </a:ext>
            </a:extLst>
          </p:cNvPr>
          <p:cNvSpPr>
            <a:spLocks noGrp="1"/>
          </p:cNvSpPr>
          <p:nvPr/>
        </p:nvSpPr>
        <p:spPr>
          <a:xfrm>
            <a:off x="457200" y="630936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600" u="sng">
                <a:solidFill>
                  <a:srgbClr val="0066CC"/>
                </a:solidFill>
                <a:hlinkClick r:id="rId3"/>
              </a:rPr>
              <a:t>[1]</a:t>
            </a:r>
            <a:r>
              <a:rPr sz="600">
                <a:solidFill>
                  <a:srgbClr val="000000"/>
                </a:solidFill>
              </a:rPr>
              <a:t>   </a:t>
            </a:r>
            <a:r>
              <a:rPr sz="600" u="sng">
                <a:solidFill>
                  <a:srgbClr val="0066CC"/>
                </a:solidFill>
                <a:hlinkClick r:id="rId4"/>
              </a:rPr>
              <a:t>[2]</a:t>
            </a:r>
          </a:p>
        </p:txBody>
      </p:sp>
    </p:spTree>
    <p:extLst>
      <p:ext uri="{BB962C8B-B14F-4D97-AF65-F5344CB8AC3E}">
        <p14:creationId xmlns:p14="http://schemas.microsoft.com/office/powerpoint/2010/main" val="12449386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2ED10C2-63FB-4140-A262-410E30A9922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B3D51"/>
          </a:solidFill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5334B8C-3112-4F43-878E-AB7259769885}"/>
              </a:ext>
            </a:extLst>
          </p:cNvPr>
          <p:cNvSpPr>
            <a:spLocks noGrp="1"/>
          </p:cNvSpPr>
          <p:nvPr/>
        </p:nvSpPr>
        <p:spPr>
          <a:xfrm>
            <a:off x="457200" y="91440"/>
            <a:ext cx="77724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800" b="1">
                <a:solidFill>
                  <a:srgbClr val="FFFFFF"/>
                </a:solidFill>
              </a:rPr>
              <a:t>Quiz: Airflow Fundamentals (1/2)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DD8EBE9-F64D-416D-9A75-86578B3638CB}"/>
              </a:ext>
            </a:extLst>
          </p:cNvPr>
          <p:cNvSpPr>
            <a:spLocks noGrp="1"/>
          </p:cNvSpPr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900">
                <a:solidFill>
                  <a:srgbClr val="003C54"/>
                </a:solidFill>
              </a:rPr>
              <a:t>1. Which component processes DAG files?</a:t>
            </a:r>
          </a:p>
          <a:p>
            <a:pPr marL="0" indent="0">
              <a:buNone/>
            </a:pPr>
            <a:r>
              <a:rPr sz="900">
                <a:solidFill>
                  <a:srgbClr val="003C54"/>
                </a:solidFill>
              </a:rPr>
              <a:t>A) Scheduler  B) DAG Processor  C) API Server  D) Triggerer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D0058EA-60CB-45CD-B7FA-14196F9F95BA}"/>
              </a:ext>
            </a:extLst>
          </p:cNvPr>
          <p:cNvSpPr>
            <a:spLocks noGrp="1"/>
          </p:cNvSpPr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900">
                <a:solidFill>
                  <a:srgbClr val="003C54"/>
                </a:solidFill>
              </a:rPr>
              <a:t>2. What does the @task decorator return?</a:t>
            </a:r>
          </a:p>
          <a:p>
            <a:pPr marL="0" indent="0">
              <a:buNone/>
            </a:pPr>
            <a:r>
              <a:rPr sz="900">
                <a:solidFill>
                  <a:srgbClr val="003C54"/>
                </a:solidFill>
              </a:rPr>
              <a:t>A) XComArg  B) PythonOperator  C) Sensor  D) Nothing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E761714-ECEE-444C-A85C-834E32CACA23}"/>
              </a:ext>
            </a:extLst>
          </p:cNvPr>
          <p:cNvSpPr>
            <a:spLocks noGrp="1"/>
          </p:cNvSpPr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900">
                <a:solidFill>
                  <a:srgbClr val="003C54"/>
                </a:solidFill>
              </a:rPr>
              <a:t>3. Which statement about sensors is true?</a:t>
            </a:r>
          </a:p>
          <a:p>
            <a:pPr marL="0" indent="0">
              <a:buNone/>
            </a:pPr>
            <a:r>
              <a:rPr sz="900">
                <a:solidFill>
                  <a:srgbClr val="003C54"/>
                </a:solidFill>
              </a:rPr>
              <a:t>A) They run heavy ETL logic</a:t>
            </a:r>
          </a:p>
          <a:p>
            <a:pPr marL="0" indent="0">
              <a:buNone/>
            </a:pPr>
            <a:r>
              <a:rPr sz="900">
                <a:solidFill>
                  <a:srgbClr val="003C54"/>
                </a:solidFill>
              </a:rPr>
              <a:t>B) They wait for events then succeed</a:t>
            </a:r>
          </a:p>
          <a:p>
            <a:pPr marL="0" indent="0">
              <a:buNone/>
            </a:pPr>
            <a:r>
              <a:rPr sz="900">
                <a:solidFill>
                  <a:srgbClr val="003C54"/>
                </a:solidFill>
              </a:rPr>
              <a:t>C) They always require an external API call</a:t>
            </a:r>
          </a:p>
          <a:p>
            <a:pPr marL="0" indent="0">
              <a:buNone/>
            </a:pPr>
            <a:r>
              <a:rPr sz="900">
                <a:solidFill>
                  <a:srgbClr val="003C54"/>
                </a:solidFill>
              </a:rPr>
              <a:t>D) They do not occupy worker slots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F4FF53B-C7B7-4E29-9551-C6C7D69D0A52}"/>
              </a:ext>
            </a:extLst>
          </p:cNvPr>
          <p:cNvSpPr>
            <a:spLocks noGrp="1"/>
          </p:cNvSpPr>
          <p:nvPr/>
        </p:nvSpPr>
        <p:spPr>
          <a:xfrm>
            <a:off x="457200" y="630936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600" u="sng">
                <a:solidFill>
                  <a:srgbClr val="0066CC"/>
                </a:solidFill>
                <a:hlinkClick r:id="rId3"/>
              </a:rPr>
              <a:t>[1]</a:t>
            </a:r>
            <a:r>
              <a:rPr sz="600">
                <a:solidFill>
                  <a:srgbClr val="000000"/>
                </a:solidFill>
              </a:rPr>
              <a:t>   </a:t>
            </a:r>
            <a:r>
              <a:rPr sz="600" u="sng">
                <a:solidFill>
                  <a:srgbClr val="0066CC"/>
                </a:solidFill>
                <a:hlinkClick r:id="rId4"/>
              </a:rPr>
              <a:t>[2]</a:t>
            </a:r>
            <a:r>
              <a:rPr sz="600">
                <a:solidFill>
                  <a:srgbClr val="000000"/>
                </a:solidFill>
              </a:rPr>
              <a:t>   </a:t>
            </a:r>
            <a:r>
              <a:rPr sz="600" u="sng">
                <a:solidFill>
                  <a:srgbClr val="0066CC"/>
                </a:solidFill>
                <a:hlinkClick r:id="rId5"/>
              </a:rPr>
              <a:t>[3]</a:t>
            </a:r>
          </a:p>
        </p:txBody>
      </p:sp>
    </p:spTree>
    <p:extLst>
      <p:ext uri="{BB962C8B-B14F-4D97-AF65-F5344CB8AC3E}">
        <p14:creationId xmlns:p14="http://schemas.microsoft.com/office/powerpoint/2010/main" val="13523324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583649E-B4AE-4281-A972-68CEDE61F6F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B3D51"/>
          </a:solidFill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9D6D4B7-06F8-44E5-A847-C7A39A1CA70C}"/>
              </a:ext>
            </a:extLst>
          </p:cNvPr>
          <p:cNvSpPr>
            <a:spLocks noGrp="1"/>
          </p:cNvSpPr>
          <p:nvPr/>
        </p:nvSpPr>
        <p:spPr>
          <a:xfrm>
            <a:off x="457200" y="91440"/>
            <a:ext cx="77724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800" b="1">
                <a:solidFill>
                  <a:srgbClr val="FFFFFF"/>
                </a:solidFill>
              </a:rPr>
              <a:t>Quiz: Airflow Fundamentals (2/2)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EA32ABE-3BF3-417E-AFEE-C4521F23210E}"/>
              </a:ext>
            </a:extLst>
          </p:cNvPr>
          <p:cNvSpPr>
            <a:spLocks noGrp="1"/>
          </p:cNvSpPr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900">
                <a:solidFill>
                  <a:srgbClr val="003C54"/>
                </a:solidFill>
              </a:rPr>
              <a:t>4. What is the purpose of the metadata database?</a:t>
            </a:r>
          </a:p>
          <a:p>
            <a:pPr marL="0" indent="0">
              <a:buNone/>
            </a:pPr>
            <a:r>
              <a:rPr sz="900">
                <a:solidFill>
                  <a:srgbClr val="003C54"/>
                </a:solidFill>
              </a:rPr>
              <a:t>A) Store DAG Python files</a:t>
            </a:r>
          </a:p>
          <a:p>
            <a:pPr marL="0" indent="0">
              <a:buNone/>
            </a:pPr>
            <a:r>
              <a:rPr sz="900">
                <a:solidFill>
                  <a:srgbClr val="003C54"/>
                </a:solidFill>
              </a:rPr>
              <a:t>B) Store task states and XComs</a:t>
            </a:r>
          </a:p>
          <a:p>
            <a:pPr marL="0" indent="0">
              <a:buNone/>
            </a:pPr>
            <a:r>
              <a:rPr sz="900">
                <a:solidFill>
                  <a:srgbClr val="003C54"/>
                </a:solidFill>
              </a:rPr>
              <a:t>C) Provide UI templates</a:t>
            </a:r>
          </a:p>
          <a:p>
            <a:pPr marL="0" indent="0">
              <a:buNone/>
            </a:pPr>
            <a:r>
              <a:rPr sz="900">
                <a:solidFill>
                  <a:srgbClr val="003C54"/>
                </a:solidFill>
              </a:rPr>
              <a:t>D) Act as a message queue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254B4C0-1A36-495F-8A71-C09DC62ED0CE}"/>
              </a:ext>
            </a:extLst>
          </p:cNvPr>
          <p:cNvSpPr>
            <a:spLocks noGrp="1"/>
          </p:cNvSpPr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900">
                <a:solidFill>
                  <a:srgbClr val="003C54"/>
                </a:solidFill>
              </a:rPr>
              <a:t>5. Which mode should you choose for a sensor that checks a file once per hour?</a:t>
            </a:r>
          </a:p>
          <a:p>
            <a:pPr marL="0" indent="0">
              <a:buNone/>
            </a:pPr>
            <a:r>
              <a:rPr sz="900">
                <a:solidFill>
                  <a:srgbClr val="003C54"/>
                </a:solidFill>
              </a:rPr>
              <a:t>A) poke  B) reschedule  C) event-driven  D) deferrable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BC2475E-068E-4F36-AB6A-3B1434643140}"/>
              </a:ext>
            </a:extLst>
          </p:cNvPr>
          <p:cNvSpPr>
            <a:spLocks noGrp="1"/>
          </p:cNvSpPr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900">
                <a:solidFill>
                  <a:srgbClr val="003C54"/>
                </a:solidFill>
              </a:rPr>
              <a:t>6. Which of the following is NOT a best practice?</a:t>
            </a:r>
          </a:p>
          <a:p>
            <a:pPr marL="0" indent="0">
              <a:buNone/>
            </a:pPr>
            <a:r>
              <a:rPr sz="900">
                <a:solidFill>
                  <a:srgbClr val="003C54"/>
                </a:solidFill>
              </a:rPr>
              <a:t>A) Use TaskFlow for Python logic</a:t>
            </a:r>
          </a:p>
          <a:p>
            <a:pPr marL="0" indent="0">
              <a:buNone/>
            </a:pPr>
            <a:r>
              <a:rPr sz="900">
                <a:solidFill>
                  <a:srgbClr val="003C54"/>
                </a:solidFill>
              </a:rPr>
              <a:t>B) Keep tasks idempotent</a:t>
            </a:r>
          </a:p>
          <a:p>
            <a:pPr marL="0" indent="0">
              <a:buNone/>
            </a:pPr>
            <a:r>
              <a:rPr sz="900">
                <a:solidFill>
                  <a:srgbClr val="003C54"/>
                </a:solidFill>
              </a:rPr>
              <a:t>C) Pass large dataframes via XCom</a:t>
            </a:r>
          </a:p>
          <a:p>
            <a:pPr marL="0" indent="0">
              <a:buNone/>
            </a:pPr>
            <a:r>
              <a:rPr sz="900">
                <a:solidFill>
                  <a:srgbClr val="003C54"/>
                </a:solidFill>
              </a:rPr>
              <a:t>D) Test DAGs locally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1F5F5B4-EB15-48CC-8210-D238750EF3D3}"/>
              </a:ext>
            </a:extLst>
          </p:cNvPr>
          <p:cNvSpPr>
            <a:spLocks noGrp="1"/>
          </p:cNvSpPr>
          <p:nvPr/>
        </p:nvSpPr>
        <p:spPr>
          <a:xfrm>
            <a:off x="457200" y="630936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600" u="sng">
                <a:solidFill>
                  <a:srgbClr val="0066CC"/>
                </a:solidFill>
                <a:hlinkClick r:id="rId3"/>
              </a:rPr>
              <a:t>[1]</a:t>
            </a:r>
            <a:r>
              <a:rPr sz="600">
                <a:solidFill>
                  <a:srgbClr val="000000"/>
                </a:solidFill>
              </a:rPr>
              <a:t>   </a:t>
            </a:r>
            <a:r>
              <a:rPr sz="600" u="sng">
                <a:solidFill>
                  <a:srgbClr val="0066CC"/>
                </a:solidFill>
                <a:hlinkClick r:id="rId4"/>
              </a:rPr>
              <a:t>[2]</a:t>
            </a:r>
            <a:r>
              <a:rPr sz="600">
                <a:solidFill>
                  <a:srgbClr val="000000"/>
                </a:solidFill>
              </a:rPr>
              <a:t>   </a:t>
            </a:r>
            <a:r>
              <a:rPr sz="600" u="sng">
                <a:solidFill>
                  <a:srgbClr val="0066CC"/>
                </a:solidFill>
                <a:hlinkClick r:id="rId5"/>
              </a:rPr>
              <a:t>[3]</a:t>
            </a:r>
          </a:p>
        </p:txBody>
      </p:sp>
    </p:spTree>
    <p:extLst>
      <p:ext uri="{BB962C8B-B14F-4D97-AF65-F5344CB8AC3E}">
        <p14:creationId xmlns:p14="http://schemas.microsoft.com/office/powerpoint/2010/main" val="1642629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AE0107F-CE8E-490B-8615-B79C5B2C03E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B3D51"/>
          </a:solidFill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F0DFE87-4CED-4CAC-8F8A-0748353DBD6C}"/>
              </a:ext>
            </a:extLst>
          </p:cNvPr>
          <p:cNvSpPr>
            <a:spLocks noGrp="1"/>
          </p:cNvSpPr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800" b="1">
                <a:solidFill>
                  <a:srgbClr val="FFFFFF"/>
                </a:solidFill>
              </a:rPr>
              <a:t>Quiz Answers &amp; Explanations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79CD2F3-302A-4ECC-A87F-AD8FB7ECDE0C}"/>
              </a:ext>
            </a:extLst>
          </p:cNvPr>
          <p:cNvSpPr>
            <a:spLocks noGrp="1"/>
          </p:cNvSpPr>
          <p:nvPr/>
        </p:nvSpPr>
        <p:spPr>
          <a:xfrm>
            <a:off x="457200" y="548640"/>
            <a:ext cx="8686800" cy="22860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900">
                <a:solidFill>
                  <a:srgbClr val="003C54"/>
                </a:solidFill>
              </a:rPr>
              <a:t>1) B – The DAG processor parses and serializes DAGs.
2) A – @task functions return an XComArg representing the output.
3) B – Sensors wait for conditions and then succeed or fail.
4) B – The metadata DB stores DAGs, task states, connections and XComs.
5) B – Reschedule mode is ideal for infrequent checks to free workers.
6) C – You should not pass large dataframes via XCom; use external storage.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8CC9F41-8856-45F0-814D-273AA8A0A303}"/>
              </a:ext>
            </a:extLst>
          </p:cNvPr>
          <p:cNvSpPr>
            <a:spLocks noGrp="1"/>
          </p:cNvSpPr>
          <p:nvPr/>
        </p:nvSpPr>
        <p:spPr>
          <a:xfrm>
            <a:off x="457200" y="630936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600" u="sng">
                <a:solidFill>
                  <a:srgbClr val="0066CC"/>
                </a:solidFill>
                <a:hlinkClick r:id="rId3"/>
              </a:rPr>
              <a:t>[1]</a:t>
            </a:r>
            <a:r>
              <a:rPr sz="600">
                <a:solidFill>
                  <a:srgbClr val="000000"/>
                </a:solidFill>
              </a:rPr>
              <a:t>   </a:t>
            </a:r>
            <a:r>
              <a:rPr sz="600" u="sng">
                <a:solidFill>
                  <a:srgbClr val="0066CC"/>
                </a:solidFill>
                <a:hlinkClick r:id="rId4"/>
              </a:rPr>
              <a:t>[2]</a:t>
            </a:r>
            <a:r>
              <a:rPr sz="600">
                <a:solidFill>
                  <a:srgbClr val="000000"/>
                </a:solidFill>
              </a:rPr>
              <a:t>   </a:t>
            </a:r>
            <a:r>
              <a:rPr sz="600" u="sng">
                <a:solidFill>
                  <a:srgbClr val="0066CC"/>
                </a:solidFill>
                <a:hlinkClick r:id="rId5"/>
              </a:rPr>
              <a:t>[3]</a:t>
            </a:r>
            <a:r>
              <a:rPr sz="600">
                <a:solidFill>
                  <a:srgbClr val="000000"/>
                </a:solidFill>
              </a:rPr>
              <a:t>   </a:t>
            </a:r>
            <a:r>
              <a:rPr sz="600" u="sng">
                <a:solidFill>
                  <a:srgbClr val="0066CC"/>
                </a:solidFill>
                <a:hlinkClick r:id="rId6"/>
              </a:rPr>
              <a:t>[4]</a:t>
            </a:r>
            <a:r>
              <a:rPr sz="600">
                <a:solidFill>
                  <a:srgbClr val="000000"/>
                </a:solidFill>
              </a:rPr>
              <a:t>   </a:t>
            </a:r>
            <a:r>
              <a:rPr sz="600" u="sng">
                <a:solidFill>
                  <a:srgbClr val="0066CC"/>
                </a:solidFill>
                <a:hlinkClick r:id="rId7"/>
              </a:rPr>
              <a:t>[5]</a:t>
            </a:r>
          </a:p>
        </p:txBody>
      </p:sp>
    </p:spTree>
    <p:extLst>
      <p:ext uri="{BB962C8B-B14F-4D97-AF65-F5344CB8AC3E}">
        <p14:creationId xmlns:p14="http://schemas.microsoft.com/office/powerpoint/2010/main" val="11674307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B7F50E7-5C66-4655-BC57-1B8DE083216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B3D51"/>
          </a:solidFill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8B46953-38AE-494C-97E4-CA641511AEC8}"/>
              </a:ext>
            </a:extLst>
          </p:cNvPr>
          <p:cNvSpPr>
            <a:spLocks noGrp="1"/>
          </p:cNvSpPr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800" b="1">
                <a:solidFill>
                  <a:srgbClr val="FFFFFF"/>
                </a:solidFill>
              </a:rPr>
              <a:t>Recap &amp; Looking Ahead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36ABE33-D5E7-47D6-8346-2DFCDA1D06E6}"/>
              </a:ext>
            </a:extLst>
          </p:cNvPr>
          <p:cNvSpPr>
            <a:spLocks noGrp="1"/>
          </p:cNvSpPr>
          <p:nvPr/>
        </p:nvSpPr>
        <p:spPr>
          <a:xfrm>
            <a:off x="457200" y="548640"/>
            <a:ext cx="8686800" cy="2743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00" b="1">
                <a:solidFill>
                  <a:srgbClr val="003C54"/>
                </a:solidFill>
              </a:rPr>
              <a:t>Today you learned how Airflow schedules and observes bounded pipeline tasks through DAGs, sensors, task logs and retries.</a:t>
            </a:r>
          </a:p>
          <a:p>
            <a:pPr marL="0" indent="0">
              <a:buNone/>
            </a:pPr>
            <a:r>
              <a:rPr sz="900" i="1">
                <a:solidFill>
                  <a:srgbClr val="007ACC"/>
                </a:solidFill>
              </a:rPr>
              <a:t>- The supplied lab runs CSV-to-Postgres Bronze/Silver/Gold tasks.</a:t>
            </a:r>
          </a:p>
          <a:p>
            <a:pPr marL="0" indent="0">
              <a:buNone/>
            </a:pPr>
            <a:r>
              <a:rPr sz="900" i="1">
                <a:solidFill>
                  <a:srgbClr val="007ACC"/>
                </a:solidFill>
              </a:rPr>
              <a:t>- Kafka/Debezium keep streaming independently; a DAG coordinates checks or external jobs.</a:t>
            </a:r>
          </a:p>
          <a:p>
            <a:pPr marL="0" indent="0">
              <a:buNone/>
            </a:pPr>
            <a:r>
              <a:rPr sz="900" i="1">
                <a:solidFill>
                  <a:srgbClr val="007ACC"/>
                </a:solidFill>
              </a:rPr>
              <a:t>- Reliable retries require idempotent outputs.</a:t>
            </a:r>
          </a:p>
          <a:p>
            <a:pPr marL="0" indent="0">
              <a:buNone/>
            </a:pPr>
            <a:endParaRPr sz="900" i="1">
              <a:solidFill>
                <a:srgbClr val="007ACC"/>
              </a:solidFill>
            </a:endParaRPr>
          </a:p>
          <a:p>
            <a:pPr marL="0" indent="0">
              <a:buNone/>
            </a:pPr>
            <a:r>
              <a:rPr sz="900" i="1">
                <a:solidFill>
                  <a:srgbClr val="007ACC"/>
                </a:solidFill>
              </a:rPr>
              <a:t>Next: Day 9 operates the pipeline through monitoring, lag analysis, incident diagnosis and recovery evidence.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EDC61A1-C17C-465F-952D-038856AB1CEC}"/>
              </a:ext>
            </a:extLst>
          </p:cNvPr>
          <p:cNvSpPr>
            <a:spLocks noGrp="1"/>
          </p:cNvSpPr>
          <p:nvPr/>
        </p:nvSpPr>
        <p:spPr>
          <a:xfrm>
            <a:off x="457200" y="630936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600" u="sng">
                <a:solidFill>
                  <a:srgbClr val="0066CC"/>
                </a:solidFill>
                <a:hlinkClick r:id="rId3"/>
              </a:rPr>
              <a:t>[1]</a:t>
            </a:r>
            <a:r>
              <a:rPr sz="600">
                <a:solidFill>
                  <a:srgbClr val="000000"/>
                </a:solidFill>
              </a:rPr>
              <a:t>   </a:t>
            </a:r>
            <a:r>
              <a:rPr sz="600" u="sng">
                <a:solidFill>
                  <a:srgbClr val="0066CC"/>
                </a:solidFill>
                <a:hlinkClick r:id="rId4"/>
              </a:rPr>
              <a:t>[2]</a:t>
            </a:r>
            <a:r>
              <a:rPr sz="600">
                <a:solidFill>
                  <a:srgbClr val="000000"/>
                </a:solidFill>
              </a:rPr>
              <a:t>   </a:t>
            </a:r>
            <a:r>
              <a:rPr sz="600" u="sng">
                <a:solidFill>
                  <a:srgbClr val="0066CC"/>
                </a:solidFill>
                <a:hlinkClick r:id="rId5"/>
              </a:rPr>
              <a:t>[3]</a:t>
            </a:r>
            <a:r>
              <a:rPr sz="600">
                <a:solidFill>
                  <a:srgbClr val="000000"/>
                </a:solidFill>
              </a:rPr>
              <a:t>   </a:t>
            </a:r>
            <a:r>
              <a:rPr sz="600" u="sng">
                <a:solidFill>
                  <a:srgbClr val="0066CC"/>
                </a:solidFill>
                <a:hlinkClick r:id="rId6"/>
              </a:rPr>
              <a:t>[4]</a:t>
            </a:r>
            <a:r>
              <a:rPr sz="600">
                <a:solidFill>
                  <a:srgbClr val="000000"/>
                </a:solidFill>
              </a:rPr>
              <a:t>   </a:t>
            </a:r>
            <a:r>
              <a:rPr sz="600" u="sng">
                <a:solidFill>
                  <a:srgbClr val="0066CC"/>
                </a:solidFill>
                <a:hlinkClick r:id="rId7"/>
              </a:rPr>
              <a:t>[5]</a:t>
            </a:r>
            <a:r>
              <a:rPr sz="600">
                <a:solidFill>
                  <a:srgbClr val="000000"/>
                </a:solidFill>
              </a:rPr>
              <a:t>   </a:t>
            </a:r>
            <a:r>
              <a:rPr sz="600" u="sng">
                <a:solidFill>
                  <a:srgbClr val="0066CC"/>
                </a:solidFill>
                <a:hlinkClick r:id="rId8"/>
              </a:rPr>
              <a:t>[6]</a:t>
            </a:r>
            <a:r>
              <a:rPr sz="600">
                <a:solidFill>
                  <a:srgbClr val="000000"/>
                </a:solidFill>
              </a:rPr>
              <a:t>   </a:t>
            </a:r>
            <a:r>
              <a:rPr sz="600" u="sng">
                <a:solidFill>
                  <a:srgbClr val="0066CC"/>
                </a:solidFill>
                <a:hlinkClick r:id="rId9"/>
              </a:rPr>
              <a:t>[7]</a:t>
            </a:r>
          </a:p>
        </p:txBody>
      </p:sp>
    </p:spTree>
    <p:extLst>
      <p:ext uri="{BB962C8B-B14F-4D97-AF65-F5344CB8AC3E}">
        <p14:creationId xmlns:p14="http://schemas.microsoft.com/office/powerpoint/2010/main" val="4404369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2334</Words>
  <Application>Microsoft Office PowerPoint</Application>
  <DocSecurity>0</DocSecurity>
  <PresentationFormat>On-screen Show (16:9)</PresentationFormat>
  <Paragraphs>275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Calibri</vt:lpstr>
      <vt:lpstr>Consolas</vt:lpstr>
      <vt:lpstr>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Zohar Quid</cp:lastModifiedBy>
  <cp:revision>1</cp:revision>
  <dcterms:created xsi:type="dcterms:W3CDTF">2026-05-26T10:14:15Z</dcterms:created>
  <dcterms:modified xsi:type="dcterms:W3CDTF">2026-05-29T11:05:18Z</dcterms:modified>
</cp:coreProperties>
</file>