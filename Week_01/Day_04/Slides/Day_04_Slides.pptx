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422bd86653422b" /><Relationship Type="http://schemas.openxmlformats.org/officeDocument/2006/relationships/extended-properties" Target="/docProps/app.xml" Id="R025a894edbe74911" /><Relationship Type="http://schemas.openxmlformats.org/officeDocument/2006/relationships/officeDocument" Target="/ppt/presentation.xml" Id="Re260ca5c95254a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25e32fa591429f"/>
  </p:sldMasterIdLst>
  <p:notesMasterIdLst>
    <p:notesMasterId xmlns:r="http://schemas.openxmlformats.org/officeDocument/2006/relationships" r:id="Rcddb635b1a8f4ba1"/>
  </p:notesMasterIdLst>
  <p:sldIdLst>
    <p:sldId xmlns:r="http://schemas.openxmlformats.org/officeDocument/2006/relationships" id="256" r:id="R63acd63037044500"/>
    <p:sldId xmlns:r="http://schemas.openxmlformats.org/officeDocument/2006/relationships" id="257" r:id="R709f50789df74642"/>
    <p:sldId xmlns:r="http://schemas.openxmlformats.org/officeDocument/2006/relationships" id="258" r:id="R54feb1779c3349a3"/>
    <p:sldId xmlns:r="http://schemas.openxmlformats.org/officeDocument/2006/relationships" id="259" r:id="Rc428efc3ae7d4201"/>
    <p:sldId xmlns:r="http://schemas.openxmlformats.org/officeDocument/2006/relationships" id="260" r:id="R86df756e16e74dd8"/>
    <p:sldId xmlns:r="http://schemas.openxmlformats.org/officeDocument/2006/relationships" id="261" r:id="Rfe25278825d34282"/>
    <p:sldId xmlns:r="http://schemas.openxmlformats.org/officeDocument/2006/relationships" id="262" r:id="Rec830d7e6d9544fc"/>
    <p:sldId xmlns:r="http://schemas.openxmlformats.org/officeDocument/2006/relationships" id="263" r:id="Rd97a160b9c4e4c5d"/>
    <p:sldId xmlns:r="http://schemas.openxmlformats.org/officeDocument/2006/relationships" id="264" r:id="R47ca34bfd3614d29"/>
    <p:sldId xmlns:r="http://schemas.openxmlformats.org/officeDocument/2006/relationships" id="265" r:id="R5c2fbda165b64b38"/>
    <p:sldId xmlns:r="http://schemas.openxmlformats.org/officeDocument/2006/relationships" id="266" r:id="R850fa07fad434e53"/>
    <p:sldId xmlns:r="http://schemas.openxmlformats.org/officeDocument/2006/relationships" id="267" r:id="R9667a691b8714176"/>
    <p:sldId xmlns:r="http://schemas.openxmlformats.org/officeDocument/2006/relationships" id="268" r:id="Rb318daf0bdf147b2"/>
    <p:sldId xmlns:r="http://schemas.openxmlformats.org/officeDocument/2006/relationships" id="269" r:id="R514f9eaad1d04969"/>
    <p:sldId xmlns:r="http://schemas.openxmlformats.org/officeDocument/2006/relationships" id="270" r:id="R35dd5c0f9b4546a8"/>
    <p:sldId xmlns:r="http://schemas.openxmlformats.org/officeDocument/2006/relationships" id="271" r:id="R4b9b4584e3ca4a89"/>
    <p:sldId xmlns:r="http://schemas.openxmlformats.org/officeDocument/2006/relationships" id="272" r:id="R2277dffa30ee43d9"/>
    <p:sldId xmlns:r="http://schemas.openxmlformats.org/officeDocument/2006/relationships" id="273" r:id="R0ab9b6544ee04759"/>
    <p:sldId xmlns:r="http://schemas.openxmlformats.org/officeDocument/2006/relationships" id="274" r:id="R3315fe749f274052"/>
    <p:sldId xmlns:r="http://schemas.openxmlformats.org/officeDocument/2006/relationships" id="275" r:id="Rf3ec6db8b919498d"/>
    <p:sldId xmlns:r="http://schemas.openxmlformats.org/officeDocument/2006/relationships" id="276" r:id="R9abd41fd9eeb433a"/>
    <p:sldId xmlns:r="http://schemas.openxmlformats.org/officeDocument/2006/relationships" id="277" r:id="R309ccb4a40c64d38"/>
    <p:sldId xmlns:r="http://schemas.openxmlformats.org/officeDocument/2006/relationships" id="278" r:id="R1c2d511f623c4c99"/>
    <p:sldId xmlns:r="http://schemas.openxmlformats.org/officeDocument/2006/relationships" id="279" r:id="Rd7818809d2b14269"/>
    <p:sldId xmlns:r="http://schemas.openxmlformats.org/officeDocument/2006/relationships" id="280" r:id="R51955d3e663e4f45"/>
    <p:sldId xmlns:r="http://schemas.openxmlformats.org/officeDocument/2006/relationships" id="281" r:id="Re3359d0c4a85466a"/>
    <p:sldId xmlns:r="http://schemas.openxmlformats.org/officeDocument/2006/relationships" id="282" r:id="R8cc9cac699c249a3"/>
    <p:sldId xmlns:r="http://schemas.openxmlformats.org/officeDocument/2006/relationships" id="283" r:id="Rbbe20d92320a48f5"/>
    <p:sldId xmlns:r="http://schemas.openxmlformats.org/officeDocument/2006/relationships" id="284" r:id="R9596f4a1af21407d"/>
    <p:sldId xmlns:r="http://schemas.openxmlformats.org/officeDocument/2006/relationships" id="285" r:id="R79c120b41dad4018"/>
    <p:sldId xmlns:r="http://schemas.openxmlformats.org/officeDocument/2006/relationships" id="286" r:id="R9385778f223c4e8b"/>
    <p:sldId xmlns:r="http://schemas.openxmlformats.org/officeDocument/2006/relationships" id="287" r:id="R3ebf7fb16ef940ca"/>
    <p:sldId xmlns:r="http://schemas.openxmlformats.org/officeDocument/2006/relationships" id="288" r:id="Rce44e3fed44d4910"/>
    <p:sldId xmlns:r="http://schemas.openxmlformats.org/officeDocument/2006/relationships" id="289" r:id="Re57f7103d7bb4c92"/>
    <p:sldId xmlns:r="http://schemas.openxmlformats.org/officeDocument/2006/relationships" id="290" r:id="R5fde935d4fe94436"/>
  </p:sldIdLst>
  <p:sldSz cx="9144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25e32fa591429f" /><Relationship Type="http://schemas.openxmlformats.org/officeDocument/2006/relationships/theme" Target="/ppt/theme/theme1.xml" Id="R3e5afc242c364c3c" /><Relationship Type="http://schemas.openxmlformats.org/officeDocument/2006/relationships/notesMaster" Target="/ppt/notesMasters/notesMaster1.xml" Id="Rcddb635b1a8f4ba1" /><Relationship Type="http://schemas.openxmlformats.org/officeDocument/2006/relationships/presProps" Target="/ppt/presProps.xml" Id="R3ff770ff79da4d7b" /><Relationship Type="http://schemas.openxmlformats.org/officeDocument/2006/relationships/viewProps" Target="/ppt/viewProps.xml" Id="R038010c135f4468b" /><Relationship Type="http://schemas.openxmlformats.org/officeDocument/2006/relationships/tableStyles" Target="/ppt/tableStyles.xml" Id="R1302b364cf2b434c" /><Relationship Type="http://schemas.openxmlformats.org/officeDocument/2006/relationships/slide" Target="/ppt/slides/slide1.xml" Id="R63acd63037044500" /><Relationship Type="http://schemas.openxmlformats.org/officeDocument/2006/relationships/slide" Target="/ppt/slides/slide2.xml" Id="R709f50789df74642" /><Relationship Type="http://schemas.openxmlformats.org/officeDocument/2006/relationships/slide" Target="/ppt/slides/slide3.xml" Id="R54feb1779c3349a3" /><Relationship Type="http://schemas.openxmlformats.org/officeDocument/2006/relationships/slide" Target="/ppt/slides/slide4.xml" Id="Rc428efc3ae7d4201" /><Relationship Type="http://schemas.openxmlformats.org/officeDocument/2006/relationships/slide" Target="/ppt/slides/slide5.xml" Id="R86df756e16e74dd8" /><Relationship Type="http://schemas.openxmlformats.org/officeDocument/2006/relationships/slide" Target="/ppt/slides/slide6.xml" Id="Rfe25278825d34282" /><Relationship Type="http://schemas.openxmlformats.org/officeDocument/2006/relationships/slide" Target="/ppt/slides/slide7.xml" Id="Rec830d7e6d9544fc" /><Relationship Type="http://schemas.openxmlformats.org/officeDocument/2006/relationships/slide" Target="/ppt/slides/slide8.xml" Id="Rd97a160b9c4e4c5d" /><Relationship Type="http://schemas.openxmlformats.org/officeDocument/2006/relationships/slide" Target="/ppt/slides/slide9.xml" Id="R47ca34bfd3614d29" /><Relationship Type="http://schemas.openxmlformats.org/officeDocument/2006/relationships/slide" Target="/ppt/slides/slide10.xml" Id="R5c2fbda165b64b38" /><Relationship Type="http://schemas.openxmlformats.org/officeDocument/2006/relationships/slide" Target="/ppt/slides/slide11.xml" Id="R850fa07fad434e53" /><Relationship Type="http://schemas.openxmlformats.org/officeDocument/2006/relationships/slide" Target="/ppt/slides/slide12.xml" Id="R9667a691b8714176" /><Relationship Type="http://schemas.openxmlformats.org/officeDocument/2006/relationships/slide" Target="/ppt/slides/slide13.xml" Id="Rb318daf0bdf147b2" /><Relationship Type="http://schemas.openxmlformats.org/officeDocument/2006/relationships/slide" Target="/ppt/slides/slide14.xml" Id="R514f9eaad1d04969" /><Relationship Type="http://schemas.openxmlformats.org/officeDocument/2006/relationships/slide" Target="/ppt/slides/slide15.xml" Id="R35dd5c0f9b4546a8" /><Relationship Type="http://schemas.openxmlformats.org/officeDocument/2006/relationships/slide" Target="/ppt/slides/slide16.xml" Id="R4b9b4584e3ca4a89" /><Relationship Type="http://schemas.openxmlformats.org/officeDocument/2006/relationships/slide" Target="/ppt/slides/slide17.xml" Id="R2277dffa30ee43d9" /><Relationship Type="http://schemas.openxmlformats.org/officeDocument/2006/relationships/slide" Target="/ppt/slides/slide18.xml" Id="R0ab9b6544ee04759" /><Relationship Type="http://schemas.openxmlformats.org/officeDocument/2006/relationships/slide" Target="/ppt/slides/slide19.xml" Id="R3315fe749f274052" /><Relationship Type="http://schemas.openxmlformats.org/officeDocument/2006/relationships/slide" Target="/ppt/slides/slide20.xml" Id="Rf3ec6db8b919498d" /><Relationship Type="http://schemas.openxmlformats.org/officeDocument/2006/relationships/slide" Target="/ppt/slides/slide21.xml" Id="R9abd41fd9eeb433a" /><Relationship Type="http://schemas.openxmlformats.org/officeDocument/2006/relationships/slide" Target="/ppt/slides/slide22.xml" Id="R309ccb4a40c64d38" /><Relationship Type="http://schemas.openxmlformats.org/officeDocument/2006/relationships/slide" Target="/ppt/slides/slide23.xml" Id="R1c2d511f623c4c99" /><Relationship Type="http://schemas.openxmlformats.org/officeDocument/2006/relationships/slide" Target="/ppt/slides/slide24.xml" Id="Rd7818809d2b14269" /><Relationship Type="http://schemas.openxmlformats.org/officeDocument/2006/relationships/slide" Target="/ppt/slides/slide25.xml" Id="R51955d3e663e4f45" /><Relationship Type="http://schemas.openxmlformats.org/officeDocument/2006/relationships/slide" Target="/ppt/slides/slide26.xml" Id="Re3359d0c4a85466a" /><Relationship Type="http://schemas.openxmlformats.org/officeDocument/2006/relationships/slide" Target="/ppt/slides/slide27.xml" Id="R8cc9cac699c249a3" /><Relationship Type="http://schemas.openxmlformats.org/officeDocument/2006/relationships/slide" Target="/ppt/slides/slide28.xml" Id="Rbbe20d92320a48f5" /><Relationship Type="http://schemas.openxmlformats.org/officeDocument/2006/relationships/slide" Target="/ppt/slides/slide29.xml" Id="R9596f4a1af21407d" /><Relationship Type="http://schemas.openxmlformats.org/officeDocument/2006/relationships/slide" Target="/ppt/slides/slide30.xml" Id="R79c120b41dad4018" /><Relationship Type="http://schemas.openxmlformats.org/officeDocument/2006/relationships/slide" Target="/ppt/slides/slide31.xml" Id="R9385778f223c4e8b" /><Relationship Type="http://schemas.openxmlformats.org/officeDocument/2006/relationships/slide" Target="/ppt/slides/slide32.xml" Id="R3ebf7fb16ef940ca" /><Relationship Type="http://schemas.openxmlformats.org/officeDocument/2006/relationships/slide" Target="/ppt/slides/slide33.xml" Id="Rce44e3fed44d4910" /><Relationship Type="http://schemas.openxmlformats.org/officeDocument/2006/relationships/slide" Target="/ppt/slides/slide34.xml" Id="Re57f7103d7bb4c92" /><Relationship Type="http://schemas.openxmlformats.org/officeDocument/2006/relationships/slide" Target="/ppt/slides/slide35.xml" Id="R5fde935d4fe944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7e4b14a78c64e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c6d62323c24875" /><Relationship Type="http://schemas.openxmlformats.org/officeDocument/2006/relationships/notesMaster" Target="/ppt/notesMasters/notesMaster1.xml" Id="Rb971da23e08e4b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aed2387ffd400b" /><Relationship Type="http://schemas.openxmlformats.org/officeDocument/2006/relationships/notesMaster" Target="/ppt/notesMasters/notesMaster1.xml" Id="R352f1d725ade4c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d6a603a6ff4e6c" /><Relationship Type="http://schemas.openxmlformats.org/officeDocument/2006/relationships/notesMaster" Target="/ppt/notesMasters/notesMaster1.xml" Id="R2f2a67d9f78849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76c67d80ce410b" /><Relationship Type="http://schemas.openxmlformats.org/officeDocument/2006/relationships/notesMaster" Target="/ppt/notesMasters/notesMaster1.xml" Id="R382d43c1f39844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26ba4497034726" /><Relationship Type="http://schemas.openxmlformats.org/officeDocument/2006/relationships/notesMaster" Target="/ppt/notesMasters/notesMaster1.xml" Id="Re5979adeee1548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60bf8a17504c37" /><Relationship Type="http://schemas.openxmlformats.org/officeDocument/2006/relationships/notesMaster" Target="/ppt/notesMasters/notesMaster1.xml" Id="Rb720b3367df545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9b367cf9ee4da1" /><Relationship Type="http://schemas.openxmlformats.org/officeDocument/2006/relationships/notesMaster" Target="/ppt/notesMasters/notesMaster1.xml" Id="R6e6da6b1b7db4a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c471ba6af84ffa" /><Relationship Type="http://schemas.openxmlformats.org/officeDocument/2006/relationships/notesMaster" Target="/ppt/notesMasters/notesMaster1.xml" Id="R39cca31282f84c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0b3934d0574f47" /><Relationship Type="http://schemas.openxmlformats.org/officeDocument/2006/relationships/notesMaster" Target="/ppt/notesMasters/notesMaster1.xml" Id="Rf4778dc5f12c40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55aa3c53f54e31" /><Relationship Type="http://schemas.openxmlformats.org/officeDocument/2006/relationships/notesMaster" Target="/ppt/notesMasters/notesMaster1.xml" Id="R131eef63c7c049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207301aa284dee" /><Relationship Type="http://schemas.openxmlformats.org/officeDocument/2006/relationships/notesMaster" Target="/ppt/notesMasters/notesMaster1.xml" Id="R488393db1e6046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0e6a0054b704419" /><Relationship Type="http://schemas.openxmlformats.org/officeDocument/2006/relationships/notesMaster" Target="/ppt/notesMasters/notesMaster1.xml" Id="Rf537a523cff9425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5a089d52d44d4f" /><Relationship Type="http://schemas.openxmlformats.org/officeDocument/2006/relationships/notesMaster" Target="/ppt/notesMasters/notesMaster1.xml" Id="R98bf6d2d4399410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7e90588702b499d" /><Relationship Type="http://schemas.openxmlformats.org/officeDocument/2006/relationships/notesMaster" Target="/ppt/notesMasters/notesMaster1.xml" Id="R561b592ce6734b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3e2ed4308e1422b" /><Relationship Type="http://schemas.openxmlformats.org/officeDocument/2006/relationships/notesMaster" Target="/ppt/notesMasters/notesMaster1.xml" Id="R8a3a2d5c52ba450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9e23b915c794f81" /><Relationship Type="http://schemas.openxmlformats.org/officeDocument/2006/relationships/notesMaster" Target="/ppt/notesMasters/notesMaster1.xml" Id="Rbe2a5aa9f6e54fe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f2f15b148294d93" /><Relationship Type="http://schemas.openxmlformats.org/officeDocument/2006/relationships/notesMaster" Target="/ppt/notesMasters/notesMaster1.xml" Id="R7eb1df5237e3404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b12e36d9a4d4494" /><Relationship Type="http://schemas.openxmlformats.org/officeDocument/2006/relationships/notesMaster" Target="/ppt/notesMasters/notesMaster1.xml" Id="Rd337bf0d1a2e4d6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bc6e1b501754d45" /><Relationship Type="http://schemas.openxmlformats.org/officeDocument/2006/relationships/notesMaster" Target="/ppt/notesMasters/notesMaster1.xml" Id="R5ffd62e3e97e43e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4d8b3bc5e9b407d" /><Relationship Type="http://schemas.openxmlformats.org/officeDocument/2006/relationships/notesMaster" Target="/ppt/notesMasters/notesMaster1.xml" Id="Rbd887fb55b3841e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f05bbf3003147a6" /><Relationship Type="http://schemas.openxmlformats.org/officeDocument/2006/relationships/notesMaster" Target="/ppt/notesMasters/notesMaster1.xml" Id="R0d6ea10c852e4ea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ee4e26c6f584cf6" /><Relationship Type="http://schemas.openxmlformats.org/officeDocument/2006/relationships/notesMaster" Target="/ppt/notesMasters/notesMaster1.xml" Id="R90127c72f7ca447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a19854a41774649" /><Relationship Type="http://schemas.openxmlformats.org/officeDocument/2006/relationships/notesMaster" Target="/ppt/notesMasters/notesMaster1.xml" Id="R62d285448fa1485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d5a21e08cd046a1" /><Relationship Type="http://schemas.openxmlformats.org/officeDocument/2006/relationships/notesMaster" Target="/ppt/notesMasters/notesMaster1.xml" Id="R46237c593b6346a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650b5756d924437" /><Relationship Type="http://schemas.openxmlformats.org/officeDocument/2006/relationships/notesMaster" Target="/ppt/notesMasters/notesMaster1.xml" Id="R577185b2f5b8439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9567cdea7ab4d29" /><Relationship Type="http://schemas.openxmlformats.org/officeDocument/2006/relationships/notesMaster" Target="/ppt/notesMasters/notesMaster1.xml" Id="R9b7876b05d414f3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f5d71e66e99413d" /><Relationship Type="http://schemas.openxmlformats.org/officeDocument/2006/relationships/notesMaster" Target="/ppt/notesMasters/notesMaster1.xml" Id="Rba46d2f654d7468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9dc0b19ac474d8d" /><Relationship Type="http://schemas.openxmlformats.org/officeDocument/2006/relationships/notesMaster" Target="/ppt/notesMasters/notesMaster1.xml" Id="Rc4632ad137e240f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1c9df55a09644b3" /><Relationship Type="http://schemas.openxmlformats.org/officeDocument/2006/relationships/notesMaster" Target="/ppt/notesMasters/notesMaster1.xml" Id="R6ec8879a63644b9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8ece352304546e0" /><Relationship Type="http://schemas.openxmlformats.org/officeDocument/2006/relationships/notesMaster" Target="/ppt/notesMasters/notesMaster1.xml" Id="R4dd0acd694e4414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7588bb8702142dc" /><Relationship Type="http://schemas.openxmlformats.org/officeDocument/2006/relationships/notesMaster" Target="/ppt/notesMasters/notesMaster1.xml" Id="Re923dc8024c84b4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f72fcb5ef914410" /><Relationship Type="http://schemas.openxmlformats.org/officeDocument/2006/relationships/notesMaster" Target="/ppt/notesMasters/notesMaster1.xml" Id="R928c315192c647d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b40ac6017a84467" /><Relationship Type="http://schemas.openxmlformats.org/officeDocument/2006/relationships/notesMaster" Target="/ppt/notesMasters/notesMaster1.xml" Id="R5c0be586ce8b4c4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1b087beb1644ab7" /><Relationship Type="http://schemas.openxmlformats.org/officeDocument/2006/relationships/notesMaster" Target="/ppt/notesMasters/notesMaster1.xml" Id="Rdcaeca546cbe4eb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3d2071e99ce4392" /><Relationship Type="http://schemas.openxmlformats.org/officeDocument/2006/relationships/notesMaster" Target="/ppt/notesMasters/notesMaster1.xml" Id="Rc7073da10e1141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dc8e18a5474dc4" /></Relationships>
</file>

<file path=ppt/slideLayouts/slideLayout2.xml><?xml version="1.0" encoding="utf-8"?>
<p:sldLayout xmlns:p="http://schemas.openxmlformats.org/presentationml/2006/main" type="blank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22ecbf83a994fa4" /><Relationship Type="http://schemas.openxmlformats.org/officeDocument/2006/relationships/slideLayout" Target="/ppt/slideLayouts/slideLayout2.xml" Id="R783cc8c6328840df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D7AFF4A-20CE-4990-80C1-C67111F29014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57200" y="273600"/>
            <a:ext cx="82292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B1B3949-47C5-45CA-B236-66B23311B2AC}"/>
              </a:ext>
            </a:extLst>
          </p:cNvPr>
          <p:cNvSpPr/>
          <p:nvPr>
            <p:ph type="body" idx="0"/>
          </p:nvPr>
        </p:nvSpPr>
        <p:spPr>
          <a:xfrm xmlns:a="http://schemas.openxmlformats.org/drawingml/2006/main">
            <a:off x="457200" y="1604520"/>
            <a:ext cx="82292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3cc8c6328840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22216f19854e75" /><Relationship Type="http://schemas.openxmlformats.org/officeDocument/2006/relationships/image" Target="/ppt/media/image.png" Id="R48f861acba5442e6" /><Relationship Type="http://schemas.openxmlformats.org/officeDocument/2006/relationships/hyperlink" Target="file:///C:/Users/Gamer/Downloads/Training/Week1/Day 4/&#12304;243599994391698&#8224;L45-L50&#12305;" TargetMode="External" Id="R17fee57dfc2a45a7" /><Relationship Type="http://schemas.openxmlformats.org/officeDocument/2006/relationships/notesSlide" Target="/ppt/notesSlides/notesSlide1.xml" Id="Rf33ef1c620e14a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ccade5af5c46ee" /><Relationship Type="http://schemas.openxmlformats.org/officeDocument/2006/relationships/image" Target="/ppt/media/image2.png" Id="Rfd4ec4c86a824319" /><Relationship Type="http://schemas.openxmlformats.org/officeDocument/2006/relationships/image" Target="/ppt/media/image3.png" Id="R78a83f9898134f92" /><Relationship Type="http://schemas.openxmlformats.org/officeDocument/2006/relationships/image" Target="/ppt/media/image4.png" Id="R9680d8150bd5493e" /><Relationship Type="http://schemas.openxmlformats.org/officeDocument/2006/relationships/image" Target="/ppt/media/image5.png" Id="Rfee5dc645daa405c" /><Relationship Type="http://schemas.openxmlformats.org/officeDocument/2006/relationships/image" Target="/ppt/media/image6.png" Id="Rf3fe9b2c2f23452e" /><Relationship Type="http://schemas.openxmlformats.org/officeDocument/2006/relationships/image" Target="/ppt/media/image7.png" Id="R9fb7a77c78bd4291" /><Relationship Type="http://schemas.openxmlformats.org/officeDocument/2006/relationships/hyperlink" Target="file:///C:/Users/Gamer/Downloads/Training/Week1/Day 4/&#12304;590905102876471&#8224;L109-L136&#12305;" TargetMode="External" Id="R01eeeb12b7d3439d" /><Relationship Type="http://schemas.openxmlformats.org/officeDocument/2006/relationships/notesSlide" Target="/ppt/notesSlides/notesSlide2.xml" Id="Ra0fe626a179847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5855ebb3ab4af8" /><Relationship Type="http://schemas.openxmlformats.org/officeDocument/2006/relationships/hyperlink" Target="file:///C:/Users/Gamer/Downloads/Training/Week1/Day 4/&#12304;243599994391698&#8224;L45-L50&#12305;" TargetMode="External" Id="R6af5ce29e523495b" /><Relationship Type="http://schemas.openxmlformats.org/officeDocument/2006/relationships/notesSlide" Target="/ppt/notesSlides/notesSlide3.xml" Id="Rd1dd676f995f4a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2d2317b6f24ec2" /><Relationship Type="http://schemas.openxmlformats.org/officeDocument/2006/relationships/hyperlink" Target="file:///C:/Users/Gamer/Downloads/Training/Week1/Day 4/&#12304;672344311009396&#8224;L544-L558&#12305;" TargetMode="External" Id="R8393041e7fd14d0b" /><Relationship Type="http://schemas.openxmlformats.org/officeDocument/2006/relationships/hyperlink" Target="file:///C:/Users/Gamer/Downloads/Training/Week1/Day 4/&#12304;672344311009396&#8224;L589-L627&#12305;" TargetMode="External" Id="Rb8119a0c3f354bc2" /><Relationship Type="http://schemas.openxmlformats.org/officeDocument/2006/relationships/image" Target="/ppt/media/image8.png" Id="R0ed4706e46924548" /><Relationship Type="http://schemas.openxmlformats.org/officeDocument/2006/relationships/notesSlide" Target="/ppt/notesSlides/notesSlide4.xml" Id="Rb62f159ff0c745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141da4db594002" /><Relationship Type="http://schemas.openxmlformats.org/officeDocument/2006/relationships/hyperlink" Target="file:///C:/Users/Gamer/Downloads/Training/Week1/Day 4/&#12304;672344311009396&#8224;L638-L702&#12305;" TargetMode="External" Id="R312fa0e8f6404c79" /><Relationship Type="http://schemas.openxmlformats.org/officeDocument/2006/relationships/notesSlide" Target="/ppt/notesSlides/notesSlide5.xml" Id="R4503123dd68742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94609b9f824b21" /><Relationship Type="http://schemas.openxmlformats.org/officeDocument/2006/relationships/hyperlink" Target="file:///C:/Users/Gamer/Downloads/Training/Week1/Day 4/&#12304;743847820016450&#8224;L132-L145&#12305;" TargetMode="External" Id="R636b3da099874cff" /><Relationship Type="http://schemas.openxmlformats.org/officeDocument/2006/relationships/hyperlink" Target="file:///C:/Users/Gamer/Downloads/Training/Week1/Day 4/&#12304;743847820016450&#8224;L154-L170&#12305;" TargetMode="External" Id="R53d10ae597044c31" /><Relationship Type="http://schemas.openxmlformats.org/officeDocument/2006/relationships/hyperlink" Target="file:///C:/Users/Gamer/Downloads/Training/Week1/Day 4/&#12304;743847820016450&#8224;L174-L190&#12305;" TargetMode="External" Id="R288c1410928744c7" /><Relationship Type="http://schemas.openxmlformats.org/officeDocument/2006/relationships/notesSlide" Target="/ppt/notesSlides/notesSlide6.xml" Id="R0547eede29e84f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a0a664198c42b8" /><Relationship Type="http://schemas.openxmlformats.org/officeDocument/2006/relationships/image" Target="/ppt/media/image9.png" Id="R45f1a5a11598442a" /><Relationship Type="http://schemas.openxmlformats.org/officeDocument/2006/relationships/image" Target="/ppt/media/image10.png" Id="Rc5a5b83edade4634" /><Relationship Type="http://schemas.openxmlformats.org/officeDocument/2006/relationships/image" Target="/ppt/media/image11.png" Id="Rb520945376674990" /><Relationship Type="http://schemas.openxmlformats.org/officeDocument/2006/relationships/image" Target="/ppt/media/image4.png" Id="Rd471f099e26648ab" /><Relationship Type="http://schemas.openxmlformats.org/officeDocument/2006/relationships/image" Target="/ppt/media/image7.png" Id="R8c013dedde084fff" /><Relationship Type="http://schemas.openxmlformats.org/officeDocument/2006/relationships/hyperlink" Target="file:///C:/Users/Gamer/Downloads/Training/Week1/Day 4/&#12304;672344311009396&#8224;L717-L749&#12305;" TargetMode="External" Id="R6342bb7cadb4462e" /><Relationship Type="http://schemas.openxmlformats.org/officeDocument/2006/relationships/hyperlink" Target="file:///C:/Users/Gamer/Downloads/Training/Week1/Day 4/&#12304;17352650637092&#8224;L190-L215&#12305;" TargetMode="External" Id="Re7febbfdb19f4ff5" /><Relationship Type="http://schemas.openxmlformats.org/officeDocument/2006/relationships/notesSlide" Target="/ppt/notesSlides/notesSlide7.xml" Id="Rc1d3a9b73a0241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80c32ced91430b" /><Relationship Type="http://schemas.openxmlformats.org/officeDocument/2006/relationships/hyperlink" Target="file:///C:/Users/Gamer/Downloads/Training/Week1/Day 4/&#12304;743847820016450&#8224;L132-L145&#12305;" TargetMode="External" Id="R2c4e61913d004ec2" /><Relationship Type="http://schemas.openxmlformats.org/officeDocument/2006/relationships/hyperlink" Target="file:///C:/Users/Gamer/Downloads/Training/Week1/Day 4/&#12304;743847820016450&#8224;L154-L170&#12305;" TargetMode="External" Id="R2de7706894304163" /><Relationship Type="http://schemas.openxmlformats.org/officeDocument/2006/relationships/hyperlink" Target="file:///C:/Users/Gamer/Downloads/Training/Week1/Day 4/&#12304;743847820016450&#8224;L174-L190&#12305;" TargetMode="External" Id="Rc4406a4139164ee2" /><Relationship Type="http://schemas.openxmlformats.org/officeDocument/2006/relationships/notesSlide" Target="/ppt/notesSlides/notesSlide8.xml" Id="R2e608b6ab71c47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dfc1a1fd8d4574" /><Relationship Type="http://schemas.openxmlformats.org/officeDocument/2006/relationships/image" Target="/ppt/media/image.jpeg" Id="Re130ab97e28646c0" /><Relationship Type="http://schemas.openxmlformats.org/officeDocument/2006/relationships/hyperlink" Target="file:///C:/Users/Gamer/Downloads/Training/Week1/Day 4/&#12304;590905102876471&#8224;L109-L136&#12305;" TargetMode="External" Id="R6859cfd9a7ce4278" /><Relationship Type="http://schemas.openxmlformats.org/officeDocument/2006/relationships/hyperlink" Target="file:///C:/Users/Gamer/Downloads/Training/Week1/Day 4/&#12304;590905102876471&#8224;L160-L205&#12305;" TargetMode="External" Id="R9bcfe99274b94563" /><Relationship Type="http://schemas.openxmlformats.org/officeDocument/2006/relationships/notesSlide" Target="/ppt/notesSlides/notesSlide9.xml" Id="R064772baa1364f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fe282a88bb449a" /><Relationship Type="http://schemas.openxmlformats.org/officeDocument/2006/relationships/hyperlink" Target="file:///C:/Users/Gamer/Downloads/Training/Week1/Day 4/&#12304;901517790178346&#8224;L122-L149&#12305;" TargetMode="External" Id="R997ad9d0c04f4116" /><Relationship Type="http://schemas.openxmlformats.org/officeDocument/2006/relationships/image" Target="/ppt/media/image12.png" Id="R46620192380c41bf" /><Relationship Type="http://schemas.openxmlformats.org/officeDocument/2006/relationships/notesSlide" Target="/ppt/notesSlides/notesSlide10.xml" Id="R059ec7d2795744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28295b565a428c" /><Relationship Type="http://schemas.openxmlformats.org/officeDocument/2006/relationships/image" Target="/ppt/media/image2.jpeg" Id="R4e5b376c04894ab6" /><Relationship Type="http://schemas.openxmlformats.org/officeDocument/2006/relationships/hyperlink" Target="file:///C:/Users/Gamer/Downloads/Training/Week1/Day 4/&#12304;901517790178346&#8224;L155-L170&#12305;" TargetMode="External" Id="R76779cdbebb148e4" /><Relationship Type="http://schemas.openxmlformats.org/officeDocument/2006/relationships/hyperlink" Target="file:///C:/Users/Gamer/Downloads/Training/Week1/Day 4/&#12304;25194570669191&#8224;L120-L139&#12305;" TargetMode="External" Id="Rf30f709016c142f9" /><Relationship Type="http://schemas.openxmlformats.org/officeDocument/2006/relationships/notesSlide" Target="/ppt/notesSlides/notesSlide11.xml" Id="R642532ca5b514d7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3694d5ab9a4886" /><Relationship Type="http://schemas.openxmlformats.org/officeDocument/2006/relationships/hyperlink" Target="file:///C:/Users/Gamer/Downloads/Training/Week1/Day 4/&#12304;590905102876471&#8224;L160-L205&#12305;" TargetMode="External" Id="R3f50ee9f199e476b" /><Relationship Type="http://schemas.openxmlformats.org/officeDocument/2006/relationships/hyperlink" Target="file:///C:/Users/Gamer/Downloads/Training/Week1/Day 4/&#12304;590905102876471&#8224;L267-L287&#12305;" TargetMode="External" Id="R213c4a0472984904" /><Relationship Type="http://schemas.openxmlformats.org/officeDocument/2006/relationships/notesSlide" Target="/ppt/notesSlides/notesSlide12.xml" Id="R451b9184b44245b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0d3e6fac8c4581" /><Relationship Type="http://schemas.openxmlformats.org/officeDocument/2006/relationships/hyperlink" Target="file:///C:/Users/Gamer/Downloads/Training/Week1/Day 4/&#12304;590905102876471&#8224;L148-L156&#12305;" TargetMode="External" Id="R4fbdc8e8d5ca4940" /><Relationship Type="http://schemas.openxmlformats.org/officeDocument/2006/relationships/hyperlink" Target="file:///C:/Users/Gamer/Downloads/Training/Week1/Day 4/&#12304;590905102876471&#8224;L305-L319&#12305;" TargetMode="External" Id="R0b2af4d8f43a4e50" /><Relationship Type="http://schemas.openxmlformats.org/officeDocument/2006/relationships/notesSlide" Target="/ppt/notesSlides/notesSlide13.xml" Id="R112747af3d4c46b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2800f665734b11" /><Relationship Type="http://schemas.openxmlformats.org/officeDocument/2006/relationships/hyperlink" Target="file:///C:/Users/Gamer/Downloads/Training/Week1/Day 4/&#12304;590905102876471&#8224;L160-L205&#12305;" TargetMode="External" Id="R7a520e85fec24fad" /><Relationship Type="http://schemas.openxmlformats.org/officeDocument/2006/relationships/notesSlide" Target="/ppt/notesSlides/notesSlide14.xml" Id="Rf028dabb77f94f8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8e2299c5ad40b6" /><Relationship Type="http://schemas.openxmlformats.org/officeDocument/2006/relationships/hyperlink" Target="file:///C:/Users/Gamer/Downloads/Training/Week1/Day 4/&#12304;901517790178346&#8224;L122-L149&#12305;" TargetMode="External" Id="R046b62e5a2a04527" /><Relationship Type="http://schemas.openxmlformats.org/officeDocument/2006/relationships/hyperlink" Target="file:///C:/Users/Gamer/Downloads/Training/Week1/Day 4/&#12304;25194570669191&#8224;L120-L139&#12305;" TargetMode="External" Id="R10f553485c0e48e9" /><Relationship Type="http://schemas.openxmlformats.org/officeDocument/2006/relationships/notesSlide" Target="/ppt/notesSlides/notesSlide15.xml" Id="R7108c2aafab14f1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7ebda6f55b46d3" /><Relationship Type="http://schemas.openxmlformats.org/officeDocument/2006/relationships/hyperlink" Target="file:///C:/Users/Gamer/Downloads/Training/Week1/Day 4/&#12304;901517790178346&#8224;L122-L149&#12305;" TargetMode="External" Id="Rc6ab403c27064752" /><Relationship Type="http://schemas.openxmlformats.org/officeDocument/2006/relationships/notesSlide" Target="/ppt/notesSlides/notesSlide16.xml" Id="R4435de3f135d45c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45165022a341f9" /><Relationship Type="http://schemas.openxmlformats.org/officeDocument/2006/relationships/hyperlink" Target="file:///C:/Users/Gamer/Downloads/Training/Week1/Day 4/&#12304;901517790178346&#8224;L122-L149&#12305;" TargetMode="External" Id="R8982c4a827884b73" /><Relationship Type="http://schemas.openxmlformats.org/officeDocument/2006/relationships/notesSlide" Target="/ppt/notesSlides/notesSlide17.xml" Id="R735cc6a3700d4cc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4f6f700fd747ee" /><Relationship Type="http://schemas.openxmlformats.org/officeDocument/2006/relationships/hyperlink" Target="file:///C:/Users/Gamer/Downloads/Training/Week1/Day 4/&#12304;590905102876471&#8224;L305-L319&#12305;" TargetMode="External" Id="Rff5011afb06646b8" /><Relationship Type="http://schemas.openxmlformats.org/officeDocument/2006/relationships/hyperlink" Target="file:///C:/Users/Gamer/Downloads/Training/Week1/Day 4/&#12304;590905102876471&#8224;L377-L411&#12305;" TargetMode="External" Id="Rf1927ad1cd734fe2" /><Relationship Type="http://schemas.openxmlformats.org/officeDocument/2006/relationships/notesSlide" Target="/ppt/notesSlides/notesSlide18.xml" Id="Ra1948acde4cd4e0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fe2ff4d46249f7" /><Relationship Type="http://schemas.openxmlformats.org/officeDocument/2006/relationships/hyperlink" Target="file:///C:/Users/Gamer/Downloads/Training/Week1/Day 4/&#12304;590905102876471&#8224;L109-L136&#12305;" TargetMode="External" Id="R072a2edcff7a44bc" /><Relationship Type="http://schemas.openxmlformats.org/officeDocument/2006/relationships/hyperlink" Target="file:///C:/Users/Gamer/Downloads/Training/Week1/Day 4/&#12304;743847820016450&#8224;L132-L145&#12305;" TargetMode="External" Id="R4575594000144416" /><Relationship Type="http://schemas.openxmlformats.org/officeDocument/2006/relationships/notesSlide" Target="/ppt/notesSlides/notesSlide19.xml" Id="R1514cb7a7b0a45b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ee0cdcbd464934" /><Relationship Type="http://schemas.openxmlformats.org/officeDocument/2006/relationships/hyperlink" Target="file:///C:/Users/Gamer/Downloads/Training/Week1/Day 4/&#12304;901517790178346&#8224;L122-L149&#12305;" TargetMode="External" Id="R3c4dedd9cdbd4c49" /><Relationship Type="http://schemas.openxmlformats.org/officeDocument/2006/relationships/notesSlide" Target="/ppt/notesSlides/notesSlide20.xml" Id="R7eb3ec032ba940b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805751d9c84dce" /><Relationship Type="http://schemas.openxmlformats.org/officeDocument/2006/relationships/image" Target="/ppt/media/image13.png" Id="Rd84ccac92c4346ff" /><Relationship Type="http://schemas.openxmlformats.org/officeDocument/2006/relationships/image" Target="/ppt/media/image14.png" Id="R19187ac7adb847f2" /><Relationship Type="http://schemas.openxmlformats.org/officeDocument/2006/relationships/image" Target="/ppt/media/image6.png" Id="Ra2539ff0dec1423b" /><Relationship Type="http://schemas.openxmlformats.org/officeDocument/2006/relationships/image" Target="/ppt/media/image2.png" Id="R16b9cc285ddb442d" /><Relationship Type="http://schemas.openxmlformats.org/officeDocument/2006/relationships/image" Target="/ppt/media/image15.png" Id="R09305422062a4d4e" /><Relationship Type="http://schemas.openxmlformats.org/officeDocument/2006/relationships/hyperlink" Target="file:///C:/Users/Gamer/Downloads/Training/Week1/Day 4/&#12304;25194570669191&#8224;L156-L170&#12305;" TargetMode="External" Id="Ref5c3a4f2d1e48fa" /><Relationship Type="http://schemas.openxmlformats.org/officeDocument/2006/relationships/notesSlide" Target="/ppt/notesSlides/notesSlide21.xml" Id="R9974d55c1641487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e49817239f45c4" /><Relationship Type="http://schemas.openxmlformats.org/officeDocument/2006/relationships/hyperlink" Target="file:///C:/Users/Gamer/Downloads/Training/Week1/Day 4/&#12304;590905102876471&#8224;L218-L258&#12305;" TargetMode="External" Id="R1edd4dc28b6e4ac7" /><Relationship Type="http://schemas.openxmlformats.org/officeDocument/2006/relationships/hyperlink" Target="file:///C:/Users/Gamer/Downloads/Training/Week1/Day 4/&#12304;590905102876471&#8224;L267-L287&#12305;" TargetMode="External" Id="Rb4c6cc5018114be2" /><Relationship Type="http://schemas.openxmlformats.org/officeDocument/2006/relationships/notesSlide" Target="/ppt/notesSlides/notesSlide22.xml" Id="Rfdb74b2e7e72432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1ec33ebbc74f2f" /><Relationship Type="http://schemas.openxmlformats.org/officeDocument/2006/relationships/hyperlink" Target="file:///C:/Users/Gamer/Downloads/Training/Week1/Day 4/&#12304;590905102876471&#8224;L305-L319&#12305;" TargetMode="External" Id="Rd969bf3a47e14902" /><Relationship Type="http://schemas.openxmlformats.org/officeDocument/2006/relationships/hyperlink" Target="file:///C:/Users/Gamer/Downloads/Training/Week1/Day 4/&#12304;590905102876471&#8224;L377-L411&#12305;" TargetMode="External" Id="Rd569548c6bbe4e6b" /><Relationship Type="http://schemas.openxmlformats.org/officeDocument/2006/relationships/notesSlide" Target="/ppt/notesSlides/notesSlide23.xml" Id="R7edc4611db5646e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a403a316a94bb3" /><Relationship Type="http://schemas.openxmlformats.org/officeDocument/2006/relationships/hyperlink" Target="file:///C:/Users/Gamer/Downloads/Training/Week1/Day 4/&#12304;590905102876471&#8224;L377-L411&#12305;" TargetMode="External" Id="Rd1e71169c4de4389" /><Relationship Type="http://schemas.openxmlformats.org/officeDocument/2006/relationships/notesSlide" Target="/ppt/notesSlides/notesSlide24.xml" Id="R177188ee2510496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27baf485544a8c" /><Relationship Type="http://schemas.openxmlformats.org/officeDocument/2006/relationships/hyperlink" Target="file:///C:/Users/Gamer/Downloads/Training/Week1/Day 4/&#12304;590905102876471&#8224;L267-L287&#12305;" TargetMode="External" Id="R117edc6982fb4760" /><Relationship Type="http://schemas.openxmlformats.org/officeDocument/2006/relationships/hyperlink" Target="file:///C:/Users/Gamer/Downloads/Training/Week1/Day 4/&#12304;590905102876471&#8224;L305-L319&#12305;" TargetMode="External" Id="R98b65e36c1c44e58" /><Relationship Type="http://schemas.openxmlformats.org/officeDocument/2006/relationships/hyperlink" Target="file:///C:/Users/Gamer/Downloads/Training/Week1/Day 4/&#12304;590905102876471&#8224;L377-L411&#12305;" TargetMode="External" Id="R7377143834d04302" /><Relationship Type="http://schemas.openxmlformats.org/officeDocument/2006/relationships/notesSlide" Target="/ppt/notesSlides/notesSlide25.xml" Id="Re730b516c00f4bf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0cffc8db3149eb" /><Relationship Type="http://schemas.openxmlformats.org/officeDocument/2006/relationships/hyperlink" Target="file:///C:/Users/Gamer/Downloads/Training/Week1/Day 4/&#12304;25194570669191&#8224;L156-L170&#12305;" TargetMode="External" Id="Re618b5fa331c45f6" /><Relationship Type="http://schemas.openxmlformats.org/officeDocument/2006/relationships/hyperlink" Target="file:///C:/Users/Gamer/Downloads/Training/Week1/Day 4/&#12304;590905102876471&#8224;L218-L258&#12305;" TargetMode="External" Id="R515380e894814dc2" /><Relationship Type="http://schemas.openxmlformats.org/officeDocument/2006/relationships/notesSlide" Target="/ppt/notesSlides/notesSlide26.xml" Id="Rbcd001dd95e741d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e3aa890ac2462b" /><Relationship Type="http://schemas.openxmlformats.org/officeDocument/2006/relationships/hyperlink" Target="file:///C:/Users/Gamer/Downloads/Training/Week1/Day 4/&#12304;590905102876471&#8224;L218-L258&#12305;" TargetMode="External" Id="R43bc881def604ef6" /><Relationship Type="http://schemas.openxmlformats.org/officeDocument/2006/relationships/notesSlide" Target="/ppt/notesSlides/notesSlide27.xml" Id="Ra35d5b9250c443c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5b087d5a28439a" /><Relationship Type="http://schemas.openxmlformats.org/officeDocument/2006/relationships/hyperlink" Target="file:///C:/Users/Gamer/Downloads/Training/Week1/Day 4/&#12304;590905102876471&#8224;L267-L287&#12305;" TargetMode="External" Id="Rab57b713f222447f" /><Relationship Type="http://schemas.openxmlformats.org/officeDocument/2006/relationships/hyperlink" Target="file:///C:/Users/Gamer/Downloads/Training/Week1/Day 4/&#12304;590905102876471&#8224;L305-L319&#12305;" TargetMode="External" Id="Rc01c8af411494721" /><Relationship Type="http://schemas.openxmlformats.org/officeDocument/2006/relationships/notesSlide" Target="/ppt/notesSlides/notesSlide28.xml" Id="Rc200272f2b034ad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25710bd542474e" /><Relationship Type="http://schemas.openxmlformats.org/officeDocument/2006/relationships/hyperlink" Target="file:///C:/Users/Gamer/Downloads/Training/Week1/Day 4/&#12304;743847820016450&#8224;L132-L145&#12305;" TargetMode="External" Id="R97108fabb1064505" /><Relationship Type="http://schemas.openxmlformats.org/officeDocument/2006/relationships/notesSlide" Target="/ppt/notesSlides/notesSlide29.xml" Id="R6f05c0fc98ad42d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0249f3c05f4d37" /><Relationship Type="http://schemas.openxmlformats.org/officeDocument/2006/relationships/hyperlink" Target="file:///C:/Users/Gamer/Downloads/Training/Week1/Day 4/&#12304;590905102876471&#8224;L160-L205&#12305;" TargetMode="External" Id="R2ee9a4c3b2f34f90" /><Relationship Type="http://schemas.openxmlformats.org/officeDocument/2006/relationships/notesSlide" Target="/ppt/notesSlides/notesSlide30.xml" Id="Re78418490084429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d228b51be14f2b" /><Relationship Type="http://schemas.openxmlformats.org/officeDocument/2006/relationships/hyperlink" Target="file:///C:/Users/Gamer/Downloads/Training/Week1/Day 4/&#12304;590905102876471&#8224;L218-L258&#12305;" TargetMode="External" Id="R95928056a4a84c20" /><Relationship Type="http://schemas.openxmlformats.org/officeDocument/2006/relationships/hyperlink" Target="file:///C:/Users/Gamer/Downloads/Training/Week1/Day 4/&#12304;590905102876471&#8224;L377-L411&#12305;" TargetMode="External" Id="Re9db2dffd2fc4242" /><Relationship Type="http://schemas.openxmlformats.org/officeDocument/2006/relationships/notesSlide" Target="/ppt/notesSlides/notesSlide31.xml" Id="R07253dba9329434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ef30909e90456b" /><Relationship Type="http://schemas.openxmlformats.org/officeDocument/2006/relationships/hyperlink" Target="file:///C:/Users/Gamer/Downloads/Training/Week1/Day 4/&#12304;590905102876471&#8224;L267-L287&#12305;" TargetMode="External" Id="R3240aea266a94f66" /><Relationship Type="http://schemas.openxmlformats.org/officeDocument/2006/relationships/notesSlide" Target="/ppt/notesSlides/notesSlide32.xml" Id="Rea7c2aab34854c2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83ebeb6cf44614" /><Relationship Type="http://schemas.openxmlformats.org/officeDocument/2006/relationships/hyperlink" Target="file:///C:/Users/Gamer/Downloads/Training/Week1/Day 4/&#12304;590905102876471&#8224;L305-L319&#12305;" TargetMode="External" Id="R58ba3a32a9be425f" /><Relationship Type="http://schemas.openxmlformats.org/officeDocument/2006/relationships/notesSlide" Target="/ppt/notesSlides/notesSlide33.xml" Id="Rbfa37ff1bc2645f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0a4832042245bf" /><Relationship Type="http://schemas.openxmlformats.org/officeDocument/2006/relationships/hyperlink" Target="file:///C:/Users/Gamer/Downloads/Training/Week1/Day 4/&#12304;743847820016450&#8224;L132-L145&#12305;" TargetMode="External" Id="Rc2b78c557b0c4a73" /><Relationship Type="http://schemas.openxmlformats.org/officeDocument/2006/relationships/hyperlink" Target="file:///C:/Users/Gamer/Downloads/Training/Week1/Day 4/&#12304;590905102876471&#8224;L160-L205&#12305;" TargetMode="External" Id="Rcab064ec3c344587" /><Relationship Type="http://schemas.openxmlformats.org/officeDocument/2006/relationships/hyperlink" Target="file:///C:/Users/Gamer/Downloads/Training/Week1/Day 4/&#12304;590905102876471&#8224;L218-L258&#12305;" TargetMode="External" Id="R1354ed955df041c4" /><Relationship Type="http://schemas.openxmlformats.org/officeDocument/2006/relationships/hyperlink" Target="file:///C:/Users/Gamer/Downloads/Training/Week1/Day 4/&#12304;590905102876471&#8224;L267-L287&#12305;" TargetMode="External" Id="Rb7565054d9224dfe" /><Relationship Type="http://schemas.openxmlformats.org/officeDocument/2006/relationships/hyperlink" Target="file:///C:/Users/Gamer/Downloads/Training/Week1/Day 4/&#12304;590905102876471&#8224;L305-L319&#12305;" TargetMode="External" Id="R408a71ed637649a1" /><Relationship Type="http://schemas.openxmlformats.org/officeDocument/2006/relationships/notesSlide" Target="/ppt/notesSlides/notesSlide34.xml" Id="R116c94344827475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38268a9a694a03" /><Relationship Type="http://schemas.openxmlformats.org/officeDocument/2006/relationships/hyperlink" Target="file:///C:/Users/Gamer/Downloads/Training/Week1/Day 4/&#12304;243599994391698&#8224;L45-L50&#12305;" TargetMode="External" Id="Ree2e4f40ef054ce5" /><Relationship Type="http://schemas.openxmlformats.org/officeDocument/2006/relationships/hyperlink" Target="file:///C:/Users/Gamer/Downloads/Training/Week1/Day 4/&#12304;901517790178346&#8224;L122-L149&#12305;" TargetMode="External" Id="Rcb8eb75f236d469d" /><Relationship Type="http://schemas.openxmlformats.org/officeDocument/2006/relationships/hyperlink" Target="file:///C:/Users/Gamer/Downloads/Training/Week1/Day 4/&#12304;590905102876471&#8224;L267-L287&#12305;" TargetMode="External" Id="Ra7a028ccf5d946a5" /><Relationship Type="http://schemas.openxmlformats.org/officeDocument/2006/relationships/notesSlide" Target="/ppt/notesSlides/notesSlide35.xml" Id="R24519ef5ead944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0">
            <a:extLst xmlns:a="http://schemas.openxmlformats.org/drawingml/2006/main">
              <a:ext uri="{FF2B5EF4-FFF2-40B4-BE49-F238E27FC236}">
                <a16:creationId xmlns:a16="http://schemas.microsoft.com/office/drawing/2014/main" id="{D6BA74BC-0878-4731-AFBF-BDB9CC85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80160"/>
            <a:ext cx="5028840" cy="137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8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Day 4: Change Data Capture &amp; Debezium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0" i="1" u="none">
                <a:solidFill>
                  <a:srgbClr val="585858"/>
                </a:solidFill>
                <a:latin typeface="Calibri"/>
                <a:ea typeface="Calibri"/>
                <a:cs typeface="Calibri"/>
              </a:rPr>
              <a:t>Modern Data Engineering Series</a:t>
            </a:r>
          </a:p>
        </p:txBody>
      </p:sp>
      <p:pic>
        <p:nvPicPr>
          <p:cNvPr id="1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861acba5442e6"/>
          <a:stretch xmlns:a="http://schemas.openxmlformats.org/drawingml/2006/main"/>
        </p:blipFill>
        <p:spPr>
          <a:xfrm xmlns:a="http://schemas.openxmlformats.org/drawingml/2006/main">
            <a:off x="5486400" y="640080"/>
            <a:ext cx="3657240" cy="2742840"/>
          </a:xfrm>
          <a:prstGeom xmlns:a="http://schemas.openxmlformats.org/drawingml/2006/main" prst="rect">
            <a:avLst/>
          </a:prstGeom>
        </p:spPr>
      </p:pic>
      <p:sp>
        <p:nvSpPr>
          <p:cNvPr id="12" name="Text 1">
            <a:extLst xmlns:a="http://schemas.openxmlformats.org/drawingml/2006/main">
              <a:ext uri="{FF2B5EF4-FFF2-40B4-BE49-F238E27FC236}">
                <a16:creationId xmlns:a16="http://schemas.microsoft.com/office/drawing/2014/main" id="{07CEC856-C86D-4C09-9C30-3B14674D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502884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Understanding CDC fundamentals, Debezium internals, connectors, configuration and hands-on lab</a:t>
            </a:r>
          </a:p>
        </p:txBody>
      </p:sp>
      <p:sp>
        <p:nvSpPr>
          <p:cNvPr id="13" name="Text 2">
            <a:extLst xmlns:a="http://schemas.openxmlformats.org/drawingml/2006/main">
              <a:ext uri="{FF2B5EF4-FFF2-40B4-BE49-F238E27FC236}">
                <a16:creationId xmlns:a16="http://schemas.microsoft.com/office/drawing/2014/main" id="{FFC15B66-1CCC-4860-801D-335E1DE0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7fee57dfc2a45a7"/>
              </a:rPr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2544521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 0">
            <a:extLst xmlns:a="http://schemas.openxmlformats.org/drawingml/2006/main">
              <a:ext uri="{FF2B5EF4-FFF2-40B4-BE49-F238E27FC236}">
                <a16:creationId xmlns:a16="http://schemas.microsoft.com/office/drawing/2014/main" id="{83940864-E26F-4D55-A6A4-44BF67D2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7314840" cy="639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4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Learning Objectives</a:t>
            </a:r>
          </a:p>
        </p:txBody>
      </p:sp>
      <p:pic>
        <p:nvPicPr>
          <p:cNvPr id="1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ec4c86a824319"/>
          <a:stretch xmlns:a="http://schemas.openxmlformats.org/drawingml/2006/main"/>
        </p:blipFill>
        <p:spPr>
          <a:xfrm xmlns:a="http://schemas.openxmlformats.org/drawingml/2006/main">
            <a:off x="457200" y="1188720"/>
            <a:ext cx="319680" cy="319680"/>
          </a:xfrm>
          <a:prstGeom xmlns:a="http://schemas.openxmlformats.org/drawingml/2006/main" prst="rect">
            <a:avLst/>
          </a:prstGeom>
        </p:spPr>
      </p:pic>
      <p:sp>
        <p:nvSpPr>
          <p:cNvPr id="16" name="Text 1">
            <a:extLst xmlns:a="http://schemas.openxmlformats.org/drawingml/2006/main">
              <a:ext uri="{FF2B5EF4-FFF2-40B4-BE49-F238E27FC236}">
                <a16:creationId xmlns:a16="http://schemas.microsoft.com/office/drawing/2014/main" id="{66C02E29-BA0A-4F8A-AD22-3FA74BCB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4440"/>
            <a:ext cx="77720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Define CDC and its benefits</a:t>
            </a:r>
          </a:p>
        </p:txBody>
      </p:sp>
      <p:pic>
        <p:nvPicPr>
          <p:cNvPr id="1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a83f9898134f92"/>
          <a:stretch xmlns:a="http://schemas.openxmlformats.org/drawingml/2006/main"/>
        </p:blipFill>
        <p:spPr>
          <a:xfrm xmlns:a="http://schemas.openxmlformats.org/drawingml/2006/main">
            <a:off x="457200" y="1645920"/>
            <a:ext cx="319680" cy="319680"/>
          </a:xfrm>
          <a:prstGeom xmlns:a="http://schemas.openxmlformats.org/drawingml/2006/main" prst="rect">
            <a:avLst/>
          </a:prstGeom>
        </p:spPr>
      </p:pic>
      <p:sp>
        <p:nvSpPr>
          <p:cNvPr id="18" name="Text 2">
            <a:extLst xmlns:a="http://schemas.openxmlformats.org/drawingml/2006/main">
              <a:ext uri="{FF2B5EF4-FFF2-40B4-BE49-F238E27FC236}">
                <a16:creationId xmlns:a16="http://schemas.microsoft.com/office/drawing/2014/main" id="{CDFED95C-DBC8-4C73-9E90-89C55713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91640"/>
            <a:ext cx="77720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Compare CDC methods and patterns</a:t>
            </a:r>
          </a:p>
        </p:txBody>
      </p:sp>
      <p:pic>
        <p:nvPicPr>
          <p:cNvPr id="1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80d8150bd5493e"/>
          <a:stretch xmlns:a="http://schemas.openxmlformats.org/drawingml/2006/main"/>
        </p:blipFill>
        <p:spPr>
          <a:xfrm xmlns:a="http://schemas.openxmlformats.org/drawingml/2006/main">
            <a:off x="457200" y="2103120"/>
            <a:ext cx="319680" cy="319680"/>
          </a:xfrm>
          <a:prstGeom xmlns:a="http://schemas.openxmlformats.org/drawingml/2006/main" prst="rect">
            <a:avLst/>
          </a:prstGeom>
        </p:spPr>
      </p:pic>
      <p:sp>
        <p:nvSpPr>
          <p:cNvPr id="20" name="Text 3">
            <a:extLst xmlns:a="http://schemas.openxmlformats.org/drawingml/2006/main">
              <a:ext uri="{FF2B5EF4-FFF2-40B4-BE49-F238E27FC236}">
                <a16:creationId xmlns:a16="http://schemas.microsoft.com/office/drawing/2014/main" id="{ECBF3540-75C4-476F-A6E0-90943B74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77720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Explain Debezium architecture &amp; event structure</a:t>
            </a:r>
          </a:p>
        </p:txBody>
      </p:sp>
      <p:pic>
        <p:nvPicPr>
          <p:cNvPr id="2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5dc645daa405c"/>
          <a:stretch xmlns:a="http://schemas.openxmlformats.org/drawingml/2006/main"/>
        </p:blipFill>
        <p:spPr>
          <a:xfrm xmlns:a="http://schemas.openxmlformats.org/drawingml/2006/main">
            <a:off x="457200" y="2560320"/>
            <a:ext cx="319680" cy="319680"/>
          </a:xfrm>
          <a:prstGeom xmlns:a="http://schemas.openxmlformats.org/drawingml/2006/main" prst="rect">
            <a:avLst/>
          </a:prstGeom>
        </p:spPr>
      </p:pic>
      <p:sp>
        <p:nvSpPr>
          <p:cNvPr id="22" name="Text 4">
            <a:extLst xmlns:a="http://schemas.openxmlformats.org/drawingml/2006/main">
              <a:ext uri="{FF2B5EF4-FFF2-40B4-BE49-F238E27FC236}">
                <a16:creationId xmlns:a16="http://schemas.microsoft.com/office/drawing/2014/main" id="{9098C819-A5C9-4433-AADA-70E05B1C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06040"/>
            <a:ext cx="77720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Explore connector landscape and deployment</a:t>
            </a:r>
          </a:p>
        </p:txBody>
      </p:sp>
      <p:pic>
        <p:nvPicPr>
          <p:cNvPr id="2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fe9b2c2f23452e"/>
          <a:stretch xmlns:a="http://schemas.openxmlformats.org/drawingml/2006/main"/>
        </p:blipFill>
        <p:spPr>
          <a:xfrm xmlns:a="http://schemas.openxmlformats.org/drawingml/2006/main">
            <a:off x="457200" y="3017520"/>
            <a:ext cx="319680" cy="319680"/>
          </a:xfrm>
          <a:prstGeom xmlns:a="http://schemas.openxmlformats.org/drawingml/2006/main" prst="rect">
            <a:avLst/>
          </a:prstGeom>
        </p:spPr>
      </p:pic>
      <p:sp>
        <p:nvSpPr>
          <p:cNvPr id="24" name="Text 5">
            <a:extLst xmlns:a="http://schemas.openxmlformats.org/drawingml/2006/main">
              <a:ext uri="{FF2B5EF4-FFF2-40B4-BE49-F238E27FC236}">
                <a16:creationId xmlns:a16="http://schemas.microsoft.com/office/drawing/2014/main" id="{0E64E3FC-79E3-4904-8053-A72BD149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63240"/>
            <a:ext cx="77720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Configure connectors via Kafka Connect</a:t>
            </a:r>
          </a:p>
        </p:txBody>
      </p:sp>
      <p:pic>
        <p:nvPicPr>
          <p:cNvPr id="2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7a77c78bd4291"/>
          <a:stretch xmlns:a="http://schemas.openxmlformats.org/drawingml/2006/main"/>
        </p:blipFill>
        <p:spPr>
          <a:xfrm xmlns:a="http://schemas.openxmlformats.org/drawingml/2006/main">
            <a:off x="457200" y="3474720"/>
            <a:ext cx="319680" cy="319680"/>
          </a:xfrm>
          <a:prstGeom xmlns:a="http://schemas.openxmlformats.org/drawingml/2006/main" prst="rect">
            <a:avLst/>
          </a:prstGeom>
        </p:spPr>
      </p:pic>
      <p:sp>
        <p:nvSpPr>
          <p:cNvPr id="26" name="Text 6">
            <a:extLst xmlns:a="http://schemas.openxmlformats.org/drawingml/2006/main">
              <a:ext uri="{FF2B5EF4-FFF2-40B4-BE49-F238E27FC236}">
                <a16:creationId xmlns:a16="http://schemas.microsoft.com/office/drawing/2014/main" id="{485E8A9F-6AE0-48F3-807B-793BDF00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520440"/>
            <a:ext cx="77720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Capture changes hands-on &amp; analyze events</a:t>
            </a:r>
          </a:p>
        </p:txBody>
      </p:sp>
      <p:sp>
        <p:nvSpPr>
          <p:cNvPr id="27" name="Text 7">
            <a:extLst xmlns:a="http://schemas.openxmlformats.org/drawingml/2006/main">
              <a:ext uri="{FF2B5EF4-FFF2-40B4-BE49-F238E27FC236}">
                <a16:creationId xmlns:a16="http://schemas.microsoft.com/office/drawing/2014/main" id="{0BE337B5-E70B-4614-A51D-C0766AC8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01eeeb12b7d3439d"/>
              </a:rPr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6138078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 0">
            <a:extLst xmlns:a="http://schemas.openxmlformats.org/drawingml/2006/main">
              <a:ext uri="{FF2B5EF4-FFF2-40B4-BE49-F238E27FC236}">
                <a16:creationId xmlns:a16="http://schemas.microsoft.com/office/drawing/2014/main" id="{3D6A29A2-18C1-4A2C-AB4F-465B1837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3657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6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Agenda</a:t>
            </a:r>
          </a:p>
        </p:txBody>
      </p:sp>
      <p:sp>
        <p:nvSpPr>
          <p:cNvPr id="29" name="Shape 1">
            <a:extLst xmlns:a="http://schemas.openxmlformats.org/drawingml/2006/main">
              <a:ext uri="{FF2B5EF4-FFF2-40B4-BE49-F238E27FC236}">
                <a16:creationId xmlns:a16="http://schemas.microsoft.com/office/drawing/2014/main" id="{80026309-9E00-4AC0-9AE6-AA218352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280160"/>
            <a:ext cx="540000" cy="319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DEF"/>
          </a:solidFill>
          <a:ln xmlns:a="http://schemas.openxmlformats.org/drawingml/2006/main" w="12700">
            <a:solidFill>
              <a:srgbClr val="00ADE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0" name="Text 2">
            <a:extLst xmlns:a="http://schemas.openxmlformats.org/drawingml/2006/main">
              <a:ext uri="{FF2B5EF4-FFF2-40B4-BE49-F238E27FC236}">
                <a16:creationId xmlns:a16="http://schemas.microsoft.com/office/drawing/2014/main" id="{504B8B10-0355-4B10-B332-2BA89215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200" y="1280160"/>
            <a:ext cx="6228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09:00</a:t>
            </a:r>
          </a:p>
        </p:txBody>
      </p:sp>
      <p:sp>
        <p:nvSpPr>
          <p:cNvPr id="31" name="Text 3">
            <a:extLst xmlns:a="http://schemas.openxmlformats.org/drawingml/2006/main">
              <a:ext uri="{FF2B5EF4-FFF2-40B4-BE49-F238E27FC236}">
                <a16:creationId xmlns:a16="http://schemas.microsoft.com/office/drawing/2014/main" id="{81412CCB-0688-4512-9684-0DE7DBBA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25880"/>
            <a:ext cx="7772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CDC Fundamentals</a:t>
            </a:r>
          </a:p>
        </p:txBody>
      </p:sp>
      <p:sp>
        <p:nvSpPr>
          <p:cNvPr id="32" name="Shape 4">
            <a:extLst xmlns:a="http://schemas.openxmlformats.org/drawingml/2006/main">
              <a:ext uri="{FF2B5EF4-FFF2-40B4-BE49-F238E27FC236}">
                <a16:creationId xmlns:a16="http://schemas.microsoft.com/office/drawing/2014/main" id="{58306A65-46BC-491A-9A60-1F089D80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828800"/>
            <a:ext cx="540000" cy="319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DEF"/>
          </a:solidFill>
          <a:ln xmlns:a="http://schemas.openxmlformats.org/drawingml/2006/main" w="12700">
            <a:solidFill>
              <a:srgbClr val="00ADE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3" name="Text 5">
            <a:extLst xmlns:a="http://schemas.openxmlformats.org/drawingml/2006/main">
              <a:ext uri="{FF2B5EF4-FFF2-40B4-BE49-F238E27FC236}">
                <a16:creationId xmlns:a16="http://schemas.microsoft.com/office/drawing/2014/main" id="{EC2EE891-BCA8-4DFC-8ED0-F91FDF9B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828800"/>
            <a:ext cx="5400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10:30</a:t>
            </a:r>
          </a:p>
        </p:txBody>
      </p:sp>
      <p:sp>
        <p:nvSpPr>
          <p:cNvPr id="34" name="Text 6">
            <a:extLst xmlns:a="http://schemas.openxmlformats.org/drawingml/2006/main">
              <a:ext uri="{FF2B5EF4-FFF2-40B4-BE49-F238E27FC236}">
                <a16:creationId xmlns:a16="http://schemas.microsoft.com/office/drawing/2014/main" id="{2AC5144D-9437-483B-88D0-48F1430D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74520"/>
            <a:ext cx="7772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Debezium Architecture</a:t>
            </a:r>
          </a:p>
        </p:txBody>
      </p:sp>
      <p:sp>
        <p:nvSpPr>
          <p:cNvPr id="35" name="Shape 7">
            <a:extLst xmlns:a="http://schemas.openxmlformats.org/drawingml/2006/main">
              <a:ext uri="{FF2B5EF4-FFF2-40B4-BE49-F238E27FC236}">
                <a16:creationId xmlns:a16="http://schemas.microsoft.com/office/drawing/2014/main" id="{B2C298AB-54F6-4B8E-AA2F-AFCC2F12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2377440"/>
            <a:ext cx="540000" cy="319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DEF"/>
          </a:solidFill>
          <a:ln xmlns:a="http://schemas.openxmlformats.org/drawingml/2006/main" w="12700">
            <a:solidFill>
              <a:srgbClr val="00ADE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6" name="Text 8">
            <a:extLst xmlns:a="http://schemas.openxmlformats.org/drawingml/2006/main">
              <a:ext uri="{FF2B5EF4-FFF2-40B4-BE49-F238E27FC236}">
                <a16:creationId xmlns:a16="http://schemas.microsoft.com/office/drawing/2014/main" id="{0C113AEE-A91E-47E9-84AB-FB6415DB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2377440"/>
            <a:ext cx="5400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12:00</a:t>
            </a:r>
          </a:p>
        </p:txBody>
      </p:sp>
      <p:sp>
        <p:nvSpPr>
          <p:cNvPr id="37" name="Text 9">
            <a:extLst xmlns:a="http://schemas.openxmlformats.org/drawingml/2006/main">
              <a:ext uri="{FF2B5EF4-FFF2-40B4-BE49-F238E27FC236}">
                <a16:creationId xmlns:a16="http://schemas.microsoft.com/office/drawing/2014/main" id="{3C2CFC16-4A5D-4A0A-A5E1-68C1E8EC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3160"/>
            <a:ext cx="7772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Connector Landscape</a:t>
            </a:r>
          </a:p>
        </p:txBody>
      </p:sp>
      <p:sp>
        <p:nvSpPr>
          <p:cNvPr id="38" name="Shape 10">
            <a:extLst xmlns:a="http://schemas.openxmlformats.org/drawingml/2006/main">
              <a:ext uri="{FF2B5EF4-FFF2-40B4-BE49-F238E27FC236}">
                <a16:creationId xmlns:a16="http://schemas.microsoft.com/office/drawing/2014/main" id="{B9D26468-E06B-4421-8964-1DE0626B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2926080"/>
            <a:ext cx="540000" cy="319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DEF"/>
          </a:solidFill>
          <a:ln xmlns:a="http://schemas.openxmlformats.org/drawingml/2006/main" w="12700">
            <a:solidFill>
              <a:srgbClr val="00ADE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9" name="Text 11">
            <a:extLst xmlns:a="http://schemas.openxmlformats.org/drawingml/2006/main">
              <a:ext uri="{FF2B5EF4-FFF2-40B4-BE49-F238E27FC236}">
                <a16:creationId xmlns:a16="http://schemas.microsoft.com/office/drawing/2014/main" id="{4A1BD1D0-9044-4F6C-B2BD-EF2A60C4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2926080"/>
            <a:ext cx="5400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13:30</a:t>
            </a:r>
          </a:p>
        </p:txBody>
      </p:sp>
      <p:sp>
        <p:nvSpPr>
          <p:cNvPr id="40" name="Text 12">
            <a:extLst xmlns:a="http://schemas.openxmlformats.org/drawingml/2006/main">
              <a:ext uri="{FF2B5EF4-FFF2-40B4-BE49-F238E27FC236}">
                <a16:creationId xmlns:a16="http://schemas.microsoft.com/office/drawing/2014/main" id="{5EE15B4F-7760-429A-AB19-73B6F8CB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7772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Connector Configuration</a:t>
            </a:r>
          </a:p>
        </p:txBody>
      </p:sp>
      <p:sp>
        <p:nvSpPr>
          <p:cNvPr id="41" name="Shape 13">
            <a:extLst xmlns:a="http://schemas.openxmlformats.org/drawingml/2006/main">
              <a:ext uri="{FF2B5EF4-FFF2-40B4-BE49-F238E27FC236}">
                <a16:creationId xmlns:a16="http://schemas.microsoft.com/office/drawing/2014/main" id="{9B84A081-5802-4B50-9B9B-9EAE50AB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3474720"/>
            <a:ext cx="540000" cy="319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DEF"/>
          </a:solidFill>
          <a:ln xmlns:a="http://schemas.openxmlformats.org/drawingml/2006/main" w="12700">
            <a:solidFill>
              <a:srgbClr val="00ADE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2" name="Text 14">
            <a:extLst xmlns:a="http://schemas.openxmlformats.org/drawingml/2006/main">
              <a:ext uri="{FF2B5EF4-FFF2-40B4-BE49-F238E27FC236}">
                <a16:creationId xmlns:a16="http://schemas.microsoft.com/office/drawing/2014/main" id="{44E86626-461E-46FA-9821-3D284A31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3474720"/>
            <a:ext cx="5400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15:00</a:t>
            </a:r>
          </a:p>
        </p:txBody>
      </p:sp>
      <p:sp>
        <p:nvSpPr>
          <p:cNvPr id="43" name="Text 15">
            <a:extLst xmlns:a="http://schemas.openxmlformats.org/drawingml/2006/main">
              <a:ext uri="{FF2B5EF4-FFF2-40B4-BE49-F238E27FC236}">
                <a16:creationId xmlns:a16="http://schemas.microsoft.com/office/drawing/2014/main" id="{F3997987-08F5-480B-A357-821F837C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0440"/>
            <a:ext cx="7772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Hands-On Lab</a:t>
            </a:r>
          </a:p>
        </p:txBody>
      </p:sp>
      <p:sp>
        <p:nvSpPr>
          <p:cNvPr id="44" name="Shape 16">
            <a:extLst xmlns:a="http://schemas.openxmlformats.org/drawingml/2006/main">
              <a:ext uri="{FF2B5EF4-FFF2-40B4-BE49-F238E27FC236}">
                <a16:creationId xmlns:a16="http://schemas.microsoft.com/office/drawing/2014/main" id="{23BD30CE-FADC-4F5D-814D-8AD3F1A4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4023360"/>
            <a:ext cx="540000" cy="319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DEF"/>
          </a:solidFill>
          <a:ln xmlns:a="http://schemas.openxmlformats.org/drawingml/2006/main" w="12700">
            <a:solidFill>
              <a:srgbClr val="00ADEF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5" name="Text 17">
            <a:extLst xmlns:a="http://schemas.openxmlformats.org/drawingml/2006/main">
              <a:ext uri="{FF2B5EF4-FFF2-40B4-BE49-F238E27FC236}">
                <a16:creationId xmlns:a16="http://schemas.microsoft.com/office/drawing/2014/main" id="{B8059D0E-A463-459B-A76C-4F438DB0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4023360"/>
            <a:ext cx="54000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16:30</a:t>
            </a:r>
          </a:p>
        </p:txBody>
      </p:sp>
      <p:sp>
        <p:nvSpPr>
          <p:cNvPr id="46" name="Text 18">
            <a:extLst xmlns:a="http://schemas.openxmlformats.org/drawingml/2006/main">
              <a:ext uri="{FF2B5EF4-FFF2-40B4-BE49-F238E27FC236}">
                <a16:creationId xmlns:a16="http://schemas.microsoft.com/office/drawing/2014/main" id="{4748A936-651D-46E4-9341-9623571E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69080"/>
            <a:ext cx="7772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4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Quiz &amp; Recap</a:t>
            </a:r>
          </a:p>
        </p:txBody>
      </p:sp>
      <p:sp>
        <p:nvSpPr>
          <p:cNvPr id="47" name="Text 19">
            <a:extLst xmlns:a="http://schemas.openxmlformats.org/drawingml/2006/main">
              <a:ext uri="{FF2B5EF4-FFF2-40B4-BE49-F238E27FC236}">
                <a16:creationId xmlns:a16="http://schemas.microsoft.com/office/drawing/2014/main" id="{0193EC3D-0CD3-4D9C-B531-38D9C580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6af5ce29e523495b"/>
              </a:rPr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8784937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Text 0">
            <a:extLst xmlns:a="http://schemas.openxmlformats.org/drawingml/2006/main">
              <a:ext uri="{FF2B5EF4-FFF2-40B4-BE49-F238E27FC236}">
                <a16:creationId xmlns:a16="http://schemas.microsoft.com/office/drawing/2014/main" id="{4F9A10D4-D8B4-4F02-8114-68ED72FD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2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What is Change Data Capture?</a:t>
            </a:r>
          </a:p>
        </p:txBody>
      </p:sp>
      <p:sp>
        <p:nvSpPr>
          <p:cNvPr id="49" name="Text 1">
            <a:extLst xmlns:a="http://schemas.openxmlformats.org/drawingml/2006/main">
              <a:ext uri="{FF2B5EF4-FFF2-40B4-BE49-F238E27FC236}">
                <a16:creationId xmlns:a16="http://schemas.microsoft.com/office/drawing/2014/main" id="{ADF38833-508A-47C8-9E00-0377EB21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4845960" cy="301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CDC is a design pattern that records row-level data changes (inserts, updates, deletes) and propagates them as events in real time.</a:t>
            </a:r>
          </a:p>
          <a:p xmlns:a="http://schemas.openxmlformats.org/drawingml/2006/main"/>
          <a:p xmlns:a="http://schemas.openxmlformats.org/drawingml/2006/main">
            <a:r>
              <a:rPr sz="14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Why CDC?</a:t>
            </a:r>
          </a:p>
          <a:p xmlns:a="http://schemas.openxmlformats.org/drawingml/2006/main"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Eliminates heavy batch ETL jobs</a:t>
            </a:r>
          </a:p>
          <a:p xmlns:a="http://schemas.openxmlformats.org/drawingml/2006/main"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Enables real-time data synchronization</a:t>
            </a:r>
          </a:p>
          <a:p xmlns:a="http://schemas.openxmlformats.org/drawingml/2006/main"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Supports microservices &amp; event-driven architectures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Guarantees data consistency and ordering</a:t>
            </a:r>
          </a:p>
        </p:txBody>
      </p:sp>
      <p:sp>
        <p:nvSpPr>
          <p:cNvPr id="50" name="Text 2">
            <a:extLst xmlns:a="http://schemas.openxmlformats.org/drawingml/2006/main">
              <a:ext uri="{FF2B5EF4-FFF2-40B4-BE49-F238E27FC236}">
                <a16:creationId xmlns:a16="http://schemas.microsoft.com/office/drawing/2014/main" id="{EC4556D9-D73E-46D3-BA51-174165EE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8393041e7fd14d0b"/>
              </a:rPr>
              <a:t>[1]</a:t>
            </a:r>
            <a:r>
              <a:rPr sz="700" b="0" u="none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b8119a0c3f354bc2"/>
              </a:rPr>
              <a:t>[2]</a:t>
            </a:r>
          </a:p>
        </p:txBody>
      </p:sp>
      <p:pic>
        <p:nvPicPr>
          <p:cNvPr id="51" name="Picture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4706e46924548"/>
          <a:stretch xmlns:a="http://schemas.openxmlformats.org/drawingml/2006/main"/>
        </p:blipFill>
        <p:spPr>
          <a:xfrm xmlns:a="http://schemas.openxmlformats.org/drawingml/2006/main">
            <a:off x="5076000" y="556200"/>
            <a:ext cx="3564000" cy="2323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0084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ext 0">
            <a:extLst xmlns:a="http://schemas.openxmlformats.org/drawingml/2006/main">
              <a:ext uri="{FF2B5EF4-FFF2-40B4-BE49-F238E27FC236}">
                <a16:creationId xmlns:a16="http://schemas.microsoft.com/office/drawing/2014/main" id="{8DC441C7-F0AA-4926-814B-D498CE67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2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CDC Patterns: Push vs Pull</a:t>
            </a:r>
          </a:p>
        </p:txBody>
      </p:sp>
      <p:sp>
        <p:nvSpPr>
          <p:cNvPr id="53" name="Shape 1">
            <a:extLst xmlns:a="http://schemas.openxmlformats.org/drawingml/2006/main">
              <a:ext uri="{FF2B5EF4-FFF2-40B4-BE49-F238E27FC236}">
                <a16:creationId xmlns:a16="http://schemas.microsoft.com/office/drawing/2014/main" id="{A6CBB750-7A5F-496D-BC4B-A5A0E503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4114440" cy="201132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8F5E9"/>
          </a:solidFill>
          <a:ln xmlns:a="http://schemas.openxmlformats.org/drawingml/2006/main" w="12700">
            <a:solidFill>
              <a:srgbClr val="C5E1A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4" name="Text 2">
            <a:extLst xmlns:a="http://schemas.openxmlformats.org/drawingml/2006/main">
              <a:ext uri="{FF2B5EF4-FFF2-40B4-BE49-F238E27FC236}">
                <a16:creationId xmlns:a16="http://schemas.microsoft.com/office/drawing/2014/main" id="{5B19B419-4E1D-4367-B837-0EDB0C66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43000"/>
            <a:ext cx="4023000" cy="1919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 b="1" u="none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Push (Log-based)</a:t>
            </a:r>
          </a:p>
          <a:p xmlns:a="http://schemas.openxmlformats.org/drawingml/2006/main">
            <a:r>
              <a:rPr sz="1200" b="0" u="none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• Database writes change events to a log</a:t>
            </a:r>
          </a:p>
          <a:p xmlns:a="http://schemas.openxmlformats.org/drawingml/2006/main">
            <a:r>
              <a:rPr sz="1200" b="0" u="none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• CDC tool streams events to consumers</a:t>
            </a:r>
          </a:p>
          <a:p xmlns:a="http://schemas.openxmlformats.org/drawingml/2006/main">
            <a:r>
              <a:rPr sz="1200" b="0" u="none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• Low overhead, preserves order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• Requires privileges on DB logs</a:t>
            </a:r>
          </a:p>
        </p:txBody>
      </p:sp>
      <p:sp>
        <p:nvSpPr>
          <p:cNvPr id="55" name="Shape 3">
            <a:extLst xmlns:a="http://schemas.openxmlformats.org/drawingml/2006/main">
              <a:ext uri="{FF2B5EF4-FFF2-40B4-BE49-F238E27FC236}">
                <a16:creationId xmlns:a16="http://schemas.microsoft.com/office/drawing/2014/main" id="{18D457A1-9AF9-48BD-986F-8E0E0C3A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097280"/>
            <a:ext cx="4114440" cy="201132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3E0"/>
          </a:solidFill>
          <a:ln xmlns:a="http://schemas.openxmlformats.org/drawingml/2006/main" w="12700">
            <a:solidFill>
              <a:srgbClr val="FFCC8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6" name="Text 4">
            <a:extLst xmlns:a="http://schemas.openxmlformats.org/drawingml/2006/main">
              <a:ext uri="{FF2B5EF4-FFF2-40B4-BE49-F238E27FC236}">
                <a16:creationId xmlns:a16="http://schemas.microsoft.com/office/drawing/2014/main" id="{E10BE008-D18D-4825-8AA6-9CB38768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143000"/>
            <a:ext cx="4023000" cy="1919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 b="1" u="none">
                <a:solidFill>
                  <a:srgbClr val="E65100"/>
                </a:solidFill>
                <a:latin typeface="Calibri"/>
                <a:ea typeface="Calibri"/>
                <a:cs typeface="Calibri"/>
              </a:rPr>
              <a:t>Pull (Query/Trigger)</a:t>
            </a:r>
          </a:p>
          <a:p xmlns:a="http://schemas.openxmlformats.org/drawingml/2006/main">
            <a:r>
              <a:rPr sz="1200" b="0" u="none">
                <a:solidFill>
                  <a:srgbClr val="E65100"/>
                </a:solidFill>
                <a:latin typeface="Calibri"/>
                <a:ea typeface="Calibri"/>
                <a:cs typeface="Calibri"/>
              </a:rPr>
              <a:t>• Periodic queries or triggers detect changes</a:t>
            </a:r>
          </a:p>
          <a:p xmlns:a="http://schemas.openxmlformats.org/drawingml/2006/main">
            <a:r>
              <a:rPr sz="1200" b="0" u="none">
                <a:solidFill>
                  <a:srgbClr val="E65100"/>
                </a:solidFill>
                <a:latin typeface="Calibri"/>
                <a:ea typeface="Calibri"/>
                <a:cs typeface="Calibri"/>
              </a:rPr>
              <a:t>• Simple to implement, works on any DB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E65100"/>
                </a:solidFill>
                <a:latin typeface="Calibri"/>
                <a:ea typeface="Calibri"/>
                <a:cs typeface="Calibri"/>
              </a:rPr>
              <a:t>• Higher overhead, cannot capture deletes</a:t>
            </a:r>
          </a:p>
        </p:txBody>
      </p:sp>
      <p:sp>
        <p:nvSpPr>
          <p:cNvPr id="57" name="Text 5">
            <a:extLst xmlns:a="http://schemas.openxmlformats.org/drawingml/2006/main">
              <a:ext uri="{FF2B5EF4-FFF2-40B4-BE49-F238E27FC236}">
                <a16:creationId xmlns:a16="http://schemas.microsoft.com/office/drawing/2014/main" id="{5EC54DCA-B376-460E-9697-53C8847D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312fa0e8f6404c79"/>
              </a:rPr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1332512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Text 0">
            <a:extLst xmlns:a="http://schemas.openxmlformats.org/drawingml/2006/main">
              <a:ext uri="{FF2B5EF4-FFF2-40B4-BE49-F238E27FC236}">
                <a16:creationId xmlns:a16="http://schemas.microsoft.com/office/drawing/2014/main" id="{3DA27883-689F-485F-8DBE-DCB6D7E7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2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CDC Methods &amp; Trade‑offs</a:t>
            </a:r>
          </a:p>
        </p:txBody>
      </p:sp>
      <p:graphicFrame>
        <p:nvGraphicFramePr>
          <p:cNvPr id="59" name="Table 0"/>
          <p:cNvGraphicFramePr/>
          <p:nvPr/>
        </p:nvGraphicFramePr>
        <p:xfrm>
          <a:off xmlns:a="http://schemas.openxmlformats.org/drawingml/2006/main" x="457200" y="1188720"/>
          <a:ext xmlns:a="http://schemas.openxmlformats.org/drawingml/2006/main" cx="8229240" cy="20116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Method</a:t>
                      </a:r>
                    </a:p>
                  </a:txBody>
                  <a:tcPr marL="91440" marR="91440" marT="45720" marB="45720">
                    <a:lnL w="6480">
                      <a:solidFill>
                        <a:srgbClr val="DDDDDD"/>
                      </a:solidFill>
                      <a:prstDash val="solid"/>
                    </a:lnL>
                    <a:lnR w="6480">
                      <a:solidFill>
                        <a:srgbClr val="DDDDDD"/>
                      </a:solidFill>
                      <a:prstDash val="solid"/>
                    </a:lnR>
                    <a:lnT w="6480">
                      <a:solidFill>
                        <a:srgbClr val="DDDDDD"/>
                      </a:solidFill>
                      <a:prstDash val="solid"/>
                    </a:lnT>
                    <a:lnB w="6480">
                      <a:solidFill>
                        <a:srgbClr val="DDDDDD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How it works</a:t>
                      </a:r>
                    </a:p>
                  </a:txBody>
                  <a:tcPr marL="91440" marR="91440" marT="45720" marB="45720">
                    <a:lnL w="6480">
                      <a:solidFill>
                        <a:srgbClr val="DDDDDD"/>
                      </a:solidFill>
                      <a:prstDash val="solid"/>
                    </a:lnL>
                    <a:lnR w="6480">
                      <a:solidFill>
                        <a:srgbClr val="DDDDDD"/>
                      </a:solidFill>
                      <a:prstDash val="solid"/>
                    </a:lnR>
                    <a:lnT w="6480">
                      <a:solidFill>
                        <a:srgbClr val="DDDDDD"/>
                      </a:solidFill>
                      <a:prstDash val="solid"/>
                    </a:lnT>
                    <a:lnB w="6480">
                      <a:solidFill>
                        <a:srgbClr val="DDDDDD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Pros</a:t>
                      </a:r>
                    </a:p>
                  </a:txBody>
                  <a:tcPr marL="91440" marR="91440" marT="45720" marB="45720">
                    <a:lnL w="6480">
                      <a:solidFill>
                        <a:srgbClr val="DDDDDD"/>
                      </a:solidFill>
                      <a:prstDash val="solid"/>
                    </a:lnL>
                    <a:lnR w="6480">
                      <a:solidFill>
                        <a:srgbClr val="DDDDDD"/>
                      </a:solidFill>
                      <a:prstDash val="solid"/>
                    </a:lnR>
                    <a:lnT w="6480">
                      <a:solidFill>
                        <a:srgbClr val="DDDDDD"/>
                      </a:solidFill>
                      <a:prstDash val="solid"/>
                    </a:lnT>
                    <a:lnB w="6480">
                      <a:solidFill>
                        <a:srgbClr val="DDDDDD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2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Cons</a:t>
                      </a:r>
                    </a:p>
                  </a:txBody>
                  <a:tcPr marL="91440" marR="91440" marT="45720" marB="45720">
                    <a:lnL w="6480">
                      <a:solidFill>
                        <a:srgbClr val="DDDDDD"/>
                      </a:solidFill>
                      <a:prstDash val="solid"/>
                    </a:lnL>
                    <a:lnR w="6480">
                      <a:solidFill>
                        <a:srgbClr val="DDDDDD"/>
                      </a:solidFill>
                      <a:prstDash val="solid"/>
                    </a:lnR>
                    <a:lnT w="6480">
                      <a:solidFill>
                        <a:srgbClr val="DDDDDD"/>
                      </a:solidFill>
                      <a:prstDash val="solid"/>
                    </a:lnT>
                    <a:lnB w="6480">
                      <a:solidFill>
                        <a:srgbClr val="DDDDDD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</a:rPr>
                        <a:t>Query‑based</a:t>
                      </a:r>
                    </a:p>
                  </a:txBody>
                  <a:tcPr marL="91440" marR="91440" marT="45720" marB="45720">
                    <a:lnL w="6480">
                      <a:solidFill>
                        <a:srgbClr val="DDDDDD"/>
                      </a:solidFill>
                      <a:prstDash val="solid"/>
                    </a:lnL>
                    <a:lnR w="6480">
                      <a:solidFill>
                        <a:srgbClr val="DDDDDD"/>
                      </a:solidFill>
                      <a:prstDash val="solid"/>
                    </a:lnR>
                    <a:lnT w="6480">
                      <a:solidFill>
                        <a:srgbClr val="DDDDDD"/>
                      </a:solidFill>
                      <a:prstDash val="solid"/>
                    </a:lnT>
                    <a:lnB w="648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</a:rPr>
                        <a:t>Periodically query tables using timestamp or version columns</a:t>
                      </a:r>
                    </a:p>
                  </a:txBody>
                  <a:tcPr marL="91440" marR="91440" marT="45720" marB="45720">
                    <a:lnL w="6480">
                      <a:solidFill>
                        <a:srgbClr val="DDDDDD"/>
                      </a:solidFill>
                      <a:prstDash val="solid"/>
                    </a:lnL>
                    <a:lnR w="6480">
                      <a:solidFill>
                        <a:srgbClr val="DDDDDD"/>
                      </a:solidFill>
                      <a:prstDash val="solid"/>
                    </a:lnR>
                    <a:lnT w="6480">
                      <a:solidFill>
                        <a:srgbClr val="DDDDDD"/>
                      </a:solidFill>
                      <a:prstDash val="solid"/>
                    </a:lnT>
                    <a:lnB w="648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</a:rPr>
                        <a:t>Easy to implement</a:t>
                      </a:r>
                    </a:p>
                  </a:txBody>
                  <a:tcPr marL="91440" marR="91440" marT="45720" marB="45720">
                    <a:lnL w="6480">
                      <a:solidFill>
                        <a:srgbClr val="DDDDDD"/>
                      </a:solidFill>
                      <a:prstDash val="solid"/>
                    </a:lnL>
                    <a:lnR w="6480">
                      <a:solidFill>
                        <a:srgbClr val="DDDDDD"/>
                      </a:solidFill>
                      <a:prstDash val="solid"/>
                    </a:lnR>
                    <a:lnT w="6480">
                      <a:solidFill>
                        <a:srgbClr val="DDDDDD"/>
                      </a:solidFill>
                      <a:prstDash val="solid"/>
                    </a:lnT>
                    <a:lnB w="648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</a:rPr>
                        <a:t>Cannot detect deletes; heavy load</a:t>
                      </a:r>
                    </a:p>
                  </a:txBody>
                  <a:tcPr marL="91440" marR="91440" marT="45720" marB="45720">
                    <a:lnL w="6480">
                      <a:solidFill>
                        <a:srgbClr val="DDDDDD"/>
                      </a:solidFill>
                      <a:prstDash val="solid"/>
                    </a:lnL>
                    <a:lnR w="6480">
                      <a:solidFill>
                        <a:srgbClr val="DDDDDD"/>
                      </a:solidFill>
                      <a:prstDash val="solid"/>
                    </a:lnR>
                    <a:lnT w="6480">
                      <a:solidFill>
                        <a:srgbClr val="DDDDDD"/>
                      </a:solidFill>
                      <a:prstDash val="solid"/>
                    </a:lnT>
                    <a:lnB w="648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</a:rPr>
                        <a:t>Trigger‑based</a:t>
                      </a:r>
                    </a:p>
                  </a:txBody>
                  <a:tcPr marL="91440" marR="91440" marT="45720" marB="45720">
                    <a:lnL w="6480">
                      <a:solidFill>
                        <a:srgbClr val="DDDDDD"/>
                      </a:solidFill>
                      <a:prstDash val="solid"/>
                    </a:lnL>
                    <a:lnR w="6480">
                      <a:solidFill>
                        <a:srgbClr val="DDDDDD"/>
                      </a:solidFill>
                      <a:prstDash val="solid"/>
                    </a:lnR>
                    <a:lnT w="6480">
                      <a:solidFill>
                        <a:srgbClr val="DDDDDD"/>
                      </a:solidFill>
                      <a:prstDash val="solid"/>
                    </a:lnT>
                    <a:lnB w="648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</a:rPr>
                        <a:t>Database triggers write changes to audit tables</a:t>
                      </a:r>
                    </a:p>
                  </a:txBody>
                  <a:tcPr marL="91440" marR="91440" marT="45720" marB="45720">
                    <a:lnL w="6480">
                      <a:solidFill>
                        <a:srgbClr val="DDDDDD"/>
                      </a:solidFill>
                      <a:prstDash val="solid"/>
                    </a:lnL>
                    <a:lnR w="6480">
                      <a:solidFill>
                        <a:srgbClr val="DDDDDD"/>
                      </a:solidFill>
                      <a:prstDash val="solid"/>
                    </a:lnR>
                    <a:lnT w="6480">
                      <a:solidFill>
                        <a:srgbClr val="DDDDDD"/>
                      </a:solidFill>
                      <a:prstDash val="solid"/>
                    </a:lnT>
                    <a:lnB w="648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</a:rPr>
                        <a:t>Captures inserts, updates, deletes</a:t>
                      </a:r>
                    </a:p>
                  </a:txBody>
                  <a:tcPr marL="91440" marR="91440" marT="45720" marB="45720">
                    <a:lnL w="6480">
                      <a:solidFill>
                        <a:srgbClr val="DDDDDD"/>
                      </a:solidFill>
                      <a:prstDash val="solid"/>
                    </a:lnL>
                    <a:lnR w="6480">
                      <a:solidFill>
                        <a:srgbClr val="DDDDDD"/>
                      </a:solidFill>
                      <a:prstDash val="solid"/>
                    </a:lnR>
                    <a:lnT w="6480">
                      <a:solidFill>
                        <a:srgbClr val="DDDDDD"/>
                      </a:solidFill>
                      <a:prstDash val="solid"/>
                    </a:lnT>
                    <a:lnB w="648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</a:rPr>
                        <a:t>Requires schema changes; overhead</a:t>
                      </a:r>
                    </a:p>
                  </a:txBody>
                  <a:tcPr marL="91440" marR="91440" marT="45720" marB="45720">
                    <a:lnL w="6480">
                      <a:solidFill>
                        <a:srgbClr val="DDDDDD"/>
                      </a:solidFill>
                      <a:prstDash val="solid"/>
                    </a:lnL>
                    <a:lnR w="6480">
                      <a:solidFill>
                        <a:srgbClr val="DDDDDD"/>
                      </a:solidFill>
                      <a:prstDash val="solid"/>
                    </a:lnR>
                    <a:lnT w="6480">
                      <a:solidFill>
                        <a:srgbClr val="DDDDDD"/>
                      </a:solidFill>
                      <a:prstDash val="solid"/>
                    </a:lnT>
                    <a:lnB w="648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00" b="1" u="none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</a:rPr>
                        <a:t>Log‑based</a:t>
                      </a:r>
                    </a:p>
                  </a:txBody>
                  <a:tcPr marL="91440" marR="91440" marT="45720" marB="45720">
                    <a:lnL w="6480">
                      <a:solidFill>
                        <a:srgbClr val="DDDDDD"/>
                      </a:solidFill>
                      <a:prstDash val="solid"/>
                    </a:lnL>
                    <a:lnR w="6480">
                      <a:solidFill>
                        <a:srgbClr val="DDDDDD"/>
                      </a:solidFill>
                      <a:prstDash val="solid"/>
                    </a:lnR>
                    <a:lnT w="6480">
                      <a:solidFill>
                        <a:srgbClr val="DDDDDD"/>
                      </a:solidFill>
                      <a:prstDash val="solid"/>
                    </a:lnT>
                    <a:lnB w="648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</a:rPr>
                        <a:t>Read database transaction logs (WAL/binlog)</a:t>
                      </a:r>
                    </a:p>
                  </a:txBody>
                  <a:tcPr marL="91440" marR="91440" marT="45720" marB="45720">
                    <a:lnL w="6480">
                      <a:solidFill>
                        <a:srgbClr val="DDDDDD"/>
                      </a:solidFill>
                      <a:prstDash val="solid"/>
                    </a:lnL>
                    <a:lnR w="6480">
                      <a:solidFill>
                        <a:srgbClr val="DDDDDD"/>
                      </a:solidFill>
                      <a:prstDash val="solid"/>
                    </a:lnR>
                    <a:lnT w="6480">
                      <a:solidFill>
                        <a:srgbClr val="DDDDDD"/>
                      </a:solidFill>
                      <a:prstDash val="solid"/>
                    </a:lnT>
                    <a:lnB w="648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</a:rPr>
                        <a:t>Low overhead, preserves order, captures deletes</a:t>
                      </a:r>
                    </a:p>
                  </a:txBody>
                  <a:tcPr marL="91440" marR="91440" marT="45720" marB="45720">
                    <a:lnL w="6480">
                      <a:solidFill>
                        <a:srgbClr val="DDDDDD"/>
                      </a:solidFill>
                      <a:prstDash val="solid"/>
                    </a:lnL>
                    <a:lnR w="6480">
                      <a:solidFill>
                        <a:srgbClr val="DDDDDD"/>
                      </a:solidFill>
                      <a:prstDash val="solid"/>
                    </a:lnR>
                    <a:lnT w="6480">
                      <a:solidFill>
                        <a:srgbClr val="DDDDDD"/>
                      </a:solidFill>
                      <a:prstDash val="solid"/>
                    </a:lnT>
                    <a:lnB w="648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2060"/>
                          </a:solidFill>
                          <a:latin typeface="Calibri"/>
                          <a:ea typeface="Calibri"/>
                          <a:cs typeface="Calibri"/>
                        </a:rPr>
                        <a:t>Requires privileges; log formats vary</a:t>
                      </a:r>
                    </a:p>
                  </a:txBody>
                  <a:tcPr marL="91440" marR="91440" marT="45720" marB="45720">
                    <a:lnL w="6480">
                      <a:solidFill>
                        <a:srgbClr val="DDDDDD"/>
                      </a:solidFill>
                      <a:prstDash val="solid"/>
                    </a:lnL>
                    <a:lnR w="6480">
                      <a:solidFill>
                        <a:srgbClr val="DDDDDD"/>
                      </a:solidFill>
                      <a:prstDash val="solid"/>
                    </a:lnR>
                    <a:lnT w="6480">
                      <a:solidFill>
                        <a:srgbClr val="DDDDDD"/>
                      </a:solidFill>
                      <a:prstDash val="solid"/>
                    </a:lnT>
                    <a:lnB w="6480">
                      <a:solidFill>
                        <a:srgbClr val="DDDDDD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0" name="Text 1">
            <a:extLst xmlns:a="http://schemas.openxmlformats.org/drawingml/2006/main">
              <a:ext uri="{FF2B5EF4-FFF2-40B4-BE49-F238E27FC236}">
                <a16:creationId xmlns:a16="http://schemas.microsoft.com/office/drawing/2014/main" id="{1D198C6D-7E63-4599-912D-B8F1C418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636b3da099874cff"/>
              </a:rPr>
              <a:t>[1]</a:t>
            </a:r>
            <a:r>
              <a:rPr sz="700" b="0" u="none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53d10ae597044c31"/>
              </a:rPr>
              <a:t>[2]</a:t>
            </a:r>
            <a:r>
              <a:rPr sz="700" b="0" u="none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288c1410928744c7"/>
              </a:rPr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4761460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Text 0">
            <a:extLst xmlns:a="http://schemas.openxmlformats.org/drawingml/2006/main">
              <a:ext uri="{FF2B5EF4-FFF2-40B4-BE49-F238E27FC236}">
                <a16:creationId xmlns:a16="http://schemas.microsoft.com/office/drawing/2014/main" id="{8FD69E03-038A-4829-8FEA-B9C8FABE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2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Benefits &amp; Use Cases</a:t>
            </a:r>
          </a:p>
        </p:txBody>
      </p:sp>
      <p:pic>
        <p:nvPicPr>
          <p:cNvPr id="6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1a5a11598442a"/>
          <a:stretch xmlns:a="http://schemas.openxmlformats.org/drawingml/2006/main"/>
        </p:blipFill>
        <p:spPr>
          <a:xfrm xmlns:a="http://schemas.openxmlformats.org/drawingml/2006/main">
            <a:off x="457200" y="1188720"/>
            <a:ext cx="319680" cy="319680"/>
          </a:xfrm>
          <a:prstGeom xmlns:a="http://schemas.openxmlformats.org/drawingml/2006/main" prst="rect">
            <a:avLst/>
          </a:prstGeom>
        </p:spPr>
      </p:pic>
      <p:sp>
        <p:nvSpPr>
          <p:cNvPr id="63" name="Text 1">
            <a:extLst xmlns:a="http://schemas.openxmlformats.org/drawingml/2006/main">
              <a:ext uri="{FF2B5EF4-FFF2-40B4-BE49-F238E27FC236}">
                <a16:creationId xmlns:a16="http://schemas.microsoft.com/office/drawing/2014/main" id="{29EA23C5-245A-4B35-8499-DCFE0DF7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444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Real‑time analytics &amp; reporting</a:t>
            </a:r>
          </a:p>
        </p:txBody>
      </p:sp>
      <p:pic>
        <p:nvPicPr>
          <p:cNvPr id="6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a5b83edade4634"/>
          <a:stretch xmlns:a="http://schemas.openxmlformats.org/drawingml/2006/main"/>
        </p:blipFill>
        <p:spPr>
          <a:xfrm xmlns:a="http://schemas.openxmlformats.org/drawingml/2006/main">
            <a:off x="457200" y="1645920"/>
            <a:ext cx="319680" cy="319680"/>
          </a:xfrm>
          <a:prstGeom xmlns:a="http://schemas.openxmlformats.org/drawingml/2006/main" prst="rect">
            <a:avLst/>
          </a:prstGeom>
        </p:spPr>
      </p:pic>
      <p:sp>
        <p:nvSpPr>
          <p:cNvPr id="65" name="Text 2">
            <a:extLst xmlns:a="http://schemas.openxmlformats.org/drawingml/2006/main">
              <a:ext uri="{FF2B5EF4-FFF2-40B4-BE49-F238E27FC236}">
                <a16:creationId xmlns:a16="http://schemas.microsoft.com/office/drawing/2014/main" id="{8E4CEAF9-B938-449A-88F0-9D79A6D9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9164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Microservices data synchronization</a:t>
            </a:r>
          </a:p>
        </p:txBody>
      </p:sp>
      <p:pic>
        <p:nvPicPr>
          <p:cNvPr id="6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0945376674990"/>
          <a:stretch xmlns:a="http://schemas.openxmlformats.org/drawingml/2006/main"/>
        </p:blipFill>
        <p:spPr>
          <a:xfrm xmlns:a="http://schemas.openxmlformats.org/drawingml/2006/main">
            <a:off x="457200" y="2103120"/>
            <a:ext cx="319680" cy="319680"/>
          </a:xfrm>
          <a:prstGeom xmlns:a="http://schemas.openxmlformats.org/drawingml/2006/main" prst="rect">
            <a:avLst/>
          </a:prstGeom>
        </p:spPr>
      </p:pic>
      <p:sp>
        <p:nvSpPr>
          <p:cNvPr id="67" name="Text 3">
            <a:extLst xmlns:a="http://schemas.openxmlformats.org/drawingml/2006/main">
              <a:ext uri="{FF2B5EF4-FFF2-40B4-BE49-F238E27FC236}">
                <a16:creationId xmlns:a16="http://schemas.microsoft.com/office/drawing/2014/main" id="{3BAEAA77-3121-491F-9F04-F7153E6A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Cloud migration &amp; replication</a:t>
            </a:r>
          </a:p>
        </p:txBody>
      </p:sp>
      <p:pic>
        <p:nvPicPr>
          <p:cNvPr id="6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1f099e26648ab"/>
          <a:stretch xmlns:a="http://schemas.openxmlformats.org/drawingml/2006/main"/>
        </p:blipFill>
        <p:spPr>
          <a:xfrm xmlns:a="http://schemas.openxmlformats.org/drawingml/2006/main">
            <a:off x="457200" y="2560320"/>
            <a:ext cx="319680" cy="319680"/>
          </a:xfrm>
          <a:prstGeom xmlns:a="http://schemas.openxmlformats.org/drawingml/2006/main" prst="rect">
            <a:avLst/>
          </a:prstGeom>
        </p:spPr>
      </p:pic>
      <p:sp>
        <p:nvSpPr>
          <p:cNvPr id="69" name="Text 4">
            <a:extLst xmlns:a="http://schemas.openxmlformats.org/drawingml/2006/main">
              <a:ext uri="{FF2B5EF4-FFF2-40B4-BE49-F238E27FC236}">
                <a16:creationId xmlns:a16="http://schemas.microsoft.com/office/drawing/2014/main" id="{FDEF385A-A7B6-4328-BF20-3C744C38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06040"/>
            <a:ext cx="45716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Audit logging &amp; compliance</a:t>
            </a:r>
          </a:p>
        </p:txBody>
      </p:sp>
      <p:pic>
        <p:nvPicPr>
          <p:cNvPr id="7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13dedde084fff"/>
          <a:stretch xmlns:a="http://schemas.openxmlformats.org/drawingml/2006/main"/>
        </p:blipFill>
        <p:spPr>
          <a:xfrm xmlns:a="http://schemas.openxmlformats.org/drawingml/2006/main">
            <a:off x="5486400" y="1188720"/>
            <a:ext cx="273960" cy="273960"/>
          </a:xfrm>
          <a:prstGeom xmlns:a="http://schemas.openxmlformats.org/drawingml/2006/main" prst="rect">
            <a:avLst/>
          </a:prstGeom>
        </p:spPr>
      </p:pic>
      <p:sp>
        <p:nvSpPr>
          <p:cNvPr id="71" name="Text 5">
            <a:extLst xmlns:a="http://schemas.openxmlformats.org/drawingml/2006/main">
              <a:ext uri="{FF2B5EF4-FFF2-40B4-BE49-F238E27FC236}">
                <a16:creationId xmlns:a16="http://schemas.microsoft.com/office/drawing/2014/main" id="{F91B7E46-D4BA-4A6B-A013-3DEA8FA7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234440"/>
            <a:ext cx="3200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Real‑time analytics and dashboards</a:t>
            </a:r>
          </a:p>
        </p:txBody>
      </p:sp>
      <p:pic>
        <p:nvPicPr>
          <p:cNvPr id="72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13dedde084fff"/>
          <a:stretch xmlns:a="http://schemas.openxmlformats.org/drawingml/2006/main"/>
        </p:blipFill>
        <p:spPr>
          <a:xfrm xmlns:a="http://schemas.openxmlformats.org/drawingml/2006/main">
            <a:off x="5486400" y="1645920"/>
            <a:ext cx="273960" cy="273960"/>
          </a:xfrm>
          <a:prstGeom xmlns:a="http://schemas.openxmlformats.org/drawingml/2006/main" prst="rect">
            <a:avLst/>
          </a:prstGeom>
        </p:spPr>
      </p:pic>
      <p:sp>
        <p:nvSpPr>
          <p:cNvPr id="73" name="Text 6">
            <a:extLst xmlns:a="http://schemas.openxmlformats.org/drawingml/2006/main">
              <a:ext uri="{FF2B5EF4-FFF2-40B4-BE49-F238E27FC236}">
                <a16:creationId xmlns:a16="http://schemas.microsoft.com/office/drawing/2014/main" id="{C40F3942-E490-4645-9A4F-1443E4CE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691640"/>
            <a:ext cx="3200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Cache invalidation &amp; search index sync</a:t>
            </a:r>
          </a:p>
        </p:txBody>
      </p:sp>
      <p:pic>
        <p:nvPicPr>
          <p:cNvPr id="7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13dedde084fff"/>
          <a:stretch xmlns:a="http://schemas.openxmlformats.org/drawingml/2006/main"/>
        </p:blipFill>
        <p:spPr>
          <a:xfrm xmlns:a="http://schemas.openxmlformats.org/drawingml/2006/main">
            <a:off x="5486400" y="2103120"/>
            <a:ext cx="273960" cy="273960"/>
          </a:xfrm>
          <a:prstGeom xmlns:a="http://schemas.openxmlformats.org/drawingml/2006/main" prst="rect">
            <a:avLst/>
          </a:prstGeom>
        </p:spPr>
      </p:pic>
      <p:sp>
        <p:nvSpPr>
          <p:cNvPr id="75" name="Text 7">
            <a:extLst xmlns:a="http://schemas.openxmlformats.org/drawingml/2006/main">
              <a:ext uri="{FF2B5EF4-FFF2-40B4-BE49-F238E27FC236}">
                <a16:creationId xmlns:a16="http://schemas.microsoft.com/office/drawing/2014/main" id="{177A1755-4150-45E9-A7A9-0E28E656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148840"/>
            <a:ext cx="3200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Microservices integration &amp; outbox pattern</a:t>
            </a:r>
          </a:p>
        </p:txBody>
      </p:sp>
      <p:pic>
        <p:nvPicPr>
          <p:cNvPr id="76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13dedde084fff"/>
          <a:stretch xmlns:a="http://schemas.openxmlformats.org/drawingml/2006/main"/>
        </p:blipFill>
        <p:spPr>
          <a:xfrm xmlns:a="http://schemas.openxmlformats.org/drawingml/2006/main">
            <a:off x="5486400" y="2560320"/>
            <a:ext cx="273960" cy="273960"/>
          </a:xfrm>
          <a:prstGeom xmlns:a="http://schemas.openxmlformats.org/drawingml/2006/main" prst="rect">
            <a:avLst/>
          </a:prstGeom>
        </p:spPr>
      </p:pic>
      <p:sp>
        <p:nvSpPr>
          <p:cNvPr id="77" name="Text 8">
            <a:extLst xmlns:a="http://schemas.openxmlformats.org/drawingml/2006/main">
              <a:ext uri="{FF2B5EF4-FFF2-40B4-BE49-F238E27FC236}">
                <a16:creationId xmlns:a16="http://schemas.microsoft.com/office/drawing/2014/main" id="{9D14F3A1-ED02-47B8-86CB-E84AB4F4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606040"/>
            <a:ext cx="320004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Zero‑downtime migrations</a:t>
            </a:r>
          </a:p>
        </p:txBody>
      </p:sp>
      <p:sp>
        <p:nvSpPr>
          <p:cNvPr id="78" name="Text 9">
            <a:extLst xmlns:a="http://schemas.openxmlformats.org/drawingml/2006/main">
              <a:ext uri="{FF2B5EF4-FFF2-40B4-BE49-F238E27FC236}">
                <a16:creationId xmlns:a16="http://schemas.microsoft.com/office/drawing/2014/main" id="{39E20D5A-C809-40B1-B233-6519D9F9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6342bb7cadb4462e"/>
              </a:rPr>
              <a:t>[1]</a:t>
            </a:r>
            <a:r>
              <a:rPr sz="700" b="0" u="none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7febbfdb19f4ff5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4437683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Text 0">
            <a:extLst xmlns:a="http://schemas.openxmlformats.org/drawingml/2006/main">
              <a:ext uri="{FF2B5EF4-FFF2-40B4-BE49-F238E27FC236}">
                <a16:creationId xmlns:a16="http://schemas.microsoft.com/office/drawing/2014/main" id="{82F34700-C4D4-4E4E-9388-E8344CEB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Mini Exercise 1: Identify the CDC Method</a:t>
            </a:r>
          </a:p>
        </p:txBody>
      </p:sp>
      <p:sp>
        <p:nvSpPr>
          <p:cNvPr id="80" name="Text 1">
            <a:extLst xmlns:a="http://schemas.openxmlformats.org/drawingml/2006/main">
              <a:ext uri="{FF2B5EF4-FFF2-40B4-BE49-F238E27FC236}">
                <a16:creationId xmlns:a16="http://schemas.microsoft.com/office/drawing/2014/main" id="{4D57C989-A279-49D7-9AF3-9243694E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822924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You will see three scenarios below. For each, decide whether it is best implemented using a query‑based, trigger‑based, or log‑based CDC method.</a:t>
            </a:r>
          </a:p>
        </p:txBody>
      </p:sp>
      <p:sp>
        <p:nvSpPr>
          <p:cNvPr id="81" name="Text 2">
            <a:extLst xmlns:a="http://schemas.openxmlformats.org/drawingml/2006/main">
              <a:ext uri="{FF2B5EF4-FFF2-40B4-BE49-F238E27FC236}">
                <a16:creationId xmlns:a16="http://schemas.microsoft.com/office/drawing/2014/main" id="{B43BECF8-01E8-4B66-B9F4-CCB8DE25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11680"/>
            <a:ext cx="82292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A. A legacy database cannot be modified, but you need to capture deletes.</a:t>
            </a:r>
          </a:p>
        </p:txBody>
      </p:sp>
      <p:sp>
        <p:nvSpPr>
          <p:cNvPr id="82" name="Text 3">
            <a:extLst xmlns:a="http://schemas.openxmlformats.org/drawingml/2006/main">
              <a:ext uri="{FF2B5EF4-FFF2-40B4-BE49-F238E27FC236}">
                <a16:creationId xmlns:a16="http://schemas.microsoft.com/office/drawing/2014/main" id="{8150AD44-D30E-4C21-A096-CB5BD246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468880"/>
            <a:ext cx="82292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B. You only need to track inserts and updates for a small table once a day.</a:t>
            </a:r>
          </a:p>
        </p:txBody>
      </p:sp>
      <p:sp>
        <p:nvSpPr>
          <p:cNvPr id="83" name="Text 4">
            <a:extLst xmlns:a="http://schemas.openxmlformats.org/drawingml/2006/main">
              <a:ext uri="{FF2B5EF4-FFF2-40B4-BE49-F238E27FC236}">
                <a16:creationId xmlns:a16="http://schemas.microsoft.com/office/drawing/2014/main" id="{40E60394-2C3A-4E9B-82B1-C559E90F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26080"/>
            <a:ext cx="82292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C. A high‑volume transactional database where ordering of events matters.</a:t>
            </a:r>
          </a:p>
        </p:txBody>
      </p:sp>
      <p:sp>
        <p:nvSpPr>
          <p:cNvPr id="84" name="Text 5">
            <a:extLst xmlns:a="http://schemas.openxmlformats.org/drawingml/2006/main">
              <a:ext uri="{FF2B5EF4-FFF2-40B4-BE49-F238E27FC236}">
                <a16:creationId xmlns:a16="http://schemas.microsoft.com/office/drawing/2014/main" id="{717F71AD-4A26-404C-99E3-4B5C4DD0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i="1" u="none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Discuss with your group and share your answers!</a:t>
            </a:r>
          </a:p>
        </p:txBody>
      </p:sp>
      <p:sp>
        <p:nvSpPr>
          <p:cNvPr id="85" name="Text 6">
            <a:extLst xmlns:a="http://schemas.openxmlformats.org/drawingml/2006/main">
              <a:ext uri="{FF2B5EF4-FFF2-40B4-BE49-F238E27FC236}">
                <a16:creationId xmlns:a16="http://schemas.microsoft.com/office/drawing/2014/main" id="{19B3C7DC-4793-4792-B346-1C4513BA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2c4e61913d004ec2"/>
              </a:rPr>
              <a:t>[1]</a:t>
            </a:r>
            <a:r>
              <a:rPr sz="700" b="0" u="none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2de7706894304163"/>
              </a:rPr>
              <a:t>[2]</a:t>
            </a:r>
            <a:r>
              <a:rPr sz="700" b="0" u="none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c4406a4139164ee2"/>
              </a:rPr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4965717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Text 0">
            <a:extLst xmlns:a="http://schemas.openxmlformats.org/drawingml/2006/main">
              <a:ext uri="{FF2B5EF4-FFF2-40B4-BE49-F238E27FC236}">
                <a16:creationId xmlns:a16="http://schemas.microsoft.com/office/drawing/2014/main" id="{F23C65FD-FCE3-45A9-9C0D-2C00491F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2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Debezium Overview &amp; Pipeline</a:t>
            </a:r>
          </a:p>
        </p:txBody>
      </p:sp>
      <p:sp>
        <p:nvSpPr>
          <p:cNvPr id="87" name="Text 1">
            <a:extLst xmlns:a="http://schemas.openxmlformats.org/drawingml/2006/main">
              <a:ext uri="{FF2B5EF4-FFF2-40B4-BE49-F238E27FC236}">
                <a16:creationId xmlns:a16="http://schemas.microsoft.com/office/drawing/2014/main" id="{7704DCC4-6401-4D30-BF4D-71ED91AB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5028840" cy="228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Debezium is an open‑source platform that captures row‑level changes from databases and streams them via Kafka.</a:t>
            </a:r>
          </a:p>
          <a:p xmlns:a="http://schemas.openxmlformats.org/drawingml/2006/main"/>
          <a:p xmlns:a="http://schemas.openxmlformats.org/drawingml/2006/main"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It reads transaction logs (WAL/binlog) instead of querying tables, producing events with consistent ordering.</a:t>
            </a:r>
          </a:p>
          <a:p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Events contain before/after values, metadata and operation type, enabling downstream services to react.</a:t>
            </a:r>
          </a:p>
        </p:txBody>
      </p:sp>
      <p:pic>
        <p:nvPicPr>
          <p:cNvPr id="8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30ab97e28646c0"/>
          <a:stretch xmlns:a="http://schemas.openxmlformats.org/drawingml/2006/main"/>
        </p:blipFill>
        <p:spPr>
          <a:xfrm xmlns:a="http://schemas.openxmlformats.org/drawingml/2006/main">
            <a:off x="5577840" y="1097280"/>
            <a:ext cx="3200040" cy="2285640"/>
          </a:xfrm>
          <a:prstGeom xmlns:a="http://schemas.openxmlformats.org/drawingml/2006/main" prst="rect">
            <a:avLst/>
          </a:prstGeom>
        </p:spPr>
      </p:pic>
      <p:sp>
        <p:nvSpPr>
          <p:cNvPr id="89" name="Text 2">
            <a:extLst xmlns:a="http://schemas.openxmlformats.org/drawingml/2006/main">
              <a:ext uri="{FF2B5EF4-FFF2-40B4-BE49-F238E27FC236}">
                <a16:creationId xmlns:a16="http://schemas.microsoft.com/office/drawing/2014/main" id="{BCF8EC6C-1097-4F0E-8AF1-60F2473F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6859cfd9a7ce4278"/>
              </a:rPr>
              <a:t>[1]</a:t>
            </a:r>
            <a:r>
              <a:rPr sz="700" b="0" u="none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bcfe99274b94563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18966202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Text 0">
            <a:extLst xmlns:a="http://schemas.openxmlformats.org/drawingml/2006/main">
              <a:ext uri="{FF2B5EF4-FFF2-40B4-BE49-F238E27FC236}">
                <a16:creationId xmlns:a16="http://schemas.microsoft.com/office/drawing/2014/main" id="{D4DB6285-D4D4-420D-8A5B-0342F5E5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2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Debezium Architecture Diagram</a:t>
            </a:r>
          </a:p>
        </p:txBody>
      </p:sp>
      <p:sp>
        <p:nvSpPr>
          <p:cNvPr id="91" name="Text 1">
            <a:extLst xmlns:a="http://schemas.openxmlformats.org/drawingml/2006/main">
              <a:ext uri="{FF2B5EF4-FFF2-40B4-BE49-F238E27FC236}">
                <a16:creationId xmlns:a16="http://schemas.microsoft.com/office/drawing/2014/main" id="{19328BE0-F05B-4DA7-AEC2-04A8A2F9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000" y="1188720"/>
            <a:ext cx="3923640" cy="228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1. Source connectors tail transaction logs from DBs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2. Kafka Connect executes connectors &amp; persists offsets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3. Events written to Kafka topics (one per table or pattern)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4. Sink connectors &amp; consumers deliver events to targets</a:t>
            </a:r>
          </a:p>
        </p:txBody>
      </p:sp>
      <p:sp>
        <p:nvSpPr>
          <p:cNvPr id="92" name="Text 2">
            <a:extLst xmlns:a="http://schemas.openxmlformats.org/drawingml/2006/main">
              <a:ext uri="{FF2B5EF4-FFF2-40B4-BE49-F238E27FC236}">
                <a16:creationId xmlns:a16="http://schemas.microsoft.com/office/drawing/2014/main" id="{5FC3AF18-5FF9-476F-AB9E-9A103DD8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97ad9d0c04f4116"/>
              </a:rPr>
              <a:t>[1]</a:t>
            </a:r>
          </a:p>
        </p:txBody>
      </p:sp>
      <p:pic>
        <p:nvPicPr>
          <p:cNvPr id="93" name="Picture 9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20192380c41bf"/>
          <a:srcRect xmlns:a="http://schemas.openxmlformats.org/drawingml/2006/main" l="0" t="0" r="-204" b="2728"/>
          <a:stretch xmlns:a="http://schemas.openxmlformats.org/drawingml/2006/main"/>
        </p:blipFill>
        <p:spPr>
          <a:xfrm xmlns:a="http://schemas.openxmlformats.org/drawingml/2006/main">
            <a:off x="72000" y="1188720"/>
            <a:ext cx="5039640" cy="22309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4300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Text 0">
            <a:extLst xmlns:a="http://schemas.openxmlformats.org/drawingml/2006/main">
              <a:ext uri="{FF2B5EF4-FFF2-40B4-BE49-F238E27FC236}">
                <a16:creationId xmlns:a16="http://schemas.microsoft.com/office/drawing/2014/main" id="{22C1BE17-68B7-4A1E-AF37-7E4143E9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2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Deployment Options &amp; Server</a:t>
            </a:r>
          </a:p>
        </p:txBody>
      </p:sp>
      <p:pic>
        <p:nvPicPr>
          <p:cNvPr id="9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b376c04894ab6"/>
          <a:stretch xmlns:a="http://schemas.openxmlformats.org/drawingml/2006/main"/>
        </p:blipFill>
        <p:spPr>
          <a:xfrm xmlns:a="http://schemas.openxmlformats.org/drawingml/2006/main">
            <a:off x="457200" y="1097280"/>
            <a:ext cx="4388760" cy="2377080"/>
          </a:xfrm>
          <a:prstGeom xmlns:a="http://schemas.openxmlformats.org/drawingml/2006/main" prst="rect">
            <a:avLst/>
          </a:prstGeom>
        </p:spPr>
      </p:pic>
      <p:sp>
        <p:nvSpPr>
          <p:cNvPr id="96" name="Text 1">
            <a:extLst xmlns:a="http://schemas.openxmlformats.org/drawingml/2006/main">
              <a:ext uri="{FF2B5EF4-FFF2-40B4-BE49-F238E27FC236}">
                <a16:creationId xmlns:a16="http://schemas.microsoft.com/office/drawing/2014/main" id="{3D842F90-71E9-4787-A5D2-947470BB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097280"/>
            <a:ext cx="4114440" cy="2377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Debezium Server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Streams events to other messaging systems (Kinesis, Pub/Sub, Pulsar)</a:t>
            </a:r>
          </a:p>
          <a:p xmlns:a="http://schemas.openxmlformats.org/drawingml/2006/main"/>
          <a:p xmlns:a="http://schemas.openxmlformats.org/drawingml/2006/main">
            <a:r>
              <a:rPr sz="14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Deployment Options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Embedded in application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Standalone server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Kafka Connect (enterprise use cases)</a:t>
            </a:r>
          </a:p>
        </p:txBody>
      </p:sp>
      <p:sp>
        <p:nvSpPr>
          <p:cNvPr id="97" name="Text 2">
            <a:extLst xmlns:a="http://schemas.openxmlformats.org/drawingml/2006/main">
              <a:ext uri="{FF2B5EF4-FFF2-40B4-BE49-F238E27FC236}">
                <a16:creationId xmlns:a16="http://schemas.microsoft.com/office/drawing/2014/main" id="{1E9DBB63-C70F-4370-914C-10892C16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76779cdbebb148e4"/>
              </a:rPr>
              <a:t>[1]</a:t>
            </a:r>
            <a:r>
              <a:rPr sz="700" b="0" u="none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30f709016c142f9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14028397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Text 0">
            <a:extLst xmlns:a="http://schemas.openxmlformats.org/drawingml/2006/main">
              <a:ext uri="{FF2B5EF4-FFF2-40B4-BE49-F238E27FC236}">
                <a16:creationId xmlns:a16="http://schemas.microsoft.com/office/drawing/2014/main" id="{01B3F838-709D-454F-9FD0-B19AB36B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2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Events &amp; Snapshot Modes</a:t>
            </a:r>
          </a:p>
        </p:txBody>
      </p:sp>
      <p:sp>
        <p:nvSpPr>
          <p:cNvPr id="99" name="Text 1">
            <a:extLst xmlns:a="http://schemas.openxmlformats.org/drawingml/2006/main">
              <a:ext uri="{FF2B5EF4-FFF2-40B4-BE49-F238E27FC236}">
                <a16:creationId xmlns:a16="http://schemas.microsoft.com/office/drawing/2014/main" id="{02899CA9-6404-483F-89E5-B2B2DDE9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4297320" cy="2285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 b="0" u="none">
                <a:solidFill>
                  <a:srgbClr val="444444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 b="0" u="none">
                <a:solidFill>
                  <a:srgbClr val="444444"/>
                </a:solidFill>
                <a:latin typeface="Consolas"/>
                <a:ea typeface="Consolas"/>
                <a:cs typeface="Consolas"/>
              </a:rPr>
              <a:t>  "before": { "id": 1, "name": "Alice" },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 b="0" u="none">
                <a:solidFill>
                  <a:srgbClr val="444444"/>
                </a:solidFill>
                <a:latin typeface="Consolas"/>
                <a:ea typeface="Consolas"/>
                <a:cs typeface="Consolas"/>
              </a:rPr>
              <a:t>  "after": { "id": 1, "name": "Alicia" },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 b="0" u="none">
                <a:solidFill>
                  <a:srgbClr val="444444"/>
                </a:solidFill>
                <a:latin typeface="Consolas"/>
                <a:ea typeface="Consolas"/>
                <a:cs typeface="Consolas"/>
              </a:rPr>
              <a:t>  "source": { "db": "inventory", "table": "customers" },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 b="0" u="none">
                <a:solidFill>
                  <a:srgbClr val="444444"/>
                </a:solidFill>
                <a:latin typeface="Consolas"/>
                <a:ea typeface="Consolas"/>
                <a:cs typeface="Consolas"/>
              </a:rPr>
              <a:t>  "op": "u",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 b="0" u="none">
                <a:solidFill>
                  <a:srgbClr val="444444"/>
                </a:solidFill>
                <a:latin typeface="Consolas"/>
                <a:ea typeface="Consolas"/>
                <a:cs typeface="Consolas"/>
              </a:rPr>
              <a:t>  "ts_ms": 1680023456789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 b="0" u="none">
                <a:solidFill>
                  <a:srgbClr val="44444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0" name="Text 2">
            <a:extLst xmlns:a="http://schemas.openxmlformats.org/drawingml/2006/main">
              <a:ext uri="{FF2B5EF4-FFF2-40B4-BE49-F238E27FC236}">
                <a16:creationId xmlns:a16="http://schemas.microsoft.com/office/drawing/2014/main" id="{6F4AFE3E-91C4-4D0E-86A9-4B982D4A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188720"/>
            <a:ext cx="4114440" cy="228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Event Fields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before / after: row state around the commit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source: database, table and log position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op: r=snapshot, c=create, u=update, d=delete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ts_ms: connector processing timestamp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14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Snapshot Behaviour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initial: baseline snapshot only when no stored offset exists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no_data: skip table snapshot and stream new log changes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incremental: initiated later through a Debezium signal while streaming continues</a:t>
            </a:r>
          </a:p>
        </p:txBody>
      </p:sp>
      <p:sp>
        <p:nvSpPr>
          <p:cNvPr id="101" name="Text 3">
            <a:extLst xmlns:a="http://schemas.openxmlformats.org/drawingml/2006/main">
              <a:ext uri="{FF2B5EF4-FFF2-40B4-BE49-F238E27FC236}">
                <a16:creationId xmlns:a16="http://schemas.microsoft.com/office/drawing/2014/main" id="{121D0268-38E6-4F99-84D1-32FE8F1A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3f50ee9f199e476b"/>
              </a:rPr>
              <a:t>[1]</a:t>
            </a:r>
            <a:r>
              <a:rPr sz="700" b="0" u="none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213c4a0472984904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7599708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Text 0">
            <a:extLst xmlns:a="http://schemas.openxmlformats.org/drawingml/2006/main">
              <a:ext uri="{FF2B5EF4-FFF2-40B4-BE49-F238E27FC236}">
                <a16:creationId xmlns:a16="http://schemas.microsoft.com/office/drawing/2014/main" id="{55566136-7B92-483C-B752-4ED8830D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2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Durability &amp; Fault Tolerance</a:t>
            </a:r>
          </a:p>
        </p:txBody>
      </p:sp>
      <p:sp>
        <p:nvSpPr>
          <p:cNvPr id="103" name="Text 1">
            <a:extLst xmlns:a="http://schemas.openxmlformats.org/drawingml/2006/main">
              <a:ext uri="{FF2B5EF4-FFF2-40B4-BE49-F238E27FC236}">
                <a16:creationId xmlns:a16="http://schemas.microsoft.com/office/drawing/2014/main" id="{93C67850-1CC3-426A-8395-F88CB84C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5028840" cy="228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Kafka Connect stores connector offsets so Debezium can resume after restart</a:t>
            </a:r>
          </a:p>
          <a:p xmlns:a="http://schemas.openxmlformats.org/drawingml/2006/main"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A restart can redeliver records around recovery; downstream writes should be idempotent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Heartbeats help advance WAL positions during quiet tables</a:t>
            </a:r>
          </a:p>
        </p:txBody>
      </p:sp>
      <p:sp>
        <p:nvSpPr>
          <p:cNvPr id="104" name="Text 2">
            <a:extLst xmlns:a="http://schemas.openxmlformats.org/drawingml/2006/main">
              <a:ext uri="{FF2B5EF4-FFF2-40B4-BE49-F238E27FC236}">
                <a16:creationId xmlns:a16="http://schemas.microsoft.com/office/drawing/2014/main" id="{A6B61D53-A87F-4AAF-ABE7-0865C640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188720"/>
            <a:ext cx="3840120" cy="228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Initial snapshot records use op=r; subsequent committed changes stream from WAL</a:t>
            </a:r>
          </a:p>
          <a:p xmlns:a="http://schemas.openxmlformats.org/drawingml/2006/main"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Incremental snapshots run in chunks when triggered through signaling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Monitor connector status, lag, slot health and failed tasks</a:t>
            </a:r>
          </a:p>
        </p:txBody>
      </p:sp>
      <p:sp>
        <p:nvSpPr>
          <p:cNvPr id="105" name="Text 3">
            <a:extLst xmlns:a="http://schemas.openxmlformats.org/drawingml/2006/main">
              <a:ext uri="{FF2B5EF4-FFF2-40B4-BE49-F238E27FC236}">
                <a16:creationId xmlns:a16="http://schemas.microsoft.com/office/drawing/2014/main" id="{E78090DC-877B-467F-837A-5BC5EA1F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4fbdc8e8d5ca4940"/>
              </a:rPr>
              <a:t>[1]</a:t>
            </a:r>
            <a:r>
              <a:rPr sz="700" b="0" u="none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0b2af4d8f43a4e50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19274949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Text 0">
            <a:extLst xmlns:a="http://schemas.openxmlformats.org/drawingml/2006/main">
              <a:ext uri="{FF2B5EF4-FFF2-40B4-BE49-F238E27FC236}">
                <a16:creationId xmlns:a16="http://schemas.microsoft.com/office/drawing/2014/main" id="{1DF56B6E-9E07-427E-A449-047A1051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Mini Exercise 2: Decoding an Event</a:t>
            </a:r>
          </a:p>
        </p:txBody>
      </p:sp>
      <p:sp>
        <p:nvSpPr>
          <p:cNvPr id="107" name="Text 1">
            <a:extLst xmlns:a="http://schemas.openxmlformats.org/drawingml/2006/main">
              <a:ext uri="{FF2B5EF4-FFF2-40B4-BE49-F238E27FC236}">
                <a16:creationId xmlns:a16="http://schemas.microsoft.com/office/drawing/2014/main" id="{CA1793BB-8AE8-41C0-B052-244AEBE7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8229240" cy="731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Examine the following event JSON and answer: what operation occurred, and which fields changed?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</a:p>
        </p:txBody>
      </p:sp>
      <p:sp>
        <p:nvSpPr>
          <p:cNvPr id="108" name="Text 2">
            <a:extLst xmlns:a="http://schemas.openxmlformats.org/drawingml/2006/main">
              <a:ext uri="{FF2B5EF4-FFF2-40B4-BE49-F238E27FC236}">
                <a16:creationId xmlns:a16="http://schemas.microsoft.com/office/drawing/2014/main" id="{2A41AE1F-9C70-4338-A1D3-663BE475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4571640" cy="2102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 b="0" u="none">
                <a:solidFill>
                  <a:srgbClr val="444444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 b="0" u="none">
                <a:solidFill>
                  <a:srgbClr val="444444"/>
                </a:solidFill>
                <a:latin typeface="Consolas"/>
                <a:ea typeface="Consolas"/>
                <a:cs typeface="Consolas"/>
              </a:rPr>
              <a:t>  "before": { "id": 3, "balance": 200 },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 b="0" u="none">
                <a:solidFill>
                  <a:srgbClr val="444444"/>
                </a:solidFill>
                <a:latin typeface="Consolas"/>
                <a:ea typeface="Consolas"/>
                <a:cs typeface="Consolas"/>
              </a:rPr>
              <a:t>  "after": { "id": 3, "balance": 250 },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 b="0" u="none">
                <a:solidFill>
                  <a:srgbClr val="444444"/>
                </a:solidFill>
                <a:latin typeface="Consolas"/>
                <a:ea typeface="Consolas"/>
                <a:cs typeface="Consolas"/>
              </a:rPr>
              <a:t>  "source": { "db": "bank", "table": "accounts" },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 b="0" u="none">
                <a:solidFill>
                  <a:srgbClr val="444444"/>
                </a:solidFill>
                <a:latin typeface="Consolas"/>
                <a:ea typeface="Consolas"/>
                <a:cs typeface="Consolas"/>
              </a:rPr>
              <a:t>  "op": "u",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 b="0" u="none">
                <a:solidFill>
                  <a:srgbClr val="444444"/>
                </a:solidFill>
                <a:latin typeface="Consolas"/>
                <a:ea typeface="Consolas"/>
                <a:cs typeface="Consolas"/>
              </a:rPr>
              <a:t>  "ts_ms": 1680023459999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 b="0" u="none">
                <a:solidFill>
                  <a:srgbClr val="44444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9" name="Text 3">
            <a:extLst xmlns:a="http://schemas.openxmlformats.org/drawingml/2006/main">
              <a:ext uri="{FF2B5EF4-FFF2-40B4-BE49-F238E27FC236}">
                <a16:creationId xmlns:a16="http://schemas.microsoft.com/office/drawing/2014/main" id="{732F67B6-DEF7-4E24-A05A-48EABDA1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920240"/>
            <a:ext cx="3200040" cy="2102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i="1" u="none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Discuss with your partner and share your findings.</a:t>
            </a:r>
          </a:p>
        </p:txBody>
      </p:sp>
      <p:sp>
        <p:nvSpPr>
          <p:cNvPr id="110" name="Text 4">
            <a:extLst xmlns:a="http://schemas.openxmlformats.org/drawingml/2006/main">
              <a:ext uri="{FF2B5EF4-FFF2-40B4-BE49-F238E27FC236}">
                <a16:creationId xmlns:a16="http://schemas.microsoft.com/office/drawing/2014/main" id="{C067EBB4-AC65-454D-9B76-D37A279C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7a520e85fec24fad"/>
              </a:rPr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20147251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" name="Text 0">
            <a:extLst xmlns:a="http://schemas.openxmlformats.org/drawingml/2006/main">
              <a:ext uri="{FF2B5EF4-FFF2-40B4-BE49-F238E27FC236}">
                <a16:creationId xmlns:a16="http://schemas.microsoft.com/office/drawing/2014/main" id="{32FFCA69-1AE7-44BD-8DCE-1DAD9257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2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Debezium Connector Landscape</a:t>
            </a:r>
          </a:p>
        </p:txBody>
      </p:sp>
      <p:sp>
        <p:nvSpPr>
          <p:cNvPr id="112" name="Shape 1">
            <a:extLst xmlns:a="http://schemas.openxmlformats.org/drawingml/2006/main">
              <a:ext uri="{FF2B5EF4-FFF2-40B4-BE49-F238E27FC236}">
                <a16:creationId xmlns:a16="http://schemas.microsoft.com/office/drawing/2014/main" id="{9B01319F-26AA-4E7C-814D-E87113D8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80160"/>
            <a:ext cx="8229240" cy="45684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BE9E7"/>
          </a:solidFill>
          <a:ln xmlns:a="http://schemas.openxmlformats.org/drawingml/2006/main" w="12700">
            <a:solidFill>
              <a:srgbClr val="DD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3" name="Text 2">
            <a:extLst xmlns:a="http://schemas.openxmlformats.org/drawingml/2006/main">
              <a:ext uri="{FF2B5EF4-FFF2-40B4-BE49-F238E27FC236}">
                <a16:creationId xmlns:a16="http://schemas.microsoft.com/office/drawing/2014/main" id="{5E3B2FA5-8817-4ACA-8421-439341F8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80463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MySQL: </a:t>
            </a:r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Reads MySQL binlog; supports GTID and TTL; needs replica user</a:t>
            </a:r>
          </a:p>
        </p:txBody>
      </p:sp>
      <p:sp>
        <p:nvSpPr>
          <p:cNvPr id="114" name="Shape 3">
            <a:extLst xmlns:a="http://schemas.openxmlformats.org/drawingml/2006/main">
              <a:ext uri="{FF2B5EF4-FFF2-40B4-BE49-F238E27FC236}">
                <a16:creationId xmlns:a16="http://schemas.microsoft.com/office/drawing/2014/main" id="{A9940D0D-E1FE-4E90-AB16-087B631C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3080"/>
            <a:ext cx="8229240" cy="45684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EAF6"/>
          </a:solidFill>
          <a:ln xmlns:a="http://schemas.openxmlformats.org/drawingml/2006/main" w="12700">
            <a:solidFill>
              <a:srgbClr val="DD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5" name="Text 4">
            <a:extLst xmlns:a="http://schemas.openxmlformats.org/drawingml/2006/main">
              <a:ext uri="{FF2B5EF4-FFF2-40B4-BE49-F238E27FC236}">
                <a16:creationId xmlns:a16="http://schemas.microsoft.com/office/drawing/2014/main" id="{D9E05212-4C6E-428F-94D3-71E07C65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74520"/>
            <a:ext cx="80463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PostgreSQL: </a:t>
            </a:r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Uses logical replication (WAL); supports slot &amp; publication</a:t>
            </a:r>
          </a:p>
        </p:txBody>
      </p:sp>
      <p:sp>
        <p:nvSpPr>
          <p:cNvPr id="116" name="Shape 5">
            <a:extLst xmlns:a="http://schemas.openxmlformats.org/drawingml/2006/main">
              <a:ext uri="{FF2B5EF4-FFF2-40B4-BE49-F238E27FC236}">
                <a16:creationId xmlns:a16="http://schemas.microsoft.com/office/drawing/2014/main" id="{0D53FBB1-65A0-4EFD-B792-2B366694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8229240" cy="45684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DE7"/>
          </a:solidFill>
          <a:ln xmlns:a="http://schemas.openxmlformats.org/drawingml/2006/main" w="12700">
            <a:solidFill>
              <a:srgbClr val="DD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7" name="Text 6">
            <a:extLst xmlns:a="http://schemas.openxmlformats.org/drawingml/2006/main">
              <a:ext uri="{FF2B5EF4-FFF2-40B4-BE49-F238E27FC236}">
                <a16:creationId xmlns:a16="http://schemas.microsoft.com/office/drawing/2014/main" id="{B9327120-9304-4EEE-9CFD-0827B020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80463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SQL Server: </a:t>
            </a:r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Uses SQL Server CDC; requires enabling CDC on tables</a:t>
            </a:r>
          </a:p>
        </p:txBody>
      </p:sp>
      <p:sp>
        <p:nvSpPr>
          <p:cNvPr id="118" name="Shape 7">
            <a:extLst xmlns:a="http://schemas.openxmlformats.org/drawingml/2006/main">
              <a:ext uri="{FF2B5EF4-FFF2-40B4-BE49-F238E27FC236}">
                <a16:creationId xmlns:a16="http://schemas.microsoft.com/office/drawing/2014/main" id="{349BB1E4-4119-4DEA-A1FC-DF30B72E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8920"/>
            <a:ext cx="8229240" cy="45684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F5E9"/>
          </a:solidFill>
          <a:ln xmlns:a="http://schemas.openxmlformats.org/drawingml/2006/main" w="12700">
            <a:solidFill>
              <a:srgbClr val="DD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9" name="Text 8">
            <a:extLst xmlns:a="http://schemas.openxmlformats.org/drawingml/2006/main">
              <a:ext uri="{FF2B5EF4-FFF2-40B4-BE49-F238E27FC236}">
                <a16:creationId xmlns:a16="http://schemas.microsoft.com/office/drawing/2014/main" id="{15108FE1-4E87-4492-9C9A-807156A0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80360"/>
            <a:ext cx="80463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Oracle: </a:t>
            </a:r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Uses LogMiner; container or library; additional license</a:t>
            </a:r>
          </a:p>
        </p:txBody>
      </p:sp>
      <p:sp>
        <p:nvSpPr>
          <p:cNvPr id="120" name="Shape 9">
            <a:extLst xmlns:a="http://schemas.openxmlformats.org/drawingml/2006/main">
              <a:ext uri="{FF2B5EF4-FFF2-40B4-BE49-F238E27FC236}">
                <a16:creationId xmlns:a16="http://schemas.microsoft.com/office/drawing/2014/main" id="{3FFCF0E0-821E-48BB-8144-41C96445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1840"/>
            <a:ext cx="8229240" cy="45684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3E5F5"/>
          </a:solidFill>
          <a:ln xmlns:a="http://schemas.openxmlformats.org/drawingml/2006/main" w="12700">
            <a:solidFill>
              <a:srgbClr val="DDDDD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1" name="Text 10">
            <a:extLst xmlns:a="http://schemas.openxmlformats.org/drawingml/2006/main">
              <a:ext uri="{FF2B5EF4-FFF2-40B4-BE49-F238E27FC236}">
                <a16:creationId xmlns:a16="http://schemas.microsoft.com/office/drawing/2014/main" id="{62DA122D-A92B-4299-AB87-FC65F577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83280"/>
            <a:ext cx="8046360" cy="27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MongoDB: </a:t>
            </a:r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Tails the Oplog; supports change streams; no schema</a:t>
            </a:r>
          </a:p>
        </p:txBody>
      </p:sp>
      <p:sp>
        <p:nvSpPr>
          <p:cNvPr id="122" name="Text 11">
            <a:extLst xmlns:a="http://schemas.openxmlformats.org/drawingml/2006/main">
              <a:ext uri="{FF2B5EF4-FFF2-40B4-BE49-F238E27FC236}">
                <a16:creationId xmlns:a16="http://schemas.microsoft.com/office/drawing/2014/main" id="{C3BB0428-6843-4F0C-A303-F0ACE433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046b62e5a2a04527"/>
              </a:rPr>
              <a:t>[1]</a:t>
            </a:r>
            <a:r>
              <a:rPr sz="700" b="0" u="none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0f553485c0e48e9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4540861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Text 0">
            <a:extLst xmlns:a="http://schemas.openxmlformats.org/drawingml/2006/main">
              <a:ext uri="{FF2B5EF4-FFF2-40B4-BE49-F238E27FC236}">
                <a16:creationId xmlns:a16="http://schemas.microsoft.com/office/drawing/2014/main" id="{1DB7896D-C4F8-4F76-A67C-B8FD0355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2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MySQL &amp; PostgreSQL Connectors</a:t>
            </a:r>
          </a:p>
        </p:txBody>
      </p:sp>
      <p:sp>
        <p:nvSpPr>
          <p:cNvPr id="124" name="Shape 1">
            <a:extLst xmlns:a="http://schemas.openxmlformats.org/drawingml/2006/main">
              <a:ext uri="{FF2B5EF4-FFF2-40B4-BE49-F238E27FC236}">
                <a16:creationId xmlns:a16="http://schemas.microsoft.com/office/drawing/2014/main" id="{62FB6806-11F0-44E0-B645-D102F9D4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4114440" cy="2194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CCCC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5" name="Text 2">
            <a:extLst xmlns:a="http://schemas.openxmlformats.org/drawingml/2006/main">
              <a:ext uri="{FF2B5EF4-FFF2-40B4-BE49-F238E27FC236}">
                <a16:creationId xmlns:a16="http://schemas.microsoft.com/office/drawing/2014/main" id="{1858E3EA-0C8C-4D9E-8877-D2AA0064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88720"/>
            <a:ext cx="3931560" cy="201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MySQL Connector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Tails the MySQL binlog (row/statement/mixed mode)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Supports GTID, failover, timezone handling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Requires replication user &amp; binlog format ROW</a:t>
            </a:r>
          </a:p>
        </p:txBody>
      </p:sp>
      <p:sp>
        <p:nvSpPr>
          <p:cNvPr id="126" name="Shape 3">
            <a:extLst xmlns:a="http://schemas.openxmlformats.org/drawingml/2006/main">
              <a:ext uri="{FF2B5EF4-FFF2-40B4-BE49-F238E27FC236}">
                <a16:creationId xmlns:a16="http://schemas.microsoft.com/office/drawing/2014/main" id="{714AFBF6-3B4A-488C-90D2-AF7B783F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097280"/>
            <a:ext cx="4114440" cy="2194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CCCC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7" name="Text 4">
            <a:extLst xmlns:a="http://schemas.openxmlformats.org/drawingml/2006/main">
              <a:ext uri="{FF2B5EF4-FFF2-40B4-BE49-F238E27FC236}">
                <a16:creationId xmlns:a16="http://schemas.microsoft.com/office/drawing/2014/main" id="{AEC833F2-B810-457E-8753-15F286C1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188720"/>
            <a:ext cx="3931560" cy="201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PostgreSQL Connector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Uses logical replication publications &amp; slots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Requires slot &amp; publication privileges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Supports incremental snapshots &amp; table filtering</a:t>
            </a:r>
          </a:p>
        </p:txBody>
      </p:sp>
      <p:sp>
        <p:nvSpPr>
          <p:cNvPr id="128" name="Text 5">
            <a:extLst xmlns:a="http://schemas.openxmlformats.org/drawingml/2006/main">
              <a:ext uri="{FF2B5EF4-FFF2-40B4-BE49-F238E27FC236}">
                <a16:creationId xmlns:a16="http://schemas.microsoft.com/office/drawing/2014/main" id="{6D44F178-9BB3-4237-A67E-4EFB4DA3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c6ab403c27064752"/>
              </a:rPr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21172441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9" name="Text 0">
            <a:extLst xmlns:a="http://schemas.openxmlformats.org/drawingml/2006/main">
              <a:ext uri="{FF2B5EF4-FFF2-40B4-BE49-F238E27FC236}">
                <a16:creationId xmlns:a16="http://schemas.microsoft.com/office/drawing/2014/main" id="{AC611D98-3827-470E-ADDF-5B7FF5BE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2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Other Database Connectors</a:t>
            </a:r>
          </a:p>
        </p:txBody>
      </p:sp>
      <p:sp>
        <p:nvSpPr>
          <p:cNvPr id="130" name="Text 1">
            <a:extLst xmlns:a="http://schemas.openxmlformats.org/drawingml/2006/main">
              <a:ext uri="{FF2B5EF4-FFF2-40B4-BE49-F238E27FC236}">
                <a16:creationId xmlns:a16="http://schemas.microsoft.com/office/drawing/2014/main" id="{F0672147-13A4-4404-BC7F-5FD85335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8229240" cy="201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SQL Server: Reads CDC tables, requires enabling CDC on each table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Oracle: Uses LogMiner and Mining server, supports RAC/ASM; licensing considerations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MongoDB: Tails the Oplog or Change Streams for replica sets and sharded clusters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Db2, Vitess: Support transaction log capture with similar semantics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</a:p>
        </p:txBody>
      </p:sp>
      <p:sp>
        <p:nvSpPr>
          <p:cNvPr id="131" name="Text 2">
            <a:extLst xmlns:a="http://schemas.openxmlformats.org/drawingml/2006/main">
              <a:ext uri="{FF2B5EF4-FFF2-40B4-BE49-F238E27FC236}">
                <a16:creationId xmlns:a16="http://schemas.microsoft.com/office/drawing/2014/main" id="{80BA8B4A-F4A6-460A-A69A-CCD37B94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8982c4a827884b73"/>
              </a:rPr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20523910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Text 0">
            <a:extLst xmlns:a="http://schemas.openxmlformats.org/drawingml/2006/main">
              <a:ext uri="{FF2B5EF4-FFF2-40B4-BE49-F238E27FC236}">
                <a16:creationId xmlns:a16="http://schemas.microsoft.com/office/drawing/2014/main" id="{B7D0BB30-14E1-4026-8EEA-C7638E1D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2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Sink Connectors &amp; Transforms</a:t>
            </a:r>
          </a:p>
        </p:txBody>
      </p:sp>
      <p:sp>
        <p:nvSpPr>
          <p:cNvPr id="133" name="Text 1">
            <a:extLst xmlns:a="http://schemas.openxmlformats.org/drawingml/2006/main">
              <a:ext uri="{FF2B5EF4-FFF2-40B4-BE49-F238E27FC236}">
                <a16:creationId xmlns:a16="http://schemas.microsoft.com/office/drawing/2014/main" id="{101CF108-12F9-4399-8CBF-E9315CDA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8229240" cy="219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Sink connectors deliver events to Elasticsearch, BigQuery, S3, Kinesis, etc.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Single Message Transforms (SMT) modify records: ExtractNewRecordState, UnwrapFromEnvelope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Topic routing transforms rename topics based on table or schema name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Heartbeat topics emit periodic messages to maintain offset progress</a:t>
            </a:r>
          </a:p>
        </p:txBody>
      </p:sp>
      <p:sp>
        <p:nvSpPr>
          <p:cNvPr id="134" name="Text 2">
            <a:extLst xmlns:a="http://schemas.openxmlformats.org/drawingml/2006/main">
              <a:ext uri="{FF2B5EF4-FFF2-40B4-BE49-F238E27FC236}">
                <a16:creationId xmlns:a16="http://schemas.microsoft.com/office/drawing/2014/main" id="{A2C6BD9E-E9E3-404F-BEB6-F0B670A4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f5011afb06646b8"/>
              </a:rPr>
              <a:t>[1]</a:t>
            </a:r>
            <a:r>
              <a:rPr sz="700" b="0" u="none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1927ad1cd734fe2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49576273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Text 0">
            <a:extLst xmlns:a="http://schemas.openxmlformats.org/drawingml/2006/main">
              <a:ext uri="{FF2B5EF4-FFF2-40B4-BE49-F238E27FC236}">
                <a16:creationId xmlns:a16="http://schemas.microsoft.com/office/drawing/2014/main" id="{C5BCD3AC-40A2-4A44-BB40-EE358A16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2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Advantages &amp; Limitations</a:t>
            </a:r>
          </a:p>
        </p:txBody>
      </p:sp>
      <p:sp>
        <p:nvSpPr>
          <p:cNvPr id="136" name="Shape 1">
            <a:extLst xmlns:a="http://schemas.openxmlformats.org/drawingml/2006/main">
              <a:ext uri="{FF2B5EF4-FFF2-40B4-BE49-F238E27FC236}">
                <a16:creationId xmlns:a16="http://schemas.microsoft.com/office/drawing/2014/main" id="{B14C2CAA-39D0-4A70-9F79-B49F0091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3931560" cy="246852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8F5E9"/>
          </a:solidFill>
          <a:ln xmlns:a="http://schemas.openxmlformats.org/drawingml/2006/main" w="12700">
            <a:solidFill>
              <a:srgbClr val="C8E6C9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37" name="Text 2">
            <a:extLst xmlns:a="http://schemas.openxmlformats.org/drawingml/2006/main">
              <a:ext uri="{FF2B5EF4-FFF2-40B4-BE49-F238E27FC236}">
                <a16:creationId xmlns:a16="http://schemas.microsoft.com/office/drawing/2014/main" id="{F8A132A1-F79A-4C2D-B4F9-4627092B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43000"/>
            <a:ext cx="3840120" cy="2377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 b="1" u="none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Pros</a:t>
            </a:r>
          </a:p>
          <a:p xmlns:a="http://schemas.openxmlformats.org/drawingml/2006/main">
            <a:r>
              <a:rPr sz="1100" b="0" u="none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• Log-based capture is efficient &amp; consistent</a:t>
            </a:r>
          </a:p>
          <a:p xmlns:a="http://schemas.openxmlformats.org/drawingml/2006/main">
            <a:r>
              <a:rPr sz="1100" b="0" u="none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• Supports snapshots &amp; incremental snapshots</a:t>
            </a:r>
          </a:p>
          <a:p xmlns:a="http://schemas.openxmlformats.org/drawingml/2006/main">
            <a:r>
              <a:rPr sz="1100" b="0" u="none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• Broad ecosystem of connectors &amp; SMT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00" b="0" u="none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• Compatible with Kafka Connect &amp; KRaft</a:t>
            </a:r>
          </a:p>
        </p:txBody>
      </p:sp>
      <p:sp>
        <p:nvSpPr>
          <p:cNvPr id="138" name="Shape 3">
            <a:extLst xmlns:a="http://schemas.openxmlformats.org/drawingml/2006/main">
              <a:ext uri="{FF2B5EF4-FFF2-40B4-BE49-F238E27FC236}">
                <a16:creationId xmlns:a16="http://schemas.microsoft.com/office/drawing/2014/main" id="{B4532AA3-F731-4CA4-9524-97DC4A7B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097280"/>
            <a:ext cx="3931560" cy="246852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EBEE"/>
          </a:solidFill>
          <a:ln xmlns:a="http://schemas.openxmlformats.org/drawingml/2006/main" w="12700">
            <a:solidFill>
              <a:srgbClr val="FFCDD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39" name="Text 4">
            <a:extLst xmlns:a="http://schemas.openxmlformats.org/drawingml/2006/main">
              <a:ext uri="{FF2B5EF4-FFF2-40B4-BE49-F238E27FC236}">
                <a16:creationId xmlns:a16="http://schemas.microsoft.com/office/drawing/2014/main" id="{088D033A-0E1D-4A19-919A-C40659BD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143000"/>
            <a:ext cx="3840120" cy="2377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 b="1" u="none">
                <a:solidFill>
                  <a:srgbClr val="B71C1C"/>
                </a:solidFill>
                <a:latin typeface="Calibri"/>
                <a:ea typeface="Calibri"/>
                <a:cs typeface="Calibri"/>
              </a:rPr>
              <a:t>Cons</a:t>
            </a:r>
          </a:p>
          <a:p xmlns:a="http://schemas.openxmlformats.org/drawingml/2006/main">
            <a:r>
              <a:rPr sz="1100" b="0" u="none">
                <a:solidFill>
                  <a:srgbClr val="B71C1C"/>
                </a:solidFill>
                <a:latin typeface="Calibri"/>
                <a:ea typeface="Calibri"/>
                <a:cs typeface="Calibri"/>
              </a:rPr>
              <a:t>• Requires DB log privileges (binlog/WAL)</a:t>
            </a:r>
          </a:p>
          <a:p xmlns:a="http://schemas.openxmlformats.org/drawingml/2006/main">
            <a:r>
              <a:rPr sz="1100" b="0" u="none">
                <a:solidFill>
                  <a:srgbClr val="B71C1C"/>
                </a:solidFill>
                <a:latin typeface="Calibri"/>
                <a:ea typeface="Calibri"/>
                <a:cs typeface="Calibri"/>
              </a:rPr>
              <a:t>• Heavy snapshots on large tables</a:t>
            </a:r>
          </a:p>
          <a:p xmlns:a="http://schemas.openxmlformats.org/drawingml/2006/main">
            <a:r>
              <a:rPr sz="1100" b="0" u="none">
                <a:solidFill>
                  <a:srgbClr val="B71C1C"/>
                </a:solidFill>
                <a:latin typeface="Calibri"/>
                <a:ea typeface="Calibri"/>
                <a:cs typeface="Calibri"/>
              </a:rPr>
              <a:t>• Limited DDL support; schema changes may break connectors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00" b="0" u="none">
                <a:solidFill>
                  <a:srgbClr val="B71C1C"/>
                </a:solidFill>
                <a:latin typeface="Calibri"/>
                <a:ea typeface="Calibri"/>
                <a:cs typeface="Calibri"/>
              </a:rPr>
              <a:t>• Complexity of deployment &amp; tuning</a:t>
            </a:r>
          </a:p>
        </p:txBody>
      </p:sp>
      <p:sp>
        <p:nvSpPr>
          <p:cNvPr id="140" name="Text 5">
            <a:extLst xmlns:a="http://schemas.openxmlformats.org/drawingml/2006/main">
              <a:ext uri="{FF2B5EF4-FFF2-40B4-BE49-F238E27FC236}">
                <a16:creationId xmlns:a16="http://schemas.microsoft.com/office/drawing/2014/main" id="{BC76DEE2-C9DA-49E4-A719-9314C96B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072a2edcff7a44bc"/>
              </a:rPr>
              <a:t>[1]</a:t>
            </a:r>
            <a:r>
              <a:rPr sz="700" b="0" u="none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4575594000144416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140094474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1" name="Text 0">
            <a:extLst xmlns:a="http://schemas.openxmlformats.org/drawingml/2006/main">
              <a:ext uri="{FF2B5EF4-FFF2-40B4-BE49-F238E27FC236}">
                <a16:creationId xmlns:a16="http://schemas.microsoft.com/office/drawing/2014/main" id="{F01C1594-2D1D-42F9-8DCF-3CB6A507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Mini Exercise 3: Match the Connector</a:t>
            </a:r>
          </a:p>
        </p:txBody>
      </p:sp>
      <p:sp>
        <p:nvSpPr>
          <p:cNvPr id="142" name="Text 1">
            <a:extLst xmlns:a="http://schemas.openxmlformats.org/drawingml/2006/main">
              <a:ext uri="{FF2B5EF4-FFF2-40B4-BE49-F238E27FC236}">
                <a16:creationId xmlns:a16="http://schemas.microsoft.com/office/drawing/2014/main" id="{879E3200-3AF3-4C98-8888-D14C116C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8229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Match each database with the appropriate Debezium connector:</a:t>
            </a:r>
          </a:p>
        </p:txBody>
      </p:sp>
      <p:graphicFrame>
        <p:nvGraphicFramePr>
          <p:cNvPr id="143" name="Table 0"/>
          <p:cNvGraphicFramePr/>
          <p:nvPr/>
        </p:nvGraphicFramePr>
        <p:xfrm>
          <a:off xmlns:a="http://schemas.openxmlformats.org/drawingml/2006/main" x="914400" y="1828800"/>
          <a:ext xmlns:a="http://schemas.openxmlformats.org/drawingml/2006/main" cx="7314840" cy="12373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219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Database</a:t>
                      </a:r>
                    </a:p>
                  </a:txBody>
                  <a:tcPr marL="91440" marR="91440" marT="45720" marB="45720" anchor="ctr">
                    <a:lnL w="5040">
                      <a:solidFill>
                        <a:srgbClr val="CCCCCC"/>
                      </a:solidFill>
                      <a:prstDash val="solid"/>
                    </a:lnL>
                    <a:lnR w="5040">
                      <a:solidFill>
                        <a:srgbClr val="CCCCCC"/>
                      </a:solidFill>
                      <a:prstDash val="solid"/>
                    </a:lnR>
                    <a:lnT w="5040">
                      <a:solidFill>
                        <a:srgbClr val="CCCCCC"/>
                      </a:solidFill>
                      <a:prstDash val="solid"/>
                    </a:lnT>
                    <a:lnB w="5040">
                      <a:solidFill>
                        <a:srgbClr val="CCCCCC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00" b="1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Connector</a:t>
                      </a:r>
                    </a:p>
                  </a:txBody>
                  <a:tcPr marL="91440" marR="91440" marT="45720" marB="45720" anchor="ctr">
                    <a:lnL w="5040">
                      <a:solidFill>
                        <a:srgbClr val="CCCCCC"/>
                      </a:solidFill>
                      <a:prstDash val="solid"/>
                    </a:lnL>
                    <a:lnR w="5040">
                      <a:solidFill>
                        <a:srgbClr val="CCCCCC"/>
                      </a:solidFill>
                      <a:prstDash val="solid"/>
                    </a:lnR>
                    <a:lnT w="5040">
                      <a:solidFill>
                        <a:srgbClr val="CCCCCC"/>
                      </a:solidFill>
                      <a:prstDash val="solid"/>
                    </a:lnT>
                    <a:lnB w="5040">
                      <a:solidFill>
                        <a:srgbClr val="CCCCCC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  <a:tr h="219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Oracle</a:t>
                      </a:r>
                    </a:p>
                  </a:txBody>
                  <a:tcPr marL="91440" marR="91440" marT="45720" marB="45720" anchor="ctr">
                    <a:lnL w="5040">
                      <a:solidFill>
                        <a:srgbClr val="CCCCCC"/>
                      </a:solidFill>
                      <a:prstDash val="solid"/>
                    </a:lnL>
                    <a:lnR w="5040">
                      <a:solidFill>
                        <a:srgbClr val="CCCCCC"/>
                      </a:solidFill>
                      <a:prstDash val="solid"/>
                    </a:lnR>
                    <a:lnT w="5040">
                      <a:solidFill>
                        <a:srgbClr val="CCCCCC"/>
                      </a:solidFill>
                      <a:prstDash val="solid"/>
                    </a:lnT>
                    <a:lnB w="50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___</a:t>
                      </a:r>
                    </a:p>
                  </a:txBody>
                  <a:tcPr marL="91440" marR="91440" marT="45720" marB="45720" anchor="ctr">
                    <a:lnL w="5040">
                      <a:solidFill>
                        <a:srgbClr val="CCCCCC"/>
                      </a:solidFill>
                      <a:prstDash val="solid"/>
                    </a:lnL>
                    <a:lnR w="5040">
                      <a:solidFill>
                        <a:srgbClr val="CCCCCC"/>
                      </a:solidFill>
                      <a:prstDash val="solid"/>
                    </a:lnR>
                    <a:lnT w="5040">
                      <a:solidFill>
                        <a:srgbClr val="CCCCCC"/>
                      </a:solidFill>
                      <a:prstDash val="solid"/>
                    </a:lnT>
                    <a:lnB w="50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219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MongoDB</a:t>
                      </a:r>
                    </a:p>
                  </a:txBody>
                  <a:tcPr marL="91440" marR="91440" marT="45720" marB="45720" anchor="ctr">
                    <a:lnL w="5040">
                      <a:solidFill>
                        <a:srgbClr val="CCCCCC"/>
                      </a:solidFill>
                      <a:prstDash val="solid"/>
                    </a:lnL>
                    <a:lnR w="5040">
                      <a:solidFill>
                        <a:srgbClr val="CCCCCC"/>
                      </a:solidFill>
                      <a:prstDash val="solid"/>
                    </a:lnR>
                    <a:lnT w="5040">
                      <a:solidFill>
                        <a:srgbClr val="CCCCCC"/>
                      </a:solidFill>
                      <a:prstDash val="solid"/>
                    </a:lnT>
                    <a:lnB w="50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___</a:t>
                      </a:r>
                    </a:p>
                  </a:txBody>
                  <a:tcPr marL="91440" marR="91440" marT="45720" marB="45720" anchor="ctr">
                    <a:lnL w="5040">
                      <a:solidFill>
                        <a:srgbClr val="CCCCCC"/>
                      </a:solidFill>
                      <a:prstDash val="solid"/>
                    </a:lnL>
                    <a:lnR w="5040">
                      <a:solidFill>
                        <a:srgbClr val="CCCCCC"/>
                      </a:solidFill>
                      <a:prstDash val="solid"/>
                    </a:lnR>
                    <a:lnT w="5040">
                      <a:solidFill>
                        <a:srgbClr val="CCCCCC"/>
                      </a:solidFill>
                      <a:prstDash val="solid"/>
                    </a:lnT>
                    <a:lnB w="50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219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SQL Server</a:t>
                      </a:r>
                    </a:p>
                  </a:txBody>
                  <a:tcPr marL="91440" marR="91440" marT="45720" marB="45720" anchor="ctr">
                    <a:lnL w="5040">
                      <a:solidFill>
                        <a:srgbClr val="CCCCCC"/>
                      </a:solidFill>
                      <a:prstDash val="solid"/>
                    </a:lnL>
                    <a:lnR w="5040">
                      <a:solidFill>
                        <a:srgbClr val="CCCCCC"/>
                      </a:solidFill>
                      <a:prstDash val="solid"/>
                    </a:lnR>
                    <a:lnT w="5040">
                      <a:solidFill>
                        <a:srgbClr val="CCCCCC"/>
                      </a:solidFill>
                      <a:prstDash val="solid"/>
                    </a:lnT>
                    <a:lnB w="50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___</a:t>
                      </a:r>
                    </a:p>
                  </a:txBody>
                  <a:tcPr marL="91440" marR="91440" marT="45720" marB="45720" anchor="ctr">
                    <a:lnL w="5040">
                      <a:solidFill>
                        <a:srgbClr val="CCCCCC"/>
                      </a:solidFill>
                      <a:prstDash val="solid"/>
                    </a:lnL>
                    <a:lnR w="5040">
                      <a:solidFill>
                        <a:srgbClr val="CCCCCC"/>
                      </a:solidFill>
                      <a:prstDash val="solid"/>
                    </a:lnR>
                    <a:lnT w="5040">
                      <a:solidFill>
                        <a:srgbClr val="CCCCCC"/>
                      </a:solidFill>
                      <a:prstDash val="solid"/>
                    </a:lnT>
                    <a:lnB w="50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219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MySQL</a:t>
                      </a:r>
                    </a:p>
                  </a:txBody>
                  <a:tcPr marL="91440" marR="91440" marT="45720" marB="45720" anchor="ctr">
                    <a:lnL w="5040">
                      <a:solidFill>
                        <a:srgbClr val="CCCCCC"/>
                      </a:solidFill>
                      <a:prstDash val="solid"/>
                    </a:lnL>
                    <a:lnR w="5040">
                      <a:solidFill>
                        <a:srgbClr val="CCCCCC"/>
                      </a:solidFill>
                      <a:prstDash val="solid"/>
                    </a:lnR>
                    <a:lnT w="5040">
                      <a:solidFill>
                        <a:srgbClr val="CCCCCC"/>
                      </a:solidFill>
                      <a:prstDash val="solid"/>
                    </a:lnT>
                    <a:lnB w="50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00" b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___</a:t>
                      </a:r>
                    </a:p>
                  </a:txBody>
                  <a:tcPr marL="91440" marR="91440" marT="45720" marB="45720" anchor="ctr">
                    <a:lnL w="5040">
                      <a:solidFill>
                        <a:srgbClr val="CCCCCC"/>
                      </a:solidFill>
                      <a:prstDash val="solid"/>
                    </a:lnL>
                    <a:lnR w="5040">
                      <a:solidFill>
                        <a:srgbClr val="CCCCCC"/>
                      </a:solidFill>
                      <a:prstDash val="solid"/>
                    </a:lnR>
                    <a:lnT w="5040">
                      <a:solidFill>
                        <a:srgbClr val="CCCCCC"/>
                      </a:solidFill>
                      <a:prstDash val="solid"/>
                    </a:lnT>
                    <a:lnB w="50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4" name="Text 2">
            <a:extLst xmlns:a="http://schemas.openxmlformats.org/drawingml/2006/main">
              <a:ext uri="{FF2B5EF4-FFF2-40B4-BE49-F238E27FC236}">
                <a16:creationId xmlns:a16="http://schemas.microsoft.com/office/drawing/2014/main" id="{E419A2DC-1E11-492A-A743-9157E0DD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0"/>
            <a:ext cx="82292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i="1" u="none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Discuss with your neighbour to fill in the blanks.</a:t>
            </a:r>
          </a:p>
        </p:txBody>
      </p:sp>
      <p:sp>
        <p:nvSpPr>
          <p:cNvPr id="145" name="Text 3">
            <a:extLst xmlns:a="http://schemas.openxmlformats.org/drawingml/2006/main">
              <a:ext uri="{FF2B5EF4-FFF2-40B4-BE49-F238E27FC236}">
                <a16:creationId xmlns:a16="http://schemas.microsoft.com/office/drawing/2014/main" id="{7260D92F-A940-46A4-8173-DFE27718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3c4dedd9cdbd4c49"/>
              </a:rPr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167292783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6" name="Text 0">
            <a:extLst xmlns:a="http://schemas.openxmlformats.org/drawingml/2006/main">
              <a:ext uri="{FF2B5EF4-FFF2-40B4-BE49-F238E27FC236}">
                <a16:creationId xmlns:a16="http://schemas.microsoft.com/office/drawing/2014/main" id="{5F9014DC-F459-4B16-A64D-111066C1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2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Environment Requirements</a:t>
            </a:r>
          </a:p>
        </p:txBody>
      </p:sp>
      <p:pic>
        <p:nvPicPr>
          <p:cNvPr id="14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4ccac92c4346ff"/>
          <a:stretch xmlns:a="http://schemas.openxmlformats.org/drawingml/2006/main"/>
        </p:blipFill>
        <p:spPr>
          <a:xfrm xmlns:a="http://schemas.openxmlformats.org/drawingml/2006/main">
            <a:off x="457200" y="1280160"/>
            <a:ext cx="319680" cy="319680"/>
          </a:xfrm>
          <a:prstGeom xmlns:a="http://schemas.openxmlformats.org/drawingml/2006/main" prst="rect">
            <a:avLst/>
          </a:prstGeom>
        </p:spPr>
      </p:pic>
      <p:sp>
        <p:nvSpPr>
          <p:cNvPr id="148" name="Text 1">
            <a:extLst xmlns:a="http://schemas.openxmlformats.org/drawingml/2006/main">
              <a:ext uri="{FF2B5EF4-FFF2-40B4-BE49-F238E27FC236}">
                <a16:creationId xmlns:a16="http://schemas.microsoft.com/office/drawing/2014/main" id="{5E739714-511D-46E2-BF58-E38DD6C2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25880"/>
            <a:ext cx="7772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Kafka cluster (KRaft or ZooKeeper)</a:t>
            </a:r>
          </a:p>
        </p:txBody>
      </p:sp>
      <p:pic>
        <p:nvPicPr>
          <p:cNvPr id="1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187ac7adb847f2"/>
          <a:stretch xmlns:a="http://schemas.openxmlformats.org/drawingml/2006/main"/>
        </p:blipFill>
        <p:spPr>
          <a:xfrm xmlns:a="http://schemas.openxmlformats.org/drawingml/2006/main">
            <a:off x="457200" y="1691640"/>
            <a:ext cx="319680" cy="319680"/>
          </a:xfrm>
          <a:prstGeom xmlns:a="http://schemas.openxmlformats.org/drawingml/2006/main" prst="rect">
            <a:avLst/>
          </a:prstGeom>
        </p:spPr>
      </p:pic>
      <p:sp>
        <p:nvSpPr>
          <p:cNvPr id="150" name="Text 2">
            <a:extLst xmlns:a="http://schemas.openxmlformats.org/drawingml/2006/main">
              <a:ext uri="{FF2B5EF4-FFF2-40B4-BE49-F238E27FC236}">
                <a16:creationId xmlns:a16="http://schemas.microsoft.com/office/drawing/2014/main" id="{540E551B-471C-4C37-A147-62672AF1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37360"/>
            <a:ext cx="7772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Source database (e.g., Postgres with logical replication)</a:t>
            </a:r>
          </a:p>
        </p:txBody>
      </p:sp>
      <p:pic>
        <p:nvPicPr>
          <p:cNvPr id="15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39ff0dec1423b"/>
          <a:stretch xmlns:a="http://schemas.openxmlformats.org/drawingml/2006/main"/>
        </p:blipFill>
        <p:spPr>
          <a:xfrm xmlns:a="http://schemas.openxmlformats.org/drawingml/2006/main">
            <a:off x="457200" y="2103120"/>
            <a:ext cx="319680" cy="319680"/>
          </a:xfrm>
          <a:prstGeom xmlns:a="http://schemas.openxmlformats.org/drawingml/2006/main" prst="rect">
            <a:avLst/>
          </a:prstGeom>
        </p:spPr>
      </p:pic>
      <p:sp>
        <p:nvSpPr>
          <p:cNvPr id="152" name="Text 3">
            <a:extLst xmlns:a="http://schemas.openxmlformats.org/drawingml/2006/main">
              <a:ext uri="{FF2B5EF4-FFF2-40B4-BE49-F238E27FC236}">
                <a16:creationId xmlns:a16="http://schemas.microsoft.com/office/drawing/2014/main" id="{80DD1BB7-08E0-413B-AC58-D5F08F01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7772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Kafka Connect &amp; Debezium plugin</a:t>
            </a:r>
          </a:p>
        </p:txBody>
      </p:sp>
      <p:pic>
        <p:nvPicPr>
          <p:cNvPr id="1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9cc285ddb442d"/>
          <a:stretch xmlns:a="http://schemas.openxmlformats.org/drawingml/2006/main"/>
        </p:blipFill>
        <p:spPr>
          <a:xfrm xmlns:a="http://schemas.openxmlformats.org/drawingml/2006/main">
            <a:off x="457200" y="2514600"/>
            <a:ext cx="319680" cy="319680"/>
          </a:xfrm>
          <a:prstGeom xmlns:a="http://schemas.openxmlformats.org/drawingml/2006/main" prst="rect">
            <a:avLst/>
          </a:prstGeom>
        </p:spPr>
      </p:pic>
      <p:sp>
        <p:nvSpPr>
          <p:cNvPr id="154" name="Text 4">
            <a:extLst xmlns:a="http://schemas.openxmlformats.org/drawingml/2006/main">
              <a:ext uri="{FF2B5EF4-FFF2-40B4-BE49-F238E27FC236}">
                <a16:creationId xmlns:a16="http://schemas.microsoft.com/office/drawing/2014/main" id="{9AED556B-3D1F-482E-AD4D-CA2DF6D0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60320"/>
            <a:ext cx="7772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Schema Registry (for Avro/JSON if needed)</a:t>
            </a:r>
          </a:p>
        </p:txBody>
      </p:sp>
      <p:pic>
        <p:nvPicPr>
          <p:cNvPr id="15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305422062a4d4e"/>
          <a:stretch xmlns:a="http://schemas.openxmlformats.org/drawingml/2006/main"/>
        </p:blipFill>
        <p:spPr>
          <a:xfrm xmlns:a="http://schemas.openxmlformats.org/drawingml/2006/main">
            <a:off x="457200" y="2926080"/>
            <a:ext cx="319680" cy="319680"/>
          </a:xfrm>
          <a:prstGeom xmlns:a="http://schemas.openxmlformats.org/drawingml/2006/main" prst="rect">
            <a:avLst/>
          </a:prstGeom>
        </p:spPr>
      </p:pic>
      <p:sp>
        <p:nvSpPr>
          <p:cNvPr id="156" name="Text 5">
            <a:extLst xmlns:a="http://schemas.openxmlformats.org/drawingml/2006/main">
              <a:ext uri="{FF2B5EF4-FFF2-40B4-BE49-F238E27FC236}">
                <a16:creationId xmlns:a16="http://schemas.microsoft.com/office/drawing/2014/main" id="{BCBF37C9-AAD3-46AF-B19A-2718AC4D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71800"/>
            <a:ext cx="7772040" cy="319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Client to consume events (kcat or Python consumer)</a:t>
            </a:r>
          </a:p>
        </p:txBody>
      </p:sp>
      <p:sp>
        <p:nvSpPr>
          <p:cNvPr id="157" name="Text 6">
            <a:extLst xmlns:a="http://schemas.openxmlformats.org/drawingml/2006/main">
              <a:ext uri="{FF2B5EF4-FFF2-40B4-BE49-F238E27FC236}">
                <a16:creationId xmlns:a16="http://schemas.microsoft.com/office/drawing/2014/main" id="{F304736D-ACCA-4FD3-A686-6698C97D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f5c3a4f2d1e48fa"/>
              </a:rPr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40327662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" name="Text 0">
            <a:extLst xmlns:a="http://schemas.openxmlformats.org/drawingml/2006/main">
              <a:ext uri="{FF2B5EF4-FFF2-40B4-BE49-F238E27FC236}">
                <a16:creationId xmlns:a16="http://schemas.microsoft.com/office/drawing/2014/main" id="{09515514-9153-4B56-9FA7-8B554229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2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Configuration: PostgreSQL Connector</a:t>
            </a:r>
          </a:p>
        </p:txBody>
      </p:sp>
      <p:sp>
        <p:nvSpPr>
          <p:cNvPr id="159" name="Text 1">
            <a:extLst xmlns:a="http://schemas.openxmlformats.org/drawingml/2006/main">
              <a:ext uri="{FF2B5EF4-FFF2-40B4-BE49-F238E27FC236}">
                <a16:creationId xmlns:a16="http://schemas.microsoft.com/office/drawing/2014/main" id="{1C274D8E-4EAC-4801-9316-4529EBE1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80160"/>
            <a:ext cx="4388760" cy="2468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 b="0" u="none">
                <a:solidFill>
                  <a:srgbClr val="444444"/>
                </a:solidFill>
                <a:latin typeface="Consolas"/>
                <a:ea typeface="Consolas"/>
                <a:cs typeface="Consolas"/>
              </a:rPr>
              <a:t>"name": "inventory-connector",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 b="0" u="none">
                <a:solidFill>
                  <a:srgbClr val="444444"/>
                </a:solidFill>
                <a:latin typeface="Consolas"/>
                <a:ea typeface="Consolas"/>
                <a:cs typeface="Consolas"/>
              </a:rPr>
              <a:t>"connector.class": "io.debezium.connector.postgresql.PostgresConnector",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 b="0" u="none">
                <a:solidFill>
                  <a:srgbClr val="444444"/>
                </a:solidFill>
                <a:latin typeface="Consolas"/>
                <a:ea typeface="Consolas"/>
                <a:cs typeface="Consolas"/>
              </a:rPr>
              <a:t>"database.hostname": "postgres",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 b="0" u="none">
                <a:solidFill>
                  <a:srgbClr val="444444"/>
                </a:solidFill>
                <a:latin typeface="Consolas"/>
                <a:ea typeface="Consolas"/>
                <a:cs typeface="Consolas"/>
              </a:rPr>
              <a:t>"database.dbname": "inventory",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 b="0" u="none">
                <a:solidFill>
                  <a:srgbClr val="444444"/>
                </a:solidFill>
                <a:latin typeface="Consolas"/>
                <a:ea typeface="Consolas"/>
                <a:cs typeface="Consolas"/>
              </a:rPr>
              <a:t>"plugin.name": "pgoutput",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 b="0" u="none">
                <a:solidFill>
                  <a:srgbClr val="444444"/>
                </a:solidFill>
                <a:latin typeface="Consolas"/>
                <a:ea typeface="Consolas"/>
                <a:cs typeface="Consolas"/>
              </a:rPr>
              <a:t>"topic.prefix": "inventory",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 b="0" u="none">
                <a:solidFill>
                  <a:srgbClr val="444444"/>
                </a:solidFill>
                <a:latin typeface="Consolas"/>
                <a:ea typeface="Consolas"/>
                <a:cs typeface="Consolas"/>
              </a:rPr>
              <a:t>"slot.name": "debezium_slot",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 b="0" u="none">
                <a:solidFill>
                  <a:srgbClr val="444444"/>
                </a:solidFill>
                <a:latin typeface="Consolas"/>
                <a:ea typeface="Consolas"/>
                <a:cs typeface="Consolas"/>
              </a:rPr>
              <a:t>"publication.autocreate.mode": "filtered",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 b="0" u="none">
                <a:solidFill>
                  <a:srgbClr val="444444"/>
                </a:solidFill>
                <a:latin typeface="Consolas"/>
                <a:ea typeface="Consolas"/>
                <a:cs typeface="Consolas"/>
              </a:rPr>
              <a:t>"table.include.list": "public.customers",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 b="0" u="none">
                <a:solidFill>
                  <a:srgbClr val="444444"/>
                </a:solidFill>
                <a:latin typeface="Consolas"/>
                <a:ea typeface="Consolas"/>
                <a:cs typeface="Consolas"/>
              </a:rPr>
              <a:t>"snapshot.mode": "initial",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900" b="0" u="none">
                <a:solidFill>
                  <a:srgbClr val="444444"/>
                </a:solidFill>
                <a:latin typeface="Consolas"/>
                <a:ea typeface="Consolas"/>
                <a:cs typeface="Consolas"/>
              </a:rPr>
              <a:t>"signal.data.collection": "public.debezium_signal"</a:t>
            </a:r>
          </a:p>
        </p:txBody>
      </p:sp>
      <p:sp>
        <p:nvSpPr>
          <p:cNvPr id="160" name="Text 2">
            <a:extLst xmlns:a="http://schemas.openxmlformats.org/drawingml/2006/main">
              <a:ext uri="{FF2B5EF4-FFF2-40B4-BE49-F238E27FC236}">
                <a16:creationId xmlns:a16="http://schemas.microsoft.com/office/drawing/2014/main" id="{9EAC3E44-5D57-4314-A22B-28C373CD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280160"/>
            <a:ext cx="4114440" cy="246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Key Properties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topic.prefix defines table topic names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pgoutput reads PostgreSQL logical replication events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slot and publication retain the log position for capture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initial gives the first baseline; use no_data when a baseline is not needed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trigger an incremental snapshot with a signal; do not invent a connector enable flag</a:t>
            </a:r>
          </a:p>
        </p:txBody>
      </p:sp>
      <p:sp>
        <p:nvSpPr>
          <p:cNvPr id="161" name="Text 3">
            <a:extLst xmlns:a="http://schemas.openxmlformats.org/drawingml/2006/main">
              <a:ext uri="{FF2B5EF4-FFF2-40B4-BE49-F238E27FC236}">
                <a16:creationId xmlns:a16="http://schemas.microsoft.com/office/drawing/2014/main" id="{99931EF7-C010-4999-9D66-D51E4FB1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edd4dc28b6e4ac7"/>
              </a:rPr>
              <a:t>[1]</a:t>
            </a:r>
            <a:r>
              <a:rPr sz="700" b="0" u="none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b4c6cc5018114be2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123947453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2" name="Text 0">
            <a:extLst xmlns:a="http://schemas.openxmlformats.org/drawingml/2006/main">
              <a:ext uri="{FF2B5EF4-FFF2-40B4-BE49-F238E27FC236}">
                <a16:creationId xmlns:a16="http://schemas.microsoft.com/office/drawing/2014/main" id="{0653ECB1-458C-4F88-BC18-DC7624F7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2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Heartbeats, Transforms &amp; Monitoring</a:t>
            </a:r>
          </a:p>
        </p:txBody>
      </p:sp>
      <p:sp>
        <p:nvSpPr>
          <p:cNvPr id="163" name="Text 1">
            <a:extLst xmlns:a="http://schemas.openxmlformats.org/drawingml/2006/main">
              <a:ext uri="{FF2B5EF4-FFF2-40B4-BE49-F238E27FC236}">
                <a16:creationId xmlns:a16="http://schemas.microsoft.com/office/drawing/2014/main" id="{3B374096-B8CF-4384-AF6C-CDCB330C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80160"/>
            <a:ext cx="8229240" cy="2742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Heartbeats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heartbeat.interval.ms: emit heartbeat records to maintain offset commits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heartbeat.topics.prefix: name prefix for heartbeat topics</a:t>
            </a:r>
          </a:p>
          <a:p xmlns:a="http://schemas.openxmlformats.org/drawingml/2006/main"/>
          <a:p xmlns:a="http://schemas.openxmlformats.org/drawingml/2006/main">
            <a:r>
              <a:rPr sz="14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Transforms (SMT)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ExtractNewRecordState: flatten record to after state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UnwrapFromEnvelope: remove metadata envelopes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TopicRename: change output topic names</a:t>
            </a:r>
          </a:p>
          <a:p xmlns:a="http://schemas.openxmlformats.org/drawingml/2006/main"/>
          <a:p xmlns:a="http://schemas.openxmlformats.org/drawingml/2006/main">
            <a:r>
              <a:rPr sz="14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Monitoring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Monitor lag via JMX or Connect API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Adjust tasks.max and max.batch.size for throughput</a:t>
            </a:r>
          </a:p>
        </p:txBody>
      </p:sp>
      <p:sp>
        <p:nvSpPr>
          <p:cNvPr id="164" name="Text 2">
            <a:extLst xmlns:a="http://schemas.openxmlformats.org/drawingml/2006/main">
              <a:ext uri="{FF2B5EF4-FFF2-40B4-BE49-F238E27FC236}">
                <a16:creationId xmlns:a16="http://schemas.microsoft.com/office/drawing/2014/main" id="{709FC570-694F-4925-8B08-4AF86357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d969bf3a47e14902"/>
              </a:rPr>
              <a:t>[1]</a:t>
            </a:r>
            <a:r>
              <a:rPr sz="700" b="0" u="none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d569548c6bbe4e6b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10378411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5" name="Text 0">
            <a:extLst xmlns:a="http://schemas.openxmlformats.org/drawingml/2006/main">
              <a:ext uri="{FF2B5EF4-FFF2-40B4-BE49-F238E27FC236}">
                <a16:creationId xmlns:a16="http://schemas.microsoft.com/office/drawing/2014/main" id="{CB7843C9-4D3E-4482-844B-2B0309DC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2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Advanced Tuning &amp; KRaft</a:t>
            </a:r>
          </a:p>
        </p:txBody>
      </p:sp>
      <p:sp>
        <p:nvSpPr>
          <p:cNvPr id="166" name="Text 1">
            <a:extLst xmlns:a="http://schemas.openxmlformats.org/drawingml/2006/main">
              <a:ext uri="{FF2B5EF4-FFF2-40B4-BE49-F238E27FC236}">
                <a16:creationId xmlns:a16="http://schemas.microsoft.com/office/drawing/2014/main" id="{DD8CFD92-9751-4129-8E63-6BB77241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80160"/>
            <a:ext cx="8229240" cy="228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Set tasks.max to adjust number of parallel tasks per connector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Increase max.batch.size &amp; max.queue.size for high throughput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Tune heartbeat.interval.ms &amp; min.insync.replicas for durability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With Kafka 4.x KRaft mode, ensure controller &amp; broker nodes have sufficient quorum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Review connector task logs &amp; metrics to detect lags and backpressure</a:t>
            </a:r>
          </a:p>
        </p:txBody>
      </p:sp>
      <p:sp>
        <p:nvSpPr>
          <p:cNvPr id="167" name="Text 2">
            <a:extLst xmlns:a="http://schemas.openxmlformats.org/drawingml/2006/main">
              <a:ext uri="{FF2B5EF4-FFF2-40B4-BE49-F238E27FC236}">
                <a16:creationId xmlns:a16="http://schemas.microsoft.com/office/drawing/2014/main" id="{9213C6C8-9916-4621-AF85-6477CB84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d1e71169c4de4389"/>
              </a:rPr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196070232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8" name="Text 0">
            <a:extLst xmlns:a="http://schemas.openxmlformats.org/drawingml/2006/main">
              <a:ext uri="{FF2B5EF4-FFF2-40B4-BE49-F238E27FC236}">
                <a16:creationId xmlns:a16="http://schemas.microsoft.com/office/drawing/2014/main" id="{A5EC79CD-688C-428A-96AC-5E1AA859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Mini Exercise 4: Tune Your Connector</a:t>
            </a:r>
          </a:p>
        </p:txBody>
      </p:sp>
      <p:sp>
        <p:nvSpPr>
          <p:cNvPr id="169" name="Text 1">
            <a:extLst xmlns:a="http://schemas.openxmlformats.org/drawingml/2006/main">
              <a:ext uri="{FF2B5EF4-FFF2-40B4-BE49-F238E27FC236}">
                <a16:creationId xmlns:a16="http://schemas.microsoft.com/office/drawing/2014/main" id="{488E9901-927D-4F2B-A66B-A2EDABB3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8229240" cy="137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You are ingesting a high-volume orders table. Propose changes that improve throughput while preserving restart safety. Consider snapshot choice, batching, heartbeats, monitoring and how a sink prevents duplicate side effects after redelivery.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Discuss your plan with your team and state what evidence would prove it works.</a:t>
            </a:r>
          </a:p>
        </p:txBody>
      </p:sp>
      <p:sp>
        <p:nvSpPr>
          <p:cNvPr id="170" name="Text 2">
            <a:extLst xmlns:a="http://schemas.openxmlformats.org/drawingml/2006/main">
              <a:ext uri="{FF2B5EF4-FFF2-40B4-BE49-F238E27FC236}">
                <a16:creationId xmlns:a16="http://schemas.microsoft.com/office/drawing/2014/main" id="{F9B3FB50-0B36-42A7-901F-3F8DEAA8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8229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i="1" u="none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Discuss your plan with your team and be prepared to present your rationale.</a:t>
            </a:r>
          </a:p>
        </p:txBody>
      </p:sp>
      <p:sp>
        <p:nvSpPr>
          <p:cNvPr id="171" name="Text 3">
            <a:extLst xmlns:a="http://schemas.openxmlformats.org/drawingml/2006/main">
              <a:ext uri="{FF2B5EF4-FFF2-40B4-BE49-F238E27FC236}">
                <a16:creationId xmlns:a16="http://schemas.microsoft.com/office/drawing/2014/main" id="{CFEFAAEC-5EDD-457F-9087-4231CFCC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17edc6982fb4760"/>
              </a:rPr>
              <a:t>[1]</a:t>
            </a:r>
            <a:r>
              <a:rPr sz="700" b="0" u="none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8b65e36c1c44e58"/>
              </a:rPr>
              <a:t>[2]</a:t>
            </a:r>
            <a:r>
              <a:rPr sz="700" b="0" u="none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7377143834d04302"/>
              </a:rPr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51180207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2" name="Text 0">
            <a:extLst xmlns:a="http://schemas.openxmlformats.org/drawingml/2006/main">
              <a:ext uri="{FF2B5EF4-FFF2-40B4-BE49-F238E27FC236}">
                <a16:creationId xmlns:a16="http://schemas.microsoft.com/office/drawing/2014/main" id="{72CA9804-802A-4E6F-AA69-8039A73A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2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Hands‑On Lab: Capture Database Changes</a:t>
            </a:r>
          </a:p>
        </p:txBody>
      </p:sp>
      <p:sp>
        <p:nvSpPr>
          <p:cNvPr id="173" name="Text 1">
            <a:extLst xmlns:a="http://schemas.openxmlformats.org/drawingml/2006/main">
              <a:ext uri="{FF2B5EF4-FFF2-40B4-BE49-F238E27FC236}">
                <a16:creationId xmlns:a16="http://schemas.microsoft.com/office/drawing/2014/main" id="{99FCA276-4250-4491-8A3B-64FDF053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8229240" cy="228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In this lab you will: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Start a local Kafka &amp; Postgres cluster using Docker Compose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Create a sample table and insert initial data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Deploy a Debezium Postgres connector via REST</a:t>
            </a:r>
          </a:p>
          <a:p xmlns:a="http://schemas.openxmlformats.org/drawingml/2006/main"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Produce updates and observe events using kcat or Python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1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Explore event structure and snapshot vs streaming phases</a:t>
            </a:r>
          </a:p>
        </p:txBody>
      </p:sp>
      <p:sp>
        <p:nvSpPr>
          <p:cNvPr id="174" name="Text 2">
            <a:extLst xmlns:a="http://schemas.openxmlformats.org/drawingml/2006/main">
              <a:ext uri="{FF2B5EF4-FFF2-40B4-BE49-F238E27FC236}">
                <a16:creationId xmlns:a16="http://schemas.microsoft.com/office/drawing/2014/main" id="{C0BE3AC6-8DA1-4B7B-9672-3EADC89E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618b5fa331c45f6"/>
              </a:rPr>
              <a:t>[1]</a:t>
            </a:r>
            <a:r>
              <a:rPr sz="700" b="0" u="none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515380e894814dc2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209711646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5" name="Text 0">
            <a:extLst xmlns:a="http://schemas.openxmlformats.org/drawingml/2006/main">
              <a:ext uri="{FF2B5EF4-FFF2-40B4-BE49-F238E27FC236}">
                <a16:creationId xmlns:a16="http://schemas.microsoft.com/office/drawing/2014/main" id="{15A8F486-95FE-4ADA-8FA8-D880FE4F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2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Lab Steps &amp; Commands</a:t>
            </a:r>
          </a:p>
        </p:txBody>
      </p:sp>
      <p:sp>
        <p:nvSpPr>
          <p:cNvPr id="176" name="Text 1">
            <a:extLst xmlns:a="http://schemas.openxmlformats.org/drawingml/2006/main">
              <a:ext uri="{FF2B5EF4-FFF2-40B4-BE49-F238E27FC236}">
                <a16:creationId xmlns:a16="http://schemas.microsoft.com/office/drawing/2014/main" id="{E4232576-3A09-4233-AEEF-5B628C10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8229240" cy="365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1. Start Docker Compose</a:t>
            </a:r>
          </a:p>
          <a:p xmlns:a="http://schemas.openxmlformats.org/drawingml/2006/main">
            <a:r>
              <a:rPr sz="1100" b="0" u="none">
                <a:solidFill>
                  <a:srgbClr val="444444"/>
                </a:solidFill>
                <a:latin typeface="Consolas"/>
                <a:ea typeface="Consolas"/>
                <a:cs typeface="Consolas"/>
              </a:rPr>
              <a:t>$ docker-compose up -d</a:t>
            </a:r>
          </a:p>
          <a:p xmlns:a="http://schemas.openxmlformats.org/drawingml/2006/main"/>
          <a:p xmlns:a="http://schemas.openxmlformats.org/drawingml/2006/main">
            <a:r>
              <a:rPr sz="12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2. Create sample table &amp; insert data</a:t>
            </a:r>
          </a:p>
          <a:p xmlns:a="http://schemas.openxmlformats.org/drawingml/2006/main">
            <a:r>
              <a:rPr sz="1000" b="0" u="none">
                <a:solidFill>
                  <a:srgbClr val="444444"/>
                </a:solidFill>
                <a:latin typeface="Consolas"/>
                <a:ea typeface="Consolas"/>
                <a:cs typeface="Consolas"/>
              </a:rPr>
              <a:t>$ psql -h localhost -U postgres -d inventory -c "CREATE TABLE customers(id SERIAL PRIMARY KEY, name TEXT);"</a:t>
            </a:r>
          </a:p>
          <a:p xmlns:a="http://schemas.openxmlformats.org/drawingml/2006/main">
            <a:r>
              <a:rPr sz="1000" b="0" u="none">
                <a:solidFill>
                  <a:srgbClr val="444444"/>
                </a:solidFill>
                <a:latin typeface="Consolas"/>
                <a:ea typeface="Consolas"/>
                <a:cs typeface="Consolas"/>
              </a:rPr>
              <a:t>$ psql -h localhost -U postgres -d inventory -c "INSERT INTO customers(name) VALUES('Alice'),('Bob');"</a:t>
            </a:r>
          </a:p>
          <a:p xmlns:a="http://schemas.openxmlformats.org/drawingml/2006/main"/>
          <a:p xmlns:a="http://schemas.openxmlformats.org/drawingml/2006/main">
            <a:r>
              <a:rPr sz="12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3. Deploy connector via REST</a:t>
            </a:r>
          </a:p>
          <a:p xmlns:a="http://schemas.openxmlformats.org/drawingml/2006/main">
            <a:r>
              <a:rPr sz="1000" b="0" u="none">
                <a:solidFill>
                  <a:srgbClr val="444444"/>
                </a:solidFill>
                <a:latin typeface="Consolas"/>
                <a:ea typeface="Consolas"/>
                <a:cs typeface="Consolas"/>
              </a:rPr>
              <a:t>$ curl -X POST http://localhost:8083/connectors -H "Content-Type: application/json" -d @postgres-connector.json</a:t>
            </a:r>
          </a:p>
          <a:p xmlns:a="http://schemas.openxmlformats.org/drawingml/2006/main"/>
          <a:p xmlns:a="http://schemas.openxmlformats.org/drawingml/2006/main">
            <a:r>
              <a:rPr sz="12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4. Produce changes &amp; observe events</a:t>
            </a:r>
          </a:p>
          <a:p xmlns:a="http://schemas.openxmlformats.org/drawingml/2006/main">
            <a:r>
              <a:rPr sz="1000" b="0" u="none">
                <a:solidFill>
                  <a:srgbClr val="444444"/>
                </a:solidFill>
                <a:latin typeface="Consolas"/>
                <a:ea typeface="Consolas"/>
                <a:cs typeface="Consolas"/>
              </a:rPr>
              <a:t>$ psql -c "UPDATE customers SET name='Alicia' WHERE id=1;"</a:t>
            </a:r>
          </a:p>
          <a:p xmlns:a="http://schemas.openxmlformats.org/drawingml/2006/main">
            <a:r>
              <a:rPr sz="1000" b="0" u="none">
                <a:solidFill>
                  <a:srgbClr val="444444"/>
                </a:solidFill>
                <a:latin typeface="Consolas"/>
                <a:ea typeface="Consolas"/>
                <a:cs typeface="Consolas"/>
              </a:rPr>
              <a:t>$ kcat -C -b localhost:9092 -t inventory.public.customers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</a:p>
        </p:txBody>
      </p:sp>
      <p:sp>
        <p:nvSpPr>
          <p:cNvPr id="177" name="Text 2">
            <a:extLst xmlns:a="http://schemas.openxmlformats.org/drawingml/2006/main">
              <a:ext uri="{FF2B5EF4-FFF2-40B4-BE49-F238E27FC236}">
                <a16:creationId xmlns:a16="http://schemas.microsoft.com/office/drawing/2014/main" id="{6B85282D-7374-4D28-8706-3CBB7C6B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43bc881def604ef6"/>
              </a:rPr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23182614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8" name="Text 0">
            <a:extLst xmlns:a="http://schemas.openxmlformats.org/drawingml/2006/main">
              <a:ext uri="{FF2B5EF4-FFF2-40B4-BE49-F238E27FC236}">
                <a16:creationId xmlns:a16="http://schemas.microsoft.com/office/drawing/2014/main" id="{BA315B5C-0917-49C3-8E7F-778D53B0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2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Lab Reflection &amp; Discussion</a:t>
            </a:r>
          </a:p>
        </p:txBody>
      </p:sp>
      <p:sp>
        <p:nvSpPr>
          <p:cNvPr id="179" name="Text 1">
            <a:extLst xmlns:a="http://schemas.openxmlformats.org/drawingml/2006/main">
              <a:ext uri="{FF2B5EF4-FFF2-40B4-BE49-F238E27FC236}">
                <a16:creationId xmlns:a16="http://schemas.microsoft.com/office/drawing/2014/main" id="{26B7D8A2-4850-4E5D-B2D6-E70CD385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80160"/>
            <a:ext cx="8229240" cy="228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Which records were snapshot reads (op=r) and which were streamed changes?</a:t>
            </a:r>
          </a:p>
          <a:p xmlns:a="http://schemas.openxmlformats.org/drawingml/2006/main"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What did update and delete envelopes show in before/after?</a:t>
            </a:r>
          </a:p>
          <a:p xmlns:a="http://schemas.openxmlformats.org/drawingml/2006/main"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Did a delete yield a tombstone under your connector settings?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After restart, how would a downstream sink avoid duplicate side effects?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• What must Day 5 validate before events are accepted downstream?</a:t>
            </a:r>
          </a:p>
        </p:txBody>
      </p:sp>
      <p:sp>
        <p:nvSpPr>
          <p:cNvPr id="180" name="Text 2">
            <a:extLst xmlns:a="http://schemas.openxmlformats.org/drawingml/2006/main">
              <a:ext uri="{FF2B5EF4-FFF2-40B4-BE49-F238E27FC236}">
                <a16:creationId xmlns:a16="http://schemas.microsoft.com/office/drawing/2014/main" id="{F62E527D-9AFE-4EB1-AFB2-49CDA42D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ab57b713f222447f"/>
              </a:rPr>
              <a:t>[1]</a:t>
            </a:r>
            <a:r>
              <a:rPr sz="700" b="0" u="none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c01c8af411494721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189451801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1" name="Text 0">
            <a:extLst xmlns:a="http://schemas.openxmlformats.org/drawingml/2006/main">
              <a:ext uri="{FF2B5EF4-FFF2-40B4-BE49-F238E27FC236}">
                <a16:creationId xmlns:a16="http://schemas.microsoft.com/office/drawing/2014/main" id="{A4CDF8C1-691A-449D-8B30-C5B3B57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2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Quiz: Question 1</a:t>
            </a:r>
          </a:p>
        </p:txBody>
      </p:sp>
      <p:sp>
        <p:nvSpPr>
          <p:cNvPr id="182" name="Text 1">
            <a:extLst xmlns:a="http://schemas.openxmlformats.org/drawingml/2006/main">
              <a:ext uri="{FF2B5EF4-FFF2-40B4-BE49-F238E27FC236}">
                <a16:creationId xmlns:a16="http://schemas.microsoft.com/office/drawing/2014/main" id="{518BCDA2-FE2A-4258-8F1C-436C21B2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822924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Which CDC method minimizes database load while capturing inserts, updates and deletes in order?</a:t>
            </a:r>
          </a:p>
        </p:txBody>
      </p:sp>
      <p:sp>
        <p:nvSpPr>
          <p:cNvPr id="183" name="Text 2">
            <a:extLst xmlns:a="http://schemas.openxmlformats.org/drawingml/2006/main">
              <a:ext uri="{FF2B5EF4-FFF2-40B4-BE49-F238E27FC236}">
                <a16:creationId xmlns:a16="http://schemas.microsoft.com/office/drawing/2014/main" id="{2221E470-7C96-45E5-A812-6CBAB8CF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456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A. Query‑based polling</a:t>
            </a:r>
          </a:p>
        </p:txBody>
      </p:sp>
      <p:sp>
        <p:nvSpPr>
          <p:cNvPr id="184" name="Text 3">
            <a:extLst xmlns:a="http://schemas.openxmlformats.org/drawingml/2006/main">
              <a:ext uri="{FF2B5EF4-FFF2-40B4-BE49-F238E27FC236}">
                <a16:creationId xmlns:a16="http://schemas.microsoft.com/office/drawing/2014/main" id="{DAC97D70-A548-44A5-A56C-C22B4D7F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B. Trigger‑based logging</a:t>
            </a:r>
          </a:p>
        </p:txBody>
      </p:sp>
      <p:sp>
        <p:nvSpPr>
          <p:cNvPr id="185" name="Text 4">
            <a:extLst xmlns:a="http://schemas.openxmlformats.org/drawingml/2006/main">
              <a:ext uri="{FF2B5EF4-FFF2-40B4-BE49-F238E27FC236}">
                <a16:creationId xmlns:a16="http://schemas.microsoft.com/office/drawing/2014/main" id="{60F5F017-7A8F-4B72-8A50-CB3ABD54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C. Log‑based streaming</a:t>
            </a:r>
          </a:p>
        </p:txBody>
      </p:sp>
      <p:sp>
        <p:nvSpPr>
          <p:cNvPr id="186" name="Text 5">
            <a:extLst xmlns:a="http://schemas.openxmlformats.org/drawingml/2006/main">
              <a:ext uri="{FF2B5EF4-FFF2-40B4-BE49-F238E27FC236}">
                <a16:creationId xmlns:a16="http://schemas.microsoft.com/office/drawing/2014/main" id="{7FFA10E7-4217-4D35-9F26-110D02B2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184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D. Periodic ETL batch</a:t>
            </a:r>
          </a:p>
        </p:txBody>
      </p:sp>
      <p:sp>
        <p:nvSpPr>
          <p:cNvPr id="187" name="Text 6">
            <a:extLst xmlns:a="http://schemas.openxmlformats.org/drawingml/2006/main">
              <a:ext uri="{FF2B5EF4-FFF2-40B4-BE49-F238E27FC236}">
                <a16:creationId xmlns:a16="http://schemas.microsoft.com/office/drawing/2014/main" id="{1AB9164B-4458-4DDF-999A-CCD807C5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7108fabb1064505"/>
              </a:rPr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209053926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8" name="Text 0">
            <a:extLst xmlns:a="http://schemas.openxmlformats.org/drawingml/2006/main">
              <a:ext uri="{FF2B5EF4-FFF2-40B4-BE49-F238E27FC236}">
                <a16:creationId xmlns:a16="http://schemas.microsoft.com/office/drawing/2014/main" id="{E9A4EB9E-9365-41D4-AE5A-09EE5C6B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2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Quiz: Question 2</a:t>
            </a:r>
          </a:p>
        </p:txBody>
      </p:sp>
      <p:sp>
        <p:nvSpPr>
          <p:cNvPr id="189" name="Text 1">
            <a:extLst xmlns:a="http://schemas.openxmlformats.org/drawingml/2006/main">
              <a:ext uri="{FF2B5EF4-FFF2-40B4-BE49-F238E27FC236}">
                <a16:creationId xmlns:a16="http://schemas.microsoft.com/office/drawing/2014/main" id="{E8A97B40-10B9-4E06-A1DF-DD62BDE3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822924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In a Debezium event record, what does the "op" field value "r" indicate?</a:t>
            </a:r>
          </a:p>
        </p:txBody>
      </p:sp>
      <p:sp>
        <p:nvSpPr>
          <p:cNvPr id="190" name="Text 2">
            <a:extLst xmlns:a="http://schemas.openxmlformats.org/drawingml/2006/main">
              <a:ext uri="{FF2B5EF4-FFF2-40B4-BE49-F238E27FC236}">
                <a16:creationId xmlns:a16="http://schemas.microsoft.com/office/drawing/2014/main" id="{5CEF31F6-D4B4-4079-AC06-AC301D09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456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A. A delete operation</a:t>
            </a:r>
          </a:p>
        </p:txBody>
      </p:sp>
      <p:sp>
        <p:nvSpPr>
          <p:cNvPr id="191" name="Text 3">
            <a:extLst xmlns:a="http://schemas.openxmlformats.org/drawingml/2006/main">
              <a:ext uri="{FF2B5EF4-FFF2-40B4-BE49-F238E27FC236}">
                <a16:creationId xmlns:a16="http://schemas.microsoft.com/office/drawing/2014/main" id="{8C6990AB-913A-4F73-BE72-B51C259A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B. A snapshot record</a:t>
            </a:r>
          </a:p>
        </p:txBody>
      </p:sp>
      <p:sp>
        <p:nvSpPr>
          <p:cNvPr id="192" name="Text 4">
            <a:extLst xmlns:a="http://schemas.openxmlformats.org/drawingml/2006/main">
              <a:ext uri="{FF2B5EF4-FFF2-40B4-BE49-F238E27FC236}">
                <a16:creationId xmlns:a16="http://schemas.microsoft.com/office/drawing/2014/main" id="{127B151A-412A-46AE-995B-E9AB7012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C. An update operation</a:t>
            </a:r>
          </a:p>
        </p:txBody>
      </p:sp>
      <p:sp>
        <p:nvSpPr>
          <p:cNvPr id="193" name="Text 5">
            <a:extLst xmlns:a="http://schemas.openxmlformats.org/drawingml/2006/main">
              <a:ext uri="{FF2B5EF4-FFF2-40B4-BE49-F238E27FC236}">
                <a16:creationId xmlns:a16="http://schemas.microsoft.com/office/drawing/2014/main" id="{9F8E6D3E-ABED-4CC6-8014-5FD793C7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184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D. A heartbeat record</a:t>
            </a:r>
          </a:p>
        </p:txBody>
      </p:sp>
      <p:sp>
        <p:nvSpPr>
          <p:cNvPr id="194" name="Text 6">
            <a:extLst xmlns:a="http://schemas.openxmlformats.org/drawingml/2006/main">
              <a:ext uri="{FF2B5EF4-FFF2-40B4-BE49-F238E27FC236}">
                <a16:creationId xmlns:a16="http://schemas.microsoft.com/office/drawing/2014/main" id="{D2ED4B1C-F8F7-4D95-B1C0-E789E3CC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2ee9a4c3b2f34f90"/>
              </a:rPr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51891050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5" name="Text 0">
            <a:extLst xmlns:a="http://schemas.openxmlformats.org/drawingml/2006/main">
              <a:ext uri="{FF2B5EF4-FFF2-40B4-BE49-F238E27FC236}">
                <a16:creationId xmlns:a16="http://schemas.microsoft.com/office/drawing/2014/main" id="{CB079FBC-754D-49F1-9643-6F738145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2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Quiz: Question 3</a:t>
            </a:r>
          </a:p>
        </p:txBody>
      </p:sp>
      <p:sp>
        <p:nvSpPr>
          <p:cNvPr id="196" name="Text 1">
            <a:extLst xmlns:a="http://schemas.openxmlformats.org/drawingml/2006/main">
              <a:ext uri="{FF2B5EF4-FFF2-40B4-BE49-F238E27FC236}">
                <a16:creationId xmlns:a16="http://schemas.microsoft.com/office/drawing/2014/main" id="{313C78E4-5096-4866-AC21-0B7F80D8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822924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Which connector property controls the number of parallel tasks for a Debezium connector?</a:t>
            </a:r>
          </a:p>
        </p:txBody>
      </p:sp>
      <p:sp>
        <p:nvSpPr>
          <p:cNvPr id="197" name="Text 2">
            <a:extLst xmlns:a="http://schemas.openxmlformats.org/drawingml/2006/main">
              <a:ext uri="{FF2B5EF4-FFF2-40B4-BE49-F238E27FC236}">
                <a16:creationId xmlns:a16="http://schemas.microsoft.com/office/drawing/2014/main" id="{24216CD1-686C-4A11-B1B5-F14F0DCE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456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A. tasks.max</a:t>
            </a:r>
          </a:p>
        </p:txBody>
      </p:sp>
      <p:sp>
        <p:nvSpPr>
          <p:cNvPr id="198" name="Text 3">
            <a:extLst xmlns:a="http://schemas.openxmlformats.org/drawingml/2006/main">
              <a:ext uri="{FF2B5EF4-FFF2-40B4-BE49-F238E27FC236}">
                <a16:creationId xmlns:a16="http://schemas.microsoft.com/office/drawing/2014/main" id="{2BE3EB63-33C5-4299-B4A8-010E54C5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B. snapshot.mode</a:t>
            </a:r>
          </a:p>
        </p:txBody>
      </p:sp>
      <p:sp>
        <p:nvSpPr>
          <p:cNvPr id="199" name="Text 4">
            <a:extLst xmlns:a="http://schemas.openxmlformats.org/drawingml/2006/main">
              <a:ext uri="{FF2B5EF4-FFF2-40B4-BE49-F238E27FC236}">
                <a16:creationId xmlns:a16="http://schemas.microsoft.com/office/drawing/2014/main" id="{A1EBDA58-2564-4197-8284-3E83A84C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C. heartbeat.interval.ms</a:t>
            </a:r>
          </a:p>
        </p:txBody>
      </p:sp>
      <p:sp>
        <p:nvSpPr>
          <p:cNvPr id="200" name="Text 5">
            <a:extLst xmlns:a="http://schemas.openxmlformats.org/drawingml/2006/main">
              <a:ext uri="{FF2B5EF4-FFF2-40B4-BE49-F238E27FC236}">
                <a16:creationId xmlns:a16="http://schemas.microsoft.com/office/drawing/2014/main" id="{BBE3AA2F-D690-4A04-B464-D36CC6C7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184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D. max.batch.size</a:t>
            </a:r>
          </a:p>
        </p:txBody>
      </p:sp>
      <p:sp>
        <p:nvSpPr>
          <p:cNvPr id="201" name="Text 6">
            <a:extLst xmlns:a="http://schemas.openxmlformats.org/drawingml/2006/main">
              <a:ext uri="{FF2B5EF4-FFF2-40B4-BE49-F238E27FC236}">
                <a16:creationId xmlns:a16="http://schemas.microsoft.com/office/drawing/2014/main" id="{7F5F0137-C4AA-418E-9820-47BFDB63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5928056a4a84c20"/>
              </a:rPr>
              <a:t>[1]</a:t>
            </a:r>
            <a:r>
              <a:rPr sz="700" b="0" u="none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9db2dffd2fc4242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91839965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2" name="Text 0">
            <a:extLst xmlns:a="http://schemas.openxmlformats.org/drawingml/2006/main">
              <a:ext uri="{FF2B5EF4-FFF2-40B4-BE49-F238E27FC236}">
                <a16:creationId xmlns:a16="http://schemas.microsoft.com/office/drawing/2014/main" id="{F844A757-14A7-47AA-8022-0137B6A3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2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Quiz: Question 4</a:t>
            </a:r>
          </a:p>
        </p:txBody>
      </p:sp>
      <p:sp>
        <p:nvSpPr>
          <p:cNvPr id="203" name="Text 1">
            <a:extLst xmlns:a="http://schemas.openxmlformats.org/drawingml/2006/main">
              <a:ext uri="{FF2B5EF4-FFF2-40B4-BE49-F238E27FC236}">
                <a16:creationId xmlns:a16="http://schemas.microsoft.com/office/drawing/2014/main" id="{02D4B983-45A8-4428-9A44-05A506A6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822924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How do you request an ad hoc incremental snapshot for selected PostgreSQL tables?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A. Set snapshot.mode=never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B. Send an execute-snapshot signal for the tables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C. Rename the Kafka topic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D. Increase tasks.max</a:t>
            </a:r>
          </a:p>
        </p:txBody>
      </p:sp>
      <p:sp>
        <p:nvSpPr>
          <p:cNvPr id="204" name="Text 2">
            <a:extLst xmlns:a="http://schemas.openxmlformats.org/drawingml/2006/main">
              <a:ext uri="{FF2B5EF4-FFF2-40B4-BE49-F238E27FC236}">
                <a16:creationId xmlns:a16="http://schemas.microsoft.com/office/drawing/2014/main" id="{71BD3BEE-6ABD-484C-9D36-06270FB1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456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A. snapshot.mode=never</a:t>
            </a:r>
          </a:p>
        </p:txBody>
      </p:sp>
      <p:sp>
        <p:nvSpPr>
          <p:cNvPr id="205" name="Text 3">
            <a:extLst xmlns:a="http://schemas.openxmlformats.org/drawingml/2006/main">
              <a:ext uri="{FF2B5EF4-FFF2-40B4-BE49-F238E27FC236}">
                <a16:creationId xmlns:a16="http://schemas.microsoft.com/office/drawing/2014/main" id="{93B401FE-B1F2-405D-ABCB-DF9192F3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B. incremental.snapshot.enabled=true</a:t>
            </a:r>
          </a:p>
        </p:txBody>
      </p:sp>
      <p:sp>
        <p:nvSpPr>
          <p:cNvPr id="206" name="Text 4">
            <a:extLst xmlns:a="http://schemas.openxmlformats.org/drawingml/2006/main">
              <a:ext uri="{FF2B5EF4-FFF2-40B4-BE49-F238E27FC236}">
                <a16:creationId xmlns:a16="http://schemas.microsoft.com/office/drawing/2014/main" id="{5CF90BE0-C3D6-41E6-AFB7-E3CE8457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C. snapshot.lock.timeout.ms</a:t>
            </a:r>
          </a:p>
        </p:txBody>
      </p:sp>
      <p:sp>
        <p:nvSpPr>
          <p:cNvPr id="207" name="Text 5">
            <a:extLst xmlns:a="http://schemas.openxmlformats.org/drawingml/2006/main">
              <a:ext uri="{FF2B5EF4-FFF2-40B4-BE49-F238E27FC236}">
                <a16:creationId xmlns:a16="http://schemas.microsoft.com/office/drawing/2014/main" id="{E9A20503-785C-4A0F-AB38-A8D4C5C1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184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D. topic.rename</a:t>
            </a:r>
          </a:p>
        </p:txBody>
      </p:sp>
      <p:sp>
        <p:nvSpPr>
          <p:cNvPr id="208" name="Text 6">
            <a:extLst xmlns:a="http://schemas.openxmlformats.org/drawingml/2006/main">
              <a:ext uri="{FF2B5EF4-FFF2-40B4-BE49-F238E27FC236}">
                <a16:creationId xmlns:a16="http://schemas.microsoft.com/office/drawing/2014/main" id="{359433E6-D992-4B2A-9C65-94ECC85C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3240aea266a94f66"/>
              </a:rPr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70741274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9" name="Text 0">
            <a:extLst xmlns:a="http://schemas.openxmlformats.org/drawingml/2006/main">
              <a:ext uri="{FF2B5EF4-FFF2-40B4-BE49-F238E27FC236}">
                <a16:creationId xmlns:a16="http://schemas.microsoft.com/office/drawing/2014/main" id="{D71721C4-A3C7-4CF2-9D04-528D1CD2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2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Quiz: Question 5</a:t>
            </a:r>
          </a:p>
        </p:txBody>
      </p:sp>
      <p:sp>
        <p:nvSpPr>
          <p:cNvPr id="210" name="Text 1">
            <a:extLst xmlns:a="http://schemas.openxmlformats.org/drawingml/2006/main">
              <a:ext uri="{FF2B5EF4-FFF2-40B4-BE49-F238E27FC236}">
                <a16:creationId xmlns:a16="http://schemas.microsoft.com/office/drawing/2014/main" id="{F132006A-886E-4400-AA37-34248812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8229240" cy="91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What does the ExtractNewRecordState SMT do?</a:t>
            </a:r>
          </a:p>
        </p:txBody>
      </p:sp>
      <p:sp>
        <p:nvSpPr>
          <p:cNvPr id="211" name="Text 2">
            <a:extLst xmlns:a="http://schemas.openxmlformats.org/drawingml/2006/main">
              <a:ext uri="{FF2B5EF4-FFF2-40B4-BE49-F238E27FC236}">
                <a16:creationId xmlns:a16="http://schemas.microsoft.com/office/drawing/2014/main" id="{44E761AF-0F18-493D-AFBA-33D43127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456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A. Removes metadata envelope and keeps only after field</a:t>
            </a:r>
          </a:p>
        </p:txBody>
      </p:sp>
      <p:sp>
        <p:nvSpPr>
          <p:cNvPr id="212" name="Text 3">
            <a:extLst xmlns:a="http://schemas.openxmlformats.org/drawingml/2006/main">
              <a:ext uri="{FF2B5EF4-FFF2-40B4-BE49-F238E27FC236}">
                <a16:creationId xmlns:a16="http://schemas.microsoft.com/office/drawing/2014/main" id="{8508DE20-4E44-4E43-B84A-704077A7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B. Renames the Kafka topic</a:t>
            </a:r>
          </a:p>
        </p:txBody>
      </p:sp>
      <p:sp>
        <p:nvSpPr>
          <p:cNvPr id="213" name="Text 4">
            <a:extLst xmlns:a="http://schemas.openxmlformats.org/drawingml/2006/main">
              <a:ext uri="{FF2B5EF4-FFF2-40B4-BE49-F238E27FC236}">
                <a16:creationId xmlns:a16="http://schemas.microsoft.com/office/drawing/2014/main" id="{6C80329F-3C39-464E-A086-F0C35FC0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C. Adds a heartbeat record</a:t>
            </a:r>
          </a:p>
        </p:txBody>
      </p:sp>
      <p:sp>
        <p:nvSpPr>
          <p:cNvPr id="214" name="Text 5">
            <a:extLst xmlns:a="http://schemas.openxmlformats.org/drawingml/2006/main">
              <a:ext uri="{FF2B5EF4-FFF2-40B4-BE49-F238E27FC236}">
                <a16:creationId xmlns:a16="http://schemas.microsoft.com/office/drawing/2014/main" id="{E7237FFF-C8D8-4A0C-9B73-59308EDA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184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D. Converts snapshot mode to full</a:t>
            </a:r>
          </a:p>
        </p:txBody>
      </p:sp>
      <p:sp>
        <p:nvSpPr>
          <p:cNvPr id="215" name="Text 6">
            <a:extLst xmlns:a="http://schemas.openxmlformats.org/drawingml/2006/main">
              <a:ext uri="{FF2B5EF4-FFF2-40B4-BE49-F238E27FC236}">
                <a16:creationId xmlns:a16="http://schemas.microsoft.com/office/drawing/2014/main" id="{4023E947-1EEE-4E1E-97E1-AFAD12DD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58ba3a32a9be425f"/>
              </a:rPr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145683547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6" name="Text 0">
            <a:extLst xmlns:a="http://schemas.openxmlformats.org/drawingml/2006/main">
              <a:ext uri="{FF2B5EF4-FFF2-40B4-BE49-F238E27FC236}">
                <a16:creationId xmlns:a16="http://schemas.microsoft.com/office/drawing/2014/main" id="{0B475F29-83D7-4237-9696-5FDC9768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2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Quiz Answers</a:t>
            </a:r>
          </a:p>
        </p:txBody>
      </p:sp>
      <p:sp>
        <p:nvSpPr>
          <p:cNvPr id="217" name="Text 1">
            <a:extLst xmlns:a="http://schemas.openxmlformats.org/drawingml/2006/main">
              <a:ext uri="{FF2B5EF4-FFF2-40B4-BE49-F238E27FC236}">
                <a16:creationId xmlns:a16="http://schemas.microsoft.com/office/drawing/2014/main" id="{7D2D781B-3744-45CD-8687-924C7CC7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8229240" cy="2102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r>
              <a:rPr sz="1200" b="0" u="none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1. C - Log-based streaming</a:t>
            </a:r>
          </a:p>
          <a:p xmlns:a="http://schemas.openxmlformats.org/drawingml/2006/main">
            <a:r>
              <a:rPr sz="1200" b="0" u="none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2. B - A snapshot record</a:t>
            </a:r>
          </a:p>
          <a:p xmlns:a="http://schemas.openxmlformats.org/drawingml/2006/main">
            <a:r>
              <a:rPr sz="1200" b="0" u="none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3. A - tasks.max</a:t>
            </a:r>
          </a:p>
          <a:p xmlns:a="http://schemas.openxmlformats.org/drawingml/2006/main">
            <a:r>
              <a:rPr sz="1200" b="0" u="none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4. B - Send an execute-snapshot signal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200" b="0" u="none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5. A - Removes the envelope and exposes row state (configure delete handling deliberately)</a:t>
            </a:r>
          </a:p>
        </p:txBody>
      </p:sp>
      <p:sp>
        <p:nvSpPr>
          <p:cNvPr id="218" name="Text 2">
            <a:extLst xmlns:a="http://schemas.openxmlformats.org/drawingml/2006/main">
              <a:ext uri="{FF2B5EF4-FFF2-40B4-BE49-F238E27FC236}">
                <a16:creationId xmlns:a16="http://schemas.microsoft.com/office/drawing/2014/main" id="{36DAC552-1953-483F-BD97-FB389905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c2b78c557b0c4a73"/>
              </a:rPr>
              <a:t>[1]</a:t>
            </a:r>
            <a:r>
              <a:rPr sz="700" b="0" u="none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cab064ec3c344587"/>
              </a:rPr>
              <a:t>[2]</a:t>
            </a:r>
            <a:r>
              <a:rPr sz="700" b="0" u="none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354ed955df041c4"/>
              </a:rPr>
              <a:t>[3]</a:t>
            </a:r>
            <a:r>
              <a:rPr sz="700" b="0" u="none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b7565054d9224dfe"/>
              </a:rPr>
              <a:t>[4]</a:t>
            </a:r>
            <a:r>
              <a:rPr sz="700" b="0" u="none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408a71ed637649a1"/>
              </a:rPr>
              <a:t>[5]</a:t>
            </a:r>
          </a:p>
        </p:txBody>
      </p:sp>
    </p:spTree>
    <p:extLst>
      <p:ext uri="{BB962C8B-B14F-4D97-AF65-F5344CB8AC3E}">
        <p14:creationId xmlns:p14="http://schemas.microsoft.com/office/powerpoint/2010/main" val="36618107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9" name="Text 0">
            <a:extLst xmlns:a="http://schemas.openxmlformats.org/drawingml/2006/main">
              <a:ext uri="{FF2B5EF4-FFF2-40B4-BE49-F238E27FC236}">
                <a16:creationId xmlns:a16="http://schemas.microsoft.com/office/drawing/2014/main" id="{5CB0991F-A150-4E88-B125-E0282073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240" cy="548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2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Recap &amp; Next Steps</a:t>
            </a:r>
          </a:p>
        </p:txBody>
      </p:sp>
      <p:sp>
        <p:nvSpPr>
          <p:cNvPr id="220" name="Text 1">
            <a:extLst xmlns:a="http://schemas.openxmlformats.org/drawingml/2006/main">
              <a:ext uri="{FF2B5EF4-FFF2-40B4-BE49-F238E27FC236}">
                <a16:creationId xmlns:a16="http://schemas.microsoft.com/office/drawing/2014/main" id="{45790AB7-7B9D-4558-A1A2-438E6E5E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8229240" cy="301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r>
              <a:rPr sz="1400" b="1" u="none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On Day 5: We design production ingestion from CDC, clickstream and batch files, then protect downstream consumers with schemas, validation and DLQ patterns.</a:t>
            </a:r>
          </a:p>
        </p:txBody>
      </p:sp>
      <p:sp>
        <p:nvSpPr>
          <p:cNvPr id="221" name="Text 2">
            <a:extLst xmlns:a="http://schemas.openxmlformats.org/drawingml/2006/main">
              <a:ext uri="{FF2B5EF4-FFF2-40B4-BE49-F238E27FC236}">
                <a16:creationId xmlns:a16="http://schemas.microsoft.com/office/drawing/2014/main" id="{FF3128B4-326F-4255-9E4E-AF7EF52B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8229240" cy="36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e2e4f40ef054ce5"/>
              </a:rPr>
              <a:t>[1]</a:t>
            </a:r>
            <a:r>
              <a:rPr sz="700" b="0" u="none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cb8eb75f236d469d"/>
              </a:rPr>
              <a:t>[2]</a:t>
            </a:r>
            <a:r>
              <a:rPr sz="700" b="0" u="none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  </a:t>
            </a:r>
            <a:r>
              <a:rPr sz="700" b="0" u="sng">
                <a:solidFill>
                  <a:srgbClr val="3366BB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a7a028ccf5d946a5"/>
              </a:rPr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1041264633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2026-05-26T08:23:50.6700000Z</dcterms:created>
  <dcterms:modified xsi:type="dcterms:W3CDTF">2026-05-26T08:23:50.6700000Z</dcterms:modified>
</coreProperties>
</file>