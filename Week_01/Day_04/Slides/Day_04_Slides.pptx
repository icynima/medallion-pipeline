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0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</p:sldIdLst>
  <p:sldSz cx="9144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I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A2CDCCC2-ED96-4D31-B463-98B1BB88255B}" type="slidenum"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PlaceHolder 3"/>
          <p:cNvSpPr>
            <a:spLocks noGrp="1"/>
          </p:cNvSpPr>
          <p:nvPr>
            <p:ph type="sldNum" idx="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PlaceHolder 3"/>
          <p:cNvSpPr>
            <a:spLocks noGrp="1"/>
          </p:cNvSpPr>
          <p:nvPr>
            <p:ph type="sldNum" idx="3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PlaceHolder 3"/>
          <p:cNvSpPr>
            <a:spLocks noGrp="1"/>
          </p:cNvSpPr>
          <p:nvPr>
            <p:ph type="sldNum" idx="3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PlaceHolder 3"/>
          <p:cNvSpPr>
            <a:spLocks noGrp="1"/>
          </p:cNvSpPr>
          <p:nvPr>
            <p:ph type="sldNum" idx="3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PlaceHolder 3"/>
          <p:cNvSpPr>
            <a:spLocks noGrp="1"/>
          </p:cNvSpPr>
          <p:nvPr>
            <p:ph type="sldNum" idx="3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PlaceHolder 3"/>
          <p:cNvSpPr>
            <a:spLocks noGrp="1"/>
          </p:cNvSpPr>
          <p:nvPr>
            <p:ph type="sldNum" idx="3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PlaceHolder 3"/>
          <p:cNvSpPr>
            <a:spLocks noGrp="1"/>
          </p:cNvSpPr>
          <p:nvPr>
            <p:ph type="sldNum" idx="3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hyperlink" Target="file:///C:/Users/Gamer/Downloads/Training/Week1/Day%204/&#12304;243599994391698&#8224;L45-L50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hyperlink" Target="file:///C:/Users/Gamer/Downloads/Training/Week1/Day%204/&#12304;590905102876471&#8224;L109-L136&#12305;" TargetMode="Externa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243599994391698&#8224;L45-L50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672344311009396&#8224;L544-L558&#12305;" TargetMode="External"/><Relationship Id="rId2" Type="http://schemas.openxmlformats.org/officeDocument/2006/relationships/hyperlink" Target="file:///C:/Users/Gamer/Downloads/Training/Week1/Day%204/&#12304;672344311009396&#8224;L589-L627&#12305;" TargetMode="External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672344311009396&#8224;L638-L702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743847820016450&#8224;L132-L145&#12305;" TargetMode="External"/><Relationship Id="rId2" Type="http://schemas.openxmlformats.org/officeDocument/2006/relationships/hyperlink" Target="file:///C:/Users/Gamer/Downloads/Training/Week1/Day%204/&#12304;743847820016450&#8224;L154-L170&#12305;" TargetMode="External"/><Relationship Id="rId3" Type="http://schemas.openxmlformats.org/officeDocument/2006/relationships/hyperlink" Target="file:///C:/Users/Gamer/Downloads/Training/Week1/Day%204/&#12304;743847820016450&#8224;L174-L190&#12305;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image" Target="../media/image7.png"/><Relationship Id="rId7" Type="http://schemas.openxmlformats.org/officeDocument/2006/relationships/image" Target="../media/image7.png"/><Relationship Id="rId8" Type="http://schemas.openxmlformats.org/officeDocument/2006/relationships/image" Target="../media/image7.png"/><Relationship Id="rId9" Type="http://schemas.openxmlformats.org/officeDocument/2006/relationships/hyperlink" Target="file:///C:/Users/Gamer/Downloads/Training/Week1/Day%204/&#12304;672344311009396&#8224;L717-L749&#12305;" TargetMode="External"/><Relationship Id="rId10" Type="http://schemas.openxmlformats.org/officeDocument/2006/relationships/hyperlink" Target="file:///C:/Users/Gamer/Downloads/Training/Week1/Day%204/&#12304;17352650637092&#8224;L190-L215&#12305;" TargetMode="Externa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743847820016450&#8224;L132-L145&#12305;" TargetMode="External"/><Relationship Id="rId2" Type="http://schemas.openxmlformats.org/officeDocument/2006/relationships/hyperlink" Target="file:///C:/Users/Gamer/Downloads/Training/Week1/Day%204/&#12304;743847820016450&#8224;L154-L170&#12305;" TargetMode="External"/><Relationship Id="rId3" Type="http://schemas.openxmlformats.org/officeDocument/2006/relationships/hyperlink" Target="file:///C:/Users/Gamer/Downloads/Training/Week1/Day%204/&#12304;743847820016450&#8224;L174-L190&#12305;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2.jpeg"/><Relationship Id="rId2" Type="http://schemas.openxmlformats.org/officeDocument/2006/relationships/hyperlink" Target="file:///C:/Users/Gamer/Downloads/Training/Week1/Day%204/&#12304;590905102876471&#8224;L109-L136&#12305;" TargetMode="External"/><Relationship Id="rId3" Type="http://schemas.openxmlformats.org/officeDocument/2006/relationships/hyperlink" Target="file:///C:/Users/Gamer/Downloads/Training/Week1/Day%204/&#12304;590905102876471&#8224;L160-L205&#12305;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901517790178346&#8224;L122-L149&#12305;" TargetMode="External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4.jpeg"/><Relationship Id="rId2" Type="http://schemas.openxmlformats.org/officeDocument/2006/relationships/hyperlink" Target="file:///C:/Users/Gamer/Downloads/Training/Week1/Day%204/&#12304;901517790178346&#8224;L155-L170&#12305;" TargetMode="External"/><Relationship Id="rId3" Type="http://schemas.openxmlformats.org/officeDocument/2006/relationships/hyperlink" Target="file:///C:/Users/Gamer/Downloads/Training/Week1/Day%204/&#12304;25194570669191&#8224;L120-L139&#12305;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590905102876471&#8224;L160-L205&#12305;" TargetMode="External"/><Relationship Id="rId2" Type="http://schemas.openxmlformats.org/officeDocument/2006/relationships/hyperlink" Target="file:///C:/Users/Gamer/Downloads/Training/Week1/Day%204/&#12304;590905102876471&#8224;L267-L287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590905102876471&#8224;L148-L156&#12305;" TargetMode="External"/><Relationship Id="rId2" Type="http://schemas.openxmlformats.org/officeDocument/2006/relationships/hyperlink" Target="file:///C:/Users/Gamer/Downloads/Training/Week1/Day%204/&#12304;590905102876471&#8224;L305-L319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590905102876471&#8224;L160-L205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901517790178346&#8224;L122-L149&#12305;" TargetMode="External"/><Relationship Id="rId2" Type="http://schemas.openxmlformats.org/officeDocument/2006/relationships/hyperlink" Target="file:///C:/Users/Gamer/Downloads/Training/Week1/Day%204/&#12304;25194570669191&#8224;L120-L139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901517790178346&#8224;L122-L149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901517790178346&#8224;L122-L149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590905102876471&#8224;L305-L319&#12305;" TargetMode="External"/><Relationship Id="rId2" Type="http://schemas.openxmlformats.org/officeDocument/2006/relationships/hyperlink" Target="file:///C:/Users/Gamer/Downloads/Training/Week1/Day%204/&#12304;590905102876471&#8224;L377-L411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590905102876471&#8224;L109-L136&#12305;" TargetMode="External"/><Relationship Id="rId2" Type="http://schemas.openxmlformats.org/officeDocument/2006/relationships/hyperlink" Target="file:///C:/Users/Gamer/Downloads/Training/Week1/Day%204/&#12304;743847820016450&#8224;L132-L145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901517790178346&#8224;L122-L149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17.png"/><Relationship Id="rId6" Type="http://schemas.openxmlformats.org/officeDocument/2006/relationships/hyperlink" Target="file:///C:/Users/Gamer/Downloads/Training/Week1/Day%204/&#12304;25194570669191&#8224;L156-L170&#12305;" TargetMode="Externa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590905102876471&#8224;L218-L258&#12305;" TargetMode="External"/><Relationship Id="rId2" Type="http://schemas.openxmlformats.org/officeDocument/2006/relationships/hyperlink" Target="file:///C:/Users/Gamer/Downloads/Training/Week1/Day%204/&#12304;590905102876471&#8224;L267-L287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590905102876471&#8224;L305-L319&#12305;" TargetMode="External"/><Relationship Id="rId2" Type="http://schemas.openxmlformats.org/officeDocument/2006/relationships/hyperlink" Target="file:///C:/Users/Gamer/Downloads/Training/Week1/Day%204/&#12304;590905102876471&#8224;L377-L411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590905102876471&#8224;L377-L411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590905102876471&#8224;L267-L287&#12305;" TargetMode="External"/><Relationship Id="rId2" Type="http://schemas.openxmlformats.org/officeDocument/2006/relationships/hyperlink" Target="file:///C:/Users/Gamer/Downloads/Training/Week1/Day%204/&#12304;590905102876471&#8224;L305-L319&#12305;" TargetMode="External"/><Relationship Id="rId3" Type="http://schemas.openxmlformats.org/officeDocument/2006/relationships/hyperlink" Target="file:///C:/Users/Gamer/Downloads/Training/Week1/Day%204/&#12304;590905102876471&#8224;L377-L411&#12305;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25194570669191&#8224;L156-L170&#12305;" TargetMode="External"/><Relationship Id="rId2" Type="http://schemas.openxmlformats.org/officeDocument/2006/relationships/hyperlink" Target="file:///C:/Users/Gamer/Downloads/Training/Week1/Day%204/&#12304;590905102876471&#8224;L218-L258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590905102876471&#8224;L218-L258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590905102876471&#8224;L267-L287&#12305;" TargetMode="External"/><Relationship Id="rId2" Type="http://schemas.openxmlformats.org/officeDocument/2006/relationships/hyperlink" Target="file:///C:/Users/Gamer/Downloads/Training/Week1/Day%204/&#12304;590905102876471&#8224;L305-L319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743847820016450&#8224;L132-L145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590905102876471&#8224;L160-L205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590905102876471&#8224;L218-L258&#12305;" TargetMode="External"/><Relationship Id="rId2" Type="http://schemas.openxmlformats.org/officeDocument/2006/relationships/hyperlink" Target="file:///C:/Users/Gamer/Downloads/Training/Week1/Day%204/&#12304;590905102876471&#8224;L377-L411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590905102876471&#8224;L267-L287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590905102876471&#8224;L305-L319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743847820016450&#8224;L132-L145&#12305;" TargetMode="External"/><Relationship Id="rId2" Type="http://schemas.openxmlformats.org/officeDocument/2006/relationships/hyperlink" Target="file:///C:/Users/Gamer/Downloads/Training/Week1/Day%204/&#12304;590905102876471&#8224;L160-L205&#12305;" TargetMode="External"/><Relationship Id="rId3" Type="http://schemas.openxmlformats.org/officeDocument/2006/relationships/hyperlink" Target="file:///C:/Users/Gamer/Downloads/Training/Week1/Day%204/&#12304;590905102876471&#8224;L218-L258&#12305;" TargetMode="External"/><Relationship Id="rId4" Type="http://schemas.openxmlformats.org/officeDocument/2006/relationships/hyperlink" Target="file:///C:/Users/Gamer/Downloads/Training/Week1/Day%204/&#12304;590905102876471&#8224;L267-L287&#12305;" TargetMode="External"/><Relationship Id="rId5" Type="http://schemas.openxmlformats.org/officeDocument/2006/relationships/hyperlink" Target="file:///C:/Users/Gamer/Downloads/Training/Week1/Day%204/&#12304;590905102876471&#8224;L305-L319&#12305;" TargetMode="Externa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243599994391698&#8224;L45-L50&#12305;" TargetMode="External"/><Relationship Id="rId2" Type="http://schemas.openxmlformats.org/officeDocument/2006/relationships/hyperlink" Target="file:///C:/Users/Gamer/Downloads/Training/Week1/Day%204/&#12304;901517790178346&#8224;L122-L149&#12305;" TargetMode="External"/><Relationship Id="rId3" Type="http://schemas.openxmlformats.org/officeDocument/2006/relationships/hyperlink" Target="file:///C:/Users/Gamer/Downloads/Training/Week1/Day%204/&#12304;590905102876471&#8224;L267-L287&#12305;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457200" y="1280160"/>
            <a:ext cx="502848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Day 4: Change Data Capture &amp; Debezium</a:t>
            </a:r>
            <a:endParaRPr lang="en-IN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i="1" u="none" strike="noStrike">
                <a:solidFill>
                  <a:srgbClr val="585858"/>
                </a:solidFill>
                <a:effectLst/>
                <a:uFillTx/>
                <a:latin typeface="Calibri"/>
                <a:ea typeface="Calibri"/>
              </a:rPr>
              <a:t>Modern Data Engineering Series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" name="Image 0"/>
          <p:cNvPicPr/>
          <p:nvPr/>
        </p:nvPicPr>
        <p:blipFill>
          <a:blip r:embed="rId1"/>
          <a:stretch/>
        </p:blipFill>
        <p:spPr>
          <a:xfrm>
            <a:off x="5486400" y="640080"/>
            <a:ext cx="3656880" cy="274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Text 1"/>
          <p:cNvSpPr/>
          <p:nvPr/>
        </p:nvSpPr>
        <p:spPr>
          <a:xfrm>
            <a:off x="457200" y="2377440"/>
            <a:ext cx="50284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404040"/>
                </a:solidFill>
                <a:effectLst/>
                <a:uFillTx/>
                <a:latin typeface="Calibri"/>
                <a:ea typeface="Calibri"/>
              </a:rPr>
              <a:t>Understanding CDC fundamentals, Debezium internals, connectors, configuration and hands-on lab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2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2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0"/>
          <p:cNvSpPr/>
          <p:nvPr/>
        </p:nvSpPr>
        <p:spPr>
          <a:xfrm>
            <a:off x="457200" y="457200"/>
            <a:ext cx="73144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Learning Objectives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" name="Image 0"/>
          <p:cNvPicPr/>
          <p:nvPr/>
        </p:nvPicPr>
        <p:blipFill>
          <a:blip r:embed="rId1"/>
          <a:stretch/>
        </p:blipFill>
        <p:spPr>
          <a:xfrm>
            <a:off x="457200" y="118872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" name="Text 1"/>
          <p:cNvSpPr/>
          <p:nvPr/>
        </p:nvSpPr>
        <p:spPr>
          <a:xfrm>
            <a:off x="822960" y="1234440"/>
            <a:ext cx="77716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Define CDC and its benefits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" name="Image 1"/>
          <p:cNvPicPr/>
          <p:nvPr/>
        </p:nvPicPr>
        <p:blipFill>
          <a:blip r:embed="rId2"/>
          <a:stretch/>
        </p:blipFill>
        <p:spPr>
          <a:xfrm>
            <a:off x="457200" y="164592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Text 2"/>
          <p:cNvSpPr/>
          <p:nvPr/>
        </p:nvSpPr>
        <p:spPr>
          <a:xfrm>
            <a:off x="822960" y="1691640"/>
            <a:ext cx="77716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Compare CDC methods and patterns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" name="Image 2"/>
          <p:cNvPicPr/>
          <p:nvPr/>
        </p:nvPicPr>
        <p:blipFill>
          <a:blip r:embed="rId3"/>
          <a:stretch/>
        </p:blipFill>
        <p:spPr>
          <a:xfrm>
            <a:off x="457200" y="210312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Text 3"/>
          <p:cNvSpPr/>
          <p:nvPr/>
        </p:nvSpPr>
        <p:spPr>
          <a:xfrm>
            <a:off x="822960" y="2148840"/>
            <a:ext cx="77716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Explain Debezium architecture &amp; event structure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" name="Image 3"/>
          <p:cNvPicPr/>
          <p:nvPr/>
        </p:nvPicPr>
        <p:blipFill>
          <a:blip r:embed="rId4"/>
          <a:stretch/>
        </p:blipFill>
        <p:spPr>
          <a:xfrm>
            <a:off x="457200" y="256032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Text 4"/>
          <p:cNvSpPr/>
          <p:nvPr/>
        </p:nvSpPr>
        <p:spPr>
          <a:xfrm>
            <a:off x="822960" y="2606040"/>
            <a:ext cx="77716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Explore connector landscape and deployment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" name="Image 4"/>
          <p:cNvPicPr/>
          <p:nvPr/>
        </p:nvPicPr>
        <p:blipFill>
          <a:blip r:embed="rId5"/>
          <a:stretch/>
        </p:blipFill>
        <p:spPr>
          <a:xfrm>
            <a:off x="457200" y="301752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Text 5"/>
          <p:cNvSpPr/>
          <p:nvPr/>
        </p:nvSpPr>
        <p:spPr>
          <a:xfrm>
            <a:off x="822960" y="3063240"/>
            <a:ext cx="77716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Configure connectors via Kafka Connect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" name="Image 5"/>
          <p:cNvPicPr/>
          <p:nvPr/>
        </p:nvPicPr>
        <p:blipFill>
          <a:blip r:embed="rId6"/>
          <a:stretch/>
        </p:blipFill>
        <p:spPr>
          <a:xfrm>
            <a:off x="457200" y="347472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" name="Text 6"/>
          <p:cNvSpPr/>
          <p:nvPr/>
        </p:nvSpPr>
        <p:spPr>
          <a:xfrm>
            <a:off x="822960" y="3520440"/>
            <a:ext cx="77716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Capture changes hands-on &amp; analyze events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7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7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0"/>
          <p:cNvSpPr/>
          <p:nvPr/>
        </p:nvSpPr>
        <p:spPr>
          <a:xfrm>
            <a:off x="457200" y="457200"/>
            <a:ext cx="3656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Agenda</a:t>
            </a:r>
            <a:endParaRPr lang="en-IN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"/>
          <p:cNvSpPr/>
          <p:nvPr/>
        </p:nvSpPr>
        <p:spPr>
          <a:xfrm>
            <a:off x="360000" y="1280160"/>
            <a:ext cx="539640" cy="319320"/>
          </a:xfrm>
          <a:prstGeom prst="rect">
            <a:avLst/>
          </a:prstGeom>
          <a:solidFill>
            <a:srgbClr val="00adef"/>
          </a:solidFill>
          <a:ln w="12700">
            <a:solidFill>
              <a:srgbClr val="00a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0" name="Text 2"/>
          <p:cNvSpPr/>
          <p:nvPr/>
        </p:nvSpPr>
        <p:spPr>
          <a:xfrm>
            <a:off x="277200" y="1280160"/>
            <a:ext cx="6224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09:00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3"/>
          <p:cNvSpPr/>
          <p:nvPr/>
        </p:nvSpPr>
        <p:spPr>
          <a:xfrm>
            <a:off x="914400" y="1325880"/>
            <a:ext cx="7771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CDC Fundamentals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4"/>
          <p:cNvSpPr/>
          <p:nvPr/>
        </p:nvSpPr>
        <p:spPr>
          <a:xfrm>
            <a:off x="360000" y="1828800"/>
            <a:ext cx="539640" cy="319320"/>
          </a:xfrm>
          <a:prstGeom prst="rect">
            <a:avLst/>
          </a:prstGeom>
          <a:solidFill>
            <a:srgbClr val="00adef"/>
          </a:solidFill>
          <a:ln w="12700">
            <a:solidFill>
              <a:srgbClr val="00a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3" name="Text 5"/>
          <p:cNvSpPr/>
          <p:nvPr/>
        </p:nvSpPr>
        <p:spPr>
          <a:xfrm>
            <a:off x="360000" y="1828800"/>
            <a:ext cx="539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10:30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6"/>
          <p:cNvSpPr/>
          <p:nvPr/>
        </p:nvSpPr>
        <p:spPr>
          <a:xfrm>
            <a:off x="914400" y="1874520"/>
            <a:ext cx="7771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Debezium Architecture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7"/>
          <p:cNvSpPr/>
          <p:nvPr/>
        </p:nvSpPr>
        <p:spPr>
          <a:xfrm>
            <a:off x="360000" y="2377440"/>
            <a:ext cx="539640" cy="319320"/>
          </a:xfrm>
          <a:prstGeom prst="rect">
            <a:avLst/>
          </a:prstGeom>
          <a:solidFill>
            <a:srgbClr val="00adef"/>
          </a:solidFill>
          <a:ln w="12700">
            <a:solidFill>
              <a:srgbClr val="00a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6" name="Text 8"/>
          <p:cNvSpPr/>
          <p:nvPr/>
        </p:nvSpPr>
        <p:spPr>
          <a:xfrm>
            <a:off x="360000" y="2377440"/>
            <a:ext cx="539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12:00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9"/>
          <p:cNvSpPr/>
          <p:nvPr/>
        </p:nvSpPr>
        <p:spPr>
          <a:xfrm>
            <a:off x="914400" y="2423160"/>
            <a:ext cx="7771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Connector Landscape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0"/>
          <p:cNvSpPr/>
          <p:nvPr/>
        </p:nvSpPr>
        <p:spPr>
          <a:xfrm>
            <a:off x="360000" y="2926080"/>
            <a:ext cx="539640" cy="319320"/>
          </a:xfrm>
          <a:prstGeom prst="rect">
            <a:avLst/>
          </a:prstGeom>
          <a:solidFill>
            <a:srgbClr val="00adef"/>
          </a:solidFill>
          <a:ln w="12700">
            <a:solidFill>
              <a:srgbClr val="00a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9" name="Text 11"/>
          <p:cNvSpPr/>
          <p:nvPr/>
        </p:nvSpPr>
        <p:spPr>
          <a:xfrm>
            <a:off x="360000" y="2926080"/>
            <a:ext cx="539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13:30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12"/>
          <p:cNvSpPr/>
          <p:nvPr/>
        </p:nvSpPr>
        <p:spPr>
          <a:xfrm>
            <a:off x="914400" y="2971800"/>
            <a:ext cx="7771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Connector Configuration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13"/>
          <p:cNvSpPr/>
          <p:nvPr/>
        </p:nvSpPr>
        <p:spPr>
          <a:xfrm>
            <a:off x="360000" y="3474720"/>
            <a:ext cx="539640" cy="319320"/>
          </a:xfrm>
          <a:prstGeom prst="rect">
            <a:avLst/>
          </a:prstGeom>
          <a:solidFill>
            <a:srgbClr val="00adef"/>
          </a:solidFill>
          <a:ln w="12700">
            <a:solidFill>
              <a:srgbClr val="00a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2" name="Text 14"/>
          <p:cNvSpPr/>
          <p:nvPr/>
        </p:nvSpPr>
        <p:spPr>
          <a:xfrm>
            <a:off x="360000" y="3474720"/>
            <a:ext cx="539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15:00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5"/>
          <p:cNvSpPr/>
          <p:nvPr/>
        </p:nvSpPr>
        <p:spPr>
          <a:xfrm>
            <a:off x="914400" y="3520440"/>
            <a:ext cx="7771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Hands-On Lab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16"/>
          <p:cNvSpPr/>
          <p:nvPr/>
        </p:nvSpPr>
        <p:spPr>
          <a:xfrm>
            <a:off x="360000" y="4023360"/>
            <a:ext cx="539640" cy="319320"/>
          </a:xfrm>
          <a:prstGeom prst="rect">
            <a:avLst/>
          </a:prstGeom>
          <a:solidFill>
            <a:srgbClr val="00adef"/>
          </a:solidFill>
          <a:ln w="12700">
            <a:solidFill>
              <a:srgbClr val="00a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5" name="Text 17"/>
          <p:cNvSpPr/>
          <p:nvPr/>
        </p:nvSpPr>
        <p:spPr>
          <a:xfrm>
            <a:off x="360000" y="4023360"/>
            <a:ext cx="539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16:30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8"/>
          <p:cNvSpPr/>
          <p:nvPr/>
        </p:nvSpPr>
        <p:spPr>
          <a:xfrm>
            <a:off x="914400" y="4069080"/>
            <a:ext cx="7771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Quiz &amp; Recap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9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What is Change Data Capture?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"/>
          <p:cNvSpPr/>
          <p:nvPr/>
        </p:nvSpPr>
        <p:spPr>
          <a:xfrm>
            <a:off x="457200" y="1097280"/>
            <a:ext cx="4845600" cy="30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CDC is a design pattern that records row-level data changes (inserts, updates, deletes) and propagates them as events in real time.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Why CDC?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Eliminates heavy batch ETL jobs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Enables real-time data synchronization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Supports microservices &amp; event-driven architectures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Guarantees data consistency and ordering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2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" name="Picture 50"/>
          <p:cNvPicPr/>
          <p:nvPr/>
        </p:nvPicPr>
        <p:blipFill>
          <a:blip r:embed="rId3"/>
          <a:stretch/>
        </p:blipFill>
        <p:spPr>
          <a:xfrm>
            <a:off x="5076000" y="556200"/>
            <a:ext cx="3563640" cy="2323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CDC Patterns: Push vs Pull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1"/>
          <p:cNvSpPr/>
          <p:nvPr/>
        </p:nvSpPr>
        <p:spPr>
          <a:xfrm>
            <a:off x="457200" y="1097280"/>
            <a:ext cx="4114080" cy="2010960"/>
          </a:xfrm>
          <a:prstGeom prst="roundRect">
            <a:avLst>
              <a:gd name="adj" fmla="val 4545"/>
            </a:avLst>
          </a:prstGeom>
          <a:solidFill>
            <a:srgbClr val="e8f5e9"/>
          </a:solidFill>
          <a:ln w="12700">
            <a:solidFill>
              <a:srgbClr val="c5e1a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4" name="Text 2"/>
          <p:cNvSpPr/>
          <p:nvPr/>
        </p:nvSpPr>
        <p:spPr>
          <a:xfrm>
            <a:off x="502920" y="1143000"/>
            <a:ext cx="4022640" cy="19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Push (Log-based)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• Database writes change events to a log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• CDC tool streams events to consumers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• Low overhead, preserves order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• Requires privileges on DB logs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3"/>
          <p:cNvSpPr/>
          <p:nvPr/>
        </p:nvSpPr>
        <p:spPr>
          <a:xfrm>
            <a:off x="4572000" y="1097280"/>
            <a:ext cx="4114080" cy="2010960"/>
          </a:xfrm>
          <a:prstGeom prst="roundRect">
            <a:avLst>
              <a:gd name="adj" fmla="val 4545"/>
            </a:avLst>
          </a:prstGeom>
          <a:solidFill>
            <a:srgbClr val="fff3e0"/>
          </a:solidFill>
          <a:ln w="12700">
            <a:solidFill>
              <a:srgbClr val="ffcc8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6" name="Text 4"/>
          <p:cNvSpPr/>
          <p:nvPr/>
        </p:nvSpPr>
        <p:spPr>
          <a:xfrm>
            <a:off x="4617720" y="1143000"/>
            <a:ext cx="4022640" cy="19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e65100"/>
                </a:solidFill>
                <a:effectLst/>
                <a:uFillTx/>
                <a:latin typeface="Calibri"/>
                <a:ea typeface="Calibri"/>
              </a:rPr>
              <a:t>Pull (Query/Trigger)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e65100"/>
                </a:solidFill>
                <a:effectLst/>
                <a:uFillTx/>
                <a:latin typeface="Calibri"/>
                <a:ea typeface="Calibri"/>
              </a:rPr>
              <a:t>• Periodic queries or triggers detect changes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e65100"/>
                </a:solidFill>
                <a:effectLst/>
                <a:uFillTx/>
                <a:latin typeface="Calibri"/>
                <a:ea typeface="Calibri"/>
              </a:rPr>
              <a:t>• Simple to implement, works on any DB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e65100"/>
                </a:solidFill>
                <a:effectLst/>
                <a:uFillTx/>
                <a:latin typeface="Calibri"/>
                <a:ea typeface="Calibri"/>
              </a:rPr>
              <a:t>• Higher overhead, cannot capture deletes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5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Box 1"/>
          <p:cNvSpPr/>
          <p:nvPr/>
        </p:nvSpPr>
        <p:spPr>
          <a:xfrm>
            <a:off x="502920" y="438840"/>
            <a:ext cx="8137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8360" rIns="18360" tIns="18360" bIns="18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CDC Watermark In The Medallion Pipeline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Box 2"/>
          <p:cNvSpPr/>
          <p:nvPr/>
        </p:nvSpPr>
        <p:spPr>
          <a:xfrm>
            <a:off x="521280" y="896040"/>
            <a:ext cx="7772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8360" rIns="18360" tIns="18360" bIns="18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i="1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Kafka carries the changes; the watermark tells each layer how far it has processed.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3"/>
          <p:cNvSpPr/>
          <p:nvPr/>
        </p:nvSpPr>
        <p:spPr>
          <a:xfrm>
            <a:off x="530280" y="6355080"/>
            <a:ext cx="1096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8360" rIns="18360" tIns="18360" bIns="18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0066cc"/>
                </a:solidFill>
                <a:effectLst/>
                <a:uFillTx/>
                <a:latin typeface="Calibri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Rounded Rectangle 4"/>
          <p:cNvSpPr/>
          <p:nvPr/>
        </p:nvSpPr>
        <p:spPr>
          <a:xfrm>
            <a:off x="658440" y="1234440"/>
            <a:ext cx="1298160" cy="548280"/>
          </a:xfrm>
          <a:prstGeom prst="roundRect">
            <a:avLst>
              <a:gd name="adj" fmla="val 8000"/>
            </a:avLst>
          </a:prstGeom>
          <a:solidFill>
            <a:srgbClr val="e7f2ff"/>
          </a:solidFill>
          <a:ln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Postgres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Rounded Rectangle 5"/>
          <p:cNvSpPr/>
          <p:nvPr/>
        </p:nvSpPr>
        <p:spPr>
          <a:xfrm>
            <a:off x="2167200" y="1234440"/>
            <a:ext cx="1298160" cy="548280"/>
          </a:xfrm>
          <a:prstGeom prst="roundRect">
            <a:avLst>
              <a:gd name="adj" fmla="val 8000"/>
            </a:avLst>
          </a:prstGeom>
          <a:solidFill>
            <a:srgbClr val="e2f5e9"/>
          </a:solidFill>
          <a:ln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Kafka CDC topic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Right Arrow 6"/>
          <p:cNvSpPr/>
          <p:nvPr/>
        </p:nvSpPr>
        <p:spPr>
          <a:xfrm>
            <a:off x="1993680" y="1417320"/>
            <a:ext cx="136440" cy="1825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b6c"/>
          </a:solidFill>
          <a:ln>
            <a:solidFill>
              <a:srgbClr val="002b6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" name="Rounded Rectangle 7"/>
          <p:cNvSpPr/>
          <p:nvPr/>
        </p:nvSpPr>
        <p:spPr>
          <a:xfrm>
            <a:off x="3675960" y="1234440"/>
            <a:ext cx="1298160" cy="548280"/>
          </a:xfrm>
          <a:prstGeom prst="roundRect">
            <a:avLst>
              <a:gd name="adj" fmla="val 8000"/>
            </a:avLst>
          </a:prstGeom>
          <a:solidFill>
            <a:srgbClr val="fff1d8"/>
          </a:solidFill>
          <a:ln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Bronze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Right Arrow 8"/>
          <p:cNvSpPr/>
          <p:nvPr/>
        </p:nvSpPr>
        <p:spPr>
          <a:xfrm>
            <a:off x="3502440" y="1417320"/>
            <a:ext cx="136440" cy="1825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b6c"/>
          </a:solidFill>
          <a:ln>
            <a:solidFill>
              <a:srgbClr val="002b6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" name="Rounded Rectangle 9"/>
          <p:cNvSpPr/>
          <p:nvPr/>
        </p:nvSpPr>
        <p:spPr>
          <a:xfrm>
            <a:off x="5184720" y="1234440"/>
            <a:ext cx="1298160" cy="54828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Silver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Right Arrow 10"/>
          <p:cNvSpPr/>
          <p:nvPr/>
        </p:nvSpPr>
        <p:spPr>
          <a:xfrm>
            <a:off x="5011200" y="1417320"/>
            <a:ext cx="136440" cy="1825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b6c"/>
          </a:solidFill>
          <a:ln>
            <a:solidFill>
              <a:srgbClr val="002b6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Rounded Rectangle 11"/>
          <p:cNvSpPr/>
          <p:nvPr/>
        </p:nvSpPr>
        <p:spPr>
          <a:xfrm>
            <a:off x="6693480" y="1234440"/>
            <a:ext cx="1298160" cy="548280"/>
          </a:xfrm>
          <a:prstGeom prst="roundRect">
            <a:avLst>
              <a:gd name="adj" fmla="val 8000"/>
            </a:avLst>
          </a:prstGeom>
          <a:solidFill>
            <a:srgbClr val="fce4e8"/>
          </a:solidFill>
          <a:ln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Gold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Right Arrow 12"/>
          <p:cNvSpPr/>
          <p:nvPr/>
        </p:nvSpPr>
        <p:spPr>
          <a:xfrm>
            <a:off x="6519960" y="1417320"/>
            <a:ext cx="136440" cy="1825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b6c"/>
          </a:solidFill>
          <a:ln>
            <a:solidFill>
              <a:srgbClr val="002b6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" name="Rounded Rectangle 13"/>
          <p:cNvSpPr/>
          <p:nvPr/>
        </p:nvSpPr>
        <p:spPr>
          <a:xfrm>
            <a:off x="685800" y="2423160"/>
            <a:ext cx="1874160" cy="1325520"/>
          </a:xfrm>
          <a:prstGeom prst="roundRect">
            <a:avLst>
              <a:gd name="adj" fmla="val 8000"/>
            </a:avLst>
          </a:prstGeom>
          <a:solidFill>
            <a:srgbClr val="e7f2ff"/>
          </a:solidFill>
          <a:ln w="8890"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Box 14"/>
          <p:cNvSpPr/>
          <p:nvPr/>
        </p:nvSpPr>
        <p:spPr>
          <a:xfrm>
            <a:off x="831960" y="2532960"/>
            <a:ext cx="1581480" cy="11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Watermark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Last processed source point.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Example: source.ts_ms + LSN/offset.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ounded Rectangle 15"/>
          <p:cNvSpPr/>
          <p:nvPr/>
        </p:nvSpPr>
        <p:spPr>
          <a:xfrm>
            <a:off x="2788920" y="2423160"/>
            <a:ext cx="1874160" cy="1325520"/>
          </a:xfrm>
          <a:prstGeom prst="roundRect">
            <a:avLst>
              <a:gd name="adj" fmla="val 8000"/>
            </a:avLst>
          </a:prstGeom>
          <a:solidFill>
            <a:srgbClr val="e2f5e9"/>
          </a:solidFill>
          <a:ln w="8890"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Box 16"/>
          <p:cNvSpPr/>
          <p:nvPr/>
        </p:nvSpPr>
        <p:spPr>
          <a:xfrm>
            <a:off x="2935080" y="2532960"/>
            <a:ext cx="1581480" cy="11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Bronze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Append raw CDC events.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Keep op and source metadata.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Rounded Rectangle 17"/>
          <p:cNvSpPr/>
          <p:nvPr/>
        </p:nvSpPr>
        <p:spPr>
          <a:xfrm>
            <a:off x="4892040" y="2423160"/>
            <a:ext cx="1874160" cy="1325520"/>
          </a:xfrm>
          <a:prstGeom prst="roundRect">
            <a:avLst>
              <a:gd name="adj" fmla="val 8000"/>
            </a:avLst>
          </a:prstGeom>
          <a:solidFill>
            <a:srgbClr val="fff1d8"/>
          </a:solidFill>
          <a:ln w="8890"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TextBox 18"/>
          <p:cNvSpPr/>
          <p:nvPr/>
        </p:nvSpPr>
        <p:spPr>
          <a:xfrm>
            <a:off x="5038200" y="2532960"/>
            <a:ext cx="1581480" cy="11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Silver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Apply changes in order.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Build current-state tables.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Rounded Rectangle 19"/>
          <p:cNvSpPr/>
          <p:nvPr/>
        </p:nvSpPr>
        <p:spPr>
          <a:xfrm>
            <a:off x="6995160" y="2423160"/>
            <a:ext cx="1691280" cy="132552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8890"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" name="TextBox 20"/>
          <p:cNvSpPr/>
          <p:nvPr/>
        </p:nvSpPr>
        <p:spPr>
          <a:xfrm>
            <a:off x="7141320" y="2532960"/>
            <a:ext cx="1398600" cy="11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Gold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Serve metrics and business-ready views.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21"/>
          <p:cNvSpPr/>
          <p:nvPr/>
        </p:nvSpPr>
        <p:spPr>
          <a:xfrm>
            <a:off x="749880" y="4251960"/>
            <a:ext cx="772632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 watermark is not a Kafka feature by itself; it is a pipeline control that says how far the CDC stream has been consumed.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In a production medallion pipeline, Gold should not claim fresh metrics until Bronze and Silver have processed the expected CDC watermark.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Box 1"/>
          <p:cNvSpPr/>
          <p:nvPr/>
        </p:nvSpPr>
        <p:spPr>
          <a:xfrm>
            <a:off x="502920" y="438840"/>
            <a:ext cx="8137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8360" rIns="18360" tIns="18360" bIns="18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Facts And Dimensions From CDC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2"/>
          <p:cNvSpPr/>
          <p:nvPr/>
        </p:nvSpPr>
        <p:spPr>
          <a:xfrm>
            <a:off x="521280" y="896040"/>
            <a:ext cx="7772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8360" rIns="18360" tIns="18360" bIns="18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i="1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Where customer and order changes land after Kafka.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3"/>
          <p:cNvSpPr/>
          <p:nvPr/>
        </p:nvSpPr>
        <p:spPr>
          <a:xfrm>
            <a:off x="530280" y="6355080"/>
            <a:ext cx="1096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8360" rIns="18360" tIns="18360" bIns="18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0066cc"/>
                </a:solidFill>
                <a:effectLst/>
                <a:uFillTx/>
                <a:latin typeface="Calibri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Rounded Rectangle 4"/>
          <p:cNvSpPr/>
          <p:nvPr/>
        </p:nvSpPr>
        <p:spPr>
          <a:xfrm>
            <a:off x="777240" y="1234440"/>
            <a:ext cx="2514240" cy="1462680"/>
          </a:xfrm>
          <a:prstGeom prst="roundRect">
            <a:avLst>
              <a:gd name="adj" fmla="val 8000"/>
            </a:avLst>
          </a:prstGeom>
          <a:solidFill>
            <a:srgbClr val="e7f2ff"/>
          </a:solidFill>
          <a:ln w="8890"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" name="TextBox 5"/>
          <p:cNvSpPr/>
          <p:nvPr/>
        </p:nvSpPr>
        <p:spPr>
          <a:xfrm>
            <a:off x="923400" y="1344240"/>
            <a:ext cx="2221560" cy="12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Dimension example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customers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Business entity.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Silver keeps latest customer state.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Rounded Rectangle 6"/>
          <p:cNvSpPr/>
          <p:nvPr/>
        </p:nvSpPr>
        <p:spPr>
          <a:xfrm>
            <a:off x="3611880" y="1234440"/>
            <a:ext cx="2514240" cy="1462680"/>
          </a:xfrm>
          <a:prstGeom prst="roundRect">
            <a:avLst>
              <a:gd name="adj" fmla="val 8000"/>
            </a:avLst>
          </a:prstGeom>
          <a:solidFill>
            <a:srgbClr val="e2f5e9"/>
          </a:solidFill>
          <a:ln w="8890"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TextBox 7"/>
          <p:cNvSpPr/>
          <p:nvPr/>
        </p:nvSpPr>
        <p:spPr>
          <a:xfrm>
            <a:off x="3758040" y="1344240"/>
            <a:ext cx="2221560" cy="12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Fact example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orders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Business event.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Gold measures by time, product, customer.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Rounded Rectangle 8"/>
          <p:cNvSpPr/>
          <p:nvPr/>
        </p:nvSpPr>
        <p:spPr>
          <a:xfrm>
            <a:off x="6446520" y="1234440"/>
            <a:ext cx="2011320" cy="1462680"/>
          </a:xfrm>
          <a:prstGeom prst="roundRect">
            <a:avLst>
              <a:gd name="adj" fmla="val 8000"/>
            </a:avLst>
          </a:prstGeom>
          <a:solidFill>
            <a:srgbClr val="fff1d8"/>
          </a:solidFill>
          <a:ln w="8890"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Box 9"/>
          <p:cNvSpPr/>
          <p:nvPr/>
        </p:nvSpPr>
        <p:spPr>
          <a:xfrm>
            <a:off x="6592680" y="1344240"/>
            <a:ext cx="1718640" cy="12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Watermark check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Publish Gold after CDC reaches the expected point.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Rounded Rectangle 10"/>
          <p:cNvSpPr/>
          <p:nvPr/>
        </p:nvSpPr>
        <p:spPr>
          <a:xfrm>
            <a:off x="1051560" y="3474720"/>
            <a:ext cx="1416960" cy="566640"/>
          </a:xfrm>
          <a:prstGeom prst="roundRect">
            <a:avLst>
              <a:gd name="adj" fmla="val 8000"/>
            </a:avLst>
          </a:prstGeom>
          <a:solidFill>
            <a:srgbClr val="e7f2ff"/>
          </a:solidFill>
          <a:ln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Kafka CDC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Rounded Rectangle 11"/>
          <p:cNvSpPr/>
          <p:nvPr/>
        </p:nvSpPr>
        <p:spPr>
          <a:xfrm>
            <a:off x="2779920" y="3474720"/>
            <a:ext cx="1416960" cy="566640"/>
          </a:xfrm>
          <a:prstGeom prst="roundRect">
            <a:avLst>
              <a:gd name="adj" fmla="val 8000"/>
            </a:avLst>
          </a:prstGeom>
          <a:solidFill>
            <a:srgbClr val="e2f5e9"/>
          </a:solidFill>
          <a:ln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Bronze events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Right Arrow 12"/>
          <p:cNvSpPr/>
          <p:nvPr/>
        </p:nvSpPr>
        <p:spPr>
          <a:xfrm>
            <a:off x="2541960" y="3666600"/>
            <a:ext cx="164160" cy="1825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b6c"/>
          </a:solidFill>
          <a:ln>
            <a:solidFill>
              <a:srgbClr val="002b6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" name="Rounded Rectangle 13"/>
          <p:cNvSpPr/>
          <p:nvPr/>
        </p:nvSpPr>
        <p:spPr>
          <a:xfrm>
            <a:off x="4507920" y="3474720"/>
            <a:ext cx="1416960" cy="566640"/>
          </a:xfrm>
          <a:prstGeom prst="roundRect">
            <a:avLst>
              <a:gd name="adj" fmla="val 8000"/>
            </a:avLst>
          </a:prstGeom>
          <a:solidFill>
            <a:srgbClr val="fff1d8"/>
          </a:solidFill>
          <a:ln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Silver dim/fact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Right Arrow 14"/>
          <p:cNvSpPr/>
          <p:nvPr/>
        </p:nvSpPr>
        <p:spPr>
          <a:xfrm>
            <a:off x="4270320" y="3666600"/>
            <a:ext cx="164160" cy="1825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b6c"/>
          </a:solidFill>
          <a:ln>
            <a:solidFill>
              <a:srgbClr val="002b6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Rounded Rectangle 15"/>
          <p:cNvSpPr/>
          <p:nvPr/>
        </p:nvSpPr>
        <p:spPr>
          <a:xfrm>
            <a:off x="6236280" y="3474720"/>
            <a:ext cx="1416960" cy="56664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Gold KPI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Right Arrow 16"/>
          <p:cNvSpPr/>
          <p:nvPr/>
        </p:nvSpPr>
        <p:spPr>
          <a:xfrm>
            <a:off x="5998320" y="3666600"/>
            <a:ext cx="164160" cy="1825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b6c"/>
          </a:solidFill>
          <a:ln>
            <a:solidFill>
              <a:srgbClr val="002b6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TextBox 17"/>
          <p:cNvSpPr/>
          <p:nvPr/>
        </p:nvSpPr>
        <p:spPr>
          <a:xfrm>
            <a:off x="749880" y="4572000"/>
            <a:ext cx="77263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Example: customer CDC feeds a customer dimension; order CDC feeds order facts.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The watermark protects freshness claims because it tells the pipeline how far the change stream has been consumed.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CDC Methods &amp; Trade‑offs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7" name="Table 0"/>
          <p:cNvGraphicFramePr/>
          <p:nvPr/>
        </p:nvGraphicFramePr>
        <p:xfrm>
          <a:off x="457200" y="1188720"/>
          <a:ext cx="8229240" cy="201168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5029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Method</a:t>
                      </a:r>
                      <a:endParaRPr lang="en-IN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How it works</a:t>
                      </a:r>
                      <a:endParaRPr lang="en-IN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Pros</a:t>
                      </a:r>
                      <a:endParaRPr lang="en-IN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Cons</a:t>
                      </a:r>
                      <a:endParaRPr lang="en-IN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002060"/>
                    </a:solidFill>
                  </a:tcPr>
                </a:tc>
              </a:tr>
              <a:tr h="5029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100" b="1" u="none" strike="noStrike">
                          <a:solidFill>
                            <a:srgbClr val="00206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Query‑based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206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Periodically query tables using timestamp or version columns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206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Easy to implement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206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Cannot detect deletes; heavy load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</a:tr>
              <a:tr h="5029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100" b="1" u="none" strike="noStrike">
                          <a:solidFill>
                            <a:srgbClr val="00206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Trigger‑based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206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Database triggers write changes to audit tables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206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Captures inserts, updates, deletes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206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Requires schema changes; overhead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</a:tr>
              <a:tr h="5029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100" b="1" u="none" strike="noStrike">
                          <a:solidFill>
                            <a:srgbClr val="00206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Log‑based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206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Read database transaction logs (WAL/binlog)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206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Low overhead, preserves order, captures deletes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206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Requires privileges; log formats vary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8" name="Text 1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2"/>
              </a:rPr>
              <a:t>[2]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3"/>
              </a:rPr>
              <a:t>[3]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Benefits &amp; Use Cases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0" name="Image 0"/>
          <p:cNvPicPr/>
          <p:nvPr/>
        </p:nvPicPr>
        <p:blipFill>
          <a:blip r:embed="rId1"/>
          <a:stretch/>
        </p:blipFill>
        <p:spPr>
          <a:xfrm>
            <a:off x="457200" y="118872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" name="Text 1"/>
          <p:cNvSpPr/>
          <p:nvPr/>
        </p:nvSpPr>
        <p:spPr>
          <a:xfrm>
            <a:off x="822960" y="1234440"/>
            <a:ext cx="45712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Real‑time analytics &amp; reporting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2" name="Image 1"/>
          <p:cNvPicPr/>
          <p:nvPr/>
        </p:nvPicPr>
        <p:blipFill>
          <a:blip r:embed="rId2"/>
          <a:stretch/>
        </p:blipFill>
        <p:spPr>
          <a:xfrm>
            <a:off x="457200" y="164592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3" name="Text 2"/>
          <p:cNvSpPr/>
          <p:nvPr/>
        </p:nvSpPr>
        <p:spPr>
          <a:xfrm>
            <a:off x="822960" y="1691640"/>
            <a:ext cx="45712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Microservices data synchronization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4" name="Image 2"/>
          <p:cNvPicPr/>
          <p:nvPr/>
        </p:nvPicPr>
        <p:blipFill>
          <a:blip r:embed="rId3"/>
          <a:stretch/>
        </p:blipFill>
        <p:spPr>
          <a:xfrm>
            <a:off x="457200" y="210312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" name="Text 3"/>
          <p:cNvSpPr/>
          <p:nvPr/>
        </p:nvSpPr>
        <p:spPr>
          <a:xfrm>
            <a:off x="822960" y="2148840"/>
            <a:ext cx="45712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Cloud migration &amp; replication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6" name="Image 3"/>
          <p:cNvPicPr/>
          <p:nvPr/>
        </p:nvPicPr>
        <p:blipFill>
          <a:blip r:embed="rId4"/>
          <a:stretch/>
        </p:blipFill>
        <p:spPr>
          <a:xfrm>
            <a:off x="457200" y="256032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" name="Text 4"/>
          <p:cNvSpPr/>
          <p:nvPr/>
        </p:nvSpPr>
        <p:spPr>
          <a:xfrm>
            <a:off x="822960" y="2606040"/>
            <a:ext cx="45712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Audit logging &amp; compliance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Image 4"/>
          <p:cNvPicPr/>
          <p:nvPr/>
        </p:nvPicPr>
        <p:blipFill>
          <a:blip r:embed="rId5"/>
          <a:stretch/>
        </p:blipFill>
        <p:spPr>
          <a:xfrm>
            <a:off x="5486400" y="11887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Text 5"/>
          <p:cNvSpPr/>
          <p:nvPr/>
        </p:nvSpPr>
        <p:spPr>
          <a:xfrm>
            <a:off x="5852160" y="1234440"/>
            <a:ext cx="3199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Real‑time analytics and dashboards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0" name="Image 5"/>
          <p:cNvPicPr/>
          <p:nvPr/>
        </p:nvPicPr>
        <p:blipFill>
          <a:blip r:embed="rId6"/>
          <a:stretch/>
        </p:blipFill>
        <p:spPr>
          <a:xfrm>
            <a:off x="5486400" y="16459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" name="Text 6"/>
          <p:cNvSpPr/>
          <p:nvPr/>
        </p:nvSpPr>
        <p:spPr>
          <a:xfrm>
            <a:off x="5852160" y="1691640"/>
            <a:ext cx="3199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Cache invalidation &amp; search index sync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2" name="Image 6"/>
          <p:cNvPicPr/>
          <p:nvPr/>
        </p:nvPicPr>
        <p:blipFill>
          <a:blip r:embed="rId7"/>
          <a:stretch/>
        </p:blipFill>
        <p:spPr>
          <a:xfrm>
            <a:off x="5486400" y="21031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Text 7"/>
          <p:cNvSpPr/>
          <p:nvPr/>
        </p:nvSpPr>
        <p:spPr>
          <a:xfrm>
            <a:off x="5852160" y="2148840"/>
            <a:ext cx="3199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Microservices integration &amp; outbox pattern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4" name="Image 7"/>
          <p:cNvPicPr/>
          <p:nvPr/>
        </p:nvPicPr>
        <p:blipFill>
          <a:blip r:embed="rId8"/>
          <a:stretch/>
        </p:blipFill>
        <p:spPr>
          <a:xfrm>
            <a:off x="5486400" y="25603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Text 8"/>
          <p:cNvSpPr/>
          <p:nvPr/>
        </p:nvSpPr>
        <p:spPr>
          <a:xfrm>
            <a:off x="5852160" y="2606040"/>
            <a:ext cx="3199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Zero‑downtime migrations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9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9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0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Mini Exercise 1: Identify the CDC Method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"/>
          <p:cNvSpPr/>
          <p:nvPr/>
        </p:nvSpPr>
        <p:spPr>
          <a:xfrm>
            <a:off x="457200" y="1097280"/>
            <a:ext cx="822888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You will see three scenarios below. For each, decide whether it is best implemented using a query‑based, trigger‑based, or log‑based CDC method.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2"/>
          <p:cNvSpPr/>
          <p:nvPr/>
        </p:nvSpPr>
        <p:spPr>
          <a:xfrm>
            <a:off x="548640" y="2011680"/>
            <a:ext cx="8228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A. A legacy database cannot be modified, but you need to capture deletes.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3"/>
          <p:cNvSpPr/>
          <p:nvPr/>
        </p:nvSpPr>
        <p:spPr>
          <a:xfrm>
            <a:off x="548640" y="2468880"/>
            <a:ext cx="8228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B. You only need to track inserts and updates for a small table once a day.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4"/>
          <p:cNvSpPr/>
          <p:nvPr/>
        </p:nvSpPr>
        <p:spPr>
          <a:xfrm>
            <a:off x="548640" y="2926080"/>
            <a:ext cx="8228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C. A high‑volume transactional database where ordering of events matters.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5"/>
          <p:cNvSpPr/>
          <p:nvPr/>
        </p:nvSpPr>
        <p:spPr>
          <a:xfrm>
            <a:off x="457200" y="365760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Discuss with your group and share your answers!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6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2"/>
              </a:rPr>
              <a:t>[2]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3"/>
              </a:rPr>
              <a:t>[3]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Debezium Overview &amp; Pipeline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"/>
          <p:cNvSpPr/>
          <p:nvPr/>
        </p:nvSpPr>
        <p:spPr>
          <a:xfrm>
            <a:off x="457200" y="1097280"/>
            <a:ext cx="5028480" cy="22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Debezium is an open‑source platform that captures row‑level changes from databases and streams them via Kafka.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It reads transaction logs (WAL/binlog) instead of querying tables, producing events with consistent ordering.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Events contain before/after values, metadata and operation type, enabling downstream services to react.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6" name="Image 0"/>
          <p:cNvPicPr/>
          <p:nvPr/>
        </p:nvPicPr>
        <p:blipFill>
          <a:blip r:embed="rId1"/>
          <a:stretch/>
        </p:blipFill>
        <p:spPr>
          <a:xfrm>
            <a:off x="5577840" y="1097280"/>
            <a:ext cx="3199680" cy="228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7" name="Text 2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2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3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TextBox 1"/>
          <p:cNvSpPr/>
          <p:nvPr/>
        </p:nvSpPr>
        <p:spPr>
          <a:xfrm>
            <a:off x="502920" y="438840"/>
            <a:ext cx="8137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8360" rIns="18360" tIns="18360" bIns="18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Kafka Connect vs Debezium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Box 2"/>
          <p:cNvSpPr/>
          <p:nvPr/>
        </p:nvSpPr>
        <p:spPr>
          <a:xfrm>
            <a:off x="521280" y="896040"/>
            <a:ext cx="7772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8360" rIns="18360" tIns="18360" bIns="18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i="1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Simple difference before we configure the connector.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3"/>
          <p:cNvSpPr/>
          <p:nvPr/>
        </p:nvSpPr>
        <p:spPr>
          <a:xfrm>
            <a:off x="530280" y="6355080"/>
            <a:ext cx="1096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8360" rIns="18360" tIns="18360" bIns="18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0066cc"/>
                </a:solidFill>
                <a:effectLst/>
                <a:uFillTx/>
                <a:latin typeface="Calibri"/>
              </a:rPr>
              <a:t>[1] 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Rounded Rectangle 4"/>
          <p:cNvSpPr/>
          <p:nvPr/>
        </p:nvSpPr>
        <p:spPr>
          <a:xfrm>
            <a:off x="640080" y="1325880"/>
            <a:ext cx="2514240" cy="1554120"/>
          </a:xfrm>
          <a:prstGeom prst="roundRect">
            <a:avLst>
              <a:gd name="adj" fmla="val 8000"/>
            </a:avLst>
          </a:prstGeom>
          <a:solidFill>
            <a:srgbClr val="e7f2ff"/>
          </a:solidFill>
          <a:ln w="8890"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" name="TextBox 5"/>
          <p:cNvSpPr/>
          <p:nvPr/>
        </p:nvSpPr>
        <p:spPr>
          <a:xfrm>
            <a:off x="786240" y="1435680"/>
            <a:ext cx="2221560" cy="133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Kafka Connect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The platform that runs connectors.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It manages workers, REST API, tasks, offsets.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Rounded Rectangle 6"/>
          <p:cNvSpPr/>
          <p:nvPr/>
        </p:nvSpPr>
        <p:spPr>
          <a:xfrm>
            <a:off x="3429000" y="1325880"/>
            <a:ext cx="2514240" cy="1554120"/>
          </a:xfrm>
          <a:prstGeom prst="roundRect">
            <a:avLst>
              <a:gd name="adj" fmla="val 8000"/>
            </a:avLst>
          </a:prstGeom>
          <a:solidFill>
            <a:srgbClr val="e2f5e9"/>
          </a:solidFill>
          <a:ln w="8890"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" name="TextBox 7"/>
          <p:cNvSpPr/>
          <p:nvPr/>
        </p:nvSpPr>
        <p:spPr>
          <a:xfrm>
            <a:off x="3575160" y="1435680"/>
            <a:ext cx="2221560" cy="133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Debezium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 CDC connector.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It reads database logs and creates change events.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Rounded Rectangle 8"/>
          <p:cNvSpPr/>
          <p:nvPr/>
        </p:nvSpPr>
        <p:spPr>
          <a:xfrm>
            <a:off x="6217920" y="1325880"/>
            <a:ext cx="2331360" cy="1554120"/>
          </a:xfrm>
          <a:prstGeom prst="roundRect">
            <a:avLst>
              <a:gd name="adj" fmla="val 8000"/>
            </a:avLst>
          </a:prstGeom>
          <a:solidFill>
            <a:srgbClr val="fff1d8"/>
          </a:solidFill>
          <a:ln w="8890"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" name="TextBox 9"/>
          <p:cNvSpPr/>
          <p:nvPr/>
        </p:nvSpPr>
        <p:spPr>
          <a:xfrm>
            <a:off x="6364080" y="1435680"/>
            <a:ext cx="2038680" cy="133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Together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Debezium runs inside Kafka Connect and writes CDC records to Kafka.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Rounded Rectangle 10"/>
          <p:cNvSpPr/>
          <p:nvPr/>
        </p:nvSpPr>
        <p:spPr>
          <a:xfrm>
            <a:off x="731520" y="3794760"/>
            <a:ext cx="1508400" cy="529920"/>
          </a:xfrm>
          <a:prstGeom prst="roundRect">
            <a:avLst>
              <a:gd name="adj" fmla="val 8000"/>
            </a:avLst>
          </a:prstGeom>
          <a:solidFill>
            <a:srgbClr val="e7f2ff"/>
          </a:solidFill>
          <a:ln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Database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Rounded Rectangle 11"/>
          <p:cNvSpPr/>
          <p:nvPr/>
        </p:nvSpPr>
        <p:spPr>
          <a:xfrm>
            <a:off x="2496240" y="3794760"/>
            <a:ext cx="1508400" cy="529920"/>
          </a:xfrm>
          <a:prstGeom prst="roundRect">
            <a:avLst>
              <a:gd name="adj" fmla="val 8000"/>
            </a:avLst>
          </a:prstGeom>
          <a:solidFill>
            <a:srgbClr val="e2f5e9"/>
          </a:solidFill>
          <a:ln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Debezium connector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Right Arrow 12"/>
          <p:cNvSpPr/>
          <p:nvPr/>
        </p:nvSpPr>
        <p:spPr>
          <a:xfrm>
            <a:off x="2286000" y="3968640"/>
            <a:ext cx="164160" cy="1825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b6c"/>
          </a:solidFill>
          <a:ln>
            <a:solidFill>
              <a:srgbClr val="002b6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" name="Rounded Rectangle 13"/>
          <p:cNvSpPr/>
          <p:nvPr/>
        </p:nvSpPr>
        <p:spPr>
          <a:xfrm>
            <a:off x="4260960" y="3794760"/>
            <a:ext cx="1508400" cy="529920"/>
          </a:xfrm>
          <a:prstGeom prst="roundRect">
            <a:avLst>
              <a:gd name="adj" fmla="val 8000"/>
            </a:avLst>
          </a:prstGeom>
          <a:solidFill>
            <a:srgbClr val="fff1d8"/>
          </a:solidFill>
          <a:ln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Kafka Connect worker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Right Arrow 14"/>
          <p:cNvSpPr/>
          <p:nvPr/>
        </p:nvSpPr>
        <p:spPr>
          <a:xfrm>
            <a:off x="4050720" y="3968640"/>
            <a:ext cx="164160" cy="1825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b6c"/>
          </a:solidFill>
          <a:ln>
            <a:solidFill>
              <a:srgbClr val="002b6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" name="Rounded Rectangle 15"/>
          <p:cNvSpPr/>
          <p:nvPr/>
        </p:nvSpPr>
        <p:spPr>
          <a:xfrm>
            <a:off x="6026040" y="3794760"/>
            <a:ext cx="1508400" cy="52992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Kafka topic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Right Arrow 16"/>
          <p:cNvSpPr/>
          <p:nvPr/>
        </p:nvSpPr>
        <p:spPr>
          <a:xfrm>
            <a:off x="5815440" y="3968640"/>
            <a:ext cx="164160" cy="1825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b6c"/>
          </a:solidFill>
          <a:ln>
            <a:solidFill>
              <a:srgbClr val="002b6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Debezium Architecture Diagram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"/>
          <p:cNvSpPr/>
          <p:nvPr/>
        </p:nvSpPr>
        <p:spPr>
          <a:xfrm>
            <a:off x="5220000" y="1188720"/>
            <a:ext cx="3923280" cy="22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1. Source connectors tail transaction logs from DBs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2. Kafka Connect executes connectors &amp; persists offsets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3. Events written to Kafka topics (one per table or pattern)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4. Sink connectors &amp; consumers deliver events to targets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2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7" name="Picture 92"/>
          <p:cNvPicPr/>
          <p:nvPr/>
        </p:nvPicPr>
        <p:blipFill>
          <a:blip r:embed="rId2"/>
          <a:srcRect l="0" t="0" r="-204" b="2725"/>
          <a:stretch/>
        </p:blipFill>
        <p:spPr>
          <a:xfrm>
            <a:off x="72000" y="1188720"/>
            <a:ext cx="5039280" cy="2230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Deployment Options &amp; Server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9" name="Image 0"/>
          <p:cNvPicPr/>
          <p:nvPr/>
        </p:nvPicPr>
        <p:blipFill>
          <a:blip r:embed="rId1"/>
          <a:stretch/>
        </p:blipFill>
        <p:spPr>
          <a:xfrm>
            <a:off x="457200" y="1097280"/>
            <a:ext cx="4388400" cy="237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Text 1"/>
          <p:cNvSpPr/>
          <p:nvPr/>
        </p:nvSpPr>
        <p:spPr>
          <a:xfrm>
            <a:off x="4937760" y="1097280"/>
            <a:ext cx="4114080" cy="23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Debezium Server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Streams events to other messaging systems (Kinesis, Pub/Sub, Pulsar)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Deployment Options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Embedded in application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Standalone server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Kafka Connect (enterprise use cases)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2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2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3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Events &amp; Snapshot Modes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"/>
          <p:cNvSpPr/>
          <p:nvPr/>
        </p:nvSpPr>
        <p:spPr>
          <a:xfrm>
            <a:off x="457200" y="1188720"/>
            <a:ext cx="4296960" cy="2285280"/>
          </a:xfrm>
          <a:prstGeom prst="rect">
            <a:avLst/>
          </a:prstGeom>
          <a:solidFill>
            <a:srgbClr val="f0f0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{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  "before": { "id": 1, "name": "Alice" },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  "after": { "id": 1, "name": "Alicia" },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  "source": { "db": "inventory", "table": "customers" },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  "op": "u",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  "ts_ms": 1680023456789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2"/>
          <p:cNvSpPr/>
          <p:nvPr/>
        </p:nvSpPr>
        <p:spPr>
          <a:xfrm>
            <a:off x="5029200" y="1188720"/>
            <a:ext cx="4114080" cy="22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Event Fields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before / after: row state around the commit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source: database, table and log position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op: r=snapshot, c=create, u=update, d=delete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ts_ms: connector processing timestamp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Snapshot Behaviour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initial: baseline snapshot only when no stored offset exists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no_data: skip table snapshot and stream new log changes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incremental: initiated later through a Debezium signal while streaming continues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3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Durability &amp; Fault Tolerance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"/>
          <p:cNvSpPr/>
          <p:nvPr/>
        </p:nvSpPr>
        <p:spPr>
          <a:xfrm>
            <a:off x="457200" y="1188720"/>
            <a:ext cx="5028480" cy="22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Kafka Connect stores connector offsets so Debezium can resume after restart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A restart can redeliver records around recovery; downstream writes should be idempotent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Heartbeats help advance WAL positions during quiet tables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2"/>
          <p:cNvSpPr/>
          <p:nvPr/>
        </p:nvSpPr>
        <p:spPr>
          <a:xfrm>
            <a:off x="5120640" y="1188720"/>
            <a:ext cx="3839760" cy="22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Initial snapshot records use op=r; subsequent committed changes stream from WAL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Incremental snapshots run in chunks when triggered through signaling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Monitor connector status, lag, slot health and failed tasks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3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Mini Exercise 2: Decoding an Event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"/>
          <p:cNvSpPr/>
          <p:nvPr/>
        </p:nvSpPr>
        <p:spPr>
          <a:xfrm>
            <a:off x="457200" y="1097280"/>
            <a:ext cx="822888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Examine the following event JSON and answer: what operation occurred, and which fields changed?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2"/>
          <p:cNvSpPr/>
          <p:nvPr/>
        </p:nvSpPr>
        <p:spPr>
          <a:xfrm>
            <a:off x="457200" y="1920240"/>
            <a:ext cx="4571280" cy="2102400"/>
          </a:xfrm>
          <a:prstGeom prst="rect">
            <a:avLst/>
          </a:prstGeom>
          <a:solidFill>
            <a:srgbClr val="f0f0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{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  "before": { "id": 3, "balance": 200 },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  "after": { "id": 3, "balance": 250 },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  "source": { "db": "bank", "table": "accounts" },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  "op": "u",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  "ts_ms": 1680023459999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3"/>
          <p:cNvSpPr/>
          <p:nvPr/>
        </p:nvSpPr>
        <p:spPr>
          <a:xfrm>
            <a:off x="5303520" y="1920240"/>
            <a:ext cx="3199680" cy="21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Discuss with your partner and share your findings.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4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Debezium Connector Landscape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1"/>
          <p:cNvSpPr/>
          <p:nvPr/>
        </p:nvSpPr>
        <p:spPr>
          <a:xfrm>
            <a:off x="457200" y="1280160"/>
            <a:ext cx="8228880" cy="456480"/>
          </a:xfrm>
          <a:prstGeom prst="roundRect">
            <a:avLst>
              <a:gd name="adj" fmla="val 20000"/>
            </a:avLst>
          </a:prstGeom>
          <a:solidFill>
            <a:srgbClr val="fbe9e7"/>
          </a:solidFill>
          <a:ln w="127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67" name="Text 2"/>
          <p:cNvSpPr/>
          <p:nvPr/>
        </p:nvSpPr>
        <p:spPr>
          <a:xfrm>
            <a:off x="548640" y="1371600"/>
            <a:ext cx="8046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MySQL: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Reads MySQL binlog; supports GTID and TTL; needs replica user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3"/>
          <p:cNvSpPr/>
          <p:nvPr/>
        </p:nvSpPr>
        <p:spPr>
          <a:xfrm>
            <a:off x="457200" y="1783080"/>
            <a:ext cx="8228880" cy="456480"/>
          </a:xfrm>
          <a:prstGeom prst="roundRect">
            <a:avLst>
              <a:gd name="adj" fmla="val 20000"/>
            </a:avLst>
          </a:prstGeom>
          <a:solidFill>
            <a:srgbClr val="e8eaf6"/>
          </a:solidFill>
          <a:ln w="127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 4"/>
          <p:cNvSpPr/>
          <p:nvPr/>
        </p:nvSpPr>
        <p:spPr>
          <a:xfrm>
            <a:off x="548640" y="1874520"/>
            <a:ext cx="8046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PostgreSQL: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Uses logical replication (WAL); supports slot &amp; publication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5"/>
          <p:cNvSpPr/>
          <p:nvPr/>
        </p:nvSpPr>
        <p:spPr>
          <a:xfrm>
            <a:off x="457200" y="2286000"/>
            <a:ext cx="8228880" cy="456480"/>
          </a:xfrm>
          <a:prstGeom prst="roundRect">
            <a:avLst>
              <a:gd name="adj" fmla="val 20000"/>
            </a:avLst>
          </a:prstGeom>
          <a:solidFill>
            <a:srgbClr val="fffde7"/>
          </a:solidFill>
          <a:ln w="127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71" name="Text 6"/>
          <p:cNvSpPr/>
          <p:nvPr/>
        </p:nvSpPr>
        <p:spPr>
          <a:xfrm>
            <a:off x="548640" y="2377440"/>
            <a:ext cx="8046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SQL Server: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Uses SQL Server CDC; requires enabling CDC on tables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7"/>
          <p:cNvSpPr/>
          <p:nvPr/>
        </p:nvSpPr>
        <p:spPr>
          <a:xfrm>
            <a:off x="457200" y="2788920"/>
            <a:ext cx="8228880" cy="456480"/>
          </a:xfrm>
          <a:prstGeom prst="roundRect">
            <a:avLst>
              <a:gd name="adj" fmla="val 20000"/>
            </a:avLst>
          </a:prstGeom>
          <a:solidFill>
            <a:srgbClr val="e8f5e9"/>
          </a:solidFill>
          <a:ln w="127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73" name="Text 8"/>
          <p:cNvSpPr/>
          <p:nvPr/>
        </p:nvSpPr>
        <p:spPr>
          <a:xfrm>
            <a:off x="548640" y="2880360"/>
            <a:ext cx="8046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Oracle: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Uses LogMiner; container or library; additional license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9"/>
          <p:cNvSpPr/>
          <p:nvPr/>
        </p:nvSpPr>
        <p:spPr>
          <a:xfrm>
            <a:off x="457200" y="3291840"/>
            <a:ext cx="8228880" cy="456480"/>
          </a:xfrm>
          <a:prstGeom prst="roundRect">
            <a:avLst>
              <a:gd name="adj" fmla="val 20000"/>
            </a:avLst>
          </a:prstGeom>
          <a:solidFill>
            <a:srgbClr val="f3e5f5"/>
          </a:solidFill>
          <a:ln w="127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75" name="Text 10"/>
          <p:cNvSpPr/>
          <p:nvPr/>
        </p:nvSpPr>
        <p:spPr>
          <a:xfrm>
            <a:off x="548640" y="3383280"/>
            <a:ext cx="8046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MongoDB: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Tails the Oplog; supports change streams; no schema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1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MySQL &amp; PostgreSQL Connectors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1"/>
          <p:cNvSpPr/>
          <p:nvPr/>
        </p:nvSpPr>
        <p:spPr>
          <a:xfrm>
            <a:off x="457200" y="1097280"/>
            <a:ext cx="4114080" cy="219384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cccc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79" name="Text 2"/>
          <p:cNvSpPr/>
          <p:nvPr/>
        </p:nvSpPr>
        <p:spPr>
          <a:xfrm>
            <a:off x="548640" y="1188720"/>
            <a:ext cx="3931200" cy="20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MySQL Connector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Tails the MySQL binlog (row/statement/mixed mode)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Supports GTID, failover, timezone handling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Requires replication user &amp; binlog format ROW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3"/>
          <p:cNvSpPr/>
          <p:nvPr/>
        </p:nvSpPr>
        <p:spPr>
          <a:xfrm>
            <a:off x="4572000" y="1097280"/>
            <a:ext cx="4114080" cy="219384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cccc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81" name="Text 4"/>
          <p:cNvSpPr/>
          <p:nvPr/>
        </p:nvSpPr>
        <p:spPr>
          <a:xfrm>
            <a:off x="4663440" y="1188720"/>
            <a:ext cx="3931200" cy="20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PostgreSQL Connector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Uses logical replication publications &amp; slots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Requires slot &amp; publication privileges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Supports incremental snapshots &amp; table filtering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5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Other Database Connectors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"/>
          <p:cNvSpPr/>
          <p:nvPr/>
        </p:nvSpPr>
        <p:spPr>
          <a:xfrm>
            <a:off x="457200" y="1188720"/>
            <a:ext cx="8228880" cy="20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SQL Server: Reads CDC tables, requires enabling CDC on each table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Oracle: Uses LogMiner and Mining server, supports RAC/ASM; licensing considerations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MongoDB: Tails the Oplog or Change Streams for replica sets and sharded clusters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Db2, Vitess: Support transaction log capture with similar semantics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2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Sink Connectors &amp; Transforms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1"/>
          <p:cNvSpPr/>
          <p:nvPr/>
        </p:nvSpPr>
        <p:spPr>
          <a:xfrm>
            <a:off x="457200" y="1188720"/>
            <a:ext cx="8228880" cy="219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Sink connectors deliver events to Elasticsearch, BigQuery, S3, Kinesis, etc.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Single Message Transforms (SMT) modify records: ExtractNewRecordState, UnwrapFromEnvelope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Topic routing transforms rename topics based on table or schema name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Heartbeat topics emit periodic messages to maintain offset progress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2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Advantages &amp; Limitations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1"/>
          <p:cNvSpPr/>
          <p:nvPr/>
        </p:nvSpPr>
        <p:spPr>
          <a:xfrm>
            <a:off x="457200" y="1097280"/>
            <a:ext cx="3931200" cy="2468160"/>
          </a:xfrm>
          <a:prstGeom prst="roundRect">
            <a:avLst>
              <a:gd name="adj" fmla="val 3704"/>
            </a:avLst>
          </a:prstGeom>
          <a:solidFill>
            <a:srgbClr val="e8f5e9"/>
          </a:solidFill>
          <a:ln w="12700">
            <a:solidFill>
              <a:srgbClr val="c8e6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91" name="Text 2"/>
          <p:cNvSpPr/>
          <p:nvPr/>
        </p:nvSpPr>
        <p:spPr>
          <a:xfrm>
            <a:off x="502920" y="1143000"/>
            <a:ext cx="3839760" cy="23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Pros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• Log-based capture is efficient &amp; consistent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• Supports snapshots &amp; incremental snapshots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• Broad ecosystem of connectors &amp; SMT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• Compatible with Kafka Connect &amp; KRaft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3"/>
          <p:cNvSpPr/>
          <p:nvPr/>
        </p:nvSpPr>
        <p:spPr>
          <a:xfrm>
            <a:off x="4572000" y="1097280"/>
            <a:ext cx="3931200" cy="2468160"/>
          </a:xfrm>
          <a:prstGeom prst="roundRect">
            <a:avLst>
              <a:gd name="adj" fmla="val 3704"/>
            </a:avLst>
          </a:prstGeom>
          <a:solidFill>
            <a:srgbClr val="ffebee"/>
          </a:solidFill>
          <a:ln w="12700">
            <a:solidFill>
              <a:srgbClr val="ffcdd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93" name="Text 4"/>
          <p:cNvSpPr/>
          <p:nvPr/>
        </p:nvSpPr>
        <p:spPr>
          <a:xfrm>
            <a:off x="4617720" y="1143000"/>
            <a:ext cx="3839760" cy="23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b71c1c"/>
                </a:solidFill>
                <a:effectLst/>
                <a:uFillTx/>
                <a:latin typeface="Calibri"/>
                <a:ea typeface="Calibri"/>
              </a:rPr>
              <a:t>Cons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b71c1c"/>
                </a:solidFill>
                <a:effectLst/>
                <a:uFillTx/>
                <a:latin typeface="Calibri"/>
                <a:ea typeface="Calibri"/>
              </a:rPr>
              <a:t>• Requires DB log privileges (binlog/WAL)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b71c1c"/>
                </a:solidFill>
                <a:effectLst/>
                <a:uFillTx/>
                <a:latin typeface="Calibri"/>
                <a:ea typeface="Calibri"/>
              </a:rPr>
              <a:t>• Heavy snapshots on large tables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b71c1c"/>
                </a:solidFill>
                <a:effectLst/>
                <a:uFillTx/>
                <a:latin typeface="Calibri"/>
                <a:ea typeface="Calibri"/>
              </a:rPr>
              <a:t>• Limited DDL support; schema changes may break connectors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b71c1c"/>
                </a:solidFill>
                <a:effectLst/>
                <a:uFillTx/>
                <a:latin typeface="Calibri"/>
                <a:ea typeface="Calibri"/>
              </a:rPr>
              <a:t>• Complexity of deployment &amp; tuning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5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Mini Exercise 3: Match the Connector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1"/>
          <p:cNvSpPr/>
          <p:nvPr/>
        </p:nvSpPr>
        <p:spPr>
          <a:xfrm>
            <a:off x="457200" y="109728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Match each database with the appropriate Debezium connector: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7" name="Table 0"/>
          <p:cNvGraphicFramePr/>
          <p:nvPr/>
        </p:nvGraphicFramePr>
        <p:xfrm>
          <a:off x="914400" y="1828800"/>
          <a:ext cx="7314840" cy="123732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</a:tblGrid>
              <a:tr h="219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Database</a:t>
                      </a:r>
                      <a:endParaRPr lang="en-IN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Connector</a:t>
                      </a:r>
                      <a:endParaRPr lang="en-IN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solidFill>
                      <a:srgbClr val="002060"/>
                    </a:solidFill>
                  </a:tcPr>
                </a:tc>
              </a:tr>
              <a:tr h="219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Oracle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___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</a:tr>
              <a:tr h="219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MongoDB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___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</a:tr>
              <a:tr h="219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SQL Server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___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</a:tr>
              <a:tr h="219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MySQL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___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98" name="Text 2"/>
          <p:cNvSpPr/>
          <p:nvPr/>
        </p:nvSpPr>
        <p:spPr>
          <a:xfrm>
            <a:off x="457200" y="3108960"/>
            <a:ext cx="8228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Discuss with your neighbour to fill in the blanks.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3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Environment Requirements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1" name="Image 0"/>
          <p:cNvPicPr/>
          <p:nvPr/>
        </p:nvPicPr>
        <p:blipFill>
          <a:blip r:embed="rId1"/>
          <a:stretch/>
        </p:blipFill>
        <p:spPr>
          <a:xfrm>
            <a:off x="457200" y="128016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2" name="Text 1"/>
          <p:cNvSpPr/>
          <p:nvPr/>
        </p:nvSpPr>
        <p:spPr>
          <a:xfrm>
            <a:off x="822960" y="1325880"/>
            <a:ext cx="77716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Kafka cluster (KRaft or ZooKeeper)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3" name="Image 1"/>
          <p:cNvPicPr/>
          <p:nvPr/>
        </p:nvPicPr>
        <p:blipFill>
          <a:blip r:embed="rId2"/>
          <a:stretch/>
        </p:blipFill>
        <p:spPr>
          <a:xfrm>
            <a:off x="457200" y="169164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4" name="Text 2"/>
          <p:cNvSpPr/>
          <p:nvPr/>
        </p:nvSpPr>
        <p:spPr>
          <a:xfrm>
            <a:off x="822960" y="1737360"/>
            <a:ext cx="77716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Source database (e.g., Postgres with logical replication)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5" name="Image 2"/>
          <p:cNvPicPr/>
          <p:nvPr/>
        </p:nvPicPr>
        <p:blipFill>
          <a:blip r:embed="rId3"/>
          <a:stretch/>
        </p:blipFill>
        <p:spPr>
          <a:xfrm>
            <a:off x="457200" y="210312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6" name="Text 3"/>
          <p:cNvSpPr/>
          <p:nvPr/>
        </p:nvSpPr>
        <p:spPr>
          <a:xfrm>
            <a:off x="822960" y="2148840"/>
            <a:ext cx="77716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Kafka Connect &amp; Debezium plugin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7" name="Image 3"/>
          <p:cNvPicPr/>
          <p:nvPr/>
        </p:nvPicPr>
        <p:blipFill>
          <a:blip r:embed="rId4"/>
          <a:stretch/>
        </p:blipFill>
        <p:spPr>
          <a:xfrm>
            <a:off x="457200" y="251460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8" name="Text 4"/>
          <p:cNvSpPr/>
          <p:nvPr/>
        </p:nvSpPr>
        <p:spPr>
          <a:xfrm>
            <a:off x="822960" y="2560320"/>
            <a:ext cx="77716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Schema Registry (for Avro/JSON if needed)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9" name="Image 4"/>
          <p:cNvPicPr/>
          <p:nvPr/>
        </p:nvPicPr>
        <p:blipFill>
          <a:blip r:embed="rId5"/>
          <a:stretch/>
        </p:blipFill>
        <p:spPr>
          <a:xfrm>
            <a:off x="457200" y="292608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0" name="Text 5"/>
          <p:cNvSpPr/>
          <p:nvPr/>
        </p:nvSpPr>
        <p:spPr>
          <a:xfrm>
            <a:off x="822960" y="2971800"/>
            <a:ext cx="77716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Client to consume events (Kafka console consumer or Python consumer)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6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6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Configuration: PostgreSQL Connector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1"/>
          <p:cNvSpPr/>
          <p:nvPr/>
        </p:nvSpPr>
        <p:spPr>
          <a:xfrm>
            <a:off x="457200" y="1280160"/>
            <a:ext cx="4388400" cy="2468160"/>
          </a:xfrm>
          <a:prstGeom prst="rect">
            <a:avLst/>
          </a:prstGeom>
          <a:solidFill>
            <a:srgbClr val="f0f0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"name": "inventory-connector",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"connector.class": "io.debezium.connector.postgresql.PostgresConnector",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"database.hostname": "postgres",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"database.dbname": "inventory",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"plugin.name": "pgoutput",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"topic.prefix": "inventory",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"slot.name": "debezium_slot",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"publication.autocreate.mode": "filtered",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"table.include.list": "public.customers",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"snapshot.mode": "initial",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"signal.data.collection": "public.debezium_signal"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2"/>
          <p:cNvSpPr/>
          <p:nvPr/>
        </p:nvSpPr>
        <p:spPr>
          <a:xfrm>
            <a:off x="5029200" y="1280160"/>
            <a:ext cx="4114080" cy="246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Key Properties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topic.prefix defines table topic names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pgoutput reads PostgreSQL logical replication events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slot and publication retain the log position for capture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initial gives the first baseline; use no_data when a baseline is not needed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trigger an incremental snapshot with a signal; do not invent a connector enable flag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3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Heartbeats, Transforms &amp; Monitoring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1"/>
          <p:cNvSpPr/>
          <p:nvPr/>
        </p:nvSpPr>
        <p:spPr>
          <a:xfrm>
            <a:off x="457200" y="1280160"/>
            <a:ext cx="8228880" cy="27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Heartbeats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heartbeat.interval.ms: emit heartbeat records to maintain offset commits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heartbeat.topics.prefix: name prefix for heartbeat topics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Transforms (SMT)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ExtractNewRecordState: flatten record to after state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UnwrapFromEnvelope: remove metadata envelopes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TopicRename: change output topic names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Monitoring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Monitor lag via JMX or Connect API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Adjust tasks.max and max.batch.size for throughput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2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Advanced Tuning &amp; KRaft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1"/>
          <p:cNvSpPr/>
          <p:nvPr/>
        </p:nvSpPr>
        <p:spPr>
          <a:xfrm>
            <a:off x="457200" y="1280160"/>
            <a:ext cx="8228880" cy="22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Set tasks.max to adjust number of parallel tasks per connector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Increase max.batch.size &amp; max.queue.size for high throughput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Tune heartbeat.interval.ms &amp; min.insync.replicas for durability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With Kafka 4.x KRaft mode, ensure controller &amp; broker nodes have sufficient quorum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Review connector task logs &amp; metrics to detect lags and backpressure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2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Mini Exercise 4: Tune Your Connector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1"/>
          <p:cNvSpPr/>
          <p:nvPr/>
        </p:nvSpPr>
        <p:spPr>
          <a:xfrm>
            <a:off x="457200" y="1097280"/>
            <a:ext cx="822888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You are ingesting a high-volume orders table. Propose changes that improve throughput while preserving restart safety. Consider snapshot choice, batching, heartbeats, monitoring and how a sink prevents duplicate side effects after redelivery.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Discuss your plan with your team and state what evidence would prove it works.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2"/>
          <p:cNvSpPr/>
          <p:nvPr/>
        </p:nvSpPr>
        <p:spPr>
          <a:xfrm>
            <a:off x="457200" y="2743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Discuss your plan with your team and be prepared to present your rationale.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3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2"/>
              </a:rPr>
              <a:t>[2]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3"/>
              </a:rPr>
              <a:t>[3]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Hands‑On Lab: Capture Database Changes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1"/>
          <p:cNvSpPr/>
          <p:nvPr/>
        </p:nvSpPr>
        <p:spPr>
          <a:xfrm>
            <a:off x="457200" y="1188720"/>
            <a:ext cx="8228880" cy="22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In this lab you will: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• Start a local Kafka &amp; Postgres cluster using Docker Compose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• Create a sample table and insert initial data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• Deploy a Debezium Postgres connector via REST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• Produce updates and observe events using Kafka console consumer or Python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• Explore event structure and snapshot vs streaming phases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2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TextBox 1"/>
          <p:cNvSpPr/>
          <p:nvPr/>
        </p:nvSpPr>
        <p:spPr>
          <a:xfrm>
            <a:off x="502920" y="438840"/>
            <a:ext cx="8137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8360" rIns="18360" tIns="18360" bIns="18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Important Points To Note: Cross-Platform Commands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Box 2"/>
          <p:cNvSpPr/>
          <p:nvPr/>
        </p:nvSpPr>
        <p:spPr>
          <a:xfrm>
            <a:off x="530280" y="6355080"/>
            <a:ext cx="1096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8360" rIns="18360" tIns="18360" bIns="18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0066cc"/>
                </a:solidFill>
                <a:effectLst/>
                <a:uFillTx/>
                <a:latin typeface="Calibri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Rounded Rectangle 3"/>
          <p:cNvSpPr/>
          <p:nvPr/>
        </p:nvSpPr>
        <p:spPr>
          <a:xfrm>
            <a:off x="685800" y="1234440"/>
            <a:ext cx="2514240" cy="1188360"/>
          </a:xfrm>
          <a:prstGeom prst="roundRect">
            <a:avLst>
              <a:gd name="adj" fmla="val 8000"/>
            </a:avLst>
          </a:prstGeom>
          <a:solidFill>
            <a:srgbClr val="e7f2ff"/>
          </a:solidFill>
          <a:ln w="8890"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2" name="TextBox 4"/>
          <p:cNvSpPr/>
          <p:nvPr/>
        </p:nvSpPr>
        <p:spPr>
          <a:xfrm>
            <a:off x="831960" y="1344240"/>
            <a:ext cx="2221560" cy="96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Docker CLI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Use docker compose commands in any terminal.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Rounded Rectangle 5"/>
          <p:cNvSpPr/>
          <p:nvPr/>
        </p:nvSpPr>
        <p:spPr>
          <a:xfrm>
            <a:off x="3474720" y="1234440"/>
            <a:ext cx="2514240" cy="1188360"/>
          </a:xfrm>
          <a:prstGeom prst="roundRect">
            <a:avLst>
              <a:gd name="adj" fmla="val 8000"/>
            </a:avLst>
          </a:prstGeom>
          <a:solidFill>
            <a:srgbClr val="e2f5e9"/>
          </a:solidFill>
          <a:ln w="8890"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Box 6"/>
          <p:cNvSpPr/>
          <p:nvPr/>
        </p:nvSpPr>
        <p:spPr>
          <a:xfrm>
            <a:off x="3620880" y="1344240"/>
            <a:ext cx="2221560" cy="96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curl for REST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Use curl for Kafka Connect API calls.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Rounded Rectangle 7"/>
          <p:cNvSpPr/>
          <p:nvPr/>
        </p:nvSpPr>
        <p:spPr>
          <a:xfrm>
            <a:off x="6263640" y="1234440"/>
            <a:ext cx="2011320" cy="1188360"/>
          </a:xfrm>
          <a:prstGeom prst="roundRect">
            <a:avLst>
              <a:gd name="adj" fmla="val 8000"/>
            </a:avLst>
          </a:prstGeom>
          <a:solidFill>
            <a:srgbClr val="fff1d8"/>
          </a:solidFill>
          <a:ln w="8890"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6" name="TextBox 8"/>
          <p:cNvSpPr/>
          <p:nvPr/>
        </p:nvSpPr>
        <p:spPr>
          <a:xfrm>
            <a:off x="6409800" y="1344240"/>
            <a:ext cx="1718640" cy="96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localhost ports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Kafka 19092, UI 18080, Connect 18083, Postgres 15432.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Rectangle 9"/>
          <p:cNvSpPr/>
          <p:nvPr/>
        </p:nvSpPr>
        <p:spPr>
          <a:xfrm>
            <a:off x="868680" y="3291840"/>
            <a:ext cx="7314840" cy="822600"/>
          </a:xfrm>
          <a:prstGeom prst="rect">
            <a:avLst/>
          </a:prstGeom>
          <a:solidFill>
            <a:srgbClr val="ededed"/>
          </a:solidFill>
          <a:ln>
            <a:solidFill>
              <a:srgbClr val="e0e0e0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8" name="TextBox 10"/>
          <p:cNvSpPr/>
          <p:nvPr/>
        </p:nvSpPr>
        <p:spPr>
          <a:xfrm>
            <a:off x="978480" y="3401640"/>
            <a:ext cx="709524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cd Week_01/Day_04/Lab_Files_Client_Ready</a:t>
            </a:r>
            <a:br>
              <a:rPr sz="1200"/>
            </a:b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docker compose up -d</a:t>
            </a:r>
            <a:br>
              <a:rPr sz="1200"/>
            </a:b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curl -s http://localhost:18083/connectors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Lab Steps &amp; Commands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1"/>
          <p:cNvSpPr/>
          <p:nvPr/>
        </p:nvSpPr>
        <p:spPr>
          <a:xfrm>
            <a:off x="457200" y="1188720"/>
            <a:ext cx="8228880" cy="365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1. Start the lab stack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$ cd Week_01/Day_04/Lab_Files_Client_Ready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$ docker compose up -d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2. Register the Debezium connector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$ curl -s -X POST http://localhost:18083/connectors ...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3. Change source data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$ docker compose exec -T postgres psql ...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4. Observe CDC records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$ docker compose exec -T kafka kafka-console-consumer ...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Full commands are in the lab guide.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2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Lab Reflection &amp; Discussion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1"/>
          <p:cNvSpPr/>
          <p:nvPr/>
        </p:nvSpPr>
        <p:spPr>
          <a:xfrm>
            <a:off x="457200" y="1280160"/>
            <a:ext cx="8228880" cy="22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Which records were snapshot reads (op=r) and which were streamed changes?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What did update and delete envelopes show in before/after?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Did a delete yield a tombstone under your connector settings?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After restart, how would a downstream sink avoid duplicate side effects?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What must Day 5 validate before events are accepted downstream?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2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Text 0"/>
          <p:cNvSpPr/>
          <p:nvPr/>
        </p:nvSpPr>
        <p:spPr>
          <a:xfrm>
            <a:off x="457200" y="457200"/>
            <a:ext cx="8228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Quiz: Question 1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1"/>
          <p:cNvSpPr/>
          <p:nvPr/>
        </p:nvSpPr>
        <p:spPr>
          <a:xfrm>
            <a:off x="457200" y="1097280"/>
            <a:ext cx="82288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Which CDC method minimizes database load while capturing inserts, updates and deletes in order?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2"/>
          <p:cNvSpPr/>
          <p:nvPr/>
        </p:nvSpPr>
        <p:spPr>
          <a:xfrm>
            <a:off x="457200" y="219456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A. Query‑based polling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3"/>
          <p:cNvSpPr/>
          <p:nvPr/>
        </p:nvSpPr>
        <p:spPr>
          <a:xfrm>
            <a:off x="457200" y="25603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B. Trigger‑based logging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4"/>
          <p:cNvSpPr/>
          <p:nvPr/>
        </p:nvSpPr>
        <p:spPr>
          <a:xfrm>
            <a:off x="457200" y="292608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C. Log‑based streaming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5"/>
          <p:cNvSpPr/>
          <p:nvPr/>
        </p:nvSpPr>
        <p:spPr>
          <a:xfrm>
            <a:off x="457200" y="329184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D. Periodic ETL batch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6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Text 0"/>
          <p:cNvSpPr/>
          <p:nvPr/>
        </p:nvSpPr>
        <p:spPr>
          <a:xfrm>
            <a:off x="457200" y="457200"/>
            <a:ext cx="8228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Quiz: Question 2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1"/>
          <p:cNvSpPr/>
          <p:nvPr/>
        </p:nvSpPr>
        <p:spPr>
          <a:xfrm>
            <a:off x="457200" y="1097280"/>
            <a:ext cx="82288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In a Debezium event record, what does the "op" field value "r" indicate?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2"/>
          <p:cNvSpPr/>
          <p:nvPr/>
        </p:nvSpPr>
        <p:spPr>
          <a:xfrm>
            <a:off x="457200" y="219456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A. A delete operation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3"/>
          <p:cNvSpPr/>
          <p:nvPr/>
        </p:nvSpPr>
        <p:spPr>
          <a:xfrm>
            <a:off x="457200" y="25603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B. A snapshot record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4"/>
          <p:cNvSpPr/>
          <p:nvPr/>
        </p:nvSpPr>
        <p:spPr>
          <a:xfrm>
            <a:off x="457200" y="292608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C. An update operation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5"/>
          <p:cNvSpPr/>
          <p:nvPr/>
        </p:nvSpPr>
        <p:spPr>
          <a:xfrm>
            <a:off x="457200" y="329184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D. A heartbeat record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6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Text 0"/>
          <p:cNvSpPr/>
          <p:nvPr/>
        </p:nvSpPr>
        <p:spPr>
          <a:xfrm>
            <a:off x="457200" y="457200"/>
            <a:ext cx="8228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Quiz: Question 3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1"/>
          <p:cNvSpPr/>
          <p:nvPr/>
        </p:nvSpPr>
        <p:spPr>
          <a:xfrm>
            <a:off x="457200" y="1097280"/>
            <a:ext cx="82288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Which connector property controls the number of parallel tasks for a Debezium connector?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2"/>
          <p:cNvSpPr/>
          <p:nvPr/>
        </p:nvSpPr>
        <p:spPr>
          <a:xfrm>
            <a:off x="457200" y="219456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A. tasks.max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3"/>
          <p:cNvSpPr/>
          <p:nvPr/>
        </p:nvSpPr>
        <p:spPr>
          <a:xfrm>
            <a:off x="457200" y="25603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B. snapshot.mode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4"/>
          <p:cNvSpPr/>
          <p:nvPr/>
        </p:nvSpPr>
        <p:spPr>
          <a:xfrm>
            <a:off x="457200" y="292608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C. heartbeat.interval.ms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5"/>
          <p:cNvSpPr/>
          <p:nvPr/>
        </p:nvSpPr>
        <p:spPr>
          <a:xfrm>
            <a:off x="457200" y="329184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D. max.batch.size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6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Text 0"/>
          <p:cNvSpPr/>
          <p:nvPr/>
        </p:nvSpPr>
        <p:spPr>
          <a:xfrm>
            <a:off x="457200" y="457200"/>
            <a:ext cx="8228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Quiz: Question 4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1"/>
          <p:cNvSpPr/>
          <p:nvPr/>
        </p:nvSpPr>
        <p:spPr>
          <a:xfrm>
            <a:off x="457200" y="1097280"/>
            <a:ext cx="82288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How do you request an ad hoc incremental snapshot for selected PostgreSQL tables?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2"/>
          <p:cNvSpPr/>
          <p:nvPr/>
        </p:nvSpPr>
        <p:spPr>
          <a:xfrm>
            <a:off x="457200" y="219456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A. snapshot.mode=never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3"/>
          <p:cNvSpPr/>
          <p:nvPr/>
        </p:nvSpPr>
        <p:spPr>
          <a:xfrm>
            <a:off x="457200" y="25603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B. incremental.snapshot.enabled=true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4"/>
          <p:cNvSpPr/>
          <p:nvPr/>
        </p:nvSpPr>
        <p:spPr>
          <a:xfrm>
            <a:off x="457200" y="292608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C. snapshot.lock.timeout.ms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5"/>
          <p:cNvSpPr/>
          <p:nvPr/>
        </p:nvSpPr>
        <p:spPr>
          <a:xfrm>
            <a:off x="457200" y="329184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D. topic.rename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6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Text 0"/>
          <p:cNvSpPr/>
          <p:nvPr/>
        </p:nvSpPr>
        <p:spPr>
          <a:xfrm>
            <a:off x="457200" y="457200"/>
            <a:ext cx="8228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Quiz: Question 5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1"/>
          <p:cNvSpPr/>
          <p:nvPr/>
        </p:nvSpPr>
        <p:spPr>
          <a:xfrm>
            <a:off x="457200" y="1097280"/>
            <a:ext cx="82288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What does the ExtractNewRecordState SMT do?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2"/>
          <p:cNvSpPr/>
          <p:nvPr/>
        </p:nvSpPr>
        <p:spPr>
          <a:xfrm>
            <a:off x="457200" y="219456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A. Removes metadata envelope and keeps only after field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3"/>
          <p:cNvSpPr/>
          <p:nvPr/>
        </p:nvSpPr>
        <p:spPr>
          <a:xfrm>
            <a:off x="457200" y="25603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B. Renames the Kafka topic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4"/>
          <p:cNvSpPr/>
          <p:nvPr/>
        </p:nvSpPr>
        <p:spPr>
          <a:xfrm>
            <a:off x="457200" y="292608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C. Adds a heartbeat record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5"/>
          <p:cNvSpPr/>
          <p:nvPr/>
        </p:nvSpPr>
        <p:spPr>
          <a:xfrm>
            <a:off x="457200" y="329184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D. Converts snapshot mode to full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6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Quiz Answers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1"/>
          <p:cNvSpPr/>
          <p:nvPr/>
        </p:nvSpPr>
        <p:spPr>
          <a:xfrm>
            <a:off x="457200" y="1188720"/>
            <a:ext cx="8228880" cy="21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1. C - Log-based streaming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2. B - A snapshot record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3. A - tasks.max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4. B - Send an execute-snapshot signal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5. A - Removes the envelope and exposes row state (configure delete handling deliberately)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2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2"/>
              </a:rPr>
              <a:t>[2]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3"/>
              </a:rPr>
              <a:t>[3]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4"/>
              </a:rPr>
              <a:t>[4]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5"/>
              </a:rPr>
              <a:t>[5]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Text 0"/>
          <p:cNvSpPr/>
          <p:nvPr/>
        </p:nvSpPr>
        <p:spPr>
          <a:xfrm>
            <a:off x="457200" y="45720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Recap &amp; Next Steps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1"/>
          <p:cNvSpPr/>
          <p:nvPr/>
        </p:nvSpPr>
        <p:spPr>
          <a:xfrm>
            <a:off x="457200" y="1097280"/>
            <a:ext cx="8228880" cy="30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On Day 5: We design production ingestion from CDC, clickstream and batch files, then protect downstream consumers with schemas, validation and DLQ patterns.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2"/>
          <p:cNvSpPr/>
          <p:nvPr/>
        </p:nvSpPr>
        <p:spPr>
          <a:xfrm>
            <a:off x="457200" y="6217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2"/>
              </a:rPr>
              <a:t>[2]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3"/>
              </a:rPr>
              <a:t>[3]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LibreOffice/25.8.6.2$Windows_X86_64 LibreOffice_project/b4b39682cd9868fa725bc664aff94278d315bd04</Application>
  <AppVersion>15.0000</AppVersion>
  <Words>4934</Words>
  <Paragraphs>658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2026-05-26T08:23:50Z</dcterms:created>
  <dc:creator>Walnut Exporter</dc:creator>
  <dc:description/>
  <dc:language>en-IN</dc:language>
  <cp:lastModifiedBy/>
  <dcterms:modified xsi:type="dcterms:W3CDTF">2026-06-03T20:35:49Z</dcterms:modified>
  <cp:revision>2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70</vt:i4>
  </property>
  <property fmtid="{D5CDD505-2E9C-101B-9397-08002B2CF9AE}" pid="3" name="PresentationFormat">
    <vt:lpwstr>On-screen Show (4:3)</vt:lpwstr>
  </property>
  <property fmtid="{D5CDD505-2E9C-101B-9397-08002B2CF9AE}" pid="4" name="Slides">
    <vt:i4>70</vt:i4>
  </property>
</Properties>
</file>