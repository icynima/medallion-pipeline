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45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46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47.xml" ContentType="application/vnd.openxmlformats-officedocument.presentationml.slide+xml"/>
  <Override PartName="/ppt/slides/slide3.xml" ContentType="application/vnd.openxmlformats-officedocument.presentationml.slide+xml"/>
  <Override PartName="/ppt/slides/slide40.xml" ContentType="application/vnd.openxmlformats-officedocument.presentationml.slide+xml"/>
  <Override PartName="/ppt/slides/slide4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22.xml" ContentType="application/vnd.openxmlformats-officedocument.presentationml.slide+xml"/>
  <Override PartName="/ppt/slides/slide42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4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49.xml" ContentType="application/vnd.openxmlformats-officedocument.presentationml.slide+xml"/>
  <Override PartName="/ppt/slides/slide14.xml" ContentType="application/vnd.openxmlformats-officedocument.presentationml.slide+xml"/>
  <Override PartName="/ppt/slides/slide48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44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64.xml" ContentType="application/vnd.openxmlformats-officedocument.presentationml.slide+xml"/>
  <Override PartName="/ppt/slides/slide3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53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</p:sldIdLst>
  <p:sldSz cx="9144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I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DD48C265-77DD-42C3-A58F-0F0AF19BFD12}" type="slidenum"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_rels/notesSlide58.xml.rels><?xml version="1.0" encoding="UTF-8"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
</Relationships>
</file>

<file path=ppt/notesSlides/_rels/notesSlide60.xml.rels><?xml version="1.0" encoding="UTF-8"?>
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
</Relationships>
</file>

<file path=ppt/notesSlides/_rels/notesSlide62.xml.rels><?xml version="1.0" encoding="UTF-8"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
</Relationships>
</file>

<file path=ppt/notesSlides/_rels/notesSlide64.xml.rels><?xml version="1.0" encoding="UTF-8"?>
<Relationships xmlns="http://schemas.openxmlformats.org/package/2006/relationships"><Relationship Id="rId1" Type="http://schemas.openxmlformats.org/officeDocument/2006/relationships/slide" Target="../slides/slide64.xml"/><Relationship Id="rId2" Type="http://schemas.openxmlformats.org/officeDocument/2006/relationships/notesMaster" Target="../notesMasters/notesMaster1.xml"/>
</Relationships>
</file>

<file path=ppt/notesSlides/_rels/notesSlide66.xml.rels><?xml version="1.0" encoding="UTF-8"?>
<Relationships xmlns="http://schemas.openxmlformats.org/package/2006/relationships"><Relationship Id="rId1" Type="http://schemas.openxmlformats.org/officeDocument/2006/relationships/slide" Target="../slides/slide6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PlaceHolder 3"/>
          <p:cNvSpPr>
            <a:spLocks noGrp="1"/>
          </p:cNvSpPr>
          <p:nvPr>
            <p:ph type="sldNum" idx="3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PlaceHolder 3"/>
          <p:cNvSpPr>
            <a:spLocks noGrp="1"/>
          </p:cNvSpPr>
          <p:nvPr>
            <p:ph type="sldNum" idx="3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PlaceHolder 3"/>
          <p:cNvSpPr>
            <a:spLocks noGrp="1"/>
          </p:cNvSpPr>
          <p:nvPr>
            <p:ph type="sldNum" idx="3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/>
          <p:cNvSpPr/>
          <p:nvPr/>
        </p:nvSpPr>
        <p:spPr>
          <a:xfrm>
            <a:off x="3992400" y="6672600"/>
            <a:ext cx="1186920" cy="12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800" b="0" u="none" strike="noStrike">
                <a:solidFill>
                  <a:srgbClr val="2e404d">
                    <a:alpha val="50000"/>
                  </a:srgbClr>
                </a:solidFill>
                <a:effectLst/>
                <a:uFillTx/>
                <a:latin typeface="Arial"/>
              </a:rPr>
              <a:t>Sensitivity Label: General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hyperlink" Target="file:///C:/Users/Gamer/Downloads/Training/Week1/Day%204/&#12304;243599994391698&#8224;L45-L50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hyperlink" Target="file:///C:/Users/Gamer/Downloads/Training/Week1/Day%204/&#12304;590905102876471&#8224;L109-L136&#12305;" TargetMode="Externa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243599994391698&#8224;L45-L50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672344311009396&#8224;L544-L558&#12305;" TargetMode="External"/><Relationship Id="rId2" Type="http://schemas.openxmlformats.org/officeDocument/2006/relationships/hyperlink" Target="file:///C:/Users/Gamer/Downloads/Training/Week1/Day%204/&#12304;672344311009396&#8224;L589-L627&#12305;" TargetMode="External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672344311009396&#8224;L638-L702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743847820016450&#8224;L132-L145&#12305;" TargetMode="External"/><Relationship Id="rId2" Type="http://schemas.openxmlformats.org/officeDocument/2006/relationships/hyperlink" Target="file:///C:/Users/Gamer/Downloads/Training/Week1/Day%204/&#12304;743847820016450&#8224;L154-L170&#12305;" TargetMode="External"/><Relationship Id="rId3" Type="http://schemas.openxmlformats.org/officeDocument/2006/relationships/hyperlink" Target="file:///C:/Users/Gamer/Downloads/Training/Week1/Day%204/&#12304;743847820016450&#8224;L174-L190&#12305;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6" Type="http://schemas.openxmlformats.org/officeDocument/2006/relationships/image" Target="../media/image7.png"/><Relationship Id="rId7" Type="http://schemas.openxmlformats.org/officeDocument/2006/relationships/image" Target="../media/image7.png"/><Relationship Id="rId8" Type="http://schemas.openxmlformats.org/officeDocument/2006/relationships/image" Target="../media/image7.png"/><Relationship Id="rId9" Type="http://schemas.openxmlformats.org/officeDocument/2006/relationships/hyperlink" Target="file:///C:/Users/Gamer/Downloads/Training/Week1/Day%204/&#12304;672344311009396&#8224;L717-L749&#12305;" TargetMode="External"/><Relationship Id="rId10" Type="http://schemas.openxmlformats.org/officeDocument/2006/relationships/hyperlink" Target="file:///C:/Users/Gamer/Downloads/Training/Week1/Day%204/&#12304;17352650637092&#8224;L190-L215&#12305;" TargetMode="Externa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743847820016450&#8224;L132-L145&#12305;" TargetMode="External"/><Relationship Id="rId2" Type="http://schemas.openxmlformats.org/officeDocument/2006/relationships/hyperlink" Target="file:///C:/Users/Gamer/Downloads/Training/Week1/Day%204/&#12304;743847820016450&#8224;L154-L170&#12305;" TargetMode="External"/><Relationship Id="rId3" Type="http://schemas.openxmlformats.org/officeDocument/2006/relationships/hyperlink" Target="file:///C:/Users/Gamer/Downloads/Training/Week1/Day%204/&#12304;743847820016450&#8224;L174-L190&#12305;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4.jpeg"/><Relationship Id="rId2" Type="http://schemas.openxmlformats.org/officeDocument/2006/relationships/hyperlink" Target="file:///C:/Users/Gamer/Downloads/Training/Week1/Day%204/&#12304;590905102876471&#8224;L109-L136&#12305;" TargetMode="External"/><Relationship Id="rId3" Type="http://schemas.openxmlformats.org/officeDocument/2006/relationships/hyperlink" Target="file:///C:/Users/Gamer/Downloads/Training/Week1/Day%204/&#12304;590905102876471&#8224;L160-L205&#12305;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901517790178346&#8224;L122-L149&#12305;" TargetMode="External"/><Relationship Id="rId2" Type="http://schemas.openxmlformats.org/officeDocument/2006/relationships/image" Target="../media/image16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7.jpeg"/><Relationship Id="rId2" Type="http://schemas.openxmlformats.org/officeDocument/2006/relationships/hyperlink" Target="file:///C:/Users/Gamer/Downloads/Training/Week1/Day%204/&#12304;901517790178346&#8224;L155-L170&#12305;" TargetMode="External"/><Relationship Id="rId3" Type="http://schemas.openxmlformats.org/officeDocument/2006/relationships/hyperlink" Target="file:///C:/Users/Gamer/Downloads/Training/Week1/Day%204/&#12304;25194570669191&#8224;L120-L139&#12305;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7.jpeg"/><Relationship Id="rId2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590905102876471&#8224;L148-L156&#12305;" TargetMode="External"/><Relationship Id="rId2" Type="http://schemas.openxmlformats.org/officeDocument/2006/relationships/hyperlink" Target="file:///C:/Users/Gamer/Downloads/Training/Week1/Day%204/&#12304;590905102876471&#8224;L305-L319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590905102876471&#8224;L160-L205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901517790178346&#8224;L122-L149&#12305;" TargetMode="External"/><Relationship Id="rId2" Type="http://schemas.openxmlformats.org/officeDocument/2006/relationships/hyperlink" Target="file:///C:/Users/Gamer/Downloads/Training/Week1/Day%204/&#12304;25194570669191&#8224;L120-L139&#12305;" TargetMode="External"/><Relationship Id="rId3" Type="http://schemas.openxmlformats.org/officeDocument/2006/relationships/image" Target="../media/image1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901517790178346&#8224;L122-L149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901517790178346&#8224;L122-L149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590905102876471&#8224;L305-L319&#12305;" TargetMode="External"/><Relationship Id="rId2" Type="http://schemas.openxmlformats.org/officeDocument/2006/relationships/hyperlink" Target="file:///C:/Users/Gamer/Downloads/Training/Week1/Day%204/&#12304;590905102876471&#8224;L377-L411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590905102876471&#8224;L109-L136&#12305;" TargetMode="External"/><Relationship Id="rId2" Type="http://schemas.openxmlformats.org/officeDocument/2006/relationships/hyperlink" Target="file:///C:/Users/Gamer/Downloads/Training/Week1/Day%204/&#12304;743847820016450&#8224;L132-L145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901517790178346&#8224;L122-L149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21.png"/><Relationship Id="rId6" Type="http://schemas.openxmlformats.org/officeDocument/2006/relationships/hyperlink" Target="file:///C:/Users/Gamer/Downloads/Training/Week1/Day%204/&#12304;25194570669191&#8224;L156-L170&#12305;" TargetMode="Externa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743847820016450&#8224;L132-L145&#12305;" TargetMode="External"/><Relationship Id="rId2" Type="http://schemas.openxmlformats.org/officeDocument/2006/relationships/hyperlink" Target="file:///C:/Users/Gamer/Downloads/Training/Week1/Day%204/&#12304;590905102876471&#8224;L160-L205&#12305;" TargetMode="External"/><Relationship Id="rId3" Type="http://schemas.openxmlformats.org/officeDocument/2006/relationships/hyperlink" Target="file:///C:/Users/Gamer/Downloads/Training/Week1/Day%204/&#12304;590905102876471&#8224;L218-L258&#12305;" TargetMode="External"/><Relationship Id="rId4" Type="http://schemas.openxmlformats.org/officeDocument/2006/relationships/hyperlink" Target="file:///C:/Users/Gamer/Downloads/Training/Week1/Day%204/&#12304;590905102876471&#8224;L267-L287&#12305;" TargetMode="External"/><Relationship Id="rId5" Type="http://schemas.openxmlformats.org/officeDocument/2006/relationships/hyperlink" Target="file:///C:/Users/Gamer/Downloads/Training/Week1/Day%204/&#12304;590905102876471&#8224;L305-L319&#12305;" TargetMode="Externa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590905102876471&#8224;L305-L319&#12305;" TargetMode="External"/><Relationship Id="rId2" Type="http://schemas.openxmlformats.org/officeDocument/2006/relationships/hyperlink" Target="file:///C:/Users/Gamer/Downloads/Training/Week1/Day%204/&#12304;590905102876471&#8224;L377-L411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590905102876471&#8224;L377-L411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25194570669191&#8224;L156-L170&#12305;" TargetMode="External"/><Relationship Id="rId2" Type="http://schemas.openxmlformats.org/officeDocument/2006/relationships/hyperlink" Target="file:///C:/Users/Gamer/Downloads/Training/Week1/Day%204/&#12304;590905102876471&#8224;L218-L258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590905102876471&#8224;L218-L258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743847820016450&#8224;L132-L145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590905102876471&#8224;L160-L205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590905102876471&#8224;L218-L258&#12305;" TargetMode="External"/><Relationship Id="rId2" Type="http://schemas.openxmlformats.org/officeDocument/2006/relationships/hyperlink" Target="file:///C:/Users/Gamer/Downloads/Training/Week1/Day%204/&#12304;590905102876471&#8224;L377-L411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590905102876471&#8224;L267-L287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590905102876471&#8224;L305-L319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4/&#12304;243599994391698&#8224;L45-L50&#12305;" TargetMode="External"/><Relationship Id="rId2" Type="http://schemas.openxmlformats.org/officeDocument/2006/relationships/hyperlink" Target="file:///C:/Users/Gamer/Downloads/Training/Week1/Day%204/&#12304;901517790178346&#8224;L122-L149&#12305;" TargetMode="External"/><Relationship Id="rId3" Type="http://schemas.openxmlformats.org/officeDocument/2006/relationships/hyperlink" Target="file:///C:/Users/Gamer/Downloads/Training/Week1/Day%204/&#12304;590905102876471&#8224;L267-L287&#12305;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0"/>
          <p:cNvSpPr/>
          <p:nvPr/>
        </p:nvSpPr>
        <p:spPr>
          <a:xfrm>
            <a:off x="457200" y="1280160"/>
            <a:ext cx="502812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Day 4: Change Data Capture &amp; Debezium</a:t>
            </a:r>
            <a:endParaRPr lang="en-IN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i="1" u="none" strike="noStrike">
                <a:solidFill>
                  <a:srgbClr val="585858"/>
                </a:solidFill>
                <a:effectLst/>
                <a:uFillTx/>
                <a:latin typeface="Calibri"/>
                <a:ea typeface="Calibri"/>
              </a:rPr>
              <a:t>Modern Data Engineering Series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" name="Image 0"/>
          <p:cNvPicPr/>
          <p:nvPr/>
        </p:nvPicPr>
        <p:blipFill>
          <a:blip r:embed="rId1"/>
          <a:stretch/>
        </p:blipFill>
        <p:spPr>
          <a:xfrm>
            <a:off x="5486400" y="640080"/>
            <a:ext cx="3656520" cy="274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" name="Text 1"/>
          <p:cNvSpPr/>
          <p:nvPr/>
        </p:nvSpPr>
        <p:spPr>
          <a:xfrm>
            <a:off x="457200" y="2377440"/>
            <a:ext cx="50281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404040"/>
                </a:solidFill>
                <a:effectLst/>
                <a:uFillTx/>
                <a:latin typeface="Calibri"/>
                <a:ea typeface="Calibri"/>
              </a:rPr>
              <a:t>Understanding CDC fundamentals, Debezium internals, connectors, configuration and hands-on lab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2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2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0"/>
          <p:cNvSpPr/>
          <p:nvPr/>
        </p:nvSpPr>
        <p:spPr>
          <a:xfrm>
            <a:off x="457200" y="457200"/>
            <a:ext cx="73141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Learning Objectives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" name="Image 0"/>
          <p:cNvPicPr/>
          <p:nvPr/>
        </p:nvPicPr>
        <p:blipFill>
          <a:blip r:embed="rId1"/>
          <a:stretch/>
        </p:blipFill>
        <p:spPr>
          <a:xfrm>
            <a:off x="457200" y="1188720"/>
            <a:ext cx="318960" cy="31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" name="Text 1"/>
          <p:cNvSpPr/>
          <p:nvPr/>
        </p:nvSpPr>
        <p:spPr>
          <a:xfrm>
            <a:off x="822960" y="1234440"/>
            <a:ext cx="77713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Define CDC and its benefits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" name="Image 1"/>
          <p:cNvPicPr/>
          <p:nvPr/>
        </p:nvPicPr>
        <p:blipFill>
          <a:blip r:embed="rId2"/>
          <a:stretch/>
        </p:blipFill>
        <p:spPr>
          <a:xfrm>
            <a:off x="457200" y="1645920"/>
            <a:ext cx="318960" cy="31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" name="Text 2"/>
          <p:cNvSpPr/>
          <p:nvPr/>
        </p:nvSpPr>
        <p:spPr>
          <a:xfrm>
            <a:off x="822960" y="1691640"/>
            <a:ext cx="77713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Compare CDC methods and patterns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" name="Image 2"/>
          <p:cNvPicPr/>
          <p:nvPr/>
        </p:nvPicPr>
        <p:blipFill>
          <a:blip r:embed="rId3"/>
          <a:stretch/>
        </p:blipFill>
        <p:spPr>
          <a:xfrm>
            <a:off x="457200" y="2103120"/>
            <a:ext cx="318960" cy="31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Text 3"/>
          <p:cNvSpPr/>
          <p:nvPr/>
        </p:nvSpPr>
        <p:spPr>
          <a:xfrm>
            <a:off x="822960" y="2148840"/>
            <a:ext cx="77713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Explain Debezium architecture &amp; event structure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" name="Image 3"/>
          <p:cNvPicPr/>
          <p:nvPr/>
        </p:nvPicPr>
        <p:blipFill>
          <a:blip r:embed="rId4"/>
          <a:stretch/>
        </p:blipFill>
        <p:spPr>
          <a:xfrm>
            <a:off x="457200" y="2560320"/>
            <a:ext cx="318960" cy="31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Text 4"/>
          <p:cNvSpPr/>
          <p:nvPr/>
        </p:nvSpPr>
        <p:spPr>
          <a:xfrm>
            <a:off x="822960" y="2606040"/>
            <a:ext cx="77713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Explore connector landscape and deployment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" name="Image 4"/>
          <p:cNvPicPr/>
          <p:nvPr/>
        </p:nvPicPr>
        <p:blipFill>
          <a:blip r:embed="rId5"/>
          <a:stretch/>
        </p:blipFill>
        <p:spPr>
          <a:xfrm>
            <a:off x="457200" y="3017520"/>
            <a:ext cx="318960" cy="31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Text 5"/>
          <p:cNvSpPr/>
          <p:nvPr/>
        </p:nvSpPr>
        <p:spPr>
          <a:xfrm>
            <a:off x="822960" y="3063240"/>
            <a:ext cx="77713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Configure connectors via Kafka Connect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" name="Image 5"/>
          <p:cNvPicPr/>
          <p:nvPr/>
        </p:nvPicPr>
        <p:blipFill>
          <a:blip r:embed="rId6"/>
          <a:stretch/>
        </p:blipFill>
        <p:spPr>
          <a:xfrm>
            <a:off x="457200" y="3474720"/>
            <a:ext cx="318960" cy="31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Text 6"/>
          <p:cNvSpPr/>
          <p:nvPr/>
        </p:nvSpPr>
        <p:spPr>
          <a:xfrm>
            <a:off x="822960" y="3520440"/>
            <a:ext cx="77713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Capture changes hands-on &amp; analyze events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7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7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0"/>
          <p:cNvSpPr/>
          <p:nvPr/>
        </p:nvSpPr>
        <p:spPr>
          <a:xfrm>
            <a:off x="457200" y="457200"/>
            <a:ext cx="3656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Agenda</a:t>
            </a:r>
            <a:endParaRPr lang="en-IN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1"/>
          <p:cNvSpPr/>
          <p:nvPr/>
        </p:nvSpPr>
        <p:spPr>
          <a:xfrm>
            <a:off x="360000" y="1280160"/>
            <a:ext cx="539280" cy="318960"/>
          </a:xfrm>
          <a:prstGeom prst="rect">
            <a:avLst/>
          </a:prstGeom>
          <a:solidFill>
            <a:srgbClr val="00adef"/>
          </a:solidFill>
          <a:ln w="12700">
            <a:solidFill>
              <a:srgbClr val="00a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1" name="Text 2"/>
          <p:cNvSpPr/>
          <p:nvPr/>
        </p:nvSpPr>
        <p:spPr>
          <a:xfrm>
            <a:off x="277200" y="1280160"/>
            <a:ext cx="6220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09:00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3"/>
          <p:cNvSpPr/>
          <p:nvPr/>
        </p:nvSpPr>
        <p:spPr>
          <a:xfrm>
            <a:off x="914400" y="1325880"/>
            <a:ext cx="7771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CDC Fundamentals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4"/>
          <p:cNvSpPr/>
          <p:nvPr/>
        </p:nvSpPr>
        <p:spPr>
          <a:xfrm>
            <a:off x="360000" y="1828800"/>
            <a:ext cx="539280" cy="318960"/>
          </a:xfrm>
          <a:prstGeom prst="rect">
            <a:avLst/>
          </a:prstGeom>
          <a:solidFill>
            <a:srgbClr val="00adef"/>
          </a:solidFill>
          <a:ln w="12700">
            <a:solidFill>
              <a:srgbClr val="00a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4" name="Text 5"/>
          <p:cNvSpPr/>
          <p:nvPr/>
        </p:nvSpPr>
        <p:spPr>
          <a:xfrm>
            <a:off x="360000" y="1828800"/>
            <a:ext cx="5392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10:30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6"/>
          <p:cNvSpPr/>
          <p:nvPr/>
        </p:nvSpPr>
        <p:spPr>
          <a:xfrm>
            <a:off x="914400" y="1874520"/>
            <a:ext cx="7771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Debezium Architecture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7"/>
          <p:cNvSpPr/>
          <p:nvPr/>
        </p:nvSpPr>
        <p:spPr>
          <a:xfrm>
            <a:off x="360000" y="2377440"/>
            <a:ext cx="539280" cy="318960"/>
          </a:xfrm>
          <a:prstGeom prst="rect">
            <a:avLst/>
          </a:prstGeom>
          <a:solidFill>
            <a:srgbClr val="00adef"/>
          </a:solidFill>
          <a:ln w="12700">
            <a:solidFill>
              <a:srgbClr val="00a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7" name="Text 8"/>
          <p:cNvSpPr/>
          <p:nvPr/>
        </p:nvSpPr>
        <p:spPr>
          <a:xfrm>
            <a:off x="360000" y="2377440"/>
            <a:ext cx="5392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12:00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9"/>
          <p:cNvSpPr/>
          <p:nvPr/>
        </p:nvSpPr>
        <p:spPr>
          <a:xfrm>
            <a:off x="914400" y="2423160"/>
            <a:ext cx="7771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Connector Landscape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10"/>
          <p:cNvSpPr/>
          <p:nvPr/>
        </p:nvSpPr>
        <p:spPr>
          <a:xfrm>
            <a:off x="360000" y="2926080"/>
            <a:ext cx="539280" cy="318960"/>
          </a:xfrm>
          <a:prstGeom prst="rect">
            <a:avLst/>
          </a:prstGeom>
          <a:solidFill>
            <a:srgbClr val="00adef"/>
          </a:solidFill>
          <a:ln w="12700">
            <a:solidFill>
              <a:srgbClr val="00a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0" name="Text 11"/>
          <p:cNvSpPr/>
          <p:nvPr/>
        </p:nvSpPr>
        <p:spPr>
          <a:xfrm>
            <a:off x="360000" y="2926080"/>
            <a:ext cx="5392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13:30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2"/>
          <p:cNvSpPr/>
          <p:nvPr/>
        </p:nvSpPr>
        <p:spPr>
          <a:xfrm>
            <a:off x="914400" y="2971800"/>
            <a:ext cx="7771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Connector Configuration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3"/>
          <p:cNvSpPr/>
          <p:nvPr/>
        </p:nvSpPr>
        <p:spPr>
          <a:xfrm>
            <a:off x="360000" y="3474720"/>
            <a:ext cx="539280" cy="318960"/>
          </a:xfrm>
          <a:prstGeom prst="rect">
            <a:avLst/>
          </a:prstGeom>
          <a:solidFill>
            <a:srgbClr val="00adef"/>
          </a:solidFill>
          <a:ln w="12700">
            <a:solidFill>
              <a:srgbClr val="00a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3" name="Text 14"/>
          <p:cNvSpPr/>
          <p:nvPr/>
        </p:nvSpPr>
        <p:spPr>
          <a:xfrm>
            <a:off x="360000" y="3474720"/>
            <a:ext cx="5392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15:00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5"/>
          <p:cNvSpPr/>
          <p:nvPr/>
        </p:nvSpPr>
        <p:spPr>
          <a:xfrm>
            <a:off x="914400" y="3520440"/>
            <a:ext cx="7771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Hands-On Lab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16"/>
          <p:cNvSpPr/>
          <p:nvPr/>
        </p:nvSpPr>
        <p:spPr>
          <a:xfrm>
            <a:off x="360000" y="4023360"/>
            <a:ext cx="539280" cy="318960"/>
          </a:xfrm>
          <a:prstGeom prst="rect">
            <a:avLst/>
          </a:prstGeom>
          <a:solidFill>
            <a:srgbClr val="00adef"/>
          </a:solidFill>
          <a:ln w="12700">
            <a:solidFill>
              <a:srgbClr val="00ad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6" name="Text 17"/>
          <p:cNvSpPr/>
          <p:nvPr/>
        </p:nvSpPr>
        <p:spPr>
          <a:xfrm>
            <a:off x="360000" y="4023360"/>
            <a:ext cx="5392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16:30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8"/>
          <p:cNvSpPr/>
          <p:nvPr/>
        </p:nvSpPr>
        <p:spPr>
          <a:xfrm>
            <a:off x="914400" y="4069080"/>
            <a:ext cx="7771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Quiz &amp; Recap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9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 0"/>
          <p:cNvSpPr/>
          <p:nvPr/>
        </p:nvSpPr>
        <p:spPr>
          <a:xfrm>
            <a:off x="457200" y="45720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What is Change Data Capture?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"/>
          <p:cNvSpPr/>
          <p:nvPr/>
        </p:nvSpPr>
        <p:spPr>
          <a:xfrm>
            <a:off x="457200" y="1097280"/>
            <a:ext cx="4845240" cy="30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CDC is a design pattern that records row-level data changes (inserts, updates, deletes) and propagates them as events in real time.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Why CDC?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Eliminates heavy batch ETL jobs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Enables real-time data synchronization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Supports microservices &amp; event-driven architectures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Guarantees data consistency and ordering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2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" name="Picture 50"/>
          <p:cNvPicPr/>
          <p:nvPr/>
        </p:nvPicPr>
        <p:blipFill>
          <a:blip r:embed="rId3"/>
          <a:stretch/>
        </p:blipFill>
        <p:spPr>
          <a:xfrm>
            <a:off x="5076000" y="556200"/>
            <a:ext cx="3563280" cy="3016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Box 1"/>
          <p:cNvSpPr/>
          <p:nvPr/>
        </p:nvSpPr>
        <p:spPr>
          <a:xfrm>
            <a:off x="457200" y="45720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CDC vs Traditional ETL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Rounded Rectangle 2"/>
          <p:cNvSpPr/>
          <p:nvPr/>
        </p:nvSpPr>
        <p:spPr>
          <a:xfrm>
            <a:off x="457200" y="1097280"/>
            <a:ext cx="4113720" cy="492012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ccccc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Traditional ETL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Batch-oriented: runs on schedule (hourly/daily)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Full or incremental table scans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High latency: minutes to hours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Heavy load on source database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No delete detection without soft-deletes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Simple to implement and reason about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Rounded Rectangle 3"/>
          <p:cNvSpPr/>
          <p:nvPr/>
        </p:nvSpPr>
        <p:spPr>
          <a:xfrm>
            <a:off x="4572000" y="1097280"/>
            <a:ext cx="4113720" cy="492012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ccccc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Change Data Capture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Event-driven: changes stream in real time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Reads database transaction log (WAL/binlog)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Low latency: sub-second to seconds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Minimal load on source database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Captures INSERT, UPDATE, DELETE, TRUNCATE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Requires log-level access and tooling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Box 4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rgbClr val="0563c1"/>
                </a:solidFill>
                <a:effectLst/>
                <a:uFillTx/>
                <a:latin typeface="Calibri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Picture 1"/>
          <p:cNvPicPr/>
          <p:nvPr/>
        </p:nvPicPr>
        <p:blipFill>
          <a:blip r:embed="rId1"/>
          <a:stretch/>
        </p:blipFill>
        <p:spPr>
          <a:xfrm>
            <a:off x="0" y="0"/>
            <a:ext cx="90198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0"/>
          <p:cNvSpPr/>
          <p:nvPr/>
        </p:nvSpPr>
        <p:spPr>
          <a:xfrm>
            <a:off x="457200" y="45720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CDC Patterns: Push vs Pull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1"/>
          <p:cNvSpPr/>
          <p:nvPr/>
        </p:nvSpPr>
        <p:spPr>
          <a:xfrm>
            <a:off x="457200" y="1097280"/>
            <a:ext cx="4113720" cy="2010600"/>
          </a:xfrm>
          <a:prstGeom prst="roundRect">
            <a:avLst>
              <a:gd name="adj" fmla="val 4545"/>
            </a:avLst>
          </a:prstGeom>
          <a:solidFill>
            <a:srgbClr val="e8f5e9"/>
          </a:solidFill>
          <a:ln w="12700">
            <a:solidFill>
              <a:srgbClr val="c5e1a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60" name="Text 2"/>
          <p:cNvSpPr/>
          <p:nvPr/>
        </p:nvSpPr>
        <p:spPr>
          <a:xfrm>
            <a:off x="502920" y="1143000"/>
            <a:ext cx="4022280" cy="19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Push (Log-based)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• Database writes change events to a log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• CDC tool streams events to consumers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• Low overhead, preserves order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• Requires privileges on DB logs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3"/>
          <p:cNvSpPr/>
          <p:nvPr/>
        </p:nvSpPr>
        <p:spPr>
          <a:xfrm>
            <a:off x="4572000" y="1097280"/>
            <a:ext cx="4113720" cy="2010600"/>
          </a:xfrm>
          <a:prstGeom prst="roundRect">
            <a:avLst>
              <a:gd name="adj" fmla="val 4545"/>
            </a:avLst>
          </a:prstGeom>
          <a:solidFill>
            <a:srgbClr val="fff3e0"/>
          </a:solidFill>
          <a:ln w="12700">
            <a:solidFill>
              <a:srgbClr val="ffcc8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62" name="Text 4"/>
          <p:cNvSpPr/>
          <p:nvPr/>
        </p:nvSpPr>
        <p:spPr>
          <a:xfrm>
            <a:off x="4617720" y="1143000"/>
            <a:ext cx="4022280" cy="19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e65100"/>
                </a:solidFill>
                <a:effectLst/>
                <a:uFillTx/>
                <a:latin typeface="Calibri"/>
                <a:ea typeface="Calibri"/>
              </a:rPr>
              <a:t>Pull (Query/Trigger)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e65100"/>
                </a:solidFill>
                <a:effectLst/>
                <a:uFillTx/>
                <a:latin typeface="Calibri"/>
                <a:ea typeface="Calibri"/>
              </a:rPr>
              <a:t>• Periodic queries or triggers detect changes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e65100"/>
                </a:solidFill>
                <a:effectLst/>
                <a:uFillTx/>
                <a:latin typeface="Calibri"/>
                <a:ea typeface="Calibri"/>
              </a:rPr>
              <a:t>• Simple to implement, works on any DB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e65100"/>
                </a:solidFill>
                <a:effectLst/>
                <a:uFillTx/>
                <a:latin typeface="Calibri"/>
                <a:ea typeface="Calibri"/>
              </a:rPr>
              <a:t>• Higher overhead, cannot capture deletes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5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558720" y="407520"/>
            <a:ext cx="8830440" cy="56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What is Write ahead log and why WAL Exists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242424"/>
                </a:solidFill>
                <a:effectLst/>
                <a:uFillTx/>
                <a:latin typeface="Calibri"/>
                <a:ea typeface="Calibri"/>
              </a:rPr>
              <a:t>When updating a database record, such as: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aa0d91"/>
                </a:solidFill>
                <a:effectLst/>
                <a:uFillTx/>
                <a:latin typeface="Calibri"/>
                <a:ea typeface="Calibri"/>
              </a:rPr>
              <a:t>UPDATE</a:t>
            </a:r>
            <a:r>
              <a:rPr lang="en-US" sz="1800" b="0" u="none" strike="noStrike">
                <a:solidFill>
                  <a:srgbClr val="242424"/>
                </a:solidFill>
                <a:effectLst/>
                <a:uFillTx/>
                <a:latin typeface="Calibri"/>
                <a:ea typeface="Calibri"/>
              </a:rPr>
              <a:t> users </a:t>
            </a:r>
            <a:r>
              <a:rPr lang="en-US" sz="1800" b="0" u="none" strike="noStrike">
                <a:solidFill>
                  <a:srgbClr val="aa0d91"/>
                </a:solidFill>
                <a:effectLst/>
                <a:uFillTx/>
                <a:latin typeface="Calibri"/>
                <a:ea typeface="Calibri"/>
              </a:rPr>
              <a:t>SET</a:t>
            </a:r>
            <a:r>
              <a:rPr lang="en-US" sz="1800" b="0" u="none" strike="noStrike">
                <a:solidFill>
                  <a:srgbClr val="242424"/>
                </a:solidFill>
                <a:effectLst/>
                <a:uFillTx/>
                <a:latin typeface="Calibri"/>
                <a:ea typeface="Calibri"/>
              </a:rPr>
              <a:t> balance = balance + </a:t>
            </a:r>
            <a:r>
              <a:rPr lang="en-US" sz="1800" b="0" u="none" strike="noStrike">
                <a:solidFill>
                  <a:srgbClr val="1c00cf"/>
                </a:solidFill>
                <a:effectLst/>
                <a:uFillTx/>
                <a:latin typeface="Calibri"/>
                <a:ea typeface="Calibri"/>
              </a:rPr>
              <a:t>100</a:t>
            </a:r>
            <a:r>
              <a:rPr lang="en-US" sz="1800" b="0" u="none" strike="noStrike">
                <a:solidFill>
                  <a:srgbClr val="242424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800" b="0" u="none" strike="noStrike">
                <a:solidFill>
                  <a:srgbClr val="aa0d91"/>
                </a:solidFill>
                <a:effectLst/>
                <a:uFillTx/>
                <a:latin typeface="Calibri"/>
                <a:ea typeface="Calibri"/>
              </a:rPr>
              <a:t>WHERE</a:t>
            </a:r>
            <a:r>
              <a:rPr lang="en-US" sz="1800" b="0" u="none" strike="noStrike">
                <a:solidFill>
                  <a:srgbClr val="242424"/>
                </a:solidFill>
                <a:effectLst/>
                <a:uFillTx/>
                <a:latin typeface="Calibri"/>
                <a:ea typeface="Calibri"/>
              </a:rPr>
              <a:t> id = </a:t>
            </a:r>
            <a:r>
              <a:rPr lang="en-US" sz="1800" b="0" u="none" strike="noStrike">
                <a:solidFill>
                  <a:srgbClr val="1c00cf"/>
                </a:solidFill>
                <a:effectLst/>
                <a:uFillTx/>
                <a:latin typeface="Calibri"/>
                <a:ea typeface="Calibri"/>
              </a:rPr>
              <a:t>42</a:t>
            </a:r>
            <a:r>
              <a:rPr lang="en-US" sz="1800" b="0" u="none" strike="noStrike">
                <a:solidFill>
                  <a:srgbClr val="242424"/>
                </a:solidFill>
                <a:effectLst/>
                <a:uFillTx/>
                <a:latin typeface="Calibri"/>
                <a:ea typeface="Calibri"/>
              </a:rPr>
              <a:t>;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242424"/>
                </a:solidFill>
                <a:effectLst/>
                <a:uFillTx/>
                <a:latin typeface="Calibri"/>
                <a:ea typeface="Calibri"/>
              </a:rPr>
              <a:t>What happens if the system crashes mid-operation?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401"/>
              </a:lnSpc>
              <a:tabLst>
                <a:tab algn="l" pos="0"/>
              </a:tabLst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242424"/>
                </a:solidFill>
                <a:effectLst/>
                <a:uFillTx/>
                <a:latin typeface="Calibri"/>
                <a:ea typeface="Calibri"/>
              </a:rPr>
              <a:t>WAL provides safety</a:t>
            </a:r>
            <a:r>
              <a:rPr lang="en-US" sz="1800" b="0" u="none" strike="noStrike">
                <a:solidFill>
                  <a:srgbClr val="242424"/>
                </a:solidFill>
                <a:effectLst/>
                <a:uFillTx/>
                <a:latin typeface="Calibri"/>
                <a:ea typeface="Calibri"/>
              </a:rPr>
              <a:t> by capturing the change intent before applying it, ensuring: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ts val="2401"/>
              </a:lnSpc>
              <a:buClr>
                <a:srgbClr val="242424"/>
              </a:buClr>
              <a:buFont typeface="Arial"/>
              <a:buChar char="•"/>
              <a:tabLst>
                <a:tab algn="l" pos="0"/>
              </a:tabLst>
            </a:pPr>
            <a:r>
              <a:rPr lang="en-US" sz="1800" b="0" u="none" strike="noStrike">
                <a:solidFill>
                  <a:srgbClr val="242424"/>
                </a:solidFill>
                <a:effectLst/>
                <a:uFillTx/>
                <a:latin typeface="Calibri"/>
                <a:ea typeface="Calibri"/>
              </a:rPr>
              <a:t>Crash recovery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ts val="2401"/>
              </a:lnSpc>
              <a:buClr>
                <a:srgbClr val="242424"/>
              </a:buClr>
              <a:buFont typeface="Arial"/>
              <a:buChar char="•"/>
              <a:tabLst>
                <a:tab algn="l" pos="0"/>
              </a:tabLst>
            </a:pPr>
            <a:r>
              <a:rPr lang="en-US" sz="1800" b="0" u="none" strike="noStrike">
                <a:solidFill>
                  <a:srgbClr val="242424"/>
                </a:solidFill>
                <a:effectLst/>
                <a:uFillTx/>
                <a:latin typeface="Calibri"/>
                <a:ea typeface="Calibri"/>
              </a:rPr>
              <a:t>Data consistency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ts val="2401"/>
              </a:lnSpc>
              <a:buClr>
                <a:srgbClr val="242424"/>
              </a:buClr>
              <a:buFont typeface="Arial"/>
              <a:buChar char="•"/>
              <a:tabLst>
                <a:tab algn="l" pos="0"/>
              </a:tabLst>
            </a:pPr>
            <a:r>
              <a:rPr lang="en-US" sz="1800" b="0" u="none" strike="noStrike">
                <a:solidFill>
                  <a:srgbClr val="242424"/>
                </a:solidFill>
                <a:effectLst/>
                <a:uFillTx/>
                <a:latin typeface="Calibri"/>
                <a:ea typeface="Calibri"/>
              </a:rPr>
              <a:t>Durable writes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401"/>
              </a:lnSpc>
              <a:tabLst>
                <a:tab algn="l" pos="0"/>
              </a:tabLst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242424"/>
                </a:solidFill>
                <a:effectLst/>
                <a:uFillTx/>
                <a:latin typeface="Calibri"/>
                <a:ea typeface="Calibri"/>
              </a:rPr>
              <a:t>How It Works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ts val="2401"/>
              </a:lnSpc>
              <a:buClr>
                <a:srgbClr val="242424"/>
              </a:buClr>
              <a:buFont typeface="Arial"/>
              <a:buChar char="•"/>
              <a:tabLst>
                <a:tab algn="l" pos="0"/>
              </a:tabLst>
            </a:pPr>
            <a:r>
              <a:rPr lang="en-US" sz="1800" b="0" u="none" strike="noStrike">
                <a:solidFill>
                  <a:srgbClr val="242424"/>
                </a:solidFill>
                <a:effectLst/>
                <a:uFillTx/>
                <a:latin typeface="Calibri"/>
                <a:ea typeface="Calibri"/>
              </a:rPr>
              <a:t>The change is first written to a Write-Ahead Log.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ts val="2401"/>
              </a:lnSpc>
              <a:buClr>
                <a:srgbClr val="242424"/>
              </a:buClr>
              <a:buFont typeface="Arial"/>
              <a:buChar char="•"/>
              <a:tabLst>
                <a:tab algn="l" pos="0"/>
              </a:tabLst>
            </a:pPr>
            <a:r>
              <a:rPr lang="en-US" sz="1800" b="0" u="none" strike="noStrike">
                <a:solidFill>
                  <a:srgbClr val="242424"/>
                </a:solidFill>
                <a:effectLst/>
                <a:uFillTx/>
                <a:latin typeface="Calibri"/>
                <a:ea typeface="Calibri"/>
              </a:rPr>
              <a:t>Once safely flushed to disk, the actual data pages are updated.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ts val="2401"/>
              </a:lnSpc>
              <a:buClr>
                <a:srgbClr val="242424"/>
              </a:buClr>
              <a:buFont typeface="Arial"/>
              <a:buChar char="•"/>
              <a:tabLst>
                <a:tab algn="l" pos="0"/>
              </a:tabLst>
            </a:pPr>
            <a:r>
              <a:rPr lang="en-US" sz="1800" b="0" u="none" strike="noStrike">
                <a:solidFill>
                  <a:srgbClr val="242424"/>
                </a:solidFill>
                <a:effectLst/>
                <a:uFillTx/>
                <a:latin typeface="Calibri"/>
                <a:ea typeface="Calibri"/>
              </a:rPr>
              <a:t>On crash, the database replays the WAL to restore consistency.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401"/>
              </a:lnSpc>
              <a:tabLst>
                <a:tab algn="l" pos="0"/>
              </a:tabLst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242424"/>
                </a:solidFill>
                <a:effectLst/>
                <a:uFillTx/>
                <a:latin typeface="Calibri"/>
                <a:ea typeface="Calibri"/>
              </a:rPr>
              <a:t>What It Guarantees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ts val="2401"/>
              </a:lnSpc>
              <a:buClr>
                <a:srgbClr val="242424"/>
              </a:buClr>
              <a:buFont typeface="Arial"/>
              <a:buChar char="•"/>
              <a:tabLst>
                <a:tab algn="l" pos="0"/>
              </a:tabLst>
            </a:pPr>
            <a:r>
              <a:rPr lang="en-US" sz="1800" b="0" u="none" strike="noStrike">
                <a:solidFill>
                  <a:srgbClr val="242424"/>
                </a:solidFill>
                <a:effectLst/>
                <a:uFillTx/>
                <a:latin typeface="Calibri"/>
                <a:ea typeface="Calibri"/>
              </a:rPr>
              <a:t>Ensures Atomicity and Durability (two pillars of ACID).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ts val="2401"/>
              </a:lnSpc>
              <a:buClr>
                <a:srgbClr val="242424"/>
              </a:buClr>
              <a:buFont typeface="Arial"/>
              <a:buChar char="•"/>
              <a:tabLst>
                <a:tab algn="l" pos="0"/>
              </a:tabLst>
            </a:pPr>
            <a:r>
              <a:rPr lang="en-US" sz="1800" b="0" u="none" strike="noStrike">
                <a:solidFill>
                  <a:srgbClr val="242424"/>
                </a:solidFill>
                <a:effectLst/>
                <a:uFillTx/>
                <a:latin typeface="Calibri"/>
                <a:ea typeface="Calibri"/>
              </a:rPr>
              <a:t>Used in systems like PostgreSQL, MySQL (InnoDB), and SQLite.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2"/>
          <p:cNvPicPr/>
          <p:nvPr/>
        </p:nvPicPr>
        <p:blipFill>
          <a:blip r:embed="rId1"/>
          <a:stretch/>
        </p:blipFill>
        <p:spPr>
          <a:xfrm>
            <a:off x="0" y="0"/>
            <a:ext cx="9327600" cy="666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extBox 1"/>
          <p:cNvSpPr/>
          <p:nvPr/>
        </p:nvSpPr>
        <p:spPr>
          <a:xfrm>
            <a:off x="457200" y="45720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Transaction Log Architecture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2"/>
          <p:cNvSpPr/>
          <p:nvPr/>
        </p:nvSpPr>
        <p:spPr>
          <a:xfrm>
            <a:off x="457200" y="1097280"/>
            <a:ext cx="8228520" cy="50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How CDC Reads the Write-Ahead Log (WAL)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Every committed transaction is written to the WAL before the data files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Logical decoding converts WAL entries into structured change events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PostgreSQL uses pgoutput plugin for logical replication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Replication slots track consumer position in the WAL stream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WAL retention: database keeps WAL segments until all slots have consumed them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Key PostgreSQL settings: wal_level=logical, max_replication_slots, max_wal_senders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Rectangle 3"/>
          <p:cNvSpPr/>
          <p:nvPr/>
        </p:nvSpPr>
        <p:spPr>
          <a:xfrm>
            <a:off x="457200" y="3800160"/>
            <a:ext cx="8228520" cy="179964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onsolas"/>
              </a:rPr>
              <a:t>-- Check WAL level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onsolas"/>
              </a:rPr>
              <a:t>SHOW wal_level;          -- Must be 'logical'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onsolas"/>
              </a:rPr>
              <a:t>-- Check replication slots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onsolas"/>
              </a:rPr>
              <a:t>SELECT slot_name, active, restart_lsn, confirmed_flush_lsn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onsolas"/>
              </a:rPr>
              <a:t>FROM pg_replication_slots;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4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rgbClr val="0563c1"/>
                </a:solidFill>
                <a:effectLst/>
                <a:uFillTx/>
                <a:latin typeface="Calibri"/>
              </a:rPr>
              <a:t>[1]  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Box 1"/>
          <p:cNvSpPr/>
          <p:nvPr/>
        </p:nvSpPr>
        <p:spPr>
          <a:xfrm>
            <a:off x="457200" y="457200"/>
            <a:ext cx="82285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Kafka’s performance comes directly from its log architecture.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2"/>
          <p:cNvSpPr/>
          <p:nvPr/>
        </p:nvSpPr>
        <p:spPr>
          <a:xfrm>
            <a:off x="457200" y="1097280"/>
            <a:ext cx="3922560" cy="50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1. Sequential Disk Writes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Kafka only </a:t>
            </a: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appends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 data: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No random I/O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Sequential writes are </a:t>
            </a: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extremely fast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 (even on HDDs)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Scales linearly with data volume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 Zero-Copy I/O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Kafka uses OS-level features like sendfile():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Data moves from disk to network socket </a:t>
            </a: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without entering user-space memory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Low CPU usage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High throughput under load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4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rgbClr val="0563c1"/>
                </a:solidFill>
                <a:effectLst/>
                <a:uFillTx/>
                <a:latin typeface="Calibri"/>
              </a:rPr>
              <a:t>[1]  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6"/>
          <p:cNvSpPr/>
          <p:nvPr/>
        </p:nvSpPr>
        <p:spPr>
          <a:xfrm>
            <a:off x="3950280" y="1097280"/>
            <a:ext cx="4590000" cy="369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 Batching and Compression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Kafka batches and compresses messages: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Reduces disk and network usage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Improves efficiency per I/O operation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Compression (Snappy, LZ4, Zstd) lowers footprint without much CPU cost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 Partitioning for Scalability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Kafka partitions topics: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Parallel writes from producers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Parallel reads from consumer groups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Adding partitions = more throughput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Box 1"/>
          <p:cNvSpPr/>
          <p:nvPr/>
        </p:nvSpPr>
        <p:spPr>
          <a:xfrm>
            <a:off x="502920" y="438840"/>
            <a:ext cx="81374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8360" rIns="18360" tIns="18360" bIns="18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CDC Watermark In The Medallion Pipeline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2"/>
          <p:cNvSpPr/>
          <p:nvPr/>
        </p:nvSpPr>
        <p:spPr>
          <a:xfrm>
            <a:off x="521280" y="896040"/>
            <a:ext cx="77716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8360" rIns="18360" tIns="18360" bIns="18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i="1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Kafka carries the changes; the watermark tells each layer how far it has processed.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3"/>
          <p:cNvSpPr/>
          <p:nvPr/>
        </p:nvSpPr>
        <p:spPr>
          <a:xfrm>
            <a:off x="530280" y="6355080"/>
            <a:ext cx="10965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8360" rIns="18360" tIns="18360" bIns="18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0066cc"/>
                </a:solidFill>
                <a:effectLst/>
                <a:uFillTx/>
                <a:latin typeface="Calibri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Rounded Rectangle 4"/>
          <p:cNvSpPr/>
          <p:nvPr/>
        </p:nvSpPr>
        <p:spPr>
          <a:xfrm>
            <a:off x="658440" y="1234440"/>
            <a:ext cx="1297800" cy="547920"/>
          </a:xfrm>
          <a:prstGeom prst="roundRect">
            <a:avLst>
              <a:gd name="adj" fmla="val 8000"/>
            </a:avLst>
          </a:prstGeom>
          <a:solidFill>
            <a:srgbClr val="e7f2ff"/>
          </a:solidFill>
          <a:ln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Postgres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Rounded Rectangle 5"/>
          <p:cNvSpPr/>
          <p:nvPr/>
        </p:nvSpPr>
        <p:spPr>
          <a:xfrm>
            <a:off x="2167200" y="1234440"/>
            <a:ext cx="1297800" cy="547920"/>
          </a:xfrm>
          <a:prstGeom prst="roundRect">
            <a:avLst>
              <a:gd name="adj" fmla="val 8000"/>
            </a:avLst>
          </a:prstGeom>
          <a:solidFill>
            <a:srgbClr val="e2f5e9"/>
          </a:solidFill>
          <a:ln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Kafka CDC topic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Right Arrow 6"/>
          <p:cNvSpPr/>
          <p:nvPr/>
        </p:nvSpPr>
        <p:spPr>
          <a:xfrm>
            <a:off x="1993680" y="1417320"/>
            <a:ext cx="136080" cy="1821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b6c"/>
          </a:solidFill>
          <a:ln>
            <a:solidFill>
              <a:srgbClr val="002b6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Rounded Rectangle 7"/>
          <p:cNvSpPr/>
          <p:nvPr/>
        </p:nvSpPr>
        <p:spPr>
          <a:xfrm>
            <a:off x="3675960" y="1234440"/>
            <a:ext cx="1297800" cy="547920"/>
          </a:xfrm>
          <a:prstGeom prst="roundRect">
            <a:avLst>
              <a:gd name="adj" fmla="val 8000"/>
            </a:avLst>
          </a:prstGeom>
          <a:solidFill>
            <a:srgbClr val="fff1d8"/>
          </a:solidFill>
          <a:ln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Bronze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Right Arrow 8"/>
          <p:cNvSpPr/>
          <p:nvPr/>
        </p:nvSpPr>
        <p:spPr>
          <a:xfrm>
            <a:off x="3502440" y="1417320"/>
            <a:ext cx="136080" cy="1821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b6c"/>
          </a:solidFill>
          <a:ln>
            <a:solidFill>
              <a:srgbClr val="002b6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" name="Rounded Rectangle 9"/>
          <p:cNvSpPr/>
          <p:nvPr/>
        </p:nvSpPr>
        <p:spPr>
          <a:xfrm>
            <a:off x="5184720" y="1234440"/>
            <a:ext cx="1297800" cy="54792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Silver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Right Arrow 10"/>
          <p:cNvSpPr/>
          <p:nvPr/>
        </p:nvSpPr>
        <p:spPr>
          <a:xfrm>
            <a:off x="5011200" y="1417320"/>
            <a:ext cx="136080" cy="1821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b6c"/>
          </a:solidFill>
          <a:ln>
            <a:solidFill>
              <a:srgbClr val="002b6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" name="Rounded Rectangle 11"/>
          <p:cNvSpPr/>
          <p:nvPr/>
        </p:nvSpPr>
        <p:spPr>
          <a:xfrm>
            <a:off x="6693480" y="1234440"/>
            <a:ext cx="1297800" cy="547920"/>
          </a:xfrm>
          <a:prstGeom prst="roundRect">
            <a:avLst>
              <a:gd name="adj" fmla="val 8000"/>
            </a:avLst>
          </a:prstGeom>
          <a:solidFill>
            <a:srgbClr val="fce4e8"/>
          </a:solidFill>
          <a:ln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Gold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Right Arrow 12"/>
          <p:cNvSpPr/>
          <p:nvPr/>
        </p:nvSpPr>
        <p:spPr>
          <a:xfrm>
            <a:off x="6519960" y="1417320"/>
            <a:ext cx="136080" cy="1821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b6c"/>
          </a:solidFill>
          <a:ln>
            <a:solidFill>
              <a:srgbClr val="002b6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" name="Rounded Rectangle 13"/>
          <p:cNvSpPr/>
          <p:nvPr/>
        </p:nvSpPr>
        <p:spPr>
          <a:xfrm>
            <a:off x="685800" y="2423160"/>
            <a:ext cx="1873800" cy="1325160"/>
          </a:xfrm>
          <a:prstGeom prst="roundRect">
            <a:avLst>
              <a:gd name="adj" fmla="val 8000"/>
            </a:avLst>
          </a:prstGeom>
          <a:solidFill>
            <a:srgbClr val="e7f2ff"/>
          </a:solidFill>
          <a:ln w="8890"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Box 14"/>
          <p:cNvSpPr/>
          <p:nvPr/>
        </p:nvSpPr>
        <p:spPr>
          <a:xfrm>
            <a:off x="831960" y="2532960"/>
            <a:ext cx="1581120" cy="11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Watermark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Last processed source point.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Example: source.ts_ms + LSN/offset.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Rounded Rectangle 15"/>
          <p:cNvSpPr/>
          <p:nvPr/>
        </p:nvSpPr>
        <p:spPr>
          <a:xfrm>
            <a:off x="2788920" y="2423160"/>
            <a:ext cx="1873800" cy="1325160"/>
          </a:xfrm>
          <a:prstGeom prst="roundRect">
            <a:avLst>
              <a:gd name="adj" fmla="val 8000"/>
            </a:avLst>
          </a:prstGeom>
          <a:solidFill>
            <a:srgbClr val="e2f5e9"/>
          </a:solidFill>
          <a:ln w="8890"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TextBox 16"/>
          <p:cNvSpPr/>
          <p:nvPr/>
        </p:nvSpPr>
        <p:spPr>
          <a:xfrm>
            <a:off x="2935080" y="2532960"/>
            <a:ext cx="1581120" cy="11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Bronze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Append raw CDC events.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Keep op and source metadata.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Rounded Rectangle 17"/>
          <p:cNvSpPr/>
          <p:nvPr/>
        </p:nvSpPr>
        <p:spPr>
          <a:xfrm>
            <a:off x="4892040" y="2423160"/>
            <a:ext cx="1873800" cy="1325160"/>
          </a:xfrm>
          <a:prstGeom prst="roundRect">
            <a:avLst>
              <a:gd name="adj" fmla="val 8000"/>
            </a:avLst>
          </a:prstGeom>
          <a:solidFill>
            <a:srgbClr val="fff1d8"/>
          </a:solidFill>
          <a:ln w="8890"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" name="TextBox 18"/>
          <p:cNvSpPr/>
          <p:nvPr/>
        </p:nvSpPr>
        <p:spPr>
          <a:xfrm>
            <a:off x="5038200" y="2532960"/>
            <a:ext cx="1581120" cy="11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Silver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Apply changes in order.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Build current-state tables.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Rounded Rectangle 19"/>
          <p:cNvSpPr/>
          <p:nvPr/>
        </p:nvSpPr>
        <p:spPr>
          <a:xfrm>
            <a:off x="6995160" y="2423160"/>
            <a:ext cx="1690920" cy="132516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8890"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Box 20"/>
          <p:cNvSpPr/>
          <p:nvPr/>
        </p:nvSpPr>
        <p:spPr>
          <a:xfrm>
            <a:off x="7141320" y="2532960"/>
            <a:ext cx="1398240" cy="11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Gold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Serve metrics and business-ready views.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21"/>
          <p:cNvSpPr/>
          <p:nvPr/>
        </p:nvSpPr>
        <p:spPr>
          <a:xfrm>
            <a:off x="749880" y="4251960"/>
            <a:ext cx="7725960" cy="95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 watermark is not a Kafka feature by itself; it is a pipeline control that says how far the CDC stream has been consumed.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In a production medallion pipeline, Gold should not claim fresh metrics until Bronze and Silver have processed the expected CDC watermark.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extBox 1"/>
          <p:cNvSpPr/>
          <p:nvPr/>
        </p:nvSpPr>
        <p:spPr>
          <a:xfrm>
            <a:off x="502920" y="438840"/>
            <a:ext cx="81374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8360" rIns="18360" tIns="18360" bIns="18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Facts And Dimensions From CDC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2"/>
          <p:cNvSpPr/>
          <p:nvPr/>
        </p:nvSpPr>
        <p:spPr>
          <a:xfrm>
            <a:off x="521280" y="896040"/>
            <a:ext cx="77716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8360" rIns="18360" tIns="18360" bIns="18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i="1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Where customer and order changes land after Kafka.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3"/>
          <p:cNvSpPr/>
          <p:nvPr/>
        </p:nvSpPr>
        <p:spPr>
          <a:xfrm>
            <a:off x="530280" y="6355080"/>
            <a:ext cx="10965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8360" rIns="18360" tIns="18360" bIns="18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0066cc"/>
                </a:solidFill>
                <a:effectLst/>
                <a:uFillTx/>
                <a:latin typeface="Calibri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Rounded Rectangle 4"/>
          <p:cNvSpPr/>
          <p:nvPr/>
        </p:nvSpPr>
        <p:spPr>
          <a:xfrm>
            <a:off x="777240" y="1234440"/>
            <a:ext cx="2513880" cy="1462320"/>
          </a:xfrm>
          <a:prstGeom prst="roundRect">
            <a:avLst>
              <a:gd name="adj" fmla="val 8000"/>
            </a:avLst>
          </a:prstGeom>
          <a:solidFill>
            <a:srgbClr val="e7f2ff"/>
          </a:solidFill>
          <a:ln w="8890"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TextBox 5"/>
          <p:cNvSpPr/>
          <p:nvPr/>
        </p:nvSpPr>
        <p:spPr>
          <a:xfrm>
            <a:off x="923400" y="1344240"/>
            <a:ext cx="2221200" cy="12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Dimension example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customers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Business entity.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Silver keeps latest customer state.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Rounded Rectangle 6"/>
          <p:cNvSpPr/>
          <p:nvPr/>
        </p:nvSpPr>
        <p:spPr>
          <a:xfrm>
            <a:off x="3611880" y="1234440"/>
            <a:ext cx="2513880" cy="1462320"/>
          </a:xfrm>
          <a:prstGeom prst="roundRect">
            <a:avLst>
              <a:gd name="adj" fmla="val 8000"/>
            </a:avLst>
          </a:prstGeom>
          <a:solidFill>
            <a:srgbClr val="e2f5e9"/>
          </a:solidFill>
          <a:ln w="8890"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" name="TextBox 7"/>
          <p:cNvSpPr/>
          <p:nvPr/>
        </p:nvSpPr>
        <p:spPr>
          <a:xfrm>
            <a:off x="3758040" y="1344240"/>
            <a:ext cx="2221200" cy="12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Fact example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orders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Business event.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Gold measures by time, product, customer.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Rounded Rectangle 8"/>
          <p:cNvSpPr/>
          <p:nvPr/>
        </p:nvSpPr>
        <p:spPr>
          <a:xfrm>
            <a:off x="6446520" y="1234440"/>
            <a:ext cx="2010960" cy="1462320"/>
          </a:xfrm>
          <a:prstGeom prst="roundRect">
            <a:avLst>
              <a:gd name="adj" fmla="val 8000"/>
            </a:avLst>
          </a:prstGeom>
          <a:solidFill>
            <a:srgbClr val="fff1d8"/>
          </a:solidFill>
          <a:ln w="8890"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" name="TextBox 9"/>
          <p:cNvSpPr/>
          <p:nvPr/>
        </p:nvSpPr>
        <p:spPr>
          <a:xfrm>
            <a:off x="6592680" y="1344240"/>
            <a:ext cx="1718280" cy="12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Watermark check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Publish Gold after CDC reaches the expected point.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Rounded Rectangle 10"/>
          <p:cNvSpPr/>
          <p:nvPr/>
        </p:nvSpPr>
        <p:spPr>
          <a:xfrm>
            <a:off x="1051560" y="3474720"/>
            <a:ext cx="1416600" cy="566280"/>
          </a:xfrm>
          <a:prstGeom prst="roundRect">
            <a:avLst>
              <a:gd name="adj" fmla="val 8000"/>
            </a:avLst>
          </a:prstGeom>
          <a:solidFill>
            <a:srgbClr val="e7f2ff"/>
          </a:solidFill>
          <a:ln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Kafka CDC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Rounded Rectangle 11"/>
          <p:cNvSpPr/>
          <p:nvPr/>
        </p:nvSpPr>
        <p:spPr>
          <a:xfrm>
            <a:off x="2779920" y="3474720"/>
            <a:ext cx="1416600" cy="566280"/>
          </a:xfrm>
          <a:prstGeom prst="roundRect">
            <a:avLst>
              <a:gd name="adj" fmla="val 8000"/>
            </a:avLst>
          </a:prstGeom>
          <a:solidFill>
            <a:srgbClr val="e2f5e9"/>
          </a:solidFill>
          <a:ln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Bronze events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Right Arrow 12"/>
          <p:cNvSpPr/>
          <p:nvPr/>
        </p:nvSpPr>
        <p:spPr>
          <a:xfrm>
            <a:off x="2541960" y="3666600"/>
            <a:ext cx="163800" cy="1821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b6c"/>
          </a:solidFill>
          <a:ln>
            <a:solidFill>
              <a:srgbClr val="002b6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" name="Rounded Rectangle 13"/>
          <p:cNvSpPr/>
          <p:nvPr/>
        </p:nvSpPr>
        <p:spPr>
          <a:xfrm>
            <a:off x="4507920" y="3474720"/>
            <a:ext cx="1416600" cy="566280"/>
          </a:xfrm>
          <a:prstGeom prst="roundRect">
            <a:avLst>
              <a:gd name="adj" fmla="val 8000"/>
            </a:avLst>
          </a:prstGeom>
          <a:solidFill>
            <a:srgbClr val="fff1d8"/>
          </a:solidFill>
          <a:ln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Silver dim/fact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Right Arrow 14"/>
          <p:cNvSpPr/>
          <p:nvPr/>
        </p:nvSpPr>
        <p:spPr>
          <a:xfrm>
            <a:off x="4270320" y="3666600"/>
            <a:ext cx="163800" cy="1821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b6c"/>
          </a:solidFill>
          <a:ln>
            <a:solidFill>
              <a:srgbClr val="002b6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6236280" y="3474720"/>
            <a:ext cx="1416600" cy="56628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Gold KPI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Right Arrow 16"/>
          <p:cNvSpPr/>
          <p:nvPr/>
        </p:nvSpPr>
        <p:spPr>
          <a:xfrm>
            <a:off x="5998320" y="3666600"/>
            <a:ext cx="163800" cy="1821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b6c"/>
          </a:solidFill>
          <a:ln>
            <a:solidFill>
              <a:srgbClr val="002b6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TextBox 17"/>
          <p:cNvSpPr/>
          <p:nvPr/>
        </p:nvSpPr>
        <p:spPr>
          <a:xfrm>
            <a:off x="749880" y="4572000"/>
            <a:ext cx="772596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Example: customer CDC feeds a customer dimension; order CDC feeds order facts.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The watermark protects freshness claims because it tells the pipeline how far the change stream has been consumed.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ext 0"/>
          <p:cNvSpPr/>
          <p:nvPr/>
        </p:nvSpPr>
        <p:spPr>
          <a:xfrm>
            <a:off x="457200" y="45720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CDC Methods &amp; Trade‑offs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3" name="Table 0"/>
          <p:cNvGraphicFramePr/>
          <p:nvPr/>
        </p:nvGraphicFramePr>
        <p:xfrm>
          <a:off x="457200" y="1188720"/>
          <a:ext cx="8229240" cy="2011680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502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Method</a:t>
                      </a:r>
                      <a:endParaRPr lang="en-IN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How it works</a:t>
                      </a:r>
                      <a:endParaRPr lang="en-IN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Pros</a:t>
                      </a:r>
                      <a:endParaRPr lang="en-IN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Cons</a:t>
                      </a:r>
                      <a:endParaRPr lang="en-IN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002060"/>
                    </a:solidFill>
                  </a:tcPr>
                </a:tc>
              </a:tr>
              <a:tr h="502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1100" b="1" u="none" strike="noStrike">
                          <a:solidFill>
                            <a:srgbClr val="00206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Query‑based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206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Periodically query tables using timestamp or version columns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206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Easy to implement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206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Cannot detect deletes; heavy load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</a:tr>
              <a:tr h="502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1100" b="1" u="none" strike="noStrike">
                          <a:solidFill>
                            <a:srgbClr val="00206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Trigger‑based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206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Database triggers write changes to audit tables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206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Captures inserts, updates, deletes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206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Requires schema changes; overhead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</a:tr>
              <a:tr h="502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1100" b="1" u="none" strike="noStrike">
                          <a:solidFill>
                            <a:srgbClr val="00206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Log‑based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206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Read database transaction logs (WAL/binlog)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206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Low overhead, preserves order, captures deletes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206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Requires privileges; log formats vary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4" name="Text 1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2"/>
              </a:rPr>
              <a:t>[2]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3"/>
              </a:rPr>
              <a:t>[3]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Text 0"/>
          <p:cNvSpPr/>
          <p:nvPr/>
        </p:nvSpPr>
        <p:spPr>
          <a:xfrm>
            <a:off x="457200" y="45720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Benefits &amp; Use Cases for using CDC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6" name="Image 0"/>
          <p:cNvPicPr/>
          <p:nvPr/>
        </p:nvPicPr>
        <p:blipFill>
          <a:blip r:embed="rId1"/>
          <a:stretch/>
        </p:blipFill>
        <p:spPr>
          <a:xfrm>
            <a:off x="457200" y="1188720"/>
            <a:ext cx="318960" cy="31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" name="Text 1"/>
          <p:cNvSpPr/>
          <p:nvPr/>
        </p:nvSpPr>
        <p:spPr>
          <a:xfrm>
            <a:off x="822960" y="1234440"/>
            <a:ext cx="45709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Real‑time analytics &amp; reporting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8" name="Image 1"/>
          <p:cNvPicPr/>
          <p:nvPr/>
        </p:nvPicPr>
        <p:blipFill>
          <a:blip r:embed="rId2"/>
          <a:stretch/>
        </p:blipFill>
        <p:spPr>
          <a:xfrm>
            <a:off x="457200" y="1645920"/>
            <a:ext cx="318960" cy="31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9" name="Text 2"/>
          <p:cNvSpPr/>
          <p:nvPr/>
        </p:nvSpPr>
        <p:spPr>
          <a:xfrm>
            <a:off x="822960" y="1691640"/>
            <a:ext cx="45709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Microservices data synchronization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Image 2"/>
          <p:cNvPicPr/>
          <p:nvPr/>
        </p:nvPicPr>
        <p:blipFill>
          <a:blip r:embed="rId3"/>
          <a:stretch/>
        </p:blipFill>
        <p:spPr>
          <a:xfrm>
            <a:off x="457200" y="2103120"/>
            <a:ext cx="318960" cy="31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Text 3"/>
          <p:cNvSpPr/>
          <p:nvPr/>
        </p:nvSpPr>
        <p:spPr>
          <a:xfrm>
            <a:off x="822960" y="2148840"/>
            <a:ext cx="45709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Cloud migration &amp; replication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2" name="Image 3"/>
          <p:cNvPicPr/>
          <p:nvPr/>
        </p:nvPicPr>
        <p:blipFill>
          <a:blip r:embed="rId4"/>
          <a:stretch/>
        </p:blipFill>
        <p:spPr>
          <a:xfrm>
            <a:off x="457200" y="2560320"/>
            <a:ext cx="318960" cy="31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3" name="Text 4"/>
          <p:cNvSpPr/>
          <p:nvPr/>
        </p:nvSpPr>
        <p:spPr>
          <a:xfrm>
            <a:off x="822960" y="2606040"/>
            <a:ext cx="45709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Audit logging &amp; compliance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4" name="Image 4"/>
          <p:cNvPicPr/>
          <p:nvPr/>
        </p:nvPicPr>
        <p:blipFill>
          <a:blip r:embed="rId5"/>
          <a:stretch/>
        </p:blipFill>
        <p:spPr>
          <a:xfrm>
            <a:off x="5486400" y="11887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5" name="Text 5"/>
          <p:cNvSpPr/>
          <p:nvPr/>
        </p:nvSpPr>
        <p:spPr>
          <a:xfrm>
            <a:off x="5852160" y="1234440"/>
            <a:ext cx="3199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Real‑time analytics and dashboards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6" name="Image 5"/>
          <p:cNvPicPr/>
          <p:nvPr/>
        </p:nvPicPr>
        <p:blipFill>
          <a:blip r:embed="rId6"/>
          <a:stretch/>
        </p:blipFill>
        <p:spPr>
          <a:xfrm>
            <a:off x="5486400" y="16459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7" name="Text 6"/>
          <p:cNvSpPr/>
          <p:nvPr/>
        </p:nvSpPr>
        <p:spPr>
          <a:xfrm>
            <a:off x="5852160" y="1691640"/>
            <a:ext cx="3199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Cache invalidation &amp; search index sync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8" name="Image 6"/>
          <p:cNvPicPr/>
          <p:nvPr/>
        </p:nvPicPr>
        <p:blipFill>
          <a:blip r:embed="rId7"/>
          <a:stretch/>
        </p:blipFill>
        <p:spPr>
          <a:xfrm>
            <a:off x="5486400" y="21031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" name="Text 7"/>
          <p:cNvSpPr/>
          <p:nvPr/>
        </p:nvSpPr>
        <p:spPr>
          <a:xfrm>
            <a:off x="5852160" y="2148840"/>
            <a:ext cx="3199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Microservices integration &amp; outbox pattern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0" name="Image 7"/>
          <p:cNvPicPr/>
          <p:nvPr/>
        </p:nvPicPr>
        <p:blipFill>
          <a:blip r:embed="rId8"/>
          <a:stretch/>
        </p:blipFill>
        <p:spPr>
          <a:xfrm>
            <a:off x="5486400" y="25603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1" name="Text 8"/>
          <p:cNvSpPr/>
          <p:nvPr/>
        </p:nvSpPr>
        <p:spPr>
          <a:xfrm>
            <a:off x="5852160" y="2606040"/>
            <a:ext cx="3199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Zero‑downtime migrations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9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9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0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TextBox 1"/>
          <p:cNvSpPr/>
          <p:nvPr/>
        </p:nvSpPr>
        <p:spPr>
          <a:xfrm>
            <a:off x="457200" y="45720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Real‑World CDC Implementations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Box 2"/>
          <p:cNvSpPr/>
          <p:nvPr/>
        </p:nvSpPr>
        <p:spPr>
          <a:xfrm>
            <a:off x="457200" y="1097280"/>
            <a:ext cx="8228520" cy="50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Industry Examples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Netflix: CDC from MySQL to Kafka for real-time personalization pipelines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Uber: Debezium for cross-datacenter MySQL replication and analytics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Zalando: CDC-based event sourcing for order management microservices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WePay: Debezium + BigQuery for real-time financial reporting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Shopify: CDC from MySQL to data warehouse for merchant analytics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Convoy: Postgres CDC with Debezium for logistics event streaming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Trivago: CDC to sync hotel data across search and recommendation engines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Box 3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rgbClr val="0563c1"/>
                </a:solidFill>
                <a:effectLst/>
                <a:uFillTx/>
                <a:latin typeface="Calibri"/>
              </a:rPr>
              <a:t>[1]  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ext 0"/>
          <p:cNvSpPr/>
          <p:nvPr/>
        </p:nvSpPr>
        <p:spPr>
          <a:xfrm>
            <a:off x="457200" y="45720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Mini Exercise 1: Identify the CDC Method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1"/>
          <p:cNvSpPr/>
          <p:nvPr/>
        </p:nvSpPr>
        <p:spPr>
          <a:xfrm>
            <a:off x="457200" y="1097280"/>
            <a:ext cx="822852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You will see three scenarios below. For each, decide whether it is best implemented using a query‑based, trigger‑based, or log‑based CDC method.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2"/>
          <p:cNvSpPr/>
          <p:nvPr/>
        </p:nvSpPr>
        <p:spPr>
          <a:xfrm>
            <a:off x="548640" y="201168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A. A legacy database cannot be modified, but you need to capture deletes.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3"/>
          <p:cNvSpPr/>
          <p:nvPr/>
        </p:nvSpPr>
        <p:spPr>
          <a:xfrm>
            <a:off x="548640" y="246888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B. You only need to track inserts and updates for a small table once a day.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4"/>
          <p:cNvSpPr/>
          <p:nvPr/>
        </p:nvSpPr>
        <p:spPr>
          <a:xfrm>
            <a:off x="548640" y="292608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C. A high‑volume transactional database where ordering of events matters.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5"/>
          <p:cNvSpPr/>
          <p:nvPr/>
        </p:nvSpPr>
        <p:spPr>
          <a:xfrm>
            <a:off x="457200" y="365760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Discuss with your group and share your answers!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6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2"/>
              </a:rPr>
              <a:t>[2]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3"/>
              </a:rPr>
              <a:t>[3]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TextBox 1"/>
          <p:cNvSpPr/>
          <p:nvPr/>
        </p:nvSpPr>
        <p:spPr>
          <a:xfrm>
            <a:off x="457200" y="45720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Mini Exercise 1: Answers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Box 2"/>
          <p:cNvSpPr/>
          <p:nvPr/>
        </p:nvSpPr>
        <p:spPr>
          <a:xfrm>
            <a:off x="457200" y="1097280"/>
            <a:ext cx="8228520" cy="50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A. Legacy DB that cannot be modified, need to capture deletes: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   →  Log-based CDC — reads WAL/binlog without modifying the database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B. Track inserts/updates for a small table once a day: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   →  Query-based polling — simple, low volume, batch is fine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C. High-volume transactional DB where event ordering matters: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   →  Log-based CDC — WAL preserves commit order; trigger/query cannot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1" u="none" strike="noStrike">
                <a:solidFill>
                  <a:srgbClr val="2e7d32"/>
                </a:solidFill>
                <a:effectLst/>
                <a:uFillTx/>
                <a:latin typeface="Calibri"/>
              </a:rPr>
              <a:t>Key takeaway: Log-based CDC is the only method that captures all operations (including deletes) without modifying the source database and preserving transaction order.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Box 3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rgbClr val="0563c1"/>
                </a:solidFill>
                <a:effectLst/>
                <a:uFillTx/>
                <a:latin typeface="Calibri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Text 0"/>
          <p:cNvSpPr/>
          <p:nvPr/>
        </p:nvSpPr>
        <p:spPr>
          <a:xfrm>
            <a:off x="457200" y="45720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Debezium Overview &amp; Pipeline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1"/>
          <p:cNvSpPr/>
          <p:nvPr/>
        </p:nvSpPr>
        <p:spPr>
          <a:xfrm>
            <a:off x="457200" y="1097280"/>
            <a:ext cx="5028120" cy="228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Debezium is an open‑source platform that captures row‑level changes from databases and streams them via Kafka.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It reads transaction logs (WAL/binlog) instead of querying tables, producing events with consistent ordering.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Events contain before/after values, metadata and operation type, enabling downstream services to react.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8" name="Image 0"/>
          <p:cNvPicPr/>
          <p:nvPr/>
        </p:nvPicPr>
        <p:blipFill>
          <a:blip r:embed="rId1"/>
          <a:stretch/>
        </p:blipFill>
        <p:spPr>
          <a:xfrm>
            <a:off x="5577840" y="1097280"/>
            <a:ext cx="3199320" cy="2284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Text 2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2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3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TextBox 1"/>
          <p:cNvSpPr/>
          <p:nvPr/>
        </p:nvSpPr>
        <p:spPr>
          <a:xfrm>
            <a:off x="502920" y="438840"/>
            <a:ext cx="81374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8360" rIns="18360" tIns="18360" bIns="18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Kafka Connect vs Debezium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2"/>
          <p:cNvSpPr/>
          <p:nvPr/>
        </p:nvSpPr>
        <p:spPr>
          <a:xfrm>
            <a:off x="521280" y="896040"/>
            <a:ext cx="77716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8360" rIns="18360" tIns="18360" bIns="18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i="1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Simple difference before we configure the connector.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3"/>
          <p:cNvSpPr/>
          <p:nvPr/>
        </p:nvSpPr>
        <p:spPr>
          <a:xfrm>
            <a:off x="530280" y="6355080"/>
            <a:ext cx="10965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8360" rIns="18360" tIns="18360" bIns="18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0066cc"/>
                </a:solidFill>
                <a:effectLst/>
                <a:uFillTx/>
                <a:latin typeface="Calibri"/>
              </a:rPr>
              <a:t>[1] 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Rounded Rectangle 4"/>
          <p:cNvSpPr/>
          <p:nvPr/>
        </p:nvSpPr>
        <p:spPr>
          <a:xfrm>
            <a:off x="640080" y="1325880"/>
            <a:ext cx="2513880" cy="1553760"/>
          </a:xfrm>
          <a:prstGeom prst="roundRect">
            <a:avLst>
              <a:gd name="adj" fmla="val 8000"/>
            </a:avLst>
          </a:prstGeom>
          <a:solidFill>
            <a:srgbClr val="e7f2ff"/>
          </a:solidFill>
          <a:ln w="8890"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Box 5"/>
          <p:cNvSpPr/>
          <p:nvPr/>
        </p:nvSpPr>
        <p:spPr>
          <a:xfrm>
            <a:off x="786240" y="1435680"/>
            <a:ext cx="2221200" cy="133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Kafka Connect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The platform that runs connectors.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It manages workers, REST API, tasks, offsets.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Rounded Rectangle 6"/>
          <p:cNvSpPr/>
          <p:nvPr/>
        </p:nvSpPr>
        <p:spPr>
          <a:xfrm>
            <a:off x="3429000" y="1325880"/>
            <a:ext cx="2513880" cy="1553760"/>
          </a:xfrm>
          <a:prstGeom prst="roundRect">
            <a:avLst>
              <a:gd name="adj" fmla="val 8000"/>
            </a:avLst>
          </a:prstGeom>
          <a:solidFill>
            <a:srgbClr val="e2f5e9"/>
          </a:solidFill>
          <a:ln w="8890"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6" name="TextBox 7"/>
          <p:cNvSpPr/>
          <p:nvPr/>
        </p:nvSpPr>
        <p:spPr>
          <a:xfrm>
            <a:off x="3575160" y="1435680"/>
            <a:ext cx="2221200" cy="133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Debezium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 CDC connector.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It reads database logs and creates change events.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Rounded Rectangle 8"/>
          <p:cNvSpPr/>
          <p:nvPr/>
        </p:nvSpPr>
        <p:spPr>
          <a:xfrm>
            <a:off x="6217920" y="1325880"/>
            <a:ext cx="2331000" cy="1553760"/>
          </a:xfrm>
          <a:prstGeom prst="roundRect">
            <a:avLst>
              <a:gd name="adj" fmla="val 8000"/>
            </a:avLst>
          </a:prstGeom>
          <a:solidFill>
            <a:srgbClr val="fff1d8"/>
          </a:solidFill>
          <a:ln w="8890"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" name="TextBox 9"/>
          <p:cNvSpPr/>
          <p:nvPr/>
        </p:nvSpPr>
        <p:spPr>
          <a:xfrm>
            <a:off x="6364080" y="1435680"/>
            <a:ext cx="2038320" cy="133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Together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Debezium runs inside Kafka Connect and writes CDC records to Kafka.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Rounded Rectangle 10"/>
          <p:cNvSpPr/>
          <p:nvPr/>
        </p:nvSpPr>
        <p:spPr>
          <a:xfrm>
            <a:off x="731520" y="3794760"/>
            <a:ext cx="1508040" cy="529560"/>
          </a:xfrm>
          <a:prstGeom prst="roundRect">
            <a:avLst>
              <a:gd name="adj" fmla="val 8000"/>
            </a:avLst>
          </a:prstGeom>
          <a:solidFill>
            <a:srgbClr val="e7f2ff"/>
          </a:solidFill>
          <a:ln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Database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Rounded Rectangle 11"/>
          <p:cNvSpPr/>
          <p:nvPr/>
        </p:nvSpPr>
        <p:spPr>
          <a:xfrm>
            <a:off x="2496240" y="3794760"/>
            <a:ext cx="1508040" cy="529560"/>
          </a:xfrm>
          <a:prstGeom prst="roundRect">
            <a:avLst>
              <a:gd name="adj" fmla="val 8000"/>
            </a:avLst>
          </a:prstGeom>
          <a:solidFill>
            <a:srgbClr val="e2f5e9"/>
          </a:solidFill>
          <a:ln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Debezium connector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Right Arrow 12"/>
          <p:cNvSpPr/>
          <p:nvPr/>
        </p:nvSpPr>
        <p:spPr>
          <a:xfrm>
            <a:off x="2286000" y="3968640"/>
            <a:ext cx="163800" cy="1821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b6c"/>
          </a:solidFill>
          <a:ln>
            <a:solidFill>
              <a:srgbClr val="002b6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" name="Rounded Rectangle 13"/>
          <p:cNvSpPr/>
          <p:nvPr/>
        </p:nvSpPr>
        <p:spPr>
          <a:xfrm>
            <a:off x="4260960" y="3794760"/>
            <a:ext cx="1508040" cy="529560"/>
          </a:xfrm>
          <a:prstGeom prst="roundRect">
            <a:avLst>
              <a:gd name="adj" fmla="val 8000"/>
            </a:avLst>
          </a:prstGeom>
          <a:solidFill>
            <a:srgbClr val="fff1d8"/>
          </a:solidFill>
          <a:ln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Kafka Connect worker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Right Arrow 14"/>
          <p:cNvSpPr/>
          <p:nvPr/>
        </p:nvSpPr>
        <p:spPr>
          <a:xfrm>
            <a:off x="4050720" y="3968640"/>
            <a:ext cx="163800" cy="1821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b6c"/>
          </a:solidFill>
          <a:ln>
            <a:solidFill>
              <a:srgbClr val="002b6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4" name="Rounded Rectangle 15"/>
          <p:cNvSpPr/>
          <p:nvPr/>
        </p:nvSpPr>
        <p:spPr>
          <a:xfrm>
            <a:off x="6026040" y="3794760"/>
            <a:ext cx="1508040" cy="52956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Kafka topic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Right Arrow 16"/>
          <p:cNvSpPr/>
          <p:nvPr/>
        </p:nvSpPr>
        <p:spPr>
          <a:xfrm>
            <a:off x="5815440" y="3968640"/>
            <a:ext cx="163800" cy="1821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b6c"/>
          </a:solidFill>
          <a:ln>
            <a:solidFill>
              <a:srgbClr val="002b6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TextBox 1"/>
          <p:cNvSpPr/>
          <p:nvPr/>
        </p:nvSpPr>
        <p:spPr>
          <a:xfrm>
            <a:off x="457200" y="45720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Debezium Architecture: The Full Picture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7" name="Picture 2" descr="debezium-architecture.png"/>
          <p:cNvPicPr/>
          <p:nvPr/>
        </p:nvPicPr>
        <p:blipFill>
          <a:blip r:embed="rId1"/>
          <a:stretch/>
        </p:blipFill>
        <p:spPr>
          <a:xfrm>
            <a:off x="100080" y="1100160"/>
            <a:ext cx="5199480" cy="118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8" name="TextBox 3"/>
          <p:cNvSpPr/>
          <p:nvPr/>
        </p:nvSpPr>
        <p:spPr>
          <a:xfrm>
            <a:off x="5400000" y="1100160"/>
            <a:ext cx="3399480" cy="449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5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Architecture Components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Source connectors read database transaction logs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Kafka Connect manages connector lifecycle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Events written to per-table Kafka topics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Sink connectors deliver to downstream systems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Offset storage tracks consumer position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800" b="0" u="none" strike="noStrike">
                <a:solidFill>
                  <a:srgbClr val="585858"/>
                </a:solidFill>
                <a:effectLst/>
                <a:uFillTx/>
                <a:latin typeface="Calibri"/>
              </a:rPr>
              <a:t>Source: debezium.io (Apache 2.0)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Box 4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rgbClr val="0563c1"/>
                </a:solidFill>
                <a:effectLst/>
                <a:uFillTx/>
                <a:latin typeface="Calibri"/>
              </a:rPr>
              <a:t>[1]  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Text 0"/>
          <p:cNvSpPr/>
          <p:nvPr/>
        </p:nvSpPr>
        <p:spPr>
          <a:xfrm>
            <a:off x="457200" y="45720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Debezium Architecture Diagram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1"/>
          <p:cNvSpPr/>
          <p:nvPr/>
        </p:nvSpPr>
        <p:spPr>
          <a:xfrm>
            <a:off x="5220000" y="1188720"/>
            <a:ext cx="3922920" cy="228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1. Source connectors tail transaction logs from DBs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2. Kafka Connect executes connectors &amp; persists offsets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3. Events written to Kafka topics (one per table or pattern)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4. Sink connectors &amp; consumers deliver events to targets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2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3" name="Picture 92"/>
          <p:cNvPicPr/>
          <p:nvPr/>
        </p:nvPicPr>
        <p:blipFill>
          <a:blip r:embed="rId2"/>
          <a:srcRect l="0" t="0" r="-204" b="2725"/>
          <a:stretch/>
        </p:blipFill>
        <p:spPr>
          <a:xfrm>
            <a:off x="72000" y="1188720"/>
            <a:ext cx="5038920" cy="2230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Text 0"/>
          <p:cNvSpPr/>
          <p:nvPr/>
        </p:nvSpPr>
        <p:spPr>
          <a:xfrm>
            <a:off x="457200" y="45720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Deployment Options &amp; Server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5" name="Image 0"/>
          <p:cNvPicPr/>
          <p:nvPr/>
        </p:nvPicPr>
        <p:blipFill>
          <a:blip r:embed="rId1"/>
          <a:stretch/>
        </p:blipFill>
        <p:spPr>
          <a:xfrm>
            <a:off x="457200" y="1097280"/>
            <a:ext cx="4388040" cy="237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6" name="Text 1"/>
          <p:cNvSpPr/>
          <p:nvPr/>
        </p:nvSpPr>
        <p:spPr>
          <a:xfrm>
            <a:off x="4937760" y="1097280"/>
            <a:ext cx="4113720" cy="23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Debezium Server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Streams events to other messaging systems (Kinesis, Pub/Sub, Pulsar)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Deployment Options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Embedded in application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Standalone server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Kafka Connect (enterprise use cases)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2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2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3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TextBox 1"/>
          <p:cNvSpPr/>
          <p:nvPr/>
        </p:nvSpPr>
        <p:spPr>
          <a:xfrm>
            <a:off x="457200" y="45720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Debezium Server: Beyond Kafka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9" name="Picture 2" descr="image.jpeg"/>
          <p:cNvPicPr/>
          <p:nvPr/>
        </p:nvPicPr>
        <p:blipFill>
          <a:blip r:embed="rId1"/>
          <a:stretch/>
        </p:blipFill>
        <p:spPr>
          <a:xfrm>
            <a:off x="100080" y="1100160"/>
            <a:ext cx="5199480" cy="248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0" name="TextBox 3"/>
          <p:cNvSpPr/>
          <p:nvPr/>
        </p:nvSpPr>
        <p:spPr>
          <a:xfrm>
            <a:off x="5400000" y="1100160"/>
            <a:ext cx="3399480" cy="449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5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Debezium Server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Standalone application (no Kafka Connect needed)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Streams CDC events to non-Kafka sinks: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   –  Amazon Kinesis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   –  Google Cloud Pub/Sub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   –  Apache Pulsar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   –  Azure Event Hubs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Useful when Kafka isn't available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800" b="0" u="none" strike="noStrike">
                <a:solidFill>
                  <a:srgbClr val="585858"/>
                </a:solidFill>
                <a:effectLst/>
                <a:uFillTx/>
                <a:latin typeface="Calibri"/>
              </a:rPr>
              <a:t>Source: debezium.io (Apache 2.0)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Box 4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rgbClr val="0563c1"/>
                </a:solidFill>
                <a:effectLst/>
                <a:uFillTx/>
                <a:latin typeface="Calibri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"/>
          <p:cNvSpPr txBox="1"/>
          <p:nvPr/>
        </p:nvSpPr>
        <p:spPr>
          <a:xfrm>
            <a:off x="540000" y="1613520"/>
            <a:ext cx="8337600" cy="2626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IN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snapshot is required in Debezium because the database transaction log only contains changes from a point in time onward, not the full existing table history.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IN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 when Debezium starts for the first time, it needs a way to load the current existing data before it starts streaming new inserts, updates, and deletes.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IN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Think of it like this: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IN" sz="1000" b="0" u="none" strike="noStrike">
                <a:solidFill>
                  <a:srgbClr val="000000"/>
                </a:solidFill>
                <a:effectLst/>
                <a:uFillTx/>
                <a:latin typeface="Liberation Mono;Courier New;DejaVu Sans Mono;Lucida Sans Typewriter"/>
              </a:rPr>
              <a:t>Database already has 1 million customer rows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Liberation Mono;Courier New;DejaVu Sans Mono;Lucida Sans Typewriter"/>
              <a:ea typeface="Liberation Mono;Courier New;DejaVu Sans Mono;Lucida Sans Typewriter"/>
            </a:endParaRPr>
          </a:p>
          <a:p>
            <a:endParaRPr lang="en-IN" sz="1000" b="0" u="none" strike="noStrike">
              <a:solidFill>
                <a:srgbClr val="000000"/>
              </a:solidFill>
              <a:effectLst/>
              <a:uFillTx/>
              <a:latin typeface="Liberation Mono;Courier New;DejaVu Sans Mono;Lucida Sans Typewriter"/>
              <a:ea typeface="Liberation Mono;Courier New;DejaVu Sans Mono;Lucida Sans Typewriter"/>
            </a:endParaRPr>
          </a:p>
          <a:p>
            <a:r>
              <a:rPr lang="en-IN" sz="1000" b="0" u="none" strike="noStrike">
                <a:solidFill>
                  <a:srgbClr val="000000"/>
                </a:solidFill>
                <a:effectLst/>
                <a:uFillTx/>
                <a:latin typeface="Liberation Mono;Courier New;DejaVu Sans Mono;Lucida Sans Typewriter"/>
              </a:rPr>
              <a:t>Debezium starts today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Liberation Mono;Courier New;DejaVu Sans Mono;Lucida Sans Typewriter"/>
              <a:ea typeface="Liberation Mono;Courier New;DejaVu Sans Mono;Lucida Sans Typewriter"/>
            </a:endParaRPr>
          </a:p>
          <a:p>
            <a:endParaRPr lang="en-IN" sz="1000" b="0" u="none" strike="noStrike">
              <a:solidFill>
                <a:srgbClr val="000000"/>
              </a:solidFill>
              <a:effectLst/>
              <a:uFillTx/>
              <a:latin typeface="Liberation Mono;Courier New;DejaVu Sans Mono;Lucida Sans Typewriter"/>
              <a:ea typeface="Liberation Mono;Courier New;DejaVu Sans Mono;Lucida Sans Typewriter"/>
            </a:endParaRPr>
          </a:p>
          <a:p>
            <a:r>
              <a:rPr lang="en-IN" sz="1000" b="0" u="none" strike="noStrike">
                <a:solidFill>
                  <a:srgbClr val="000000"/>
                </a:solidFill>
                <a:effectLst/>
                <a:uFillTx/>
                <a:latin typeface="Liberation Mono;Courier New;DejaVu Sans Mono;Lucida Sans Typewriter"/>
              </a:rPr>
              <a:t>Transaction log only shows new changes from today onward 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Liberation Mono;Courier New;DejaVu Sans Mono;Lucida Sans Typewriter"/>
              <a:ea typeface="Liberation Mono;Courier New;DejaVu Sans Mono;Lucida Sans Typewriter"/>
            </a:endParaRPr>
          </a:p>
          <a:p>
            <a:r>
              <a:rPr lang="en-IN" sz="1000" b="0" u="none" strike="noStrike">
                <a:solidFill>
                  <a:srgbClr val="000000"/>
                </a:solidFill>
                <a:effectLst/>
                <a:uFillTx/>
                <a:latin typeface="Liberation Mono;Courier New;DejaVu Sans Mono;Lucida Sans Typewriter"/>
              </a:rPr>
              <a:t>Without a snapshot, Kafka would only receive future changes, but it would miss the 1 million rows that already existed before Debezium started.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Liberation Mono;Courier New;DejaVu Sans Mono;Lucida Sans Typewriter"/>
              <a:ea typeface="Liberation Mono;Courier New;DejaVu Sans Mono;Lucida Sans Typewriter"/>
            </a:endParaRPr>
          </a:p>
          <a:p>
            <a:endParaRPr lang="en-IN" sz="1000" b="0" u="none" strike="noStrike">
              <a:solidFill>
                <a:srgbClr val="000000"/>
              </a:solidFill>
              <a:effectLst/>
              <a:uFillTx/>
              <a:latin typeface="Liberation Mono;Courier New;DejaVu Sans Mono;Lucida Sans Typewriter"/>
              <a:ea typeface="Liberation Mono;Courier New;DejaVu Sans Mono;Lucida Sans Typewriter"/>
            </a:endParaRPr>
          </a:p>
        </p:txBody>
      </p:sp>
      <p:sp>
        <p:nvSpPr>
          <p:cNvPr id="183" name="TextBox 26"/>
          <p:cNvSpPr/>
          <p:nvPr/>
        </p:nvSpPr>
        <p:spPr>
          <a:xfrm>
            <a:off x="529560" y="817200"/>
            <a:ext cx="822852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Why is snapshot required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TextBox 1"/>
          <p:cNvSpPr/>
          <p:nvPr/>
        </p:nvSpPr>
        <p:spPr>
          <a:xfrm>
            <a:off x="457200" y="457200"/>
            <a:ext cx="822852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Debezium Operations table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4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rgbClr val="0563c1"/>
                </a:solidFill>
                <a:effectLst/>
                <a:uFillTx/>
                <a:latin typeface="Calibri"/>
              </a:rPr>
              <a:t>[1]  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6" name=""/>
          <p:cNvGraphicFramePr/>
          <p:nvPr/>
        </p:nvGraphicFramePr>
        <p:xfrm>
          <a:off x="831240" y="1143720"/>
          <a:ext cx="6439320" cy="5151960"/>
        </p:xfrm>
        <a:graphic>
          <a:graphicData uri="http://schemas.openxmlformats.org/drawingml/2006/table">
            <a:tbl>
              <a:tblPr/>
              <a:tblGrid>
                <a:gridCol w="1045800"/>
                <a:gridCol w="1078200"/>
                <a:gridCol w="1079280"/>
                <a:gridCol w="1078560"/>
                <a:gridCol w="1078200"/>
                <a:gridCol w="1079280"/>
              </a:tblGrid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IN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 Narrow"/>
                          <a:ea typeface="Aptos Narrow"/>
                        </a:rPr>
                        <a:t>Debezium </a:t>
                      </a:r>
                      <a:r>
                        <a:rPr lang="en-IN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 Unicode MS"/>
                          <a:ea typeface="Arial Unicode MS"/>
                        </a:rPr>
                        <a:t>op</a:t>
                      </a:r>
                      <a:r>
                        <a:rPr lang="en-IN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 Narrow"/>
                          <a:ea typeface="Aptos Narrow"/>
                        </a:rPr>
                        <a:t> value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IN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 Narrow"/>
                        </a:rPr>
                        <a:t>Full name</a:t>
                      </a:r>
                      <a:endParaRPr lang="en-IN" sz="11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ptos Narrow"/>
                        <a:ea typeface="Aptos Narrow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IN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 Narrow"/>
                        </a:rPr>
                        <a:t>Database operation</a:t>
                      </a:r>
                      <a:endParaRPr lang="en-IN" sz="11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ptos Narrow"/>
                        <a:ea typeface="Aptos Narrow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IN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 Unicode MS"/>
                          <a:ea typeface="Arial Unicode MS"/>
                        </a:rPr>
                        <a:t>before</a:t>
                      </a:r>
                      <a:r>
                        <a:rPr lang="en-IN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 Narrow"/>
                          <a:ea typeface="Aptos Narrow"/>
                        </a:rPr>
                        <a:t> value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IN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 Unicode MS"/>
                          <a:ea typeface="Arial Unicode MS"/>
                        </a:rPr>
                        <a:t>after</a:t>
                      </a:r>
                      <a:r>
                        <a:rPr lang="en-IN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 Narrow"/>
                          <a:ea typeface="Aptos Narrow"/>
                        </a:rPr>
                        <a:t> value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IN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 Narrow"/>
                        </a:rPr>
                        <a:t>When you see it</a:t>
                      </a:r>
                      <a:endParaRPr lang="en-IN" sz="11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ptos Narrow"/>
                        <a:ea typeface="Aptos Narrow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I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 Unicode MS"/>
                        </a:rPr>
                        <a:t>c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 Unicode MS"/>
                        <a:ea typeface="Arial Unicode MS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 Narrow"/>
                        </a:rPr>
                        <a:t>Create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ptos Narrow"/>
                        <a:ea typeface="Aptos Narrow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I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 Unicode MS"/>
                        </a:rPr>
                        <a:t>INSERT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 Unicode MS"/>
                        <a:ea typeface="Arial Unicode MS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I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 Unicode MS"/>
                        </a:rPr>
                        <a:t>null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 Unicode MS"/>
                        <a:ea typeface="Arial Unicode MS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 Narrow"/>
                        </a:rPr>
                        <a:t>New row data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ptos Narrow"/>
                        <a:ea typeface="Aptos Narrow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 Narrow"/>
                        </a:rPr>
                        <a:t>When a new row is inserted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ptos Narrow"/>
                        <a:ea typeface="Aptos Narrow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I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 Unicode MS"/>
                        </a:rPr>
                        <a:t>u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 Unicode MS"/>
                        <a:ea typeface="Arial Unicode MS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 Narrow"/>
                        </a:rPr>
                        <a:t>Update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ptos Narrow"/>
                        <a:ea typeface="Aptos Narrow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I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 Unicode MS"/>
                        </a:rPr>
                        <a:t>UPDATE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 Unicode MS"/>
                        <a:ea typeface="Arial Unicode MS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 Narrow"/>
                        </a:rPr>
                        <a:t>Old row data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ptos Narrow"/>
                        <a:ea typeface="Aptos Narrow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 Narrow"/>
                        </a:rPr>
                        <a:t>Updated row data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ptos Narrow"/>
                        <a:ea typeface="Aptos Narrow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 Narrow"/>
                        </a:rPr>
                        <a:t>When an existing row is modified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ptos Narrow"/>
                        <a:ea typeface="Aptos Narrow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I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 Unicode MS"/>
                        </a:rPr>
                        <a:t>d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 Unicode MS"/>
                        <a:ea typeface="Arial Unicode MS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 Narrow"/>
                        </a:rPr>
                        <a:t>Delete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ptos Narrow"/>
                        <a:ea typeface="Aptos Narrow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I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 Unicode MS"/>
                        </a:rPr>
                        <a:t>DELETE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 Unicode MS"/>
                        <a:ea typeface="Arial Unicode MS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 Narrow"/>
                        </a:rPr>
                        <a:t>Deleted row data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ptos Narrow"/>
                        <a:ea typeface="Aptos Narrow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I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 Unicode MS"/>
                        </a:rPr>
                        <a:t>null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 Unicode MS"/>
                        <a:ea typeface="Arial Unicode MS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 Narrow"/>
                        </a:rPr>
                        <a:t>When a row is deleted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ptos Narrow"/>
                        <a:ea typeface="Aptos Narrow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I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 Unicode MS"/>
                        </a:rPr>
                        <a:t>r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 Unicode MS"/>
                        <a:ea typeface="Arial Unicode MS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 Narrow"/>
                        </a:rPr>
                        <a:t>Read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ptos Narrow"/>
                        <a:ea typeface="Aptos Narrow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 Narrow"/>
                        </a:rPr>
                        <a:t>Snapshot read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ptos Narrow"/>
                        <a:ea typeface="Aptos Narrow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I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 Unicode MS"/>
                        </a:rPr>
                        <a:t>null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 Unicode MS"/>
                        <a:ea typeface="Arial Unicode MS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 Narrow"/>
                        </a:rPr>
                        <a:t>Existing row data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ptos Narrow"/>
                        <a:ea typeface="Aptos Narrow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 Narrow"/>
                        </a:rPr>
                        <a:t>During initial snapshot when Debezium first reads existing table data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ptos Narrow"/>
                        <a:ea typeface="Aptos Narrow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I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 Unicode MS"/>
                        </a:rPr>
                        <a:t>t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 Unicode MS"/>
                        <a:ea typeface="Arial Unicode MS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 Narrow"/>
                        </a:rPr>
                        <a:t>Truncate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ptos Narrow"/>
                        <a:ea typeface="Aptos Narrow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I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 Unicode MS"/>
                        </a:rPr>
                        <a:t>TRUNCATE TABLE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 Unicode MS"/>
                        <a:ea typeface="Arial Unicode MS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 Narrow"/>
                        </a:rPr>
                        <a:t>Usually not row-level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ptos Narrow"/>
                        <a:ea typeface="Aptos Narrow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 Narrow"/>
                        </a:rPr>
                        <a:t>Usually not row-level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ptos Narrow"/>
                        <a:ea typeface="Aptos Narrow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 Narrow"/>
                        </a:rPr>
                        <a:t>When an entire table is truncated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ptos Narrow"/>
                        <a:ea typeface="Aptos Narrow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I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 Unicode MS"/>
                        </a:rPr>
                        <a:t>m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 Unicode MS"/>
                        <a:ea typeface="Arial Unicode MS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 Narrow"/>
                        </a:rPr>
                        <a:t>Message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ptos Narrow"/>
                        <a:ea typeface="Aptos Narrow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 Narrow"/>
                        </a:rPr>
                        <a:t>Logical decoding message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ptos Narrow"/>
                        <a:ea typeface="Aptos Narrow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 Narrow"/>
                        </a:rPr>
                        <a:t>Depends on connector/message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ptos Narrow"/>
                        <a:ea typeface="Aptos Narrow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 Narrow"/>
                        </a:rPr>
                        <a:t>Depends on connector/message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ptos Narrow"/>
                        <a:ea typeface="Aptos Narrow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IN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 Narrow"/>
                        </a:rPr>
                        <a:t>Mainly PostgreSQL logical decoding messages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ptos Narrow"/>
                        <a:ea typeface="Aptos Narrow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TextBox 23"/>
          <p:cNvSpPr/>
          <p:nvPr/>
        </p:nvSpPr>
        <p:spPr>
          <a:xfrm>
            <a:off x="457200" y="457200"/>
            <a:ext cx="822852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Choosing a Snapshot Mode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8" name="Table 5"/>
          <p:cNvGraphicFramePr/>
          <p:nvPr/>
        </p:nvGraphicFramePr>
        <p:xfrm>
          <a:off x="457200" y="1188720"/>
          <a:ext cx="8229240" cy="209952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349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Mode</a:t>
                      </a:r>
                      <a:endParaRPr lang="en-IN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When to Use</a:t>
                      </a:r>
                      <a:endParaRPr lang="en-IN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Behavior</a:t>
                      </a:r>
                      <a:endParaRPr lang="en-IN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472c4"/>
                    </a:solidFill>
                  </a:tcPr>
                </a:tc>
              </a:tr>
              <a:tr h="349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initial (default)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First deployment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Full snapshot then stream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</a:tr>
              <a:tr h="349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initial_only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One-time data export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Snapshot only, no streaming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</a:tr>
              <a:tr h="349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no_data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Table already in Kafka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Stream only, skip snapshot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</a:tr>
              <a:tr h="349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always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After failover / recovery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Re-snapshot every restart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</a:tr>
              <a:tr h="349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when_needed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Auto-recovery scenarios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Snapshot if offsets lost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</a:tr>
            </a:tbl>
          </a:graphicData>
        </a:graphic>
      </p:graphicFrame>
      <p:sp>
        <p:nvSpPr>
          <p:cNvPr id="189" name="TextBox 24"/>
          <p:cNvSpPr/>
          <p:nvPr/>
        </p:nvSpPr>
        <p:spPr>
          <a:xfrm>
            <a:off x="457200" y="3600000"/>
            <a:ext cx="8228520" cy="166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Decision Guide: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New connector? → initial (default)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Adding tables later? → Use incremental snapshot signal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Migrating to new Kafka cluster? → always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Table data loaded via COPY? → Incremental snapshot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25"/>
          <p:cNvSpPr/>
          <p:nvPr/>
        </p:nvSpPr>
        <p:spPr>
          <a:xfrm>
            <a:off x="457200" y="6217920"/>
            <a:ext cx="822852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rgbClr val="0563c1"/>
                </a:solidFill>
                <a:effectLst/>
                <a:uFillTx/>
                <a:latin typeface="Calibri"/>
              </a:rPr>
              <a:t>[1]  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TextBox 15"/>
          <p:cNvSpPr/>
          <p:nvPr/>
        </p:nvSpPr>
        <p:spPr>
          <a:xfrm>
            <a:off x="457200" y="457200"/>
            <a:ext cx="822852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Choosing a Snapshot Mode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2" name="Table 4"/>
          <p:cNvGraphicFramePr/>
          <p:nvPr/>
        </p:nvGraphicFramePr>
        <p:xfrm>
          <a:off x="457200" y="1188720"/>
          <a:ext cx="8229240" cy="209952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349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Mode</a:t>
                      </a:r>
                      <a:endParaRPr lang="en-IN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When to Use</a:t>
                      </a:r>
                      <a:endParaRPr lang="en-IN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Behavior</a:t>
                      </a:r>
                      <a:endParaRPr lang="en-IN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472c4"/>
                    </a:solidFill>
                  </a:tcPr>
                </a:tc>
              </a:tr>
              <a:tr h="349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initial (default)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First deployment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Full snapshot then stream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</a:tr>
              <a:tr h="349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initial_only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One-time data export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Snapshot only, no streaming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</a:tr>
              <a:tr h="349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no_data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Table already in Kafka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Stream only, skip snapshot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</a:tr>
              <a:tr h="349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always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After failover / recovery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Re-snapshot every restart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</a:tr>
              <a:tr h="349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when_needed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Auto-recovery scenarios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Snapshot if offsets lost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</a:tr>
            </a:tbl>
          </a:graphicData>
        </a:graphic>
      </p:graphicFrame>
      <p:sp>
        <p:nvSpPr>
          <p:cNvPr id="193" name="TextBox 19"/>
          <p:cNvSpPr/>
          <p:nvPr/>
        </p:nvSpPr>
        <p:spPr>
          <a:xfrm>
            <a:off x="457200" y="3600000"/>
            <a:ext cx="8228520" cy="166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Decision Guide: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New connector? → initial (default)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Adding tables later? → Use incremental snapshot signal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Migrating to new Kafka cluster? → always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Table data loaded via COPY? → Incremental snapshot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Box 22"/>
          <p:cNvSpPr/>
          <p:nvPr/>
        </p:nvSpPr>
        <p:spPr>
          <a:xfrm>
            <a:off x="457200" y="6217920"/>
            <a:ext cx="822852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rgbClr val="0563c1"/>
                </a:solidFill>
                <a:effectLst/>
                <a:uFillTx/>
                <a:latin typeface="Calibri"/>
              </a:rPr>
              <a:t>[1]  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TextBox 11"/>
          <p:cNvSpPr/>
          <p:nvPr/>
        </p:nvSpPr>
        <p:spPr>
          <a:xfrm>
            <a:off x="457200" y="457200"/>
            <a:ext cx="822852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Choosing a Snapshot Mode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6" name="Table 3"/>
          <p:cNvGraphicFramePr/>
          <p:nvPr/>
        </p:nvGraphicFramePr>
        <p:xfrm>
          <a:off x="457200" y="1188720"/>
          <a:ext cx="8229240" cy="209952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349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Mode</a:t>
                      </a:r>
                      <a:endParaRPr lang="en-IN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When to Use</a:t>
                      </a:r>
                      <a:endParaRPr lang="en-IN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Behavior</a:t>
                      </a:r>
                      <a:endParaRPr lang="en-IN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472c4"/>
                    </a:solidFill>
                  </a:tcPr>
                </a:tc>
              </a:tr>
              <a:tr h="349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initial (default)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First deployment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Full snapshot then stream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</a:tr>
              <a:tr h="349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initial_only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One-time data export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Snapshot only, no streaming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</a:tr>
              <a:tr h="349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no_data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Table already in Kafka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Stream only, skip snapshot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</a:tr>
              <a:tr h="349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always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After failover / recovery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Re-snapshot every restart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</a:tr>
              <a:tr h="349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when_needed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Auto-recovery scenarios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Snapshot if offsets lost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</a:tr>
            </a:tbl>
          </a:graphicData>
        </a:graphic>
      </p:graphicFrame>
      <p:sp>
        <p:nvSpPr>
          <p:cNvPr id="197" name="TextBox 12"/>
          <p:cNvSpPr/>
          <p:nvPr/>
        </p:nvSpPr>
        <p:spPr>
          <a:xfrm>
            <a:off x="457200" y="3600000"/>
            <a:ext cx="8228520" cy="166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Decision Guide: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New connector? → initial (default)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Adding tables later? → Use incremental snapshot signal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Migrating to new Kafka cluster? → always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Table data loaded via COPY? → Incremental snapshot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Box 13"/>
          <p:cNvSpPr/>
          <p:nvPr/>
        </p:nvSpPr>
        <p:spPr>
          <a:xfrm>
            <a:off x="457200" y="6217920"/>
            <a:ext cx="822852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rgbClr val="0563c1"/>
                </a:solidFill>
                <a:effectLst/>
                <a:uFillTx/>
                <a:latin typeface="Calibri"/>
              </a:rPr>
              <a:t>[1]  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9" name="Picture 4"/>
          <p:cNvPicPr/>
          <p:nvPr/>
        </p:nvPicPr>
        <p:blipFill>
          <a:blip r:embed="rId1"/>
          <a:stretch/>
        </p:blipFill>
        <p:spPr>
          <a:xfrm>
            <a:off x="0" y="119880"/>
            <a:ext cx="9143640" cy="6617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ext 0"/>
          <p:cNvSpPr/>
          <p:nvPr/>
        </p:nvSpPr>
        <p:spPr>
          <a:xfrm>
            <a:off x="457200" y="45720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Durability &amp; Fault Tolerance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1"/>
          <p:cNvSpPr/>
          <p:nvPr/>
        </p:nvSpPr>
        <p:spPr>
          <a:xfrm>
            <a:off x="457200" y="1188720"/>
            <a:ext cx="4304880" cy="228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Kafka Connect stores connector offsets so Debezium can resume after restart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A restart can redeliver records around recovery; downstream writes should be idempotent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Heartbeats help advance WAL positions during quiet tables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2"/>
          <p:cNvSpPr/>
          <p:nvPr/>
        </p:nvSpPr>
        <p:spPr>
          <a:xfrm>
            <a:off x="5120640" y="1188720"/>
            <a:ext cx="3839400" cy="228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Initial snapshot records use op=r; subsequent committed changes stream from WAL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Incremental snapshots run in chunks when triggered through signaling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Monitor connector status, lag, slot health and failed tasks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3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TextBox 1"/>
          <p:cNvSpPr/>
          <p:nvPr/>
        </p:nvSpPr>
        <p:spPr>
          <a:xfrm>
            <a:off x="457200" y="45720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Replication Slots &amp; Offset Management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Rounded Rectangle 2"/>
          <p:cNvSpPr/>
          <p:nvPr/>
        </p:nvSpPr>
        <p:spPr>
          <a:xfrm>
            <a:off x="457200" y="1097280"/>
            <a:ext cx="4113720" cy="492012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ccccc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Replication Slots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Track consumer position in WAL stream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Prevent WAL segments from being recycled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One slot per connector (never share!)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Inactive slots cause WAL accumulation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Monitor with pg_replication_slots view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slot.name config property sets the name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Rounded Rectangle 3"/>
          <p:cNvSpPr/>
          <p:nvPr/>
        </p:nvSpPr>
        <p:spPr>
          <a:xfrm>
            <a:off x="4572000" y="1097280"/>
            <a:ext cx="4113720" cy="492012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ccccc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Offset Storage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Kafka Connect stores offsets in internal topic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Contains LSN (Log Sequence Number) position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Enables resume after restart or failure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Offset flush interval: offset.flush.interval.ms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On restart: reads offset → seeks to LSN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Exactly-once within Kafka (idempotent)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Box 4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rgbClr val="0563c1"/>
                </a:solidFill>
                <a:effectLst/>
                <a:uFillTx/>
                <a:latin typeface="Calibri"/>
              </a:rPr>
              <a:t>[1]  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Text 0"/>
          <p:cNvSpPr/>
          <p:nvPr/>
        </p:nvSpPr>
        <p:spPr>
          <a:xfrm>
            <a:off x="457200" y="45720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Mini Exercise : Decoding an Event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1"/>
          <p:cNvSpPr/>
          <p:nvPr/>
        </p:nvSpPr>
        <p:spPr>
          <a:xfrm>
            <a:off x="457200" y="1097280"/>
            <a:ext cx="822852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Examine the following event JSON and answer: what operation occurred, and which fields changed?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2"/>
          <p:cNvSpPr/>
          <p:nvPr/>
        </p:nvSpPr>
        <p:spPr>
          <a:xfrm>
            <a:off x="457200" y="1920240"/>
            <a:ext cx="4570920" cy="2102040"/>
          </a:xfrm>
          <a:prstGeom prst="rect">
            <a:avLst/>
          </a:prstGeom>
          <a:solidFill>
            <a:srgbClr val="f0f0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{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  "before": { "id": 3, "balance": 200 },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  "after": { "id": 3, "balance": 250 },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  "source": { "db": "bank", "table": "accounts" },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  "op": "u",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  "ts_ms": 1680023459999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4444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3"/>
          <p:cNvSpPr/>
          <p:nvPr/>
        </p:nvSpPr>
        <p:spPr>
          <a:xfrm>
            <a:off x="5303520" y="1920240"/>
            <a:ext cx="3199320" cy="21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Discuss with your partner and share your findings.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4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TextBox 1"/>
          <p:cNvSpPr/>
          <p:nvPr/>
        </p:nvSpPr>
        <p:spPr>
          <a:xfrm>
            <a:off x="457200" y="45720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Mini Exercise 2: Answers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Box 2"/>
          <p:cNvSpPr/>
          <p:nvPr/>
        </p:nvSpPr>
        <p:spPr>
          <a:xfrm>
            <a:off x="457200" y="1097280"/>
            <a:ext cx="8228520" cy="50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Event JSON Analysis: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1" u="none" strike="noStrike">
                <a:solidFill>
                  <a:srgbClr val="2e7d32"/>
                </a:solidFill>
                <a:effectLst/>
                <a:uFillTx/>
                <a:latin typeface="Calibri"/>
              </a:rPr>
              <a:t>Operation: UPDATE (op = 'u')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What changed: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before.balance = 200  →  after.balance = 250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The balance field increased by 50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How to identify the operation: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op='c' → CREATE (insert)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op='u' → UPDATE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op='d' → DELETE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op='r' → READ (snapshot)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op='t' → TRUNCATE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Box 3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rgbClr val="0563c1"/>
                </a:solidFill>
                <a:effectLst/>
                <a:uFillTx/>
                <a:latin typeface="Calibri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Text 0"/>
          <p:cNvSpPr/>
          <p:nvPr/>
        </p:nvSpPr>
        <p:spPr>
          <a:xfrm>
            <a:off x="457200" y="45720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Debezium Connector Landscape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1"/>
          <p:cNvSpPr/>
          <p:nvPr/>
        </p:nvSpPr>
        <p:spPr>
          <a:xfrm>
            <a:off x="457200" y="1280160"/>
            <a:ext cx="8228520" cy="456120"/>
          </a:xfrm>
          <a:prstGeom prst="roundRect">
            <a:avLst>
              <a:gd name="adj" fmla="val 20000"/>
            </a:avLst>
          </a:prstGeom>
          <a:solidFill>
            <a:srgbClr val="fbe9e7"/>
          </a:solidFill>
          <a:ln w="127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18" name="Text 2"/>
          <p:cNvSpPr/>
          <p:nvPr/>
        </p:nvSpPr>
        <p:spPr>
          <a:xfrm>
            <a:off x="548640" y="1371600"/>
            <a:ext cx="80456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MySQL: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Reads MySQL binlog; supports GTID and TTL; needs replica user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3"/>
          <p:cNvSpPr/>
          <p:nvPr/>
        </p:nvSpPr>
        <p:spPr>
          <a:xfrm>
            <a:off x="457200" y="1783080"/>
            <a:ext cx="8228520" cy="456120"/>
          </a:xfrm>
          <a:prstGeom prst="roundRect">
            <a:avLst>
              <a:gd name="adj" fmla="val 20000"/>
            </a:avLst>
          </a:prstGeom>
          <a:solidFill>
            <a:srgbClr val="e8eaf6"/>
          </a:solidFill>
          <a:ln w="127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20" name="Text 4"/>
          <p:cNvSpPr/>
          <p:nvPr/>
        </p:nvSpPr>
        <p:spPr>
          <a:xfrm>
            <a:off x="548640" y="1874520"/>
            <a:ext cx="80456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PostgreSQL: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Uses logical replication (WAL); supports slot &amp; publication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5"/>
          <p:cNvSpPr/>
          <p:nvPr/>
        </p:nvSpPr>
        <p:spPr>
          <a:xfrm>
            <a:off x="457200" y="2286000"/>
            <a:ext cx="8228520" cy="456120"/>
          </a:xfrm>
          <a:prstGeom prst="roundRect">
            <a:avLst>
              <a:gd name="adj" fmla="val 20000"/>
            </a:avLst>
          </a:prstGeom>
          <a:solidFill>
            <a:srgbClr val="fffde7"/>
          </a:solidFill>
          <a:ln w="127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22" name="Text 6"/>
          <p:cNvSpPr/>
          <p:nvPr/>
        </p:nvSpPr>
        <p:spPr>
          <a:xfrm>
            <a:off x="548640" y="2377440"/>
            <a:ext cx="80456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SQL Server: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Uses SQL Server CDC; requires enabling CDC on tables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7"/>
          <p:cNvSpPr/>
          <p:nvPr/>
        </p:nvSpPr>
        <p:spPr>
          <a:xfrm>
            <a:off x="457200" y="2788920"/>
            <a:ext cx="8228520" cy="456120"/>
          </a:xfrm>
          <a:prstGeom prst="roundRect">
            <a:avLst>
              <a:gd name="adj" fmla="val 20000"/>
            </a:avLst>
          </a:prstGeom>
          <a:solidFill>
            <a:srgbClr val="e8f5e9"/>
          </a:solidFill>
          <a:ln w="127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24" name="Text 8"/>
          <p:cNvSpPr/>
          <p:nvPr/>
        </p:nvSpPr>
        <p:spPr>
          <a:xfrm>
            <a:off x="548640" y="2880360"/>
            <a:ext cx="80456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Oracle: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Uses LogMiner; container or library; additional license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9"/>
          <p:cNvSpPr/>
          <p:nvPr/>
        </p:nvSpPr>
        <p:spPr>
          <a:xfrm>
            <a:off x="457200" y="3291840"/>
            <a:ext cx="8228520" cy="456120"/>
          </a:xfrm>
          <a:prstGeom prst="roundRect">
            <a:avLst>
              <a:gd name="adj" fmla="val 20000"/>
            </a:avLst>
          </a:prstGeom>
          <a:solidFill>
            <a:srgbClr val="f3e5f5"/>
          </a:solidFill>
          <a:ln w="12700">
            <a:solidFill>
              <a:srgbClr val="ddd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26" name="Text 10"/>
          <p:cNvSpPr/>
          <p:nvPr/>
        </p:nvSpPr>
        <p:spPr>
          <a:xfrm>
            <a:off x="548640" y="3383280"/>
            <a:ext cx="80456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MongoDB: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Tails the Oplog; supports change streams; no schema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11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8" name="Picture 176" descr="image.png"/>
          <p:cNvPicPr/>
          <p:nvPr/>
        </p:nvPicPr>
        <p:blipFill>
          <a:blip r:embed="rId3"/>
          <a:stretch/>
        </p:blipFill>
        <p:spPr>
          <a:xfrm>
            <a:off x="6199920" y="3800160"/>
            <a:ext cx="2599560" cy="590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Text 0"/>
          <p:cNvSpPr/>
          <p:nvPr/>
        </p:nvSpPr>
        <p:spPr>
          <a:xfrm>
            <a:off x="457200" y="45720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MySQL &amp; PostgreSQL Connectors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1"/>
          <p:cNvSpPr/>
          <p:nvPr/>
        </p:nvSpPr>
        <p:spPr>
          <a:xfrm>
            <a:off x="457200" y="1097280"/>
            <a:ext cx="4113720" cy="21934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ccccc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31" name="Text 2"/>
          <p:cNvSpPr/>
          <p:nvPr/>
        </p:nvSpPr>
        <p:spPr>
          <a:xfrm>
            <a:off x="548640" y="1188720"/>
            <a:ext cx="3930840" cy="20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MySQL Connector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Tails the MySQL binlog (row/statement/mixed mode)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Supports GTID, failover, timezone handling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Requires replication user &amp; binlog format ROW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Shape 3"/>
          <p:cNvSpPr/>
          <p:nvPr/>
        </p:nvSpPr>
        <p:spPr>
          <a:xfrm>
            <a:off x="4572000" y="1097280"/>
            <a:ext cx="4113720" cy="21934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ccccc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33" name="Text 4"/>
          <p:cNvSpPr/>
          <p:nvPr/>
        </p:nvSpPr>
        <p:spPr>
          <a:xfrm>
            <a:off x="4663440" y="1188720"/>
            <a:ext cx="3930840" cy="20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PostgreSQL Connector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Uses logical replication publications &amp; slots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Requires slot &amp; publication privileges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Supports incremental snapshots &amp; table filtering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5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TextBox 1"/>
          <p:cNvSpPr/>
          <p:nvPr/>
        </p:nvSpPr>
        <p:spPr>
          <a:xfrm>
            <a:off x="457200" y="45720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PostgreSQL: WAL &amp; Logical Replication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Box 2"/>
          <p:cNvSpPr/>
          <p:nvPr/>
        </p:nvSpPr>
        <p:spPr>
          <a:xfrm>
            <a:off x="457200" y="1097280"/>
            <a:ext cx="8228520" cy="50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Logical Decoding Pipeline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PostgreSQL writes every change to WAL (Write-Ahead Log)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pgoutput plugin converts WAL to logical replication messages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Debezium creates a replication slot + publication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Publication defines which tables to capture (table.include.list)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Slot tracks position; WAL retained until slot acknowledges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REPLICA IDENTITY FULL needed for complete before images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Rectangle 3"/>
          <p:cNvSpPr/>
          <p:nvPr/>
        </p:nvSpPr>
        <p:spPr>
          <a:xfrm>
            <a:off x="457200" y="3600000"/>
            <a:ext cx="8228520" cy="21996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r>
              <a:rPr lang="en-US" sz="10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-- Create publication for specific tables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CREATE PUBLICATION dbz_pub FOR TABLE customers, orders;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-- Set REPLICA IDENTITY for full before/after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ALTER TABLE customers REPLICA IDENTITY FULL;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-- Check slot status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SELECT slot_name, active, pg_wal_lsn_diff(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 pg_current_wal_lsn(), confirmed_flush_lsn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) AS lag_bytes FROM pg_replication_slots;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Box 4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rgbClr val="0563c1"/>
                </a:solidFill>
                <a:effectLst/>
                <a:uFillTx/>
                <a:latin typeface="Calibri"/>
              </a:rPr>
              <a:t>[1]  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Text 0"/>
          <p:cNvSpPr/>
          <p:nvPr/>
        </p:nvSpPr>
        <p:spPr>
          <a:xfrm>
            <a:off x="457200" y="45720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Other Database Connectors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1"/>
          <p:cNvSpPr/>
          <p:nvPr/>
        </p:nvSpPr>
        <p:spPr>
          <a:xfrm>
            <a:off x="457200" y="1188720"/>
            <a:ext cx="8228520" cy="20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SQL Server: Reads CDC tables, requires enabling CDC on each table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Oracle: Uses LogMiner and Mining server, supports RAC/ASM; licensing considerations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MongoDB: Tails the Oplog or Change Streams for replica sets and sharded clusters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Db2, Vitess: Support transaction log capture with similar semantics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2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Text 0"/>
          <p:cNvSpPr/>
          <p:nvPr/>
        </p:nvSpPr>
        <p:spPr>
          <a:xfrm>
            <a:off x="457200" y="45720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Sink Connectors &amp; Transforms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1"/>
          <p:cNvSpPr/>
          <p:nvPr/>
        </p:nvSpPr>
        <p:spPr>
          <a:xfrm>
            <a:off x="457200" y="1188720"/>
            <a:ext cx="8228520" cy="219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Sink connectors deliver events to Elasticsearch, BigQuery, S3, Kinesis, etc.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Single Message Transforms (SMT) modify records: ExtractNewRecordState, UnwrapFromEnvelope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Topic routing transforms rename topics based on table or schema name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Heartbeat topics emit periodic messages to maintain offset progress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2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TextBox 1"/>
          <p:cNvSpPr/>
          <p:nvPr/>
        </p:nvSpPr>
        <p:spPr>
          <a:xfrm>
            <a:off x="457200" y="45720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SMT Pipeline: ExtractNewRecordState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Rounded Rectangle 2"/>
          <p:cNvSpPr/>
          <p:nvPr/>
        </p:nvSpPr>
        <p:spPr>
          <a:xfrm>
            <a:off x="457200" y="1097280"/>
            <a:ext cx="4113720" cy="492012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ccccc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Envelope Format (Default)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Nested structure with before/after/source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Full audit trail with previous values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Larger message size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Ideal for: audit logs, replay, debugging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{ "before": {...},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  "after": {...},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  "source": {...},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  "op": "u" }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Rounded Rectangle 3"/>
          <p:cNvSpPr/>
          <p:nvPr/>
        </p:nvSpPr>
        <p:spPr>
          <a:xfrm>
            <a:off x="4572000" y="1097280"/>
            <a:ext cx="4113720" cy="492012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ccccc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Flat Format (with SMT)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Top-level fields only (after values)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__op, __table metadata added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__deleted field for delete events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Ideal for: sinks, warehouses, search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{ "id": 1,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  "name": "Alice",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  "__op": "u",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  "__deleted": false }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Box 4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rgbClr val="0563c1"/>
                </a:solidFill>
                <a:effectLst/>
                <a:uFillTx/>
                <a:latin typeface="Calibri"/>
              </a:rPr>
              <a:t>[1]  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Text 0"/>
          <p:cNvSpPr/>
          <p:nvPr/>
        </p:nvSpPr>
        <p:spPr>
          <a:xfrm>
            <a:off x="457200" y="45720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Advantages &amp; Limitations of using Debizium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Shape 1"/>
          <p:cNvSpPr/>
          <p:nvPr/>
        </p:nvSpPr>
        <p:spPr>
          <a:xfrm>
            <a:off x="457200" y="1097280"/>
            <a:ext cx="3930840" cy="2467800"/>
          </a:xfrm>
          <a:prstGeom prst="roundRect">
            <a:avLst>
              <a:gd name="adj" fmla="val 3704"/>
            </a:avLst>
          </a:prstGeom>
          <a:solidFill>
            <a:srgbClr val="e8f5e9"/>
          </a:solidFill>
          <a:ln w="12700">
            <a:solidFill>
              <a:srgbClr val="c8e6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51" name="Text 2"/>
          <p:cNvSpPr/>
          <p:nvPr/>
        </p:nvSpPr>
        <p:spPr>
          <a:xfrm>
            <a:off x="502920" y="1143000"/>
            <a:ext cx="3839400" cy="23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Pros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• Log-based capture is efficient &amp; consistent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• Supports snapshots &amp; incremental snapshots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• Broad ecosystem of connectors &amp; SMT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• Compatible with Kafka Connect &amp; KRaft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3"/>
          <p:cNvSpPr/>
          <p:nvPr/>
        </p:nvSpPr>
        <p:spPr>
          <a:xfrm>
            <a:off x="4572000" y="1097280"/>
            <a:ext cx="3930840" cy="2467800"/>
          </a:xfrm>
          <a:prstGeom prst="roundRect">
            <a:avLst>
              <a:gd name="adj" fmla="val 3704"/>
            </a:avLst>
          </a:prstGeom>
          <a:solidFill>
            <a:srgbClr val="ffebee"/>
          </a:solidFill>
          <a:ln w="12700">
            <a:solidFill>
              <a:srgbClr val="ffcdd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53" name="Text 4"/>
          <p:cNvSpPr/>
          <p:nvPr/>
        </p:nvSpPr>
        <p:spPr>
          <a:xfrm>
            <a:off x="4617720" y="1143000"/>
            <a:ext cx="3839400" cy="23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b71c1c"/>
                </a:solidFill>
                <a:effectLst/>
                <a:uFillTx/>
                <a:latin typeface="Calibri"/>
                <a:ea typeface="Calibri"/>
              </a:rPr>
              <a:t>Cons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b71c1c"/>
                </a:solidFill>
                <a:effectLst/>
                <a:uFillTx/>
                <a:latin typeface="Calibri"/>
                <a:ea typeface="Calibri"/>
              </a:rPr>
              <a:t>• Requires DB log privileges (binlog/WAL)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b71c1c"/>
                </a:solidFill>
                <a:effectLst/>
                <a:uFillTx/>
                <a:latin typeface="Calibri"/>
                <a:ea typeface="Calibri"/>
              </a:rPr>
              <a:t>• Heavy snapshots on large tables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b71c1c"/>
                </a:solidFill>
                <a:effectLst/>
                <a:uFillTx/>
                <a:latin typeface="Calibri"/>
                <a:ea typeface="Calibri"/>
              </a:rPr>
              <a:t>• Limited DDL support; schema changes may break connectors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b71c1c"/>
                </a:solidFill>
                <a:effectLst/>
                <a:uFillTx/>
                <a:latin typeface="Calibri"/>
                <a:ea typeface="Calibri"/>
              </a:rPr>
              <a:t>• Complexity of deployment &amp; tuning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5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TextBox 1"/>
          <p:cNvSpPr/>
          <p:nvPr/>
        </p:nvSpPr>
        <p:spPr>
          <a:xfrm>
            <a:off x="457200" y="45720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Production CDC Best Practices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Box 2"/>
          <p:cNvSpPr/>
          <p:nvPr/>
        </p:nvSpPr>
        <p:spPr>
          <a:xfrm>
            <a:off x="457200" y="1097280"/>
            <a:ext cx="8228520" cy="50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Deployment &amp; Operations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Always set REPLICA IDENTITY FULL on captured tables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Use heartbeat.interval.ms to prevent WAL bloat on low-traffic DBs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Monitor replication slot lag — alert if &gt; 100 MB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Set slot.drop.on.stop=false in production (true only for testing)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Use incremental snapshots instead of restarting with snapshot.mode=initial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Configure signal.data.collection for operational control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Set heartbeat.action.query to keep WAL position current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Use separate replication slot per connector (never share)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Monitor pg_replication_slots and connector /status endpoint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Plan for schema evolution: test ALTER TABLE impact before production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Box 3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rgbClr val="0563c1"/>
                </a:solidFill>
                <a:effectLst/>
                <a:uFillTx/>
                <a:latin typeface="Calibri"/>
              </a:rPr>
              <a:t>[1]  [2]  [3]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Text 0"/>
          <p:cNvSpPr/>
          <p:nvPr/>
        </p:nvSpPr>
        <p:spPr>
          <a:xfrm>
            <a:off x="457200" y="45720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Mini Exercise 3: Match the Connector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1"/>
          <p:cNvSpPr/>
          <p:nvPr/>
        </p:nvSpPr>
        <p:spPr>
          <a:xfrm>
            <a:off x="457200" y="109728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Match each database with the appropriate Debezium connector: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0" name="Table 0"/>
          <p:cNvGraphicFramePr/>
          <p:nvPr/>
        </p:nvGraphicFramePr>
        <p:xfrm>
          <a:off x="914400" y="1828800"/>
          <a:ext cx="7314840" cy="123732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</a:tblGrid>
              <a:tr h="2192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Database</a:t>
                      </a:r>
                      <a:endParaRPr lang="en-IN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Connector</a:t>
                      </a:r>
                      <a:endParaRPr lang="en-IN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solidFill>
                      <a:srgbClr val="002060"/>
                    </a:solidFill>
                  </a:tcPr>
                </a:tc>
              </a:tr>
              <a:tr h="2192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Oracle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___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</a:tr>
              <a:tr h="2192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MongoDB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___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</a:tr>
              <a:tr h="2192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SQL Server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___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</a:tr>
              <a:tr h="2192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MySQL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___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61" name="Text 2"/>
          <p:cNvSpPr/>
          <p:nvPr/>
        </p:nvSpPr>
        <p:spPr>
          <a:xfrm>
            <a:off x="457200" y="310896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Discuss with your neighbour to fill in the blanks.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3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TextBox 1"/>
          <p:cNvSpPr/>
          <p:nvPr/>
        </p:nvSpPr>
        <p:spPr>
          <a:xfrm>
            <a:off x="457200" y="45720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Mini Exercise 3: Answers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4" name="Table 2"/>
          <p:cNvGraphicFramePr/>
          <p:nvPr/>
        </p:nvGraphicFramePr>
        <p:xfrm>
          <a:off x="457200" y="1188720"/>
          <a:ext cx="8229240" cy="209952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349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Database</a:t>
                      </a:r>
                      <a:endParaRPr lang="en-IN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Connector / Mechanism</a:t>
                      </a:r>
                      <a:endParaRPr lang="en-IN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472c4"/>
                    </a:solidFill>
                  </a:tcPr>
                </a:tc>
              </a:tr>
              <a:tr h="349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MySQL 8.0 with GTID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MySQL Connector — reads binlog with GTID tracking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</a:tr>
              <a:tr h="349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PostgreSQL 15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PostgreSQL Connector — pgoutput logical replication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</a:tr>
              <a:tr h="349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SQL Server 2019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SQL Server Connector — reads CDC tables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</a:tr>
              <a:tr h="349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MongoDB 6.0 replica set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MongoDB Connector — change streams (oplog)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</a:tr>
              <a:tr h="349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Oracle 19c RAC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Oracle Connector — LogMiner (additional license)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</a:tr>
            </a:tbl>
          </a:graphicData>
        </a:graphic>
      </p:graphicFrame>
      <p:sp>
        <p:nvSpPr>
          <p:cNvPr id="265" name="TextBox 3"/>
          <p:cNvSpPr/>
          <p:nvPr/>
        </p:nvSpPr>
        <p:spPr>
          <a:xfrm>
            <a:off x="457200" y="3399840"/>
            <a:ext cx="8228520" cy="24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Key Differentiators: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MySQL uses binary log (row format required)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PostgreSQL uses logical decoding with replication slots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MongoDB uses oplog / change streams (no schema)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Oracle requires LogMiner and has licensing considerations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Box 4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rgbClr val="0563c1"/>
                </a:solidFill>
                <a:effectLst/>
                <a:uFillTx/>
                <a:latin typeface="Calibri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Text 0"/>
          <p:cNvSpPr/>
          <p:nvPr/>
        </p:nvSpPr>
        <p:spPr>
          <a:xfrm>
            <a:off x="457200" y="45720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Environment Requirements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8" name="Image 0"/>
          <p:cNvPicPr/>
          <p:nvPr/>
        </p:nvPicPr>
        <p:blipFill>
          <a:blip r:embed="rId1"/>
          <a:stretch/>
        </p:blipFill>
        <p:spPr>
          <a:xfrm>
            <a:off x="457200" y="1280160"/>
            <a:ext cx="318960" cy="31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9" name="Text 1"/>
          <p:cNvSpPr/>
          <p:nvPr/>
        </p:nvSpPr>
        <p:spPr>
          <a:xfrm>
            <a:off x="822960" y="1325880"/>
            <a:ext cx="77713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Kafka cluster (KRaft or ZooKeeper)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0" name="Image 1"/>
          <p:cNvPicPr/>
          <p:nvPr/>
        </p:nvPicPr>
        <p:blipFill>
          <a:blip r:embed="rId2"/>
          <a:stretch/>
        </p:blipFill>
        <p:spPr>
          <a:xfrm>
            <a:off x="457200" y="1691640"/>
            <a:ext cx="318960" cy="31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1" name="Text 2"/>
          <p:cNvSpPr/>
          <p:nvPr/>
        </p:nvSpPr>
        <p:spPr>
          <a:xfrm>
            <a:off x="822960" y="1737360"/>
            <a:ext cx="77713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Source database (e.g., Postgres with logical replication)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2" name="Image 2"/>
          <p:cNvPicPr/>
          <p:nvPr/>
        </p:nvPicPr>
        <p:blipFill>
          <a:blip r:embed="rId3"/>
          <a:stretch/>
        </p:blipFill>
        <p:spPr>
          <a:xfrm>
            <a:off x="457200" y="2103120"/>
            <a:ext cx="318960" cy="31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3" name="Text 3"/>
          <p:cNvSpPr/>
          <p:nvPr/>
        </p:nvSpPr>
        <p:spPr>
          <a:xfrm>
            <a:off x="822960" y="2148840"/>
            <a:ext cx="77713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Kafka Connect &amp; Debezium plugin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4" name="Image 3"/>
          <p:cNvPicPr/>
          <p:nvPr/>
        </p:nvPicPr>
        <p:blipFill>
          <a:blip r:embed="rId4"/>
          <a:stretch/>
        </p:blipFill>
        <p:spPr>
          <a:xfrm>
            <a:off x="457200" y="2514600"/>
            <a:ext cx="318960" cy="31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5" name="Text 4"/>
          <p:cNvSpPr/>
          <p:nvPr/>
        </p:nvSpPr>
        <p:spPr>
          <a:xfrm>
            <a:off x="822960" y="2560320"/>
            <a:ext cx="77713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Schema Registry (for Avro/JSON if needed)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6" name="Image 4"/>
          <p:cNvPicPr/>
          <p:nvPr/>
        </p:nvPicPr>
        <p:blipFill>
          <a:blip r:embed="rId5"/>
          <a:stretch/>
        </p:blipFill>
        <p:spPr>
          <a:xfrm>
            <a:off x="457200" y="2926080"/>
            <a:ext cx="318960" cy="31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7" name="Text 5"/>
          <p:cNvSpPr/>
          <p:nvPr/>
        </p:nvSpPr>
        <p:spPr>
          <a:xfrm>
            <a:off x="822960" y="2971800"/>
            <a:ext cx="77713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Client to consume events (Kafka console consumer or Python consumer)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6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6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Text 0"/>
          <p:cNvSpPr/>
          <p:nvPr/>
        </p:nvSpPr>
        <p:spPr>
          <a:xfrm>
            <a:off x="457200" y="45720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Quiz Answers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1"/>
          <p:cNvSpPr/>
          <p:nvPr/>
        </p:nvSpPr>
        <p:spPr>
          <a:xfrm>
            <a:off x="457200" y="1188720"/>
            <a:ext cx="8228520" cy="21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1. C - Log-based streaming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2. B - A snapshot record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3. A - tasks.max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4. B - Send an execute-snapshot signal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5. A - Removes the envelope and exposes row state (configure delete handling deliberately)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2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2"/>
              </a:rPr>
              <a:t>[2]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3"/>
              </a:rPr>
              <a:t>[3]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4"/>
              </a:rPr>
              <a:t>[4]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5"/>
              </a:rPr>
              <a:t>[5]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TextBox 1"/>
          <p:cNvSpPr/>
          <p:nvPr/>
        </p:nvSpPr>
        <p:spPr>
          <a:xfrm>
            <a:off x="457200" y="45720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Kafka Connect REST API Reference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3" name="Table 2"/>
          <p:cNvGraphicFramePr/>
          <p:nvPr/>
        </p:nvGraphicFramePr>
        <p:xfrm>
          <a:off x="457200" y="1188720"/>
          <a:ext cx="8229240" cy="384948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349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Operation</a:t>
                      </a:r>
                      <a:endParaRPr lang="en-IN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Method</a:t>
                      </a:r>
                      <a:endParaRPr lang="en-IN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Endpoint</a:t>
                      </a:r>
                      <a:endParaRPr lang="en-IN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472c4"/>
                    </a:solidFill>
                  </a:tcPr>
                </a:tc>
              </a:tr>
              <a:tr h="349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List connectors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GET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/connectors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</a:tr>
              <a:tr h="349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Create connector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POST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/connectors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</a:tr>
              <a:tr h="349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Get connector status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GET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/connectors/{name}/status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</a:tr>
              <a:tr h="349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Get connector config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GET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/connectors/{name}/config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</a:tr>
              <a:tr h="349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Update config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PUT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/connectors/{name}/config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</a:tr>
              <a:tr h="349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Pause connector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PUT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/connectors/{name}/pause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</a:tr>
              <a:tr h="349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Resume connector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PUT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/connectors/{name}/resume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</a:tr>
              <a:tr h="349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Restart connector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POST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/connectors/{name}/restart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</a:tr>
              <a:tr h="349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Restart task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POST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/connectors/{name}/tasks/{id}/restart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</a:tr>
              <a:tr h="349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Delete connector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DELETE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/connectors/{name}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</a:tr>
            </a:tbl>
          </a:graphicData>
        </a:graphic>
      </p:graphicFrame>
      <p:sp>
        <p:nvSpPr>
          <p:cNvPr id="284" name="TextBox 3"/>
          <p:cNvSpPr/>
          <p:nvPr/>
        </p:nvSpPr>
        <p:spPr>
          <a:xfrm>
            <a:off x="457200" y="5100120"/>
            <a:ext cx="8228520" cy="89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000" b="0" u="none" strike="noStrike">
                <a:solidFill>
                  <a:srgbClr val="585858"/>
                </a:solidFill>
                <a:effectLst/>
                <a:uFillTx/>
                <a:latin typeface="Calibri"/>
              </a:rPr>
              <a:t>Base URL: http://localhost:8083  |  All responses are JSON  |  PUT config requires full config object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4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rgbClr val="0563c1"/>
                </a:solidFill>
                <a:effectLst/>
                <a:uFillTx/>
                <a:latin typeface="Calibri"/>
              </a:rPr>
              <a:t>[1]  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Text 0"/>
          <p:cNvSpPr/>
          <p:nvPr/>
        </p:nvSpPr>
        <p:spPr>
          <a:xfrm>
            <a:off x="457200" y="45720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Heartbeats, Transforms &amp; Monitoring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1"/>
          <p:cNvSpPr/>
          <p:nvPr/>
        </p:nvSpPr>
        <p:spPr>
          <a:xfrm>
            <a:off x="457200" y="1280160"/>
            <a:ext cx="8228520" cy="27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Heartbeats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heartbeat.interval.ms: emit heartbeat records to maintain offset commits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heartbeat.topics.prefix: name prefix for heartbeat topics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Transforms (SMT)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ExtractNewRecordState: flatten record to after state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UnwrapFromEnvelope: remove metadata envelopes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TopicRename: change output topic names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Monitoring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Monitor lag via JMX or Connect API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Adjust tasks.max and max.batch.size for throughput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2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TextBox 1"/>
          <p:cNvSpPr/>
          <p:nvPr/>
        </p:nvSpPr>
        <p:spPr>
          <a:xfrm>
            <a:off x="457200" y="45720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Envelope vs Flat: Format Comparison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0" name="Table 2"/>
          <p:cNvGraphicFramePr/>
          <p:nvPr/>
        </p:nvGraphicFramePr>
        <p:xfrm>
          <a:off x="457200" y="1188720"/>
          <a:ext cx="8229240" cy="24498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349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Aspect</a:t>
                      </a:r>
                      <a:endParaRPr lang="en-IN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Envelope (default)</a:t>
                      </a:r>
                      <a:endParaRPr lang="en-IN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Flat (ExtractNewRecordState)</a:t>
                      </a:r>
                      <a:endParaRPr lang="en-IN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472c4"/>
                    </a:solidFill>
                  </a:tcPr>
                </a:tc>
              </a:tr>
              <a:tr h="349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Structure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Nested: before/after/source/op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Flat: column values at top level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</a:tr>
              <a:tr h="349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Before image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Yes — full old row values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No — lost (only after)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</a:tr>
              <a:tr h="349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Metadata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source block with LSN, ts_ms, txId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__op, __table, __lsn, __source.ts_ms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</a:tr>
              <a:tr h="349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Delete handling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Tombstone record (key + null value)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__deleted=true with row data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</a:tr>
              <a:tr h="349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Message size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Larger (2x–3x)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Smaller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</a:tr>
              <a:tr h="3499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Best for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Audit, replay, fraud detection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Sinks, warehouses, search indices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</a:tr>
            </a:tbl>
          </a:graphicData>
        </a:graphic>
      </p:graphicFrame>
      <p:sp>
        <p:nvSpPr>
          <p:cNvPr id="291" name="TextBox 3"/>
          <p:cNvSpPr/>
          <p:nvPr/>
        </p:nvSpPr>
        <p:spPr>
          <a:xfrm>
            <a:off x="457200" y="3800160"/>
            <a:ext cx="8228520" cy="19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Configuration for flat format: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"transforms": "unwrap"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"transforms.unwrap.type": "io.debezium.transforms.ExtractNewRecordState"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"transforms.unwrap.add.fields": "op,table,lsn,source.ts_ms"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"transforms.unwrap.delete.tombstone.handling.mode": "rewrite"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Box 4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rgbClr val="0563c1"/>
                </a:solidFill>
                <a:effectLst/>
                <a:uFillTx/>
                <a:latin typeface="Calibri"/>
              </a:rPr>
              <a:t>[1]  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Text 0"/>
          <p:cNvSpPr/>
          <p:nvPr/>
        </p:nvSpPr>
        <p:spPr>
          <a:xfrm>
            <a:off x="457200" y="45720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Advanced Tuning &amp; KRaft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1"/>
          <p:cNvSpPr/>
          <p:nvPr/>
        </p:nvSpPr>
        <p:spPr>
          <a:xfrm>
            <a:off x="457200" y="1280160"/>
            <a:ext cx="8228520" cy="228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Set tasks.max to adjust number of parallel tasks per connector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Increase max.batch.size &amp; max.queue.size for high throughput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Tune heartbeat.interval.ms &amp; min.insync.replicas for durability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With Kafka 4.x KRaft mode, ensure controller &amp; broker nodes have sufficient quorum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• Review connector task logs &amp; metrics to detect lags and backpressure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2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TextBox 1"/>
          <p:cNvSpPr/>
          <p:nvPr/>
        </p:nvSpPr>
        <p:spPr>
          <a:xfrm>
            <a:off x="457200" y="45720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WAL Disk Space &amp; Monitoring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Box 2"/>
          <p:cNvSpPr/>
          <p:nvPr/>
        </p:nvSpPr>
        <p:spPr>
          <a:xfrm>
            <a:off x="457200" y="1097280"/>
            <a:ext cx="8228520" cy="50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Common WAL Issues &amp; Solutions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Problem: WAL files growing unboundedly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  → Cause: Inactive replication slot retaining WAL segments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  → Fix: Drop orphaned slots or resume the connector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Problem: High-traffic DB on same host as low-traffic captured DB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  → Cause: CDC connector can't acknowledge LSN fast enough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  → Fix: Set heartbeat.interval.ms and heartbeat.action.query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Problem: Connector restart causes re-snapshot of entire database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  → Cause: snapshot.mode=always or offsets lost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  → Fix: Use snapshot.mode=initial (default) and never drop the offset topic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Box 3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rgbClr val="0563c1"/>
                </a:solidFill>
                <a:effectLst/>
                <a:uFillTx/>
                <a:latin typeface="Calibri"/>
              </a:rPr>
              <a:t>[1]  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TextBox 1"/>
          <p:cNvSpPr/>
          <p:nvPr/>
        </p:nvSpPr>
        <p:spPr>
          <a:xfrm>
            <a:off x="457200" y="45720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Schema Evolution &amp; CDC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Rounded Rectangle 2"/>
          <p:cNvSpPr/>
          <p:nvPr/>
        </p:nvSpPr>
        <p:spPr>
          <a:xfrm>
            <a:off x="457200" y="1097280"/>
            <a:ext cx="4113720" cy="492012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ccccc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Schema Changes Debezium Handles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ADD COLUMN — new field in future events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ADD COLUMN with DEFAULT — no CDC events for existing rows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ALTER COLUMN type — schema refresh, new type in events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RENAME COLUMN — treated as drop + add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DROP COLUMN — field disappears from future events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Rounded Rectangle 3"/>
          <p:cNvSpPr/>
          <p:nvPr/>
        </p:nvSpPr>
        <p:spPr>
          <a:xfrm>
            <a:off x="4572000" y="1097280"/>
            <a:ext cx="4113720" cy="492012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ccccc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Best Practices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Test ALTER TABLE in staging first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Use Avro + Schema Registry for schema evolution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Forward compatibility: add columns, don't remove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Never run DDL during incremental snapshot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Use schema.refresh.mode=columns_diff (default)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Box 4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rgbClr val="0563c1"/>
                </a:solidFill>
                <a:effectLst/>
                <a:uFillTx/>
                <a:latin typeface="Calibri"/>
              </a:rPr>
              <a:t>[1]  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Text 0"/>
          <p:cNvSpPr/>
          <p:nvPr/>
        </p:nvSpPr>
        <p:spPr>
          <a:xfrm>
            <a:off x="457200" y="45720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Hands‑On Lab: Capture Database Changes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1"/>
          <p:cNvSpPr/>
          <p:nvPr/>
        </p:nvSpPr>
        <p:spPr>
          <a:xfrm>
            <a:off x="457200" y="1188720"/>
            <a:ext cx="8228520" cy="228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In this lab you will: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• Start a local Kafka &amp; Postgres cluster using Docker Compose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• Create a sample table and insert initial data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• Deploy a Debezium Postgres connector via REST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• Produce updates and observe events using Kafka console consumer or Python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• Explore event structure and snapshot vs streaming phases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2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TextBox 1"/>
          <p:cNvSpPr/>
          <p:nvPr/>
        </p:nvSpPr>
        <p:spPr>
          <a:xfrm>
            <a:off x="502920" y="438840"/>
            <a:ext cx="81374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8360" rIns="18360" tIns="18360" bIns="18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Important Points To Note: Cross-Platform Commands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Box 2"/>
          <p:cNvSpPr/>
          <p:nvPr/>
        </p:nvSpPr>
        <p:spPr>
          <a:xfrm>
            <a:off x="530280" y="6355080"/>
            <a:ext cx="10965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8360" rIns="18360" tIns="18360" bIns="18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0066cc"/>
                </a:solidFill>
                <a:effectLst/>
                <a:uFillTx/>
                <a:latin typeface="Calibri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Rounded Rectangle 3"/>
          <p:cNvSpPr/>
          <p:nvPr/>
        </p:nvSpPr>
        <p:spPr>
          <a:xfrm>
            <a:off x="685800" y="1234440"/>
            <a:ext cx="2513880" cy="1188000"/>
          </a:xfrm>
          <a:prstGeom prst="roundRect">
            <a:avLst>
              <a:gd name="adj" fmla="val 8000"/>
            </a:avLst>
          </a:prstGeom>
          <a:solidFill>
            <a:srgbClr val="e7f2ff"/>
          </a:solidFill>
          <a:ln w="8890"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9" name="TextBox 4"/>
          <p:cNvSpPr/>
          <p:nvPr/>
        </p:nvSpPr>
        <p:spPr>
          <a:xfrm>
            <a:off x="831960" y="1344240"/>
            <a:ext cx="2221200" cy="96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Docker CLI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Use docker compose commands in any terminal.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Rounded Rectangle 5"/>
          <p:cNvSpPr/>
          <p:nvPr/>
        </p:nvSpPr>
        <p:spPr>
          <a:xfrm>
            <a:off x="3474720" y="1234440"/>
            <a:ext cx="2513880" cy="1188000"/>
          </a:xfrm>
          <a:prstGeom prst="roundRect">
            <a:avLst>
              <a:gd name="adj" fmla="val 8000"/>
            </a:avLst>
          </a:prstGeom>
          <a:solidFill>
            <a:srgbClr val="e2f5e9"/>
          </a:solidFill>
          <a:ln w="8890"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1" name="TextBox 6"/>
          <p:cNvSpPr/>
          <p:nvPr/>
        </p:nvSpPr>
        <p:spPr>
          <a:xfrm>
            <a:off x="3620880" y="1344240"/>
            <a:ext cx="2221200" cy="96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curl for REST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Use curl for Kafka Connect API calls.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Rounded Rectangle 7"/>
          <p:cNvSpPr/>
          <p:nvPr/>
        </p:nvSpPr>
        <p:spPr>
          <a:xfrm>
            <a:off x="6263640" y="1234440"/>
            <a:ext cx="2010960" cy="1188000"/>
          </a:xfrm>
          <a:prstGeom prst="roundRect">
            <a:avLst>
              <a:gd name="adj" fmla="val 8000"/>
            </a:avLst>
          </a:prstGeom>
          <a:solidFill>
            <a:srgbClr val="fff1d8"/>
          </a:solidFill>
          <a:ln w="8890">
            <a:solidFill>
              <a:srgbClr val="c9d4e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3" name="TextBox 8"/>
          <p:cNvSpPr/>
          <p:nvPr/>
        </p:nvSpPr>
        <p:spPr>
          <a:xfrm>
            <a:off x="6409800" y="1344240"/>
            <a:ext cx="1718280" cy="96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b6c"/>
                </a:solidFill>
                <a:effectLst/>
                <a:uFillTx/>
                <a:latin typeface="Calibri"/>
              </a:rPr>
              <a:t>localhost ports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Kafka 9092, UI 8080, Connect 8083, Postgres 5432.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Rectangle 9"/>
          <p:cNvSpPr/>
          <p:nvPr/>
        </p:nvSpPr>
        <p:spPr>
          <a:xfrm>
            <a:off x="868680" y="3291840"/>
            <a:ext cx="7314480" cy="822240"/>
          </a:xfrm>
          <a:prstGeom prst="rect">
            <a:avLst/>
          </a:prstGeom>
          <a:solidFill>
            <a:srgbClr val="ededed"/>
          </a:solidFill>
          <a:ln>
            <a:solidFill>
              <a:srgbClr val="e0e0e0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5" name="TextBox 10"/>
          <p:cNvSpPr/>
          <p:nvPr/>
        </p:nvSpPr>
        <p:spPr>
          <a:xfrm>
            <a:off x="978480" y="3401640"/>
            <a:ext cx="709488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onsolas"/>
              </a:rPr>
              <a:t>cd Week_01/Day_04/Lab_Files_Client_Ready</a:t>
            </a:r>
            <a:br>
              <a:rPr sz="1200"/>
            </a:b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onsolas"/>
              </a:rPr>
              <a:t>docker compose up -d</a:t>
            </a:r>
            <a:br>
              <a:rPr sz="1200"/>
            </a:b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onsolas"/>
              </a:rPr>
              <a:t>curl -s http://localhost:8083/connectors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Text 0"/>
          <p:cNvSpPr/>
          <p:nvPr/>
        </p:nvSpPr>
        <p:spPr>
          <a:xfrm>
            <a:off x="457200" y="45720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Lab Steps &amp; Commands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1"/>
          <p:cNvSpPr/>
          <p:nvPr/>
        </p:nvSpPr>
        <p:spPr>
          <a:xfrm>
            <a:off x="457200" y="1188720"/>
            <a:ext cx="8228520" cy="365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onsolas"/>
              </a:rPr>
              <a:t>1. Start the lab stack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onsolas"/>
              </a:rPr>
              <a:t>$ cd Week_01/Day_04/Lab_Files_Client_Ready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onsolas"/>
              </a:rPr>
              <a:t>$ docker compose up -d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onsolas"/>
              </a:rPr>
              <a:t>2. Register the Debezium connector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onsolas"/>
              </a:rPr>
              <a:t>$ curl -s -X POST http://localhost:8083/connectors ...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onsolas"/>
              </a:rPr>
              <a:t>3. Change source data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onsolas"/>
              </a:rPr>
              <a:t>$ docker compose exec -T postgres psql ...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onsolas"/>
              </a:rPr>
              <a:t>4. Observe CDC records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onsolas"/>
              </a:rPr>
              <a:t>$ docker compose exec -T kafka kafka-console-consumer ...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onsolas"/>
              </a:rPr>
              <a:t>Full commands are in the lab guide.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2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Text 0"/>
          <p:cNvSpPr/>
          <p:nvPr/>
        </p:nvSpPr>
        <p:spPr>
          <a:xfrm>
            <a:off x="457200" y="45720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Quiz: Question 1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1"/>
          <p:cNvSpPr/>
          <p:nvPr/>
        </p:nvSpPr>
        <p:spPr>
          <a:xfrm>
            <a:off x="457200" y="1097280"/>
            <a:ext cx="82285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Which CDC method minimizes database load while capturing inserts, updates and deletes in order?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2"/>
          <p:cNvSpPr/>
          <p:nvPr/>
        </p:nvSpPr>
        <p:spPr>
          <a:xfrm>
            <a:off x="457200" y="219456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A. Query‑based polling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3"/>
          <p:cNvSpPr/>
          <p:nvPr/>
        </p:nvSpPr>
        <p:spPr>
          <a:xfrm>
            <a:off x="457200" y="25603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B. Trigger‑based logging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4"/>
          <p:cNvSpPr/>
          <p:nvPr/>
        </p:nvSpPr>
        <p:spPr>
          <a:xfrm>
            <a:off x="457200" y="292608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C. Log‑based streaming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5"/>
          <p:cNvSpPr/>
          <p:nvPr/>
        </p:nvSpPr>
        <p:spPr>
          <a:xfrm>
            <a:off x="457200" y="329184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D. Periodic ETL batch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6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TextBox 1"/>
          <p:cNvSpPr/>
          <p:nvPr/>
        </p:nvSpPr>
        <p:spPr>
          <a:xfrm>
            <a:off x="457200" y="45720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Quiz Question 1: Answer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Box 2"/>
          <p:cNvSpPr/>
          <p:nvPr/>
        </p:nvSpPr>
        <p:spPr>
          <a:xfrm>
            <a:off x="457200" y="1097280"/>
            <a:ext cx="8228520" cy="50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4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Which CDC method minimizes database load while capturing inserts, updates and deletes in order?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800" b="1" u="none" strike="noStrike">
                <a:solidFill>
                  <a:srgbClr val="2e7d32"/>
                </a:solidFill>
                <a:effectLst/>
                <a:uFillTx/>
                <a:latin typeface="Calibri"/>
              </a:rPr>
              <a:t>✓  C. Log-based streaming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Why: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Reads the transaction log (WAL/binlog) — no queries on source tables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Captures all operation types including deletes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Preserves commit order from the transaction log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Query-based polling requires table scans and cannot detect deletes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Trigger-based adds overhead to every write operation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Box 3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rgbClr val="0563c1"/>
                </a:solidFill>
                <a:effectLst/>
                <a:uFillTx/>
                <a:latin typeface="Calibri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Text 0"/>
          <p:cNvSpPr/>
          <p:nvPr/>
        </p:nvSpPr>
        <p:spPr>
          <a:xfrm>
            <a:off x="457200" y="45720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Quiz: Question 2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1"/>
          <p:cNvSpPr/>
          <p:nvPr/>
        </p:nvSpPr>
        <p:spPr>
          <a:xfrm>
            <a:off x="457200" y="1097280"/>
            <a:ext cx="82285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In a Debezium event record, what does the "op" field value "r" indicate?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2"/>
          <p:cNvSpPr/>
          <p:nvPr/>
        </p:nvSpPr>
        <p:spPr>
          <a:xfrm>
            <a:off x="457200" y="219456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A. A delete operation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3"/>
          <p:cNvSpPr/>
          <p:nvPr/>
        </p:nvSpPr>
        <p:spPr>
          <a:xfrm>
            <a:off x="457200" y="25603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B. A snapshot record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4"/>
          <p:cNvSpPr/>
          <p:nvPr/>
        </p:nvSpPr>
        <p:spPr>
          <a:xfrm>
            <a:off x="457200" y="292608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C. An update operation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5"/>
          <p:cNvSpPr/>
          <p:nvPr/>
        </p:nvSpPr>
        <p:spPr>
          <a:xfrm>
            <a:off x="457200" y="329184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D. A heartbeat record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6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TextBox 1"/>
          <p:cNvSpPr/>
          <p:nvPr/>
        </p:nvSpPr>
        <p:spPr>
          <a:xfrm>
            <a:off x="457200" y="45720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Quiz Question 2: Answer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Box 2"/>
          <p:cNvSpPr/>
          <p:nvPr/>
        </p:nvSpPr>
        <p:spPr>
          <a:xfrm>
            <a:off x="457200" y="1097280"/>
            <a:ext cx="8228520" cy="50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4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In a Debezium event record, what does the "op" field value "r" indicate?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800" b="1" u="none" strike="noStrike">
                <a:solidFill>
                  <a:srgbClr val="2e7d32"/>
                </a:solidFill>
                <a:effectLst/>
                <a:uFillTx/>
                <a:latin typeface="Calibri"/>
              </a:rPr>
              <a:t>✓  B. A snapshot record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Explanation: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op='r' stands for READ — the row was captured during an initial snapshot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Snapshot events have before=null and after={full row data}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After the snapshot completes, real-time events use op='c', 'u', 'd', or 't'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Box 3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rgbClr val="0563c1"/>
                </a:solidFill>
                <a:effectLst/>
                <a:uFillTx/>
                <a:latin typeface="Calibri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Text 0"/>
          <p:cNvSpPr/>
          <p:nvPr/>
        </p:nvSpPr>
        <p:spPr>
          <a:xfrm>
            <a:off x="457200" y="45720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Quiz: Question 3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1"/>
          <p:cNvSpPr/>
          <p:nvPr/>
        </p:nvSpPr>
        <p:spPr>
          <a:xfrm>
            <a:off x="457200" y="1097280"/>
            <a:ext cx="82285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Which connector property controls the number of parallel tasks for a Debezium connector?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2"/>
          <p:cNvSpPr/>
          <p:nvPr/>
        </p:nvSpPr>
        <p:spPr>
          <a:xfrm>
            <a:off x="457200" y="219456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A. tasks.max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3"/>
          <p:cNvSpPr/>
          <p:nvPr/>
        </p:nvSpPr>
        <p:spPr>
          <a:xfrm>
            <a:off x="457200" y="25603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B. snapshot.mode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4"/>
          <p:cNvSpPr/>
          <p:nvPr/>
        </p:nvSpPr>
        <p:spPr>
          <a:xfrm>
            <a:off x="457200" y="292608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C. heartbeat.interval.ms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5"/>
          <p:cNvSpPr/>
          <p:nvPr/>
        </p:nvSpPr>
        <p:spPr>
          <a:xfrm>
            <a:off x="457200" y="329184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D. max.batch.size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6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extBox 1"/>
          <p:cNvSpPr/>
          <p:nvPr/>
        </p:nvSpPr>
        <p:spPr>
          <a:xfrm>
            <a:off x="457200" y="45720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Quiz Question 3: Answer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Box 2"/>
          <p:cNvSpPr/>
          <p:nvPr/>
        </p:nvSpPr>
        <p:spPr>
          <a:xfrm>
            <a:off x="457200" y="1097280"/>
            <a:ext cx="8228520" cy="50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4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Which connector property controls the number of parallel tasks?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800" b="1" u="none" strike="noStrike">
                <a:solidFill>
                  <a:srgbClr val="2e7d32"/>
                </a:solidFill>
                <a:effectLst/>
                <a:uFillTx/>
                <a:latin typeface="Calibri"/>
              </a:rPr>
              <a:t>✓  A. tasks.max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Note: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For PostgreSQL connector, tasks.max is always effectively 1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PostgreSQL's logical replication uses a single replication slot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Some other connectors (e.g., MongoDB) can run multiple tasks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snapshot.mode and heartbeat.interval.ms are unrelated to parallelism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Box 3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rgbClr val="0563c1"/>
                </a:solidFill>
                <a:effectLst/>
                <a:uFillTx/>
                <a:latin typeface="Calibri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Text 0"/>
          <p:cNvSpPr/>
          <p:nvPr/>
        </p:nvSpPr>
        <p:spPr>
          <a:xfrm>
            <a:off x="457200" y="45720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Quiz: Question 4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1"/>
          <p:cNvSpPr/>
          <p:nvPr/>
        </p:nvSpPr>
        <p:spPr>
          <a:xfrm>
            <a:off x="457200" y="1097280"/>
            <a:ext cx="82285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How do you request an ad hoc incremental snapshot for selected PostgreSQL tables?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2"/>
          <p:cNvSpPr/>
          <p:nvPr/>
        </p:nvSpPr>
        <p:spPr>
          <a:xfrm>
            <a:off x="457200" y="219456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A. snapshot.mode=never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 3"/>
          <p:cNvSpPr/>
          <p:nvPr/>
        </p:nvSpPr>
        <p:spPr>
          <a:xfrm>
            <a:off x="457200" y="25603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B. incremental.snapshot.enabled=true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4"/>
          <p:cNvSpPr/>
          <p:nvPr/>
        </p:nvSpPr>
        <p:spPr>
          <a:xfrm>
            <a:off x="457200" y="292608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C. snapshot.lock.timeout.ms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5"/>
          <p:cNvSpPr/>
          <p:nvPr/>
        </p:nvSpPr>
        <p:spPr>
          <a:xfrm>
            <a:off x="457200" y="329184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D. topic.rename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6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TextBox 1"/>
          <p:cNvSpPr/>
          <p:nvPr/>
        </p:nvSpPr>
        <p:spPr>
          <a:xfrm>
            <a:off x="457200" y="45720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Quiz Question 4: Answer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Box 2"/>
          <p:cNvSpPr/>
          <p:nvPr/>
        </p:nvSpPr>
        <p:spPr>
          <a:xfrm>
            <a:off x="457200" y="1097280"/>
            <a:ext cx="8228520" cy="50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4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How do you request an ad hoc incremental snapshot?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600" b="1" u="none" strike="noStrike">
                <a:solidFill>
                  <a:srgbClr val="2e7d32"/>
                </a:solidFill>
                <a:effectLst/>
                <a:uFillTx/>
                <a:latin typeface="Calibri"/>
              </a:rPr>
              <a:t>✓  B. Send an execute-snapshot signal via the signal table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How it works: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Configure signal.data.collection in the connector config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Create a signal table: CREATE TABLE debezium_signal (id VARCHAR, type VARCHAR, data VARCHAR);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Insert signal: INSERT INTO debezium_signal VALUES ('snap-1', 'execute-snapshot', '{"data-collections": ["public.customers"], "type": "incremental"}');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•  The connector picks up the signal and snapshots the specified table(s) without stopping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Box 3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rgbClr val="0563c1"/>
                </a:solidFill>
                <a:effectLst/>
                <a:uFillTx/>
                <a:latin typeface="Calibri"/>
              </a:rPr>
              <a:t>[1]  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Text 0"/>
          <p:cNvSpPr/>
          <p:nvPr/>
        </p:nvSpPr>
        <p:spPr>
          <a:xfrm>
            <a:off x="457200" y="45720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Quiz: Question 5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"/>
          <p:cNvSpPr/>
          <p:nvPr/>
        </p:nvSpPr>
        <p:spPr>
          <a:xfrm>
            <a:off x="457200" y="1097280"/>
            <a:ext cx="82285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In Debezium, the term “snapshot” refers to: 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2"/>
          <p:cNvSpPr/>
          <p:nvPr/>
        </p:nvSpPr>
        <p:spPr>
          <a:xfrm>
            <a:off x="457200" y="219456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A. Capturing real-time database changes only 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3"/>
          <p:cNvSpPr/>
          <p:nvPr/>
        </p:nvSpPr>
        <p:spPr>
          <a:xfrm>
            <a:off x="457200" y="25603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B. Capturing the current state of the database at a point in time 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4"/>
          <p:cNvSpPr/>
          <p:nvPr/>
        </p:nvSpPr>
        <p:spPr>
          <a:xfrm>
            <a:off x="457200" y="292608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C. Adds a heartbeat record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5"/>
          <p:cNvSpPr/>
          <p:nvPr/>
        </p:nvSpPr>
        <p:spPr>
          <a:xfrm>
            <a:off x="457200" y="329184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D. A specialized Kafka topic for backups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6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TextBox 1"/>
          <p:cNvSpPr/>
          <p:nvPr/>
        </p:nvSpPr>
        <p:spPr>
          <a:xfrm>
            <a:off x="457200" y="45720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</a:rPr>
              <a:t>Quiz Question 5: Answer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Box 2"/>
          <p:cNvSpPr/>
          <p:nvPr/>
        </p:nvSpPr>
        <p:spPr>
          <a:xfrm>
            <a:off x="457200" y="1097280"/>
            <a:ext cx="8228520" cy="302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In Debezium, the term “snapshot” refers to: 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  <a:tabLst>
                <a:tab algn="l" pos="0"/>
              </a:tabLst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  <a:tabLst>
                <a:tab algn="l" pos="0"/>
              </a:tabLst>
            </a:pPr>
            <a:r>
              <a:rPr lang="en-US" sz="1600" b="1" u="none" strike="noStrike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✓  B. Capturing the current state of the database at a point in time 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  <a:tabLst>
                <a:tab algn="l" pos="0"/>
              </a:tabLst>
            </a:pP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  <a:tabLst>
                <a:tab algn="l" pos="0"/>
              </a:tabLst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Details: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  <a:buClr>
                <a:srgbClr val="333333"/>
              </a:buClr>
              <a:buFont typeface="Arial"/>
              <a:buChar char="•"/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In Debezium, a snapshot is the initial capture of existing data from a database before it starts streaming real-time changes (change data capture or CDC).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  <a:buClr>
                <a:srgbClr val="333333"/>
              </a:buClr>
              <a:buFont typeface="Arial"/>
              <a:buChar char="•"/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When a Debezium connector starts, it typically performs a snapshot phase.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  <a:buClr>
                <a:srgbClr val="333333"/>
              </a:buClr>
              <a:buFont typeface="Arial"/>
              <a:buChar char="•"/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During this phase, it reads the entire current state of the database tables and sends that data to Kafka topics.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914400"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  <a:buClr>
                <a:srgbClr val="333333"/>
              </a:buClr>
              <a:buFont typeface="Arial"/>
              <a:buChar char="•"/>
              <a:tabLst>
                <a:tab algn="l" pos="0"/>
              </a:tabLst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After completing the snapshot, Debezium switches to capturing ongoing changes such as inserts, updates, and deletes.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Box 3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700" b="0" u="none" strike="noStrike">
                <a:solidFill>
                  <a:srgbClr val="0563c1"/>
                </a:solidFill>
                <a:effectLst/>
                <a:uFillTx/>
                <a:latin typeface="Calibri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Text 0"/>
          <p:cNvSpPr/>
          <p:nvPr/>
        </p:nvSpPr>
        <p:spPr>
          <a:xfrm>
            <a:off x="457200" y="45720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Recap &amp; Next Steps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1"/>
          <p:cNvSpPr/>
          <p:nvPr/>
        </p:nvSpPr>
        <p:spPr>
          <a:xfrm>
            <a:off x="457200" y="1097280"/>
            <a:ext cx="8228520" cy="30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On Day 5: We design production ingestion from CDC, clickstream and batch files, then protect downstream consumers with schemas, validation and DLQ patterns.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2"/>
          <p:cNvSpPr/>
          <p:nvPr/>
        </p:nvSpPr>
        <p:spPr>
          <a:xfrm>
            <a:off x="457200" y="6217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2"/>
              </a:rPr>
              <a:t>[2]</a:t>
            </a:r>
            <a:r>
              <a:rPr lang="en-US" sz="700" b="0" u="none" strike="noStrike">
                <a:solidFill>
                  <a:srgbClr val="777777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3"/>
              </a:rPr>
              <a:t>[3]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63</TotalTime>
  <Application>LibreOffice/25.8.6.2$Windows_X86_64 LibreOffice_project/b4b39682cd9868fa725bc664aff94278d315bd04</Application>
  <AppVersion>15.0000</AppVersion>
  <Words>5133</Words>
  <Paragraphs>752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2026-05-26T08:23:50Z</dcterms:created>
  <dc:creator>Walnut Exporter</dc:creator>
  <dc:description/>
  <dc:language>en-IN</dc:language>
  <cp:lastModifiedBy/>
  <dcterms:modified xsi:type="dcterms:W3CDTF">2026-06-04T11:59:18Z</dcterms:modified>
  <cp:revision>3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Office:5</vt:lpwstr>
  </property>
  <property fmtid="{D5CDD505-2E9C-101B-9397-08002B2CF9AE}" pid="3" name="ClassificationContentMarkingFooterText">
    <vt:lpwstr>Sensitivity Label: General</vt:lpwstr>
  </property>
  <property fmtid="{D5CDD505-2E9C-101B-9397-08002B2CF9AE}" pid="4" name="MSIP_Label_4637e5cc-ed1f-4ad6-a881-35c0f1c6f3d8_ActionId">
    <vt:lpwstr>21dce3bd-5d71-427f-810d-644cfe2d259a</vt:lpwstr>
  </property>
  <property fmtid="{D5CDD505-2E9C-101B-9397-08002B2CF9AE}" pid="5" name="MSIP_Label_4637e5cc-ed1f-4ad6-a881-35c0f1c6f3d8_ContentBits">
    <vt:lpwstr>2</vt:lpwstr>
  </property>
  <property fmtid="{D5CDD505-2E9C-101B-9397-08002B2CF9AE}" pid="6" name="MSIP_Label_4637e5cc-ed1f-4ad6-a881-35c0f1c6f3d8_Enabled">
    <vt:lpwstr>true</vt:lpwstr>
  </property>
  <property fmtid="{D5CDD505-2E9C-101B-9397-08002B2CF9AE}" pid="7" name="MSIP_Label_4637e5cc-ed1f-4ad6-a881-35c0f1c6f3d8_Method">
    <vt:lpwstr>Standard</vt:lpwstr>
  </property>
  <property fmtid="{D5CDD505-2E9C-101B-9397-08002B2CF9AE}" pid="8" name="MSIP_Label_4637e5cc-ed1f-4ad6-a881-35c0f1c6f3d8_Name">
    <vt:lpwstr>General</vt:lpwstr>
  </property>
  <property fmtid="{D5CDD505-2E9C-101B-9397-08002B2CF9AE}" pid="9" name="MSIP_Label_4637e5cc-ed1f-4ad6-a881-35c0f1c6f3d8_SetDate">
    <vt:lpwstr>2026-06-03T15:59:30Z</vt:lpwstr>
  </property>
  <property fmtid="{D5CDD505-2E9C-101B-9397-08002B2CF9AE}" pid="10" name="MSIP_Label_4637e5cc-ed1f-4ad6-a881-35c0f1c6f3d8_SiteId">
    <vt:lpwstr>e3cf3c98-a978-465f-8254-9d541eeea73c</vt:lpwstr>
  </property>
  <property fmtid="{D5CDD505-2E9C-101B-9397-08002B2CF9AE}" pid="11" name="MSIP_Label_4637e5cc-ed1f-4ad6-a881-35c0f1c6f3d8_Tag">
    <vt:lpwstr>10, 3, 0, 1</vt:lpwstr>
  </property>
  <property fmtid="{D5CDD505-2E9C-101B-9397-08002B2CF9AE}" pid="12" name="Notes">
    <vt:i4>32</vt:i4>
  </property>
  <property fmtid="{D5CDD505-2E9C-101B-9397-08002B2CF9AE}" pid="13" name="PresentationFormat">
    <vt:lpwstr>On-screen Show (4:3)</vt:lpwstr>
  </property>
  <property fmtid="{D5CDD505-2E9C-101B-9397-08002B2CF9AE}" pid="14" name="Slides">
    <vt:i4>63</vt:i4>
  </property>
</Properties>
</file>