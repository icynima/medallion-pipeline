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6858000" type="screen4x3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47" d="100"/>
          <a:sy n="47" d="100"/>
        </p:scale>
        <p:origin x="14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02FF-98E0-B461-740F-987391E61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B59BD-112F-B3B1-5A49-BB7EA02A1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67157-E6C1-04F1-8439-D45546869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E962F-7176-E3C3-8958-0D43D993B7C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72744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84642-D33C-E562-C907-83A50E391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EE7094-7ECE-A380-6F91-2E34B1559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36C67-6FEA-E4BD-9C5A-BE2D46348D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3FF49-65A9-2161-327E-6D3A9706B07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1698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5B66A-493B-F401-8F48-2810CE52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BB580-4915-BB3C-AC81-049D0E843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7C580D-C067-A658-3F7D-5FB424EFD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9DB4D-3736-DE19-064A-72B5E6928FD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79204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DB199-AC0C-60CC-ED54-1209C3EFB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118913-C138-161D-23F1-7C06E7AD2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58FE7-6223-C481-7655-45E32B59B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92CC7-A8F7-32A4-8994-09AF27414A1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95392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DB557-98DC-01BC-4927-A0863A3A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53288-91C9-5C70-1B91-35D208358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2DF55-29D4-B677-3BFB-B56D8CD59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62021-5E7C-FE83-9318-968AC284EA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714372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F372-E69A-055B-BB18-BF05BAB7C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B3B82E-7D6A-9C64-BC91-1F673BEDC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7DC31F-FB87-7B61-189E-846A35CB7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2279A-D62A-5922-D77F-A2FD49C9C3A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328548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CA21-C2C3-A9E0-DE67-AC4D4A378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544F75-B07B-02AB-6123-229868238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FCF9-8AAD-08D2-8097-1084A52E4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18981-DC33-87AA-1CCC-9726CCCFEDF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28486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670E2-CD9F-5CC1-3924-EDB8A348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6E749-A410-0EE1-8F90-13984C4B4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8A4741-3DAF-08B9-86B0-E5A388C54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D2C5C-C599-562C-9DF1-A9666EC7836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23042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61FD3-8B69-5357-9146-214660559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437434-9B16-67C3-758B-BF3BE5CF2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672D3A-049E-90E2-2941-EF3D977A8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8BE57A-0810-F35F-8314-90912488C6C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345822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2AE39-1343-78A1-FE5D-04A8B7737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3C24A0-77C4-D33A-9A07-985534C98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FD89C-DEAC-2D03-5545-539E6629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079B9-ACB2-F82D-75F3-708D8062C45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3601147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F1C3-039F-D6B4-5409-A43F3E487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5674FA-4E87-80F2-2383-3E49FA272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8D3E3-BD19-3B3D-5D4F-B145F32C7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115CA-E09B-034A-C0AE-2771C7CD0FE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652873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3EAB-B9B7-A534-E191-4E885911D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CA8C17-22FF-33F8-A880-50F7E88B0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6BF54-47F9-D1BB-186C-17565690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8FE2E-E2D9-0AAE-EAE9-999726E874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742587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0832-A791-36F9-9463-58DDA1E7E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F4A3C-6456-8A7C-29EC-2BFC5DBD9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910F9-128F-5F47-8ED5-97A044E9B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B6067-FF56-A882-77D0-AFD53C9C851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595170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7CD9F-B31D-3490-2B2E-687303111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C1A278-B8B1-017C-22E2-6C2D7E44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EC5ED-5B71-AED8-CDD1-FAD32E365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02B31-8D8A-9614-19F7-70E402E6FF3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812759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088E-BAA7-794E-4FCC-1681B66B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C73CC-21E2-6878-0D9B-AD4E5D81F1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65901-2CAD-A5CC-2279-1B286D9BD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B6249-650E-6671-A840-175ADE9DD53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510084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C661C-983F-8D69-85A5-204BF7B74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625A3-25E5-4E08-6B82-35C787915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38E737-B338-BAAA-C789-CFD031D4C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CFFF5-C241-ED2F-25E5-55D513CB269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386702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0406B-DDD8-1768-371F-35EB9DB9B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32114-C23C-F1A0-F9EF-E2D63A4EC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76611-0CCF-AB04-2296-575C67F21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6B27D-F7D0-4BB9-01B0-E480589DBDE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3313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5F4A9-33C4-A4FB-587E-758EE39A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BAB96D-E66F-A57E-4D25-9D35F9CD0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AC07A-23F4-F9EE-8DE5-467E07206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F5067-66E1-23BD-8C2A-BD714D141DC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45021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481DC-FF6F-7C3D-3AD3-190BFF032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3688C-0BDF-E7F1-44F6-B18878DEE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45D43-844E-DE27-8492-5D2F28F5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CB62D-63AC-B787-5916-73B881E5A58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230984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29840-746D-0211-11D3-7561B05BF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0D6ED4-CBC2-88DF-ADD3-4E3452B90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2E5662-141C-4125-A714-CBC6454DA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F23AC-064A-3C13-3664-D8D32C099A8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59575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045B-D6C4-B00E-7274-48B952D38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6E682-9D4A-3938-9BA5-D1FBAD2E8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F7283-35C3-7BF1-8A2F-01BB778E5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8E9C7-503B-F04B-2C55-18145B8E0C5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917290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D326-C75A-7C45-CB02-731A795F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46C53-7B9B-9552-F2EB-EC37A834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F32EF-3295-A3DD-DDE1-DB6B362AB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3FE77-CADE-0A89-877B-5AD9FDC5E23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268281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26E84-5DC2-E2A3-240C-8EE65B3E6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F31433-1D1B-56B6-BFE5-56FDC075B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6275E-7388-DAC6-2F79-41CA917CC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A0067-C37B-D1C7-925E-078992CBC4B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551992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4548E-CE3F-6F44-9B81-46151C01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F1AD3-1D44-4A08-F14C-42FA724040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A13D2-5D5E-7DD1-57AE-0880E8F09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80259-46E8-903F-65D0-0D617A0C23A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90443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D8E3-59E7-CAA4-6DAC-858FD4681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592B6D-4D1C-7265-76FA-8B3C76C3C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DDDC8-9B5E-3D1A-AB4C-7A93C1A4D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33202-EDB3-D58B-54BF-BF7DF9FD53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487506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AB7E7-D14E-EE2F-6844-9E3989F3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801C4-E91B-84E4-083C-EB92CB5B3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9F9DE-591E-5CAB-8793-B16E171BD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05E34-F242-C9BF-F6F3-7E6313576B6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402391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C054D-5197-D436-983C-628784D19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4C30F-FBF9-848F-8674-B081526C1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7FF9E4-405C-5467-A3F5-34365CCA4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8C19D-143F-E8CD-3DAF-98A471CDFF3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6292662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5BACE-52C2-5945-EE96-897D43DFA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F4F25-A171-7A44-BB30-D5ED323BA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B2CE3-83B6-E7C7-D740-F6A619632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4BD835-2011-CB86-BA09-2904F512AF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344679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041A-8760-0676-AA73-A593D55B2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255EEB-68D3-8F5F-AED7-E125DC1D3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90FC1C-C68C-3F11-25E7-8D403E5EA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29751-DA71-21AC-3EEC-FAF67E7CA0B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13503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F0CB4-B02E-84BB-0DE6-099A24B2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101B2E-6BE5-30D6-4532-F863D69694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835058-3184-1CD1-F9BF-3361887C2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07866-1416-16D2-71D0-8ED43819BC0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462973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27F53-A06F-C10A-CF9E-E0ED29E98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C2A71-12AF-F3D9-F2EF-BD06474BE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CE4CD-4860-93EE-2A2C-C706C8F24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D9634-4ABF-38E1-E901-97AB806902E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65872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E0E29-14AE-2B2F-2D5F-7553F422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0DE8A2-631C-AB55-ADD9-778ECE18F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38109-99F5-FD07-176B-090336AE5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3CEAC4-E415-80A7-3C4D-77FED80E548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239134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D968F-792E-18B2-8BEB-942FD609B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D2F704-BD13-DA0D-78EF-90A162EE3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16254F-4238-1461-87A8-F02F53062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50CFC-B272-B5A5-8930-95E4121E9F8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912113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E1C5C-E8E2-43E2-98FB-43AD94D39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8966E-28CD-5565-CDEA-6FAB3A1F1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094CF-DE72-9CE3-AB19-F8D6EA9DC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114E1-C115-05AC-5C23-989E2B15DC7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122204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D77DF-63F1-4655-8785-C832FD529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9BB27-2C67-C455-C351-C90B6B452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52BE9-778F-F91A-3646-96CDECEF7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>
              <a:buNone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E0DF7-A8E6-8AEA-6131-9E37D131D6D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1034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4D7AFF4A-20CE-4990-80C1-C67111F29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FB1B3949-47C5-45CA-B236-66B23311B2A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243599994391698&#8224;L45-L50&#12305;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hyperlink" Target="file:///C:\Users\Gamer\Downloads\Training\Week1\Day%204\&#12304;590905102876471&#8224;L109-L136&#12305;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43599994391698&#8224;L45-L50&#12305;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672344311009396&#8224;L544-L558&#12305;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file:///C:\Users\Gamer\Downloads\Training\Week1\Day%204\&#12304;672344311009396&#8224;L589-L627&#12305;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672344311009396&#8224;L638-L702&#12305;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743847820016450&#8224;L174-L190&#12305;" TargetMode="External"/><Relationship Id="rId4" Type="http://schemas.openxmlformats.org/officeDocument/2006/relationships/hyperlink" Target="file:///C:\Users\Gamer\Downloads\Training\Week1\Day%204\&#12304;743847820016450&#8224;L154-L170&#12305;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Gamer\Downloads\Training\Week1\Day%204\&#12304;672344311009396&#8224;L717-L749&#12305;" TargetMode="External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hyperlink" Target="file:///C:\Users\Gamer\Downloads\Training\Week1\Day%204\&#12304;17352650637092&#8224;L190-L215&#12305;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743847820016450&#8224;L174-L190&#12305;" TargetMode="External"/><Relationship Id="rId4" Type="http://schemas.openxmlformats.org/officeDocument/2006/relationships/hyperlink" Target="file:///C:\Users\Gamer\Downloads\Training\Week1\Day%204\&#12304;743847820016450&#8224;L154-L170&#12305;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160-L205&#12305;" TargetMode="External"/><Relationship Id="rId4" Type="http://schemas.openxmlformats.org/officeDocument/2006/relationships/hyperlink" Target="file:///C:\Users\Gamer\Downloads\Training\Week1\Day%204\&#12304;590905102876471&#8224;L109-L136&#12305;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25194570669191&#8224;L120-L139&#12305;" TargetMode="External"/><Relationship Id="rId4" Type="http://schemas.openxmlformats.org/officeDocument/2006/relationships/hyperlink" Target="file:///C:\Users\Gamer\Downloads\Training\Week1\Day%204\&#12304;901517790178346&#8224;L155-L170&#12305;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67-L287&#12305;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48-L156&#12305;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25194570669191&#8224;L120-L139&#12305;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09-L136&#12305;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743847820016450&#8224;L132-L145&#12305;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Gamer\Downloads\Training\Week1\Day%204\&#12304;25194570669191&#8224;L156-L170&#12305;" TargetMode="External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67-L287&#12305;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77-L411&#12305;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377-L411&#12305;" TargetMode="Externa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5194570669191&#8224;L156-L170&#12305;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18-L258&#12305;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7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Users\Gamer\Downloads\Training\Week1\Day%204\&#12304;590905102876471&#8224;L267-L287&#12305;" TargetMode="External"/><Relationship Id="rId5" Type="http://schemas.openxmlformats.org/officeDocument/2006/relationships/hyperlink" Target="file:///C:\Users\Gamer\Downloads\Training\Week1\Day%204\&#12304;590905102876471&#8224;L218-L258&#12305;" TargetMode="External"/><Relationship Id="rId4" Type="http://schemas.openxmlformats.org/officeDocument/2006/relationships/hyperlink" Target="file:///C:\Users\Gamer\Downloads\Training\Week1\Day%204\&#12304;590905102876471&#8224;L160-L205&#12305;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43599994391698&#8224;L45-L50&#12305;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267-L287&#12305;" TargetMode="External"/><Relationship Id="rId4" Type="http://schemas.openxmlformats.org/officeDocument/2006/relationships/hyperlink" Target="file:///C:\Users\Gamer\Downloads\Training\Week1\Day%204\&#12304;901517790178346&#8224;L122-L149&#12305;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243599994391698&#8224;L45-L50&#12305;" TargetMode="Externa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hyperlink" Target="file:///C:\Users\Gamer\Downloads\Training\Week1\Day%204\&#12304;590905102876471&#8224;L109-L136&#12305;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43599994391698&#8224;L45-L50&#12305;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672344311009396&#8224;L544-L558&#12305;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file:///C:\Users\Gamer\Downloads\Training\Week1\Day%204\&#12304;672344311009396&#8224;L589-L627&#12305;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672344311009396&#8224;L638-L702&#12305;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743847820016450&#8224;L174-L190&#12305;" TargetMode="External"/><Relationship Id="rId4" Type="http://schemas.openxmlformats.org/officeDocument/2006/relationships/hyperlink" Target="file:///C:\Users\Gamer\Downloads\Training\Week1\Day%204\&#12304;743847820016450&#8224;L154-L170&#12305;" TargetMode="Externa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Gamer\Downloads\Training\Week1\Day%204\&#12304;672344311009396&#8224;L717-L749&#12305;" TargetMode="External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hyperlink" Target="file:///C:\Users\Gamer\Downloads\Training\Week1\Day%204\&#12304;17352650637092&#8224;L190-L215&#12305;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743847820016450&#8224;L174-L190&#12305;" TargetMode="External"/><Relationship Id="rId4" Type="http://schemas.openxmlformats.org/officeDocument/2006/relationships/hyperlink" Target="file:///C:\Users\Gamer\Downloads\Training\Week1\Day%204\&#12304;743847820016450&#8224;L154-L170&#12305;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160-L205&#12305;" TargetMode="External"/><Relationship Id="rId4" Type="http://schemas.openxmlformats.org/officeDocument/2006/relationships/hyperlink" Target="file:///C:\Users\Gamer\Downloads\Training\Week1\Day%204\&#12304;590905102876471&#8224;L109-L136&#12305;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25194570669191&#8224;L120-L139&#12305;" TargetMode="External"/><Relationship Id="rId4" Type="http://schemas.openxmlformats.org/officeDocument/2006/relationships/hyperlink" Target="file:///C:\Users\Gamer\Downloads\Training\Week1\Day%204\&#12304;901517790178346&#8224;L155-L170&#12305;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67-L287&#12305;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48-L156&#12305;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25194570669191&#8224;L120-L139&#12305;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09-L136&#12305;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743847820016450&#8224;L132-L145&#12305;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901517790178346&#8224;L122-L149&#12305;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Gamer\Downloads\Training\Week1\Day%204\&#12304;25194570669191&#8224;L156-L170&#12305;" TargetMode="External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67-L287&#12305;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77-L411&#12305;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377-L411&#12305;" TargetMode="Externa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5194570669191&#8224;L156-L170&#12305;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218-L258&#12305;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05-L319&#12305;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160-L205&#12305;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18-L258&#12305;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Gamer\Downloads\Training\Week1\Day%204\&#12304;590905102876471&#8224;L377-L411&#12305;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267-L287&#12305;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743847820016450&#8224;L132-L145&#12305;" TargetMode="External"/><Relationship Id="rId7" Type="http://schemas.openxmlformats.org/officeDocument/2006/relationships/hyperlink" Target="file:///C:\Users\Gamer\Downloads\Training\Week1\Day%204\&#12304;590905102876471&#8224;L305-L319&#12305;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Users\Gamer\Downloads\Training\Week1\Day%204\&#12304;590905102876471&#8224;L267-L287&#12305;" TargetMode="External"/><Relationship Id="rId5" Type="http://schemas.openxmlformats.org/officeDocument/2006/relationships/hyperlink" Target="file:///C:\Users\Gamer\Downloads\Training\Week1\Day%204\&#12304;590905102876471&#8224;L218-L258&#12305;" TargetMode="External"/><Relationship Id="rId4" Type="http://schemas.openxmlformats.org/officeDocument/2006/relationships/hyperlink" Target="file:///C:\Users\Gamer\Downloads\Training\Week1\Day%204\&#12304;590905102876471&#8224;L160-L205&#12305;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Gamer\Downloads\Training\Week1\Day%204\&#12304;243599994391698&#8224;L45-L50&#12305;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C:\Users\Gamer\Downloads\Training\Week1\Day%204\&#12304;590905102876471&#8224;L267-L287&#12305;" TargetMode="External"/><Relationship Id="rId4" Type="http://schemas.openxmlformats.org/officeDocument/2006/relationships/hyperlink" Target="file:///C:\Users\Gamer\Downloads\Training\Week1\Day%204\&#12304;901517790178346&#8224;L122-L149&#12305;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>
            <a:extLst>
              <a:ext uri="{FF2B5EF4-FFF2-40B4-BE49-F238E27FC236}">
                <a16:creationId xmlns:a16="http://schemas.microsoft.com/office/drawing/2014/main" id="{D6BA74BC-0878-4731-AFBF-BDB9CC8502D5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50288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Day 4: Change Data Capture &amp; Debezium</a:t>
            </a:r>
          </a:p>
          <a:p>
            <a:pPr>
              <a:lnSpc>
                <a:spcPct val="100000"/>
              </a:lnSpc>
              <a:buNone/>
            </a:pPr>
            <a:r>
              <a:rPr sz="1400" b="0" i="1" u="none">
                <a:solidFill>
                  <a:srgbClr val="585858"/>
                </a:solidFill>
                <a:latin typeface="Calibri"/>
                <a:ea typeface="Calibri"/>
                <a:cs typeface="Calibri"/>
              </a:rPr>
              <a:t>Modern Data Engineering Series</a:t>
            </a:r>
          </a:p>
        </p:txBody>
      </p:sp>
      <p:pic>
        <p:nvPicPr>
          <p:cNvPr id="11" name="Image 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86400" y="640080"/>
            <a:ext cx="3657240" cy="2742840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07CEC856-C86D-4C09-9C30-3B14674DD1DC}"/>
              </a:ext>
            </a:extLst>
          </p:cNvPr>
          <p:cNvSpPr>
            <a:spLocks noGrp="1"/>
          </p:cNvSpPr>
          <p:nvPr/>
        </p:nvSpPr>
        <p:spPr>
          <a:xfrm>
            <a:off x="457200" y="23774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Understanding CDC fundamentals, Debezium internals, connectors, configuration and hands-on lab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FFC15B66-1CCC-4860-801D-335E1DE0A0C5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54452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83940864-E26F-4D55-A6A4-44BF67D20201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Learning Objectives</a:t>
            </a:r>
          </a:p>
        </p:txBody>
      </p:sp>
      <p:pic>
        <p:nvPicPr>
          <p:cNvPr id="15" name="Image 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188720"/>
            <a:ext cx="319680" cy="319680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66C02E29-BA0A-4F8A-AD22-3FA74BCBAA7A}"/>
              </a:ext>
            </a:extLst>
          </p:cNvPr>
          <p:cNvSpPr>
            <a:spLocks noGrp="1"/>
          </p:cNvSpPr>
          <p:nvPr/>
        </p:nvSpPr>
        <p:spPr>
          <a:xfrm>
            <a:off x="822960" y="12344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Define CDC and its benefits</a:t>
            </a:r>
          </a:p>
        </p:txBody>
      </p:sp>
      <p:pic>
        <p:nvPicPr>
          <p:cNvPr id="17" name="Image 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7200" y="1645920"/>
            <a:ext cx="319680" cy="319680"/>
          </a:xfrm>
          <a:prstGeom prst="rect">
            <a:avLst/>
          </a:prstGeom>
        </p:spPr>
      </p:pic>
      <p:sp>
        <p:nvSpPr>
          <p:cNvPr id="18" name="Text 2">
            <a:extLst>
              <a:ext uri="{FF2B5EF4-FFF2-40B4-BE49-F238E27FC236}">
                <a16:creationId xmlns:a16="http://schemas.microsoft.com/office/drawing/2014/main" id="{CDFED95C-DBC8-4C73-9E90-89C557138687}"/>
              </a:ext>
            </a:extLst>
          </p:cNvPr>
          <p:cNvSpPr>
            <a:spLocks noGrp="1"/>
          </p:cNvSpPr>
          <p:nvPr/>
        </p:nvSpPr>
        <p:spPr>
          <a:xfrm>
            <a:off x="822960" y="16916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Compare CDC methods and patterns</a:t>
            </a:r>
          </a:p>
        </p:txBody>
      </p:sp>
      <p:pic>
        <p:nvPicPr>
          <p:cNvPr id="19" name="Image 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200" y="2103120"/>
            <a:ext cx="319680" cy="319680"/>
          </a:xfrm>
          <a:prstGeom prst="rect">
            <a:avLst/>
          </a:prstGeom>
        </p:spPr>
      </p:pic>
      <p:sp>
        <p:nvSpPr>
          <p:cNvPr id="20" name="Text 3">
            <a:extLst>
              <a:ext uri="{FF2B5EF4-FFF2-40B4-BE49-F238E27FC236}">
                <a16:creationId xmlns:a16="http://schemas.microsoft.com/office/drawing/2014/main" id="{ECBF3540-75C4-476F-A6E0-90943B7448CE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Explain Debezium architecture &amp; event structure</a:t>
            </a:r>
          </a:p>
        </p:txBody>
      </p:sp>
      <p:pic>
        <p:nvPicPr>
          <p:cNvPr id="21" name="Imag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7200" y="2560320"/>
            <a:ext cx="319680" cy="319680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9098C819-A5C9-4433-AADA-70E05B1CBF6F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Explore connector landscape and deployment</a:t>
            </a:r>
          </a:p>
        </p:txBody>
      </p:sp>
      <p:pic>
        <p:nvPicPr>
          <p:cNvPr id="23" name="Image 4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57200" y="3017520"/>
            <a:ext cx="319680" cy="319680"/>
          </a:xfrm>
          <a:prstGeom prst="rect">
            <a:avLst/>
          </a:prstGeom>
        </p:spPr>
      </p:pic>
      <p:sp>
        <p:nvSpPr>
          <p:cNvPr id="24" name="Text 5">
            <a:extLst>
              <a:ext uri="{FF2B5EF4-FFF2-40B4-BE49-F238E27FC236}">
                <a16:creationId xmlns:a16="http://schemas.microsoft.com/office/drawing/2014/main" id="{0E64E3FC-79E3-4904-8053-A72BD14989B2}"/>
              </a:ext>
            </a:extLst>
          </p:cNvPr>
          <p:cNvSpPr>
            <a:spLocks noGrp="1"/>
          </p:cNvSpPr>
          <p:nvPr/>
        </p:nvSpPr>
        <p:spPr>
          <a:xfrm>
            <a:off x="822960" y="30632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Configure connectors via Kafka Connect</a:t>
            </a:r>
          </a:p>
        </p:txBody>
      </p:sp>
      <p:pic>
        <p:nvPicPr>
          <p:cNvPr id="25" name="Image 5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57200" y="3474720"/>
            <a:ext cx="319680" cy="319680"/>
          </a:xfrm>
          <a:prstGeom prst="rect">
            <a:avLst/>
          </a:prstGeom>
        </p:spPr>
      </p:pic>
      <p:sp>
        <p:nvSpPr>
          <p:cNvPr id="26" name="Text 6">
            <a:extLst>
              <a:ext uri="{FF2B5EF4-FFF2-40B4-BE49-F238E27FC236}">
                <a16:creationId xmlns:a16="http://schemas.microsoft.com/office/drawing/2014/main" id="{485E8A9F-6AE0-48F3-807B-793BDF003B0B}"/>
              </a:ext>
            </a:extLst>
          </p:cNvPr>
          <p:cNvSpPr>
            <a:spLocks noGrp="1"/>
          </p:cNvSpPr>
          <p:nvPr/>
        </p:nvSpPr>
        <p:spPr>
          <a:xfrm>
            <a:off x="822960" y="35204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Capture changes hands-on &amp; analyze events</a:t>
            </a: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0BE337B5-E70B-4614-A51D-C0766AC843DE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9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6138078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>
            <a:extLst>
              <a:ext uri="{FF2B5EF4-FFF2-40B4-BE49-F238E27FC236}">
                <a16:creationId xmlns:a16="http://schemas.microsoft.com/office/drawing/2014/main" id="{3D6A29A2-18C1-4A2C-AB4F-465B183735F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6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80026309-9E00-4AC0-9AE6-AA218352D760}"/>
              </a:ext>
            </a:extLst>
          </p:cNvPr>
          <p:cNvSpPr>
            <a:spLocks noGrp="1"/>
          </p:cNvSpPr>
          <p:nvPr/>
        </p:nvSpPr>
        <p:spPr>
          <a:xfrm>
            <a:off x="360000" y="128016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504B8B10-0355-4B10-B332-2BA892159D4C}"/>
              </a:ext>
            </a:extLst>
          </p:cNvPr>
          <p:cNvSpPr>
            <a:spLocks noGrp="1"/>
          </p:cNvSpPr>
          <p:nvPr/>
        </p:nvSpPr>
        <p:spPr>
          <a:xfrm>
            <a:off x="277200" y="1280160"/>
            <a:ext cx="6228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09:00</a:t>
            </a:r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1412CCB-0688-4512-9684-0DE7DBBA1021}"/>
              </a:ext>
            </a:extLst>
          </p:cNvPr>
          <p:cNvSpPr>
            <a:spLocks noGrp="1"/>
          </p:cNvSpPr>
          <p:nvPr/>
        </p:nvSpPr>
        <p:spPr>
          <a:xfrm>
            <a:off x="914400" y="13258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Fundamentals</a:t>
            </a:r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58306A65-46BC-491A-9A60-1F089D808346}"/>
              </a:ext>
            </a:extLst>
          </p:cNvPr>
          <p:cNvSpPr>
            <a:spLocks noGrp="1"/>
          </p:cNvSpPr>
          <p:nvPr/>
        </p:nvSpPr>
        <p:spPr>
          <a:xfrm>
            <a:off x="360000" y="182880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EC2EE891-BCA8-4DFC-8ED0-F91FDF9B7ABF}"/>
              </a:ext>
            </a:extLst>
          </p:cNvPr>
          <p:cNvSpPr>
            <a:spLocks noGrp="1"/>
          </p:cNvSpPr>
          <p:nvPr/>
        </p:nvSpPr>
        <p:spPr>
          <a:xfrm>
            <a:off x="360000" y="182880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10:30</a:t>
            </a:r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AC5144D-9437-483B-88D0-48F1430D523F}"/>
              </a:ext>
            </a:extLst>
          </p:cNvPr>
          <p:cNvSpPr>
            <a:spLocks noGrp="1"/>
          </p:cNvSpPr>
          <p:nvPr/>
        </p:nvSpPr>
        <p:spPr>
          <a:xfrm>
            <a:off x="914400" y="187452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Architecture</a:t>
            </a:r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B2C298AB-54F6-4B8E-AA2F-AFCC2F1257C7}"/>
              </a:ext>
            </a:extLst>
          </p:cNvPr>
          <p:cNvSpPr>
            <a:spLocks noGrp="1"/>
          </p:cNvSpPr>
          <p:nvPr/>
        </p:nvSpPr>
        <p:spPr>
          <a:xfrm>
            <a:off x="360000" y="237744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0C113AEE-A91E-47E9-84AB-FB6415DB8407}"/>
              </a:ext>
            </a:extLst>
          </p:cNvPr>
          <p:cNvSpPr>
            <a:spLocks noGrp="1"/>
          </p:cNvSpPr>
          <p:nvPr/>
        </p:nvSpPr>
        <p:spPr>
          <a:xfrm>
            <a:off x="360000" y="237744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12:00</a:t>
            </a: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C2CFC16-4A5D-4A0A-A5E1-68C1E8EC7425}"/>
              </a:ext>
            </a:extLst>
          </p:cNvPr>
          <p:cNvSpPr>
            <a:spLocks noGrp="1"/>
          </p:cNvSpPr>
          <p:nvPr/>
        </p:nvSpPr>
        <p:spPr>
          <a:xfrm>
            <a:off x="914400" y="242316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Connector Landscape</a:t>
            </a: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B9D26468-E06B-4421-8964-1DE0626BD4EA}"/>
              </a:ext>
            </a:extLst>
          </p:cNvPr>
          <p:cNvSpPr>
            <a:spLocks noGrp="1"/>
          </p:cNvSpPr>
          <p:nvPr/>
        </p:nvSpPr>
        <p:spPr>
          <a:xfrm>
            <a:off x="360000" y="292608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4A1BD1D0-9044-4F6C-B2BD-EF2A60C4DA93}"/>
              </a:ext>
            </a:extLst>
          </p:cNvPr>
          <p:cNvSpPr>
            <a:spLocks noGrp="1"/>
          </p:cNvSpPr>
          <p:nvPr/>
        </p:nvSpPr>
        <p:spPr>
          <a:xfrm>
            <a:off x="360000" y="292608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13:30</a:t>
            </a:r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5EE15B4F-7760-429A-AB19-73B6F8CB21C9}"/>
              </a:ext>
            </a:extLst>
          </p:cNvPr>
          <p:cNvSpPr>
            <a:spLocks noGrp="1"/>
          </p:cNvSpPr>
          <p:nvPr/>
        </p:nvSpPr>
        <p:spPr>
          <a:xfrm>
            <a:off x="914400" y="297180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Connector Configuration</a:t>
            </a:r>
          </a:p>
        </p:txBody>
      </p:sp>
      <p:sp>
        <p:nvSpPr>
          <p:cNvPr id="41" name="Shape 13">
            <a:extLst>
              <a:ext uri="{FF2B5EF4-FFF2-40B4-BE49-F238E27FC236}">
                <a16:creationId xmlns:a16="http://schemas.microsoft.com/office/drawing/2014/main" id="{9B84A081-5802-4B50-9B9B-9EAE50AB7F02}"/>
              </a:ext>
            </a:extLst>
          </p:cNvPr>
          <p:cNvSpPr>
            <a:spLocks noGrp="1"/>
          </p:cNvSpPr>
          <p:nvPr/>
        </p:nvSpPr>
        <p:spPr>
          <a:xfrm>
            <a:off x="360000" y="347472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44E86626-461E-46FA-9821-3D284A31664D}"/>
              </a:ext>
            </a:extLst>
          </p:cNvPr>
          <p:cNvSpPr>
            <a:spLocks noGrp="1"/>
          </p:cNvSpPr>
          <p:nvPr/>
        </p:nvSpPr>
        <p:spPr>
          <a:xfrm>
            <a:off x="360000" y="347472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15:00</a:t>
            </a: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F3997987-08F5-480B-A357-821F837CC16E}"/>
              </a:ext>
            </a:extLst>
          </p:cNvPr>
          <p:cNvSpPr>
            <a:spLocks noGrp="1"/>
          </p:cNvSpPr>
          <p:nvPr/>
        </p:nvSpPr>
        <p:spPr>
          <a:xfrm>
            <a:off x="914400" y="352044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Hands-On Lab</a:t>
            </a:r>
          </a:p>
        </p:txBody>
      </p:sp>
      <p:sp>
        <p:nvSpPr>
          <p:cNvPr id="44" name="Shape 16">
            <a:extLst>
              <a:ext uri="{FF2B5EF4-FFF2-40B4-BE49-F238E27FC236}">
                <a16:creationId xmlns:a16="http://schemas.microsoft.com/office/drawing/2014/main" id="{23BD30CE-FADC-4F5D-814D-8AD3F1A45FFA}"/>
              </a:ext>
            </a:extLst>
          </p:cNvPr>
          <p:cNvSpPr>
            <a:spLocks noGrp="1"/>
          </p:cNvSpPr>
          <p:nvPr/>
        </p:nvSpPr>
        <p:spPr>
          <a:xfrm>
            <a:off x="360000" y="402336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B8059D0E-A463-459B-A76C-4F438DB0230F}"/>
              </a:ext>
            </a:extLst>
          </p:cNvPr>
          <p:cNvSpPr>
            <a:spLocks noGrp="1"/>
          </p:cNvSpPr>
          <p:nvPr/>
        </p:nvSpPr>
        <p:spPr>
          <a:xfrm>
            <a:off x="360000" y="402336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16:30</a:t>
            </a:r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4748A936-651D-46E4-9341-9623571E1ECA}"/>
              </a:ext>
            </a:extLst>
          </p:cNvPr>
          <p:cNvSpPr>
            <a:spLocks noGrp="1"/>
          </p:cNvSpPr>
          <p:nvPr/>
        </p:nvSpPr>
        <p:spPr>
          <a:xfrm>
            <a:off x="914400" y="40690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 &amp; Recap</a:t>
            </a:r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0193EC3D-0CD3-4D9C-B531-38D9C580F752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878493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>
            <a:extLst>
              <a:ext uri="{FF2B5EF4-FFF2-40B4-BE49-F238E27FC236}">
                <a16:creationId xmlns:a16="http://schemas.microsoft.com/office/drawing/2014/main" id="{4F9A10D4-D8B4-4F02-8114-68ED72FDF15E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What is Change Data Capture?</a:t>
            </a:r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ADF38833-508A-47C8-9E00-0377EB214521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484596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is a design pattern that records row-level data changes (inserts, updates, deletes) and propagates them as events in real time.</a:t>
            </a:r>
          </a:p>
          <a:p>
            <a:endParaRPr sz="1400" b="1" u="none">
              <a:solidFill>
                <a:srgbClr val="002060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Why CDC?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Eliminates heavy batch ETL jobs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Enables real-time data synchronization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Supports microservices &amp; event-driven architectures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Guarantees data consistency and ordering</a:t>
            </a:r>
          </a:p>
        </p:txBody>
      </p:sp>
      <p:sp>
        <p:nvSpPr>
          <p:cNvPr id="50" name="Text 2">
            <a:extLst>
              <a:ext uri="{FF2B5EF4-FFF2-40B4-BE49-F238E27FC236}">
                <a16:creationId xmlns:a16="http://schemas.microsoft.com/office/drawing/2014/main" id="{EC4556D9-D73E-46D3-BA51-174165EED02E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076000" y="556200"/>
            <a:ext cx="3564000" cy="232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08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>
            <a:extLst>
              <a:ext uri="{FF2B5EF4-FFF2-40B4-BE49-F238E27FC236}">
                <a16:creationId xmlns:a16="http://schemas.microsoft.com/office/drawing/2014/main" id="{8DC441C7-F0AA-4926-814B-D498CE6712B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Patterns: Push vs Pull</a:t>
            </a:r>
          </a:p>
        </p:txBody>
      </p:sp>
      <p:sp>
        <p:nvSpPr>
          <p:cNvPr id="53" name="Shape 1">
            <a:extLst>
              <a:ext uri="{FF2B5EF4-FFF2-40B4-BE49-F238E27FC236}">
                <a16:creationId xmlns:a16="http://schemas.microsoft.com/office/drawing/2014/main" id="{A6CBB750-7A5F-496D-BC4B-A5A0E503CBDD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4114440" cy="201132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 w="12700">
            <a:solidFill>
              <a:srgbClr val="C5E1A5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54" name="Text 2">
            <a:extLst>
              <a:ext uri="{FF2B5EF4-FFF2-40B4-BE49-F238E27FC236}">
                <a16:creationId xmlns:a16="http://schemas.microsoft.com/office/drawing/2014/main" id="{5B19B419-4E1D-4367-B837-0EDB0C663230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402300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Push (Log-based)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Database writes change events to a log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CDC tool streams events to consumers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Low overhead, preserves order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Requires privileges on DB logs</a:t>
            </a:r>
          </a:p>
        </p:txBody>
      </p:sp>
      <p:sp>
        <p:nvSpPr>
          <p:cNvPr id="55" name="Shape 3">
            <a:extLst>
              <a:ext uri="{FF2B5EF4-FFF2-40B4-BE49-F238E27FC236}">
                <a16:creationId xmlns:a16="http://schemas.microsoft.com/office/drawing/2014/main" id="{18D457A1-9AF9-48BD-986F-8E0E0C3A77B3}"/>
              </a:ext>
            </a:extLst>
          </p:cNvPr>
          <p:cNvSpPr>
            <a:spLocks noGrp="1"/>
          </p:cNvSpPr>
          <p:nvPr/>
        </p:nvSpPr>
        <p:spPr>
          <a:xfrm>
            <a:off x="4572000" y="1097280"/>
            <a:ext cx="4114440" cy="201132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 w="12700">
            <a:solidFill>
              <a:srgbClr val="FFCC8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56" name="Text 4">
            <a:extLst>
              <a:ext uri="{FF2B5EF4-FFF2-40B4-BE49-F238E27FC236}">
                <a16:creationId xmlns:a16="http://schemas.microsoft.com/office/drawing/2014/main" id="{E10BE008-D18D-4825-8AA6-9CB387682776}"/>
              </a:ext>
            </a:extLst>
          </p:cNvPr>
          <p:cNvSpPr>
            <a:spLocks noGrp="1"/>
          </p:cNvSpPr>
          <p:nvPr/>
        </p:nvSpPr>
        <p:spPr>
          <a:xfrm>
            <a:off x="4617720" y="1143000"/>
            <a:ext cx="402300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Pull (Query/Trigger)</a:t>
            </a:r>
          </a:p>
          <a:p>
            <a:r>
              <a:rPr sz="1200" b="0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• Periodic queries or triggers detect changes</a:t>
            </a:r>
          </a:p>
          <a:p>
            <a:r>
              <a:rPr sz="1200" b="0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• Simple to implement, works on any DB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• Higher overhead, cannot capture deletes</a:t>
            </a:r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5EC54DCA-B376-460E-9697-53C8847DAA26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33251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>
            <a:extLst>
              <a:ext uri="{FF2B5EF4-FFF2-40B4-BE49-F238E27FC236}">
                <a16:creationId xmlns:a16="http://schemas.microsoft.com/office/drawing/2014/main" id="{3DA27883-689F-485F-8DBE-DCB6D7E79DB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Methods &amp; Trade‑offs</a:t>
            </a:r>
          </a:p>
        </p:txBody>
      </p:sp>
      <p:graphicFrame>
        <p:nvGraphicFramePr>
          <p:cNvPr id="59" name="Table 0"/>
          <p:cNvGraphicFramePr/>
          <p:nvPr/>
        </p:nvGraphicFramePr>
        <p:xfrm>
          <a:off x="457200" y="1188720"/>
          <a:ext cx="8229240" cy="2011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Method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How it works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Query‑based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Periodically query tables using timestamp or version columns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Easy to implement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Cannot detect deletes; heavy load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Trigger‑based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Database triggers write changes to audit tables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Captures inserts, updates, deletes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Requires schema changes; overhead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Log‑based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Read database transaction logs (WAL/binlog)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Low overhead, preserves order, captures deletes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Requires privileges; log formats vary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 1">
            <a:extLst>
              <a:ext uri="{FF2B5EF4-FFF2-40B4-BE49-F238E27FC236}">
                <a16:creationId xmlns:a16="http://schemas.microsoft.com/office/drawing/2014/main" id="{1D198C6D-7E63-4599-912D-B8F1C4184789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476146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>
            <a:extLst>
              <a:ext uri="{FF2B5EF4-FFF2-40B4-BE49-F238E27FC236}">
                <a16:creationId xmlns:a16="http://schemas.microsoft.com/office/drawing/2014/main" id="{8FD69E03-038A-4829-8FEA-B9C8FABE07F0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Benefits &amp; Use Cases</a:t>
            </a:r>
          </a:p>
        </p:txBody>
      </p:sp>
      <p:pic>
        <p:nvPicPr>
          <p:cNvPr id="62" name="Image 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188720"/>
            <a:ext cx="319680" cy="319680"/>
          </a:xfrm>
          <a:prstGeom prst="rect">
            <a:avLst/>
          </a:prstGeom>
        </p:spPr>
      </p:pic>
      <p:sp>
        <p:nvSpPr>
          <p:cNvPr id="63" name="Text 1">
            <a:extLst>
              <a:ext uri="{FF2B5EF4-FFF2-40B4-BE49-F238E27FC236}">
                <a16:creationId xmlns:a16="http://schemas.microsoft.com/office/drawing/2014/main" id="{29EA23C5-245A-4B35-8499-DCFE0DF7D6B0}"/>
              </a:ext>
            </a:extLst>
          </p:cNvPr>
          <p:cNvSpPr>
            <a:spLocks noGrp="1"/>
          </p:cNvSpPr>
          <p:nvPr/>
        </p:nvSpPr>
        <p:spPr>
          <a:xfrm>
            <a:off x="822960" y="12344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Real‑time analytics &amp; reporting</a:t>
            </a:r>
          </a:p>
        </p:txBody>
      </p:sp>
      <p:pic>
        <p:nvPicPr>
          <p:cNvPr id="64" name="Image 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7200" y="1645920"/>
            <a:ext cx="319680" cy="319680"/>
          </a:xfrm>
          <a:prstGeom prst="rect">
            <a:avLst/>
          </a:prstGeom>
        </p:spPr>
      </p:pic>
      <p:sp>
        <p:nvSpPr>
          <p:cNvPr id="65" name="Text 2">
            <a:extLst>
              <a:ext uri="{FF2B5EF4-FFF2-40B4-BE49-F238E27FC236}">
                <a16:creationId xmlns:a16="http://schemas.microsoft.com/office/drawing/2014/main" id="{8E4CEAF9-B938-449A-88F0-9D79A6D94CF3}"/>
              </a:ext>
            </a:extLst>
          </p:cNvPr>
          <p:cNvSpPr>
            <a:spLocks noGrp="1"/>
          </p:cNvSpPr>
          <p:nvPr/>
        </p:nvSpPr>
        <p:spPr>
          <a:xfrm>
            <a:off x="822960" y="16916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Microservices data synchronization</a:t>
            </a:r>
          </a:p>
        </p:txBody>
      </p:sp>
      <p:pic>
        <p:nvPicPr>
          <p:cNvPr id="66" name="Image 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200" y="2103120"/>
            <a:ext cx="319680" cy="319680"/>
          </a:xfrm>
          <a:prstGeom prst="rect">
            <a:avLst/>
          </a:prstGeom>
        </p:spPr>
      </p:pic>
      <p:sp>
        <p:nvSpPr>
          <p:cNvPr id="67" name="Text 3">
            <a:extLst>
              <a:ext uri="{FF2B5EF4-FFF2-40B4-BE49-F238E27FC236}">
                <a16:creationId xmlns:a16="http://schemas.microsoft.com/office/drawing/2014/main" id="{3BAEAA77-3121-491F-9F04-F7153E6AD177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Cloud migration &amp; replication</a:t>
            </a:r>
          </a:p>
        </p:txBody>
      </p:sp>
      <p:pic>
        <p:nvPicPr>
          <p:cNvPr id="68" name="Imag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7200" y="2560320"/>
            <a:ext cx="319680" cy="319680"/>
          </a:xfrm>
          <a:prstGeom prst="rect">
            <a:avLst/>
          </a:prstGeom>
        </p:spPr>
      </p:pic>
      <p:sp>
        <p:nvSpPr>
          <p:cNvPr id="69" name="Text 4">
            <a:extLst>
              <a:ext uri="{FF2B5EF4-FFF2-40B4-BE49-F238E27FC236}">
                <a16:creationId xmlns:a16="http://schemas.microsoft.com/office/drawing/2014/main" id="{FDEF385A-A7B6-4328-BF20-3C744C388F67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Audit logging &amp; compliance</a:t>
            </a:r>
          </a:p>
        </p:txBody>
      </p:sp>
      <p:pic>
        <p:nvPicPr>
          <p:cNvPr id="70" name="Image 4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1188720"/>
            <a:ext cx="273960" cy="273960"/>
          </a:xfrm>
          <a:prstGeom prst="rect">
            <a:avLst/>
          </a:prstGeom>
        </p:spPr>
      </p:pic>
      <p:sp>
        <p:nvSpPr>
          <p:cNvPr id="71" name="Text 5">
            <a:extLst>
              <a:ext uri="{FF2B5EF4-FFF2-40B4-BE49-F238E27FC236}">
                <a16:creationId xmlns:a16="http://schemas.microsoft.com/office/drawing/2014/main" id="{F91B7E46-D4BA-4A6B-A013-3DEA8FA7EB64}"/>
              </a:ext>
            </a:extLst>
          </p:cNvPr>
          <p:cNvSpPr>
            <a:spLocks noGrp="1"/>
          </p:cNvSpPr>
          <p:nvPr/>
        </p:nvSpPr>
        <p:spPr>
          <a:xfrm>
            <a:off x="5852160" y="12344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Real‑time analytics and dashboards</a:t>
            </a:r>
          </a:p>
        </p:txBody>
      </p:sp>
      <p:pic>
        <p:nvPicPr>
          <p:cNvPr id="72" name="Image 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1645920"/>
            <a:ext cx="273960" cy="273960"/>
          </a:xfrm>
          <a:prstGeom prst="rect">
            <a:avLst/>
          </a:prstGeom>
        </p:spPr>
      </p:pic>
      <p:sp>
        <p:nvSpPr>
          <p:cNvPr id="73" name="Text 6">
            <a:extLst>
              <a:ext uri="{FF2B5EF4-FFF2-40B4-BE49-F238E27FC236}">
                <a16:creationId xmlns:a16="http://schemas.microsoft.com/office/drawing/2014/main" id="{C40F3942-E490-4645-9A4F-1443E4CE20D3}"/>
              </a:ext>
            </a:extLst>
          </p:cNvPr>
          <p:cNvSpPr>
            <a:spLocks noGrp="1"/>
          </p:cNvSpPr>
          <p:nvPr/>
        </p:nvSpPr>
        <p:spPr>
          <a:xfrm>
            <a:off x="5852160" y="16916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Cache invalidation &amp; search index sync</a:t>
            </a:r>
          </a:p>
        </p:txBody>
      </p:sp>
      <p:pic>
        <p:nvPicPr>
          <p:cNvPr id="74" name="Image 6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2103120"/>
            <a:ext cx="273960" cy="273960"/>
          </a:xfrm>
          <a:prstGeom prst="rect">
            <a:avLst/>
          </a:prstGeom>
        </p:spPr>
      </p:pic>
      <p:sp>
        <p:nvSpPr>
          <p:cNvPr id="75" name="Text 7">
            <a:extLst>
              <a:ext uri="{FF2B5EF4-FFF2-40B4-BE49-F238E27FC236}">
                <a16:creationId xmlns:a16="http://schemas.microsoft.com/office/drawing/2014/main" id="{177A1755-4150-45E9-A7A9-0E28E6564D34}"/>
              </a:ext>
            </a:extLst>
          </p:cNvPr>
          <p:cNvSpPr>
            <a:spLocks noGrp="1"/>
          </p:cNvSpPr>
          <p:nvPr/>
        </p:nvSpPr>
        <p:spPr>
          <a:xfrm>
            <a:off x="5852160" y="21488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Microservices integration &amp; outbox pattern</a:t>
            </a:r>
          </a:p>
        </p:txBody>
      </p:sp>
      <p:pic>
        <p:nvPicPr>
          <p:cNvPr id="76" name="Image 7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2560320"/>
            <a:ext cx="273960" cy="273960"/>
          </a:xfrm>
          <a:prstGeom prst="rect">
            <a:avLst/>
          </a:prstGeom>
        </p:spPr>
      </p:pic>
      <p:sp>
        <p:nvSpPr>
          <p:cNvPr id="77" name="Text 8">
            <a:extLst>
              <a:ext uri="{FF2B5EF4-FFF2-40B4-BE49-F238E27FC236}">
                <a16:creationId xmlns:a16="http://schemas.microsoft.com/office/drawing/2014/main" id="{9D14F3A1-ED02-47B8-86CB-E84AB4F4C557}"/>
              </a:ext>
            </a:extLst>
          </p:cNvPr>
          <p:cNvSpPr>
            <a:spLocks noGrp="1"/>
          </p:cNvSpPr>
          <p:nvPr/>
        </p:nvSpPr>
        <p:spPr>
          <a:xfrm>
            <a:off x="5852160" y="26060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Zero‑downtime migrations</a:t>
            </a:r>
          </a:p>
        </p:txBody>
      </p:sp>
      <p:sp>
        <p:nvSpPr>
          <p:cNvPr id="78" name="Text 9">
            <a:extLst>
              <a:ext uri="{FF2B5EF4-FFF2-40B4-BE49-F238E27FC236}">
                <a16:creationId xmlns:a16="http://schemas.microsoft.com/office/drawing/2014/main" id="{39E20D5A-C809-40B1-B233-6519D9F9AF0C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8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9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43768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>
            <a:extLst>
              <a:ext uri="{FF2B5EF4-FFF2-40B4-BE49-F238E27FC236}">
                <a16:creationId xmlns:a16="http://schemas.microsoft.com/office/drawing/2014/main" id="{82F34700-C4D4-4E4E-9388-E8344CEBCE1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1: Identify the CDC Method</a:t>
            </a:r>
          </a:p>
        </p:txBody>
      </p:sp>
      <p:sp>
        <p:nvSpPr>
          <p:cNvPr id="80" name="Text 1">
            <a:extLst>
              <a:ext uri="{FF2B5EF4-FFF2-40B4-BE49-F238E27FC236}">
                <a16:creationId xmlns:a16="http://schemas.microsoft.com/office/drawing/2014/main" id="{4D57C989-A279-49D7-9AF3-9243694EC118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You will see three scenarios below. For each, decide whether it is best implemented using a query‑based, trigger‑based, or log‑based CDC method.</a:t>
            </a:r>
          </a:p>
        </p:txBody>
      </p:sp>
      <p:sp>
        <p:nvSpPr>
          <p:cNvPr id="81" name="Text 2">
            <a:extLst>
              <a:ext uri="{FF2B5EF4-FFF2-40B4-BE49-F238E27FC236}">
                <a16:creationId xmlns:a16="http://schemas.microsoft.com/office/drawing/2014/main" id="{B43BECF8-01E8-4B66-B9F4-CCB8DE25031D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A legacy database cannot be modified, but you need to capture deletes.</a:t>
            </a: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8150AD44-D30E-4C21-A096-CB5BD246C4E7}"/>
              </a:ext>
            </a:extLst>
          </p:cNvPr>
          <p:cNvSpPr>
            <a:spLocks noGrp="1"/>
          </p:cNvSpPr>
          <p:nvPr/>
        </p:nvSpPr>
        <p:spPr>
          <a:xfrm>
            <a:off x="548640" y="2468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You only need to track inserts and updates for a small table once a day.</a:t>
            </a:r>
          </a:p>
        </p:txBody>
      </p:sp>
      <p:sp>
        <p:nvSpPr>
          <p:cNvPr id="83" name="Text 4">
            <a:extLst>
              <a:ext uri="{FF2B5EF4-FFF2-40B4-BE49-F238E27FC236}">
                <a16:creationId xmlns:a16="http://schemas.microsoft.com/office/drawing/2014/main" id="{40E60394-2C3A-4E9B-82B1-C559E90FEC89}"/>
              </a:ext>
            </a:extLst>
          </p:cNvPr>
          <p:cNvSpPr>
            <a:spLocks noGrp="1"/>
          </p:cNvSpPr>
          <p:nvPr/>
        </p:nvSpPr>
        <p:spPr>
          <a:xfrm>
            <a:off x="548640" y="2926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A high‑volume transactional database where ordering of events matters.</a:t>
            </a:r>
          </a:p>
        </p:txBody>
      </p:sp>
      <p:sp>
        <p:nvSpPr>
          <p:cNvPr id="84" name="Text 5">
            <a:extLst>
              <a:ext uri="{FF2B5EF4-FFF2-40B4-BE49-F238E27FC236}">
                <a16:creationId xmlns:a16="http://schemas.microsoft.com/office/drawing/2014/main" id="{717F71AD-4A26-404C-99E3-4B5C4DD041C2}"/>
              </a:ext>
            </a:extLst>
          </p:cNvPr>
          <p:cNvSpPr>
            <a:spLocks noGrp="1"/>
          </p:cNvSpPr>
          <p:nvPr/>
        </p:nvSpPr>
        <p:spPr>
          <a:xfrm>
            <a:off x="457200" y="36576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with your group and share your answers!</a:t>
            </a:r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19B3C7DC-4793-4792-B346-1C4513BA70F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496571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>
            <a:extLst>
              <a:ext uri="{FF2B5EF4-FFF2-40B4-BE49-F238E27FC236}">
                <a16:creationId xmlns:a16="http://schemas.microsoft.com/office/drawing/2014/main" id="{F23C65FD-FCE3-45A9-9C0D-2C00491FEEFE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Overview &amp; Pipeline</a:t>
            </a:r>
          </a:p>
        </p:txBody>
      </p:sp>
      <p:sp>
        <p:nvSpPr>
          <p:cNvPr id="87" name="Text 1">
            <a:extLst>
              <a:ext uri="{FF2B5EF4-FFF2-40B4-BE49-F238E27FC236}">
                <a16:creationId xmlns:a16="http://schemas.microsoft.com/office/drawing/2014/main" id="{7704DCC4-6401-4D30-BF4D-71ED91ABCFA8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is an open‑source platform that captures row‑level changes from databases and streams them via Kafka.</a:t>
            </a:r>
          </a:p>
          <a:p>
            <a:endParaRPr sz="1400" b="1" u="none">
              <a:solidFill>
                <a:srgbClr val="002060"/>
              </a:solidFill>
              <a:latin typeface="Calibri"/>
              <a:ea typeface="Calibri"/>
              <a:cs typeface="Calibri"/>
            </a:endParaRP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It reads transaction logs (WAL/binlog) instead of querying tables, producing events with consistent ordering.</a:t>
            </a:r>
          </a:p>
          <a:p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Events contain before/after values, metadata and operation type, enabling downstream services to react.</a:t>
            </a:r>
          </a:p>
        </p:txBody>
      </p:sp>
      <p:pic>
        <p:nvPicPr>
          <p:cNvPr id="88" name="Image 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77840" y="1097280"/>
            <a:ext cx="3200040" cy="2285640"/>
          </a:xfrm>
          <a:prstGeom prst="rect">
            <a:avLst/>
          </a:prstGeom>
        </p:spPr>
      </p:pic>
      <p:sp>
        <p:nvSpPr>
          <p:cNvPr id="89" name="Text 2">
            <a:extLst>
              <a:ext uri="{FF2B5EF4-FFF2-40B4-BE49-F238E27FC236}">
                <a16:creationId xmlns:a16="http://schemas.microsoft.com/office/drawing/2014/main" id="{BCF8EC6C-1097-4F0E-8AF1-60F2473F7EF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896620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>
            <a:extLst>
              <a:ext uri="{FF2B5EF4-FFF2-40B4-BE49-F238E27FC236}">
                <a16:creationId xmlns:a16="http://schemas.microsoft.com/office/drawing/2014/main" id="{D4DB6285-D4D4-420D-8A5B-0342F5E53F3F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Architecture Diagram</a:t>
            </a:r>
          </a:p>
        </p:txBody>
      </p:sp>
      <p:sp>
        <p:nvSpPr>
          <p:cNvPr id="91" name="Text 1">
            <a:extLst>
              <a:ext uri="{FF2B5EF4-FFF2-40B4-BE49-F238E27FC236}">
                <a16:creationId xmlns:a16="http://schemas.microsoft.com/office/drawing/2014/main" id="{19328BE0-F05B-4DA7-AEC2-04A8A2F992E4}"/>
              </a:ext>
            </a:extLst>
          </p:cNvPr>
          <p:cNvSpPr>
            <a:spLocks noGrp="1"/>
          </p:cNvSpPr>
          <p:nvPr/>
        </p:nvSpPr>
        <p:spPr>
          <a:xfrm>
            <a:off x="5220000" y="1188720"/>
            <a:ext cx="39236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1. Source connectors tail transaction logs from DBs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2. Kafka Connect executes connectors &amp; persists offsets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3. Events written to Kafka topics (one per table or pattern)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4. Sink connectors &amp; consumers deliver events to targets</a:t>
            </a:r>
          </a:p>
        </p:txBody>
      </p:sp>
      <p:sp>
        <p:nvSpPr>
          <p:cNvPr id="92" name="Text 2">
            <a:extLst>
              <a:ext uri="{FF2B5EF4-FFF2-40B4-BE49-F238E27FC236}">
                <a16:creationId xmlns:a16="http://schemas.microsoft.com/office/drawing/2014/main" id="{5FC3AF18-5FF9-476F-AB9E-9A103DD8AC0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rcRect r="-204" b="2728"/>
          <a:stretch/>
        </p:blipFill>
        <p:spPr>
          <a:xfrm>
            <a:off x="72000" y="1188720"/>
            <a:ext cx="5039640" cy="223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430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>
            <a:extLst>
              <a:ext uri="{FF2B5EF4-FFF2-40B4-BE49-F238E27FC236}">
                <a16:creationId xmlns:a16="http://schemas.microsoft.com/office/drawing/2014/main" id="{22C1BE17-68B7-4A1E-AF37-7E4143E92037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Deployment Options &amp; Server</a:t>
            </a:r>
          </a:p>
        </p:txBody>
      </p:sp>
      <p:pic>
        <p:nvPicPr>
          <p:cNvPr id="95" name="Image 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097280"/>
            <a:ext cx="4388760" cy="2377080"/>
          </a:xfrm>
          <a:prstGeom prst="rect">
            <a:avLst/>
          </a:prstGeom>
        </p:spPr>
      </p:pic>
      <p:sp>
        <p:nvSpPr>
          <p:cNvPr id="96" name="Text 1">
            <a:extLst>
              <a:ext uri="{FF2B5EF4-FFF2-40B4-BE49-F238E27FC236}">
                <a16:creationId xmlns:a16="http://schemas.microsoft.com/office/drawing/2014/main" id="{3D842F90-71E9-4787-A5D2-947470BB5632}"/>
              </a:ext>
            </a:extLst>
          </p:cNvPr>
          <p:cNvSpPr>
            <a:spLocks noGrp="1"/>
          </p:cNvSpPr>
          <p:nvPr/>
        </p:nvSpPr>
        <p:spPr>
          <a:xfrm>
            <a:off x="4937760" y="1097280"/>
            <a:ext cx="411444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Server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Streams events to other messaging systems (Kinesis, Pub/Sub, Pulsar)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Deployment Options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Embedded in application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Standalone server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Kafka Connect (enterprise use cases)</a:t>
            </a:r>
          </a:p>
        </p:txBody>
      </p:sp>
      <p:sp>
        <p:nvSpPr>
          <p:cNvPr id="97" name="Text 2">
            <a:extLst>
              <a:ext uri="{FF2B5EF4-FFF2-40B4-BE49-F238E27FC236}">
                <a16:creationId xmlns:a16="http://schemas.microsoft.com/office/drawing/2014/main" id="{1E9DBB63-C70F-4370-914C-10892C16F64D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402839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>
            <a:extLst>
              <a:ext uri="{FF2B5EF4-FFF2-40B4-BE49-F238E27FC236}">
                <a16:creationId xmlns:a16="http://schemas.microsoft.com/office/drawing/2014/main" id="{01B3F838-709D-454F-9FD0-B19AB36BDF48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Events &amp; Snapshot Modes</a:t>
            </a:r>
          </a:p>
        </p:txBody>
      </p:sp>
      <p:sp>
        <p:nvSpPr>
          <p:cNvPr id="99" name="Text 1">
            <a:extLst>
              <a:ext uri="{FF2B5EF4-FFF2-40B4-BE49-F238E27FC236}">
                <a16:creationId xmlns:a16="http://schemas.microsoft.com/office/drawing/2014/main" id="{02899CA9-6404-483F-89E5-B2B2DDE94A93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4297320" cy="228564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"before": { "id": 1, "name": "Alice"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"after": { "id": 1, "name": "Alicia"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"source": { "db": "inventory", "table": "customers"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"op": "u",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"ts_ms": 1680023456789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0" name="Text 2">
            <a:extLst>
              <a:ext uri="{FF2B5EF4-FFF2-40B4-BE49-F238E27FC236}">
                <a16:creationId xmlns:a16="http://schemas.microsoft.com/office/drawing/2014/main" id="{6F4AFE3E-91C4-4D0E-86A9-4B982D4A3261}"/>
              </a:ext>
            </a:extLst>
          </p:cNvPr>
          <p:cNvSpPr>
            <a:spLocks noGrp="1"/>
          </p:cNvSpPr>
          <p:nvPr/>
        </p:nvSpPr>
        <p:spPr>
          <a:xfrm>
            <a:off x="5029200" y="1188720"/>
            <a:ext cx="41144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Event Fields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before / after: row state around the commit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source: database, table and log position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op: r=snapshot, c=create, u=update, d=delete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ts_ms: connector processing timestamp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Snapshot Behaviour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initial: baseline snapshot only when no stored offset exists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no_data: skip table snapshot and stream new log changes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incremental: initiated later through a Debezium signal while streaming continues</a:t>
            </a:r>
          </a:p>
        </p:txBody>
      </p:sp>
      <p:sp>
        <p:nvSpPr>
          <p:cNvPr id="101" name="Text 3">
            <a:extLst>
              <a:ext uri="{FF2B5EF4-FFF2-40B4-BE49-F238E27FC236}">
                <a16:creationId xmlns:a16="http://schemas.microsoft.com/office/drawing/2014/main" id="{121D0268-38E6-4F99-84D1-32FE8F1A1F8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759970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>
            <a:extLst>
              <a:ext uri="{FF2B5EF4-FFF2-40B4-BE49-F238E27FC236}">
                <a16:creationId xmlns:a16="http://schemas.microsoft.com/office/drawing/2014/main" id="{55566136-7B92-483C-B752-4ED8830D6DDD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Durability &amp; Fault Tolerance</a:t>
            </a:r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93C67850-1CC3-426A-8395-F88CB84CB7FA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Kafka Connect stores connector offsets so Debezium can resume after restart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 restart can redeliver records around recovery; downstream writes should be idempotent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Heartbeats help advance WAL positions during quiet tables</a:t>
            </a:r>
          </a:p>
        </p:txBody>
      </p:sp>
      <p:sp>
        <p:nvSpPr>
          <p:cNvPr id="104" name="Text 2">
            <a:extLst>
              <a:ext uri="{FF2B5EF4-FFF2-40B4-BE49-F238E27FC236}">
                <a16:creationId xmlns:a16="http://schemas.microsoft.com/office/drawing/2014/main" id="{A6B61D53-A87F-4AAF-ABE7-0865C64032CC}"/>
              </a:ext>
            </a:extLst>
          </p:cNvPr>
          <p:cNvSpPr>
            <a:spLocks noGrp="1"/>
          </p:cNvSpPr>
          <p:nvPr/>
        </p:nvSpPr>
        <p:spPr>
          <a:xfrm>
            <a:off x="5120640" y="1188720"/>
            <a:ext cx="384012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Initial snapshot records use op=r; subsequent committed changes stream from WAL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Incremental snapshots run in chunks when triggered through signaling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Monitor connector status, lag, slot health and failed tasks</a:t>
            </a:r>
          </a:p>
        </p:txBody>
      </p:sp>
      <p:sp>
        <p:nvSpPr>
          <p:cNvPr id="105" name="Text 3">
            <a:extLst>
              <a:ext uri="{FF2B5EF4-FFF2-40B4-BE49-F238E27FC236}">
                <a16:creationId xmlns:a16="http://schemas.microsoft.com/office/drawing/2014/main" id="{E78090DC-877B-467F-837A-5BC5EA1F12C5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927494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>
            <a:extLst>
              <a:ext uri="{FF2B5EF4-FFF2-40B4-BE49-F238E27FC236}">
                <a16:creationId xmlns:a16="http://schemas.microsoft.com/office/drawing/2014/main" id="{1DF56B6E-9E07-427E-A449-047A10511713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2: Decoding an Event</a:t>
            </a:r>
          </a:p>
        </p:txBody>
      </p:sp>
      <p:sp>
        <p:nvSpPr>
          <p:cNvPr id="107" name="Text 1">
            <a:extLst>
              <a:ext uri="{FF2B5EF4-FFF2-40B4-BE49-F238E27FC236}">
                <a16:creationId xmlns:a16="http://schemas.microsoft.com/office/drawing/2014/main" id="{CA1793BB-8AE8-41C0-B052-244AEBE76FB0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Examine the following event JSON and answer: what operation occurred, and which fields changed?</a:t>
            </a:r>
          </a:p>
          <a:p>
            <a:pPr>
              <a:lnSpc>
                <a:spcPct val="100000"/>
              </a:lnSpc>
              <a:buNone/>
            </a:pPr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Text 2">
            <a:extLst>
              <a:ext uri="{FF2B5EF4-FFF2-40B4-BE49-F238E27FC236}">
                <a16:creationId xmlns:a16="http://schemas.microsoft.com/office/drawing/2014/main" id="{2A41AE1F-9C70-4338-A1D3-663BE475B1E1}"/>
              </a:ext>
            </a:extLst>
          </p:cNvPr>
          <p:cNvSpPr>
            <a:spLocks noGrp="1"/>
          </p:cNvSpPr>
          <p:nvPr/>
        </p:nvSpPr>
        <p:spPr>
          <a:xfrm>
            <a:off x="457200" y="1920240"/>
            <a:ext cx="4571640" cy="210276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"before": { "id": 3, "balance": 200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"after": { "id": 3, "balance": 250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"source": { "db": "bank", "table": "accounts"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"op": "u",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"ts_ms": 1680023459999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9" name="Text 3">
            <a:extLst>
              <a:ext uri="{FF2B5EF4-FFF2-40B4-BE49-F238E27FC236}">
                <a16:creationId xmlns:a16="http://schemas.microsoft.com/office/drawing/2014/main" id="{732F67B6-DEF7-4E24-A05A-48EABDA1420A}"/>
              </a:ext>
            </a:extLst>
          </p:cNvPr>
          <p:cNvSpPr>
            <a:spLocks noGrp="1"/>
          </p:cNvSpPr>
          <p:nvPr/>
        </p:nvSpPr>
        <p:spPr>
          <a:xfrm>
            <a:off x="5303520" y="1920240"/>
            <a:ext cx="32000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with your partner and share your findings.</a:t>
            </a:r>
          </a:p>
        </p:txBody>
      </p:sp>
      <p:sp>
        <p:nvSpPr>
          <p:cNvPr id="110" name="Text 4">
            <a:extLst>
              <a:ext uri="{FF2B5EF4-FFF2-40B4-BE49-F238E27FC236}">
                <a16:creationId xmlns:a16="http://schemas.microsoft.com/office/drawing/2014/main" id="{C067EBB4-AC65-454D-9B76-D37A279C7780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014725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>
            <a:extLst>
              <a:ext uri="{FF2B5EF4-FFF2-40B4-BE49-F238E27FC236}">
                <a16:creationId xmlns:a16="http://schemas.microsoft.com/office/drawing/2014/main" id="{32FFCA69-1AE7-44BD-8DCE-1DAD9257F174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Connector Landscape</a:t>
            </a:r>
          </a:p>
        </p:txBody>
      </p:sp>
      <p:sp>
        <p:nvSpPr>
          <p:cNvPr id="112" name="Shape 1">
            <a:extLst>
              <a:ext uri="{FF2B5EF4-FFF2-40B4-BE49-F238E27FC236}">
                <a16:creationId xmlns:a16="http://schemas.microsoft.com/office/drawing/2014/main" id="{9B01319F-26AA-4E7C-814D-E87113D8C6FE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FBE9E7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3" name="Text 2">
            <a:extLst>
              <a:ext uri="{FF2B5EF4-FFF2-40B4-BE49-F238E27FC236}">
                <a16:creationId xmlns:a16="http://schemas.microsoft.com/office/drawing/2014/main" id="{5E3B2FA5-8817-4ACA-8421-439341F82E68}"/>
              </a:ext>
            </a:extLst>
          </p:cNvPr>
          <p:cNvSpPr>
            <a:spLocks noGrp="1"/>
          </p:cNvSpPr>
          <p:nvPr/>
        </p:nvSpPr>
        <p:spPr>
          <a:xfrm>
            <a:off x="548640" y="137160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MySQL: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Reads MySQL binlog; supports GTID and TTL; needs replica user</a:t>
            </a:r>
          </a:p>
        </p:txBody>
      </p:sp>
      <p:sp>
        <p:nvSpPr>
          <p:cNvPr id="114" name="Shape 3">
            <a:extLst>
              <a:ext uri="{FF2B5EF4-FFF2-40B4-BE49-F238E27FC236}">
                <a16:creationId xmlns:a16="http://schemas.microsoft.com/office/drawing/2014/main" id="{A9940D0D-E1FE-4E90-AB16-087B631C8942}"/>
              </a:ext>
            </a:extLst>
          </p:cNvPr>
          <p:cNvSpPr>
            <a:spLocks noGrp="1"/>
          </p:cNvSpPr>
          <p:nvPr/>
        </p:nvSpPr>
        <p:spPr>
          <a:xfrm>
            <a:off x="457200" y="178308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E8EAF6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5" name="Text 4">
            <a:extLst>
              <a:ext uri="{FF2B5EF4-FFF2-40B4-BE49-F238E27FC236}">
                <a16:creationId xmlns:a16="http://schemas.microsoft.com/office/drawing/2014/main" id="{D9E05212-4C6E-428F-94D3-71E07C6584FE}"/>
              </a:ext>
            </a:extLst>
          </p:cNvPr>
          <p:cNvSpPr>
            <a:spLocks noGrp="1"/>
          </p:cNvSpPr>
          <p:nvPr/>
        </p:nvSpPr>
        <p:spPr>
          <a:xfrm>
            <a:off x="548640" y="187452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PostgreSQL: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Uses logical replication (WAL); supports slot &amp; publication</a:t>
            </a:r>
          </a:p>
        </p:txBody>
      </p:sp>
      <p:sp>
        <p:nvSpPr>
          <p:cNvPr id="116" name="Shape 5">
            <a:extLst>
              <a:ext uri="{FF2B5EF4-FFF2-40B4-BE49-F238E27FC236}">
                <a16:creationId xmlns:a16="http://schemas.microsoft.com/office/drawing/2014/main" id="{0D53FBB1-65A0-4EFD-B792-2B366694FD79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FFFDE7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7" name="Text 6">
            <a:extLst>
              <a:ext uri="{FF2B5EF4-FFF2-40B4-BE49-F238E27FC236}">
                <a16:creationId xmlns:a16="http://schemas.microsoft.com/office/drawing/2014/main" id="{B9327120-9304-4EEE-9CFD-0827B020394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SQL Server: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Uses SQL Server CDC; requires enabling CDC on tables</a:t>
            </a:r>
          </a:p>
        </p:txBody>
      </p:sp>
      <p:sp>
        <p:nvSpPr>
          <p:cNvPr id="118" name="Shape 7">
            <a:extLst>
              <a:ext uri="{FF2B5EF4-FFF2-40B4-BE49-F238E27FC236}">
                <a16:creationId xmlns:a16="http://schemas.microsoft.com/office/drawing/2014/main" id="{349BB1E4-4119-4DEA-A1FC-DF30B72E2A19}"/>
              </a:ext>
            </a:extLst>
          </p:cNvPr>
          <p:cNvSpPr>
            <a:spLocks noGrp="1"/>
          </p:cNvSpPr>
          <p:nvPr/>
        </p:nvSpPr>
        <p:spPr>
          <a:xfrm>
            <a:off x="457200" y="278892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9" name="Text 8">
            <a:extLst>
              <a:ext uri="{FF2B5EF4-FFF2-40B4-BE49-F238E27FC236}">
                <a16:creationId xmlns:a16="http://schemas.microsoft.com/office/drawing/2014/main" id="{15108FE1-4E87-4492-9C9A-807156A0EF76}"/>
              </a:ext>
            </a:extLst>
          </p:cNvPr>
          <p:cNvSpPr>
            <a:spLocks noGrp="1"/>
          </p:cNvSpPr>
          <p:nvPr/>
        </p:nvSpPr>
        <p:spPr>
          <a:xfrm>
            <a:off x="548640" y="288036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Oracle: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Uses LogMiner; container or library; additional license</a:t>
            </a:r>
          </a:p>
        </p:txBody>
      </p:sp>
      <p:sp>
        <p:nvSpPr>
          <p:cNvPr id="120" name="Shape 9">
            <a:extLst>
              <a:ext uri="{FF2B5EF4-FFF2-40B4-BE49-F238E27FC236}">
                <a16:creationId xmlns:a16="http://schemas.microsoft.com/office/drawing/2014/main" id="{3FFCF0E0-821E-48BB-8144-41C96445F839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F3E5F5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21" name="Text 10">
            <a:extLst>
              <a:ext uri="{FF2B5EF4-FFF2-40B4-BE49-F238E27FC236}">
                <a16:creationId xmlns:a16="http://schemas.microsoft.com/office/drawing/2014/main" id="{62DA122D-A92B-4299-AB87-FC65F577D5C2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MongoDB: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Tails the Oplog; supports change streams; no schema</a:t>
            </a:r>
          </a:p>
        </p:txBody>
      </p:sp>
      <p:sp>
        <p:nvSpPr>
          <p:cNvPr id="122" name="Text 11">
            <a:extLst>
              <a:ext uri="{FF2B5EF4-FFF2-40B4-BE49-F238E27FC236}">
                <a16:creationId xmlns:a16="http://schemas.microsoft.com/office/drawing/2014/main" id="{C3BB0428-6843-4F0C-A303-F0ACE433583C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54086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>
            <a:extLst>
              <a:ext uri="{FF2B5EF4-FFF2-40B4-BE49-F238E27FC236}">
                <a16:creationId xmlns:a16="http://schemas.microsoft.com/office/drawing/2014/main" id="{1DB7896D-C4F8-4F76-A67C-B8FD035519BB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MySQL &amp; PostgreSQL Connectors</a:t>
            </a:r>
          </a:p>
        </p:txBody>
      </p:sp>
      <p:sp>
        <p:nvSpPr>
          <p:cNvPr id="124" name="Shape 1">
            <a:extLst>
              <a:ext uri="{FF2B5EF4-FFF2-40B4-BE49-F238E27FC236}">
                <a16:creationId xmlns:a16="http://schemas.microsoft.com/office/drawing/2014/main" id="{62FB6806-11F0-44E0-B645-D102F9D4A8AC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4114440" cy="21942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25" name="Text 2">
            <a:extLst>
              <a:ext uri="{FF2B5EF4-FFF2-40B4-BE49-F238E27FC236}">
                <a16:creationId xmlns:a16="http://schemas.microsoft.com/office/drawing/2014/main" id="{1858E3EA-0C8C-4D9E-8877-D2AA00643BC0}"/>
              </a:ext>
            </a:extLst>
          </p:cNvPr>
          <p:cNvSpPr>
            <a:spLocks noGrp="1"/>
          </p:cNvSpPr>
          <p:nvPr/>
        </p:nvSpPr>
        <p:spPr>
          <a:xfrm>
            <a:off x="548640" y="1188720"/>
            <a:ext cx="3931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MySQL Connector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Tails the MySQL binlog (row/statement/mixed mode)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Supports GTID, failover, timezone handling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Requires replication user &amp; binlog format ROW</a:t>
            </a:r>
          </a:p>
        </p:txBody>
      </p:sp>
      <p:sp>
        <p:nvSpPr>
          <p:cNvPr id="126" name="Shape 3">
            <a:extLst>
              <a:ext uri="{FF2B5EF4-FFF2-40B4-BE49-F238E27FC236}">
                <a16:creationId xmlns:a16="http://schemas.microsoft.com/office/drawing/2014/main" id="{714AFBF6-3B4A-488C-90D2-AF7B783F916A}"/>
              </a:ext>
            </a:extLst>
          </p:cNvPr>
          <p:cNvSpPr>
            <a:spLocks noGrp="1"/>
          </p:cNvSpPr>
          <p:nvPr/>
        </p:nvSpPr>
        <p:spPr>
          <a:xfrm>
            <a:off x="4572000" y="1097280"/>
            <a:ext cx="4114440" cy="21942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27" name="Text 4">
            <a:extLst>
              <a:ext uri="{FF2B5EF4-FFF2-40B4-BE49-F238E27FC236}">
                <a16:creationId xmlns:a16="http://schemas.microsoft.com/office/drawing/2014/main" id="{AEC833F2-B810-457E-8753-15F286C1BDAB}"/>
              </a:ext>
            </a:extLst>
          </p:cNvPr>
          <p:cNvSpPr>
            <a:spLocks noGrp="1"/>
          </p:cNvSpPr>
          <p:nvPr/>
        </p:nvSpPr>
        <p:spPr>
          <a:xfrm>
            <a:off x="4663440" y="1188720"/>
            <a:ext cx="3931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PostgreSQL Connector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Uses logical replication publications &amp; slots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Requires slot &amp; publication privileges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Supports incremental snapshots &amp; table filtering</a:t>
            </a:r>
          </a:p>
        </p:txBody>
      </p:sp>
      <p:sp>
        <p:nvSpPr>
          <p:cNvPr id="128" name="Text 5">
            <a:extLst>
              <a:ext uri="{FF2B5EF4-FFF2-40B4-BE49-F238E27FC236}">
                <a16:creationId xmlns:a16="http://schemas.microsoft.com/office/drawing/2014/main" id="{6D44F178-9BB3-4237-A67E-4EFB4DA3A710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117244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>
            <a:extLst>
              <a:ext uri="{FF2B5EF4-FFF2-40B4-BE49-F238E27FC236}">
                <a16:creationId xmlns:a16="http://schemas.microsoft.com/office/drawing/2014/main" id="{AC611D98-3827-470E-ADDF-5B7FF5BEC7D3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Other Database Connectors</a:t>
            </a:r>
          </a:p>
        </p:txBody>
      </p:sp>
      <p:sp>
        <p:nvSpPr>
          <p:cNvPr id="130" name="Text 1">
            <a:extLst>
              <a:ext uri="{FF2B5EF4-FFF2-40B4-BE49-F238E27FC236}">
                <a16:creationId xmlns:a16="http://schemas.microsoft.com/office/drawing/2014/main" id="{F0672147-13A4-4404-BC7F-5FD85335C4A7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SQL Server: Reads CDC tables, requires enabling CDC on each table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Oracle: Uses LogMiner and Mining server, supports RAC/ASM; licensing considerations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MongoDB: Tails the Oplog or Change Streams for replica sets and sharded clusters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Db2, Vitess: Support transaction log capture with similar semantics</a:t>
            </a:r>
          </a:p>
          <a:p>
            <a:pPr>
              <a:lnSpc>
                <a:spcPct val="100000"/>
              </a:lnSpc>
              <a:buNone/>
            </a:pPr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" name="Text 2">
            <a:extLst>
              <a:ext uri="{FF2B5EF4-FFF2-40B4-BE49-F238E27FC236}">
                <a16:creationId xmlns:a16="http://schemas.microsoft.com/office/drawing/2014/main" id="{80BA8B4A-F4A6-460A-A69A-CCD37B944841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052391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>
            <a:extLst>
              <a:ext uri="{FF2B5EF4-FFF2-40B4-BE49-F238E27FC236}">
                <a16:creationId xmlns:a16="http://schemas.microsoft.com/office/drawing/2014/main" id="{B7D0BB30-14E1-4026-8EEA-C7638E1D0784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Sink Connectors &amp; Transforms</a:t>
            </a:r>
          </a:p>
        </p:txBody>
      </p:sp>
      <p:sp>
        <p:nvSpPr>
          <p:cNvPr id="133" name="Text 1">
            <a:extLst>
              <a:ext uri="{FF2B5EF4-FFF2-40B4-BE49-F238E27FC236}">
                <a16:creationId xmlns:a16="http://schemas.microsoft.com/office/drawing/2014/main" id="{101CF108-12F9-4399-8CBF-E9315CDAF2EB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Sink connectors deliver events to Elasticsearch, BigQuery, S3, Kinesis, etc.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Single Message Transforms (SMT) modify records: ExtractNewRecordState, UnwrapFromEnvelope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Topic routing transforms rename topics based on table or schema name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 topics emit periodic messages to maintain offset progress</a:t>
            </a:r>
          </a:p>
        </p:txBody>
      </p:sp>
      <p:sp>
        <p:nvSpPr>
          <p:cNvPr id="134" name="Text 2">
            <a:extLst>
              <a:ext uri="{FF2B5EF4-FFF2-40B4-BE49-F238E27FC236}">
                <a16:creationId xmlns:a16="http://schemas.microsoft.com/office/drawing/2014/main" id="{A2C6BD9E-E9E3-404F-BEB6-F0B670A4686A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95762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>
            <a:extLst>
              <a:ext uri="{FF2B5EF4-FFF2-40B4-BE49-F238E27FC236}">
                <a16:creationId xmlns:a16="http://schemas.microsoft.com/office/drawing/2014/main" id="{C5BCD3AC-40A2-4A44-BB40-EE358A163A80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Advantages &amp; Limitations</a:t>
            </a:r>
          </a:p>
        </p:txBody>
      </p:sp>
      <p:sp>
        <p:nvSpPr>
          <p:cNvPr id="136" name="Shape 1">
            <a:extLst>
              <a:ext uri="{FF2B5EF4-FFF2-40B4-BE49-F238E27FC236}">
                <a16:creationId xmlns:a16="http://schemas.microsoft.com/office/drawing/2014/main" id="{B14C2CAA-39D0-4A70-9F79-B49F00910A8F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3931560" cy="2468520"/>
          </a:xfrm>
          <a:prstGeom prst="roundRect">
            <a:avLst>
              <a:gd name="adj" fmla="val 3704"/>
            </a:avLst>
          </a:prstGeom>
          <a:solidFill>
            <a:srgbClr val="E8F5E9"/>
          </a:solidFill>
          <a:ln w="12700">
            <a:solidFill>
              <a:srgbClr val="C8E6C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F8A132A1-F79A-4C2D-B4F9-4627092BFA70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384012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Pros</a:t>
            </a:r>
          </a:p>
          <a:p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Log-based capture is efficient &amp; consistent</a:t>
            </a:r>
          </a:p>
          <a:p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Supports snapshots &amp; incremental snapshots</a:t>
            </a:r>
          </a:p>
          <a:p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Broad ecosystem of connectors &amp; SMT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Compatible with Kafka Connect &amp; KRaft</a:t>
            </a:r>
          </a:p>
        </p:txBody>
      </p:sp>
      <p:sp>
        <p:nvSpPr>
          <p:cNvPr id="138" name="Shape 3">
            <a:extLst>
              <a:ext uri="{FF2B5EF4-FFF2-40B4-BE49-F238E27FC236}">
                <a16:creationId xmlns:a16="http://schemas.microsoft.com/office/drawing/2014/main" id="{B4532AA3-F731-4CA4-9524-97DC4A7B19A4}"/>
              </a:ext>
            </a:extLst>
          </p:cNvPr>
          <p:cNvSpPr>
            <a:spLocks noGrp="1"/>
          </p:cNvSpPr>
          <p:nvPr/>
        </p:nvSpPr>
        <p:spPr>
          <a:xfrm>
            <a:off x="4572000" y="1097280"/>
            <a:ext cx="3931560" cy="2468520"/>
          </a:xfrm>
          <a:prstGeom prst="roundRect">
            <a:avLst>
              <a:gd name="adj" fmla="val 3704"/>
            </a:avLst>
          </a:prstGeom>
          <a:solidFill>
            <a:srgbClr val="FFEBEE"/>
          </a:solidFill>
          <a:ln w="12700">
            <a:solidFill>
              <a:srgbClr val="FFCDD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88D033A-0E1D-4A19-919A-C40659BDA8E6}"/>
              </a:ext>
            </a:extLst>
          </p:cNvPr>
          <p:cNvSpPr>
            <a:spLocks noGrp="1"/>
          </p:cNvSpPr>
          <p:nvPr/>
        </p:nvSpPr>
        <p:spPr>
          <a:xfrm>
            <a:off x="4617720" y="1143000"/>
            <a:ext cx="384012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Cons</a:t>
            </a:r>
          </a:p>
          <a:p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Requires DB log privileges (binlog/WAL)</a:t>
            </a:r>
          </a:p>
          <a:p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Heavy snapshots on large tables</a:t>
            </a:r>
          </a:p>
          <a:p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Limited DDL support; schema changes may break connectors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Complexity of deployment &amp; tuning</a:t>
            </a:r>
          </a:p>
        </p:txBody>
      </p:sp>
      <p:sp>
        <p:nvSpPr>
          <p:cNvPr id="140" name="Text 5">
            <a:extLst>
              <a:ext uri="{FF2B5EF4-FFF2-40B4-BE49-F238E27FC236}">
                <a16:creationId xmlns:a16="http://schemas.microsoft.com/office/drawing/2014/main" id="{BC76DEE2-C9DA-49E4-A719-9314C96BC98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400944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>
            <a:extLst>
              <a:ext uri="{FF2B5EF4-FFF2-40B4-BE49-F238E27FC236}">
                <a16:creationId xmlns:a16="http://schemas.microsoft.com/office/drawing/2014/main" id="{F01C1594-2D1D-42F9-8DCF-3CB6A5078EF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3: Match the Connector</a:t>
            </a:r>
          </a:p>
        </p:txBody>
      </p:sp>
      <p:sp>
        <p:nvSpPr>
          <p:cNvPr id="142" name="Text 1">
            <a:extLst>
              <a:ext uri="{FF2B5EF4-FFF2-40B4-BE49-F238E27FC236}">
                <a16:creationId xmlns:a16="http://schemas.microsoft.com/office/drawing/2014/main" id="{879E3200-3AF3-4C98-8888-D14C116C7412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Match each database with the appropriate Debezium connector:</a:t>
            </a:r>
          </a:p>
        </p:txBody>
      </p:sp>
      <p:graphicFrame>
        <p:nvGraphicFramePr>
          <p:cNvPr id="143" name="Table 0"/>
          <p:cNvGraphicFramePr/>
          <p:nvPr/>
        </p:nvGraphicFramePr>
        <p:xfrm>
          <a:off x="914400" y="1828800"/>
          <a:ext cx="7314840" cy="12373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Database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Connector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Oracle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MongoDB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SQL Server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MySQL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4" name="Text 2">
            <a:extLst>
              <a:ext uri="{FF2B5EF4-FFF2-40B4-BE49-F238E27FC236}">
                <a16:creationId xmlns:a16="http://schemas.microsoft.com/office/drawing/2014/main" id="{E419A2DC-1E11-492A-A743-9157E0DD35DD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with your neighbour to fill in the blanks.</a:t>
            </a:r>
          </a:p>
        </p:txBody>
      </p:sp>
      <p:sp>
        <p:nvSpPr>
          <p:cNvPr id="145" name="Text 3">
            <a:extLst>
              <a:ext uri="{FF2B5EF4-FFF2-40B4-BE49-F238E27FC236}">
                <a16:creationId xmlns:a16="http://schemas.microsoft.com/office/drawing/2014/main" id="{7260D92F-A940-46A4-8173-DFE277187440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6729278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>
            <a:extLst>
              <a:ext uri="{FF2B5EF4-FFF2-40B4-BE49-F238E27FC236}">
                <a16:creationId xmlns:a16="http://schemas.microsoft.com/office/drawing/2014/main" id="{5F9014DC-F459-4B16-A64D-111066C11A9C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Environment Requirements</a:t>
            </a:r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280160"/>
            <a:ext cx="319680" cy="319680"/>
          </a:xfrm>
          <a:prstGeom prst="rect">
            <a:avLst/>
          </a:prstGeom>
        </p:spPr>
      </p:pic>
      <p:sp>
        <p:nvSpPr>
          <p:cNvPr id="148" name="Text 1">
            <a:extLst>
              <a:ext uri="{FF2B5EF4-FFF2-40B4-BE49-F238E27FC236}">
                <a16:creationId xmlns:a16="http://schemas.microsoft.com/office/drawing/2014/main" id="{5E739714-511D-46E2-BF58-E38DD6C26BE5}"/>
              </a:ext>
            </a:extLst>
          </p:cNvPr>
          <p:cNvSpPr>
            <a:spLocks noGrp="1"/>
          </p:cNvSpPr>
          <p:nvPr/>
        </p:nvSpPr>
        <p:spPr>
          <a:xfrm>
            <a:off x="822960" y="132588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Kafka cluster (KRaft or ZooKeeper)</a:t>
            </a:r>
          </a:p>
        </p:txBody>
      </p:sp>
      <p:pic>
        <p:nvPicPr>
          <p:cNvPr id="149" name="Image 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7200" y="1691640"/>
            <a:ext cx="319680" cy="319680"/>
          </a:xfrm>
          <a:prstGeom prst="rect">
            <a:avLst/>
          </a:prstGeom>
        </p:spPr>
      </p:pic>
      <p:sp>
        <p:nvSpPr>
          <p:cNvPr id="150" name="Text 2">
            <a:extLst>
              <a:ext uri="{FF2B5EF4-FFF2-40B4-BE49-F238E27FC236}">
                <a16:creationId xmlns:a16="http://schemas.microsoft.com/office/drawing/2014/main" id="{540E551B-471C-4C37-A147-62672AF142E0}"/>
              </a:ext>
            </a:extLst>
          </p:cNvPr>
          <p:cNvSpPr>
            <a:spLocks noGrp="1"/>
          </p:cNvSpPr>
          <p:nvPr/>
        </p:nvSpPr>
        <p:spPr>
          <a:xfrm>
            <a:off x="822960" y="173736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Source database (e.g., Postgres with logical replication)</a:t>
            </a:r>
          </a:p>
        </p:txBody>
      </p:sp>
      <p:pic>
        <p:nvPicPr>
          <p:cNvPr id="151" name="Image 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200" y="2103120"/>
            <a:ext cx="319680" cy="319680"/>
          </a:xfrm>
          <a:prstGeom prst="rect">
            <a:avLst/>
          </a:prstGeom>
        </p:spPr>
      </p:pic>
      <p:sp>
        <p:nvSpPr>
          <p:cNvPr id="152" name="Text 3">
            <a:extLst>
              <a:ext uri="{FF2B5EF4-FFF2-40B4-BE49-F238E27FC236}">
                <a16:creationId xmlns:a16="http://schemas.microsoft.com/office/drawing/2014/main" id="{80DD1BB7-08E0-413B-AC58-D5F08F013CEC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Kafka Connect &amp; Debezium plugin</a:t>
            </a:r>
          </a:p>
        </p:txBody>
      </p:sp>
      <p:pic>
        <p:nvPicPr>
          <p:cNvPr id="153" name="Imag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7200" y="2514600"/>
            <a:ext cx="319680" cy="319680"/>
          </a:xfrm>
          <a:prstGeom prst="rect">
            <a:avLst/>
          </a:prstGeom>
        </p:spPr>
      </p:pic>
      <p:sp>
        <p:nvSpPr>
          <p:cNvPr id="154" name="Text 4">
            <a:extLst>
              <a:ext uri="{FF2B5EF4-FFF2-40B4-BE49-F238E27FC236}">
                <a16:creationId xmlns:a16="http://schemas.microsoft.com/office/drawing/2014/main" id="{9AED556B-3D1F-482E-AD4D-CA2DF6D05E90}"/>
              </a:ext>
            </a:extLst>
          </p:cNvPr>
          <p:cNvSpPr>
            <a:spLocks noGrp="1"/>
          </p:cNvSpPr>
          <p:nvPr/>
        </p:nvSpPr>
        <p:spPr>
          <a:xfrm>
            <a:off x="822960" y="256032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Schema Registry (for Avro/JSON if needed)</a:t>
            </a:r>
          </a:p>
        </p:txBody>
      </p:sp>
      <p:pic>
        <p:nvPicPr>
          <p:cNvPr id="155" name="Image 4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57200" y="2926080"/>
            <a:ext cx="319680" cy="319680"/>
          </a:xfrm>
          <a:prstGeom prst="rect">
            <a:avLst/>
          </a:prstGeom>
        </p:spPr>
      </p:pic>
      <p:sp>
        <p:nvSpPr>
          <p:cNvPr id="156" name="Text 5">
            <a:extLst>
              <a:ext uri="{FF2B5EF4-FFF2-40B4-BE49-F238E27FC236}">
                <a16:creationId xmlns:a16="http://schemas.microsoft.com/office/drawing/2014/main" id="{BCBF37C9-AAD3-46AF-B19A-2718AC4DA560}"/>
              </a:ext>
            </a:extLst>
          </p:cNvPr>
          <p:cNvSpPr>
            <a:spLocks noGrp="1"/>
          </p:cNvSpPr>
          <p:nvPr/>
        </p:nvSpPr>
        <p:spPr>
          <a:xfrm>
            <a:off x="822960" y="29718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Client to consume events (kcat or Python consumer)</a:t>
            </a:r>
          </a:p>
        </p:txBody>
      </p:sp>
      <p:sp>
        <p:nvSpPr>
          <p:cNvPr id="157" name="Text 6">
            <a:extLst>
              <a:ext uri="{FF2B5EF4-FFF2-40B4-BE49-F238E27FC236}">
                <a16:creationId xmlns:a16="http://schemas.microsoft.com/office/drawing/2014/main" id="{F304736D-ACCA-4FD3-A686-6698C97D7E2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8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03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>
            <a:extLst>
              <a:ext uri="{FF2B5EF4-FFF2-40B4-BE49-F238E27FC236}">
                <a16:creationId xmlns:a16="http://schemas.microsoft.com/office/drawing/2014/main" id="{09515514-9153-4B56-9FA7-8B554229299D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Configuration: PostgreSQL Connector</a:t>
            </a:r>
          </a:p>
        </p:txBody>
      </p:sp>
      <p:sp>
        <p:nvSpPr>
          <p:cNvPr id="159" name="Text 1">
            <a:extLst>
              <a:ext uri="{FF2B5EF4-FFF2-40B4-BE49-F238E27FC236}">
                <a16:creationId xmlns:a16="http://schemas.microsoft.com/office/drawing/2014/main" id="{1C274D8E-4EAC-4801-9316-4529EBE174A3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4388760" cy="24685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"name": "inventory-connector",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"connector.class": "io.debezium.connector.postgresql.PostgresConnector",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"database.hostname": "postgres",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"database.dbname": "inventory",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"plugin.name": "pgoutput",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"topic.prefix": "inventory",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"slot.name": "debezium_slot",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"publication.autocreate.mode": "filtered",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"table.include.list": "public.customers",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"snapshot.mode": "initial",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"signal.data.collection": "public.debezium_signal"</a:t>
            </a:r>
          </a:p>
        </p:txBody>
      </p:sp>
      <p:sp>
        <p:nvSpPr>
          <p:cNvPr id="160" name="Text 2">
            <a:extLst>
              <a:ext uri="{FF2B5EF4-FFF2-40B4-BE49-F238E27FC236}">
                <a16:creationId xmlns:a16="http://schemas.microsoft.com/office/drawing/2014/main" id="{9EAC3E44-5D57-4314-A22B-28C373CD55C4}"/>
              </a:ext>
            </a:extLst>
          </p:cNvPr>
          <p:cNvSpPr>
            <a:spLocks noGrp="1"/>
          </p:cNvSpPr>
          <p:nvPr/>
        </p:nvSpPr>
        <p:spPr>
          <a:xfrm>
            <a:off x="5029200" y="1280160"/>
            <a:ext cx="4114440" cy="246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Key Properties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topic.prefix defines table topic names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pgoutput reads PostgreSQL logical replication events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slot and publication retain the log position for capture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initial gives the first baseline; use no_data when a baseline is not needed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trigger an incremental snapshot with a signal; do not invent a connector enable flag</a:t>
            </a:r>
          </a:p>
        </p:txBody>
      </p:sp>
      <p:sp>
        <p:nvSpPr>
          <p:cNvPr id="161" name="Text 3">
            <a:extLst>
              <a:ext uri="{FF2B5EF4-FFF2-40B4-BE49-F238E27FC236}">
                <a16:creationId xmlns:a16="http://schemas.microsoft.com/office/drawing/2014/main" id="{99931EF7-C010-4999-9D66-D51E4FB18EE1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239474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>
            <a:extLst>
              <a:ext uri="{FF2B5EF4-FFF2-40B4-BE49-F238E27FC236}">
                <a16:creationId xmlns:a16="http://schemas.microsoft.com/office/drawing/2014/main" id="{0653ECB1-458C-4F88-BC18-DC7624F74ABE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Heartbeats, Transforms &amp; Monitoring</a:t>
            </a:r>
          </a:p>
        </p:txBody>
      </p:sp>
      <p:sp>
        <p:nvSpPr>
          <p:cNvPr id="163" name="Text 1">
            <a:extLst>
              <a:ext uri="{FF2B5EF4-FFF2-40B4-BE49-F238E27FC236}">
                <a16:creationId xmlns:a16="http://schemas.microsoft.com/office/drawing/2014/main" id="{3B374096-B8CF-4384-AF6C-CDCB330CFE3B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Heartbeats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heartbeat.interval.ms: emit heartbeat records to maintain offset commits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heartbeat.topics.prefix: name prefix for heartbeat topics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Transforms (SMT)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ExtractNewRecordState: flatten record to after state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UnwrapFromEnvelope: remove metadata envelopes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TopicRename: change output topic names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Monitoring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Monitor lag via JMX or Connect API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Adjust tasks.max and max.batch.size for throughput</a:t>
            </a:r>
          </a:p>
        </p:txBody>
      </p:sp>
      <p:sp>
        <p:nvSpPr>
          <p:cNvPr id="164" name="Text 2">
            <a:extLst>
              <a:ext uri="{FF2B5EF4-FFF2-40B4-BE49-F238E27FC236}">
                <a16:creationId xmlns:a16="http://schemas.microsoft.com/office/drawing/2014/main" id="{709FC570-694F-4925-8B08-4AF8635791D5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03784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>
            <a:extLst>
              <a:ext uri="{FF2B5EF4-FFF2-40B4-BE49-F238E27FC236}">
                <a16:creationId xmlns:a16="http://schemas.microsoft.com/office/drawing/2014/main" id="{CB7843C9-4D3E-4482-844B-2B0309DC83C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Advanced Tuning &amp; KRaft</a:t>
            </a:r>
          </a:p>
        </p:txBody>
      </p:sp>
      <p:sp>
        <p:nvSpPr>
          <p:cNvPr id="166" name="Text 1">
            <a:extLst>
              <a:ext uri="{FF2B5EF4-FFF2-40B4-BE49-F238E27FC236}">
                <a16:creationId xmlns:a16="http://schemas.microsoft.com/office/drawing/2014/main" id="{DD8CFD92-9751-4129-8E63-6BB7724138DA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Set tasks.max to adjust number of parallel tasks per connector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Increase max.batch.size &amp; max.queue.size for high throughput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Tune heartbeat.interval.ms &amp; min.insync.replicas for durability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With Kafka 4.x KRaft mode, ensure controller &amp; broker nodes have sufficient quorum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Review connector task logs &amp; metrics to detect lags and backpressure</a:t>
            </a:r>
          </a:p>
        </p:txBody>
      </p:sp>
      <p:sp>
        <p:nvSpPr>
          <p:cNvPr id="167" name="Text 2">
            <a:extLst>
              <a:ext uri="{FF2B5EF4-FFF2-40B4-BE49-F238E27FC236}">
                <a16:creationId xmlns:a16="http://schemas.microsoft.com/office/drawing/2014/main" id="{9213C6C8-9916-4621-AF85-6477CB84BE6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960702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>
            <a:extLst>
              <a:ext uri="{FF2B5EF4-FFF2-40B4-BE49-F238E27FC236}">
                <a16:creationId xmlns:a16="http://schemas.microsoft.com/office/drawing/2014/main" id="{A5EC79CD-688C-428A-96AC-5E1AA85936AE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4: Tune Your Connector</a:t>
            </a:r>
          </a:p>
        </p:txBody>
      </p:sp>
      <p:sp>
        <p:nvSpPr>
          <p:cNvPr id="169" name="Text 1">
            <a:extLst>
              <a:ext uri="{FF2B5EF4-FFF2-40B4-BE49-F238E27FC236}">
                <a16:creationId xmlns:a16="http://schemas.microsoft.com/office/drawing/2014/main" id="{488E9901-927D-4F2B-A66B-A2EDABB38212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You are ingesting a high-volume orders table. Propose changes that improve throughput while preserving restart safety. Consider snapshot choice, batching, heartbeats, monitoring and how a sink prevents duplicate side effects after redelivery.</a:t>
            </a:r>
          </a:p>
          <a:p>
            <a:pPr>
              <a:lnSpc>
                <a:spcPct val="100000"/>
              </a:lnSpc>
              <a:buNone/>
            </a:pPr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Discuss your plan with your team and state what evidence would prove it works.</a:t>
            </a:r>
          </a:p>
        </p:txBody>
      </p:sp>
      <p:sp>
        <p:nvSpPr>
          <p:cNvPr id="170" name="Text 2">
            <a:extLst>
              <a:ext uri="{FF2B5EF4-FFF2-40B4-BE49-F238E27FC236}">
                <a16:creationId xmlns:a16="http://schemas.microsoft.com/office/drawing/2014/main" id="{F9B3FB50-0B36-42A7-901F-3F8DEAA8E87E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your plan with your team and be prepared to present your rationale.</a:t>
            </a:r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CFEFAAEC-5EDD-457F-9087-4231CFCCEC4C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511802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>
            <a:extLst>
              <a:ext uri="{FF2B5EF4-FFF2-40B4-BE49-F238E27FC236}">
                <a16:creationId xmlns:a16="http://schemas.microsoft.com/office/drawing/2014/main" id="{72CA9804-802A-4E6F-AA69-8039A73AC5B0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Hands‑On Lab: Capture Database Changes</a:t>
            </a:r>
          </a:p>
        </p:txBody>
      </p:sp>
      <p:sp>
        <p:nvSpPr>
          <p:cNvPr id="173" name="Text 1">
            <a:extLst>
              <a:ext uri="{FF2B5EF4-FFF2-40B4-BE49-F238E27FC236}">
                <a16:creationId xmlns:a16="http://schemas.microsoft.com/office/drawing/2014/main" id="{99FCA276-4250-4491-8A3B-64FDF053401A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In this lab you will: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Start a local Kafka &amp; Postgres cluster using Docker Compose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Create a sample table and insert initial data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Deploy a Debezium Postgres connector via REST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Produce updates and observe events using kcat or Python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Explore event structure and snapshot vs streaming phases</a:t>
            </a:r>
          </a:p>
        </p:txBody>
      </p:sp>
      <p:sp>
        <p:nvSpPr>
          <p:cNvPr id="174" name="Text 2">
            <a:extLst>
              <a:ext uri="{FF2B5EF4-FFF2-40B4-BE49-F238E27FC236}">
                <a16:creationId xmlns:a16="http://schemas.microsoft.com/office/drawing/2014/main" id="{C0BE3AC6-8DA1-4B7B-9672-3EADC89E1C6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097116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>
            <a:extLst>
              <a:ext uri="{FF2B5EF4-FFF2-40B4-BE49-F238E27FC236}">
                <a16:creationId xmlns:a16="http://schemas.microsoft.com/office/drawing/2014/main" id="{15A8F486-95FE-4ADA-8FA8-D880FE4F5D34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Lab Steps &amp; Commands</a:t>
            </a:r>
          </a:p>
        </p:txBody>
      </p:sp>
      <p:sp>
        <p:nvSpPr>
          <p:cNvPr id="176" name="Text 1">
            <a:extLst>
              <a:ext uri="{FF2B5EF4-FFF2-40B4-BE49-F238E27FC236}">
                <a16:creationId xmlns:a16="http://schemas.microsoft.com/office/drawing/2014/main" id="{E4232576-3A09-4233-AEEF-5B628C10D01C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1. Start Docker Compose</a:t>
            </a:r>
          </a:p>
          <a:p>
            <a:r>
              <a:rPr sz="11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docker-compose up -d</a:t>
            </a:r>
          </a:p>
          <a:p>
            <a:endParaRPr sz="11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2. Create sample table &amp; insert data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psql -h localhost -U postgres -d inventory -c "CREATE TABLE customers(id SERIAL PRIMARY KEY, name TEXT);"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psql -h localhost -U postgres -d inventory -c "INSERT INTO customers(name) VALUES('Alice'),('Bob');"</a:t>
            </a:r>
          </a:p>
          <a:p>
            <a:endParaRPr sz="10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3. Deploy connector via REST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curl -X POST http://localhost:8083/connectors -H "Content-Type: application/json" -d @postgres-connector.json</a:t>
            </a:r>
          </a:p>
          <a:p>
            <a:endParaRPr sz="10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4. Produce changes &amp; observe events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psql -c "UPDATE customers SET name='Alicia' WHERE id=1;"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kcat -C -b localhost:9092 -t inventory.public.customers</a:t>
            </a:r>
          </a:p>
          <a:p>
            <a:pPr>
              <a:lnSpc>
                <a:spcPct val="100000"/>
              </a:lnSpc>
              <a:buNone/>
            </a:pPr>
            <a:endParaRPr sz="10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7" name="Text 2">
            <a:extLst>
              <a:ext uri="{FF2B5EF4-FFF2-40B4-BE49-F238E27FC236}">
                <a16:creationId xmlns:a16="http://schemas.microsoft.com/office/drawing/2014/main" id="{6B85282D-7374-4D28-8706-3CBB7C6BC761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318261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>
            <a:extLst>
              <a:ext uri="{FF2B5EF4-FFF2-40B4-BE49-F238E27FC236}">
                <a16:creationId xmlns:a16="http://schemas.microsoft.com/office/drawing/2014/main" id="{BA315B5C-0917-49C3-8E7F-778D53B0D18B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Lab Reflection &amp; Discussion</a:t>
            </a:r>
          </a:p>
        </p:txBody>
      </p:sp>
      <p:sp>
        <p:nvSpPr>
          <p:cNvPr id="179" name="Text 1">
            <a:extLst>
              <a:ext uri="{FF2B5EF4-FFF2-40B4-BE49-F238E27FC236}">
                <a16:creationId xmlns:a16="http://schemas.microsoft.com/office/drawing/2014/main" id="{26B7D8A2-4850-4E5D-B2D6-E70CD38587C5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Which records were snapshot reads (op=r) and which were streamed changes?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What did update and delete envelopes show in before/after?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Did a delete yield a tombstone under your connector settings?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After restart, how would a downstream sink avoid duplicate side effects?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What must Day 5 validate before events are accepted downstream?</a:t>
            </a:r>
          </a:p>
        </p:txBody>
      </p:sp>
      <p:sp>
        <p:nvSpPr>
          <p:cNvPr id="180" name="Text 2">
            <a:extLst>
              <a:ext uri="{FF2B5EF4-FFF2-40B4-BE49-F238E27FC236}">
                <a16:creationId xmlns:a16="http://schemas.microsoft.com/office/drawing/2014/main" id="{F62E527D-9AFE-4EB1-AFB2-49CDA42DBFE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894518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>
            <a:extLst>
              <a:ext uri="{FF2B5EF4-FFF2-40B4-BE49-F238E27FC236}">
                <a16:creationId xmlns:a16="http://schemas.microsoft.com/office/drawing/2014/main" id="{A4CDF8C1-691A-449D-8B30-C5B3B5728EEF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1</a:t>
            </a:r>
          </a:p>
        </p:txBody>
      </p:sp>
      <p:sp>
        <p:nvSpPr>
          <p:cNvPr id="182" name="Text 1">
            <a:extLst>
              <a:ext uri="{FF2B5EF4-FFF2-40B4-BE49-F238E27FC236}">
                <a16:creationId xmlns:a16="http://schemas.microsoft.com/office/drawing/2014/main" id="{518BCDA2-FE2A-4258-8F1C-436C21B247D5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Which CDC method minimizes database load while capturing inserts, updates and deletes in order?</a:t>
            </a:r>
          </a:p>
        </p:txBody>
      </p:sp>
      <p:sp>
        <p:nvSpPr>
          <p:cNvPr id="183" name="Text 2">
            <a:extLst>
              <a:ext uri="{FF2B5EF4-FFF2-40B4-BE49-F238E27FC236}">
                <a16:creationId xmlns:a16="http://schemas.microsoft.com/office/drawing/2014/main" id="{2221E470-7C96-45E5-A812-6CBAB8CFC7A2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Query‑based polling</a:t>
            </a:r>
          </a:p>
        </p:txBody>
      </p:sp>
      <p:sp>
        <p:nvSpPr>
          <p:cNvPr id="184" name="Text 3">
            <a:extLst>
              <a:ext uri="{FF2B5EF4-FFF2-40B4-BE49-F238E27FC236}">
                <a16:creationId xmlns:a16="http://schemas.microsoft.com/office/drawing/2014/main" id="{DAC97D70-A548-44A5-A56C-C22B4D7FEB41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Trigger‑based logging</a:t>
            </a:r>
          </a:p>
        </p:txBody>
      </p:sp>
      <p:sp>
        <p:nvSpPr>
          <p:cNvPr id="185" name="Text 4">
            <a:extLst>
              <a:ext uri="{FF2B5EF4-FFF2-40B4-BE49-F238E27FC236}">
                <a16:creationId xmlns:a16="http://schemas.microsoft.com/office/drawing/2014/main" id="{60F5F017-7A8F-4B72-8A50-CB3ABD541C42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Log‑based streaming</a:t>
            </a:r>
          </a:p>
        </p:txBody>
      </p:sp>
      <p:sp>
        <p:nvSpPr>
          <p:cNvPr id="186" name="Text 5">
            <a:extLst>
              <a:ext uri="{FF2B5EF4-FFF2-40B4-BE49-F238E27FC236}">
                <a16:creationId xmlns:a16="http://schemas.microsoft.com/office/drawing/2014/main" id="{7FFA10E7-4217-4D35-9F26-110D02B249BA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Periodic ETL batch</a:t>
            </a:r>
          </a:p>
        </p:txBody>
      </p:sp>
      <p:sp>
        <p:nvSpPr>
          <p:cNvPr id="187" name="Text 6">
            <a:extLst>
              <a:ext uri="{FF2B5EF4-FFF2-40B4-BE49-F238E27FC236}">
                <a16:creationId xmlns:a16="http://schemas.microsoft.com/office/drawing/2014/main" id="{1AB9164B-4458-4DDF-999A-CCD807C5601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0905392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>
            <a:extLst>
              <a:ext uri="{FF2B5EF4-FFF2-40B4-BE49-F238E27FC236}">
                <a16:creationId xmlns:a16="http://schemas.microsoft.com/office/drawing/2014/main" id="{E9A4EB9E-9365-41D4-AE5A-09EE5C6B8AB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2</a:t>
            </a:r>
          </a:p>
        </p:txBody>
      </p:sp>
      <p:sp>
        <p:nvSpPr>
          <p:cNvPr id="189" name="Text 1">
            <a:extLst>
              <a:ext uri="{FF2B5EF4-FFF2-40B4-BE49-F238E27FC236}">
                <a16:creationId xmlns:a16="http://schemas.microsoft.com/office/drawing/2014/main" id="{E8A97B40-10B9-4E06-A1DF-DD62BDE37FFB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In a Debezium event record, what does the "op" field value "r" indicate?</a:t>
            </a:r>
          </a:p>
        </p:txBody>
      </p:sp>
      <p:sp>
        <p:nvSpPr>
          <p:cNvPr id="190" name="Text 2">
            <a:extLst>
              <a:ext uri="{FF2B5EF4-FFF2-40B4-BE49-F238E27FC236}">
                <a16:creationId xmlns:a16="http://schemas.microsoft.com/office/drawing/2014/main" id="{5CEF31F6-D4B4-4079-AC06-AC301D096C5D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A delete operation</a:t>
            </a:r>
          </a:p>
        </p:txBody>
      </p:sp>
      <p:sp>
        <p:nvSpPr>
          <p:cNvPr id="191" name="Text 3">
            <a:extLst>
              <a:ext uri="{FF2B5EF4-FFF2-40B4-BE49-F238E27FC236}">
                <a16:creationId xmlns:a16="http://schemas.microsoft.com/office/drawing/2014/main" id="{8C6990AB-913A-4F73-BE72-B51C259A2D9C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A snapshot record</a:t>
            </a:r>
          </a:p>
        </p:txBody>
      </p:sp>
      <p:sp>
        <p:nvSpPr>
          <p:cNvPr id="192" name="Text 4">
            <a:extLst>
              <a:ext uri="{FF2B5EF4-FFF2-40B4-BE49-F238E27FC236}">
                <a16:creationId xmlns:a16="http://schemas.microsoft.com/office/drawing/2014/main" id="{127B151A-412A-46AE-995B-E9AB7012D466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An update operation</a:t>
            </a:r>
          </a:p>
        </p:txBody>
      </p:sp>
      <p:sp>
        <p:nvSpPr>
          <p:cNvPr id="193" name="Text 5">
            <a:extLst>
              <a:ext uri="{FF2B5EF4-FFF2-40B4-BE49-F238E27FC236}">
                <a16:creationId xmlns:a16="http://schemas.microsoft.com/office/drawing/2014/main" id="{9F8E6D3E-ABED-4CC6-8014-5FD793C77DCC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A heartbeat record</a:t>
            </a:r>
          </a:p>
        </p:txBody>
      </p:sp>
      <p:sp>
        <p:nvSpPr>
          <p:cNvPr id="194" name="Text 6">
            <a:extLst>
              <a:ext uri="{FF2B5EF4-FFF2-40B4-BE49-F238E27FC236}">
                <a16:creationId xmlns:a16="http://schemas.microsoft.com/office/drawing/2014/main" id="{D2ED4B1C-F8F7-4D95-B1C0-E789E3CC6E1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518910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>
            <a:extLst>
              <a:ext uri="{FF2B5EF4-FFF2-40B4-BE49-F238E27FC236}">
                <a16:creationId xmlns:a16="http://schemas.microsoft.com/office/drawing/2014/main" id="{CB079FBC-754D-49F1-9643-6F7381451E10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3</a:t>
            </a:r>
          </a:p>
        </p:txBody>
      </p:sp>
      <p:sp>
        <p:nvSpPr>
          <p:cNvPr id="196" name="Text 1">
            <a:extLst>
              <a:ext uri="{FF2B5EF4-FFF2-40B4-BE49-F238E27FC236}">
                <a16:creationId xmlns:a16="http://schemas.microsoft.com/office/drawing/2014/main" id="{313C78E4-5096-4866-AC21-0B7F80D809EE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Which connector property controls the number of parallel tasks for a Debezium connector?</a:t>
            </a:r>
          </a:p>
        </p:txBody>
      </p:sp>
      <p:sp>
        <p:nvSpPr>
          <p:cNvPr id="197" name="Text 2">
            <a:extLst>
              <a:ext uri="{FF2B5EF4-FFF2-40B4-BE49-F238E27FC236}">
                <a16:creationId xmlns:a16="http://schemas.microsoft.com/office/drawing/2014/main" id="{24216CD1-686C-4A11-B1B5-F14F0DCEFCB3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tasks.max</a:t>
            </a:r>
          </a:p>
        </p:txBody>
      </p:sp>
      <p:sp>
        <p:nvSpPr>
          <p:cNvPr id="198" name="Text 3">
            <a:extLst>
              <a:ext uri="{FF2B5EF4-FFF2-40B4-BE49-F238E27FC236}">
                <a16:creationId xmlns:a16="http://schemas.microsoft.com/office/drawing/2014/main" id="{2BE3EB63-33C5-4299-B4A8-010E54C5F434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snapshot.mode</a:t>
            </a:r>
          </a:p>
        </p:txBody>
      </p:sp>
      <p:sp>
        <p:nvSpPr>
          <p:cNvPr id="199" name="Text 4">
            <a:extLst>
              <a:ext uri="{FF2B5EF4-FFF2-40B4-BE49-F238E27FC236}">
                <a16:creationId xmlns:a16="http://schemas.microsoft.com/office/drawing/2014/main" id="{A1EBDA58-2564-4197-8284-3E83A84C4CEC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heartbeat.interval.ms</a:t>
            </a:r>
          </a:p>
        </p:txBody>
      </p:sp>
      <p:sp>
        <p:nvSpPr>
          <p:cNvPr id="200" name="Text 5">
            <a:extLst>
              <a:ext uri="{FF2B5EF4-FFF2-40B4-BE49-F238E27FC236}">
                <a16:creationId xmlns:a16="http://schemas.microsoft.com/office/drawing/2014/main" id="{BBE3AA2F-D690-4A04-B464-D36CC6C71FB8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max.batch.size</a:t>
            </a:r>
          </a:p>
        </p:txBody>
      </p:sp>
      <p:sp>
        <p:nvSpPr>
          <p:cNvPr id="201" name="Text 6">
            <a:extLst>
              <a:ext uri="{FF2B5EF4-FFF2-40B4-BE49-F238E27FC236}">
                <a16:creationId xmlns:a16="http://schemas.microsoft.com/office/drawing/2014/main" id="{7F5F0137-C4AA-418E-9820-47BFDB63A0E9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9183996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>
            <a:extLst>
              <a:ext uri="{FF2B5EF4-FFF2-40B4-BE49-F238E27FC236}">
                <a16:creationId xmlns:a16="http://schemas.microsoft.com/office/drawing/2014/main" id="{F844A757-14A7-47AA-8022-0137B6A3C798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4</a:t>
            </a:r>
          </a:p>
        </p:txBody>
      </p:sp>
      <p:sp>
        <p:nvSpPr>
          <p:cNvPr id="203" name="Text 1">
            <a:extLst>
              <a:ext uri="{FF2B5EF4-FFF2-40B4-BE49-F238E27FC236}">
                <a16:creationId xmlns:a16="http://schemas.microsoft.com/office/drawing/2014/main" id="{02D4B983-45A8-4428-9A44-05A506A6180B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How do you request an ad hoc incremental snapshot for selected PostgreSQL tables?</a:t>
            </a:r>
          </a:p>
          <a:p>
            <a:pPr>
              <a:lnSpc>
                <a:spcPct val="100000"/>
              </a:lnSpc>
              <a:buNone/>
            </a:pPr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A. Set snapshot.mode=never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B. Send an execute-snapshot signal for the tables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C. Rename the Kafka topic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D. Increase tasks.max</a:t>
            </a:r>
          </a:p>
        </p:txBody>
      </p:sp>
      <p:sp>
        <p:nvSpPr>
          <p:cNvPr id="204" name="Text 2">
            <a:extLst>
              <a:ext uri="{FF2B5EF4-FFF2-40B4-BE49-F238E27FC236}">
                <a16:creationId xmlns:a16="http://schemas.microsoft.com/office/drawing/2014/main" id="{71BD3BEE-6ABD-484C-9D36-06270FB164C2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snapshot.mode=never</a:t>
            </a:r>
          </a:p>
        </p:txBody>
      </p:sp>
      <p:sp>
        <p:nvSpPr>
          <p:cNvPr id="205" name="Text 3">
            <a:extLst>
              <a:ext uri="{FF2B5EF4-FFF2-40B4-BE49-F238E27FC236}">
                <a16:creationId xmlns:a16="http://schemas.microsoft.com/office/drawing/2014/main" id="{93B401FE-B1F2-405D-ABCB-DF9192F3F165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incremental.snapshot.enabled=true</a:t>
            </a:r>
          </a:p>
        </p:txBody>
      </p:sp>
      <p:sp>
        <p:nvSpPr>
          <p:cNvPr id="206" name="Text 4">
            <a:extLst>
              <a:ext uri="{FF2B5EF4-FFF2-40B4-BE49-F238E27FC236}">
                <a16:creationId xmlns:a16="http://schemas.microsoft.com/office/drawing/2014/main" id="{5CF90BE0-C3D6-41E6-AFB7-E3CE8457FCBF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snapshot.lock.timeout.ms</a:t>
            </a:r>
          </a:p>
        </p:txBody>
      </p:sp>
      <p:sp>
        <p:nvSpPr>
          <p:cNvPr id="207" name="Text 5">
            <a:extLst>
              <a:ext uri="{FF2B5EF4-FFF2-40B4-BE49-F238E27FC236}">
                <a16:creationId xmlns:a16="http://schemas.microsoft.com/office/drawing/2014/main" id="{E9A20503-785C-4A0F-AB38-A8D4C5C1C0F0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topic.rename</a:t>
            </a:r>
          </a:p>
        </p:txBody>
      </p:sp>
      <p:sp>
        <p:nvSpPr>
          <p:cNvPr id="208" name="Text 6">
            <a:extLst>
              <a:ext uri="{FF2B5EF4-FFF2-40B4-BE49-F238E27FC236}">
                <a16:creationId xmlns:a16="http://schemas.microsoft.com/office/drawing/2014/main" id="{359433E6-D992-4B2A-9C65-94ECC85C2DD6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7074127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>
            <a:extLst>
              <a:ext uri="{FF2B5EF4-FFF2-40B4-BE49-F238E27FC236}">
                <a16:creationId xmlns:a16="http://schemas.microsoft.com/office/drawing/2014/main" id="{D71721C4-A3C7-4CF2-9D04-528D1CD273A4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5</a:t>
            </a:r>
          </a:p>
        </p:txBody>
      </p:sp>
      <p:sp>
        <p:nvSpPr>
          <p:cNvPr id="210" name="Text 1">
            <a:extLst>
              <a:ext uri="{FF2B5EF4-FFF2-40B4-BE49-F238E27FC236}">
                <a16:creationId xmlns:a16="http://schemas.microsoft.com/office/drawing/2014/main" id="{F132006A-886E-4400-AA37-34248812ED1C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What does the ExtractNewRecordState SMT do?</a:t>
            </a:r>
          </a:p>
        </p:txBody>
      </p:sp>
      <p:sp>
        <p:nvSpPr>
          <p:cNvPr id="211" name="Text 2">
            <a:extLst>
              <a:ext uri="{FF2B5EF4-FFF2-40B4-BE49-F238E27FC236}">
                <a16:creationId xmlns:a16="http://schemas.microsoft.com/office/drawing/2014/main" id="{44E761AF-0F18-493D-AFBA-33D43127661F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Removes metadata envelope and keeps only after field</a:t>
            </a:r>
          </a:p>
        </p:txBody>
      </p:sp>
      <p:sp>
        <p:nvSpPr>
          <p:cNvPr id="212" name="Text 3">
            <a:extLst>
              <a:ext uri="{FF2B5EF4-FFF2-40B4-BE49-F238E27FC236}">
                <a16:creationId xmlns:a16="http://schemas.microsoft.com/office/drawing/2014/main" id="{8508DE20-4E44-4E43-B84A-704077A7036B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Renames the Kafka topic</a:t>
            </a:r>
          </a:p>
        </p:txBody>
      </p:sp>
      <p:sp>
        <p:nvSpPr>
          <p:cNvPr id="213" name="Text 4">
            <a:extLst>
              <a:ext uri="{FF2B5EF4-FFF2-40B4-BE49-F238E27FC236}">
                <a16:creationId xmlns:a16="http://schemas.microsoft.com/office/drawing/2014/main" id="{6C80329F-3C39-464E-A086-F0C35FC0415F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Adds a heartbeat record</a:t>
            </a:r>
          </a:p>
        </p:txBody>
      </p:sp>
      <p:sp>
        <p:nvSpPr>
          <p:cNvPr id="214" name="Text 5">
            <a:extLst>
              <a:ext uri="{FF2B5EF4-FFF2-40B4-BE49-F238E27FC236}">
                <a16:creationId xmlns:a16="http://schemas.microsoft.com/office/drawing/2014/main" id="{E7237FFF-C8D8-4A0C-9B73-59308EDA5A7B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Converts snapshot mode to full</a:t>
            </a:r>
          </a:p>
        </p:txBody>
      </p:sp>
      <p:sp>
        <p:nvSpPr>
          <p:cNvPr id="215" name="Text 6">
            <a:extLst>
              <a:ext uri="{FF2B5EF4-FFF2-40B4-BE49-F238E27FC236}">
                <a16:creationId xmlns:a16="http://schemas.microsoft.com/office/drawing/2014/main" id="{4023E947-1EEE-4E1E-97E1-AFAD12DD2CF2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4568354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>
            <a:extLst>
              <a:ext uri="{FF2B5EF4-FFF2-40B4-BE49-F238E27FC236}">
                <a16:creationId xmlns:a16="http://schemas.microsoft.com/office/drawing/2014/main" id="{0B475F29-83D7-4237-9696-5FDC9768FD12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 Answers</a:t>
            </a:r>
          </a:p>
        </p:txBody>
      </p:sp>
      <p:sp>
        <p:nvSpPr>
          <p:cNvPr id="217" name="Text 1">
            <a:extLst>
              <a:ext uri="{FF2B5EF4-FFF2-40B4-BE49-F238E27FC236}">
                <a16:creationId xmlns:a16="http://schemas.microsoft.com/office/drawing/2014/main" id="{7D2D781B-3744-45CD-8687-924C7CC73D5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1. C - Log-based streaming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2. B - A snapshot record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3. A - tasks.max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4. B - Send an execute-snapshot signal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5. A - Removes the envelope and exposes row state (configure delete handling deliberately)</a:t>
            </a:r>
          </a:p>
        </p:txBody>
      </p:sp>
      <p:sp>
        <p:nvSpPr>
          <p:cNvPr id="218" name="Text 2">
            <a:extLst>
              <a:ext uri="{FF2B5EF4-FFF2-40B4-BE49-F238E27FC236}">
                <a16:creationId xmlns:a16="http://schemas.microsoft.com/office/drawing/2014/main" id="{36DAC552-1953-483F-BD97-FB389905CB78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6"/>
              </a:rPr>
              <a:t>[4]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7"/>
              </a:rPr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3661810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>
            <a:extLst>
              <a:ext uri="{FF2B5EF4-FFF2-40B4-BE49-F238E27FC236}">
                <a16:creationId xmlns:a16="http://schemas.microsoft.com/office/drawing/2014/main" id="{5CB0991F-A150-4E88-B125-E0282073AAA2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Recap &amp; Next Steps</a:t>
            </a:r>
          </a:p>
        </p:txBody>
      </p:sp>
      <p:sp>
        <p:nvSpPr>
          <p:cNvPr id="220" name="Text 1">
            <a:extLst>
              <a:ext uri="{FF2B5EF4-FFF2-40B4-BE49-F238E27FC236}">
                <a16:creationId xmlns:a16="http://schemas.microsoft.com/office/drawing/2014/main" id="{45790AB7-7B9D-4558-A1A2-438E6E5EF071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On Day 5: We design production ingestion from CDC, clickstream and batch files, then protect downstream consumers with schemas, validation and DLQ patterns.</a:t>
            </a:r>
          </a:p>
        </p:txBody>
      </p:sp>
      <p:sp>
        <p:nvSpPr>
          <p:cNvPr id="221" name="Text 2">
            <a:extLst>
              <a:ext uri="{FF2B5EF4-FFF2-40B4-BE49-F238E27FC236}">
                <a16:creationId xmlns:a16="http://schemas.microsoft.com/office/drawing/2014/main" id="{FF3128B4-326F-4255-9E4E-AF7EF52BDEF6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10412646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3329-FB3A-E329-12B1-831327F41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>
            <a:extLst>
              <a:ext uri="{FF2B5EF4-FFF2-40B4-BE49-F238E27FC236}">
                <a16:creationId xmlns:a16="http://schemas.microsoft.com/office/drawing/2014/main" id="{00EAFA72-B7AE-B193-A326-2B4D054CB989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50288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Day 4: Change Data Capture &amp; Debezium</a:t>
            </a:r>
          </a:p>
          <a:p>
            <a:pPr>
              <a:lnSpc>
                <a:spcPct val="100000"/>
              </a:lnSpc>
              <a:buNone/>
            </a:pPr>
            <a:r>
              <a:rPr sz="1400" b="0" i="1" u="none">
                <a:solidFill>
                  <a:srgbClr val="585858"/>
                </a:solidFill>
                <a:latin typeface="Calibri"/>
                <a:ea typeface="Calibri"/>
                <a:cs typeface="Calibri"/>
              </a:rPr>
              <a:t>Modern Data Engineering Series</a:t>
            </a:r>
          </a:p>
        </p:txBody>
      </p:sp>
      <p:pic>
        <p:nvPicPr>
          <p:cNvPr id="11" name="Image 0">
            <a:extLst>
              <a:ext uri="{FF2B5EF4-FFF2-40B4-BE49-F238E27FC236}">
                <a16:creationId xmlns:a16="http://schemas.microsoft.com/office/drawing/2014/main" id="{A6C3B1A3-4DB8-3853-E6D4-6F0CFA33BA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86400" y="640080"/>
            <a:ext cx="3657240" cy="2742840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6782287E-5986-6F8A-2C9E-E1A55279A2E6}"/>
              </a:ext>
            </a:extLst>
          </p:cNvPr>
          <p:cNvSpPr>
            <a:spLocks noGrp="1"/>
          </p:cNvSpPr>
          <p:nvPr/>
        </p:nvSpPr>
        <p:spPr>
          <a:xfrm>
            <a:off x="457200" y="23774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Understanding CDC fundamentals, Debezium internals, connectors, configuration and hands-on lab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2C4234CA-BC04-8AB7-9C19-523A2D22CCC8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505060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F1B5-8656-777C-99A5-332F63A6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8772CF27-2E02-0E45-6DDC-C75097DF0C43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Learning Objectives</a:t>
            </a:r>
          </a:p>
        </p:txBody>
      </p:sp>
      <p:pic>
        <p:nvPicPr>
          <p:cNvPr id="15" name="Image 0">
            <a:extLst>
              <a:ext uri="{FF2B5EF4-FFF2-40B4-BE49-F238E27FC236}">
                <a16:creationId xmlns:a16="http://schemas.microsoft.com/office/drawing/2014/main" id="{CBF8031F-3E15-66F2-BFAE-579662E7B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188720"/>
            <a:ext cx="319680" cy="319680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DB7962F1-F378-AD90-E41F-FA50B4BAEF57}"/>
              </a:ext>
            </a:extLst>
          </p:cNvPr>
          <p:cNvSpPr>
            <a:spLocks noGrp="1"/>
          </p:cNvSpPr>
          <p:nvPr/>
        </p:nvSpPr>
        <p:spPr>
          <a:xfrm>
            <a:off x="822960" y="12344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Define CDC and its benefits</a:t>
            </a:r>
          </a:p>
        </p:txBody>
      </p:sp>
      <p:pic>
        <p:nvPicPr>
          <p:cNvPr id="17" name="Image 1">
            <a:extLst>
              <a:ext uri="{FF2B5EF4-FFF2-40B4-BE49-F238E27FC236}">
                <a16:creationId xmlns:a16="http://schemas.microsoft.com/office/drawing/2014/main" id="{6194AC77-AFD6-8EE1-D284-D1BFF2B35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7200" y="1645920"/>
            <a:ext cx="319680" cy="319680"/>
          </a:xfrm>
          <a:prstGeom prst="rect">
            <a:avLst/>
          </a:prstGeom>
        </p:spPr>
      </p:pic>
      <p:sp>
        <p:nvSpPr>
          <p:cNvPr id="18" name="Text 2">
            <a:extLst>
              <a:ext uri="{FF2B5EF4-FFF2-40B4-BE49-F238E27FC236}">
                <a16:creationId xmlns:a16="http://schemas.microsoft.com/office/drawing/2014/main" id="{6CC66AC9-A2BD-09C8-2DAA-0A3F1F25F82E}"/>
              </a:ext>
            </a:extLst>
          </p:cNvPr>
          <p:cNvSpPr>
            <a:spLocks noGrp="1"/>
          </p:cNvSpPr>
          <p:nvPr/>
        </p:nvSpPr>
        <p:spPr>
          <a:xfrm>
            <a:off x="822960" y="16916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Compare CDC methods and patterns</a:t>
            </a:r>
          </a:p>
        </p:txBody>
      </p:sp>
      <p:pic>
        <p:nvPicPr>
          <p:cNvPr id="19" name="Image 2">
            <a:extLst>
              <a:ext uri="{FF2B5EF4-FFF2-40B4-BE49-F238E27FC236}">
                <a16:creationId xmlns:a16="http://schemas.microsoft.com/office/drawing/2014/main" id="{25F85C35-7FD6-3533-E1B2-9FDE109D0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200" y="2103120"/>
            <a:ext cx="319680" cy="319680"/>
          </a:xfrm>
          <a:prstGeom prst="rect">
            <a:avLst/>
          </a:prstGeom>
        </p:spPr>
      </p:pic>
      <p:sp>
        <p:nvSpPr>
          <p:cNvPr id="20" name="Text 3">
            <a:extLst>
              <a:ext uri="{FF2B5EF4-FFF2-40B4-BE49-F238E27FC236}">
                <a16:creationId xmlns:a16="http://schemas.microsoft.com/office/drawing/2014/main" id="{70FCDC9B-B917-AD0F-F169-5358DB2ED395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Explain Debezium architecture &amp; event structure</a:t>
            </a:r>
          </a:p>
        </p:txBody>
      </p:sp>
      <p:pic>
        <p:nvPicPr>
          <p:cNvPr id="21" name="Image 3">
            <a:extLst>
              <a:ext uri="{FF2B5EF4-FFF2-40B4-BE49-F238E27FC236}">
                <a16:creationId xmlns:a16="http://schemas.microsoft.com/office/drawing/2014/main" id="{C37BEB43-E258-6B56-4AFC-5D78053324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7200" y="2560320"/>
            <a:ext cx="319680" cy="319680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D3CCCC8F-2A9B-F59A-25CE-5B3A0C82D744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Explore connector landscape and deployment</a:t>
            </a:r>
          </a:p>
        </p:txBody>
      </p:sp>
      <p:pic>
        <p:nvPicPr>
          <p:cNvPr id="23" name="Image 4">
            <a:extLst>
              <a:ext uri="{FF2B5EF4-FFF2-40B4-BE49-F238E27FC236}">
                <a16:creationId xmlns:a16="http://schemas.microsoft.com/office/drawing/2014/main" id="{697A8DB3-058B-7159-A234-21B5E87FEC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57200" y="3017520"/>
            <a:ext cx="319680" cy="319680"/>
          </a:xfrm>
          <a:prstGeom prst="rect">
            <a:avLst/>
          </a:prstGeom>
        </p:spPr>
      </p:pic>
      <p:sp>
        <p:nvSpPr>
          <p:cNvPr id="24" name="Text 5">
            <a:extLst>
              <a:ext uri="{FF2B5EF4-FFF2-40B4-BE49-F238E27FC236}">
                <a16:creationId xmlns:a16="http://schemas.microsoft.com/office/drawing/2014/main" id="{277AAFD3-033F-8546-DB6F-2FB082545851}"/>
              </a:ext>
            </a:extLst>
          </p:cNvPr>
          <p:cNvSpPr>
            <a:spLocks noGrp="1"/>
          </p:cNvSpPr>
          <p:nvPr/>
        </p:nvSpPr>
        <p:spPr>
          <a:xfrm>
            <a:off x="822960" y="30632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Configure connectors via Kafka Connect</a:t>
            </a:r>
          </a:p>
        </p:txBody>
      </p:sp>
      <p:pic>
        <p:nvPicPr>
          <p:cNvPr id="25" name="Image 5">
            <a:extLst>
              <a:ext uri="{FF2B5EF4-FFF2-40B4-BE49-F238E27FC236}">
                <a16:creationId xmlns:a16="http://schemas.microsoft.com/office/drawing/2014/main" id="{2213F23C-7925-424E-5EEC-B1026E31C7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57200" y="3474720"/>
            <a:ext cx="319680" cy="319680"/>
          </a:xfrm>
          <a:prstGeom prst="rect">
            <a:avLst/>
          </a:prstGeom>
        </p:spPr>
      </p:pic>
      <p:sp>
        <p:nvSpPr>
          <p:cNvPr id="26" name="Text 6">
            <a:extLst>
              <a:ext uri="{FF2B5EF4-FFF2-40B4-BE49-F238E27FC236}">
                <a16:creationId xmlns:a16="http://schemas.microsoft.com/office/drawing/2014/main" id="{1F73A215-8067-4B46-4749-F0ABBCDA7354}"/>
              </a:ext>
            </a:extLst>
          </p:cNvPr>
          <p:cNvSpPr>
            <a:spLocks noGrp="1"/>
          </p:cNvSpPr>
          <p:nvPr/>
        </p:nvSpPr>
        <p:spPr>
          <a:xfrm>
            <a:off x="822960" y="352044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Capture changes hands-on &amp; analyze events</a:t>
            </a: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E7B94C3C-F2A2-6E7B-B945-C980380A2A01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9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710035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447C-D41F-1C49-0E3B-9B631C19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>
            <a:extLst>
              <a:ext uri="{FF2B5EF4-FFF2-40B4-BE49-F238E27FC236}">
                <a16:creationId xmlns:a16="http://schemas.microsoft.com/office/drawing/2014/main" id="{138E0317-6432-ADE5-315C-245BE6EC8AB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6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76186CBB-7540-3102-218E-E4FD8D34E25B}"/>
              </a:ext>
            </a:extLst>
          </p:cNvPr>
          <p:cNvSpPr>
            <a:spLocks noGrp="1"/>
          </p:cNvSpPr>
          <p:nvPr/>
        </p:nvSpPr>
        <p:spPr>
          <a:xfrm>
            <a:off x="360000" y="128016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06391684-2F11-13E3-8DD0-71F939BF425C}"/>
              </a:ext>
            </a:extLst>
          </p:cNvPr>
          <p:cNvSpPr>
            <a:spLocks noGrp="1"/>
          </p:cNvSpPr>
          <p:nvPr/>
        </p:nvSpPr>
        <p:spPr>
          <a:xfrm>
            <a:off x="277200" y="1280160"/>
            <a:ext cx="6228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09:00</a:t>
            </a:r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EA56C6B3-E214-F868-A43E-2B7566B076B5}"/>
              </a:ext>
            </a:extLst>
          </p:cNvPr>
          <p:cNvSpPr>
            <a:spLocks noGrp="1"/>
          </p:cNvSpPr>
          <p:nvPr/>
        </p:nvSpPr>
        <p:spPr>
          <a:xfrm>
            <a:off x="914400" y="13258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Fundamentals</a:t>
            </a:r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ABC532EE-0416-E0B8-B673-8477613C1C54}"/>
              </a:ext>
            </a:extLst>
          </p:cNvPr>
          <p:cNvSpPr>
            <a:spLocks noGrp="1"/>
          </p:cNvSpPr>
          <p:nvPr/>
        </p:nvSpPr>
        <p:spPr>
          <a:xfrm>
            <a:off x="360000" y="182880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814140EE-2CAD-BE60-9C3B-F0117B49FC8F}"/>
              </a:ext>
            </a:extLst>
          </p:cNvPr>
          <p:cNvSpPr>
            <a:spLocks noGrp="1"/>
          </p:cNvSpPr>
          <p:nvPr/>
        </p:nvSpPr>
        <p:spPr>
          <a:xfrm>
            <a:off x="360000" y="182880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10:30</a:t>
            </a:r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14F494B0-042E-B8C6-FDDB-0E34A5B91CC0}"/>
              </a:ext>
            </a:extLst>
          </p:cNvPr>
          <p:cNvSpPr>
            <a:spLocks noGrp="1"/>
          </p:cNvSpPr>
          <p:nvPr/>
        </p:nvSpPr>
        <p:spPr>
          <a:xfrm>
            <a:off x="914400" y="187452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Architecture</a:t>
            </a:r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3F044682-3EE3-858F-40B2-C76C637761F9}"/>
              </a:ext>
            </a:extLst>
          </p:cNvPr>
          <p:cNvSpPr>
            <a:spLocks noGrp="1"/>
          </p:cNvSpPr>
          <p:nvPr/>
        </p:nvSpPr>
        <p:spPr>
          <a:xfrm>
            <a:off x="360000" y="237744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ADAF6EA4-8114-E973-B10C-9D37D6473420}"/>
              </a:ext>
            </a:extLst>
          </p:cNvPr>
          <p:cNvSpPr>
            <a:spLocks noGrp="1"/>
          </p:cNvSpPr>
          <p:nvPr/>
        </p:nvSpPr>
        <p:spPr>
          <a:xfrm>
            <a:off x="360000" y="237744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12:00</a:t>
            </a: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5D71BA3-400F-FEAF-FF5C-744FAFD2785F}"/>
              </a:ext>
            </a:extLst>
          </p:cNvPr>
          <p:cNvSpPr>
            <a:spLocks noGrp="1"/>
          </p:cNvSpPr>
          <p:nvPr/>
        </p:nvSpPr>
        <p:spPr>
          <a:xfrm>
            <a:off x="914400" y="242316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Connector Landscape</a:t>
            </a: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D2106908-29E3-1F39-CDCD-6C8C0C282245}"/>
              </a:ext>
            </a:extLst>
          </p:cNvPr>
          <p:cNvSpPr>
            <a:spLocks noGrp="1"/>
          </p:cNvSpPr>
          <p:nvPr/>
        </p:nvSpPr>
        <p:spPr>
          <a:xfrm>
            <a:off x="360000" y="292608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D1521A34-BEC8-0549-78C3-E632A19711A0}"/>
              </a:ext>
            </a:extLst>
          </p:cNvPr>
          <p:cNvSpPr>
            <a:spLocks noGrp="1"/>
          </p:cNvSpPr>
          <p:nvPr/>
        </p:nvSpPr>
        <p:spPr>
          <a:xfrm>
            <a:off x="360000" y="292608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13:30</a:t>
            </a:r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5AD4DFE7-B0ED-2315-1900-D4B90BFF3C99}"/>
              </a:ext>
            </a:extLst>
          </p:cNvPr>
          <p:cNvSpPr>
            <a:spLocks noGrp="1"/>
          </p:cNvSpPr>
          <p:nvPr/>
        </p:nvSpPr>
        <p:spPr>
          <a:xfrm>
            <a:off x="914400" y="297180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Connector Configuration</a:t>
            </a:r>
          </a:p>
        </p:txBody>
      </p:sp>
      <p:sp>
        <p:nvSpPr>
          <p:cNvPr id="41" name="Shape 13">
            <a:extLst>
              <a:ext uri="{FF2B5EF4-FFF2-40B4-BE49-F238E27FC236}">
                <a16:creationId xmlns:a16="http://schemas.microsoft.com/office/drawing/2014/main" id="{2EB4B393-BBF4-A162-CC88-18BF5114CD2F}"/>
              </a:ext>
            </a:extLst>
          </p:cNvPr>
          <p:cNvSpPr>
            <a:spLocks noGrp="1"/>
          </p:cNvSpPr>
          <p:nvPr/>
        </p:nvSpPr>
        <p:spPr>
          <a:xfrm>
            <a:off x="360000" y="347472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31CD0CC6-BB3B-53FD-8711-3EB86D57BAAA}"/>
              </a:ext>
            </a:extLst>
          </p:cNvPr>
          <p:cNvSpPr>
            <a:spLocks noGrp="1"/>
          </p:cNvSpPr>
          <p:nvPr/>
        </p:nvSpPr>
        <p:spPr>
          <a:xfrm>
            <a:off x="360000" y="347472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15:00</a:t>
            </a: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C1A2BC81-067A-4BDE-F48A-0F891395FCD3}"/>
              </a:ext>
            </a:extLst>
          </p:cNvPr>
          <p:cNvSpPr>
            <a:spLocks noGrp="1"/>
          </p:cNvSpPr>
          <p:nvPr/>
        </p:nvSpPr>
        <p:spPr>
          <a:xfrm>
            <a:off x="914400" y="352044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Hands-On Lab</a:t>
            </a:r>
          </a:p>
        </p:txBody>
      </p:sp>
      <p:sp>
        <p:nvSpPr>
          <p:cNvPr id="44" name="Shape 16">
            <a:extLst>
              <a:ext uri="{FF2B5EF4-FFF2-40B4-BE49-F238E27FC236}">
                <a16:creationId xmlns:a16="http://schemas.microsoft.com/office/drawing/2014/main" id="{B1AD49E0-5FD0-9058-043E-ECFA9DB42586}"/>
              </a:ext>
            </a:extLst>
          </p:cNvPr>
          <p:cNvSpPr>
            <a:spLocks noGrp="1"/>
          </p:cNvSpPr>
          <p:nvPr/>
        </p:nvSpPr>
        <p:spPr>
          <a:xfrm>
            <a:off x="360000" y="4023360"/>
            <a:ext cx="540000" cy="319680"/>
          </a:xfrm>
          <a:prstGeom prst="rect">
            <a:avLst/>
          </a:prstGeom>
          <a:solidFill>
            <a:srgbClr val="00ADEF"/>
          </a:solidFill>
          <a:ln w="12700">
            <a:solidFill>
              <a:srgbClr val="00ADE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843750B9-E518-F2B7-1240-67744CFD5EC7}"/>
              </a:ext>
            </a:extLst>
          </p:cNvPr>
          <p:cNvSpPr>
            <a:spLocks noGrp="1"/>
          </p:cNvSpPr>
          <p:nvPr/>
        </p:nvSpPr>
        <p:spPr>
          <a:xfrm>
            <a:off x="360000" y="4023360"/>
            <a:ext cx="540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16:30</a:t>
            </a:r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5E0B3A77-B903-1225-2E6D-E39DAA25154A}"/>
              </a:ext>
            </a:extLst>
          </p:cNvPr>
          <p:cNvSpPr>
            <a:spLocks noGrp="1"/>
          </p:cNvSpPr>
          <p:nvPr/>
        </p:nvSpPr>
        <p:spPr>
          <a:xfrm>
            <a:off x="914400" y="40690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4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 &amp; Recap</a:t>
            </a:r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5062DCB0-3727-311A-74F5-84B6FD57BB67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604414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A0DD2-BEAF-8025-38DD-950715F8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>
            <a:extLst>
              <a:ext uri="{FF2B5EF4-FFF2-40B4-BE49-F238E27FC236}">
                <a16:creationId xmlns:a16="http://schemas.microsoft.com/office/drawing/2014/main" id="{67F65579-8A88-FDBF-AA59-505359F1C7EF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What is Change Data Capture?</a:t>
            </a:r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0F730F3D-95F2-ACB2-3C7F-C3A82A759E3D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484596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is a design pattern that records row-level data changes (inserts, updates, deletes) and propagates them as events in real time.</a:t>
            </a:r>
          </a:p>
          <a:p>
            <a:endParaRPr sz="1400" b="1" u="none">
              <a:solidFill>
                <a:srgbClr val="002060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Why CDC?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Eliminates heavy batch ETL jobs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Enables real-time data synchronization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Supports microservices &amp; event-driven architectures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Guarantees data consistency and ordering</a:t>
            </a:r>
          </a:p>
        </p:txBody>
      </p:sp>
      <p:sp>
        <p:nvSpPr>
          <p:cNvPr id="50" name="Text 2">
            <a:extLst>
              <a:ext uri="{FF2B5EF4-FFF2-40B4-BE49-F238E27FC236}">
                <a16:creationId xmlns:a16="http://schemas.microsoft.com/office/drawing/2014/main" id="{EE5EF410-EB24-0FC9-B077-720FFF7AED5F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A4D5B4AD-0BE0-6B73-D9D4-8E64DCC13F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076000" y="556200"/>
            <a:ext cx="3564000" cy="232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3522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7B600-6ED4-623C-348C-72CDA40A0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>
            <a:extLst>
              <a:ext uri="{FF2B5EF4-FFF2-40B4-BE49-F238E27FC236}">
                <a16:creationId xmlns:a16="http://schemas.microsoft.com/office/drawing/2014/main" id="{6C5600F6-FD18-4EE2-6F29-568BFCD20B6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Patterns: Push vs Pull</a:t>
            </a:r>
          </a:p>
        </p:txBody>
      </p:sp>
      <p:sp>
        <p:nvSpPr>
          <p:cNvPr id="53" name="Shape 1">
            <a:extLst>
              <a:ext uri="{FF2B5EF4-FFF2-40B4-BE49-F238E27FC236}">
                <a16:creationId xmlns:a16="http://schemas.microsoft.com/office/drawing/2014/main" id="{FC22BD1B-6870-4B0C-3227-509EAB086732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4114440" cy="201132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 w="12700">
            <a:solidFill>
              <a:srgbClr val="C5E1A5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54" name="Text 2">
            <a:extLst>
              <a:ext uri="{FF2B5EF4-FFF2-40B4-BE49-F238E27FC236}">
                <a16:creationId xmlns:a16="http://schemas.microsoft.com/office/drawing/2014/main" id="{FA1A8782-C10D-3A0C-8DE5-04DF033CB54A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402300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Push (Log-based)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Database writes change events to a log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CDC tool streams events to consumers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Low overhead, preserves order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Requires privileges on DB logs</a:t>
            </a:r>
          </a:p>
        </p:txBody>
      </p:sp>
      <p:sp>
        <p:nvSpPr>
          <p:cNvPr id="55" name="Shape 3">
            <a:extLst>
              <a:ext uri="{FF2B5EF4-FFF2-40B4-BE49-F238E27FC236}">
                <a16:creationId xmlns:a16="http://schemas.microsoft.com/office/drawing/2014/main" id="{4C6A649E-F508-1D89-63D9-31168FDE5395}"/>
              </a:ext>
            </a:extLst>
          </p:cNvPr>
          <p:cNvSpPr>
            <a:spLocks noGrp="1"/>
          </p:cNvSpPr>
          <p:nvPr/>
        </p:nvSpPr>
        <p:spPr>
          <a:xfrm>
            <a:off x="4572000" y="1097280"/>
            <a:ext cx="4114440" cy="201132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 w="12700">
            <a:solidFill>
              <a:srgbClr val="FFCC8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56" name="Text 4">
            <a:extLst>
              <a:ext uri="{FF2B5EF4-FFF2-40B4-BE49-F238E27FC236}">
                <a16:creationId xmlns:a16="http://schemas.microsoft.com/office/drawing/2014/main" id="{1D90882A-6BCD-4AC1-0F52-1EBBFDD2A802}"/>
              </a:ext>
            </a:extLst>
          </p:cNvPr>
          <p:cNvSpPr>
            <a:spLocks noGrp="1"/>
          </p:cNvSpPr>
          <p:nvPr/>
        </p:nvSpPr>
        <p:spPr>
          <a:xfrm>
            <a:off x="4617720" y="1143000"/>
            <a:ext cx="402300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Pull (Query/Trigger)</a:t>
            </a:r>
          </a:p>
          <a:p>
            <a:r>
              <a:rPr sz="1200" b="0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• Periodic queries or triggers detect changes</a:t>
            </a:r>
          </a:p>
          <a:p>
            <a:r>
              <a:rPr sz="1200" b="0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• Simple to implement, works on any DB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• Higher overhead, cannot capture deletes</a:t>
            </a:r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4D9D074E-6CD3-074C-581F-84E045555E9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02662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22C0-985B-B8E6-EADD-957BE4506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>
            <a:extLst>
              <a:ext uri="{FF2B5EF4-FFF2-40B4-BE49-F238E27FC236}">
                <a16:creationId xmlns:a16="http://schemas.microsoft.com/office/drawing/2014/main" id="{0C004AC6-8FFE-5AD5-31BE-82549B3944FC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CDC Methods &amp; Trade‑offs</a:t>
            </a:r>
          </a:p>
        </p:txBody>
      </p:sp>
      <p:graphicFrame>
        <p:nvGraphicFramePr>
          <p:cNvPr id="59" name="Table 0">
            <a:extLst>
              <a:ext uri="{FF2B5EF4-FFF2-40B4-BE49-F238E27FC236}">
                <a16:creationId xmlns:a16="http://schemas.microsoft.com/office/drawing/2014/main" id="{466F6EA0-B4FB-053B-8303-9999FF80E9D3}"/>
              </a:ext>
            </a:extLst>
          </p:cNvPr>
          <p:cNvGraphicFramePr/>
          <p:nvPr/>
        </p:nvGraphicFramePr>
        <p:xfrm>
          <a:off x="457200" y="1188720"/>
          <a:ext cx="8229240" cy="2011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Method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How it works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Query‑based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Periodically query tables using timestamp or version columns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Easy to implement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Cannot detect deletes; heavy load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Trigger‑based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Database triggers write changes to audit tables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Captures inserts, updates, deletes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Requires schema changes; overhead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Log‑based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Read database transaction logs (WAL/binlog)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Low overhead, preserves order, captures deletes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2060"/>
                          </a:solidFill>
                          <a:latin typeface="Calibri"/>
                          <a:ea typeface="Calibri"/>
                          <a:cs typeface="Calibri"/>
                        </a:rPr>
                        <a:t>Requires privileges; log formats vary</a:t>
                      </a:r>
                    </a:p>
                  </a:txBody>
                  <a:tcPr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 1">
            <a:extLst>
              <a:ext uri="{FF2B5EF4-FFF2-40B4-BE49-F238E27FC236}">
                <a16:creationId xmlns:a16="http://schemas.microsoft.com/office/drawing/2014/main" id="{5695F847-5A85-D349-0A31-05FC69DE4693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5306447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4D97-A5C6-7EEB-9C9A-60AE12188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>
            <a:extLst>
              <a:ext uri="{FF2B5EF4-FFF2-40B4-BE49-F238E27FC236}">
                <a16:creationId xmlns:a16="http://schemas.microsoft.com/office/drawing/2014/main" id="{A729AC88-4BF3-9C85-CF7C-0B7723E56FB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Benefits &amp; Use Cases</a:t>
            </a:r>
          </a:p>
        </p:txBody>
      </p:sp>
      <p:pic>
        <p:nvPicPr>
          <p:cNvPr id="62" name="Image 0">
            <a:extLst>
              <a:ext uri="{FF2B5EF4-FFF2-40B4-BE49-F238E27FC236}">
                <a16:creationId xmlns:a16="http://schemas.microsoft.com/office/drawing/2014/main" id="{296A0E4E-861B-1EB8-000C-0FDDACCBB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188720"/>
            <a:ext cx="319680" cy="319680"/>
          </a:xfrm>
          <a:prstGeom prst="rect">
            <a:avLst/>
          </a:prstGeom>
        </p:spPr>
      </p:pic>
      <p:sp>
        <p:nvSpPr>
          <p:cNvPr id="63" name="Text 1">
            <a:extLst>
              <a:ext uri="{FF2B5EF4-FFF2-40B4-BE49-F238E27FC236}">
                <a16:creationId xmlns:a16="http://schemas.microsoft.com/office/drawing/2014/main" id="{9DE77637-4F60-9BA5-1C2C-2412CB7C3673}"/>
              </a:ext>
            </a:extLst>
          </p:cNvPr>
          <p:cNvSpPr>
            <a:spLocks noGrp="1"/>
          </p:cNvSpPr>
          <p:nvPr/>
        </p:nvSpPr>
        <p:spPr>
          <a:xfrm>
            <a:off x="822960" y="12344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Real‑time analytics &amp; reporting</a:t>
            </a:r>
          </a:p>
        </p:txBody>
      </p:sp>
      <p:pic>
        <p:nvPicPr>
          <p:cNvPr id="64" name="Image 1">
            <a:extLst>
              <a:ext uri="{FF2B5EF4-FFF2-40B4-BE49-F238E27FC236}">
                <a16:creationId xmlns:a16="http://schemas.microsoft.com/office/drawing/2014/main" id="{A5637EAB-1AA5-86A3-501E-95CB776C5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7200" y="1645920"/>
            <a:ext cx="319680" cy="319680"/>
          </a:xfrm>
          <a:prstGeom prst="rect">
            <a:avLst/>
          </a:prstGeom>
        </p:spPr>
      </p:pic>
      <p:sp>
        <p:nvSpPr>
          <p:cNvPr id="65" name="Text 2">
            <a:extLst>
              <a:ext uri="{FF2B5EF4-FFF2-40B4-BE49-F238E27FC236}">
                <a16:creationId xmlns:a16="http://schemas.microsoft.com/office/drawing/2014/main" id="{A6E9F8C5-1EDF-7436-E88A-E296F3899D64}"/>
              </a:ext>
            </a:extLst>
          </p:cNvPr>
          <p:cNvSpPr>
            <a:spLocks noGrp="1"/>
          </p:cNvSpPr>
          <p:nvPr/>
        </p:nvSpPr>
        <p:spPr>
          <a:xfrm>
            <a:off x="822960" y="16916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Microservices data synchronization</a:t>
            </a:r>
          </a:p>
        </p:txBody>
      </p:sp>
      <p:pic>
        <p:nvPicPr>
          <p:cNvPr id="66" name="Image 2">
            <a:extLst>
              <a:ext uri="{FF2B5EF4-FFF2-40B4-BE49-F238E27FC236}">
                <a16:creationId xmlns:a16="http://schemas.microsoft.com/office/drawing/2014/main" id="{A18FEE0D-8C0C-557D-664A-CC7F63F65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200" y="2103120"/>
            <a:ext cx="319680" cy="319680"/>
          </a:xfrm>
          <a:prstGeom prst="rect">
            <a:avLst/>
          </a:prstGeom>
        </p:spPr>
      </p:pic>
      <p:sp>
        <p:nvSpPr>
          <p:cNvPr id="67" name="Text 3">
            <a:extLst>
              <a:ext uri="{FF2B5EF4-FFF2-40B4-BE49-F238E27FC236}">
                <a16:creationId xmlns:a16="http://schemas.microsoft.com/office/drawing/2014/main" id="{FE138AD6-E289-25B1-3B3B-80BFE831B5B7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Cloud migration &amp; replication</a:t>
            </a:r>
          </a:p>
        </p:txBody>
      </p:sp>
      <p:pic>
        <p:nvPicPr>
          <p:cNvPr id="68" name="Image 3">
            <a:extLst>
              <a:ext uri="{FF2B5EF4-FFF2-40B4-BE49-F238E27FC236}">
                <a16:creationId xmlns:a16="http://schemas.microsoft.com/office/drawing/2014/main" id="{A97F97AB-E5B5-33B8-2818-05C6646ED3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7200" y="2560320"/>
            <a:ext cx="319680" cy="319680"/>
          </a:xfrm>
          <a:prstGeom prst="rect">
            <a:avLst/>
          </a:prstGeom>
        </p:spPr>
      </p:pic>
      <p:sp>
        <p:nvSpPr>
          <p:cNvPr id="69" name="Text 4">
            <a:extLst>
              <a:ext uri="{FF2B5EF4-FFF2-40B4-BE49-F238E27FC236}">
                <a16:creationId xmlns:a16="http://schemas.microsoft.com/office/drawing/2014/main" id="{D7A683E4-F9B5-A7EE-3D9A-A85D98B5831D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Audit logging &amp; compliance</a:t>
            </a:r>
          </a:p>
        </p:txBody>
      </p:sp>
      <p:pic>
        <p:nvPicPr>
          <p:cNvPr id="70" name="Image 4">
            <a:extLst>
              <a:ext uri="{FF2B5EF4-FFF2-40B4-BE49-F238E27FC236}">
                <a16:creationId xmlns:a16="http://schemas.microsoft.com/office/drawing/2014/main" id="{03938125-CA9A-161D-EE0B-8DE0EA1CDE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1188720"/>
            <a:ext cx="273960" cy="273960"/>
          </a:xfrm>
          <a:prstGeom prst="rect">
            <a:avLst/>
          </a:prstGeom>
        </p:spPr>
      </p:pic>
      <p:sp>
        <p:nvSpPr>
          <p:cNvPr id="71" name="Text 5">
            <a:extLst>
              <a:ext uri="{FF2B5EF4-FFF2-40B4-BE49-F238E27FC236}">
                <a16:creationId xmlns:a16="http://schemas.microsoft.com/office/drawing/2014/main" id="{2CF1959E-F341-4794-B757-C6DDB4C85010}"/>
              </a:ext>
            </a:extLst>
          </p:cNvPr>
          <p:cNvSpPr>
            <a:spLocks noGrp="1"/>
          </p:cNvSpPr>
          <p:nvPr/>
        </p:nvSpPr>
        <p:spPr>
          <a:xfrm>
            <a:off x="5852160" y="12344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Real‑time analytics and dashboards</a:t>
            </a:r>
          </a:p>
        </p:txBody>
      </p:sp>
      <p:pic>
        <p:nvPicPr>
          <p:cNvPr id="72" name="Image 5">
            <a:extLst>
              <a:ext uri="{FF2B5EF4-FFF2-40B4-BE49-F238E27FC236}">
                <a16:creationId xmlns:a16="http://schemas.microsoft.com/office/drawing/2014/main" id="{38BF55DE-9838-8EF4-4CA8-630F6A708F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1645920"/>
            <a:ext cx="273960" cy="273960"/>
          </a:xfrm>
          <a:prstGeom prst="rect">
            <a:avLst/>
          </a:prstGeom>
        </p:spPr>
      </p:pic>
      <p:sp>
        <p:nvSpPr>
          <p:cNvPr id="73" name="Text 6">
            <a:extLst>
              <a:ext uri="{FF2B5EF4-FFF2-40B4-BE49-F238E27FC236}">
                <a16:creationId xmlns:a16="http://schemas.microsoft.com/office/drawing/2014/main" id="{2AB8612D-A1E2-8BE8-9953-DBE72007D9B8}"/>
              </a:ext>
            </a:extLst>
          </p:cNvPr>
          <p:cNvSpPr>
            <a:spLocks noGrp="1"/>
          </p:cNvSpPr>
          <p:nvPr/>
        </p:nvSpPr>
        <p:spPr>
          <a:xfrm>
            <a:off x="5852160" y="16916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Cache invalidation &amp; search index sync</a:t>
            </a:r>
          </a:p>
        </p:txBody>
      </p:sp>
      <p:pic>
        <p:nvPicPr>
          <p:cNvPr id="74" name="Image 6">
            <a:extLst>
              <a:ext uri="{FF2B5EF4-FFF2-40B4-BE49-F238E27FC236}">
                <a16:creationId xmlns:a16="http://schemas.microsoft.com/office/drawing/2014/main" id="{F6CD0DA8-17AD-F87A-2BE1-6A5A1236D9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2103120"/>
            <a:ext cx="273960" cy="273960"/>
          </a:xfrm>
          <a:prstGeom prst="rect">
            <a:avLst/>
          </a:prstGeom>
        </p:spPr>
      </p:pic>
      <p:sp>
        <p:nvSpPr>
          <p:cNvPr id="75" name="Text 7">
            <a:extLst>
              <a:ext uri="{FF2B5EF4-FFF2-40B4-BE49-F238E27FC236}">
                <a16:creationId xmlns:a16="http://schemas.microsoft.com/office/drawing/2014/main" id="{0114C888-C8D5-D1AF-7D12-9079FCBB683B}"/>
              </a:ext>
            </a:extLst>
          </p:cNvPr>
          <p:cNvSpPr>
            <a:spLocks noGrp="1"/>
          </p:cNvSpPr>
          <p:nvPr/>
        </p:nvSpPr>
        <p:spPr>
          <a:xfrm>
            <a:off x="5852160" y="21488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Microservices integration &amp; outbox pattern</a:t>
            </a:r>
          </a:p>
        </p:txBody>
      </p:sp>
      <p:pic>
        <p:nvPicPr>
          <p:cNvPr id="76" name="Image 7">
            <a:extLst>
              <a:ext uri="{FF2B5EF4-FFF2-40B4-BE49-F238E27FC236}">
                <a16:creationId xmlns:a16="http://schemas.microsoft.com/office/drawing/2014/main" id="{C27F1019-73BC-5E6C-0336-BDE62F0ABA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486400" y="2560320"/>
            <a:ext cx="273960" cy="273960"/>
          </a:xfrm>
          <a:prstGeom prst="rect">
            <a:avLst/>
          </a:prstGeom>
        </p:spPr>
      </p:pic>
      <p:sp>
        <p:nvSpPr>
          <p:cNvPr id="77" name="Text 8">
            <a:extLst>
              <a:ext uri="{FF2B5EF4-FFF2-40B4-BE49-F238E27FC236}">
                <a16:creationId xmlns:a16="http://schemas.microsoft.com/office/drawing/2014/main" id="{63B7CF5A-3284-B3CF-0D3F-016ABD81BCE8}"/>
              </a:ext>
            </a:extLst>
          </p:cNvPr>
          <p:cNvSpPr>
            <a:spLocks noGrp="1"/>
          </p:cNvSpPr>
          <p:nvPr/>
        </p:nvSpPr>
        <p:spPr>
          <a:xfrm>
            <a:off x="5852160" y="26060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Zero‑downtime migrations</a:t>
            </a:r>
          </a:p>
        </p:txBody>
      </p:sp>
      <p:sp>
        <p:nvSpPr>
          <p:cNvPr id="78" name="Text 9">
            <a:extLst>
              <a:ext uri="{FF2B5EF4-FFF2-40B4-BE49-F238E27FC236}">
                <a16:creationId xmlns:a16="http://schemas.microsoft.com/office/drawing/2014/main" id="{8396273B-4896-41E5-DBF2-11D65F2EF36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8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9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526551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07345-C04D-80F5-7764-B96571645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>
            <a:extLst>
              <a:ext uri="{FF2B5EF4-FFF2-40B4-BE49-F238E27FC236}">
                <a16:creationId xmlns:a16="http://schemas.microsoft.com/office/drawing/2014/main" id="{1BFCD48F-CA97-8AD1-4048-282F0CCF04F2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1: Identify the CDC Method</a:t>
            </a:r>
          </a:p>
        </p:txBody>
      </p:sp>
      <p:sp>
        <p:nvSpPr>
          <p:cNvPr id="80" name="Text 1">
            <a:extLst>
              <a:ext uri="{FF2B5EF4-FFF2-40B4-BE49-F238E27FC236}">
                <a16:creationId xmlns:a16="http://schemas.microsoft.com/office/drawing/2014/main" id="{AD5944C6-80F7-7AF2-9C30-C80A12A5A017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You will see three scenarios below. For each, decide whether it is best implemented using a query‑based, trigger‑based, or log‑based CDC method.</a:t>
            </a:r>
          </a:p>
        </p:txBody>
      </p:sp>
      <p:sp>
        <p:nvSpPr>
          <p:cNvPr id="81" name="Text 2">
            <a:extLst>
              <a:ext uri="{FF2B5EF4-FFF2-40B4-BE49-F238E27FC236}">
                <a16:creationId xmlns:a16="http://schemas.microsoft.com/office/drawing/2014/main" id="{6E05D7DF-A8E3-AC9F-1993-5BB33ABAD56F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A legacy database cannot be modified, but you need to capture deletes.</a:t>
            </a: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B5CB631A-4F4C-2CA6-D8B7-49B1B374F252}"/>
              </a:ext>
            </a:extLst>
          </p:cNvPr>
          <p:cNvSpPr>
            <a:spLocks noGrp="1"/>
          </p:cNvSpPr>
          <p:nvPr/>
        </p:nvSpPr>
        <p:spPr>
          <a:xfrm>
            <a:off x="548640" y="2468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You only need to track inserts and updates for a small table once a day.</a:t>
            </a:r>
          </a:p>
        </p:txBody>
      </p:sp>
      <p:sp>
        <p:nvSpPr>
          <p:cNvPr id="83" name="Text 4">
            <a:extLst>
              <a:ext uri="{FF2B5EF4-FFF2-40B4-BE49-F238E27FC236}">
                <a16:creationId xmlns:a16="http://schemas.microsoft.com/office/drawing/2014/main" id="{757DBC26-FD61-B190-FA6B-AF12ED0800B2}"/>
              </a:ext>
            </a:extLst>
          </p:cNvPr>
          <p:cNvSpPr>
            <a:spLocks noGrp="1"/>
          </p:cNvSpPr>
          <p:nvPr/>
        </p:nvSpPr>
        <p:spPr>
          <a:xfrm>
            <a:off x="548640" y="2926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A high‑volume transactional database where ordering of events matters.</a:t>
            </a:r>
          </a:p>
        </p:txBody>
      </p:sp>
      <p:sp>
        <p:nvSpPr>
          <p:cNvPr id="84" name="Text 5">
            <a:extLst>
              <a:ext uri="{FF2B5EF4-FFF2-40B4-BE49-F238E27FC236}">
                <a16:creationId xmlns:a16="http://schemas.microsoft.com/office/drawing/2014/main" id="{F05F630C-F72D-1F1A-B1CA-5AFCA451F63C}"/>
              </a:ext>
            </a:extLst>
          </p:cNvPr>
          <p:cNvSpPr>
            <a:spLocks noGrp="1"/>
          </p:cNvSpPr>
          <p:nvPr/>
        </p:nvSpPr>
        <p:spPr>
          <a:xfrm>
            <a:off x="457200" y="36576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with your group and share your answers!</a:t>
            </a:r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B76116F4-3085-DB46-6717-D2B302FCDB40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17234978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887D6-937F-EA47-B0B5-F8C071512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>
            <a:extLst>
              <a:ext uri="{FF2B5EF4-FFF2-40B4-BE49-F238E27FC236}">
                <a16:creationId xmlns:a16="http://schemas.microsoft.com/office/drawing/2014/main" id="{88938BC5-F2CD-123C-093C-02AE7CB0953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Overview &amp; Pipeline</a:t>
            </a:r>
          </a:p>
        </p:txBody>
      </p:sp>
      <p:sp>
        <p:nvSpPr>
          <p:cNvPr id="87" name="Text 1">
            <a:extLst>
              <a:ext uri="{FF2B5EF4-FFF2-40B4-BE49-F238E27FC236}">
                <a16:creationId xmlns:a16="http://schemas.microsoft.com/office/drawing/2014/main" id="{F7B7355A-9141-8CAD-6913-8BBD3AC6275B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is an open‑source platform that captures row‑level changes from databases and streams them via Kafka.</a:t>
            </a:r>
          </a:p>
          <a:p>
            <a:endParaRPr sz="1400" b="1" u="none">
              <a:solidFill>
                <a:srgbClr val="002060"/>
              </a:solidFill>
              <a:latin typeface="Calibri"/>
              <a:ea typeface="Calibri"/>
              <a:cs typeface="Calibri"/>
            </a:endParaRP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It reads transaction logs (WAL/binlog) instead of querying tables, producing events with consistent ordering.</a:t>
            </a:r>
          </a:p>
          <a:p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Events contain before/after values, metadata and operation type, enabling downstream services to react.</a:t>
            </a:r>
          </a:p>
        </p:txBody>
      </p:sp>
      <p:pic>
        <p:nvPicPr>
          <p:cNvPr id="88" name="Image 0">
            <a:extLst>
              <a:ext uri="{FF2B5EF4-FFF2-40B4-BE49-F238E27FC236}">
                <a16:creationId xmlns:a16="http://schemas.microsoft.com/office/drawing/2014/main" id="{3B61AB4C-2AE5-C776-9541-5D4F8DC24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77840" y="1097280"/>
            <a:ext cx="3200040" cy="2285640"/>
          </a:xfrm>
          <a:prstGeom prst="rect">
            <a:avLst/>
          </a:prstGeom>
        </p:spPr>
      </p:pic>
      <p:sp>
        <p:nvSpPr>
          <p:cNvPr id="89" name="Text 2">
            <a:extLst>
              <a:ext uri="{FF2B5EF4-FFF2-40B4-BE49-F238E27FC236}">
                <a16:creationId xmlns:a16="http://schemas.microsoft.com/office/drawing/2014/main" id="{8D04561F-1473-8B71-C932-7A7811FA5628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3804355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85C6F-BBCA-AFD8-DD5E-647229511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>
            <a:extLst>
              <a:ext uri="{FF2B5EF4-FFF2-40B4-BE49-F238E27FC236}">
                <a16:creationId xmlns:a16="http://schemas.microsoft.com/office/drawing/2014/main" id="{008A4C81-172A-5841-520C-10DE84D069A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Architecture Diagram</a:t>
            </a:r>
          </a:p>
        </p:txBody>
      </p:sp>
      <p:sp>
        <p:nvSpPr>
          <p:cNvPr id="91" name="Text 1">
            <a:extLst>
              <a:ext uri="{FF2B5EF4-FFF2-40B4-BE49-F238E27FC236}">
                <a16:creationId xmlns:a16="http://schemas.microsoft.com/office/drawing/2014/main" id="{CE3FB862-0DE3-EE9E-6583-D90648E32B08}"/>
              </a:ext>
            </a:extLst>
          </p:cNvPr>
          <p:cNvSpPr>
            <a:spLocks noGrp="1"/>
          </p:cNvSpPr>
          <p:nvPr/>
        </p:nvSpPr>
        <p:spPr>
          <a:xfrm>
            <a:off x="5220000" y="1188720"/>
            <a:ext cx="39236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1. Source connectors tail transaction logs from DBs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2. Kafka Connect executes connectors &amp; persists offsets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3. Events written to Kafka topics (one per table or pattern)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4. Sink connectors &amp; consumers deliver events to targets</a:t>
            </a:r>
          </a:p>
        </p:txBody>
      </p:sp>
      <p:sp>
        <p:nvSpPr>
          <p:cNvPr id="92" name="Text 2">
            <a:extLst>
              <a:ext uri="{FF2B5EF4-FFF2-40B4-BE49-F238E27FC236}">
                <a16:creationId xmlns:a16="http://schemas.microsoft.com/office/drawing/2014/main" id="{84CB144A-833A-3501-555C-8BD4ED91402F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FD012189-3B2C-D96B-56BC-3EC2F9404B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204" b="2728"/>
          <a:stretch/>
        </p:blipFill>
        <p:spPr>
          <a:xfrm>
            <a:off x="72000" y="1188720"/>
            <a:ext cx="5039640" cy="223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1681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39748-4911-4746-41DD-5A3EE34CA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>
            <a:extLst>
              <a:ext uri="{FF2B5EF4-FFF2-40B4-BE49-F238E27FC236}">
                <a16:creationId xmlns:a16="http://schemas.microsoft.com/office/drawing/2014/main" id="{42206D13-03F3-3406-7D7C-0D6268D7344F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Deployment Options &amp; Server</a:t>
            </a:r>
          </a:p>
        </p:txBody>
      </p:sp>
      <p:pic>
        <p:nvPicPr>
          <p:cNvPr id="95" name="Image 0">
            <a:extLst>
              <a:ext uri="{FF2B5EF4-FFF2-40B4-BE49-F238E27FC236}">
                <a16:creationId xmlns:a16="http://schemas.microsoft.com/office/drawing/2014/main" id="{95B04FA9-6A6B-7AE3-FE9C-53DBD2CB1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097280"/>
            <a:ext cx="4388760" cy="2377080"/>
          </a:xfrm>
          <a:prstGeom prst="rect">
            <a:avLst/>
          </a:prstGeom>
        </p:spPr>
      </p:pic>
      <p:sp>
        <p:nvSpPr>
          <p:cNvPr id="96" name="Text 1">
            <a:extLst>
              <a:ext uri="{FF2B5EF4-FFF2-40B4-BE49-F238E27FC236}">
                <a16:creationId xmlns:a16="http://schemas.microsoft.com/office/drawing/2014/main" id="{643E3D97-E09D-587D-BD23-A06C202380D2}"/>
              </a:ext>
            </a:extLst>
          </p:cNvPr>
          <p:cNvSpPr>
            <a:spLocks noGrp="1"/>
          </p:cNvSpPr>
          <p:nvPr/>
        </p:nvSpPr>
        <p:spPr>
          <a:xfrm>
            <a:off x="4937760" y="1097280"/>
            <a:ext cx="411444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Server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Streams events to other messaging systems (Kinesis, Pub/Sub, Pulsar)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Deployment Options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Embedded in application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Standalone server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Kafka Connect (enterprise use cases)</a:t>
            </a:r>
          </a:p>
        </p:txBody>
      </p:sp>
      <p:sp>
        <p:nvSpPr>
          <p:cNvPr id="97" name="Text 2">
            <a:extLst>
              <a:ext uri="{FF2B5EF4-FFF2-40B4-BE49-F238E27FC236}">
                <a16:creationId xmlns:a16="http://schemas.microsoft.com/office/drawing/2014/main" id="{AC899C99-74AC-7309-ACA8-235A89891810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9535380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93A0-B613-618E-6DE5-7FC0A201F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>
            <a:extLst>
              <a:ext uri="{FF2B5EF4-FFF2-40B4-BE49-F238E27FC236}">
                <a16:creationId xmlns:a16="http://schemas.microsoft.com/office/drawing/2014/main" id="{88D113EC-8DDE-606A-4161-A401A8B9E3B2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Events &amp; Snapshot Modes</a:t>
            </a:r>
          </a:p>
        </p:txBody>
      </p:sp>
      <p:sp>
        <p:nvSpPr>
          <p:cNvPr id="99" name="Text 1">
            <a:extLst>
              <a:ext uri="{FF2B5EF4-FFF2-40B4-BE49-F238E27FC236}">
                <a16:creationId xmlns:a16="http://schemas.microsoft.com/office/drawing/2014/main" id="{F1541EE4-FBA2-6DC0-C426-4B7253FD576D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4297320" cy="228564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"before": { "id": 1, "name": "Alice"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"after": { "id": 1, "name": "Alicia"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"source": { "db": "inventory", "table": "customers"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"op": "u",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"ts_ms": 1680023456789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0" name="Text 2">
            <a:extLst>
              <a:ext uri="{FF2B5EF4-FFF2-40B4-BE49-F238E27FC236}">
                <a16:creationId xmlns:a16="http://schemas.microsoft.com/office/drawing/2014/main" id="{5E2564D4-70F9-6773-CB68-E31736306D33}"/>
              </a:ext>
            </a:extLst>
          </p:cNvPr>
          <p:cNvSpPr>
            <a:spLocks noGrp="1"/>
          </p:cNvSpPr>
          <p:nvPr/>
        </p:nvSpPr>
        <p:spPr>
          <a:xfrm>
            <a:off x="5029200" y="1188720"/>
            <a:ext cx="41144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Event Fields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before / after: row state around the commit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source: database, table and log position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op: r=snapshot, c=create, u=update, d=delete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ts_ms: connector processing timestamp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Snapshot Behaviour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initial: baseline snapshot only when no stored offset exists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no_data: skip table snapshot and stream new log changes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incremental: initiated later through a Debezium signal while streaming continues</a:t>
            </a:r>
          </a:p>
        </p:txBody>
      </p:sp>
      <p:sp>
        <p:nvSpPr>
          <p:cNvPr id="101" name="Text 3">
            <a:extLst>
              <a:ext uri="{FF2B5EF4-FFF2-40B4-BE49-F238E27FC236}">
                <a16:creationId xmlns:a16="http://schemas.microsoft.com/office/drawing/2014/main" id="{674E84DE-7E68-C46A-6C00-B19F115A1E83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9606207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34EB4-8760-4EFF-4074-20CEF4058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>
            <a:extLst>
              <a:ext uri="{FF2B5EF4-FFF2-40B4-BE49-F238E27FC236}">
                <a16:creationId xmlns:a16="http://schemas.microsoft.com/office/drawing/2014/main" id="{25EF2F35-B6B6-7271-E463-CB9E210AD0E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Durability &amp; Fault Tolerance</a:t>
            </a:r>
          </a:p>
        </p:txBody>
      </p:sp>
      <p:sp>
        <p:nvSpPr>
          <p:cNvPr id="103" name="Text 1">
            <a:extLst>
              <a:ext uri="{FF2B5EF4-FFF2-40B4-BE49-F238E27FC236}">
                <a16:creationId xmlns:a16="http://schemas.microsoft.com/office/drawing/2014/main" id="{212AE6BD-7B47-F3FB-E19F-F7FBA8918286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Kafka Connect stores connector offsets so Debezium can resume after restart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 restart can redeliver records around recovery; downstream writes should be idempotent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Heartbeats help advance WAL positions during quiet tables</a:t>
            </a:r>
          </a:p>
        </p:txBody>
      </p:sp>
      <p:sp>
        <p:nvSpPr>
          <p:cNvPr id="104" name="Text 2">
            <a:extLst>
              <a:ext uri="{FF2B5EF4-FFF2-40B4-BE49-F238E27FC236}">
                <a16:creationId xmlns:a16="http://schemas.microsoft.com/office/drawing/2014/main" id="{9CE03B53-4118-3A33-2282-BFC83E953F7F}"/>
              </a:ext>
            </a:extLst>
          </p:cNvPr>
          <p:cNvSpPr>
            <a:spLocks noGrp="1"/>
          </p:cNvSpPr>
          <p:nvPr/>
        </p:nvSpPr>
        <p:spPr>
          <a:xfrm>
            <a:off x="5120640" y="1188720"/>
            <a:ext cx="384012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Initial snapshot records use op=r; subsequent committed changes stream from WAL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Incremental snapshots run in chunks when triggered through signaling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Monitor connector status, lag, slot health and failed tasks</a:t>
            </a:r>
          </a:p>
        </p:txBody>
      </p:sp>
      <p:sp>
        <p:nvSpPr>
          <p:cNvPr id="105" name="Text 3">
            <a:extLst>
              <a:ext uri="{FF2B5EF4-FFF2-40B4-BE49-F238E27FC236}">
                <a16:creationId xmlns:a16="http://schemas.microsoft.com/office/drawing/2014/main" id="{84BCEF54-F393-FD71-BAAD-1311260F278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3612455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67190-E2A5-2402-E606-AE10BE93E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>
            <a:extLst>
              <a:ext uri="{FF2B5EF4-FFF2-40B4-BE49-F238E27FC236}">
                <a16:creationId xmlns:a16="http://schemas.microsoft.com/office/drawing/2014/main" id="{396197C7-4F77-262B-72AF-BD1526C02C0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2: Decoding an Event</a:t>
            </a:r>
          </a:p>
        </p:txBody>
      </p:sp>
      <p:sp>
        <p:nvSpPr>
          <p:cNvPr id="107" name="Text 1">
            <a:extLst>
              <a:ext uri="{FF2B5EF4-FFF2-40B4-BE49-F238E27FC236}">
                <a16:creationId xmlns:a16="http://schemas.microsoft.com/office/drawing/2014/main" id="{D8F361BD-7B30-6A95-680B-EA6C92A0BCD0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Examine the following event JSON and answer: what operation occurred, and which fields changed?</a:t>
            </a:r>
          </a:p>
          <a:p>
            <a:pPr>
              <a:lnSpc>
                <a:spcPct val="100000"/>
              </a:lnSpc>
              <a:buNone/>
            </a:pPr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Text 2">
            <a:extLst>
              <a:ext uri="{FF2B5EF4-FFF2-40B4-BE49-F238E27FC236}">
                <a16:creationId xmlns:a16="http://schemas.microsoft.com/office/drawing/2014/main" id="{AFCAEA0E-D05F-9D15-2953-B1C602C6DD38}"/>
              </a:ext>
            </a:extLst>
          </p:cNvPr>
          <p:cNvSpPr>
            <a:spLocks noGrp="1"/>
          </p:cNvSpPr>
          <p:nvPr/>
        </p:nvSpPr>
        <p:spPr>
          <a:xfrm>
            <a:off x="457200" y="1920240"/>
            <a:ext cx="4571640" cy="210276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"before": { "id": 3, "balance": 200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"after": { "id": 3, "balance": 250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"source": { "db": "bank", "table": "accounts" },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"op": "u",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  "ts_ms": 1680023459999</a:t>
            </a:r>
          </a:p>
          <a:p>
            <a:pPr>
              <a:lnSpc>
                <a:spcPct val="100000"/>
              </a:lnSpc>
              <a:buNone/>
            </a:pPr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9" name="Text 3">
            <a:extLst>
              <a:ext uri="{FF2B5EF4-FFF2-40B4-BE49-F238E27FC236}">
                <a16:creationId xmlns:a16="http://schemas.microsoft.com/office/drawing/2014/main" id="{D3FD19B1-080B-6A57-E835-09CB0FEFDE20}"/>
              </a:ext>
            </a:extLst>
          </p:cNvPr>
          <p:cNvSpPr>
            <a:spLocks noGrp="1"/>
          </p:cNvSpPr>
          <p:nvPr/>
        </p:nvSpPr>
        <p:spPr>
          <a:xfrm>
            <a:off x="5303520" y="1920240"/>
            <a:ext cx="32000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with your partner and share your findings.</a:t>
            </a:r>
          </a:p>
        </p:txBody>
      </p:sp>
      <p:sp>
        <p:nvSpPr>
          <p:cNvPr id="110" name="Text 4">
            <a:extLst>
              <a:ext uri="{FF2B5EF4-FFF2-40B4-BE49-F238E27FC236}">
                <a16:creationId xmlns:a16="http://schemas.microsoft.com/office/drawing/2014/main" id="{E96DC3FB-7420-5F8A-FE4E-19914E1B8893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2345455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1EACF-492A-405C-92A7-1BE73223B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>
            <a:extLst>
              <a:ext uri="{FF2B5EF4-FFF2-40B4-BE49-F238E27FC236}">
                <a16:creationId xmlns:a16="http://schemas.microsoft.com/office/drawing/2014/main" id="{DE056289-A4EB-3D93-D1C7-F90E1C98371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Debezium Connector Landscape</a:t>
            </a:r>
          </a:p>
        </p:txBody>
      </p:sp>
      <p:sp>
        <p:nvSpPr>
          <p:cNvPr id="112" name="Shape 1">
            <a:extLst>
              <a:ext uri="{FF2B5EF4-FFF2-40B4-BE49-F238E27FC236}">
                <a16:creationId xmlns:a16="http://schemas.microsoft.com/office/drawing/2014/main" id="{87A5DFB7-A0EA-C79F-CDB0-DB304CEFB78B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FBE9E7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3" name="Text 2">
            <a:extLst>
              <a:ext uri="{FF2B5EF4-FFF2-40B4-BE49-F238E27FC236}">
                <a16:creationId xmlns:a16="http://schemas.microsoft.com/office/drawing/2014/main" id="{FDE54C75-CAFC-6B07-E4EA-7BD96239FFE3}"/>
              </a:ext>
            </a:extLst>
          </p:cNvPr>
          <p:cNvSpPr>
            <a:spLocks noGrp="1"/>
          </p:cNvSpPr>
          <p:nvPr/>
        </p:nvSpPr>
        <p:spPr>
          <a:xfrm>
            <a:off x="548640" y="137160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MySQL: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Reads MySQL binlog; supports GTID and TTL; needs replica user</a:t>
            </a:r>
          </a:p>
        </p:txBody>
      </p:sp>
      <p:sp>
        <p:nvSpPr>
          <p:cNvPr id="114" name="Shape 3">
            <a:extLst>
              <a:ext uri="{FF2B5EF4-FFF2-40B4-BE49-F238E27FC236}">
                <a16:creationId xmlns:a16="http://schemas.microsoft.com/office/drawing/2014/main" id="{600D07CF-A530-FCA9-AFD9-17AE65835484}"/>
              </a:ext>
            </a:extLst>
          </p:cNvPr>
          <p:cNvSpPr>
            <a:spLocks noGrp="1"/>
          </p:cNvSpPr>
          <p:nvPr/>
        </p:nvSpPr>
        <p:spPr>
          <a:xfrm>
            <a:off x="457200" y="178308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E8EAF6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5" name="Text 4">
            <a:extLst>
              <a:ext uri="{FF2B5EF4-FFF2-40B4-BE49-F238E27FC236}">
                <a16:creationId xmlns:a16="http://schemas.microsoft.com/office/drawing/2014/main" id="{56ECE6E0-8F2A-BEAD-AEC8-954D2F96A6B4}"/>
              </a:ext>
            </a:extLst>
          </p:cNvPr>
          <p:cNvSpPr>
            <a:spLocks noGrp="1"/>
          </p:cNvSpPr>
          <p:nvPr/>
        </p:nvSpPr>
        <p:spPr>
          <a:xfrm>
            <a:off x="548640" y="187452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PostgreSQL: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Uses logical replication (WAL); supports slot &amp; publication</a:t>
            </a:r>
          </a:p>
        </p:txBody>
      </p:sp>
      <p:sp>
        <p:nvSpPr>
          <p:cNvPr id="116" name="Shape 5">
            <a:extLst>
              <a:ext uri="{FF2B5EF4-FFF2-40B4-BE49-F238E27FC236}">
                <a16:creationId xmlns:a16="http://schemas.microsoft.com/office/drawing/2014/main" id="{633C2D97-5E4B-6F0C-6127-35C1A4C51175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FFFDE7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7" name="Text 6">
            <a:extLst>
              <a:ext uri="{FF2B5EF4-FFF2-40B4-BE49-F238E27FC236}">
                <a16:creationId xmlns:a16="http://schemas.microsoft.com/office/drawing/2014/main" id="{62243692-8211-0832-72C8-204DF05F6CA8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SQL Server: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Uses SQL Server CDC; requires enabling CDC on tables</a:t>
            </a:r>
          </a:p>
        </p:txBody>
      </p:sp>
      <p:sp>
        <p:nvSpPr>
          <p:cNvPr id="118" name="Shape 7">
            <a:extLst>
              <a:ext uri="{FF2B5EF4-FFF2-40B4-BE49-F238E27FC236}">
                <a16:creationId xmlns:a16="http://schemas.microsoft.com/office/drawing/2014/main" id="{EEC23B1E-8C40-F65E-A326-D9CFE02035E2}"/>
              </a:ext>
            </a:extLst>
          </p:cNvPr>
          <p:cNvSpPr>
            <a:spLocks noGrp="1"/>
          </p:cNvSpPr>
          <p:nvPr/>
        </p:nvSpPr>
        <p:spPr>
          <a:xfrm>
            <a:off x="457200" y="278892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19" name="Text 8">
            <a:extLst>
              <a:ext uri="{FF2B5EF4-FFF2-40B4-BE49-F238E27FC236}">
                <a16:creationId xmlns:a16="http://schemas.microsoft.com/office/drawing/2014/main" id="{9D4EDAC4-92CE-D436-77F6-F8CE309795AD}"/>
              </a:ext>
            </a:extLst>
          </p:cNvPr>
          <p:cNvSpPr>
            <a:spLocks noGrp="1"/>
          </p:cNvSpPr>
          <p:nvPr/>
        </p:nvSpPr>
        <p:spPr>
          <a:xfrm>
            <a:off x="548640" y="288036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Oracle: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Uses LogMiner; container or library; additional license</a:t>
            </a:r>
          </a:p>
        </p:txBody>
      </p:sp>
      <p:sp>
        <p:nvSpPr>
          <p:cNvPr id="120" name="Shape 9">
            <a:extLst>
              <a:ext uri="{FF2B5EF4-FFF2-40B4-BE49-F238E27FC236}">
                <a16:creationId xmlns:a16="http://schemas.microsoft.com/office/drawing/2014/main" id="{8FFF8E36-704D-5E85-1E3F-CD3F9A62E2A7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456840"/>
          </a:xfrm>
          <a:prstGeom prst="roundRect">
            <a:avLst>
              <a:gd name="adj" fmla="val 20000"/>
            </a:avLst>
          </a:prstGeom>
          <a:solidFill>
            <a:srgbClr val="F3E5F5"/>
          </a:solidFill>
          <a:ln w="12700">
            <a:solidFill>
              <a:srgbClr val="DDDDD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21" name="Text 10">
            <a:extLst>
              <a:ext uri="{FF2B5EF4-FFF2-40B4-BE49-F238E27FC236}">
                <a16:creationId xmlns:a16="http://schemas.microsoft.com/office/drawing/2014/main" id="{8B604BE7-AD35-0C8F-0EED-8CD34C9AB78A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MongoDB: </a:t>
            </a: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Tails the Oplog; supports change streams; no schema</a:t>
            </a:r>
          </a:p>
        </p:txBody>
      </p:sp>
      <p:sp>
        <p:nvSpPr>
          <p:cNvPr id="122" name="Text 11">
            <a:extLst>
              <a:ext uri="{FF2B5EF4-FFF2-40B4-BE49-F238E27FC236}">
                <a16:creationId xmlns:a16="http://schemas.microsoft.com/office/drawing/2014/main" id="{34203F90-8D4E-FC46-0524-9F33AB7F7BA7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8311836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E7A6-2745-5B60-A29A-7D643312E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>
            <a:extLst>
              <a:ext uri="{FF2B5EF4-FFF2-40B4-BE49-F238E27FC236}">
                <a16:creationId xmlns:a16="http://schemas.microsoft.com/office/drawing/2014/main" id="{AC9A90A0-6400-A975-52B0-7D1AAB5C81F5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MySQL &amp; PostgreSQL Connectors</a:t>
            </a:r>
          </a:p>
        </p:txBody>
      </p:sp>
      <p:sp>
        <p:nvSpPr>
          <p:cNvPr id="124" name="Shape 1">
            <a:extLst>
              <a:ext uri="{FF2B5EF4-FFF2-40B4-BE49-F238E27FC236}">
                <a16:creationId xmlns:a16="http://schemas.microsoft.com/office/drawing/2014/main" id="{30EC4488-9E6A-7140-1A3A-27138F6DA956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4114440" cy="21942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25" name="Text 2">
            <a:extLst>
              <a:ext uri="{FF2B5EF4-FFF2-40B4-BE49-F238E27FC236}">
                <a16:creationId xmlns:a16="http://schemas.microsoft.com/office/drawing/2014/main" id="{23CD1767-0184-B31C-5A68-61E1013CC1B9}"/>
              </a:ext>
            </a:extLst>
          </p:cNvPr>
          <p:cNvSpPr>
            <a:spLocks noGrp="1"/>
          </p:cNvSpPr>
          <p:nvPr/>
        </p:nvSpPr>
        <p:spPr>
          <a:xfrm>
            <a:off x="548640" y="1188720"/>
            <a:ext cx="3931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MySQL Connector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Tails the MySQL binlog (row/statement/mixed mode)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Supports GTID, failover, timezone handling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Requires replication user &amp; binlog format ROW</a:t>
            </a:r>
          </a:p>
        </p:txBody>
      </p:sp>
      <p:sp>
        <p:nvSpPr>
          <p:cNvPr id="126" name="Shape 3">
            <a:extLst>
              <a:ext uri="{FF2B5EF4-FFF2-40B4-BE49-F238E27FC236}">
                <a16:creationId xmlns:a16="http://schemas.microsoft.com/office/drawing/2014/main" id="{34FC6715-5037-18ED-D854-DC2F7700C0FF}"/>
              </a:ext>
            </a:extLst>
          </p:cNvPr>
          <p:cNvSpPr>
            <a:spLocks noGrp="1"/>
          </p:cNvSpPr>
          <p:nvPr/>
        </p:nvSpPr>
        <p:spPr>
          <a:xfrm>
            <a:off x="4572000" y="1097280"/>
            <a:ext cx="4114440" cy="21942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27" name="Text 4">
            <a:extLst>
              <a:ext uri="{FF2B5EF4-FFF2-40B4-BE49-F238E27FC236}">
                <a16:creationId xmlns:a16="http://schemas.microsoft.com/office/drawing/2014/main" id="{17D234F0-7E39-24ED-7B39-507882CC7246}"/>
              </a:ext>
            </a:extLst>
          </p:cNvPr>
          <p:cNvSpPr>
            <a:spLocks noGrp="1"/>
          </p:cNvSpPr>
          <p:nvPr/>
        </p:nvSpPr>
        <p:spPr>
          <a:xfrm>
            <a:off x="4663440" y="1188720"/>
            <a:ext cx="3931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PostgreSQL Connector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Uses logical replication publications &amp; slots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Requires slot &amp; publication privileges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Supports incremental snapshots &amp; table filtering</a:t>
            </a:r>
          </a:p>
        </p:txBody>
      </p:sp>
      <p:sp>
        <p:nvSpPr>
          <p:cNvPr id="128" name="Text 5">
            <a:extLst>
              <a:ext uri="{FF2B5EF4-FFF2-40B4-BE49-F238E27FC236}">
                <a16:creationId xmlns:a16="http://schemas.microsoft.com/office/drawing/2014/main" id="{D9D3EEAC-F377-9E6E-23CC-02EBBD9CCAEA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8260510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A303A-21B3-8320-61C0-43CC63B04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>
            <a:extLst>
              <a:ext uri="{FF2B5EF4-FFF2-40B4-BE49-F238E27FC236}">
                <a16:creationId xmlns:a16="http://schemas.microsoft.com/office/drawing/2014/main" id="{9874D24F-05AB-F434-2F9C-95B07AEF5F6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Other Database Connectors</a:t>
            </a:r>
          </a:p>
        </p:txBody>
      </p:sp>
      <p:sp>
        <p:nvSpPr>
          <p:cNvPr id="130" name="Text 1">
            <a:extLst>
              <a:ext uri="{FF2B5EF4-FFF2-40B4-BE49-F238E27FC236}">
                <a16:creationId xmlns:a16="http://schemas.microsoft.com/office/drawing/2014/main" id="{3C956B6C-4A5D-794E-2B55-E1810AB608E9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SQL Server: Reads CDC tables, requires enabling CDC on each table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Oracle: Uses LogMiner and Mining server, supports RAC/ASM; licensing considerations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MongoDB: Tails the Oplog or Change Streams for replica sets and sharded clusters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Db2, Vitess: Support transaction log capture with similar semantics</a:t>
            </a:r>
          </a:p>
          <a:p>
            <a:pPr>
              <a:lnSpc>
                <a:spcPct val="100000"/>
              </a:lnSpc>
              <a:buNone/>
            </a:pPr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" name="Text 2">
            <a:extLst>
              <a:ext uri="{FF2B5EF4-FFF2-40B4-BE49-F238E27FC236}">
                <a16:creationId xmlns:a16="http://schemas.microsoft.com/office/drawing/2014/main" id="{48FCDA8B-5C3A-393B-A485-14B38F2603B6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88860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7C416-E318-61C4-DE8B-1F57665EE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>
            <a:extLst>
              <a:ext uri="{FF2B5EF4-FFF2-40B4-BE49-F238E27FC236}">
                <a16:creationId xmlns:a16="http://schemas.microsoft.com/office/drawing/2014/main" id="{AC52A8B6-4F5E-41ED-1AFF-930640E9D842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Sink Connectors &amp; Transforms</a:t>
            </a:r>
          </a:p>
        </p:txBody>
      </p:sp>
      <p:sp>
        <p:nvSpPr>
          <p:cNvPr id="133" name="Text 1">
            <a:extLst>
              <a:ext uri="{FF2B5EF4-FFF2-40B4-BE49-F238E27FC236}">
                <a16:creationId xmlns:a16="http://schemas.microsoft.com/office/drawing/2014/main" id="{13A1BA33-5BB2-2E9F-4148-48FC1B59B7E3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Sink connectors deliver events to Elasticsearch, BigQuery, S3, Kinesis, etc.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Single Message Transforms (SMT) modify records: ExtractNewRecordState, UnwrapFromEnvelope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Topic routing transforms rename topics based on table or schema name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 topics emit periodic messages to maintain offset progress</a:t>
            </a:r>
          </a:p>
        </p:txBody>
      </p:sp>
      <p:sp>
        <p:nvSpPr>
          <p:cNvPr id="134" name="Text 2">
            <a:extLst>
              <a:ext uri="{FF2B5EF4-FFF2-40B4-BE49-F238E27FC236}">
                <a16:creationId xmlns:a16="http://schemas.microsoft.com/office/drawing/2014/main" id="{595A736D-F282-DBFF-8064-5EA3A3401992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58573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401F-A4EE-57B0-3B74-E5757540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>
            <a:extLst>
              <a:ext uri="{FF2B5EF4-FFF2-40B4-BE49-F238E27FC236}">
                <a16:creationId xmlns:a16="http://schemas.microsoft.com/office/drawing/2014/main" id="{BC5A50C0-8B27-6F08-E6D7-5F3639AC65A1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Advantages &amp; Limitations</a:t>
            </a:r>
          </a:p>
        </p:txBody>
      </p:sp>
      <p:sp>
        <p:nvSpPr>
          <p:cNvPr id="136" name="Shape 1">
            <a:extLst>
              <a:ext uri="{FF2B5EF4-FFF2-40B4-BE49-F238E27FC236}">
                <a16:creationId xmlns:a16="http://schemas.microsoft.com/office/drawing/2014/main" id="{D6B9B9F8-FD2D-8738-6610-749F804B9BBD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3931560" cy="2468520"/>
          </a:xfrm>
          <a:prstGeom prst="roundRect">
            <a:avLst>
              <a:gd name="adj" fmla="val 3704"/>
            </a:avLst>
          </a:prstGeom>
          <a:solidFill>
            <a:srgbClr val="E8F5E9"/>
          </a:solidFill>
          <a:ln w="12700">
            <a:solidFill>
              <a:srgbClr val="C8E6C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35A74B7F-5CF1-6CFE-B578-4EFAD1A7A2EF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384012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Pros</a:t>
            </a:r>
          </a:p>
          <a:p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Log-based capture is efficient &amp; consistent</a:t>
            </a:r>
          </a:p>
          <a:p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Supports snapshots &amp; incremental snapshots</a:t>
            </a:r>
          </a:p>
          <a:p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Broad ecosystem of connectors &amp; SMT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• Compatible with Kafka Connect &amp; KRaft</a:t>
            </a:r>
          </a:p>
        </p:txBody>
      </p:sp>
      <p:sp>
        <p:nvSpPr>
          <p:cNvPr id="138" name="Shape 3">
            <a:extLst>
              <a:ext uri="{FF2B5EF4-FFF2-40B4-BE49-F238E27FC236}">
                <a16:creationId xmlns:a16="http://schemas.microsoft.com/office/drawing/2014/main" id="{E6C38110-09ED-ADFD-A36D-31B75B505B0B}"/>
              </a:ext>
            </a:extLst>
          </p:cNvPr>
          <p:cNvSpPr>
            <a:spLocks noGrp="1"/>
          </p:cNvSpPr>
          <p:nvPr/>
        </p:nvSpPr>
        <p:spPr>
          <a:xfrm>
            <a:off x="4572000" y="1097280"/>
            <a:ext cx="3931560" cy="2468520"/>
          </a:xfrm>
          <a:prstGeom prst="roundRect">
            <a:avLst>
              <a:gd name="adj" fmla="val 3704"/>
            </a:avLst>
          </a:prstGeom>
          <a:solidFill>
            <a:srgbClr val="FFEBEE"/>
          </a:solidFill>
          <a:ln w="12700">
            <a:solidFill>
              <a:srgbClr val="FFCDD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F8828835-54E5-2775-79D0-7A9F50C8C849}"/>
              </a:ext>
            </a:extLst>
          </p:cNvPr>
          <p:cNvSpPr>
            <a:spLocks noGrp="1"/>
          </p:cNvSpPr>
          <p:nvPr/>
        </p:nvSpPr>
        <p:spPr>
          <a:xfrm>
            <a:off x="4617720" y="1143000"/>
            <a:ext cx="384012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Cons</a:t>
            </a:r>
          </a:p>
          <a:p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Requires DB log privileges (binlog/WAL)</a:t>
            </a:r>
          </a:p>
          <a:p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Heavy snapshots on large tables</a:t>
            </a:r>
          </a:p>
          <a:p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Limited DDL support; schema changes may break connectors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B71C1C"/>
                </a:solidFill>
                <a:latin typeface="Calibri"/>
                <a:ea typeface="Calibri"/>
                <a:cs typeface="Calibri"/>
              </a:rPr>
              <a:t>• Complexity of deployment &amp; tuning</a:t>
            </a:r>
          </a:p>
        </p:txBody>
      </p:sp>
      <p:sp>
        <p:nvSpPr>
          <p:cNvPr id="140" name="Text 5">
            <a:extLst>
              <a:ext uri="{FF2B5EF4-FFF2-40B4-BE49-F238E27FC236}">
                <a16:creationId xmlns:a16="http://schemas.microsoft.com/office/drawing/2014/main" id="{3588813F-7635-71DC-860D-994309FC6D1E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7605436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C5CE-38DB-8337-1ABF-5BCC870A5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>
            <a:extLst>
              <a:ext uri="{FF2B5EF4-FFF2-40B4-BE49-F238E27FC236}">
                <a16:creationId xmlns:a16="http://schemas.microsoft.com/office/drawing/2014/main" id="{843B336A-045E-147B-B49F-0B0CE234432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3: Match the Connector</a:t>
            </a:r>
          </a:p>
        </p:txBody>
      </p:sp>
      <p:sp>
        <p:nvSpPr>
          <p:cNvPr id="142" name="Text 1">
            <a:extLst>
              <a:ext uri="{FF2B5EF4-FFF2-40B4-BE49-F238E27FC236}">
                <a16:creationId xmlns:a16="http://schemas.microsoft.com/office/drawing/2014/main" id="{71F6C437-F45B-42FF-6788-FF124A87B557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Match each database with the appropriate Debezium connector:</a:t>
            </a:r>
          </a:p>
        </p:txBody>
      </p:sp>
      <p:graphicFrame>
        <p:nvGraphicFramePr>
          <p:cNvPr id="143" name="Table 0">
            <a:extLst>
              <a:ext uri="{FF2B5EF4-FFF2-40B4-BE49-F238E27FC236}">
                <a16:creationId xmlns:a16="http://schemas.microsoft.com/office/drawing/2014/main" id="{63C8D69E-3394-221E-414F-32EAFAA266AD}"/>
              </a:ext>
            </a:extLst>
          </p:cNvPr>
          <p:cNvGraphicFramePr/>
          <p:nvPr/>
        </p:nvGraphicFramePr>
        <p:xfrm>
          <a:off x="914400" y="1828800"/>
          <a:ext cx="7314840" cy="12373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Database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Connector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Oracle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MongoDB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SQL Server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MySQL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0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</a:t>
                      </a:r>
                    </a:p>
                  </a:txBody>
                  <a:tcPr anchor="ctr">
                    <a:lnL w="5040">
                      <a:solidFill>
                        <a:srgbClr val="CCCCCC"/>
                      </a:solidFill>
                      <a:prstDash val="solid"/>
                    </a:lnL>
                    <a:lnR w="5040">
                      <a:solidFill>
                        <a:srgbClr val="CCCCCC"/>
                      </a:solidFill>
                      <a:prstDash val="solid"/>
                    </a:lnR>
                    <a:lnT w="5040">
                      <a:solidFill>
                        <a:srgbClr val="CCCCCC"/>
                      </a:solidFill>
                      <a:prstDash val="solid"/>
                    </a:lnT>
                    <a:lnB w="50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4" name="Text 2">
            <a:extLst>
              <a:ext uri="{FF2B5EF4-FFF2-40B4-BE49-F238E27FC236}">
                <a16:creationId xmlns:a16="http://schemas.microsoft.com/office/drawing/2014/main" id="{B1195125-BEDC-8C96-688F-37E2008EF99D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with your neighbour to fill in the blanks.</a:t>
            </a:r>
          </a:p>
        </p:txBody>
      </p:sp>
      <p:sp>
        <p:nvSpPr>
          <p:cNvPr id="145" name="Text 3">
            <a:extLst>
              <a:ext uri="{FF2B5EF4-FFF2-40B4-BE49-F238E27FC236}">
                <a16:creationId xmlns:a16="http://schemas.microsoft.com/office/drawing/2014/main" id="{D8718B05-D729-B381-78DE-AE2A5BD44E2D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5321913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B9075-F94C-00DF-AD41-6DEE08B7D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>
            <a:extLst>
              <a:ext uri="{FF2B5EF4-FFF2-40B4-BE49-F238E27FC236}">
                <a16:creationId xmlns:a16="http://schemas.microsoft.com/office/drawing/2014/main" id="{CE84E8B2-1AC6-487E-1CF5-10E2A7233B8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Environment Requirements</a:t>
            </a:r>
          </a:p>
        </p:txBody>
      </p:sp>
      <p:pic>
        <p:nvPicPr>
          <p:cNvPr id="147" name="Image 0">
            <a:extLst>
              <a:ext uri="{FF2B5EF4-FFF2-40B4-BE49-F238E27FC236}">
                <a16:creationId xmlns:a16="http://schemas.microsoft.com/office/drawing/2014/main" id="{88B51A8A-00A1-4A37-286A-1BB02953C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7200" y="1280160"/>
            <a:ext cx="319680" cy="319680"/>
          </a:xfrm>
          <a:prstGeom prst="rect">
            <a:avLst/>
          </a:prstGeom>
        </p:spPr>
      </p:pic>
      <p:sp>
        <p:nvSpPr>
          <p:cNvPr id="148" name="Text 1">
            <a:extLst>
              <a:ext uri="{FF2B5EF4-FFF2-40B4-BE49-F238E27FC236}">
                <a16:creationId xmlns:a16="http://schemas.microsoft.com/office/drawing/2014/main" id="{C058A98B-5306-4167-D9AD-FEA32F68F4A6}"/>
              </a:ext>
            </a:extLst>
          </p:cNvPr>
          <p:cNvSpPr>
            <a:spLocks noGrp="1"/>
          </p:cNvSpPr>
          <p:nvPr/>
        </p:nvSpPr>
        <p:spPr>
          <a:xfrm>
            <a:off x="822960" y="132588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Kafka cluster (KRaft or ZooKeeper)</a:t>
            </a:r>
          </a:p>
        </p:txBody>
      </p:sp>
      <p:pic>
        <p:nvPicPr>
          <p:cNvPr id="149" name="Image 1">
            <a:extLst>
              <a:ext uri="{FF2B5EF4-FFF2-40B4-BE49-F238E27FC236}">
                <a16:creationId xmlns:a16="http://schemas.microsoft.com/office/drawing/2014/main" id="{50F9C886-A5FB-8E2E-04EB-867836A89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7200" y="1691640"/>
            <a:ext cx="319680" cy="319680"/>
          </a:xfrm>
          <a:prstGeom prst="rect">
            <a:avLst/>
          </a:prstGeom>
        </p:spPr>
      </p:pic>
      <p:sp>
        <p:nvSpPr>
          <p:cNvPr id="150" name="Text 2">
            <a:extLst>
              <a:ext uri="{FF2B5EF4-FFF2-40B4-BE49-F238E27FC236}">
                <a16:creationId xmlns:a16="http://schemas.microsoft.com/office/drawing/2014/main" id="{F821335E-365A-9AD4-F604-5296228AA956}"/>
              </a:ext>
            </a:extLst>
          </p:cNvPr>
          <p:cNvSpPr>
            <a:spLocks noGrp="1"/>
          </p:cNvSpPr>
          <p:nvPr/>
        </p:nvSpPr>
        <p:spPr>
          <a:xfrm>
            <a:off x="822960" y="173736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Source database (e.g., Postgres with logical replication)</a:t>
            </a:r>
          </a:p>
        </p:txBody>
      </p:sp>
      <p:pic>
        <p:nvPicPr>
          <p:cNvPr id="151" name="Image 2">
            <a:extLst>
              <a:ext uri="{FF2B5EF4-FFF2-40B4-BE49-F238E27FC236}">
                <a16:creationId xmlns:a16="http://schemas.microsoft.com/office/drawing/2014/main" id="{C972A365-2B75-64A3-3497-AEDDD7350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200" y="2103120"/>
            <a:ext cx="319680" cy="319680"/>
          </a:xfrm>
          <a:prstGeom prst="rect">
            <a:avLst/>
          </a:prstGeom>
        </p:spPr>
      </p:pic>
      <p:sp>
        <p:nvSpPr>
          <p:cNvPr id="152" name="Text 3">
            <a:extLst>
              <a:ext uri="{FF2B5EF4-FFF2-40B4-BE49-F238E27FC236}">
                <a16:creationId xmlns:a16="http://schemas.microsoft.com/office/drawing/2014/main" id="{A313220C-B0FF-C871-8E57-00E4E6C27B96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Kafka Connect &amp; Debezium plugin</a:t>
            </a:r>
          </a:p>
        </p:txBody>
      </p:sp>
      <p:pic>
        <p:nvPicPr>
          <p:cNvPr id="153" name="Image 3">
            <a:extLst>
              <a:ext uri="{FF2B5EF4-FFF2-40B4-BE49-F238E27FC236}">
                <a16:creationId xmlns:a16="http://schemas.microsoft.com/office/drawing/2014/main" id="{A5013FCB-E268-60F3-8022-A4B1EFE149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7200" y="2514600"/>
            <a:ext cx="319680" cy="319680"/>
          </a:xfrm>
          <a:prstGeom prst="rect">
            <a:avLst/>
          </a:prstGeom>
        </p:spPr>
      </p:pic>
      <p:sp>
        <p:nvSpPr>
          <p:cNvPr id="154" name="Text 4">
            <a:extLst>
              <a:ext uri="{FF2B5EF4-FFF2-40B4-BE49-F238E27FC236}">
                <a16:creationId xmlns:a16="http://schemas.microsoft.com/office/drawing/2014/main" id="{41A2707F-A398-7B32-2C37-9075CB9E34FD}"/>
              </a:ext>
            </a:extLst>
          </p:cNvPr>
          <p:cNvSpPr>
            <a:spLocks noGrp="1"/>
          </p:cNvSpPr>
          <p:nvPr/>
        </p:nvSpPr>
        <p:spPr>
          <a:xfrm>
            <a:off x="822960" y="256032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Schema Registry (for Avro/JSON if needed)</a:t>
            </a:r>
          </a:p>
        </p:txBody>
      </p:sp>
      <p:pic>
        <p:nvPicPr>
          <p:cNvPr id="155" name="Image 4">
            <a:extLst>
              <a:ext uri="{FF2B5EF4-FFF2-40B4-BE49-F238E27FC236}">
                <a16:creationId xmlns:a16="http://schemas.microsoft.com/office/drawing/2014/main" id="{97D73F6A-C597-F881-8396-91620A24AE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57200" y="2926080"/>
            <a:ext cx="319680" cy="319680"/>
          </a:xfrm>
          <a:prstGeom prst="rect">
            <a:avLst/>
          </a:prstGeom>
        </p:spPr>
      </p:pic>
      <p:sp>
        <p:nvSpPr>
          <p:cNvPr id="156" name="Text 5">
            <a:extLst>
              <a:ext uri="{FF2B5EF4-FFF2-40B4-BE49-F238E27FC236}">
                <a16:creationId xmlns:a16="http://schemas.microsoft.com/office/drawing/2014/main" id="{5196422A-CFB7-0FDD-6A61-AA1F9AFEA3F3}"/>
              </a:ext>
            </a:extLst>
          </p:cNvPr>
          <p:cNvSpPr>
            <a:spLocks noGrp="1"/>
          </p:cNvSpPr>
          <p:nvPr/>
        </p:nvSpPr>
        <p:spPr>
          <a:xfrm>
            <a:off x="822960" y="29718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Client to consume events (kcat or Python consumer)</a:t>
            </a:r>
          </a:p>
        </p:txBody>
      </p:sp>
      <p:sp>
        <p:nvSpPr>
          <p:cNvPr id="157" name="Text 6">
            <a:extLst>
              <a:ext uri="{FF2B5EF4-FFF2-40B4-BE49-F238E27FC236}">
                <a16:creationId xmlns:a16="http://schemas.microsoft.com/office/drawing/2014/main" id="{265A0EC7-EF7B-5EA4-0820-9C14DA70C66E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8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3554596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A0BAC-2402-4A12-5CCE-89209FB8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>
            <a:extLst>
              <a:ext uri="{FF2B5EF4-FFF2-40B4-BE49-F238E27FC236}">
                <a16:creationId xmlns:a16="http://schemas.microsoft.com/office/drawing/2014/main" id="{4B456110-4527-2719-4121-792D10B667D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Configuration: PostgreSQL Connector</a:t>
            </a:r>
          </a:p>
        </p:txBody>
      </p:sp>
      <p:sp>
        <p:nvSpPr>
          <p:cNvPr id="159" name="Text 1">
            <a:extLst>
              <a:ext uri="{FF2B5EF4-FFF2-40B4-BE49-F238E27FC236}">
                <a16:creationId xmlns:a16="http://schemas.microsoft.com/office/drawing/2014/main" id="{28047FB2-F3E5-FB20-00FB-541A11C7729D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4388760" cy="2468520"/>
          </a:xfrm>
          <a:prstGeom prst="rect">
            <a:avLst/>
          </a:prstGeom>
          <a:solidFill>
            <a:srgbClr val="F0F0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"name": "inventory-connector",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"connector.class": "io.debezium.connector.postgresql.PostgresConnector",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"database.hostname": "postgres",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"database.dbname": "inventory",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"plugin.name": "pgoutput",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"topic.prefix": "inventory",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"slot.name": "debezium_slot",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"publication.autocreate.mode": "filtered",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"table.include.list": "public.customers",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"snapshot.mode": "initial",</a:t>
            </a:r>
          </a:p>
          <a:p>
            <a:pPr>
              <a:lnSpc>
                <a:spcPct val="100000"/>
              </a:lnSpc>
              <a:buNone/>
            </a:pPr>
            <a:r>
              <a:rPr sz="9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"signal.data.collection": "public.debezium_signal"</a:t>
            </a:r>
          </a:p>
        </p:txBody>
      </p:sp>
      <p:sp>
        <p:nvSpPr>
          <p:cNvPr id="160" name="Text 2">
            <a:extLst>
              <a:ext uri="{FF2B5EF4-FFF2-40B4-BE49-F238E27FC236}">
                <a16:creationId xmlns:a16="http://schemas.microsoft.com/office/drawing/2014/main" id="{8A8874DA-2088-CBA3-DCEF-91D8C59BDDF5}"/>
              </a:ext>
            </a:extLst>
          </p:cNvPr>
          <p:cNvSpPr>
            <a:spLocks noGrp="1"/>
          </p:cNvSpPr>
          <p:nvPr/>
        </p:nvSpPr>
        <p:spPr>
          <a:xfrm>
            <a:off x="5029200" y="1280160"/>
            <a:ext cx="4114440" cy="246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Key Properties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topic.prefix defines table topic names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pgoutput reads PostgreSQL logical replication events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slot and publication retain the log position for capture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initial gives the first baseline; use no_data when a baseline is not needed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trigger an incremental snapshot with a signal; do not invent a connector enable flag</a:t>
            </a:r>
          </a:p>
        </p:txBody>
      </p:sp>
      <p:sp>
        <p:nvSpPr>
          <p:cNvPr id="161" name="Text 3">
            <a:extLst>
              <a:ext uri="{FF2B5EF4-FFF2-40B4-BE49-F238E27FC236}">
                <a16:creationId xmlns:a16="http://schemas.microsoft.com/office/drawing/2014/main" id="{EF4314F9-827C-1E01-02A3-93164237EF35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1397864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A991A-4494-8B78-AE61-024572999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>
            <a:extLst>
              <a:ext uri="{FF2B5EF4-FFF2-40B4-BE49-F238E27FC236}">
                <a16:creationId xmlns:a16="http://schemas.microsoft.com/office/drawing/2014/main" id="{FDF34198-47A9-EA70-486C-56856EFCD52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Heartbeats, Transforms &amp; Monitoring</a:t>
            </a:r>
          </a:p>
        </p:txBody>
      </p:sp>
      <p:sp>
        <p:nvSpPr>
          <p:cNvPr id="163" name="Text 1">
            <a:extLst>
              <a:ext uri="{FF2B5EF4-FFF2-40B4-BE49-F238E27FC236}">
                <a16:creationId xmlns:a16="http://schemas.microsoft.com/office/drawing/2014/main" id="{346FAF73-1BDF-67EB-D25C-82DBCAD8CD8C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Heartbeats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heartbeat.interval.ms: emit heartbeat records to maintain offset commits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heartbeat.topics.prefix: name prefix for heartbeat topics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Transforms (SMT)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ExtractNewRecordState: flatten record to after state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UnwrapFromEnvelope: remove metadata envelopes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TopicRename: change output topic names</a:t>
            </a:r>
          </a:p>
          <a:p>
            <a:endParaRPr sz="11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Monitoring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Monitor lag via JMX or Connect API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Adjust tasks.max and max.batch.size for throughput</a:t>
            </a:r>
          </a:p>
        </p:txBody>
      </p:sp>
      <p:sp>
        <p:nvSpPr>
          <p:cNvPr id="164" name="Text 2">
            <a:extLst>
              <a:ext uri="{FF2B5EF4-FFF2-40B4-BE49-F238E27FC236}">
                <a16:creationId xmlns:a16="http://schemas.microsoft.com/office/drawing/2014/main" id="{85C347EB-72EE-E1A6-1DE0-506195B84C0C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0573551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AF48-688D-403C-DD4D-B3F1CC17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>
            <a:extLst>
              <a:ext uri="{FF2B5EF4-FFF2-40B4-BE49-F238E27FC236}">
                <a16:creationId xmlns:a16="http://schemas.microsoft.com/office/drawing/2014/main" id="{8C6B79A2-E50E-6666-6E87-438D80F6E9AE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Advanced Tuning &amp; KRaft</a:t>
            </a:r>
          </a:p>
        </p:txBody>
      </p:sp>
      <p:sp>
        <p:nvSpPr>
          <p:cNvPr id="166" name="Text 1">
            <a:extLst>
              <a:ext uri="{FF2B5EF4-FFF2-40B4-BE49-F238E27FC236}">
                <a16:creationId xmlns:a16="http://schemas.microsoft.com/office/drawing/2014/main" id="{A3E54323-7782-BB37-B771-B0558DD0D681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Set tasks.max to adjust number of parallel tasks per connector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Increase max.batch.size &amp; max.queue.size for high throughput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Tune heartbeat.interval.ms &amp; min.insync.replicas for durability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With Kafka 4.x KRaft mode, ensure controller &amp; broker nodes have sufficient quorum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Review connector task logs &amp; metrics to detect lags and backpressure</a:t>
            </a:r>
          </a:p>
        </p:txBody>
      </p:sp>
      <p:sp>
        <p:nvSpPr>
          <p:cNvPr id="167" name="Text 2">
            <a:extLst>
              <a:ext uri="{FF2B5EF4-FFF2-40B4-BE49-F238E27FC236}">
                <a16:creationId xmlns:a16="http://schemas.microsoft.com/office/drawing/2014/main" id="{056D8E71-8BFD-8272-C42E-E21D86C8A305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1444213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D91F-158C-2FE1-38EB-1E0B503B4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>
            <a:extLst>
              <a:ext uri="{FF2B5EF4-FFF2-40B4-BE49-F238E27FC236}">
                <a16:creationId xmlns:a16="http://schemas.microsoft.com/office/drawing/2014/main" id="{229E17FC-6B44-E990-36D1-CD43E12DB908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Mini Exercise 4: Tune Your Connector</a:t>
            </a:r>
          </a:p>
        </p:txBody>
      </p:sp>
      <p:sp>
        <p:nvSpPr>
          <p:cNvPr id="169" name="Text 1">
            <a:extLst>
              <a:ext uri="{FF2B5EF4-FFF2-40B4-BE49-F238E27FC236}">
                <a16:creationId xmlns:a16="http://schemas.microsoft.com/office/drawing/2014/main" id="{0FDC9331-D57C-E4CB-A94F-930C7110C8E1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You are ingesting a high-volume orders table. Propose changes that improve throughput while preserving restart safety. Consider snapshot choice, batching, heartbeats, monitoring and how a sink prevents duplicate side effects after redelivery.</a:t>
            </a:r>
          </a:p>
          <a:p>
            <a:pPr>
              <a:lnSpc>
                <a:spcPct val="100000"/>
              </a:lnSpc>
              <a:buNone/>
            </a:pPr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Discuss your plan with your team and state what evidence would prove it works.</a:t>
            </a:r>
          </a:p>
        </p:txBody>
      </p:sp>
      <p:sp>
        <p:nvSpPr>
          <p:cNvPr id="170" name="Text 2">
            <a:extLst>
              <a:ext uri="{FF2B5EF4-FFF2-40B4-BE49-F238E27FC236}">
                <a16:creationId xmlns:a16="http://schemas.microsoft.com/office/drawing/2014/main" id="{B5BA8A02-4B96-3FB6-77A7-BCB36F781722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Discuss your plan with your team and be prepared to present your rationale.</a:t>
            </a:r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23515A37-C0BA-7CC9-E22C-CE4EF3C1462A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4154280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7A88-C527-4FAB-BE8D-2010B9771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>
            <a:extLst>
              <a:ext uri="{FF2B5EF4-FFF2-40B4-BE49-F238E27FC236}">
                <a16:creationId xmlns:a16="http://schemas.microsoft.com/office/drawing/2014/main" id="{1D483DB6-6911-E89F-06D7-5B238E9B9EE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Hands‑On Lab: Capture Database Changes</a:t>
            </a:r>
          </a:p>
        </p:txBody>
      </p:sp>
      <p:sp>
        <p:nvSpPr>
          <p:cNvPr id="173" name="Text 1">
            <a:extLst>
              <a:ext uri="{FF2B5EF4-FFF2-40B4-BE49-F238E27FC236}">
                <a16:creationId xmlns:a16="http://schemas.microsoft.com/office/drawing/2014/main" id="{13922B1D-287E-4F3C-4B68-D2CC6D94166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In this lab you will: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Start a local Kafka &amp; Postgres cluster using Docker Compose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Create a sample table and insert initial data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Deploy a Debezium Postgres connector via REST</a:t>
            </a:r>
          </a:p>
          <a:p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Produce updates and observe events using kcat or Python</a:t>
            </a:r>
          </a:p>
          <a:p>
            <a:pPr>
              <a:lnSpc>
                <a:spcPct val="100000"/>
              </a:lnSpc>
              <a:buNone/>
            </a:pPr>
            <a:r>
              <a:rPr sz="11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Explore event structure and snapshot vs streaming phases</a:t>
            </a:r>
          </a:p>
        </p:txBody>
      </p:sp>
      <p:sp>
        <p:nvSpPr>
          <p:cNvPr id="174" name="Text 2">
            <a:extLst>
              <a:ext uri="{FF2B5EF4-FFF2-40B4-BE49-F238E27FC236}">
                <a16:creationId xmlns:a16="http://schemas.microsoft.com/office/drawing/2014/main" id="{1783BC4E-DED0-CA5E-9AC5-747922CFBA8C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2302290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DB42-917B-8131-F731-AB511709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>
            <a:extLst>
              <a:ext uri="{FF2B5EF4-FFF2-40B4-BE49-F238E27FC236}">
                <a16:creationId xmlns:a16="http://schemas.microsoft.com/office/drawing/2014/main" id="{9555385B-750B-8916-2AD6-2D9869302D12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Lab Steps &amp; Commands</a:t>
            </a:r>
          </a:p>
        </p:txBody>
      </p:sp>
      <p:sp>
        <p:nvSpPr>
          <p:cNvPr id="176" name="Text 1">
            <a:extLst>
              <a:ext uri="{FF2B5EF4-FFF2-40B4-BE49-F238E27FC236}">
                <a16:creationId xmlns:a16="http://schemas.microsoft.com/office/drawing/2014/main" id="{DBE20C74-ACE0-BC44-8DDE-A67127EFCB73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1. Start Docker Compose</a:t>
            </a:r>
          </a:p>
          <a:p>
            <a:r>
              <a:rPr sz="11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docker-compose up -d</a:t>
            </a:r>
          </a:p>
          <a:p>
            <a:endParaRPr sz="11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2. Create sample table &amp; insert data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psql -h localhost -U postgres -d inventory -c "CREATE TABLE customers(id SERIAL PRIMARY KEY, name TEXT);"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psql -h localhost -U postgres -d inventory -c "INSERT INTO customers(name) VALUES('Alice'),('Bob');"</a:t>
            </a:r>
          </a:p>
          <a:p>
            <a:endParaRPr sz="10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3. Deploy connector via REST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curl -X POST http://localhost:8083/connectors -H "Content-Type: application/json" -d @postgres-connector.json</a:t>
            </a:r>
          </a:p>
          <a:p>
            <a:endParaRPr sz="10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  <a:p>
            <a:r>
              <a:rPr sz="1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4. Produce changes &amp; observe events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psql -c "UPDATE customers SET name='Alicia' WHERE id=1;"</a:t>
            </a:r>
          </a:p>
          <a:p>
            <a:r>
              <a:rPr sz="1000" b="0" u="none">
                <a:solidFill>
                  <a:srgbClr val="444444"/>
                </a:solidFill>
                <a:latin typeface="Consolas"/>
                <a:ea typeface="Consolas"/>
                <a:cs typeface="Consolas"/>
              </a:rPr>
              <a:t>$ kcat -C -b localhost:9092 -t inventory.public.customers</a:t>
            </a:r>
          </a:p>
          <a:p>
            <a:pPr>
              <a:lnSpc>
                <a:spcPct val="100000"/>
              </a:lnSpc>
              <a:buNone/>
            </a:pPr>
            <a:endParaRPr sz="1000" b="0" u="none">
              <a:solidFill>
                <a:srgbClr val="44444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7" name="Text 2">
            <a:extLst>
              <a:ext uri="{FF2B5EF4-FFF2-40B4-BE49-F238E27FC236}">
                <a16:creationId xmlns:a16="http://schemas.microsoft.com/office/drawing/2014/main" id="{13517017-EFB9-7304-B86F-88D62C9A2619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789626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D9A07-5351-33CB-A14F-DBB3BCCDA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>
            <a:extLst>
              <a:ext uri="{FF2B5EF4-FFF2-40B4-BE49-F238E27FC236}">
                <a16:creationId xmlns:a16="http://schemas.microsoft.com/office/drawing/2014/main" id="{765184C3-9124-551B-1C06-F2BD3F33A514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Lab Reflection &amp; Discussion</a:t>
            </a:r>
          </a:p>
        </p:txBody>
      </p:sp>
      <p:sp>
        <p:nvSpPr>
          <p:cNvPr id="179" name="Text 1">
            <a:extLst>
              <a:ext uri="{FF2B5EF4-FFF2-40B4-BE49-F238E27FC236}">
                <a16:creationId xmlns:a16="http://schemas.microsoft.com/office/drawing/2014/main" id="{E7C12788-9051-B43A-D8E7-1B80C33A410E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822924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Which records were snapshot reads (op=r) and which were streamed changes?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What did update and delete envelopes show in before/after?</a:t>
            </a:r>
          </a:p>
          <a:p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Did a delete yield a tombstone under your connector settings?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After restart, how would a downstream sink avoid duplicate side effects?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What must Day 5 validate before events are accepted downstream?</a:t>
            </a:r>
          </a:p>
        </p:txBody>
      </p:sp>
      <p:sp>
        <p:nvSpPr>
          <p:cNvPr id="180" name="Text 2">
            <a:extLst>
              <a:ext uri="{FF2B5EF4-FFF2-40B4-BE49-F238E27FC236}">
                <a16:creationId xmlns:a16="http://schemas.microsoft.com/office/drawing/2014/main" id="{43FA9FEF-A428-FF1D-6F73-536AA73606E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0615223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69A35-15D3-AF03-A520-9F818989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>
            <a:extLst>
              <a:ext uri="{FF2B5EF4-FFF2-40B4-BE49-F238E27FC236}">
                <a16:creationId xmlns:a16="http://schemas.microsoft.com/office/drawing/2014/main" id="{59CAC3C5-EEC1-B024-2BEF-FB0A81888A86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1</a:t>
            </a:r>
          </a:p>
        </p:txBody>
      </p:sp>
      <p:sp>
        <p:nvSpPr>
          <p:cNvPr id="182" name="Text 1">
            <a:extLst>
              <a:ext uri="{FF2B5EF4-FFF2-40B4-BE49-F238E27FC236}">
                <a16:creationId xmlns:a16="http://schemas.microsoft.com/office/drawing/2014/main" id="{5C5081F7-1ACF-D68F-D3B6-F9B0484DD5BB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Which CDC method minimizes database load while capturing inserts, updates and deletes in order?</a:t>
            </a:r>
          </a:p>
        </p:txBody>
      </p:sp>
      <p:sp>
        <p:nvSpPr>
          <p:cNvPr id="183" name="Text 2">
            <a:extLst>
              <a:ext uri="{FF2B5EF4-FFF2-40B4-BE49-F238E27FC236}">
                <a16:creationId xmlns:a16="http://schemas.microsoft.com/office/drawing/2014/main" id="{65CC9379-9E25-F299-03CF-A737C06289D9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Query‑based polling</a:t>
            </a:r>
          </a:p>
        </p:txBody>
      </p:sp>
      <p:sp>
        <p:nvSpPr>
          <p:cNvPr id="184" name="Text 3">
            <a:extLst>
              <a:ext uri="{FF2B5EF4-FFF2-40B4-BE49-F238E27FC236}">
                <a16:creationId xmlns:a16="http://schemas.microsoft.com/office/drawing/2014/main" id="{FB5BF0A4-B156-5C47-8DAC-46FEBABB87D3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Trigger‑based logging</a:t>
            </a:r>
          </a:p>
        </p:txBody>
      </p:sp>
      <p:sp>
        <p:nvSpPr>
          <p:cNvPr id="185" name="Text 4">
            <a:extLst>
              <a:ext uri="{FF2B5EF4-FFF2-40B4-BE49-F238E27FC236}">
                <a16:creationId xmlns:a16="http://schemas.microsoft.com/office/drawing/2014/main" id="{C70C9ACA-B11A-B226-D679-D9BD97D9B644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Log‑based streaming</a:t>
            </a:r>
          </a:p>
        </p:txBody>
      </p:sp>
      <p:sp>
        <p:nvSpPr>
          <p:cNvPr id="186" name="Text 5">
            <a:extLst>
              <a:ext uri="{FF2B5EF4-FFF2-40B4-BE49-F238E27FC236}">
                <a16:creationId xmlns:a16="http://schemas.microsoft.com/office/drawing/2014/main" id="{A7E4205C-49B8-388C-1CB4-EFE60E6B28D5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Periodic ETL batch</a:t>
            </a:r>
          </a:p>
        </p:txBody>
      </p:sp>
      <p:sp>
        <p:nvSpPr>
          <p:cNvPr id="187" name="Text 6">
            <a:extLst>
              <a:ext uri="{FF2B5EF4-FFF2-40B4-BE49-F238E27FC236}">
                <a16:creationId xmlns:a16="http://schemas.microsoft.com/office/drawing/2014/main" id="{222C4A2F-4F4D-ACB7-2298-B89122CBA707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2604835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9B30-6610-2D37-19AB-FFE99A715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>
            <a:extLst>
              <a:ext uri="{FF2B5EF4-FFF2-40B4-BE49-F238E27FC236}">
                <a16:creationId xmlns:a16="http://schemas.microsoft.com/office/drawing/2014/main" id="{C3F8CEAE-1879-7014-3E87-CF6E651BFC1A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2</a:t>
            </a:r>
          </a:p>
        </p:txBody>
      </p:sp>
      <p:sp>
        <p:nvSpPr>
          <p:cNvPr id="189" name="Text 1">
            <a:extLst>
              <a:ext uri="{FF2B5EF4-FFF2-40B4-BE49-F238E27FC236}">
                <a16:creationId xmlns:a16="http://schemas.microsoft.com/office/drawing/2014/main" id="{551776D5-13CF-6FCD-33B5-514ED3B29878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In a Debezium event record, what does the "op" field value "r" indicate?</a:t>
            </a:r>
          </a:p>
        </p:txBody>
      </p:sp>
      <p:sp>
        <p:nvSpPr>
          <p:cNvPr id="190" name="Text 2">
            <a:extLst>
              <a:ext uri="{FF2B5EF4-FFF2-40B4-BE49-F238E27FC236}">
                <a16:creationId xmlns:a16="http://schemas.microsoft.com/office/drawing/2014/main" id="{299305C5-7749-174A-09FB-B8B402B57C80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A delete operation</a:t>
            </a:r>
          </a:p>
        </p:txBody>
      </p:sp>
      <p:sp>
        <p:nvSpPr>
          <p:cNvPr id="191" name="Text 3">
            <a:extLst>
              <a:ext uri="{FF2B5EF4-FFF2-40B4-BE49-F238E27FC236}">
                <a16:creationId xmlns:a16="http://schemas.microsoft.com/office/drawing/2014/main" id="{46DCB95E-4E92-9A68-3880-723F5597F302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A snapshot record</a:t>
            </a:r>
          </a:p>
        </p:txBody>
      </p:sp>
      <p:sp>
        <p:nvSpPr>
          <p:cNvPr id="192" name="Text 4">
            <a:extLst>
              <a:ext uri="{FF2B5EF4-FFF2-40B4-BE49-F238E27FC236}">
                <a16:creationId xmlns:a16="http://schemas.microsoft.com/office/drawing/2014/main" id="{7382E228-8BB2-3A62-1EC0-4F33A1DF3823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An update operation</a:t>
            </a:r>
          </a:p>
        </p:txBody>
      </p:sp>
      <p:sp>
        <p:nvSpPr>
          <p:cNvPr id="193" name="Text 5">
            <a:extLst>
              <a:ext uri="{FF2B5EF4-FFF2-40B4-BE49-F238E27FC236}">
                <a16:creationId xmlns:a16="http://schemas.microsoft.com/office/drawing/2014/main" id="{43ABE679-1895-AC9A-31DA-0E1F87D21438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A heartbeat record</a:t>
            </a:r>
          </a:p>
        </p:txBody>
      </p:sp>
      <p:sp>
        <p:nvSpPr>
          <p:cNvPr id="194" name="Text 6">
            <a:extLst>
              <a:ext uri="{FF2B5EF4-FFF2-40B4-BE49-F238E27FC236}">
                <a16:creationId xmlns:a16="http://schemas.microsoft.com/office/drawing/2014/main" id="{A300F0A6-F249-7597-1767-F6B38507317B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2112746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367E3-2A54-13E8-BA7A-2BADEFB63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>
            <a:extLst>
              <a:ext uri="{FF2B5EF4-FFF2-40B4-BE49-F238E27FC236}">
                <a16:creationId xmlns:a16="http://schemas.microsoft.com/office/drawing/2014/main" id="{83302373-FD03-ECAC-FC0E-EA7B94D05717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3</a:t>
            </a:r>
          </a:p>
        </p:txBody>
      </p:sp>
      <p:sp>
        <p:nvSpPr>
          <p:cNvPr id="196" name="Text 1">
            <a:extLst>
              <a:ext uri="{FF2B5EF4-FFF2-40B4-BE49-F238E27FC236}">
                <a16:creationId xmlns:a16="http://schemas.microsoft.com/office/drawing/2014/main" id="{8482A87D-BC53-C05D-A396-4C0AAF44C1E2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Which connector property controls the number of parallel tasks for a Debezium connector?</a:t>
            </a:r>
          </a:p>
        </p:txBody>
      </p:sp>
      <p:sp>
        <p:nvSpPr>
          <p:cNvPr id="197" name="Text 2">
            <a:extLst>
              <a:ext uri="{FF2B5EF4-FFF2-40B4-BE49-F238E27FC236}">
                <a16:creationId xmlns:a16="http://schemas.microsoft.com/office/drawing/2014/main" id="{F62755EF-DEF5-7EB5-CA00-46B15ED292AA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tasks.max</a:t>
            </a:r>
          </a:p>
        </p:txBody>
      </p:sp>
      <p:sp>
        <p:nvSpPr>
          <p:cNvPr id="198" name="Text 3">
            <a:extLst>
              <a:ext uri="{FF2B5EF4-FFF2-40B4-BE49-F238E27FC236}">
                <a16:creationId xmlns:a16="http://schemas.microsoft.com/office/drawing/2014/main" id="{05DCE7DF-111D-A0A0-BA7C-EA630B2A9B8C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snapshot.mode</a:t>
            </a:r>
          </a:p>
        </p:txBody>
      </p:sp>
      <p:sp>
        <p:nvSpPr>
          <p:cNvPr id="199" name="Text 4">
            <a:extLst>
              <a:ext uri="{FF2B5EF4-FFF2-40B4-BE49-F238E27FC236}">
                <a16:creationId xmlns:a16="http://schemas.microsoft.com/office/drawing/2014/main" id="{ECABEB10-60A1-62D5-CE8B-1C66C8295C96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heartbeat.interval.ms</a:t>
            </a:r>
          </a:p>
        </p:txBody>
      </p:sp>
      <p:sp>
        <p:nvSpPr>
          <p:cNvPr id="200" name="Text 5">
            <a:extLst>
              <a:ext uri="{FF2B5EF4-FFF2-40B4-BE49-F238E27FC236}">
                <a16:creationId xmlns:a16="http://schemas.microsoft.com/office/drawing/2014/main" id="{F80BBB74-9B0A-C0A6-CEB8-AFB4A2020F3C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max.batch.size</a:t>
            </a:r>
          </a:p>
        </p:txBody>
      </p:sp>
      <p:sp>
        <p:nvSpPr>
          <p:cNvPr id="201" name="Text 6">
            <a:extLst>
              <a:ext uri="{FF2B5EF4-FFF2-40B4-BE49-F238E27FC236}">
                <a16:creationId xmlns:a16="http://schemas.microsoft.com/office/drawing/2014/main" id="{62AEAFD4-20A6-2A3C-DBD0-9798E41FC99A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6659379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0B60C-C5E2-128E-C43F-33771F4D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>
            <a:extLst>
              <a:ext uri="{FF2B5EF4-FFF2-40B4-BE49-F238E27FC236}">
                <a16:creationId xmlns:a16="http://schemas.microsoft.com/office/drawing/2014/main" id="{D46919DB-9464-1EC4-13EE-EB52C4EDA964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4</a:t>
            </a:r>
          </a:p>
        </p:txBody>
      </p:sp>
      <p:sp>
        <p:nvSpPr>
          <p:cNvPr id="203" name="Text 1">
            <a:extLst>
              <a:ext uri="{FF2B5EF4-FFF2-40B4-BE49-F238E27FC236}">
                <a16:creationId xmlns:a16="http://schemas.microsoft.com/office/drawing/2014/main" id="{DB84C1E2-E904-4B37-F239-12380DEBE2AD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How do you request an ad hoc incremental snapshot for selected PostgreSQL tables?</a:t>
            </a:r>
          </a:p>
          <a:p>
            <a:pPr>
              <a:lnSpc>
                <a:spcPct val="100000"/>
              </a:lnSpc>
              <a:buNone/>
            </a:pPr>
            <a:endParaRPr sz="1200" b="0" u="none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A. Set snapshot.mode=never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B. Send an execute-snapshot signal for the tables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C. Rename the Kafka topic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D. Increase tasks.max</a:t>
            </a:r>
          </a:p>
        </p:txBody>
      </p:sp>
      <p:sp>
        <p:nvSpPr>
          <p:cNvPr id="204" name="Text 2">
            <a:extLst>
              <a:ext uri="{FF2B5EF4-FFF2-40B4-BE49-F238E27FC236}">
                <a16:creationId xmlns:a16="http://schemas.microsoft.com/office/drawing/2014/main" id="{5B2FC9F5-0227-4690-175B-4D7892524949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snapshot.mode=never</a:t>
            </a:r>
          </a:p>
        </p:txBody>
      </p:sp>
      <p:sp>
        <p:nvSpPr>
          <p:cNvPr id="205" name="Text 3">
            <a:extLst>
              <a:ext uri="{FF2B5EF4-FFF2-40B4-BE49-F238E27FC236}">
                <a16:creationId xmlns:a16="http://schemas.microsoft.com/office/drawing/2014/main" id="{147A2167-EE32-67B7-8E3F-E2CE0167933E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incremental.snapshot.enabled=true</a:t>
            </a:r>
          </a:p>
        </p:txBody>
      </p:sp>
      <p:sp>
        <p:nvSpPr>
          <p:cNvPr id="206" name="Text 4">
            <a:extLst>
              <a:ext uri="{FF2B5EF4-FFF2-40B4-BE49-F238E27FC236}">
                <a16:creationId xmlns:a16="http://schemas.microsoft.com/office/drawing/2014/main" id="{70187C93-89FB-4502-4B26-A8A75DEB30FD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snapshot.lock.timeout.ms</a:t>
            </a:r>
          </a:p>
        </p:txBody>
      </p:sp>
      <p:sp>
        <p:nvSpPr>
          <p:cNvPr id="207" name="Text 5">
            <a:extLst>
              <a:ext uri="{FF2B5EF4-FFF2-40B4-BE49-F238E27FC236}">
                <a16:creationId xmlns:a16="http://schemas.microsoft.com/office/drawing/2014/main" id="{D0CF179F-DD95-5C84-5F98-D034810D57BD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topic.rename</a:t>
            </a:r>
          </a:p>
        </p:txBody>
      </p:sp>
      <p:sp>
        <p:nvSpPr>
          <p:cNvPr id="208" name="Text 6">
            <a:extLst>
              <a:ext uri="{FF2B5EF4-FFF2-40B4-BE49-F238E27FC236}">
                <a16:creationId xmlns:a16="http://schemas.microsoft.com/office/drawing/2014/main" id="{D7BC8627-AEEA-C009-44CD-E5158AB498B4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50107701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6DEA6-AD8B-9214-623D-0BB97986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>
            <a:extLst>
              <a:ext uri="{FF2B5EF4-FFF2-40B4-BE49-F238E27FC236}">
                <a16:creationId xmlns:a16="http://schemas.microsoft.com/office/drawing/2014/main" id="{104C00D2-2410-5CC2-C758-55A1AFC4B738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0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Quiz: Question 5</a:t>
            </a:r>
          </a:p>
        </p:txBody>
      </p:sp>
      <p:sp>
        <p:nvSpPr>
          <p:cNvPr id="210" name="Text 1">
            <a:extLst>
              <a:ext uri="{FF2B5EF4-FFF2-40B4-BE49-F238E27FC236}">
                <a16:creationId xmlns:a16="http://schemas.microsoft.com/office/drawing/2014/main" id="{CB983FE6-E48D-F3D9-E767-74D6D28B12A1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What does the ExtractNewRecordState SMT do?</a:t>
            </a:r>
          </a:p>
        </p:txBody>
      </p:sp>
      <p:sp>
        <p:nvSpPr>
          <p:cNvPr id="211" name="Text 2">
            <a:extLst>
              <a:ext uri="{FF2B5EF4-FFF2-40B4-BE49-F238E27FC236}">
                <a16:creationId xmlns:a16="http://schemas.microsoft.com/office/drawing/2014/main" id="{4FBAA18C-FD16-3F92-0B77-1045DC232309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A. Removes metadata envelope and keeps only after field</a:t>
            </a:r>
          </a:p>
        </p:txBody>
      </p:sp>
      <p:sp>
        <p:nvSpPr>
          <p:cNvPr id="212" name="Text 3">
            <a:extLst>
              <a:ext uri="{FF2B5EF4-FFF2-40B4-BE49-F238E27FC236}">
                <a16:creationId xmlns:a16="http://schemas.microsoft.com/office/drawing/2014/main" id="{A2066CBE-0D25-FC38-1D43-A18C38084C7E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B. Renames the Kafka topic</a:t>
            </a:r>
          </a:p>
        </p:txBody>
      </p:sp>
      <p:sp>
        <p:nvSpPr>
          <p:cNvPr id="213" name="Text 4">
            <a:extLst>
              <a:ext uri="{FF2B5EF4-FFF2-40B4-BE49-F238E27FC236}">
                <a16:creationId xmlns:a16="http://schemas.microsoft.com/office/drawing/2014/main" id="{829A6598-874D-975A-F91C-BBE561E043C5}"/>
              </a:ext>
            </a:extLst>
          </p:cNvPr>
          <p:cNvSpPr>
            <a:spLocks noGrp="1"/>
          </p:cNvSpPr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C. Adds a heartbeat record</a:t>
            </a:r>
          </a:p>
        </p:txBody>
      </p:sp>
      <p:sp>
        <p:nvSpPr>
          <p:cNvPr id="214" name="Text 5">
            <a:extLst>
              <a:ext uri="{FF2B5EF4-FFF2-40B4-BE49-F238E27FC236}">
                <a16:creationId xmlns:a16="http://schemas.microsoft.com/office/drawing/2014/main" id="{2CA15460-F685-EDFF-3C87-6A08EE80D1E3}"/>
              </a:ext>
            </a:extLst>
          </p:cNvPr>
          <p:cNvSpPr>
            <a:spLocks noGrp="1"/>
          </p:cNvSpPr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D. Converts snapshot mode to full</a:t>
            </a:r>
          </a:p>
        </p:txBody>
      </p:sp>
      <p:sp>
        <p:nvSpPr>
          <p:cNvPr id="215" name="Text 6">
            <a:extLst>
              <a:ext uri="{FF2B5EF4-FFF2-40B4-BE49-F238E27FC236}">
                <a16:creationId xmlns:a16="http://schemas.microsoft.com/office/drawing/2014/main" id="{6C88EB4F-BB4D-2EB2-B450-23F1DB2DC83D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3966182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65DE-92D2-FB00-D588-9655CBF7C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>
            <a:extLst>
              <a:ext uri="{FF2B5EF4-FFF2-40B4-BE49-F238E27FC236}">
                <a16:creationId xmlns:a16="http://schemas.microsoft.com/office/drawing/2014/main" id="{0C7B4122-A6D9-8251-44F6-E629914E49CC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Quiz Answers</a:t>
            </a:r>
          </a:p>
        </p:txBody>
      </p:sp>
      <p:sp>
        <p:nvSpPr>
          <p:cNvPr id="217" name="Text 1">
            <a:extLst>
              <a:ext uri="{FF2B5EF4-FFF2-40B4-BE49-F238E27FC236}">
                <a16:creationId xmlns:a16="http://schemas.microsoft.com/office/drawing/2014/main" id="{7AF2BFCF-D012-EE93-6B68-1271E7123AA1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2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1. C - Log-based streaming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2. B - A snapshot record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3. A - tasks.max</a:t>
            </a:r>
          </a:p>
          <a:p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4. B - Send an execute-snapshot signal</a:t>
            </a:r>
          </a:p>
          <a:p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5. A - Removes the envelope and exposes row state (configure delete handling deliberately)</a:t>
            </a:r>
          </a:p>
        </p:txBody>
      </p:sp>
      <p:sp>
        <p:nvSpPr>
          <p:cNvPr id="218" name="Text 2">
            <a:extLst>
              <a:ext uri="{FF2B5EF4-FFF2-40B4-BE49-F238E27FC236}">
                <a16:creationId xmlns:a16="http://schemas.microsoft.com/office/drawing/2014/main" id="{163854C4-17A3-8D86-E8AC-A869786BD4C3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6"/>
              </a:rPr>
              <a:t>[4]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7"/>
              </a:rPr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38997798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8793A-7F8D-3314-9CAB-46C34A01D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>
            <a:extLst>
              <a:ext uri="{FF2B5EF4-FFF2-40B4-BE49-F238E27FC236}">
                <a16:creationId xmlns:a16="http://schemas.microsoft.com/office/drawing/2014/main" id="{3A81F7C4-2838-2327-8059-1A74EC91DF29}"/>
              </a:ext>
            </a:extLst>
          </p:cNvPr>
          <p:cNvSpPr>
            <a:spLocks noGrp="1"/>
          </p:cNvSpPr>
          <p:nvPr/>
        </p:nvSpPr>
        <p:spPr>
          <a:xfrm>
            <a:off x="457200" y="4572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22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Recap &amp; Next Steps</a:t>
            </a:r>
          </a:p>
        </p:txBody>
      </p:sp>
      <p:sp>
        <p:nvSpPr>
          <p:cNvPr id="220" name="Text 1">
            <a:extLst>
              <a:ext uri="{FF2B5EF4-FFF2-40B4-BE49-F238E27FC236}">
                <a16:creationId xmlns:a16="http://schemas.microsoft.com/office/drawing/2014/main" id="{75C1E1F5-977F-7DE5-F05A-8FF709332060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240" cy="301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sz="1400" b="1" u="none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On Day 5: We design production ingestion from CDC, clickstream and batch files, then protect downstream consumers with schemas, validation and DLQ patterns.</a:t>
            </a:r>
          </a:p>
        </p:txBody>
      </p:sp>
      <p:sp>
        <p:nvSpPr>
          <p:cNvPr id="221" name="Text 2">
            <a:extLst>
              <a:ext uri="{FF2B5EF4-FFF2-40B4-BE49-F238E27FC236}">
                <a16:creationId xmlns:a16="http://schemas.microsoft.com/office/drawing/2014/main" id="{6C72795B-A522-850E-C306-5D642DBF3765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3"/>
              </a:rPr>
              <a:t>[1]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4"/>
              </a:rPr>
              <a:t>[2]</a:t>
            </a:r>
            <a:r>
              <a:rPr sz="700" b="0" u="none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700" b="0" u="sng">
                <a:solidFill>
                  <a:srgbClr val="3366BB"/>
                </a:solidFill>
                <a:latin typeface="Calibri"/>
                <a:ea typeface="Calibri"/>
                <a:cs typeface="Calibri"/>
                <a:hlinkClick r:id="rId5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3713266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4934</Words>
  <Application>Microsoft Office PowerPoint</Application>
  <DocSecurity>0</DocSecurity>
  <PresentationFormat>On-screen Show (4:3)</PresentationFormat>
  <Paragraphs>658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4" baseType="lpstr">
      <vt:lpstr>Calibri</vt:lpstr>
      <vt:lpstr>Calibri Light</vt:lpstr>
      <vt:lpstr>Consolas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Zohar Quid</cp:lastModifiedBy>
  <cp:revision>1</cp:revision>
  <dcterms:created xsi:type="dcterms:W3CDTF">2026-05-26T08:23:50Z</dcterms:created>
  <dcterms:modified xsi:type="dcterms:W3CDTF">2026-05-29T11:05:17Z</dcterms:modified>
</cp:coreProperties>
</file>