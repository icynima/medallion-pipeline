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5148263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2CC0B0-14C7-4F53-8263-D92DB4BDEF2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000" cy="308556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00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1"/>
          </p:nvPr>
        </p:nvSpPr>
        <p:spPr>
          <a:xfrm>
            <a:off x="5175000" y="8685360"/>
            <a:ext cx="395820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4E2CF3-E9FA-4A55-9CE5-17A9572DEB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6AAA3-DD8F-4008-817D-F06AA98CAA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36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36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5"/>
          </p:nvPr>
        </p:nvSpPr>
        <p:spPr>
          <a:xfrm>
            <a:off x="5175000" y="8685360"/>
            <a:ext cx="395856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3B7BEB-146F-4335-8366-06C30C110D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913320" y="1143000"/>
            <a:ext cx="730836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913320" y="4400640"/>
            <a:ext cx="730836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6"/>
          </p:nvPr>
        </p:nvSpPr>
        <p:spPr>
          <a:xfrm>
            <a:off x="5175000" y="8685360"/>
            <a:ext cx="395856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C1A6B-B78E-41D2-A5D8-2A6359E2D9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hyperlink" Target="file:///C:/Users/Gamer/Downloads/Training/Week1/Day%202/slides/&#12304;673597612005892&#8224;L37-L43&#12305;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673597612005892&#8224;L37-L43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file:///C:/Users/Gamer/Downloads/Old%20T/Day%202/&#12304;672673436079528&#8224;L163-L170&#12305;" TargetMode="External"/><Relationship Id="rId3" Type="http://schemas.openxmlformats.org/officeDocument/2006/relationships/hyperlink" Target="file:///C:/Users/Gamer/Downloads/Old%20T/Day%202/&#12304;154439817660870&#8224;L116-L129&#12305;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hyperlink" Target="file:///C:/Users/Gamer/Downloads/Old%20T/Day%202/&#12304;645518690862239&#8224;L139-L173&#12305;" TargetMode="External"/><Relationship Id="rId4" Type="http://schemas.openxmlformats.org/officeDocument/2006/relationships/hyperlink" Target="file:///C:/Users/Gamer/Downloads/Old%20T/Day%202/&#12304;645518690862239&#8224;L213-L232&#12305;" TargetMode="External"/><Relationship Id="rId5" Type="http://schemas.openxmlformats.org/officeDocument/2006/relationships/hyperlink" Target="file:///C:/Users/Gamer/Downloads/Old%20T/Day%202/&#12304;645518690862239&#8224;L284-L293&#12305;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Old%20T/Day%202/&#12304;645518690862239&#8224;L139-L173&#12305;" TargetMode="External"/><Relationship Id="rId2" Type="http://schemas.openxmlformats.org/officeDocument/2006/relationships/hyperlink" Target="file:///C:/Users/Gamer/Downloads/Old%20T/Day%202/&#12304;645518690862239&#8224;L175-L210&#12305;" TargetMode="External"/><Relationship Id="rId3" Type="http://schemas.openxmlformats.org/officeDocument/2006/relationships/hyperlink" Target="file:///C:/Users/Gamer/Downloads/Old%20T/Day%202/&#12304;645518690862239&#8224;L213-L232&#12305;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Old%20T/Day%202/&#12304;645518690862239&#8224;L284-L296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hyperlink" Target="file:///C:/Users/Gamer/Downloads/Training/Week1/Day%202/slides/&#12304;830786155811747&#8224;L34-L61&#12305;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22-L13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128-L160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787459060714621&#8224;L124-L145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830786155811747&#8224;L34-L6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63-L18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109569185708490&#8224;L122-L131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994208945390217&#8224;L900-L929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673597612005892&#8224;L37-L43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hyperlink" Target="file:///C:/Users/Gamer/Downloads/Training/Week1/Day%202/slides/&#12304;787459060714621&#8224;L124-L145&#12305;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/>
          <p:nvPr/>
        </p:nvSpPr>
        <p:spPr>
          <a:xfrm>
            <a:off x="540000" y="417240"/>
            <a:ext cx="809928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2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Apache Kafka Fundamentals on Ubuntu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Events, Topics, Partitions, Brokers and Hands-on Labs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48640" y="3291840"/>
            <a:ext cx="4388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Data Engineering Workshop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a7bb5"/>
                </a:solidFill>
                <a:effectLst/>
                <a:uFillTx/>
                <a:latin typeface="Calibri"/>
              </a:rPr>
              <a:t>Week 1 | Eight-hour instructor-led day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36576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Learning Objectives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/>
          <p:cNvPicPr/>
          <p:nvPr/>
        </p:nvPicPr>
        <p:blipFill>
          <a:blip r:embed="rId1"/>
          <a:stretch/>
        </p:blipFill>
        <p:spPr>
          <a:xfrm>
            <a:off x="548640" y="9601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1005840" y="9144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Explain event streaming in plain language and identify a useful event.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/>
          <p:cNvPicPr/>
          <p:nvPr/>
        </p:nvPicPr>
        <p:blipFill>
          <a:blip r:embed="rId2"/>
          <a:stretch/>
        </p:blipFill>
        <p:spPr>
          <a:xfrm>
            <a:off x="548640" y="14173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2"/>
          <p:cNvSpPr/>
          <p:nvPr/>
        </p:nvSpPr>
        <p:spPr>
          <a:xfrm>
            <a:off x="1005840" y="13716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Trace a record from producer to topic, partition, broker and consumer.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2"/>
          <p:cNvPicPr/>
          <p:nvPr/>
        </p:nvPicPr>
        <p:blipFill>
          <a:blip r:embed="rId3"/>
          <a:stretch/>
        </p:blipFill>
        <p:spPr>
          <a:xfrm>
            <a:off x="548640" y="18745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3"/>
          <p:cNvSpPr/>
          <p:nvPr/>
        </p:nvSpPr>
        <p:spPr>
          <a:xfrm>
            <a:off x="1005840" y="18288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Predict ordering and parallelism when keys and partitions change.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3"/>
          <p:cNvPicPr/>
          <p:nvPr/>
        </p:nvPicPr>
        <p:blipFill>
          <a:blip r:embed="rId4"/>
          <a:stretch/>
        </p:blipFill>
        <p:spPr>
          <a:xfrm>
            <a:off x="548640" y="23317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4"/>
          <p:cNvSpPr/>
          <p:nvPr/>
        </p:nvSpPr>
        <p:spPr>
          <a:xfrm>
            <a:off x="1005840" y="22860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Run a single-broker Kafka KRaft environment on an Ubuntu host.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4"/>
          <p:cNvPicPr/>
          <p:nvPr/>
        </p:nvPicPr>
        <p:blipFill>
          <a:blip r:embed="rId5"/>
          <a:stretch/>
        </p:blipFill>
        <p:spPr>
          <a:xfrm>
            <a:off x="548640" y="27889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5"/>
          <p:cNvSpPr/>
          <p:nvPr/>
        </p:nvSpPr>
        <p:spPr>
          <a:xfrm>
            <a:off x="1005840" y="27432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Create topics and prove message flow with CLI and Python clients.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5"/>
          <p:cNvPicPr/>
          <p:nvPr/>
        </p:nvPicPr>
        <p:blipFill>
          <a:blip r:embed="rId6"/>
          <a:stretch/>
        </p:blipFill>
        <p:spPr>
          <a:xfrm>
            <a:off x="548640" y="3246120"/>
            <a:ext cx="273240" cy="2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6"/>
          <p:cNvSpPr/>
          <p:nvPr/>
        </p:nvSpPr>
        <p:spPr>
          <a:xfrm>
            <a:off x="1005840" y="3200400"/>
            <a:ext cx="7771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Compare batch collection with real-time ingestion before Day 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7"/>
              </a:rPr>
              <a:t>[1] Course roadmap;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Agenda | Eight-Hour Teaching Plan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4389120" y="914400"/>
            <a:ext cx="35640" cy="3473640"/>
          </a:xfrm>
          <a:prstGeom prst="rect">
            <a:avLst/>
          </a:prstGeom>
          <a:solidFill>
            <a:srgbClr val="d6e0f0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4316040" y="100584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48640" y="91440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09:00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Recap + events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Kafka exists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4316040" y="155448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548640" y="146304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10:00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Architecture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Topics and partitions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316040" y="210312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548640" y="201168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11:30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Deployment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+ KRaft lab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4316040" y="265176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48640" y="256032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13:30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 labs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 and consume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316040" y="320040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48640" y="310896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15:00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Python labs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Keys and JSON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4316040" y="3749040"/>
            <a:ext cx="145080" cy="145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48640" y="365760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16:30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Challenge + recap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and handoff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Includes short breaks and guided mini exercises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Recap: What Changed Since Day 1?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1 batch file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 saved file captures a completed set.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The reader waits for the next file.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Good for scheduled movement.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2 event stream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 new record can arrive now.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Readers can react continuously.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Good for changing operational facts.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Events Begin With a Human Question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fact that changed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order-104 was paid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shipment-88 departed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sensor-17 exceeded threshold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 event record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what happened + when + business key + values needed by a reader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Tightly Coupled vs Loosely Coupled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Direct call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Checkout calls inventory now.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If inventory is down, checkout waits or fails.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 handoff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Checkout publishes OrderPaid.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Inventory reacts when ready; Kafka holds the fact.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1: Is It an Event?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pairs, classify each item: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Daily customer.csv export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PaymentReceived at 10:03:04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Weekly report PDF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TruckArrived at gate 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Then write one event name of your own.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Which two items deserve immediate consumers?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What business key would you put on each event?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8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Pub Sub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57200" y="914400"/>
            <a:ext cx="42055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Applications that send records to Kafka topics. Producers serialise data, choose partitions, batch records and specify delivery guarantees.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Applications that read records from topics. Consumers maintain offsets, support manual or automatic commits, and coordinate within consumer groups for parallelism.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6" descr="preencoded.png"/>
          <p:cNvPicPr/>
          <p:nvPr/>
        </p:nvPicPr>
        <p:blipFill>
          <a:blip r:embed="rId1"/>
          <a:srcRect l="0" t="0" r="0" b="7751"/>
          <a:stretch/>
        </p:blipFill>
        <p:spPr>
          <a:xfrm>
            <a:off x="4937760" y="914400"/>
            <a:ext cx="3748320" cy="214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/>
          <p:cNvSpPr/>
          <p:nvPr/>
        </p:nvSpPr>
        <p:spPr>
          <a:xfrm>
            <a:off x="457200" y="49377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3"/>
              </a:rPr>
              <a:t>[2]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Read Kafka From the Message Perspective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producer publishes a record. Kafka stores it in a durable log. A consumer reads it later or continuously.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Beginner rule: Kafka is not a phone call; the stored event remains available according to retention.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Kafka Record Has Data and Delivery Metadata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Payload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{"order_id": 104,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 "status": "PAID",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 "total": 850.00}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Metadata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| partition | offset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key | timestamp | headers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broker assigns position in a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28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Serialization Fundamentals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457200" y="914400"/>
            <a:ext cx="4297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serialise?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Kafka transports records as bytes. Producers must convert objects (e.g. JSON, Avro) into bytes, and consumers must interpret them. The choice of format impacts performance, compatibility and evolvability.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registry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schema registry stores versioned schemas centrally. Producers embed a schema ID in each message; consumers fetch the correct schema to deserialise data. Compatibility modes (backward, forward, full) govern how schemas evolve.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7" descr="preencoded.png"/>
          <p:cNvPicPr/>
          <p:nvPr/>
        </p:nvPicPr>
        <p:blipFill>
          <a:blip r:embed="rId1"/>
          <a:stretch/>
        </p:blipFill>
        <p:spPr>
          <a:xfrm>
            <a:off x="493776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16"/>
          <p:cNvSpPr/>
          <p:nvPr/>
        </p:nvSpPr>
        <p:spPr>
          <a:xfrm>
            <a:off x="5577840" y="12344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Record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6492240" y="1325880"/>
            <a:ext cx="54828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8" descr="preencoded.png"/>
          <p:cNvPicPr/>
          <p:nvPr/>
        </p:nvPicPr>
        <p:blipFill>
          <a:blip r:embed="rId2"/>
          <a:stretch/>
        </p:blipFill>
        <p:spPr>
          <a:xfrm>
            <a:off x="7223760" y="10972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7"/>
          <p:cNvSpPr/>
          <p:nvPr/>
        </p:nvSpPr>
        <p:spPr>
          <a:xfrm>
            <a:off x="7772400" y="12344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Registry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3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4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5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19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Comparing Serialization Formats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45720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fff2cc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54864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Avro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4"/>
          <p:cNvSpPr/>
          <p:nvPr/>
        </p:nvSpPr>
        <p:spPr>
          <a:xfrm>
            <a:off x="54864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Binary encoding; small messages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5"/>
          <p:cNvSpPr/>
          <p:nvPr/>
        </p:nvSpPr>
        <p:spPr>
          <a:xfrm>
            <a:off x="54864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stored separately; dynamic typing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6"/>
          <p:cNvSpPr/>
          <p:nvPr/>
        </p:nvSpPr>
        <p:spPr>
          <a:xfrm>
            <a:off x="54864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Excellent schema evolution support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7"/>
          <p:cNvSpPr/>
          <p:nvPr/>
        </p:nvSpPr>
        <p:spPr>
          <a:xfrm>
            <a:off x="54864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Popular in analytical lakes &amp; Kafka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29184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e2f0d9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8"/>
          <p:cNvSpPr/>
          <p:nvPr/>
        </p:nvSpPr>
        <p:spPr>
          <a:xfrm>
            <a:off x="338328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Protobuf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9"/>
          <p:cNvSpPr/>
          <p:nvPr/>
        </p:nvSpPr>
        <p:spPr>
          <a:xfrm>
            <a:off x="338328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Compact binary encoding with field numbers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0"/>
          <p:cNvSpPr/>
          <p:nvPr/>
        </p:nvSpPr>
        <p:spPr>
          <a:xfrm>
            <a:off x="338328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Code generation provides strong typing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1"/>
          <p:cNvSpPr/>
          <p:nvPr/>
        </p:nvSpPr>
        <p:spPr>
          <a:xfrm>
            <a:off x="338328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evolution via reserved field numbers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2"/>
          <p:cNvSpPr/>
          <p:nvPr/>
        </p:nvSpPr>
        <p:spPr>
          <a:xfrm>
            <a:off x="338328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Great for microservices and multi‑language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126480" y="914400"/>
            <a:ext cx="2559960" cy="2011320"/>
          </a:xfrm>
          <a:prstGeom prst="roundRect">
            <a:avLst>
              <a:gd name="adj" fmla="val 4545"/>
            </a:avLst>
          </a:prstGeom>
          <a:solidFill>
            <a:srgbClr val="d9e1f2"/>
          </a:solidFill>
          <a:ln w="12700">
            <a:solidFill>
              <a:srgbClr val="c5c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3"/>
          <p:cNvSpPr/>
          <p:nvPr/>
        </p:nvSpPr>
        <p:spPr>
          <a:xfrm>
            <a:off x="6217920" y="960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JSON Schema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4"/>
          <p:cNvSpPr/>
          <p:nvPr/>
        </p:nvSpPr>
        <p:spPr>
          <a:xfrm>
            <a:off x="6217920" y="128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Human‑readable data and schema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5"/>
          <p:cNvSpPr/>
          <p:nvPr/>
        </p:nvSpPr>
        <p:spPr>
          <a:xfrm>
            <a:off x="6217920" y="1554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Rich validation capabilities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6"/>
          <p:cNvSpPr/>
          <p:nvPr/>
        </p:nvSpPr>
        <p:spPr>
          <a:xfrm>
            <a:off x="6217920" y="1828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Less efficient; larger messages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7"/>
          <p:cNvSpPr/>
          <p:nvPr/>
        </p:nvSpPr>
        <p:spPr>
          <a:xfrm>
            <a:off x="6217920" y="21031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• </a:t>
            </a:r>
            <a:r>
              <a:rPr lang="en-US" sz="9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Useful for APIs and configuration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8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1"/>
              </a:rPr>
              <a:t>[1]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2"/>
              </a:rPr>
              <a:t>[2]</a:t>
            </a:r>
            <a:r>
              <a:rPr lang="en-US" sz="700" b="0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   </a:t>
            </a: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3"/>
              </a:rPr>
              <a:t>[3]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2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Evolution &amp; Compatibility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457200" y="914400"/>
            <a:ext cx="4297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Backward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using new schema can read data produced with an older schema. Typically upgrade consumers first.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Forward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using old schema can read data produced with a newer schema. Producers upgrade first.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Full compatibility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Both backward and forward compatible. Adds restrictions to ensure both directions work.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937760" y="2103120"/>
            <a:ext cx="3200400" cy="360"/>
          </a:xfrm>
          <a:prstGeom prst="line">
            <a:avLst/>
          </a:prstGeom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48920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43891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Producer v1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64922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59893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Schema change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8092440" y="20574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7589520" y="21672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Producer v2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4937760" y="2788920"/>
            <a:ext cx="3200400" cy="360"/>
          </a:xfrm>
          <a:prstGeom prst="line">
            <a:avLst/>
          </a:prstGeom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48920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43891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v1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64922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59893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Upgrade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8092440" y="2743200"/>
            <a:ext cx="91080" cy="9108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7589520" y="28530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v2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457200" y="49377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070c0"/>
                </a:solidFill>
                <a:effectLst/>
                <a:uFillTx/>
                <a:latin typeface="Calibri"/>
                <a:hlinkClick r:id="rId1"/>
              </a:rPr>
              <a:t>[1]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= A Named Stream of Related 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topic lets a consumer subscribe to useful events rather than inspect everything.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Examples: order-paid, shipment-status, inventory-adjusted.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Partition = One Ordered Lane Inside a Topic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57200" y="1097280"/>
            <a:ext cx="4753800" cy="21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Partitions increase parallel throughput. Records are ordered inside one partition, not globally across every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That single sentence prevents many design mistakes.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/>
          <p:cNvPicPr/>
          <p:nvPr/>
        </p:nvPicPr>
        <p:blipFill>
          <a:blip r:embed="rId1"/>
          <a:stretch/>
        </p:blipFill>
        <p:spPr>
          <a:xfrm>
            <a:off x="5486400" y="1097280"/>
            <a:ext cx="3199320" cy="219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2"/>
              </a:rPr>
              <a:t>[1] Hodges, Medium, 1 Apr 2024; verified with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Ordering: What Kafka Guarantees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Guaranteed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Within partition 0: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offset 0 -&gt; offset 1 -&gt; offset 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Consumers read that lane in order.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Not guaranteed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Partition 0 and partition 1 may be processed at different speeds.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No global event order across lanes.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Keys Keep Related Changes in One Lane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Key = order_id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All updates for order-104 hash to the same partition.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PAID -&gt; PACKED -&gt; SHIPPED stays ordered.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No useful key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Records can spread for throughput.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Updates for one entity may be observed in different lanes.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2: Predict the Partition Decision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shipment-status has 3 partitions.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Events carry keys: SHIP-01, SHIP-02, SHIP-01, SHIP-03.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Sketch three lanes and place the events conceptually.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Must both SHIP-01 records share a partition?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Can you claim SHIP-02 happened before SHIP-03 globally?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Explain in one sentence.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Deployment View: From Clients to a Broker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 message view explains records. The deployment view explains where records live.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today's lab, one broker is enough to observe mechanics.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Producer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:9092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partitions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Consumer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7246080" y="1809000"/>
            <a:ext cx="181800" cy="242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7282080" y="2615760"/>
            <a:ext cx="181800" cy="273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7282080" y="3438720"/>
            <a:ext cx="181800" cy="304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documentation; Day 3 continues availability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Broker Is the Kafka Server Students Touch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responsibility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Accept producer records.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Store topic partition log segments.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Serve consumer fetch requests.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Client responsibility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Producer serializes and sends.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Consumer deserializes and reads.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- Clients use bootstrap address localhost:9092.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KRaft: Cluster Metadata Without ZooKeeper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this Ubuntu lab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One container acts as broker and controller.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KRaft maintains Kafka metadata.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Client listener: 9092.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only one broker?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It exposes concepts with less setup.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It is not a resilience design.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Replication and failure tests are Day 3.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Topology: Ubuntu Host to Kafka and Back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 will start one KRaft broker with Docker Compose, create demo-topic, produce records, and consume them.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Then Python scripts add JSON values and keys.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Ubuntu terminal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day2_kafka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demo-topic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CLI / Python reader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7246080" y="1764000"/>
            <a:ext cx="181800" cy="359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7282080" y="2559960"/>
            <a:ext cx="181800" cy="36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7318080" y="3402720"/>
            <a:ext cx="181800" cy="437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3: Label the Architecture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Draw the lab route on paper before typing commands: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Ubuntu -&gt; container -&gt; broker -&gt; topic -&gt; partition -&gt; consumer.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Mark where the record is durable.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What runs on port 9092?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Where does a topic live?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Which component prints the record?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Checkpoint Before the Lab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 before you run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topic: demo-topic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partitions: 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broker endpoint: localhost:9092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container: day2_kafka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to capture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running container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description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produced records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consumed records with metadata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1: Verify the Ubuntu Host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Run in the supplied lab-code folder: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docker --version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docker compose version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Confirm docker-compose.yml, producer.py and consumer.py exist.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Success Evidence: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Record the Docker versions and the visible three supplied files.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Do not start Kafka until this check passes.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2: Understand the Compose File Before Starting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This supplied configuration starts one Kafka node in KRaft mode. Read the listener and role settings first.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services: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kafka: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container_name: day2_kafka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environment: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KAFKA_PROCESS_ROLES: 'broker,controller'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KAFKA_LISTENERS: 'PLAINTEXT://0.0.0.0:9092,CONTROLLER://0.0.0.0:9093'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    KAFKA_ADVERTISED_LISTENERS: 'PLAINTEXT://localhost:9092'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3: Start One Kafka Broker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Start the service and prove the container is running before creating a topic.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cd "Week1/Day 2/lab-code"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compose up -d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ps --filter name=day2_kafka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logs day2_kafka --tail 30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4: Create a Topic With Three Ordered Lanes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three partitions give us visible parallel lanes while keeping the lab small.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exec day2_kafka kafka-topics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--bootstrap-server localhost:9092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--create --if-not-exists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--topic demo-topic --partitions 3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--replication-factor 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5: Ask Kafka What Was Created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Topic description turns configuration into observable evidence. Read partition count before continuing.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exec day2_kafka kafka-topics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--bootstrap-server localhost:9092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--describe --topic demo-topic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Expected observation: PartitionCount: 3, ReplicationFactor: 1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4: Read a Topic Description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457200" y="822960"/>
            <a:ext cx="493668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Circle the evidence in your terminal output: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Topic name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Partition count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Replication factor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One line per partition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is replication factor 1 acceptable for this learning lab but not a production availability pattern?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Preview only: Day 3 tests replicas and failures.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6: Produce Human-Readable Records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Open a terminal producer, type these records, then press Ctrl+C when complete.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exec -it day2_kafka kafka-console-producer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--bootstrap-server localhost:9092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--topic demo-topic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{"order_id":104,"status":"PAID"}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{"order_id":105,"status":"PAID"}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{"order_id":104,"status":"PACKED"}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7: Consume From the Beginning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Read the records stored in the topic. A consumer can arrive after the producer has finished.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docker exec day2_kafka kafka-console-consumer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--bootstrap-server localhost:9092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--topic demo-topic --from-beginning \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--max-messages 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Check: Prove Kafka Stored the 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Collect evidence in this order: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Running broker container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Topic description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Three producer inputs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Three consumer outputs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A sentence explaining why late reading worked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Explain Before Moving 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The consumer could read after production because Kafka retains records in a log.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screenshot of commands alone is not evidence of message movement.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5: Observe Parallel Lanes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Create a second topic named keyed-orders with three partitions. Produce a few keyed records using the console producer key options or the Python lab later.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Predict First: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If every record uses key order-104, should the lane stay stable?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Write your prediction before observing output.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Concept Check: Topic, Partition or Broker?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Match each definition: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A. Named stream a reader subscribes to.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B. Ordered lane with offsets.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C. Server storing log segments.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D. Application sending records.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Answers: A topic; B partition; C broker; D producer.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Then explain why increasing partitions can increase concurrent work.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Serialization: Kafka Moves Bytes, Applications Supply Meaning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Text or JSON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Readable in beginner labs.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JSON record exposes fields such as order_id and status.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Schema preview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As teams evolve fields, contracts matter.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Formal schema evolution is taught later, not in today's lab.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JSON Event Anatomy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 useful event is explicit enough that another team can interpret it without asking the producer.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"event_type": "OrderPaid",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"event_time": "2026-05-26T10:03:04Z",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"order_id": 104,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"customer_id": 38,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"amount": 850.00,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"currency": "INR"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6: Improve a Weak Event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Weak record: {"id":104,"done":true}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Rewrite it so a fulfilment consumer understands what changed, when it changed and which entity changed.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Minimum fields: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event_type, event_time, entity key and useful business value.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Which field should become the Kafka key?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8: The Supplied Python Producer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producer serializes a Python dictionary as JSON and sends ten keyed records to demo-topic.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producer = KafkaProducer(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bootstrap_servers=["localhost:9092"],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value_serializer=json_serializer,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key_serializer=lambda k: k.encode("utf-8"),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acks="all")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key = "partition-key"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producer.send("demo-topic", key=key, value=value)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9: The Supplied Python Consumer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100584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The reader prints partition and offset so students can observe where records landed. Offset management remains Day 3.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"/>
          <p:cNvSpPr/>
          <p:nvPr/>
        </p:nvSpPr>
        <p:spPr>
          <a:xfrm>
            <a:off x="457200" y="1463040"/>
            <a:ext cx="8228520" cy="2010600"/>
          </a:xfrm>
          <a:prstGeom prst="rect">
            <a:avLst/>
          </a:prstGeom>
          <a:solidFill>
            <a:srgbClr val="f7f9fb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502920" y="1508760"/>
            <a:ext cx="81370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consumer = KafkaConsumer(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"demo-topic",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bootstrap_servers=["localhost:9092"],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group_id="demo-group",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  auto_offset_reset="earliest")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385170"/>
                </a:solidFill>
                <a:effectLst/>
                <a:uFillTx/>
                <a:latin typeface="Consolas"/>
                <a:ea typeface="Consolas"/>
              </a:rPr>
              <a:t>print(message.partition, message.offset, message.value)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10: Run the Python Round Trip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the lab-code folder: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python -m pip install kafka-python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Run python consumer.py in terminal A.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Run python producer.py in terminal B.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Capture records printed by the consumer.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Evidence Required: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At least ten JSON messages printed with partition and offset.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Annotate which fields came from the app and which came from Kafka.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Lab 11: Change Keys and Observe Placement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Run A: keep key = "partition-key".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Run B: change key = f"order-{i % 3}".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Compare observed partition values after each producer run.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Reasoning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 stable key keeps related changes together.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Multiple keys may spread work, but ordering is only within each key's partition lane.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Exercise 7: Explain the Output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Your consumer output contains value, key, partition and offset. In pairs, label which items are business payload and which are Kafka delivery metadata.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Why is an offset not an order number?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Why should a consumer not assume two partitions are globally ordered?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Batch Path vs Streaming Path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Batch reads a completed collection on a schedule. Streaming responds as events arrive.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Both paths can end in medallion layers; the difference is arrival and processing rhythm.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Saved file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Scheduled ingest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Bronze table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8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6949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Downstream use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7498080" y="182880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7498080" y="265176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2"/>
          <p:cNvSpPr/>
          <p:nvPr/>
        </p:nvSpPr>
        <p:spPr>
          <a:xfrm>
            <a:off x="7498080" y="3474720"/>
            <a:ext cx="181800" cy="547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Course medallion pipeline;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Where Kafka Fits in a Medallion Pipeline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457200" y="1097280"/>
            <a:ext cx="5485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transports raw event records. Bronze persists received facts; Silver cleans and validates; Gold answers analytical questions.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is transport and retention, not the entire lakehouse.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6400800" y="128016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6400800" y="128016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Kafka topic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6400800" y="210312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5"/>
          <p:cNvSpPr/>
          <p:nvPr/>
        </p:nvSpPr>
        <p:spPr>
          <a:xfrm>
            <a:off x="6400800" y="210312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Bronze raw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6400800" y="2926080"/>
            <a:ext cx="1827720" cy="45612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6400800" y="2926080"/>
            <a:ext cx="1827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Silver clean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6841440" y="3840480"/>
            <a:ext cx="1096200" cy="364680"/>
          </a:xfrm>
          <a:prstGeom prst="rect">
            <a:avLst/>
          </a:prstGeom>
          <a:solidFill>
            <a:srgbClr val="d6e0f0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6841440" y="3840480"/>
            <a:ext cx="10962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Gold metric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7210080" y="1792800"/>
            <a:ext cx="181800" cy="273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7246080" y="2579760"/>
            <a:ext cx="181800" cy="2995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7282080" y="3402720"/>
            <a:ext cx="181800" cy="376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127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Medallion pipeline curriculum;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Troubleshooting From the First Broken Boundary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457200" y="822960"/>
            <a:ext cx="49366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Diagnostic route: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docker ps: broker running?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docker logs day2_kafka: startup error?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kafka-topics --describe: topic present?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Producer output: send succeeds?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Consumer output: records visible?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Incident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5669280" y="1097280"/>
            <a:ext cx="3199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Broker is running, but no consumer records appear.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First confirm the topic name and run a from-beginning consumer before changing code.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Mini Challenge: Design order-events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 pairs: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Choose a topic name.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Choose number of partitions for the lab.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Choose a key and defend ordering.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Produce three JSON events.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Consume and capture evidence.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Submission Rubric: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Topic described; records readable; key rationale stated; consumed output visible; one batch-versus-stream sentence.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Challenge Debrief: Evidence Beats Definitions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457200" y="822960"/>
            <a:ext cx="50281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Share in two minutes: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Your topic and key.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The partition observation.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One event payload.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One command that proves movement.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Instructor Listen-For: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Students distinguish topic from partition; payload from metadata; a learning broker from production availability.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457200" y="27432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Knowledge Check 1: The Message 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57200" y="914400"/>
            <a:ext cx="502812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 without notes: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What does a producer do?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Why create topics?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Where is ordering guaranteed?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What purpose does a key serve?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5669280" y="914400"/>
            <a:ext cx="3199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Check: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669280" y="1280160"/>
            <a:ext cx="319932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Model answers: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Publish; select relevant stream; within one partition; keep related records in a stable lane.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Knowledge Check 2: The Deployment View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457200" y="822960"/>
            <a:ext cx="493668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 on paper: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What does the broker store?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What endpoint did clients use today?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Why use KRaft in the Ubuntu lab?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Why is replication factor 1 only a learning setup?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Answers: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5669280" y="1097280"/>
            <a:ext cx="3199320" cy="23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Partition logs; localhost:9092; metadata without ZooKeeper; one broker cannot demonstrate fault tolerance.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Day 3 owns replication and recovery testing.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Day 3 Preview: What We Deliberately Did Not Teach Yet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457200" y="1005840"/>
            <a:ext cx="402228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457200" y="1005840"/>
            <a:ext cx="40222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Today: fundamentals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457200" y="1280160"/>
            <a:ext cx="40222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Events, topics, partitions, broker, KRaft start-up, producing, consuming, JSON and keys.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4"/>
          <p:cNvSpPr/>
          <p:nvPr/>
        </p:nvSpPr>
        <p:spPr>
          <a:xfrm>
            <a:off x="4572000" y="1005840"/>
            <a:ext cx="4113720" cy="2010600"/>
          </a:xfrm>
          <a:prstGeom prst="roundRect">
            <a:avLst>
              <a:gd name="adj" fmla="val 2273"/>
            </a:avLst>
          </a:prstGeom>
          <a:solidFill>
            <a:srgbClr val="f2f6fa"/>
          </a:solidFill>
          <a:ln w="12700">
            <a:solidFill>
              <a:srgbClr val="d6e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5"/>
          <p:cNvSpPr/>
          <p:nvPr/>
        </p:nvSpPr>
        <p:spPr>
          <a:xfrm>
            <a:off x="4572000" y="1005840"/>
            <a:ext cx="4113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Tomorrow: operations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6"/>
          <p:cNvSpPr/>
          <p:nvPr/>
        </p:nvSpPr>
        <p:spPr>
          <a:xfrm>
            <a:off x="4572000" y="1280160"/>
            <a:ext cx="4113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Consumer groups, committed offsets, lag, replication, failure tolerance and Kafka Connect.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7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457200" y="365760"/>
            <a:ext cx="8685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Quick Recap: Five Sentences to Carry Forward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457200" y="1097280"/>
            <a:ext cx="868572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Today you learned: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Kafka stores event records so producers and consumers do not need to operate in lockstep.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topic is a named stream; a partition is an ordered lane.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useful key keeps related changes in the same lane.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A broker stores partition logs; our Ubuntu lab uses one KRaft broker.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- CLI and Python evidence proved produce -&gt; store -&gt; consume flow.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Tomorrow (Day 3): groups, offsets, replicas, recovery and Connect.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Apache Kafka documentation; supplied Ubuntu lab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457200" y="274320"/>
            <a:ext cx="8685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Exit Ticket and Lab Evidence Pack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457200" y="822960"/>
            <a:ext cx="493668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Submit before leaving: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1. Topic description for demo-topic.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2. CLI consumed JSON output.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3. Python output showing partition and offset.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4. Key experiment observation.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5. A four-sentence batch-versus-stream comparison.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5669280" y="82296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Final Question: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"/>
          <p:cNvSpPr/>
          <p:nvPr/>
        </p:nvSpPr>
        <p:spPr>
          <a:xfrm>
            <a:off x="5669280" y="1097280"/>
            <a:ext cx="319932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f5597"/>
                </a:solidFill>
                <a:effectLst/>
                <a:uFillTx/>
                <a:latin typeface="Calibri"/>
              </a:rPr>
              <a:t>Your consumer is restarted tomorrow. What state might matter for resuming work?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85170"/>
                </a:solidFill>
                <a:effectLst/>
                <a:uFillTx/>
                <a:latin typeface="Calibri"/>
              </a:rPr>
              <a:t>Do not solve it today; bring the question to Day 3 when we learn offsets.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457200" y="4892040"/>
            <a:ext cx="8228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0" u="sng" strike="noStrik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[1] Supplied Ubuntu KRaft lab files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2026-05-25T22:06:33Z</dcterms:created>
  <dc:creator>Walnut Exporter</dc:creator>
  <dc:description/>
  <dc:language>en-IN</dc:language>
  <cp:lastModifiedBy/>
  <dcterms:modified xsi:type="dcterms:W3CDTF">2026-05-26T04:07:33Z</dcterms:modified>
  <cp:revision>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