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64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Slides/notesSlide6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</p:sldIdLst>
  <p:sldSz cx="9144000" cy="5148263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Throughput (msg/sec)</c:v>
                </c:pt>
              </c:strCache>
            </c:strRef>
          </c:tx>
          <c:spPr>
            <a:solidFill>
              <a:srgbClr val="92cddc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Round‑Robin</c:v>
                </c:pt>
                <c:pt idx="1">
                  <c:v>Key‑Based</c:v>
                </c:pt>
                <c:pt idx="2">
                  <c:v>Sticky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15000</c:v>
                </c:pt>
                <c:pt idx="1">
                  <c:v>18000</c:v>
                </c:pt>
                <c:pt idx="2">
                  <c:v>22000</c:v>
                </c:pt>
              </c:numCache>
            </c:numRef>
          </c:val>
        </c:ser>
        <c:gapWidth val="150"/>
        <c:overlap val="0"/>
        <c:axId val="49457844"/>
        <c:axId val="65263047"/>
      </c:barChart>
      <c:catAx>
        <c:axId val="4945784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385170"/>
                </a:solidFill>
                <a:uFillTx/>
                <a:latin typeface="Arial"/>
              </a:defRPr>
            </a:pPr>
          </a:p>
        </c:txPr>
        <c:crossAx val="65263047"/>
        <c:crosses val="autoZero"/>
        <c:auto val="1"/>
        <c:lblAlgn val="ctr"/>
        <c:lblOffset val="100"/>
        <c:noMultiLvlLbl val="0"/>
      </c:catAx>
      <c:valAx>
        <c:axId val="65263047"/>
        <c:scaling>
          <c:orientation val="minMax"/>
          <c:max val="25000"/>
          <c:min val="0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385170"/>
                </a:solidFill>
                <a:uFillTx/>
                <a:latin typeface="Arial"/>
              </a:defRPr>
            </a:pPr>
          </a:p>
        </c:txPr>
        <c:crossAx val="49457844"/>
        <c:crosses val="autoZero"/>
        <c:crossBetween val="between"/>
        <c:majorUnit val="5000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Failures Tolerated</c:v>
                </c:pt>
              </c:strCache>
            </c:strRef>
          </c:tx>
          <c:spPr>
            <a:solidFill>
              <a:srgbClr val="4f81bd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  <a:ea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RF=3, ISR=2</c:v>
                </c:pt>
                <c:pt idx="1">
                  <c:v>RF=3, ISR=1</c:v>
                </c:pt>
                <c:pt idx="2">
                  <c:v>RF=5, ISR=3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1</c:v>
                </c:pt>
                <c:pt idx="1">
                  <c:v>0</c:v>
                </c:pt>
                <c:pt idx="2">
                  <c:v>2</c:v>
                </c:pt>
              </c:numCache>
            </c:numRef>
          </c:val>
        </c:ser>
        <c:gapWidth val="150"/>
        <c:overlap val="0"/>
        <c:axId val="11778897"/>
        <c:axId val="11901571"/>
      </c:barChart>
      <c:catAx>
        <c:axId val="11778897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385170"/>
                </a:solidFill>
                <a:uFillTx/>
                <a:latin typeface="Arial"/>
                <a:ea typeface="Arial"/>
              </a:defRPr>
            </a:pPr>
          </a:p>
        </c:txPr>
        <c:crossAx val="11901571"/>
        <c:crosses val="autoZero"/>
        <c:auto val="1"/>
        <c:lblAlgn val="ctr"/>
        <c:lblOffset val="100"/>
        <c:noMultiLvlLbl val="0"/>
      </c:catAx>
      <c:valAx>
        <c:axId val="11901571"/>
        <c:scaling>
          <c:orientation val="minMax"/>
          <c:max val="3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385170"/>
                </a:solidFill>
                <a:uFillTx/>
                <a:latin typeface="Arial"/>
                <a:ea typeface="Arial"/>
              </a:defRPr>
            </a:pPr>
          </a:p>
        </c:txPr>
        <c:crossAx val="11778897"/>
        <c:crosses val="autoZero"/>
        <c:crossBetween val="between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4f81bd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  <a:ea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Map</c:v>
                </c:pt>
                <c:pt idx="1">
                  <c:v>Filter</c:v>
                </c:pt>
                <c:pt idx="2">
                  <c:v>Aggregate</c:v>
                </c:pt>
                <c:pt idx="3">
                  <c:v>Join</c:v>
                </c:pt>
                <c:pt idx="4">
                  <c:v>Window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10</c:v>
                </c:pt>
                <c:pt idx="1">
                  <c:v>8</c:v>
                </c:pt>
                <c:pt idx="2">
                  <c:v>6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gapWidth val="150"/>
        <c:overlap val="0"/>
        <c:axId val="24454093"/>
        <c:axId val="73624251"/>
      </c:barChart>
      <c:catAx>
        <c:axId val="24454093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800" b="0" u="none" strike="noStrike">
                <a:solidFill>
                  <a:srgbClr val="000000"/>
                </a:solidFill>
                <a:uFillTx/>
                <a:latin typeface="Arial"/>
                <a:ea typeface="Arial"/>
              </a:defRPr>
            </a:pPr>
          </a:p>
        </c:txPr>
        <c:crossAx val="73624251"/>
        <c:crosses val="autoZero"/>
        <c:auto val="1"/>
        <c:lblAlgn val="ctr"/>
        <c:lblOffset val="100"/>
        <c:noMultiLvlLbl val="0"/>
      </c:catAx>
      <c:valAx>
        <c:axId val="73624251"/>
        <c:scaling>
          <c:orientation val="minMax"/>
          <c:max val="12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800" b="0" u="none" strike="noStrike">
                <a:solidFill>
                  <a:srgbClr val="000000"/>
                </a:solidFill>
                <a:uFillTx/>
                <a:latin typeface="Arial"/>
                <a:ea typeface="Arial"/>
              </a:defRPr>
            </a:pPr>
          </a:p>
        </c:txPr>
        <c:crossAx val="24454093"/>
        <c:crosses val="autoZero"/>
        <c:crossBetween val="between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8E03C10-9E0F-473E-8F4D-3CC6CB0D26D6}" type="slidenum"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560" cy="308592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29163B-48A8-4DF2-8A42-7BC12B5D87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A1797C-6DBE-4979-851B-0C293D6034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5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PlaceHolder 3"/>
          <p:cNvSpPr>
            <a:spLocks noGrp="1"/>
          </p:cNvSpPr>
          <p:nvPr>
            <p:ph type="sldNum" idx="4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  <a:ea typeface="+mn-ea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673597612005892&#8224;L37-L43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hyperlink" Target="file:///C:/Users/Gamer/Downloads/Training/Week1/Day%203/&#12304;673597612005892&#8224;L37-L43&#12305;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673597612005892&#8224;L37-L43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hyperlink" Target="file:///C:/Users/Gamer/Downloads/Training/Week1/Day%203/&#12304;109569185708490&#8224;L122-L13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hyperlink" Target="file:///C:/Users/Gamer/Downloads/Training/Week1/Day%203/&#12304;830786155811747&#8224;L34-L6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163-L181&#12305;" TargetMode="External"/><Relationship Id="rId2" Type="http://schemas.openxmlformats.org/officeDocument/2006/relationships/hyperlink" Target="file:///C:/Users/Gamer/Downloads/Training/Week1/Day%203/&#12304;109569185708490&#8224;L189-L208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hyperlink" Target="file:///C:/Users/Gamer/Downloads/Old%20T/Day%202/&#12304;154439817660870&#8224;L147-L158&#12305;" TargetMode="External"/><Relationship Id="rId3" Type="http://schemas.openxmlformats.org/officeDocument/2006/relationships/hyperlink" Target="file:///C:/Users/Gamer/Downloads/Old%20T/Day%202/&#12304;525385649920661&#8224;L157-L184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994208945390217&#8224;L900-L929&#12305;" TargetMode="External"/><Relationship Id="rId2" Type="http://schemas.openxmlformats.org/officeDocument/2006/relationships/hyperlink" Target="file:///C:/Users/Gamer/Downloads/Training/Week1/Day%203/&#12304;994208945390217&#8224;L836-L857&#12305;" TargetMode="External"/><Relationship Id="rId3" Type="http://schemas.openxmlformats.org/officeDocument/2006/relationships/hyperlink" Target="file:///C:/Users/Gamer/Downloads/Training/Week1/Day%203/&#12304;109569185708490&#8224;L226-L236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328-L339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Old%20T/Day%202/&#12304;154439817660870&#8224;L136-L160&#12305;" TargetMode="External"/><Relationship Id="rId2" Type="http://schemas.openxmlformats.org/officeDocument/2006/relationships/hyperlink" Target="file:///C:/Users/Gamer/Downloads/Old%20T/Day%202/&#12304;154439817660870&#8224;L174-L194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328-L339&#12305;" TargetMode="External"/><Relationship Id="rId2" Type="http://schemas.openxmlformats.org/officeDocument/2006/relationships/hyperlink" Target="file:///C:/Users/Gamer/Downloads/Training/Week1/Day%203/&#12304;787459060714621&#8224;L216-L226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163-L181&#12305;" TargetMode="External"/><Relationship Id="rId2" Type="http://schemas.openxmlformats.org/officeDocument/2006/relationships/hyperlink" Target="file:///C:/Users/Gamer/Downloads/Training/Week1/Day%203/&#12304;109569185708490&#8224;L226-L236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122-L131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328-L339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122-L131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122-L131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122-L131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787459060714621&#8224;L114-L118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hyperlink" Target="file:///C:/Users/Gamer/Downloads/Training/Week1/Day%203/&#12304;830786155811747&#8224;L34-L6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hyperlink" Target="file:///C:/Users/Gamer/Downloads/Training/Week1/Day%203/&#12304;787459060714621&#8224;L130-L145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787459060714621&#8224;L147-L190&#12305;" TargetMode="External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787459060714621&#8224;L216-L226&#12305;" TargetMode="External"/><Relationship Id="rId2" Type="http://schemas.openxmlformats.org/officeDocument/2006/relationships/hyperlink" Target="file:///C:/Users/Gamer/Downloads/Training/Week1/Day%203/&#12304;787459060714621&#8224;L239-L245&#12305;" TargetMode="External"/><Relationship Id="rId3" Type="http://schemas.openxmlformats.org/officeDocument/2006/relationships/hyperlink" Target="file:///C:/Users/Gamer/Downloads/Training/Week1/Day%203/&#12304;787459060714621&#8224;L251-L269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787459060714621&#8224;L205-L214&#12305;" TargetMode="External"/><Relationship Id="rId2" Type="http://schemas.openxmlformats.org/officeDocument/2006/relationships/hyperlink" Target="file:///C:/Users/Gamer/Downloads/Training/Week1/Day%203/&#12304;787459060714621&#8224;L251-L269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787459060714621&#8224;L124-L145&#12305;" TargetMode="External"/><Relationship Id="rId2" Type="http://schemas.openxmlformats.org/officeDocument/2006/relationships/hyperlink" Target="file:///C:/Users/Gamer/Downloads/Training/Week1/Day%203/&#12304;787459060714621&#8224;L205-L214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34-L61&#12305;" TargetMode="External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76-L98&#12305;" TargetMode="External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121-L139&#12305;" TargetMode="External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34-L61&#12305;" TargetMode="External"/><Relationship Id="rId2" Type="http://schemas.openxmlformats.org/officeDocument/2006/relationships/hyperlink" Target="file:///C:/Users/Gamer/Downloads/Training/Week1/Day%203/&#12304;830786155811747&#8224;L53-L6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128-L160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34-L61&#12305;" TargetMode="External"/><Relationship Id="rId2" Type="http://schemas.openxmlformats.org/officeDocument/2006/relationships/hyperlink" Target="file:///C:/Users/Gamer/Downloads/Training/Week1/Day%203/&#12304;830786155811747&#8224;L76-L98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34-L61&#12305;" TargetMode="External"/><Relationship Id="rId2" Type="http://schemas.openxmlformats.org/officeDocument/2006/relationships/hyperlink" Target="file:///C:/Users/Gamer/Downloads/Training/Week1/Day%203/&#12304;830786155811747&#8224;L53-L6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128-L160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128-L160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34-L61&#12305;" TargetMode="External"/><Relationship Id="rId2" Type="http://schemas.openxmlformats.org/officeDocument/2006/relationships/hyperlink" Target="file:///C:/Users/Gamer/Downloads/Training/Week1/Day%203/&#12304;830786155811747&#8224;L76-L98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34-L61&#12305;" TargetMode="External"/><Relationship Id="rId2" Type="http://schemas.openxmlformats.org/officeDocument/2006/relationships/hyperlink" Target="file:///C:/Users/Gamer/Downloads/Training/Week1/Day%203/&#12304;830786155811747&#8224;L76-L98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122-L131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122-L131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787459060714621&#8224;L124-L145&#12305;" TargetMode="External"/><Relationship Id="rId2" Type="http://schemas.openxmlformats.org/officeDocument/2006/relationships/hyperlink" Target="file:///C:/Users/Gamer/Downloads/Training/Week1/Day%203/&#12304;787459060714621&#8224;L205-L214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64486615328870&#8224;L24-L38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hyperlink" Target="file:///C:/Users/Gamer/Downloads/Training/Week1/Day%203/&#12304;864486615328870&#8224;L56-L67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290847093815069&#8224;L46-L54&#12305;" TargetMode="External"/><Relationship Id="rId2" Type="http://schemas.openxmlformats.org/officeDocument/2006/relationships/hyperlink" Target="file:///C:/Users/Gamer/Downloads/Training/Week1/Day%203/&#12304;290847093815069&#8224;L66-L98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923825948979014&#8224;L837-L857&#12305;" TargetMode="External"/><Relationship Id="rId2" Type="http://schemas.openxmlformats.org/officeDocument/2006/relationships/hyperlink" Target="file:///C:/Users/Gamer/Downloads/Training/Week1/Day%203/&#12304;923825948979014&#8224;L859-L875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343877329506281&#8224;L39-L61&#12305;" TargetMode="External"/><Relationship Id="rId2" Type="http://schemas.openxmlformats.org/officeDocument/2006/relationships/hyperlink" Target="file:///C:/Users/Gamer/Downloads/Training/Week1/Day%203/&#12304;343877329506281&#8224;L84-L100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64486615328870&#8224;L24-L38&#12305;" TargetMode="External"/><Relationship Id="rId2" Type="http://schemas.openxmlformats.org/officeDocument/2006/relationships/hyperlink" Target="file:///C:/Users/Gamer/Downloads/Training/Week1/Day%203/&#12304;290847093815069&#8224;L46-L54&#12305;" TargetMode="External"/><Relationship Id="rId3" Type="http://schemas.openxmlformats.org/officeDocument/2006/relationships/hyperlink" Target="file:///C:/Users/Gamer/Downloads/Training/Week1/Day%203/&#12304;923825948979014&#8224;L837-L857&#12305;" TargetMode="External"/><Relationship Id="rId4" Type="http://schemas.openxmlformats.org/officeDocument/2006/relationships/hyperlink" Target="file:///C:/Users/Gamer/Downloads/Training/Week1/Day%203/&#12304;343877329506281&#8224;L39-L61&#12305;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673597612005892&#8224;L37-L43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274320" y="457200"/>
            <a:ext cx="8005320" cy="347400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d6e0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548640" y="1005840"/>
            <a:ext cx="4388400" cy="21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3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Day 3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Kafka Advanced Concepts &amp; Tools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Consumer Groups · Replication · Connect · Ecosystem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548640" y="3291840"/>
            <a:ext cx="43884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5a7bb5"/>
                </a:solidFill>
                <a:effectLst/>
                <a:uFillTx/>
                <a:latin typeface="Calibri"/>
              </a:rPr>
              <a:t>Data Engineering Workshop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a7bb5"/>
                </a:solidFill>
                <a:effectLst/>
                <a:uFillTx/>
                <a:latin typeface="Calibri"/>
              </a:rPr>
              <a:t>May 2026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/>
          <p:cNvSpPr/>
          <p:nvPr/>
        </p:nvSpPr>
        <p:spPr>
          <a:xfrm>
            <a:off x="457200" y="36576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Learning Objectives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Image 0"/>
          <p:cNvPicPr/>
          <p:nvPr/>
        </p:nvPicPr>
        <p:blipFill>
          <a:blip r:embed="rId1"/>
          <a:stretch/>
        </p:blipFill>
        <p:spPr>
          <a:xfrm>
            <a:off x="548640" y="9601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Text 1"/>
          <p:cNvSpPr/>
          <p:nvPr/>
        </p:nvSpPr>
        <p:spPr>
          <a:xfrm>
            <a:off x="1005840" y="91440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Understand how consumer groups coordinate to scale consumption and provide fault tolerance.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Image 1"/>
          <p:cNvPicPr/>
          <p:nvPr/>
        </p:nvPicPr>
        <p:blipFill>
          <a:blip r:embed="rId2"/>
          <a:stretch/>
        </p:blipFill>
        <p:spPr>
          <a:xfrm>
            <a:off x="548640" y="14173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 2"/>
          <p:cNvSpPr/>
          <p:nvPr/>
        </p:nvSpPr>
        <p:spPr>
          <a:xfrm>
            <a:off x="1005840" y="137160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Master offset management strategies and achieve exactly‑once processing semantics.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2"/>
          <p:cNvPicPr/>
          <p:nvPr/>
        </p:nvPicPr>
        <p:blipFill>
          <a:blip r:embed="rId3"/>
          <a:stretch/>
        </p:blipFill>
        <p:spPr>
          <a:xfrm>
            <a:off x="548640" y="18745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3"/>
          <p:cNvSpPr/>
          <p:nvPr/>
        </p:nvSpPr>
        <p:spPr>
          <a:xfrm>
            <a:off x="1005840" y="182880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Learn how replication, in‑sync replicas and KRaft ensure high availability.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" name="Image 3"/>
          <p:cNvPicPr/>
          <p:nvPr/>
        </p:nvPicPr>
        <p:blipFill>
          <a:blip r:embed="rId4"/>
          <a:stretch/>
        </p:blipFill>
        <p:spPr>
          <a:xfrm>
            <a:off x="548640" y="23317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 4"/>
          <p:cNvSpPr/>
          <p:nvPr/>
        </p:nvSpPr>
        <p:spPr>
          <a:xfrm>
            <a:off x="1005840" y="228600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Explore Kafka Connect architecture and configure source and sink connectors.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" name="Image 4"/>
          <p:cNvPicPr/>
          <p:nvPr/>
        </p:nvPicPr>
        <p:blipFill>
          <a:blip r:embed="rId5"/>
          <a:stretch/>
        </p:blipFill>
        <p:spPr>
          <a:xfrm>
            <a:off x="548640" y="27889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 5"/>
          <p:cNvSpPr/>
          <p:nvPr/>
        </p:nvSpPr>
        <p:spPr>
          <a:xfrm>
            <a:off x="1005840" y="274320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Discover the wider Kafka ecosystem: Streams, ksqlDB, Schema Registry and more.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Image 5"/>
          <p:cNvPicPr/>
          <p:nvPr/>
        </p:nvPicPr>
        <p:blipFill>
          <a:blip r:embed="rId6"/>
          <a:stretch/>
        </p:blipFill>
        <p:spPr>
          <a:xfrm>
            <a:off x="548640" y="32461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 6"/>
          <p:cNvSpPr/>
          <p:nvPr/>
        </p:nvSpPr>
        <p:spPr>
          <a:xfrm>
            <a:off x="1005840" y="3200400"/>
            <a:ext cx="7771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Apply knowledge in labs and exercises to deploy Kafka with Connect.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7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7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Agenda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"/>
          <p:cNvSpPr/>
          <p:nvPr/>
        </p:nvSpPr>
        <p:spPr>
          <a:xfrm>
            <a:off x="4389120" y="914400"/>
            <a:ext cx="36000" cy="3474000"/>
          </a:xfrm>
          <a:prstGeom prst="rect">
            <a:avLst/>
          </a:prstGeom>
          <a:solidFill>
            <a:srgbClr val="d6e0f0"/>
          </a:solidFill>
          <a:ln w="12700">
            <a:solidFill>
              <a:srgbClr val="d6e0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2"/>
          <p:cNvSpPr/>
          <p:nvPr/>
        </p:nvSpPr>
        <p:spPr>
          <a:xfrm>
            <a:off x="4316040" y="1005840"/>
            <a:ext cx="145440" cy="14544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3"/>
          <p:cNvSpPr/>
          <p:nvPr/>
        </p:nvSpPr>
        <p:spPr>
          <a:xfrm>
            <a:off x="548640" y="914400"/>
            <a:ext cx="3474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09:00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Consumer Groups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Fundamentals &amp; Rebalancing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4"/>
          <p:cNvSpPr/>
          <p:nvPr/>
        </p:nvSpPr>
        <p:spPr>
          <a:xfrm>
            <a:off x="4316040" y="1554480"/>
            <a:ext cx="145440" cy="14544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5"/>
          <p:cNvSpPr/>
          <p:nvPr/>
        </p:nvSpPr>
        <p:spPr>
          <a:xfrm>
            <a:off x="548640" y="1463040"/>
            <a:ext cx="3474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10:30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Offset Management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Commits &amp; Semantics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4316040" y="2103120"/>
            <a:ext cx="145440" cy="14544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7"/>
          <p:cNvSpPr/>
          <p:nvPr/>
        </p:nvSpPr>
        <p:spPr>
          <a:xfrm>
            <a:off x="548640" y="2011680"/>
            <a:ext cx="3474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12:00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Replication &amp; Fault Tolerance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ISR &amp; KRaft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8"/>
          <p:cNvSpPr/>
          <p:nvPr/>
        </p:nvSpPr>
        <p:spPr>
          <a:xfrm>
            <a:off x="4316040" y="2651760"/>
            <a:ext cx="145440" cy="14544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9"/>
          <p:cNvSpPr/>
          <p:nvPr/>
        </p:nvSpPr>
        <p:spPr>
          <a:xfrm>
            <a:off x="548640" y="2560320"/>
            <a:ext cx="3474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14:00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Kafka Connect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Architecture &amp; Connectors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0"/>
          <p:cNvSpPr/>
          <p:nvPr/>
        </p:nvSpPr>
        <p:spPr>
          <a:xfrm>
            <a:off x="4316040" y="3200400"/>
            <a:ext cx="145440" cy="14544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548640" y="3108960"/>
            <a:ext cx="3474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15:30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Ecosystem Tools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Streams, ksqlDB, Schema, MirrorMaker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2"/>
          <p:cNvSpPr/>
          <p:nvPr/>
        </p:nvSpPr>
        <p:spPr>
          <a:xfrm>
            <a:off x="4316040" y="3749040"/>
            <a:ext cx="145440" cy="14544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3"/>
          <p:cNvSpPr/>
          <p:nvPr/>
        </p:nvSpPr>
        <p:spPr>
          <a:xfrm>
            <a:off x="548640" y="3657600"/>
            <a:ext cx="3474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17:00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&amp; Quiz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Deploying Kafka with Connect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4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Quick Recap: What Day 2 Already Proved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" name="TextBox 3"/>
          <p:cNvSpPr/>
          <p:nvPr/>
        </p:nvSpPr>
        <p:spPr>
          <a:xfrm>
            <a:off x="438840" y="7862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Carry-forward points before the next section.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Rounded Rectangle 4"/>
          <p:cNvSpPr/>
          <p:nvPr/>
        </p:nvSpPr>
        <p:spPr>
          <a:xfrm>
            <a:off x="658440" y="1051560"/>
            <a:ext cx="420120" cy="32868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1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Box 5"/>
          <p:cNvSpPr/>
          <p:nvPr/>
        </p:nvSpPr>
        <p:spPr>
          <a:xfrm>
            <a:off x="1170360" y="1033200"/>
            <a:ext cx="6903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Kafka can run locally as a broker with Kafka UI for inspection.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Rounded Rectangle 6"/>
          <p:cNvSpPr/>
          <p:nvPr/>
        </p:nvSpPr>
        <p:spPr>
          <a:xfrm>
            <a:off x="658440" y="1618560"/>
            <a:ext cx="420120" cy="32868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2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7"/>
          <p:cNvSpPr/>
          <p:nvPr/>
        </p:nvSpPr>
        <p:spPr>
          <a:xfrm>
            <a:off x="1170360" y="1600200"/>
            <a:ext cx="6903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A topic is the named event stream and partitions are ordered lanes.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Rounded Rectangle 8"/>
          <p:cNvSpPr/>
          <p:nvPr/>
        </p:nvSpPr>
        <p:spPr>
          <a:xfrm>
            <a:off x="658440" y="2185560"/>
            <a:ext cx="420120" cy="32868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3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9"/>
          <p:cNvSpPr/>
          <p:nvPr/>
        </p:nvSpPr>
        <p:spPr>
          <a:xfrm>
            <a:off x="1170360" y="2167200"/>
            <a:ext cx="6903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Producers write records with keys and values; consumers read records independently.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Rounded Rectangle 10"/>
          <p:cNvSpPr/>
          <p:nvPr/>
        </p:nvSpPr>
        <p:spPr>
          <a:xfrm>
            <a:off x="658440" y="2752200"/>
            <a:ext cx="420120" cy="32868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4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Box 11"/>
          <p:cNvSpPr/>
          <p:nvPr/>
        </p:nvSpPr>
        <p:spPr>
          <a:xfrm>
            <a:off x="1170360" y="2734200"/>
            <a:ext cx="6903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Offsets identify a record position inside one partition.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Rounded Rectangle 12"/>
          <p:cNvSpPr/>
          <p:nvPr/>
        </p:nvSpPr>
        <p:spPr>
          <a:xfrm>
            <a:off x="658440" y="3319200"/>
            <a:ext cx="420120" cy="32868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5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Box 13"/>
          <p:cNvSpPr/>
          <p:nvPr/>
        </p:nvSpPr>
        <p:spPr>
          <a:xfrm>
            <a:off x="1170360" y="3300840"/>
            <a:ext cx="6903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Day 3 turns those basics into scaling, durability and operations evidence.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Box 14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[4]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457200" y="36576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Consumer Groups: What &amp; Why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/>
          <p:cNvPicPr/>
          <p:nvPr/>
        </p:nvPicPr>
        <p:blipFill>
          <a:blip r:embed="rId1"/>
          <a:stretch/>
        </p:blipFill>
        <p:spPr>
          <a:xfrm>
            <a:off x="640080" y="128016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1"/>
          <p:cNvSpPr/>
          <p:nvPr/>
        </p:nvSpPr>
        <p:spPr>
          <a:xfrm>
            <a:off x="457200" y="1691640"/>
            <a:ext cx="913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Producers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"/>
          <p:cNvSpPr/>
          <p:nvPr/>
        </p:nvSpPr>
        <p:spPr>
          <a:xfrm>
            <a:off x="1371600" y="1417320"/>
            <a:ext cx="913680" cy="90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3"/>
          <p:cNvSpPr/>
          <p:nvPr/>
        </p:nvSpPr>
        <p:spPr>
          <a:xfrm>
            <a:off x="2468880" y="1280160"/>
            <a:ext cx="1096560" cy="365040"/>
          </a:xfrm>
          <a:prstGeom prst="rect">
            <a:avLst/>
          </a:prstGeom>
          <a:solidFill>
            <a:srgbClr val="d6e0f0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4"/>
          <p:cNvSpPr/>
          <p:nvPr/>
        </p:nvSpPr>
        <p:spPr>
          <a:xfrm>
            <a:off x="2468880" y="1280160"/>
            <a:ext cx="10965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Topic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5"/>
          <p:cNvSpPr/>
          <p:nvPr/>
        </p:nvSpPr>
        <p:spPr>
          <a:xfrm>
            <a:off x="3749040" y="1417320"/>
            <a:ext cx="913680" cy="907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6"/>
          <p:cNvSpPr/>
          <p:nvPr/>
        </p:nvSpPr>
        <p:spPr>
          <a:xfrm>
            <a:off x="4846320" y="1280160"/>
            <a:ext cx="3199680" cy="639360"/>
          </a:xfrm>
          <a:prstGeom prst="roundRect">
            <a:avLst>
              <a:gd name="adj" fmla="val 14286"/>
            </a:avLst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7"/>
          <p:cNvSpPr/>
          <p:nvPr/>
        </p:nvSpPr>
        <p:spPr>
          <a:xfrm>
            <a:off x="4846320" y="128016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Consumer Group (Group ID)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8"/>
          <p:cNvSpPr/>
          <p:nvPr/>
        </p:nvSpPr>
        <p:spPr>
          <a:xfrm>
            <a:off x="5029200" y="1600200"/>
            <a:ext cx="456480" cy="45648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9"/>
          <p:cNvSpPr/>
          <p:nvPr/>
        </p:nvSpPr>
        <p:spPr>
          <a:xfrm>
            <a:off x="5029200" y="160020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C1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0"/>
          <p:cNvSpPr/>
          <p:nvPr/>
        </p:nvSpPr>
        <p:spPr>
          <a:xfrm>
            <a:off x="6035040" y="1600200"/>
            <a:ext cx="456480" cy="45648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1"/>
          <p:cNvSpPr/>
          <p:nvPr/>
        </p:nvSpPr>
        <p:spPr>
          <a:xfrm>
            <a:off x="6035040" y="160020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C2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2"/>
          <p:cNvSpPr/>
          <p:nvPr/>
        </p:nvSpPr>
        <p:spPr>
          <a:xfrm>
            <a:off x="7040880" y="1600200"/>
            <a:ext cx="456480" cy="45648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3"/>
          <p:cNvSpPr/>
          <p:nvPr/>
        </p:nvSpPr>
        <p:spPr>
          <a:xfrm>
            <a:off x="7040880" y="160020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C3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4"/>
          <p:cNvSpPr/>
          <p:nvPr/>
        </p:nvSpPr>
        <p:spPr>
          <a:xfrm>
            <a:off x="457200" y="2468880"/>
            <a:ext cx="868608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A consumer group consists of one or more consumers that share a group ID and divide partitions.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It enables horizontal scalability — partitions are assigned to different consumers.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The group coordinator tracks membership and offsets in the __consumer_offsets topic.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5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Read the Diagram: Consumer Groups Share Partition Work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457200" y="1097280"/>
            <a:ext cx="4754160" cy="21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Each consumer group receives its own view of the topic. Within one group, a partition is assigned to one active consumer at a time.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Use this picture before the assignment and rebalance exercise.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Image 0"/>
          <p:cNvPicPr/>
          <p:nvPr/>
        </p:nvPicPr>
        <p:blipFill>
          <a:blip r:embed="rId1"/>
          <a:stretch/>
        </p:blipFill>
        <p:spPr>
          <a:xfrm>
            <a:off x="5486400" y="1097280"/>
            <a:ext cx="3199680" cy="219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Text 2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[1] Hodges, Medium, 1 Apr 2024; terms verified with Apache Kafka documentation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Group Coordinator: The Broker That Manages Membership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0" name="Picture 3" descr="group_coordinator.png"/>
          <p:cNvPicPr/>
          <p:nvPr/>
        </p:nvPicPr>
        <p:blipFill>
          <a:blip r:embed="rId1"/>
          <a:stretch/>
        </p:blipFill>
        <p:spPr>
          <a:xfrm>
            <a:off x="640080" y="960120"/>
            <a:ext cx="4251600" cy="306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Box 4"/>
          <p:cNvSpPr/>
          <p:nvPr/>
        </p:nvSpPr>
        <p:spPr>
          <a:xfrm>
            <a:off x="5212080" y="1051560"/>
            <a:ext cx="310860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One broker coordinates each consumer group.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It tracks members, heartbeats and partition assignments.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It also manages committed offset writes into Kafka internal topics.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5"/>
          <p:cNvSpPr/>
          <p:nvPr/>
        </p:nvSpPr>
        <p:spPr>
          <a:xfrm>
            <a:off x="658440" y="4224600"/>
            <a:ext cx="7406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8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Source: Confluent consumer group architecture course.</a:t>
            </a:r>
            <a:endParaRPr lang="en-IN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6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[8]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Partition Assignment &amp; Scaling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5" name="Table 0"/>
          <p:cNvGraphicFramePr/>
          <p:nvPr/>
        </p:nvGraphicFramePr>
        <p:xfrm>
          <a:off x="457200" y="1097280"/>
          <a:ext cx="8686080" cy="1222200"/>
        </p:xfrm>
        <a:graphic>
          <a:graphicData uri="http://schemas.openxmlformats.org/drawingml/2006/table">
            <a:tbl>
              <a:tblPr/>
              <a:tblGrid>
                <a:gridCol w="2895480"/>
                <a:gridCol w="2895480"/>
                <a:gridCol w="2895480"/>
              </a:tblGrid>
              <a:tr h="1828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Strategy</a:t>
                      </a:r>
                      <a:endParaRPr lang="en-IN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Description</a:t>
                      </a:r>
                      <a:endParaRPr lang="en-IN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Pros / Cons</a:t>
                      </a:r>
                      <a:endParaRPr lang="en-IN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Range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Assigns consecutive partitions to consumers in order.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Simple; may cause skew if partitions vary.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Round‑Robin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Distributes partitions evenly across consumers.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Balances load; may reorder keys.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Sticky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Keeps previous assignments when possible.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Reduces rebalances but can cause skew.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Cooperative Sticky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Incremental reassignments; minimises disruption.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Recommended default since Kafka 2.4.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6" name="Text 1"/>
          <p:cNvSpPr/>
          <p:nvPr/>
        </p:nvSpPr>
        <p:spPr>
          <a:xfrm>
            <a:off x="457200" y="2926080"/>
            <a:ext cx="86860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Scaling considerations: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#Consumers ≤ #Partitions to fully utilise resources.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Extra consumers remain idle when partitions are fewer than consumers.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Increase partitions for throughput rather than consumer threads.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18"/>
          <p:cNvSpPr/>
          <p:nvPr/>
        </p:nvSpPr>
        <p:spPr>
          <a:xfrm>
            <a:off x="457200" y="36576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Partitioning Strategies &amp; Throughput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9" name="Chart 2"/>
          <p:cNvGraphicFramePr/>
          <p:nvPr/>
        </p:nvGraphicFramePr>
        <p:xfrm>
          <a:off x="457200" y="914400"/>
          <a:ext cx="4114080" cy="1828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" name="Text 20"/>
          <p:cNvSpPr/>
          <p:nvPr/>
        </p:nvSpPr>
        <p:spPr>
          <a:xfrm>
            <a:off x="4754880" y="914400"/>
            <a:ext cx="393120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Strategies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Round‑Robin: evenly distributes records across partitions; high variance and small batches.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Key‑Based: hashes record keys to maintain order for a given key; potential hotspots.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Sticky (default since 2.4): sends multiple batches to same partition before switching; improves throughput by forming larger batches.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1"/>
          <p:cNvSpPr/>
          <p:nvPr/>
        </p:nvSpPr>
        <p:spPr>
          <a:xfrm>
            <a:off x="457200" y="493776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3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Rebalancing &amp; Membership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"/>
          <p:cNvSpPr/>
          <p:nvPr/>
        </p:nvSpPr>
        <p:spPr>
          <a:xfrm>
            <a:off x="457200" y="1005840"/>
            <a:ext cx="4022640" cy="2010960"/>
          </a:xfrm>
          <a:prstGeom prst="roundRect">
            <a:avLst>
              <a:gd name="adj" fmla="val 2273"/>
            </a:avLst>
          </a:prstGeom>
          <a:solidFill>
            <a:srgbClr val="f2f6fa"/>
          </a:solidFill>
          <a:ln w="12700">
            <a:solidFill>
              <a:srgbClr val="d6e0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457200" y="1005840"/>
            <a:ext cx="4022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Triggers for Rebalancing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3"/>
          <p:cNvSpPr/>
          <p:nvPr/>
        </p:nvSpPr>
        <p:spPr>
          <a:xfrm>
            <a:off x="457200" y="1280160"/>
            <a:ext cx="40226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Consumer joins or leaves the group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Topic partitions are added or removed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Heartbeats stop due to long processing or failure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4"/>
          <p:cNvSpPr/>
          <p:nvPr/>
        </p:nvSpPr>
        <p:spPr>
          <a:xfrm>
            <a:off x="4572000" y="1005840"/>
            <a:ext cx="4114080" cy="2010960"/>
          </a:xfrm>
          <a:prstGeom prst="roundRect">
            <a:avLst>
              <a:gd name="adj" fmla="val 2273"/>
            </a:avLst>
          </a:prstGeom>
          <a:solidFill>
            <a:srgbClr val="f2f6fa"/>
          </a:solidFill>
          <a:ln w="12700">
            <a:solidFill>
              <a:srgbClr val="d6e0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5"/>
          <p:cNvSpPr/>
          <p:nvPr/>
        </p:nvSpPr>
        <p:spPr>
          <a:xfrm>
            <a:off x="4572000" y="1005840"/>
            <a:ext cx="4114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Strategies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6"/>
          <p:cNvSpPr/>
          <p:nvPr/>
        </p:nvSpPr>
        <p:spPr>
          <a:xfrm>
            <a:off x="4572000" y="1280160"/>
            <a:ext cx="41140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Cooperative Rebalancing: Assign partitions incrementally; avoids stopping all consumers.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Static Membership: Set group.instance.id to persist assignments across restarts.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Tune session.timeout.ms, heartbeat.interval.ms, max.poll.interval.ms to avoid unnecessary rebalances.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7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3"/>
              </a:rPr>
              <a:t>[3]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Rebalance Triggers: Why Work Moves Between Consumers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2" name="Picture 3" descr="rebalance_triggers.png"/>
          <p:cNvPicPr/>
          <p:nvPr/>
        </p:nvPicPr>
        <p:blipFill>
          <a:blip r:embed="rId1"/>
          <a:stretch/>
        </p:blipFill>
        <p:spPr>
          <a:xfrm>
            <a:off x="640080" y="960120"/>
            <a:ext cx="4251600" cy="306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TextBox 4"/>
          <p:cNvSpPr/>
          <p:nvPr/>
        </p:nvSpPr>
        <p:spPr>
          <a:xfrm>
            <a:off x="5212080" y="1051560"/>
            <a:ext cx="310860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A join, leave, failure or partition-count change can trigger reassignment.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During a rebalance, ownership changes before normal polling resumes.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The lab evidence appears in group membership and lag, not only in app logs.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5"/>
          <p:cNvSpPr/>
          <p:nvPr/>
        </p:nvSpPr>
        <p:spPr>
          <a:xfrm>
            <a:off x="658440" y="4224600"/>
            <a:ext cx="7406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8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Source: Confluent consumer group protocol course.</a:t>
            </a:r>
            <a:endParaRPr lang="en-IN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6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[12]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Offset Commit &amp; Processing Guarantees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"/>
          <p:cNvSpPr/>
          <p:nvPr/>
        </p:nvSpPr>
        <p:spPr>
          <a:xfrm>
            <a:off x="457200" y="1097280"/>
            <a:ext cx="4114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Commit Strategies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"/>
          <p:cNvSpPr/>
          <p:nvPr/>
        </p:nvSpPr>
        <p:spPr>
          <a:xfrm>
            <a:off x="457200" y="1371600"/>
            <a:ext cx="411408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Auto Commit: offsets committed periodically by the client; risk of data loss if committed before processing.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Manual Commit: commit after processing a batch; ensures at‑least‑once delivery.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Synchronous vs Asynchronous commit; choose based on latency requirements.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3"/>
          <p:cNvSpPr/>
          <p:nvPr/>
        </p:nvSpPr>
        <p:spPr>
          <a:xfrm>
            <a:off x="4572000" y="1097280"/>
            <a:ext cx="4114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Processing Semantics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4"/>
          <p:cNvSpPr/>
          <p:nvPr/>
        </p:nvSpPr>
        <p:spPr>
          <a:xfrm>
            <a:off x="4572000" y="1371600"/>
            <a:ext cx="411408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At‑Most‑Once: commit before processing; possible data loss on failure.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At‑Least‑Once: commit after processing; duplicates possible if processing retried.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Exactly‑Once: use idempotent producers, transactions &amp; isolation.level=read_committed; offsets committed within transaction.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22"/>
          <p:cNvSpPr/>
          <p:nvPr/>
        </p:nvSpPr>
        <p:spPr>
          <a:xfrm>
            <a:off x="457200" y="36576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Producer Responsibilities &amp; Delivery Semantics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3"/>
          <p:cNvSpPr/>
          <p:nvPr/>
        </p:nvSpPr>
        <p:spPr>
          <a:xfrm>
            <a:off x="457200" y="91440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• </a:t>
            </a: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Serialise data into bytes (e.g. Avro, Protobuf, JSON).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4"/>
          <p:cNvSpPr/>
          <p:nvPr/>
        </p:nvSpPr>
        <p:spPr>
          <a:xfrm>
            <a:off x="457200" y="123444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• </a:t>
            </a: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Determine partition (hash key, sticky or round‑robin).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5"/>
          <p:cNvSpPr/>
          <p:nvPr/>
        </p:nvSpPr>
        <p:spPr>
          <a:xfrm>
            <a:off x="457200" y="155448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• </a:t>
            </a: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Batch messages and compress to maximise throughput.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6"/>
          <p:cNvSpPr/>
          <p:nvPr/>
        </p:nvSpPr>
        <p:spPr>
          <a:xfrm>
            <a:off x="457200" y="1874520"/>
            <a:ext cx="5028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• </a:t>
            </a: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Configure acknowledgments to control durability.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7" name="Table 2"/>
          <p:cNvGraphicFramePr/>
          <p:nvPr/>
        </p:nvGraphicFramePr>
        <p:xfrm>
          <a:off x="5669280" y="914400"/>
          <a:ext cx="3017160" cy="1492920"/>
        </p:xfrm>
        <a:graphic>
          <a:graphicData uri="http://schemas.openxmlformats.org/drawingml/2006/table">
            <a:tbl>
              <a:tblPr/>
              <a:tblGrid>
                <a:gridCol w="914400"/>
                <a:gridCol w="1188720"/>
                <a:gridCol w="914400"/>
              </a:tblGrid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1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Ack Mode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1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Guarantee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1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Trade‑Off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d9e1f2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acks=0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At‑Most‑Once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Fastest but risk data loss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acks=1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At‑Least‑Once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May duplicate messages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acks=all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Exactly‑Once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Safest but slower; requires idempotence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118" name="Text 27"/>
          <p:cNvSpPr/>
          <p:nvPr/>
        </p:nvSpPr>
        <p:spPr>
          <a:xfrm>
            <a:off x="457200" y="493776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Exactly‑Once Processing with Transactions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457200" y="1097280"/>
            <a:ext cx="8686080" cy="21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Enable idempotence and transactions on the producer: set enable.idempotence=true and transactional.id.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On the consumer, set isolation.level=read_committed to avoid reading uncommitted records.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Use Kafka’s transaction API to send messages and commit offsets atomically; if the transaction aborts, offsets are not committed.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Combine with min.insync.replicas and acks=all for durability.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Exactly-Once: Keep the Claim Precise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Rounded Rectangle 3"/>
          <p:cNvSpPr/>
          <p:nvPr/>
        </p:nvSpPr>
        <p:spPr>
          <a:xfrm>
            <a:off x="594360" y="960120"/>
            <a:ext cx="3565800" cy="34704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What Kafka can provide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ounded Rectangle 4"/>
          <p:cNvSpPr/>
          <p:nvPr/>
        </p:nvSpPr>
        <p:spPr>
          <a:xfrm>
            <a:off x="4617720" y="960120"/>
            <a:ext cx="3565800" cy="34704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What still belongs to the app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658440" y="1508760"/>
            <a:ext cx="34012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Idempotent producer removes duplicates caused by retries.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Transactions can atomically write output and commit consumed offsets.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Read-process-write Kafka pipelines can be made exactly-once.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6"/>
          <p:cNvSpPr/>
          <p:nvPr/>
        </p:nvSpPr>
        <p:spPr>
          <a:xfrm>
            <a:off x="4681800" y="1508760"/>
            <a:ext cx="34012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External databases and APIs need idempotent writes.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Side effects outside Kafka must be designed carefully.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The lab uses manual commit to make progress visible.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7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[16]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 0"/>
          <p:cNvSpPr/>
          <p:nvPr/>
        </p:nvSpPr>
        <p:spPr>
          <a:xfrm>
            <a:off x="457200" y="27432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Mini Exercise: Consumer Groups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"/>
          <p:cNvSpPr/>
          <p:nvPr/>
        </p:nvSpPr>
        <p:spPr>
          <a:xfrm>
            <a:off x="457200" y="914400"/>
            <a:ext cx="502848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Scenario: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You have 6 partitions in a topic and want to process them concurrently with consumer group G.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If you launch 3 consumers, how many partitions does each get?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What happens if you add a 4th consumer?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5a7bb5"/>
                </a:solidFill>
                <a:effectLst/>
                <a:uFillTx/>
                <a:latin typeface="Calibri"/>
              </a:rPr>
              <a:t>• Try this with the command: 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5a7bb5"/>
                </a:solidFill>
                <a:effectLst/>
                <a:uFillTx/>
                <a:latin typeface="Calibri"/>
              </a:rPr>
              <a:t>kafka-console-consumer.sh --bootstrap-server localhost:9092 --topic mytopic --group G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"/>
          <p:cNvSpPr/>
          <p:nvPr/>
        </p:nvSpPr>
        <p:spPr>
          <a:xfrm>
            <a:off x="5669280" y="914400"/>
            <a:ext cx="3199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Quick Quiz: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3"/>
          <p:cNvSpPr/>
          <p:nvPr/>
        </p:nvSpPr>
        <p:spPr>
          <a:xfrm>
            <a:off x="5669280" y="1280160"/>
            <a:ext cx="3199680" cy="25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Q1. Which assignment strategy minimises disruption during rebalances?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Range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Round‑Robin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Sticky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Cooperative Sticky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Q2. To avoid unnecessary rebalances on pod restarts, which property should you configure?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session.timeout.ms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group.instance.id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max.poll.interval.ms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enable.idempotence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Solution: Consumer Groups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Box 3"/>
          <p:cNvSpPr/>
          <p:nvPr/>
        </p:nvSpPr>
        <p:spPr>
          <a:xfrm>
            <a:off x="438840" y="7862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Solution / trainer answer key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4"/>
          <p:cNvSpPr/>
          <p:nvPr/>
        </p:nvSpPr>
        <p:spPr>
          <a:xfrm>
            <a:off x="640080" y="1234440"/>
            <a:ext cx="7406280" cy="32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With 6 partitions and 3 consumers in one group, each consumer can receive about 2 partitions.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A seventh consumer in the same group would be idle if the topic still has only 6 partitions.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Different group IDs are independent subscribers and each group keeps its own committed offsets.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Cooperative sticky assignment usually minimizes disruption during rebalances.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5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[18]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Offsets &amp; Internal Topics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"/>
          <p:cNvSpPr/>
          <p:nvPr/>
        </p:nvSpPr>
        <p:spPr>
          <a:xfrm>
            <a:off x="457200" y="1097280"/>
            <a:ext cx="502848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Every record in a partition has a unique offset — its position in the log.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The consumer group coordinator stores the last committed offset per partition in a compacted internal topic, __consumer_offsets.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Upon restart, consumers resume from the committed offset, ensuring no messages are missed.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2"/>
          <p:cNvSpPr/>
          <p:nvPr/>
        </p:nvSpPr>
        <p:spPr>
          <a:xfrm>
            <a:off x="5669280" y="1280160"/>
            <a:ext cx="2742480" cy="273600"/>
          </a:xfrm>
          <a:prstGeom prst="rect">
            <a:avLst/>
          </a:prstGeom>
          <a:solidFill>
            <a:srgbClr val="d6e0f0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3"/>
          <p:cNvSpPr/>
          <p:nvPr/>
        </p:nvSpPr>
        <p:spPr>
          <a:xfrm>
            <a:off x="5760720" y="1554480"/>
            <a:ext cx="360" cy="13716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4"/>
          <p:cNvSpPr/>
          <p:nvPr/>
        </p:nvSpPr>
        <p:spPr>
          <a:xfrm>
            <a:off x="5669280" y="1691640"/>
            <a:ext cx="273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0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5"/>
          <p:cNvSpPr/>
          <p:nvPr/>
        </p:nvSpPr>
        <p:spPr>
          <a:xfrm>
            <a:off x="6172200" y="1554480"/>
            <a:ext cx="360" cy="13716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6"/>
          <p:cNvSpPr/>
          <p:nvPr/>
        </p:nvSpPr>
        <p:spPr>
          <a:xfrm>
            <a:off x="6080760" y="1691640"/>
            <a:ext cx="273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1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7"/>
          <p:cNvSpPr/>
          <p:nvPr/>
        </p:nvSpPr>
        <p:spPr>
          <a:xfrm>
            <a:off x="6583680" y="1554480"/>
            <a:ext cx="360" cy="13716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8"/>
          <p:cNvSpPr/>
          <p:nvPr/>
        </p:nvSpPr>
        <p:spPr>
          <a:xfrm>
            <a:off x="6492240" y="1691640"/>
            <a:ext cx="273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2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9"/>
          <p:cNvSpPr/>
          <p:nvPr/>
        </p:nvSpPr>
        <p:spPr>
          <a:xfrm>
            <a:off x="6995160" y="1554480"/>
            <a:ext cx="360" cy="13716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0"/>
          <p:cNvSpPr/>
          <p:nvPr/>
        </p:nvSpPr>
        <p:spPr>
          <a:xfrm>
            <a:off x="6903720" y="1691640"/>
            <a:ext cx="273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3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1"/>
          <p:cNvSpPr/>
          <p:nvPr/>
        </p:nvSpPr>
        <p:spPr>
          <a:xfrm>
            <a:off x="7406640" y="1554480"/>
            <a:ext cx="360" cy="13716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2"/>
          <p:cNvSpPr/>
          <p:nvPr/>
        </p:nvSpPr>
        <p:spPr>
          <a:xfrm>
            <a:off x="7315200" y="1691640"/>
            <a:ext cx="273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4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13"/>
          <p:cNvSpPr/>
          <p:nvPr/>
        </p:nvSpPr>
        <p:spPr>
          <a:xfrm>
            <a:off x="7818120" y="1554480"/>
            <a:ext cx="360" cy="13716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4"/>
          <p:cNvSpPr/>
          <p:nvPr/>
        </p:nvSpPr>
        <p:spPr>
          <a:xfrm>
            <a:off x="7726680" y="1691640"/>
            <a:ext cx="273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5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15"/>
          <p:cNvSpPr/>
          <p:nvPr/>
        </p:nvSpPr>
        <p:spPr>
          <a:xfrm>
            <a:off x="7315200" y="914400"/>
            <a:ext cx="273600" cy="36504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6"/>
          <p:cNvSpPr/>
          <p:nvPr/>
        </p:nvSpPr>
        <p:spPr>
          <a:xfrm>
            <a:off x="7040880" y="5486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Committed Offset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7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Committing Offsets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"/>
          <p:cNvSpPr/>
          <p:nvPr/>
        </p:nvSpPr>
        <p:spPr>
          <a:xfrm>
            <a:off x="457200" y="1005840"/>
            <a:ext cx="5028480" cy="21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Auto Commit (enable.auto.commit=true)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Offsets are periodically committed in the background.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Simplicity comes at the cost of potential data loss on crash.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Manual Commit (enable.auto.commit=false)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Application explicitly commits offsets after processing.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Allows at‑least‑once delivery by placing commit after acking downstream.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"/>
          <p:cNvSpPr/>
          <p:nvPr/>
        </p:nvSpPr>
        <p:spPr>
          <a:xfrm>
            <a:off x="5669280" y="100584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Commit APIs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3"/>
          <p:cNvSpPr/>
          <p:nvPr/>
        </p:nvSpPr>
        <p:spPr>
          <a:xfrm>
            <a:off x="5669280" y="1280160"/>
            <a:ext cx="3199680" cy="19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commitSync()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Waits for broker ack, blocks until commit is complete.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commitAsync()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Sends commit and continues; may reorder commits; handle errors in callback.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4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Offset Reset &amp; Seeking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"/>
          <p:cNvSpPr/>
          <p:nvPr/>
        </p:nvSpPr>
        <p:spPr>
          <a:xfrm>
            <a:off x="457200" y="1097280"/>
            <a:ext cx="868608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Resetting Offsets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Set auto.offset.reset=earliest or latest to control where a new group starts.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Use kafka-consumer-groups.sh --reset-offsets to rewind or skip offsets.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Seeking in the API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consumer.seek(partition, offset) lets you reposition at a specific offset.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consumer.seekToBeginning() / seekToEnd() can rewind or fast‑forward.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2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Monitoring Consumer Lag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457200" y="1097280"/>
            <a:ext cx="868608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Consumer Lag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Lag is the difference between the latest offset in a partition and the last committed offset.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Monitor lag to detect slow consumers or backlogs.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Monitoring Tools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kafka-consumer-groups.sh --describe: CLI tool to list lag per group.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 metrics (records-lag, records-lag-max) via JMX or Prometheus.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UI tools (Confluent Control Center, Burrow, Conduktor) provide dashboards for lag.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Consumer Position: Current, Committed, High Watermark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0" name="Picture 3" descr="consumer_position.png"/>
          <p:cNvPicPr/>
          <p:nvPr/>
        </p:nvPicPr>
        <p:blipFill>
          <a:blip r:embed="rId1"/>
          <a:stretch/>
        </p:blipFill>
        <p:spPr>
          <a:xfrm>
            <a:off x="640080" y="960120"/>
            <a:ext cx="4251600" cy="306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TextBox 4"/>
          <p:cNvSpPr/>
          <p:nvPr/>
        </p:nvSpPr>
        <p:spPr>
          <a:xfrm>
            <a:off x="5212080" y="1051560"/>
            <a:ext cx="310860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Current position is what the consumer has fetched.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Committed offset is the durable group bookmark.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Lag compares committed progress with the log end.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5"/>
          <p:cNvSpPr/>
          <p:nvPr/>
        </p:nvSpPr>
        <p:spPr>
          <a:xfrm>
            <a:off x="658440" y="4224600"/>
            <a:ext cx="7406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8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Source: Confluent consumer design documentation.</a:t>
            </a:r>
            <a:endParaRPr lang="en-IN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6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[23]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 0"/>
          <p:cNvSpPr/>
          <p:nvPr/>
        </p:nvSpPr>
        <p:spPr>
          <a:xfrm>
            <a:off x="457200" y="274320"/>
            <a:ext cx="8686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Mini Exercise: Offsets &amp; Lag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"/>
          <p:cNvSpPr/>
          <p:nvPr/>
        </p:nvSpPr>
        <p:spPr>
          <a:xfrm>
            <a:off x="457200" y="822960"/>
            <a:ext cx="4937040" cy="25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Exercise: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1. Produce 100 messages to a topic.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2. Start a consumer group and pause for a minute before committing offsets.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3. Use kafka-consumer-groups.sh --describe to observe lag and committed offsets.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4. Reset offsets to earliest and observe message replay.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"/>
          <p:cNvSpPr/>
          <p:nvPr/>
        </p:nvSpPr>
        <p:spPr>
          <a:xfrm>
            <a:off x="5669280" y="82296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Quick Quiz: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3"/>
          <p:cNvSpPr/>
          <p:nvPr/>
        </p:nvSpPr>
        <p:spPr>
          <a:xfrm>
            <a:off x="5669280" y="1097280"/>
            <a:ext cx="319968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Q3. Where are committed offsets stored?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__consumer_offsets internal topic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Each partition log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An external database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Zookeeper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Q4. Which setting controls where a new consumer group starts reading?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enable.auto.commit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auto.offset.reset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session.timeout.ms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max.poll.records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4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Solution: Offsets and Lag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3"/>
          <p:cNvSpPr/>
          <p:nvPr/>
        </p:nvSpPr>
        <p:spPr>
          <a:xfrm>
            <a:off x="438840" y="7862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Solution / trainer answer key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4"/>
          <p:cNvSpPr/>
          <p:nvPr/>
        </p:nvSpPr>
        <p:spPr>
          <a:xfrm>
            <a:off x="640080" y="1234440"/>
            <a:ext cx="7406280" cy="42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9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Committed offsets are stored in the internal __consumer_offsets topic.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9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Lag = log end offset minus the consumer group's committed offset for a partition.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9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auto.offset.reset applies only when the group has no committed offset.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9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Resetting offsets is useful for replay, but replay can repeat downstream side effects.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9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Q5. With RF=3 and min.insync.replicas=2, how many broker failures can you tolerate without losing write availability?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9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Answer: b) 1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9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With replication factor 3, there are 3 replicas. With min.insync.replicas=2, Kafka needs at least 2 in-sync replicas available to accept writes when producer acks=all is used. So you can lose 1 broker and still continue writing.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9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Q6. What is the effect of setting unclean.leader.election.enable=true?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9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Answer: b) Faster failover; non-ISR replicas can become leader risking data loss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9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This setting allows Kafka to elect a replica that is not in the ISR as leader. It can restore availability faster, but it may lose messages that were not replicated to that out-of-sync replica.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5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[25]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CLI Evidence: Describe a Consumer Group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" name="TextBox 3"/>
          <p:cNvSpPr/>
          <p:nvPr/>
        </p:nvSpPr>
        <p:spPr>
          <a:xfrm>
            <a:off x="438840" y="7862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The same idea appears in the lab as CURRENT-OFFSET, LOG-END-OFFSET and LAG.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4"/>
          <p:cNvSpPr/>
          <p:nvPr/>
        </p:nvSpPr>
        <p:spPr>
          <a:xfrm>
            <a:off x="640080" y="1234440"/>
            <a:ext cx="7406280" cy="32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Run: kafka-consumer-groups --describe --group cg-day3-python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CURRENT-OFFSET shows the committed group bookmark.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LOG-END-OFFSET shows the latest topic position.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LAG is the work still waiting for that group.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5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[26]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Replication &amp; Leaders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457200" y="1097280"/>
            <a:ext cx="4937040" cy="21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When a topic is created, you specify a replication factor; e.g., RF=3 means each partition has one leader and two followers.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The leader handles all reads and writes; followers replicate data from the leader.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On leader failure, a follower in the ISR becomes the new leader automatically.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"/>
          <p:cNvSpPr/>
          <p:nvPr/>
        </p:nvSpPr>
        <p:spPr>
          <a:xfrm>
            <a:off x="5669280" y="1188720"/>
            <a:ext cx="913680" cy="365040"/>
          </a:xfrm>
          <a:prstGeom prst="rect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3"/>
          <p:cNvSpPr/>
          <p:nvPr/>
        </p:nvSpPr>
        <p:spPr>
          <a:xfrm>
            <a:off x="5669280" y="1188720"/>
            <a:ext cx="913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Leader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4"/>
          <p:cNvSpPr/>
          <p:nvPr/>
        </p:nvSpPr>
        <p:spPr>
          <a:xfrm>
            <a:off x="6858000" y="1188720"/>
            <a:ext cx="913680" cy="365040"/>
          </a:xfrm>
          <a:prstGeom prst="rect">
            <a:avLst/>
          </a:prstGeom>
          <a:solidFill>
            <a:srgbClr val="d6e0f0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5"/>
          <p:cNvSpPr/>
          <p:nvPr/>
        </p:nvSpPr>
        <p:spPr>
          <a:xfrm>
            <a:off x="6858000" y="1188720"/>
            <a:ext cx="913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Follower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6"/>
          <p:cNvSpPr/>
          <p:nvPr/>
        </p:nvSpPr>
        <p:spPr>
          <a:xfrm>
            <a:off x="8046720" y="1188720"/>
            <a:ext cx="913680" cy="365040"/>
          </a:xfrm>
          <a:prstGeom prst="rect">
            <a:avLst/>
          </a:prstGeom>
          <a:solidFill>
            <a:srgbClr val="d6e0f0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7"/>
          <p:cNvSpPr/>
          <p:nvPr/>
        </p:nvSpPr>
        <p:spPr>
          <a:xfrm>
            <a:off x="8046720" y="1188720"/>
            <a:ext cx="913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Follower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8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Read the Diagram: Replicas Live on Different Brokers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"/>
          <p:cNvSpPr/>
          <p:nvPr/>
        </p:nvSpPr>
        <p:spPr>
          <a:xfrm>
            <a:off x="457200" y="1097280"/>
            <a:ext cx="4754160" cy="21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 partition leader accepts client traffic; replicas on other brokers provide fault tolerance.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Replication protects availability and durability; it does not add independent ordering lanes.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0" name="Image 0"/>
          <p:cNvPicPr/>
          <p:nvPr/>
        </p:nvPicPr>
        <p:blipFill>
          <a:blip r:embed="rId1"/>
          <a:stretch/>
        </p:blipFill>
        <p:spPr>
          <a:xfrm>
            <a:off x="5486400" y="1097280"/>
            <a:ext cx="3199680" cy="219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Text 2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[1] Hodges, Medium, 1 Apr 2024; terms verified with Apache Kafka documentation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In‑Sync Replicas (ISR)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"/>
          <p:cNvSpPr/>
          <p:nvPr/>
        </p:nvSpPr>
        <p:spPr>
          <a:xfrm>
            <a:off x="457200" y="1097280"/>
            <a:ext cx="493704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Followers in the ISR have caught up to the leader’s high watermark within replica.lag.time.max.ms.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Only ISR members are eligible for leadership on failover.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min.insync.replicas defines how many replicas (including leader) must be in sync to acknowledge writes when acks=all.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4" name="Chart 0"/>
          <p:cNvGraphicFramePr/>
          <p:nvPr/>
        </p:nvGraphicFramePr>
        <p:xfrm>
          <a:off x="5669280" y="1097280"/>
          <a:ext cx="3199680" cy="2102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05" name="Text 2"/>
          <p:cNvSpPr/>
          <p:nvPr/>
        </p:nvSpPr>
        <p:spPr>
          <a:xfrm>
            <a:off x="5669280" y="324612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Failures Tolerated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3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Automatic Failover &amp; KRaft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"/>
          <p:cNvSpPr/>
          <p:nvPr/>
        </p:nvSpPr>
        <p:spPr>
          <a:xfrm>
            <a:off x="457200" y="1097280"/>
            <a:ext cx="5211360" cy="21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The controller quorum detects leader failure and elects a new leader from ISR within seconds.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KRaft (Kafka Raft) removes ZooKeeper. Controllers use the Raft consensus protocol to manage metadata.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Faster leader elections and unified storage of metadata reduce failover times.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Configure dedicated controller nodes and distribute them across availability zones for resilience.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7"/>
          <p:cNvSpPr/>
          <p:nvPr/>
        </p:nvSpPr>
        <p:spPr>
          <a:xfrm>
            <a:off x="5943600" y="2103120"/>
            <a:ext cx="730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 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1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1" name="Picture 156"/>
          <p:cNvPicPr/>
          <p:nvPr/>
        </p:nvPicPr>
        <p:blipFill>
          <a:blip r:embed="rId2"/>
          <a:srcRect l="11179" t="0" r="12692" b="0"/>
          <a:stretch/>
        </p:blipFill>
        <p:spPr>
          <a:xfrm>
            <a:off x="5580000" y="585720"/>
            <a:ext cx="3239280" cy="247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KRaft Controller Quorum: Metadata Has Its Own Log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4" name="Picture 3" descr="kraft_isolated_mode.png"/>
          <p:cNvPicPr/>
          <p:nvPr/>
        </p:nvPicPr>
        <p:blipFill>
          <a:blip r:embed="rId1"/>
          <a:stretch/>
        </p:blipFill>
        <p:spPr>
          <a:xfrm>
            <a:off x="640080" y="960120"/>
            <a:ext cx="4251600" cy="306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TextBox 4"/>
          <p:cNvSpPr/>
          <p:nvPr/>
        </p:nvSpPr>
        <p:spPr>
          <a:xfrm>
            <a:off x="5212080" y="1051560"/>
            <a:ext cx="310860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KRaft removes ZooKeeper by storing metadata in a Raft quorum.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Controllers manage broker registration, topic metadata and leader election.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The lab runs combined broker/controller nodes for local simplicity.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5"/>
          <p:cNvSpPr/>
          <p:nvPr/>
        </p:nvSpPr>
        <p:spPr>
          <a:xfrm>
            <a:off x="658440" y="4224600"/>
            <a:ext cx="7406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8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Source: Confluent KRaft overview.</a:t>
            </a:r>
            <a:endParaRPr lang="en-IN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6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[31]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Configuration Best Practices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"/>
          <p:cNvSpPr/>
          <p:nvPr/>
        </p:nvSpPr>
        <p:spPr>
          <a:xfrm>
            <a:off x="457200" y="1097280"/>
            <a:ext cx="868608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Replication Factor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Use RF≥3 in production to tolerate at least one broker failure.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min.insync.replicas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Set to RF−1 (e.g., 2 for RF=3) so writes are acknowledged by multiple replicas.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Producer Settings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Use acks=all for durability; enable.idempotence=true to avoid duplicates; set retries to Integer.MAX_VALUE.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Limit max.in.flight.requests.per.connection to 5 or fewer when idempotence is enabled.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2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3"/>
              </a:rPr>
              <a:t>[3]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Rack Awareness &amp; Unclean Leader Election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"/>
          <p:cNvSpPr/>
          <p:nvPr/>
        </p:nvSpPr>
        <p:spPr>
          <a:xfrm>
            <a:off x="457200" y="1097280"/>
            <a:ext cx="502848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Rack Awareness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Assign replicas across different racks or availability zones using broker.rack property.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Ensures that a zone failure doesn’t take down all replicas for a partition.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Unclean Leader Election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If all ISR replicas fail, unclean leader election determines whether a non‑ISR replica can become leader.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Setting unclean.leader.election.enable=false favours consistency (no data loss) over availability.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2"/>
          <p:cNvSpPr/>
          <p:nvPr/>
        </p:nvSpPr>
        <p:spPr>
          <a:xfrm>
            <a:off x="5943600" y="1280160"/>
            <a:ext cx="730800" cy="456480"/>
          </a:xfrm>
          <a:prstGeom prst="rect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3"/>
          <p:cNvSpPr/>
          <p:nvPr/>
        </p:nvSpPr>
        <p:spPr>
          <a:xfrm>
            <a:off x="5943600" y="1280160"/>
            <a:ext cx="730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Broker 1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4"/>
          <p:cNvSpPr/>
          <p:nvPr/>
        </p:nvSpPr>
        <p:spPr>
          <a:xfrm>
            <a:off x="6858000" y="1280160"/>
            <a:ext cx="730800" cy="456480"/>
          </a:xfrm>
          <a:prstGeom prst="rect">
            <a:avLst/>
          </a:prstGeom>
          <a:solidFill>
            <a:srgbClr val="d6e0f0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5"/>
          <p:cNvSpPr/>
          <p:nvPr/>
        </p:nvSpPr>
        <p:spPr>
          <a:xfrm>
            <a:off x="6858000" y="1280160"/>
            <a:ext cx="730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Broker 2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6"/>
          <p:cNvSpPr/>
          <p:nvPr/>
        </p:nvSpPr>
        <p:spPr>
          <a:xfrm>
            <a:off x="7772400" y="1280160"/>
            <a:ext cx="730800" cy="456480"/>
          </a:xfrm>
          <a:prstGeom prst="rect">
            <a:avLst/>
          </a:prstGeom>
          <a:solidFill>
            <a:srgbClr val="d6e0f0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7"/>
          <p:cNvSpPr/>
          <p:nvPr/>
        </p:nvSpPr>
        <p:spPr>
          <a:xfrm>
            <a:off x="7772400" y="1280160"/>
            <a:ext cx="730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Broker 3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8"/>
          <p:cNvSpPr/>
          <p:nvPr/>
        </p:nvSpPr>
        <p:spPr>
          <a:xfrm>
            <a:off x="5943600" y="1783080"/>
            <a:ext cx="2742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AZ1  AZ2  AZ3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9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 0"/>
          <p:cNvSpPr/>
          <p:nvPr/>
        </p:nvSpPr>
        <p:spPr>
          <a:xfrm>
            <a:off x="457200" y="274320"/>
            <a:ext cx="8686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Mini Exercise: Replication &amp; High Availability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"/>
          <p:cNvSpPr/>
          <p:nvPr/>
        </p:nvSpPr>
        <p:spPr>
          <a:xfrm>
            <a:off x="457200" y="822960"/>
            <a:ext cx="493704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Exercise: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1. Create a topic with replication factor 3 and partitions 3.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2. Produce messages with acks=all and observe behaviour when a broker is stopped.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3. Try setting min.insync.replicas=1 and compare.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4. Test unclean leader election by toggling unclean.leader.election.enable.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"/>
          <p:cNvSpPr/>
          <p:nvPr/>
        </p:nvSpPr>
        <p:spPr>
          <a:xfrm>
            <a:off x="5669280" y="82296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Quick Quiz: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3"/>
          <p:cNvSpPr/>
          <p:nvPr/>
        </p:nvSpPr>
        <p:spPr>
          <a:xfrm>
            <a:off x="5669280" y="1097280"/>
            <a:ext cx="319968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Q5. With RF=3 and min.insync.replicas=2, how many broker failures can you tolerate without losing write availability?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1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2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3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Q6. What is the effect of setting unclean.leader.election.enable=true?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Better consistency; leaders elected only from ISR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Faster failover; non‑ISR replicas can become leader risking data loss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Slower failover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No effect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4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Solution: Replication and High Availability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Box 3"/>
          <p:cNvSpPr/>
          <p:nvPr/>
        </p:nvSpPr>
        <p:spPr>
          <a:xfrm>
            <a:off x="438840" y="7862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4"/>
          <p:cNvSpPr/>
          <p:nvPr/>
        </p:nvSpPr>
        <p:spPr>
          <a:xfrm>
            <a:off x="640080" y="1234440"/>
            <a:ext cx="7406280" cy="18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With RF=3 and min.insync.replicas=2, Kafka can usually tolerate one broker failure for acks=all writes.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The leader handles client traffic; followers replicate from the leader.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Only in-sync replicas are safe candidates for clean leadership.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KRaft manages metadata and leader election without ZooKeeper.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5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[35]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Day 3 Replication Lab: What the Commands Prove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3"/>
          <p:cNvSpPr/>
          <p:nvPr/>
        </p:nvSpPr>
        <p:spPr>
          <a:xfrm>
            <a:off x="438840" y="7862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The lab command sequence turns RF, ISR and acks=all into visible terminal evidence.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Rounded Rectangle 4"/>
          <p:cNvSpPr/>
          <p:nvPr/>
        </p:nvSpPr>
        <p:spPr>
          <a:xfrm>
            <a:off x="502920" y="1600200"/>
            <a:ext cx="1234080" cy="52992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Create RF=3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Right Arrow 5"/>
          <p:cNvSpPr/>
          <p:nvPr/>
        </p:nvSpPr>
        <p:spPr>
          <a:xfrm>
            <a:off x="1847160" y="1764720"/>
            <a:ext cx="32868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85858"/>
          </a:solidFill>
          <a:ln>
            <a:solidFill>
              <a:srgbClr val="58585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Rounded Rectangle 6"/>
          <p:cNvSpPr/>
          <p:nvPr/>
        </p:nvSpPr>
        <p:spPr>
          <a:xfrm>
            <a:off x="2267640" y="1600200"/>
            <a:ext cx="1234080" cy="52992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Describe ISR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ight Arrow 7"/>
          <p:cNvSpPr/>
          <p:nvPr/>
        </p:nvSpPr>
        <p:spPr>
          <a:xfrm>
            <a:off x="3611880" y="1764720"/>
            <a:ext cx="32868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85858"/>
          </a:solidFill>
          <a:ln>
            <a:solidFill>
              <a:srgbClr val="58585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Rounded Rectangle 8"/>
          <p:cNvSpPr/>
          <p:nvPr/>
        </p:nvSpPr>
        <p:spPr>
          <a:xfrm>
            <a:off x="4032360" y="1600200"/>
            <a:ext cx="1234080" cy="52992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Produce acks=all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ight Arrow 9"/>
          <p:cNvSpPr/>
          <p:nvPr/>
        </p:nvSpPr>
        <p:spPr>
          <a:xfrm>
            <a:off x="5376600" y="1764720"/>
            <a:ext cx="32868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85858"/>
          </a:solidFill>
          <a:ln>
            <a:solidFill>
              <a:srgbClr val="58585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0" name="Rounded Rectangle 10"/>
          <p:cNvSpPr/>
          <p:nvPr/>
        </p:nvSpPr>
        <p:spPr>
          <a:xfrm>
            <a:off x="5797440" y="1600200"/>
            <a:ext cx="1234080" cy="52992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Stop broker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Right Arrow 11"/>
          <p:cNvSpPr/>
          <p:nvPr/>
        </p:nvSpPr>
        <p:spPr>
          <a:xfrm>
            <a:off x="7141320" y="1764720"/>
            <a:ext cx="32868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85858"/>
          </a:solidFill>
          <a:ln>
            <a:solidFill>
              <a:srgbClr val="58585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ounded Rectangle 12"/>
          <p:cNvSpPr/>
          <p:nvPr/>
        </p:nvSpPr>
        <p:spPr>
          <a:xfrm>
            <a:off x="7562160" y="1600200"/>
            <a:ext cx="1234080" cy="52992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Describe again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13"/>
          <p:cNvSpPr/>
          <p:nvPr/>
        </p:nvSpPr>
        <p:spPr>
          <a:xfrm>
            <a:off x="685800" y="2880360"/>
            <a:ext cx="73148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Do not treat this as a new topic-creation lesson; Day 2 already did that.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The Day 3 proof is leader placement, full ISR and durable producer acknowledgement.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14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[36]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Kafka Connect: Overview &amp; Architecture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"/>
          <p:cNvSpPr/>
          <p:nvPr/>
        </p:nvSpPr>
        <p:spPr>
          <a:xfrm>
            <a:off x="457200" y="1097280"/>
            <a:ext cx="4754160" cy="21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 Connect is a framework for streaming data between Kafka and external systems.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Runs as a cluster of workers that execute connectors and tasks.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Connectors define what to copy; tasks perform the data movement; converters and SMTs handle formats and transformations.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2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8" name=""/>
          <p:cNvPicPr/>
          <p:nvPr/>
        </p:nvPicPr>
        <p:blipFill>
          <a:blip r:embed="rId2"/>
          <a:srcRect l="0" t="39555" r="0" b="0"/>
          <a:stretch/>
        </p:blipFill>
        <p:spPr>
          <a:xfrm>
            <a:off x="576360" y="2340000"/>
            <a:ext cx="7343640" cy="2322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Source Connectors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457200" y="1097280"/>
            <a:ext cx="5028480" cy="21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Bring data from external systems into Kafka topics.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Must manage offsets to avoid duplicates and ensure exactly‑once delivery.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Support various ingestion patterns: query‑based polling, CDC (binlogs/WAL), file tailing, API polling.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Examples: JDBC, Debezium, SpoolDir, HTTP.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2" name=""/>
          <p:cNvPicPr/>
          <p:nvPr/>
        </p:nvPicPr>
        <p:blipFill>
          <a:blip r:embed="rId2"/>
          <a:stretch/>
        </p:blipFill>
        <p:spPr>
          <a:xfrm>
            <a:off x="391680" y="2059200"/>
            <a:ext cx="5188320" cy="3160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Sink Connectors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"/>
          <p:cNvSpPr/>
          <p:nvPr/>
        </p:nvSpPr>
        <p:spPr>
          <a:xfrm>
            <a:off x="457200" y="1097280"/>
            <a:ext cx="5028480" cy="21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Read from Kafka topics and write to external systems.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Operate as Kafka consumers; commit offsets back to Kafka to track progress.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Common patterns: load data into data lakes/warehouses (e.g., S3, GCS), index data into search engines (Elasticsearch), upsert into databases, invoke HTTP APIs.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Sink connectors must manage idempotency on the destination to achieve exactly‑once semantics.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2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6" name=""/>
          <p:cNvPicPr/>
          <p:nvPr/>
        </p:nvPicPr>
        <p:blipFill>
          <a:blip r:embed="rId2"/>
          <a:stretch/>
        </p:blipFill>
        <p:spPr>
          <a:xfrm rot="3000">
            <a:off x="1078920" y="2522160"/>
            <a:ext cx="5400000" cy="1688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Connect Modes &amp; Scaling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"/>
          <p:cNvSpPr/>
          <p:nvPr/>
        </p:nvSpPr>
        <p:spPr>
          <a:xfrm>
            <a:off x="457200" y="1097280"/>
            <a:ext cx="548568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Standalone Mode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Single process runs connectors and tasks; ideal for development.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Distributed Mode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Multiple worker processes coordinate through Kafka topics; tasks are rebalanced across workers.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Provides fault tolerance and horizontal scalability.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Scaling Considerations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Increase tasks per connector to parallelise work.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Use multiple workers to distribute tasks; tasks are automatically assigned via internal group management.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2"/>
          <p:cNvSpPr/>
          <p:nvPr/>
        </p:nvSpPr>
        <p:spPr>
          <a:xfrm>
            <a:off x="6400800" y="1280160"/>
            <a:ext cx="1828080" cy="45648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3"/>
          <p:cNvSpPr/>
          <p:nvPr/>
        </p:nvSpPr>
        <p:spPr>
          <a:xfrm>
            <a:off x="6400800" y="128016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Worker 1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4"/>
          <p:cNvSpPr/>
          <p:nvPr/>
        </p:nvSpPr>
        <p:spPr>
          <a:xfrm>
            <a:off x="6400800" y="2103120"/>
            <a:ext cx="1828080" cy="45648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5"/>
          <p:cNvSpPr/>
          <p:nvPr/>
        </p:nvSpPr>
        <p:spPr>
          <a:xfrm>
            <a:off x="6400800" y="210312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Worker 2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6"/>
          <p:cNvSpPr/>
          <p:nvPr/>
        </p:nvSpPr>
        <p:spPr>
          <a:xfrm>
            <a:off x="6400800" y="2926080"/>
            <a:ext cx="1828080" cy="45648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7"/>
          <p:cNvSpPr/>
          <p:nvPr/>
        </p:nvSpPr>
        <p:spPr>
          <a:xfrm>
            <a:off x="6400800" y="292608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Worker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8"/>
          <p:cNvSpPr/>
          <p:nvPr/>
        </p:nvSpPr>
        <p:spPr>
          <a:xfrm>
            <a:off x="6877440" y="3840480"/>
            <a:ext cx="1096560" cy="365040"/>
          </a:xfrm>
          <a:prstGeom prst="rect">
            <a:avLst/>
          </a:prstGeom>
          <a:solidFill>
            <a:srgbClr val="d6e0f0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9"/>
          <p:cNvSpPr/>
          <p:nvPr/>
        </p:nvSpPr>
        <p:spPr>
          <a:xfrm>
            <a:off x="6841440" y="3840480"/>
            <a:ext cx="10965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Kafka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10"/>
          <p:cNvSpPr/>
          <p:nvPr/>
        </p:nvSpPr>
        <p:spPr>
          <a:xfrm>
            <a:off x="7200000" y="1736640"/>
            <a:ext cx="182160" cy="3664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1"/>
          <p:cNvSpPr/>
          <p:nvPr/>
        </p:nvSpPr>
        <p:spPr>
          <a:xfrm>
            <a:off x="7253640" y="2612520"/>
            <a:ext cx="182160" cy="2674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2"/>
          <p:cNvSpPr/>
          <p:nvPr/>
        </p:nvSpPr>
        <p:spPr>
          <a:xfrm>
            <a:off x="7282080" y="3438720"/>
            <a:ext cx="182160" cy="4017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3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Connect Task Failover: Tasks Are the Work Units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83" name="Picture 3" descr="connect_task_failover_clean.png"/>
          <p:cNvPicPr/>
          <p:nvPr/>
        </p:nvPicPr>
        <p:blipFill>
          <a:blip r:embed="rId1"/>
          <a:stretch/>
        </p:blipFill>
        <p:spPr>
          <a:xfrm>
            <a:off x="640080" y="960120"/>
            <a:ext cx="4251600" cy="306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TextBox 4"/>
          <p:cNvSpPr/>
          <p:nvPr/>
        </p:nvSpPr>
        <p:spPr>
          <a:xfrm>
            <a:off x="5212080" y="1051560"/>
            <a:ext cx="310860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Connectors define the job; tasks perform the data movement.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Distributed workers rebalance tasks when workers join, leave or fail.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The lab uses one worker, but the status model is the same.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5"/>
          <p:cNvSpPr/>
          <p:nvPr/>
        </p:nvSpPr>
        <p:spPr>
          <a:xfrm>
            <a:off x="658440" y="4224600"/>
            <a:ext cx="7406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8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Source: Confluent Kafka Connect design documentation.</a:t>
            </a:r>
            <a:endParaRPr lang="en-IN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Box 6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[41]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"/>
          <p:cNvPicPr/>
          <p:nvPr/>
        </p:nvPicPr>
        <p:blipFill>
          <a:blip r:embed="rId1"/>
          <a:stretch/>
        </p:blipFill>
        <p:spPr>
          <a:xfrm>
            <a:off x="0" y="65160"/>
            <a:ext cx="9122040" cy="508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Example: JDBC Source Connector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"/>
          <p:cNvSpPr/>
          <p:nvPr/>
        </p:nvSpPr>
        <p:spPr>
          <a:xfrm>
            <a:off x="457200" y="100584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The JSON below shows a basic configuration for a JDBC source connector that ingests data from PostgreSQL.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2"/>
          <p:cNvSpPr/>
          <p:nvPr/>
        </p:nvSpPr>
        <p:spPr>
          <a:xfrm>
            <a:off x="457200" y="1463040"/>
            <a:ext cx="8228880" cy="2010960"/>
          </a:xfrm>
          <a:prstGeom prst="rect">
            <a:avLst/>
          </a:prstGeom>
          <a:solidFill>
            <a:srgbClr val="f7f9fb"/>
          </a:solidFill>
          <a:ln w="12700">
            <a:solidFill>
              <a:srgbClr val="d6e0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3"/>
          <p:cNvSpPr/>
          <p:nvPr/>
        </p:nvSpPr>
        <p:spPr>
          <a:xfrm>
            <a:off x="502920" y="1508760"/>
            <a:ext cx="8137440" cy="19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{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"name": "postgres-source-connector",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"config": {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"connector.class": "io.confluent.connect.jdbc.JdbcSourceConnector",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"tasks.max": "3",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"connection.url": "jdbc:postgresql://postgres:5432/mydb",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"connection.user": "${secrets:postgres:username}",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"connection.password": "${secrets:postgres:password}",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"mode": "incrementing",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"incrementing.column.name": "id",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"topic.prefix": "postgres-",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"table.whitelist": "orders,customers,products",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"poll.interval.ms": "1000",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"batch.max.rows": "1000"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4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Connector Config Fields Learners Should Read First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Rounded Rectangle 3"/>
          <p:cNvSpPr/>
          <p:nvPr/>
        </p:nvSpPr>
        <p:spPr>
          <a:xfrm>
            <a:off x="594360" y="960120"/>
            <a:ext cx="3565800" cy="34704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Source connector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Rounded Rectangle 4"/>
          <p:cNvSpPr/>
          <p:nvPr/>
        </p:nvSpPr>
        <p:spPr>
          <a:xfrm>
            <a:off x="4617720" y="960120"/>
            <a:ext cx="3565800" cy="34704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Sink connector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Box 5"/>
          <p:cNvSpPr/>
          <p:nvPr/>
        </p:nvSpPr>
        <p:spPr>
          <a:xfrm>
            <a:off x="658440" y="1508760"/>
            <a:ext cx="34012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connector.class names the source plugin.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file is the external input path.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topic is where records enter Kafka.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6"/>
          <p:cNvSpPr/>
          <p:nvPr/>
        </p:nvSpPr>
        <p:spPr>
          <a:xfrm>
            <a:off x="4681800" y="1508760"/>
            <a:ext cx="34012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connector.class names the sink plugin.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topics is the Kafka input.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file is the external output path.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7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[43]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 28"/>
          <p:cNvSpPr/>
          <p:nvPr/>
        </p:nvSpPr>
        <p:spPr>
          <a:xfrm>
            <a:off x="457200" y="274320"/>
            <a:ext cx="8686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Mini Exercise: Configure a Connector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9"/>
          <p:cNvSpPr/>
          <p:nvPr/>
        </p:nvSpPr>
        <p:spPr>
          <a:xfrm>
            <a:off x="457200" y="822960"/>
            <a:ext cx="5028480" cy="25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Exercise: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1. Use the REST API to deploy the JDBC source connector shown on the previous slide.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2. Verify that records are streaming into the postgres-orders topic.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3. Modify the configuration to ingest only the orders table and change poll interval to 5000 ms.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30"/>
          <p:cNvSpPr/>
          <p:nvPr/>
        </p:nvSpPr>
        <p:spPr>
          <a:xfrm>
            <a:off x="5669280" y="82296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Quick Quiz: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31"/>
          <p:cNvSpPr/>
          <p:nvPr/>
        </p:nvSpPr>
        <p:spPr>
          <a:xfrm>
            <a:off x="5669280" y="1097280"/>
            <a:ext cx="319968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Q7. Which component in Kafka Connect performs the actual data movement?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Worker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Connector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Task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Converter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Q8. Which ingestion pattern provides low‑latency streaming of database changes?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Query‑based polling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CDC using WAL/binlog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API polling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File tailing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32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Solution: Configure a Connector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7" name="TextBox 3"/>
          <p:cNvSpPr/>
          <p:nvPr/>
        </p:nvSpPr>
        <p:spPr>
          <a:xfrm>
            <a:off x="438840" y="7862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4"/>
          <p:cNvSpPr/>
          <p:nvPr/>
        </p:nvSpPr>
        <p:spPr>
          <a:xfrm>
            <a:off x="640080" y="1234440"/>
            <a:ext cx="7406280" cy="330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Q7. Which component in Kafka Connect performs the actual data movement?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Answer: c) Task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A Connector defines what data source/sink to use and creates one or more Tasks. The Tasks do the actual work of copying/moving data.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Q8. Which ingestion pattern provides low-latency streaming of database changes?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Answer: b) CDC using WAL/binlog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CDC reads database change logs such as WAL in PostgreSQL or binlog in MySQL, so changes can be streamed to Kafka with low latency.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Box 5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[45]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Topology: Ubuntu Host to Kafka and Back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"/>
          <p:cNvSpPr/>
          <p:nvPr/>
        </p:nvSpPr>
        <p:spPr>
          <a:xfrm>
            <a:off x="457200" y="1097280"/>
            <a:ext cx="548568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Your supplied Docker Compose lab: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Starts one KRaft broker and one Kafka Connect worker.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Exposes Connect REST at localhost:8083.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Source: /data/input/produce.txt -&gt; topic fs-source.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Sink: topic fs-source -&gt; /data/output/consume.txt.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Distributed Connect stores config, offsets and status in Kafka topics.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2"/>
          <p:cNvSpPr/>
          <p:nvPr/>
        </p:nvSpPr>
        <p:spPr>
          <a:xfrm>
            <a:off x="6400800" y="1280160"/>
            <a:ext cx="1828080" cy="45648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3"/>
          <p:cNvSpPr/>
          <p:nvPr/>
        </p:nvSpPr>
        <p:spPr>
          <a:xfrm>
            <a:off x="6400800" y="128016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/data/input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4"/>
          <p:cNvSpPr/>
          <p:nvPr/>
        </p:nvSpPr>
        <p:spPr>
          <a:xfrm>
            <a:off x="6400800" y="2103120"/>
            <a:ext cx="1828080" cy="45648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5"/>
          <p:cNvSpPr/>
          <p:nvPr/>
        </p:nvSpPr>
        <p:spPr>
          <a:xfrm>
            <a:off x="6400800" y="210312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Connect :8083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6"/>
          <p:cNvSpPr/>
          <p:nvPr/>
        </p:nvSpPr>
        <p:spPr>
          <a:xfrm>
            <a:off x="6400800" y="2926080"/>
            <a:ext cx="1828080" cy="45648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7"/>
          <p:cNvSpPr/>
          <p:nvPr/>
        </p:nvSpPr>
        <p:spPr>
          <a:xfrm>
            <a:off x="6400800" y="292608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Kafka fs-source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8"/>
          <p:cNvSpPr/>
          <p:nvPr/>
        </p:nvSpPr>
        <p:spPr>
          <a:xfrm>
            <a:off x="6949440" y="3840480"/>
            <a:ext cx="1096560" cy="365040"/>
          </a:xfrm>
          <a:prstGeom prst="rect">
            <a:avLst/>
          </a:prstGeom>
          <a:solidFill>
            <a:srgbClr val="d6e0f0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9"/>
          <p:cNvSpPr/>
          <p:nvPr/>
        </p:nvSpPr>
        <p:spPr>
          <a:xfrm>
            <a:off x="6949440" y="3840480"/>
            <a:ext cx="10965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/data/output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10"/>
          <p:cNvSpPr/>
          <p:nvPr/>
        </p:nvSpPr>
        <p:spPr>
          <a:xfrm>
            <a:off x="7498080" y="1828800"/>
            <a:ext cx="182160" cy="547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1"/>
          <p:cNvSpPr/>
          <p:nvPr/>
        </p:nvSpPr>
        <p:spPr>
          <a:xfrm>
            <a:off x="7498080" y="2651760"/>
            <a:ext cx="182160" cy="547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12"/>
          <p:cNvSpPr/>
          <p:nvPr/>
        </p:nvSpPr>
        <p:spPr>
          <a:xfrm>
            <a:off x="7498080" y="3474720"/>
            <a:ext cx="182160" cy="547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13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Client-Ready Lab Topology: Three Brokers Plus Connect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6" name="TextBox 3"/>
          <p:cNvSpPr/>
          <p:nvPr/>
        </p:nvSpPr>
        <p:spPr>
          <a:xfrm>
            <a:off x="438840" y="7862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The refreshed lab keeps the original FileStream idea but runs it beside a visible replicated Kafka cluster.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Rounded Rectangle 4"/>
          <p:cNvSpPr/>
          <p:nvPr/>
        </p:nvSpPr>
        <p:spPr>
          <a:xfrm>
            <a:off x="502920" y="1600200"/>
            <a:ext cx="1234080" cy="52992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Producer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Right Arrow 5"/>
          <p:cNvSpPr/>
          <p:nvPr/>
        </p:nvSpPr>
        <p:spPr>
          <a:xfrm>
            <a:off x="1847160" y="1764720"/>
            <a:ext cx="32868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85858"/>
          </a:solidFill>
          <a:ln>
            <a:solidFill>
              <a:srgbClr val="58585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9" name="Rounded Rectangle 6"/>
          <p:cNvSpPr/>
          <p:nvPr/>
        </p:nvSpPr>
        <p:spPr>
          <a:xfrm>
            <a:off x="2267640" y="1600200"/>
            <a:ext cx="1234080" cy="52992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Broker 1/2/3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Right Arrow 7"/>
          <p:cNvSpPr/>
          <p:nvPr/>
        </p:nvSpPr>
        <p:spPr>
          <a:xfrm>
            <a:off x="3611880" y="1764720"/>
            <a:ext cx="32868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85858"/>
          </a:solidFill>
          <a:ln>
            <a:solidFill>
              <a:srgbClr val="58585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1" name="Rounded Rectangle 8"/>
          <p:cNvSpPr/>
          <p:nvPr/>
        </p:nvSpPr>
        <p:spPr>
          <a:xfrm>
            <a:off x="4032360" y="1600200"/>
            <a:ext cx="1234080" cy="52992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Connect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Right Arrow 9"/>
          <p:cNvSpPr/>
          <p:nvPr/>
        </p:nvSpPr>
        <p:spPr>
          <a:xfrm>
            <a:off x="5376600" y="1764720"/>
            <a:ext cx="32868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85858"/>
          </a:solidFill>
          <a:ln>
            <a:solidFill>
              <a:srgbClr val="58585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3" name="Rounded Rectangle 10"/>
          <p:cNvSpPr/>
          <p:nvPr/>
        </p:nvSpPr>
        <p:spPr>
          <a:xfrm>
            <a:off x="5797440" y="1600200"/>
            <a:ext cx="1234080" cy="52992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fs-source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Right Arrow 11"/>
          <p:cNvSpPr/>
          <p:nvPr/>
        </p:nvSpPr>
        <p:spPr>
          <a:xfrm>
            <a:off x="7141320" y="1764720"/>
            <a:ext cx="32868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85858"/>
          </a:solidFill>
          <a:ln>
            <a:solidFill>
              <a:srgbClr val="58585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5" name="Rounded Rectangle 12"/>
          <p:cNvSpPr/>
          <p:nvPr/>
        </p:nvSpPr>
        <p:spPr>
          <a:xfrm>
            <a:off x="7562160" y="1600200"/>
            <a:ext cx="1234080" cy="52992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Output file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Box 13"/>
          <p:cNvSpPr/>
          <p:nvPr/>
        </p:nvSpPr>
        <p:spPr>
          <a:xfrm>
            <a:off x="685800" y="2880360"/>
            <a:ext cx="73148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Python clients use localhost:9092.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Kafka UI is localhost:8080 and Connect REST is localhost:8083.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Connect talks to brokers on the Docker network: broker1:29092, broker2:29092, broker3:29092.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14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[47]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1: FileStream Source Connector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1"/>
          <p:cNvSpPr/>
          <p:nvPr/>
        </p:nvSpPr>
        <p:spPr>
          <a:xfrm>
            <a:off x="457200" y="100584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This supplied configuration reads each new line from the mounted input file and publishes it to Kafka topic fs-source.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2"/>
          <p:cNvSpPr/>
          <p:nvPr/>
        </p:nvSpPr>
        <p:spPr>
          <a:xfrm>
            <a:off x="457200" y="1463040"/>
            <a:ext cx="8228880" cy="2010960"/>
          </a:xfrm>
          <a:prstGeom prst="rect">
            <a:avLst/>
          </a:prstGeom>
          <a:solidFill>
            <a:srgbClr val="f7f9fb"/>
          </a:solidFill>
          <a:ln w="12700">
            <a:solidFill>
              <a:srgbClr val="d6e0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"/>
          <p:cNvSpPr/>
          <p:nvPr/>
        </p:nvSpPr>
        <p:spPr>
          <a:xfrm>
            <a:off x="502920" y="1508760"/>
            <a:ext cx="8137440" cy="19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{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"name": "fs-source-connector",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"config": {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"connector.class":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  "org.apache.kafka.connect.file.FileStreamSourceConnector",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"file": "/data/input/produce.txt",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"topic": "fs-source",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"tasks.max": "1"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4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2: FileStream Sink Connector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"/>
          <p:cNvSpPr/>
          <p:nvPr/>
        </p:nvSpPr>
        <p:spPr>
          <a:xfrm>
            <a:off x="457200" y="100584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The sink reads records from Kafka topic fs-source and writes the visible output file. It is the other direction of movement.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2"/>
          <p:cNvSpPr/>
          <p:nvPr/>
        </p:nvSpPr>
        <p:spPr>
          <a:xfrm>
            <a:off x="457200" y="1463040"/>
            <a:ext cx="8228880" cy="2010960"/>
          </a:xfrm>
          <a:prstGeom prst="rect">
            <a:avLst/>
          </a:prstGeom>
          <a:solidFill>
            <a:srgbClr val="f7f9fb"/>
          </a:solidFill>
          <a:ln w="12700">
            <a:solidFill>
              <a:srgbClr val="d6e0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3"/>
          <p:cNvSpPr/>
          <p:nvPr/>
        </p:nvSpPr>
        <p:spPr>
          <a:xfrm>
            <a:off x="502920" y="1508760"/>
            <a:ext cx="8137440" cy="19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{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"name": "fs-sink-connector",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"config": {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"connector.class":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  "org.apache.kafka.connect.file.FileStreamSinkConnector",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"topics": "fs-source",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"file": "/data/output/consume.txt",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"tasks.max": "1"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4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Text 0"/>
          <p:cNvSpPr/>
          <p:nvPr/>
        </p:nvSpPr>
        <p:spPr>
          <a:xfrm>
            <a:off x="457200" y="274320"/>
            <a:ext cx="8686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3: Register Connectors Through REST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"/>
          <p:cNvSpPr/>
          <p:nvPr/>
        </p:nvSpPr>
        <p:spPr>
          <a:xfrm>
            <a:off x="457200" y="822960"/>
            <a:ext cx="5028480" cy="25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Run on Ubuntu from the lab-code folder: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1. docker compose up -d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2. curl http://localhost:8083/connector-plugins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3. curl -X POST -H "Content-Type: application/json"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   --data @connector-source.json http://localhost:8083/connectors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4. Repeat the POST with connector-sink.json.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2"/>
          <p:cNvSpPr/>
          <p:nvPr/>
        </p:nvSpPr>
        <p:spPr>
          <a:xfrm>
            <a:off x="5669280" y="82296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Explain Before You Run: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3"/>
          <p:cNvSpPr/>
          <p:nvPr/>
        </p:nvSpPr>
        <p:spPr>
          <a:xfrm>
            <a:off x="5669280" y="1097280"/>
            <a:ext cx="319968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Which part of each request defines direction?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Source configuration: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file -&gt; topic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Sink configuration: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topics -&gt; file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Evidence required: both connector names appear from GET /connectors.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4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Kafka UI Evidence: What Learners Should Capture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5" name="TextBox 3"/>
          <p:cNvSpPr/>
          <p:nvPr/>
        </p:nvSpPr>
        <p:spPr>
          <a:xfrm>
            <a:off x="438840" y="7862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The terminal proves commands worked; Kafka UI proves learners can inspect the system.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4"/>
          <p:cNvSpPr/>
          <p:nvPr/>
        </p:nvSpPr>
        <p:spPr>
          <a:xfrm>
            <a:off x="640080" y="1234440"/>
            <a:ext cx="7406280" cy="32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Topics: orders-replicated and fs-source are present.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Messages: keys, values, partitions and offsets are visible.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Consumer Groups: lag and committed offsets are visible.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Connect: source and sink connector tasks are RUNNING.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Brokers: replicated topics show leaders and ISR.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Box 5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[51]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ext 0"/>
          <p:cNvSpPr/>
          <p:nvPr/>
        </p:nvSpPr>
        <p:spPr>
          <a:xfrm>
            <a:off x="457200" y="274320"/>
            <a:ext cx="8686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4: Prove the Round Trip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"/>
          <p:cNvSpPr/>
          <p:nvPr/>
        </p:nvSpPr>
        <p:spPr>
          <a:xfrm>
            <a:off x="457200" y="822960"/>
            <a:ext cx="5028480" cy="25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Collect evidence in this order: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1. GET /connectors/fs-source-connector/status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2. GET /connectors/fs-sink-connector/status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3. Consume topic fs-source from the beginning.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4. cat data/output/consume.txt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5. Trace one line: input file -&gt; Kafka topic -&gt; output file.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2"/>
          <p:cNvSpPr/>
          <p:nvPr/>
        </p:nvSpPr>
        <p:spPr>
          <a:xfrm>
            <a:off x="5669280" y="82296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Evidence Check: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3"/>
          <p:cNvSpPr/>
          <p:nvPr/>
        </p:nvSpPr>
        <p:spPr>
          <a:xfrm>
            <a:off x="5669280" y="1097280"/>
            <a:ext cx="319968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RUNNING is necessary, but is it sufficient?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No. Status proves the task is alive.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Topic consumption proves ingestion.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Output file proves the sink path.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Capture all three before declaring success.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4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Connect Status Is Necessary, Not Sufficient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5" name="Rounded Rectangle 3"/>
          <p:cNvSpPr/>
          <p:nvPr/>
        </p:nvSpPr>
        <p:spPr>
          <a:xfrm>
            <a:off x="594360" y="960120"/>
            <a:ext cx="3565800" cy="34704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Status checks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Rounded Rectangle 4"/>
          <p:cNvSpPr/>
          <p:nvPr/>
        </p:nvSpPr>
        <p:spPr>
          <a:xfrm>
            <a:off x="4617720" y="960120"/>
            <a:ext cx="3565800" cy="34704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Data-path checks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Box 5"/>
          <p:cNvSpPr/>
          <p:nvPr/>
        </p:nvSpPr>
        <p:spPr>
          <a:xfrm>
            <a:off x="658440" y="1508760"/>
            <a:ext cx="34012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GET /connectors/{name}/status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Connector state is RUNNING.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Task state is RUNNING.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6"/>
          <p:cNvSpPr/>
          <p:nvPr/>
        </p:nvSpPr>
        <p:spPr>
          <a:xfrm>
            <a:off x="4681800" y="1508760"/>
            <a:ext cx="34012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Consume records from fs-source.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Read data/output/consume.txt.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Append a new input line and observe one new output line.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Box 7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[53]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Knowledge Check: Lab Evidence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2" name="TextBox 3"/>
          <p:cNvSpPr/>
          <p:nvPr/>
        </p:nvSpPr>
        <p:spPr>
          <a:xfrm>
            <a:off x="438840" y="7862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Answer before moving to the next section.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Box 4"/>
          <p:cNvSpPr/>
          <p:nvPr/>
        </p:nvSpPr>
        <p:spPr>
          <a:xfrm>
            <a:off x="685800" y="1051560"/>
            <a:ext cx="7497720" cy="34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Q1. Which command proves a consumer group is caught up: topic describe or consumer-groups describe?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Q2. Which evidence proves Connect source ingestion: connector RUNNING, fs-source records, or both?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Q3. Which file proves the sink connector wrote output?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Q4. Why should Kafka UI be used after terminal commands?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Box 5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[54]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Solution: Lab Evidence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7" name="TextBox 3"/>
          <p:cNvSpPr/>
          <p:nvPr/>
        </p:nvSpPr>
        <p:spPr>
          <a:xfrm>
            <a:off x="438840" y="7862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Solution / trainer answer key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Box 4"/>
          <p:cNvSpPr/>
          <p:nvPr/>
        </p:nvSpPr>
        <p:spPr>
          <a:xfrm>
            <a:off x="640080" y="1234440"/>
            <a:ext cx="7406280" cy="32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Q1. consumer-groups describe shows CURRENT-OFFSET, LOG-END-OFFSET and LAG.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Q2. Both matter: RUNNING proves the task is alive; fs-source records prove ingestion.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Q3. data/output/consume.txt proves sink output in this lab.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Q4. Kafka UI verifies the same state visually: topics, messages, groups, brokers and connectors.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Box 5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[55]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Connector Offsets: A Different Bookmark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"/>
          <p:cNvSpPr/>
          <p:nvPr/>
        </p:nvSpPr>
        <p:spPr>
          <a:xfrm>
            <a:off x="457200" y="1097280"/>
            <a:ext cx="868608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Consumer offset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A consumer group's resume position inside a Kafka partition.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Kafka stores committed group progress in __consumer_offsets.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Source connector offset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The external input position a source task has already processed.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Distributed Connect stores source progress in connect-offsets.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observation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Append one new line, restart Connect, and prove only new input moves.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2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ext 0"/>
          <p:cNvSpPr/>
          <p:nvPr/>
        </p:nvSpPr>
        <p:spPr>
          <a:xfrm>
            <a:off x="457200" y="274320"/>
            <a:ext cx="8686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5: Restart and Recovery Test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"/>
          <p:cNvSpPr/>
          <p:nvPr/>
        </p:nvSpPr>
        <p:spPr>
          <a:xfrm>
            <a:off x="457200" y="822960"/>
            <a:ext cx="4937040" cy="25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Exercise: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1. Append an order-004 line to data/input/produce.txt.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2. Confirm it appears once in data/output/consume.txt.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3. Run: docker restart connect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4. Append order-005 after the worker returns.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5. Confirm continuation without replaying older lines.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"/>
          <p:cNvSpPr/>
          <p:nvPr/>
        </p:nvSpPr>
        <p:spPr>
          <a:xfrm>
            <a:off x="5669280" y="82296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Recovery Question: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3"/>
          <p:cNvSpPr/>
          <p:nvPr/>
        </p:nvSpPr>
        <p:spPr>
          <a:xfrm>
            <a:off x="5669280" y="1097280"/>
            <a:ext cx="319968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What remembers the source file position in distributed mode?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connect-offsets topic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only the output file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Schema Registry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MirrorMaker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Answer: a. Rewinding that position may repeat downstream effects.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4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Text 0"/>
          <p:cNvSpPr/>
          <p:nvPr/>
        </p:nvSpPr>
        <p:spPr>
          <a:xfrm>
            <a:off x="457200" y="274320"/>
            <a:ext cx="8686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6: Diagnose a Failed Connector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1"/>
          <p:cNvSpPr/>
          <p:nvPr/>
        </p:nvSpPr>
        <p:spPr>
          <a:xfrm>
            <a:off x="457200" y="822960"/>
            <a:ext cx="493704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Troubleshooting route: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1. GET /connectors/{name}/status and read task state.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2. Check GET /connector-plugins for FileStream support.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3. Inspect docker logs connect.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4. Verify mounted file paths and permissions.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5. Consume fs-source to locate the broken boundary.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2"/>
          <p:cNvSpPr/>
          <p:nvPr/>
        </p:nvSpPr>
        <p:spPr>
          <a:xfrm>
            <a:off x="5669280" y="82296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Incident Check: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3"/>
          <p:cNvSpPr/>
          <p:nvPr/>
        </p:nvSpPr>
        <p:spPr>
          <a:xfrm>
            <a:off x="5669280" y="1097280"/>
            <a:ext cx="319968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The source connector exists, but the topic is empty.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What is the first useful check?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Answer: read source task status and its error trace.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Do not restart blindly; locate the first missing evidence.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4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Troubleshooting Route for the Day 3 Lab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5" name="TextBox 3"/>
          <p:cNvSpPr/>
          <p:nvPr/>
        </p:nvSpPr>
        <p:spPr>
          <a:xfrm>
            <a:off x="438840" y="7862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Use this order so learners do not jump randomly between logs.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4"/>
          <p:cNvSpPr/>
          <p:nvPr/>
        </p:nvSpPr>
        <p:spPr>
          <a:xfrm>
            <a:off x="640080" y="1234440"/>
            <a:ext cx="7406280" cy="32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1. docker compose ps: confirm services are running.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2. curl /connector-plugins: confirm FileStream plugins exist.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3. GET connector status: read connector and task state.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4. Consume fs-source: prove ingestion into Kafka.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5. Read consume.txt: prove sink output.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Box 5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[59]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Kafka Ecosystem Overview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1"/>
          <p:cNvSpPr/>
          <p:nvPr/>
        </p:nvSpPr>
        <p:spPr>
          <a:xfrm>
            <a:off x="457200" y="1097280"/>
            <a:ext cx="5028480" cy="25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 Core: brokers, topics, logs, partitions and MirrorMaker.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 Streams: library for building real‑time stream processing applications in Java.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 Connect: connector API for ingesting and exporting data.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Schema Registry: central repository for Avro/JSON/Protobuf schemas.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REST Proxy: produce and consume records via HTTP.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MirrorMaker &amp; Replicator: replicate topics between clusters.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2"/>
          <p:cNvSpPr/>
          <p:nvPr/>
        </p:nvSpPr>
        <p:spPr>
          <a:xfrm>
            <a:off x="6035040" y="1463040"/>
            <a:ext cx="1645200" cy="164520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"/>
          <p:cNvSpPr/>
          <p:nvPr/>
        </p:nvSpPr>
        <p:spPr>
          <a:xfrm>
            <a:off x="6035040" y="1463040"/>
            <a:ext cx="164520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Kafka Core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4"/>
          <p:cNvSpPr/>
          <p:nvPr/>
        </p:nvSpPr>
        <p:spPr>
          <a:xfrm>
            <a:off x="4480560" y="548640"/>
            <a:ext cx="1096560" cy="730800"/>
          </a:xfrm>
          <a:prstGeom prst="ellipse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5"/>
          <p:cNvSpPr/>
          <p:nvPr/>
        </p:nvSpPr>
        <p:spPr>
          <a:xfrm>
            <a:off x="4480560" y="548640"/>
            <a:ext cx="10965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Streams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6"/>
          <p:cNvSpPr/>
          <p:nvPr/>
        </p:nvSpPr>
        <p:spPr>
          <a:xfrm flipH="1" flipV="1">
            <a:off x="5029200" y="914400"/>
            <a:ext cx="1828800" cy="137160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7"/>
          <p:cNvSpPr/>
          <p:nvPr/>
        </p:nvSpPr>
        <p:spPr>
          <a:xfrm>
            <a:off x="8138160" y="548640"/>
            <a:ext cx="1096560" cy="730800"/>
          </a:xfrm>
          <a:prstGeom prst="ellipse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8"/>
          <p:cNvSpPr/>
          <p:nvPr/>
        </p:nvSpPr>
        <p:spPr>
          <a:xfrm>
            <a:off x="8138160" y="548640"/>
            <a:ext cx="10965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Connect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9"/>
          <p:cNvSpPr/>
          <p:nvPr/>
        </p:nvSpPr>
        <p:spPr>
          <a:xfrm flipV="1">
            <a:off x="6858000" y="914400"/>
            <a:ext cx="1828800" cy="137160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10"/>
          <p:cNvSpPr/>
          <p:nvPr/>
        </p:nvSpPr>
        <p:spPr>
          <a:xfrm>
            <a:off x="4480560" y="3291840"/>
            <a:ext cx="1096560" cy="730800"/>
          </a:xfrm>
          <a:prstGeom prst="ellipse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11"/>
          <p:cNvSpPr/>
          <p:nvPr/>
        </p:nvSpPr>
        <p:spPr>
          <a:xfrm>
            <a:off x="4480560" y="3291840"/>
            <a:ext cx="10965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Schema Registry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12"/>
          <p:cNvSpPr/>
          <p:nvPr/>
        </p:nvSpPr>
        <p:spPr>
          <a:xfrm flipH="1">
            <a:off x="5029200" y="2286000"/>
            <a:ext cx="1828800" cy="137160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13"/>
          <p:cNvSpPr/>
          <p:nvPr/>
        </p:nvSpPr>
        <p:spPr>
          <a:xfrm>
            <a:off x="8138160" y="3291840"/>
            <a:ext cx="1096560" cy="730800"/>
          </a:xfrm>
          <a:prstGeom prst="ellipse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4"/>
          <p:cNvSpPr/>
          <p:nvPr/>
        </p:nvSpPr>
        <p:spPr>
          <a:xfrm>
            <a:off x="8138160" y="3291840"/>
            <a:ext cx="10965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REST Proxy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5"/>
          <p:cNvSpPr/>
          <p:nvPr/>
        </p:nvSpPr>
        <p:spPr>
          <a:xfrm>
            <a:off x="6858000" y="2286000"/>
            <a:ext cx="1828800" cy="137160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16"/>
          <p:cNvSpPr/>
          <p:nvPr/>
        </p:nvSpPr>
        <p:spPr>
          <a:xfrm>
            <a:off x="6309360" y="4206240"/>
            <a:ext cx="1096560" cy="730800"/>
          </a:xfrm>
          <a:prstGeom prst="ellipse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7"/>
          <p:cNvSpPr/>
          <p:nvPr/>
        </p:nvSpPr>
        <p:spPr>
          <a:xfrm>
            <a:off x="6309360" y="4206240"/>
            <a:ext cx="10965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MirrorMaker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18"/>
          <p:cNvSpPr/>
          <p:nvPr/>
        </p:nvSpPr>
        <p:spPr>
          <a:xfrm>
            <a:off x="6858000" y="2286000"/>
            <a:ext cx="360" cy="228600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9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Kafka Streams API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"/>
          <p:cNvSpPr/>
          <p:nvPr/>
        </p:nvSpPr>
        <p:spPr>
          <a:xfrm>
            <a:off x="457200" y="1097280"/>
            <a:ext cx="493704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 Streams is a Java library to build event streaming applications.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Provides high‑level DSL for map, filter, aggregate, join and window operations.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Manages state and fault tolerance using changelog topics and internal state stores.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Runs inside your application — no separate cluster required.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20" name="Chart 0"/>
          <p:cNvGraphicFramePr/>
          <p:nvPr/>
        </p:nvGraphicFramePr>
        <p:xfrm>
          <a:off x="5669280" y="1097280"/>
          <a:ext cx="3199680" cy="2102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21" name="Text 2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ksqlDB: Streaming SQL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"/>
          <p:cNvSpPr/>
          <p:nvPr/>
        </p:nvSpPr>
        <p:spPr>
          <a:xfrm>
            <a:off x="457200" y="1097280"/>
            <a:ext cx="502848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ksqlDB is Kafka’s SQL engine enabling real‑time querying of streams.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Use simple SQL statements to filter, transform, join and aggregate streaming data.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Create persistent streams and tables for continuous processing.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Ideal for rapid prototyping and dashboards; for complex logic, prefer the Streams API.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2"/>
          <p:cNvSpPr/>
          <p:nvPr/>
        </p:nvSpPr>
        <p:spPr>
          <a:xfrm>
            <a:off x="5669280" y="1097280"/>
            <a:ext cx="3199680" cy="1279440"/>
          </a:xfrm>
          <a:prstGeom prst="roundRect">
            <a:avLst>
              <a:gd name="adj" fmla="val 3571"/>
            </a:avLst>
          </a:prstGeom>
          <a:solidFill>
            <a:srgbClr val="f7f9fb"/>
          </a:solidFill>
          <a:ln w="12700">
            <a:solidFill>
              <a:srgbClr val="d6e0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3"/>
          <p:cNvSpPr/>
          <p:nvPr/>
        </p:nvSpPr>
        <p:spPr>
          <a:xfrm>
            <a:off x="5715000" y="1143000"/>
            <a:ext cx="315396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CREATE STREAM rides_stream AS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SELECT rider_id, trip_distance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FROM rides_topic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EMIT CHANGES;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4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Schema Registry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"/>
          <p:cNvSpPr/>
          <p:nvPr/>
        </p:nvSpPr>
        <p:spPr>
          <a:xfrm>
            <a:off x="457200" y="1097280"/>
            <a:ext cx="502848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Central repository for Avro, JSON Schema and Protobuf schemas.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Validates and stores schemas, enforcing compatibility rules as schemas evolve.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Allows producers and consumers to exchange data using IDs rather than full schemas, reducing payload size.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Supports versioning and schema evolution; integrates with Connect, ksqlDB, and REST Proxy.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2"/>
          <p:cNvSpPr/>
          <p:nvPr/>
        </p:nvSpPr>
        <p:spPr>
          <a:xfrm>
            <a:off x="5943600" y="1371600"/>
            <a:ext cx="1005120" cy="54792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3"/>
          <p:cNvSpPr/>
          <p:nvPr/>
        </p:nvSpPr>
        <p:spPr>
          <a:xfrm>
            <a:off x="5943600" y="1371600"/>
            <a:ext cx="1005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Registry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Shape 4"/>
          <p:cNvSpPr/>
          <p:nvPr/>
        </p:nvSpPr>
        <p:spPr>
          <a:xfrm>
            <a:off x="3931920" y="731520"/>
            <a:ext cx="730800" cy="456480"/>
          </a:xfrm>
          <a:prstGeom prst="ellipse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5"/>
          <p:cNvSpPr/>
          <p:nvPr/>
        </p:nvSpPr>
        <p:spPr>
          <a:xfrm>
            <a:off x="3931920" y="731520"/>
            <a:ext cx="730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Producer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6"/>
          <p:cNvSpPr/>
          <p:nvPr/>
        </p:nvSpPr>
        <p:spPr>
          <a:xfrm>
            <a:off x="7772400" y="2011680"/>
            <a:ext cx="730800" cy="456480"/>
          </a:xfrm>
          <a:prstGeom prst="ellipse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7"/>
          <p:cNvSpPr/>
          <p:nvPr/>
        </p:nvSpPr>
        <p:spPr>
          <a:xfrm>
            <a:off x="7772400" y="2011680"/>
            <a:ext cx="730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Consumer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8"/>
          <p:cNvSpPr/>
          <p:nvPr/>
        </p:nvSpPr>
        <p:spPr>
          <a:xfrm>
            <a:off x="6446520" y="1645920"/>
            <a:ext cx="1508760" cy="73152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9"/>
          <p:cNvSpPr/>
          <p:nvPr/>
        </p:nvSpPr>
        <p:spPr>
          <a:xfrm flipH="1" flipV="1">
            <a:off x="4434840" y="914400"/>
            <a:ext cx="1508760" cy="73152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10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MirrorMaker &amp; Replicator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1"/>
          <p:cNvSpPr/>
          <p:nvPr/>
        </p:nvSpPr>
        <p:spPr>
          <a:xfrm>
            <a:off x="457200" y="1097280"/>
            <a:ext cx="5302800" cy="25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MirrorMaker 2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Built on Kafka Connect; uses MirrorSource, MirrorCheckpoint and MirrorHeartbeat connectors.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Replicates topic data, configurations and consumer offsets across clusters.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Confluent Replicator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Commercial tool with tighter Schema Registry integration and provenance headers to prevent loops.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Provides topic and ACL sync, schema migration, and can translate consumer offsets.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2"/>
          <p:cNvSpPr/>
          <p:nvPr/>
        </p:nvSpPr>
        <p:spPr>
          <a:xfrm>
            <a:off x="5567040" y="1299600"/>
            <a:ext cx="1279440" cy="456480"/>
          </a:xfrm>
          <a:prstGeom prst="rect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"/>
          <p:cNvSpPr/>
          <p:nvPr/>
        </p:nvSpPr>
        <p:spPr>
          <a:xfrm>
            <a:off x="5567040" y="1299600"/>
            <a:ext cx="12794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Source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4"/>
          <p:cNvSpPr/>
          <p:nvPr/>
        </p:nvSpPr>
        <p:spPr>
          <a:xfrm>
            <a:off x="7781040" y="1263600"/>
            <a:ext cx="1279440" cy="456480"/>
          </a:xfrm>
          <a:prstGeom prst="rect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5"/>
          <p:cNvSpPr/>
          <p:nvPr/>
        </p:nvSpPr>
        <p:spPr>
          <a:xfrm>
            <a:off x="7745040" y="1263600"/>
            <a:ext cx="12794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Target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6"/>
          <p:cNvSpPr/>
          <p:nvPr/>
        </p:nvSpPr>
        <p:spPr>
          <a:xfrm>
            <a:off x="6919200" y="1554480"/>
            <a:ext cx="822240" cy="1364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400" bIns="234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7"/>
          <p:cNvSpPr/>
          <p:nvPr/>
        </p:nvSpPr>
        <p:spPr>
          <a:xfrm>
            <a:off x="6919200" y="1417320"/>
            <a:ext cx="822240" cy="1364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400" bIns="234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8"/>
          <p:cNvSpPr/>
          <p:nvPr/>
        </p:nvSpPr>
        <p:spPr>
          <a:xfrm>
            <a:off x="6919200" y="1280160"/>
            <a:ext cx="822240" cy="1364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400" bIns="23400" anchor="t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9"/>
          <p:cNvSpPr/>
          <p:nvPr/>
        </p:nvSpPr>
        <p:spPr>
          <a:xfrm>
            <a:off x="7406640" y="1783080"/>
            <a:ext cx="1828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Source -&gt; Target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10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Text 0"/>
          <p:cNvSpPr/>
          <p:nvPr/>
        </p:nvSpPr>
        <p:spPr>
          <a:xfrm>
            <a:off x="457200" y="274320"/>
            <a:ext cx="8686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Knowledge check - 1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1"/>
          <p:cNvSpPr/>
          <p:nvPr/>
        </p:nvSpPr>
        <p:spPr>
          <a:xfrm>
            <a:off x="457200" y="731520"/>
            <a:ext cx="502848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Match the following tool to its primary use case: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 Streams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ksqlDB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Schema Registry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MirrorMaker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REST Proxy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 Connect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2"/>
          <p:cNvSpPr/>
          <p:nvPr/>
        </p:nvSpPr>
        <p:spPr>
          <a:xfrm>
            <a:off x="5669280" y="914400"/>
            <a:ext cx="347400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3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3"/>
              </a:rPr>
              <a:t>[3]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4"/>
              </a:rPr>
              <a:t>[4]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2525040" y="1769040"/>
            <a:ext cx="3234960" cy="930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A. Replicating data between clusters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B. Managing data schemas and compatibility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C. Creating SQL‑based streaming pipelines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D. Building clientless producers/consumers over HTTP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E. High‑level Java API for processing streams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F. Ingesting and exporting data between systems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Rectangle 3"/>
          <p:cNvSpPr/>
          <p:nvPr/>
        </p:nvSpPr>
        <p:spPr>
          <a:xfrm>
            <a:off x="411840" y="71352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TextBox 1"/>
          <p:cNvSpPr/>
          <p:nvPr/>
        </p:nvSpPr>
        <p:spPr>
          <a:xfrm>
            <a:off x="411480" y="255960"/>
            <a:ext cx="7863480" cy="3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Solution: 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7" name="TextBox 3"/>
          <p:cNvSpPr/>
          <p:nvPr/>
        </p:nvSpPr>
        <p:spPr>
          <a:xfrm>
            <a:off x="438840" y="7862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Box 4"/>
          <p:cNvSpPr/>
          <p:nvPr/>
        </p:nvSpPr>
        <p:spPr>
          <a:xfrm>
            <a:off x="640080" y="1234440"/>
            <a:ext cx="7406280" cy="32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Kafka Streams: Java library for stateful stream processing applications.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ksqlDB: SQL interface for streams and tables.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Schema Registry: central schema storage and compatibility enforcement.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MirrorMaker 2: cross-cluster replication built on Kafka Connect.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Kafka Connect: managed integration framework for source and sink connectors.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Box 5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[66]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"/>
          <p:cNvSpPr txBox="1"/>
          <p:nvPr/>
        </p:nvSpPr>
        <p:spPr>
          <a:xfrm>
            <a:off x="203400" y="842400"/>
            <a:ext cx="5494680" cy="1676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Which tool would you choose for performing interactive SQL queries on streaming data?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Kafka Streams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ksqlDB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Schema Registry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MirrorMaker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Which component ensures that producers and consumers use compatible data formats?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Kafka Connect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Kafka Streams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Schema Registry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REST Proxy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341640" y="360000"/>
            <a:ext cx="2538360" cy="369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Knowledge check - 2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Rectangle 1"/>
          <p:cNvSpPr/>
          <p:nvPr/>
        </p:nvSpPr>
        <p:spPr>
          <a:xfrm>
            <a:off x="272520" y="74952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"/>
          <p:cNvSpPr txBox="1"/>
          <p:nvPr/>
        </p:nvSpPr>
        <p:spPr>
          <a:xfrm>
            <a:off x="473760" y="955440"/>
            <a:ext cx="5910480" cy="2778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IN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tool would you choose for performing interactive SQL queries on streaming data?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IN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Answer: b) ksqlDB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IN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ksqlDB lets you write SQL-like queries on Kafka topics, so it is used for interactive streaming analytics.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IN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component ensures that producers and consumers use compatible data formats?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IN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Answer: c) Schema Registry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IN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Schema Registry stores and validates schemas like Avro, Protobuf, or JSON Schema so producers and consumers remain compatible. 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Box 2"/>
          <p:cNvSpPr/>
          <p:nvPr/>
        </p:nvSpPr>
        <p:spPr>
          <a:xfrm>
            <a:off x="411840" y="256320"/>
            <a:ext cx="7863480" cy="3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Solution: 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Rectangle 4"/>
          <p:cNvSpPr/>
          <p:nvPr/>
        </p:nvSpPr>
        <p:spPr>
          <a:xfrm>
            <a:off x="411840" y="71352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Box 1"/>
          <p:cNvSpPr/>
          <p:nvPr/>
        </p:nvSpPr>
        <p:spPr>
          <a:xfrm>
            <a:off x="411480" y="255960"/>
            <a:ext cx="7863480" cy="38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Knowledge Check- 3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8" name="TextBox 3"/>
          <p:cNvSpPr/>
          <p:nvPr/>
        </p:nvSpPr>
        <p:spPr>
          <a:xfrm>
            <a:off x="438840" y="786240"/>
            <a:ext cx="749772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Box 4"/>
          <p:cNvSpPr/>
          <p:nvPr/>
        </p:nvSpPr>
        <p:spPr>
          <a:xfrm>
            <a:off x="685800" y="1051560"/>
            <a:ext cx="7497720" cy="34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Q1. Which service exposes REST endpoints for connector lifecycle?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Q2. Which internal topic stores consumer group committed offsets?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Q3. Which setting tells the producer to wait for all required in-sync replicas?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Q4. Which lab output proves the FileStream sink connector worked?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Box 5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[67]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Solution: Deployment View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3" name="TextBox 3"/>
          <p:cNvSpPr/>
          <p:nvPr/>
        </p:nvSpPr>
        <p:spPr>
          <a:xfrm>
            <a:off x="438840" y="7862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Solution / trainer answer key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Box 4"/>
          <p:cNvSpPr/>
          <p:nvPr/>
        </p:nvSpPr>
        <p:spPr>
          <a:xfrm>
            <a:off x="640080" y="1234440"/>
            <a:ext cx="7406280" cy="32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Q1. Kafka Connect REST exposes connector lifecycle endpoints.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Q2. __consumer_offsets stores committed group progress.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Q3. acks=all makes the producer wait for required in-sync replicas.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171360" defTabSz="914400">
              <a:lnSpc>
                <a:spcPct val="100000"/>
              </a:lnSpc>
              <a:spcAft>
                <a:spcPts val="601"/>
              </a:spcAft>
              <a:buClr>
                <a:srgbClr val="1e1e1e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Q4. data/output/consume.txt proves the FileStream sink wrote records.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5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[68]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Text 0"/>
          <p:cNvSpPr/>
          <p:nvPr/>
        </p:nvSpPr>
        <p:spPr>
          <a:xfrm>
            <a:off x="457200" y="365760"/>
            <a:ext cx="8686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Recap &amp; Next Steps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1"/>
          <p:cNvSpPr/>
          <p:nvPr/>
        </p:nvSpPr>
        <p:spPr>
          <a:xfrm>
            <a:off x="457200" y="1097280"/>
            <a:ext cx="8686080" cy="31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Today you learned: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How consumer groups, offsets, ISR and KRaft protect event movement.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How Kafka Connect workers, connectors and tasks divide responsibility.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How to deploy FileStream source and sink connectors with REST on Ubuntu.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How to prove file -&gt; Kafka -&gt; file movement and test recovery using connect-offsets.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Where Streams, ksqlDB, Schema Registry and MirrorMaker fit in the wider platform.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Tomorrow (Day 4):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Replace the visible file source with database changes using Debezium CDC.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Reuse today's status and offset reasoning when events originate in a database.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2"/>
          <p:cNvSpPr/>
          <p:nvPr/>
        </p:nvSpPr>
        <p:spPr>
          <a:xfrm>
            <a:off x="457200" y="4892040"/>
            <a:ext cx="8228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TextBox 1"/>
          <p:cNvSpPr/>
          <p:nvPr/>
        </p:nvSpPr>
        <p:spPr>
          <a:xfrm>
            <a:off x="411480" y="255960"/>
            <a:ext cx="78634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Quick Recap: Five Sentences to Carry Forward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Rectangle 2"/>
          <p:cNvSpPr/>
          <p:nvPr/>
        </p:nvSpPr>
        <p:spPr>
          <a:xfrm>
            <a:off x="411480" y="713160"/>
            <a:ext cx="7863480" cy="27000"/>
          </a:xfrm>
          <a:prstGeom prst="rect">
            <a:avLst/>
          </a:prstGeom>
          <a:solidFill>
            <a:srgbClr val="4f81bd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1" name="TextBox 3"/>
          <p:cNvSpPr/>
          <p:nvPr/>
        </p:nvSpPr>
        <p:spPr>
          <a:xfrm>
            <a:off x="438840" y="786240"/>
            <a:ext cx="749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Carry-forward points before the next section.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Rounded Rectangle 4"/>
          <p:cNvSpPr/>
          <p:nvPr/>
        </p:nvSpPr>
        <p:spPr>
          <a:xfrm>
            <a:off x="658440" y="1051560"/>
            <a:ext cx="420120" cy="32868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1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Box 5"/>
          <p:cNvSpPr/>
          <p:nvPr/>
        </p:nvSpPr>
        <p:spPr>
          <a:xfrm>
            <a:off x="1170360" y="1033200"/>
            <a:ext cx="6903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Consumer groups scale reads, but partition count sets the ceiling.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Rounded Rectangle 6"/>
          <p:cNvSpPr/>
          <p:nvPr/>
        </p:nvSpPr>
        <p:spPr>
          <a:xfrm>
            <a:off x="658440" y="1618560"/>
            <a:ext cx="420120" cy="32868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2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Box 7"/>
          <p:cNvSpPr/>
          <p:nvPr/>
        </p:nvSpPr>
        <p:spPr>
          <a:xfrm>
            <a:off x="1170360" y="1600200"/>
            <a:ext cx="6903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Offsets are progress bookmarks, not proof that side effects are safe.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Rounded Rectangle 8"/>
          <p:cNvSpPr/>
          <p:nvPr/>
        </p:nvSpPr>
        <p:spPr>
          <a:xfrm>
            <a:off x="658440" y="2185560"/>
            <a:ext cx="420120" cy="32868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3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Box 9"/>
          <p:cNvSpPr/>
          <p:nvPr/>
        </p:nvSpPr>
        <p:spPr>
          <a:xfrm>
            <a:off x="1170360" y="2167200"/>
            <a:ext cx="6903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Replication protects availability only when enough replicas remain in sync.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Rounded Rectangle 10"/>
          <p:cNvSpPr/>
          <p:nvPr/>
        </p:nvSpPr>
        <p:spPr>
          <a:xfrm>
            <a:off x="658440" y="2752200"/>
            <a:ext cx="420120" cy="32868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4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Box 11"/>
          <p:cNvSpPr/>
          <p:nvPr/>
        </p:nvSpPr>
        <p:spPr>
          <a:xfrm>
            <a:off x="1170360" y="2734200"/>
            <a:ext cx="6903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Kafka Connect turns integration into managed connector tasks.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Rounded Rectangle 12"/>
          <p:cNvSpPr/>
          <p:nvPr/>
        </p:nvSpPr>
        <p:spPr>
          <a:xfrm>
            <a:off x="658440" y="3319200"/>
            <a:ext cx="420120" cy="328680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>
            <a:solidFill>
              <a:srgbClr val="4f81b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365f91"/>
                </a:solidFill>
                <a:effectLst/>
                <a:uFillTx/>
                <a:latin typeface="Calibri"/>
              </a:rPr>
              <a:t>5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Box 13"/>
          <p:cNvSpPr/>
          <p:nvPr/>
        </p:nvSpPr>
        <p:spPr>
          <a:xfrm>
            <a:off x="1170360" y="3300840"/>
            <a:ext cx="6903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1e1e1e"/>
                </a:solidFill>
                <a:effectLst/>
                <a:uFillTx/>
                <a:latin typeface="Calibri"/>
              </a:rPr>
              <a:t>Good lab evidence combines terminal output, Kafka UI state and data-path proof.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Box 14"/>
          <p:cNvSpPr/>
          <p:nvPr/>
        </p:nvSpPr>
        <p:spPr>
          <a:xfrm>
            <a:off x="8101440" y="4617720"/>
            <a:ext cx="411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585858"/>
                </a:solidFill>
                <a:effectLst/>
                <a:uFillTx/>
                <a:latin typeface="Calibri"/>
              </a:rPr>
              <a:t>[70]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LibreOffice/25.8.6.2$Windows_X86_64 LibreOffice_project/b4b39682cd9868fa725bc664aff94278d315bd04</Application>
  <AppVersion>15.0000</AppVersion>
  <Words>4175</Words>
  <Paragraphs>555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2026-05-25T22:06:36Z</dcterms:created>
  <dc:creator>Walnut Exporter</dc:creator>
  <dc:description/>
  <dc:language>en-IN</dc:language>
  <cp:lastModifiedBy/>
  <dcterms:modified xsi:type="dcterms:W3CDTF">2026-06-02T23:14:42Z</dcterms:modified>
  <cp:revision>5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45</vt:i4>
  </property>
  <property fmtid="{D5CDD505-2E9C-101B-9397-08002B2CF9AE}" pid="3" name="PresentationFormat">
    <vt:lpwstr>Custom</vt:lpwstr>
  </property>
  <property fmtid="{D5CDD505-2E9C-101B-9397-08002B2CF9AE}" pid="4" name="Slides">
    <vt:i4>45</vt:i4>
  </property>
</Properties>
</file>