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45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0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42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44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</p:sldIdLst>
  <p:sldSz cx="9144000" cy="5148263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Throughput (msg/sec)</c:v>
                </c:pt>
              </c:strCache>
            </c:strRef>
          </c:tx>
          <c:spPr>
            <a:solidFill>
              <a:srgbClr val="92cddc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Round‑Robin</c:v>
                </c:pt>
                <c:pt idx="1">
                  <c:v>Key‑Based</c:v>
                </c:pt>
                <c:pt idx="2">
                  <c:v>Sticky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15000</c:v>
                </c:pt>
                <c:pt idx="1">
                  <c:v>18000</c:v>
                </c:pt>
                <c:pt idx="2">
                  <c:v>22000</c:v>
                </c:pt>
              </c:numCache>
            </c:numRef>
          </c:val>
        </c:ser>
        <c:gapWidth val="150"/>
        <c:overlap val="0"/>
        <c:axId val="40351621"/>
        <c:axId val="3563611"/>
      </c:barChart>
      <c:catAx>
        <c:axId val="40351621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385170"/>
                </a:solidFill>
                <a:uFillTx/>
                <a:latin typeface="Arial"/>
              </a:defRPr>
            </a:pPr>
          </a:p>
        </c:txPr>
        <c:crossAx val="3563611"/>
        <c:crosses val="autoZero"/>
        <c:auto val="1"/>
        <c:lblAlgn val="ctr"/>
        <c:lblOffset val="100"/>
        <c:noMultiLvlLbl val="0"/>
      </c:catAx>
      <c:valAx>
        <c:axId val="3563611"/>
        <c:scaling>
          <c:orientation val="minMax"/>
          <c:max val="25000"/>
          <c:min val="0"/>
        </c:scaling>
        <c:delete val="0"/>
        <c:axPos val="l"/>
        <c:majorGridlines>
          <c:spPr>
            <a:ln w="12600">
              <a:solidFill>
                <a:srgbClr val="888888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u="none" strike="noStrike">
                <a:solidFill>
                  <a:srgbClr val="385170"/>
                </a:solidFill>
                <a:uFillTx/>
                <a:latin typeface="Arial"/>
              </a:defRPr>
            </a:pPr>
          </a:p>
        </c:txPr>
        <c:crossAx val="40351621"/>
        <c:crosses val="autoZero"/>
        <c:crossBetween val="between"/>
        <c:majorUnit val="5000"/>
      </c:valAx>
      <c:spPr>
        <a:noFill/>
        <a:ln w="0">
          <a:noFill/>
        </a:ln>
      </c:spPr>
    </c:plotArea>
    <c:plotVisOnly val="1"/>
    <c:dispBlanksAs val="span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Failures Tolerated</c:v>
                </c:pt>
              </c:strCache>
            </c:strRef>
          </c:tx>
          <c:spPr>
            <a:solidFill>
              <a:srgbClr val="4f81bd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  <a:ea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RF=3, ISR=2</c:v>
                </c:pt>
                <c:pt idx="1">
                  <c:v>RF=3, ISR=1</c:v>
                </c:pt>
                <c:pt idx="2">
                  <c:v>RF=5, ISR=3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1</c:v>
                </c:pt>
                <c:pt idx="1">
                  <c:v>0</c:v>
                </c:pt>
                <c:pt idx="2">
                  <c:v>2</c:v>
                </c:pt>
              </c:numCache>
            </c:numRef>
          </c:val>
        </c:ser>
        <c:gapWidth val="150"/>
        <c:overlap val="0"/>
        <c:axId val="8939395"/>
        <c:axId val="11339684"/>
      </c:barChart>
      <c:catAx>
        <c:axId val="8939395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385170"/>
                </a:solidFill>
                <a:uFillTx/>
                <a:latin typeface="Arial"/>
                <a:ea typeface="Arial"/>
              </a:defRPr>
            </a:pPr>
          </a:p>
        </c:txPr>
        <c:crossAx val="11339684"/>
        <c:crosses val="autoZero"/>
        <c:auto val="1"/>
        <c:lblAlgn val="ctr"/>
        <c:lblOffset val="100"/>
        <c:noMultiLvlLbl val="0"/>
      </c:catAx>
      <c:valAx>
        <c:axId val="11339684"/>
        <c:scaling>
          <c:orientation val="minMax"/>
          <c:max val="3"/>
        </c:scaling>
        <c:delete val="0"/>
        <c:axPos val="l"/>
        <c:majorGridlines>
          <c:spPr>
            <a:ln w="12600">
              <a:solidFill>
                <a:srgbClr val="888888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385170"/>
                </a:solidFill>
                <a:uFillTx/>
                <a:latin typeface="Arial"/>
                <a:ea typeface="Arial"/>
              </a:defRPr>
            </a:pPr>
          </a:p>
        </c:txPr>
        <c:crossAx val="8939395"/>
        <c:crosses val="autoZero"/>
        <c:crossBetween val="between"/>
      </c:valAx>
      <c:spPr>
        <a:noFill/>
        <a:ln w="0">
          <a:noFill/>
        </a:ln>
      </c:spPr>
    </c:plotArea>
    <c:plotVisOnly val="1"/>
    <c:dispBlanksAs val="zero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Operations</c:v>
                </c:pt>
              </c:strCache>
            </c:strRef>
          </c:tx>
          <c:spPr>
            <a:solidFill>
              <a:srgbClr val="4f81bd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  <a:ea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Map</c:v>
                </c:pt>
                <c:pt idx="1">
                  <c:v>Filter</c:v>
                </c:pt>
                <c:pt idx="2">
                  <c:v>Aggregate</c:v>
                </c:pt>
                <c:pt idx="3">
                  <c:v>Join</c:v>
                </c:pt>
                <c:pt idx="4">
                  <c:v>Window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10</c:v>
                </c:pt>
                <c:pt idx="1">
                  <c:v>8</c:v>
                </c:pt>
                <c:pt idx="2">
                  <c:v>6</c:v>
                </c:pt>
                <c:pt idx="3">
                  <c:v>5</c:v>
                </c:pt>
                <c:pt idx="4">
                  <c:v>4</c:v>
                </c:pt>
              </c:numCache>
            </c:numRef>
          </c:val>
        </c:ser>
        <c:gapWidth val="150"/>
        <c:overlap val="0"/>
        <c:axId val="35287275"/>
        <c:axId val="73762177"/>
      </c:barChart>
      <c:catAx>
        <c:axId val="35287275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800" b="0" u="none" strike="noStrike">
                <a:solidFill>
                  <a:srgbClr val="000000"/>
                </a:solidFill>
                <a:uFillTx/>
                <a:latin typeface="Arial"/>
                <a:ea typeface="Arial"/>
              </a:defRPr>
            </a:pPr>
          </a:p>
        </c:txPr>
        <c:crossAx val="73762177"/>
        <c:crosses val="autoZero"/>
        <c:auto val="1"/>
        <c:lblAlgn val="ctr"/>
        <c:lblOffset val="100"/>
        <c:noMultiLvlLbl val="0"/>
      </c:catAx>
      <c:valAx>
        <c:axId val="73762177"/>
        <c:scaling>
          <c:orientation val="minMax"/>
          <c:max val="12"/>
        </c:scaling>
        <c:delete val="0"/>
        <c:axPos val="l"/>
        <c:majorGridlines>
          <c:spPr>
            <a:ln w="12600">
              <a:solidFill>
                <a:srgbClr val="888888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800" b="0" u="none" strike="noStrike">
                <a:solidFill>
                  <a:srgbClr val="000000"/>
                </a:solidFill>
                <a:uFillTx/>
                <a:latin typeface="Arial"/>
                <a:ea typeface="Arial"/>
              </a:defRPr>
            </a:pPr>
          </a:p>
        </c:txPr>
        <c:crossAx val="35287275"/>
        <c:crosses val="autoZero"/>
        <c:crossBetween val="between"/>
      </c:valAx>
      <c:spPr>
        <a:noFill/>
        <a:ln w="0">
          <a:noFill/>
        </a:ln>
      </c:spPr>
    </c:plotArea>
    <c:plotVisOnly val="1"/>
    <c:dispBlanksAs val="zero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80241F5-6981-4A9D-8B2F-2AD6785AF713}" type="slidenum"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88A5DD8-1F8A-4F5A-945A-3960902964B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BB8854D-8BD8-40CF-9D15-F586F14E4EB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sldNum" idx="4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sldNum" idx="4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4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sldNum" idx="4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4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sldNum" idx="4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4560"/>
            <a:ext cx="8229240" cy="29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673597612005892&#8224;L37-L43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hyperlink" Target="file:///C:/Users/Gamer/Downloads/Training/Week1/Day%203/&#12304;673597612005892&#8224;L37-L43&#12305;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673597612005892&#8224;L37-L43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hyperlink" Target="file:///C:/Users/Gamer/Downloads/Training/Week1/Day%203/&#12304;109569185708490&#8224;L122-L131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hyperlink" Target="file:///C:/Users/Gamer/Downloads/Training/Week1/Day%203/&#12304;830786155811747&#8224;L34-L61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109569185708490&#8224;L163-L181&#12305;" TargetMode="External"/><Relationship Id="rId2" Type="http://schemas.openxmlformats.org/officeDocument/2006/relationships/hyperlink" Target="file:///C:/Users/Gamer/Downloads/Training/Week1/Day%203/&#12304;109569185708490&#8224;L189-L208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hyperlink" Target="file:///C:/Users/Gamer/Downloads/Old%20T/Day%202/&#12304;154439817660870&#8224;L147-L158&#12305;" TargetMode="External"/><Relationship Id="rId3" Type="http://schemas.openxmlformats.org/officeDocument/2006/relationships/hyperlink" Target="file:///C:/Users/Gamer/Downloads/Old%20T/Day%202/&#12304;525385649920661&#8224;L157-L184&#12305;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994208945390217&#8224;L900-L929&#12305;" TargetMode="External"/><Relationship Id="rId2" Type="http://schemas.openxmlformats.org/officeDocument/2006/relationships/hyperlink" Target="file:///C:/Users/Gamer/Downloads/Training/Week1/Day%203/&#12304;994208945390217&#8224;L836-L857&#12305;" TargetMode="External"/><Relationship Id="rId3" Type="http://schemas.openxmlformats.org/officeDocument/2006/relationships/hyperlink" Target="file:///C:/Users/Gamer/Downloads/Training/Week1/Day%203/&#12304;109569185708490&#8224;L226-L236&#12305;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109569185708490&#8224;L328-L339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Old%20T/Day%202/&#12304;154439817660870&#8224;L136-L160&#12305;" TargetMode="External"/><Relationship Id="rId2" Type="http://schemas.openxmlformats.org/officeDocument/2006/relationships/hyperlink" Target="file:///C:/Users/Gamer/Downloads/Old%20T/Day%202/&#12304;154439817660870&#8224;L174-L194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109569185708490&#8224;L328-L339&#12305;" TargetMode="External"/><Relationship Id="rId2" Type="http://schemas.openxmlformats.org/officeDocument/2006/relationships/hyperlink" Target="file:///C:/Users/Gamer/Downloads/Training/Week1/Day%203/&#12304;787459060714621&#8224;L216-L226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109569185708490&#8224;L163-L181&#12305;" TargetMode="External"/><Relationship Id="rId2" Type="http://schemas.openxmlformats.org/officeDocument/2006/relationships/hyperlink" Target="file:///C:/Users/Gamer/Downloads/Training/Week1/Day%203/&#12304;109569185708490&#8224;L226-L236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109569185708490&#8224;L122-L131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109569185708490&#8224;L328-L339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109569185708490&#8224;L122-L131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109569185708490&#8224;L122-L131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109569185708490&#8224;L122-L131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787459060714621&#8224;L114-L118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hyperlink" Target="file:///C:/Users/Gamer/Downloads/Training/Week1/Day%203/&#12304;830786155811747&#8224;L34-L61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hyperlink" Target="file:///C:/Users/Gamer/Downloads/Training/Week1/Day%203/&#12304;787459060714621&#8224;L130-L145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787459060714621&#8224;L147-L190&#12305;" TargetMode="External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787459060714621&#8224;L216-L226&#12305;" TargetMode="External"/><Relationship Id="rId2" Type="http://schemas.openxmlformats.org/officeDocument/2006/relationships/hyperlink" Target="file:///C:/Users/Gamer/Downloads/Training/Week1/Day%203/&#12304;787459060714621&#8224;L239-L245&#12305;" TargetMode="External"/><Relationship Id="rId3" Type="http://schemas.openxmlformats.org/officeDocument/2006/relationships/hyperlink" Target="file:///C:/Users/Gamer/Downloads/Training/Week1/Day%203/&#12304;787459060714621&#8224;L251-L269&#12305;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787459060714621&#8224;L205-L214&#12305;" TargetMode="External"/><Relationship Id="rId2" Type="http://schemas.openxmlformats.org/officeDocument/2006/relationships/hyperlink" Target="file:///C:/Users/Gamer/Downloads/Training/Week1/Day%203/&#12304;787459060714621&#8224;L251-L269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787459060714621&#8224;L124-L145&#12305;" TargetMode="External"/><Relationship Id="rId2" Type="http://schemas.openxmlformats.org/officeDocument/2006/relationships/hyperlink" Target="file:///C:/Users/Gamer/Downloads/Training/Week1/Day%203/&#12304;787459060714621&#8224;L205-L214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hyperlink" Target="file:///C:/Users/Gamer/Downloads/Training/Week1/Day%203/&#12304;830786155811747&#8224;L34-L61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hyperlink" Target="file:///C:/Users/Gamer/Downloads/Training/Week1/Day%203/&#12304;830786155811747&#8224;L76-L98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hyperlink" Target="file:///C:/Users/Gamer/Downloads/Training/Week1/Day%203/&#12304;830786155811747&#8224;L121-L139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30786155811747&#8224;L34-L61&#12305;" TargetMode="External"/><Relationship Id="rId2" Type="http://schemas.openxmlformats.org/officeDocument/2006/relationships/hyperlink" Target="file:///C:/Users/Gamer/Downloads/Training/Week1/Day%203/&#12304;830786155811747&#8224;L53-L61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30786155811747&#8224;L128-L160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30786155811747&#8224;L34-L61&#12305;" TargetMode="External"/><Relationship Id="rId2" Type="http://schemas.openxmlformats.org/officeDocument/2006/relationships/hyperlink" Target="file:///C:/Users/Gamer/Downloads/Training/Week1/Day%203/&#12304;830786155811747&#8224;L76-L98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30786155811747&#8224;L34-L61&#12305;" TargetMode="External"/><Relationship Id="rId2" Type="http://schemas.openxmlformats.org/officeDocument/2006/relationships/hyperlink" Target="file:///C:/Users/Gamer/Downloads/Training/Week1/Day%203/&#12304;830786155811747&#8224;L53-L61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30786155811747&#8224;L128-L160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30786155811747&#8224;L128-L160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30786155811747&#8224;L34-L61&#12305;" TargetMode="External"/><Relationship Id="rId2" Type="http://schemas.openxmlformats.org/officeDocument/2006/relationships/hyperlink" Target="file:///C:/Users/Gamer/Downloads/Training/Week1/Day%203/&#12304;830786155811747&#8224;L76-L98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30786155811747&#8224;L34-L61&#12305;" TargetMode="External"/><Relationship Id="rId2" Type="http://schemas.openxmlformats.org/officeDocument/2006/relationships/hyperlink" Target="file:///C:/Users/Gamer/Downloads/Training/Week1/Day%203/&#12304;830786155811747&#8224;L76-L98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109569185708490&#8224;L122-L131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109569185708490&#8224;L122-L131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787459060714621&#8224;L124-L145&#12305;" TargetMode="External"/><Relationship Id="rId2" Type="http://schemas.openxmlformats.org/officeDocument/2006/relationships/hyperlink" Target="file:///C:/Users/Gamer/Downloads/Training/Week1/Day%203/&#12304;787459060714621&#8224;L205-L214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64486615328870&#8224;L24-L38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hyperlink" Target="file:///C:/Users/Gamer/Downloads/Training/Week1/Day%203/&#12304;864486615328870&#8224;L56-L67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290847093815069&#8224;L46-L54&#12305;" TargetMode="External"/><Relationship Id="rId2" Type="http://schemas.openxmlformats.org/officeDocument/2006/relationships/hyperlink" Target="file:///C:/Users/Gamer/Downloads/Training/Week1/Day%203/&#12304;290847093815069&#8224;L66-L98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923825948979014&#8224;L837-L857&#12305;" TargetMode="External"/><Relationship Id="rId2" Type="http://schemas.openxmlformats.org/officeDocument/2006/relationships/hyperlink" Target="file:///C:/Users/Gamer/Downloads/Training/Week1/Day%203/&#12304;923825948979014&#8224;L859-L875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343877329506281&#8224;L39-L61&#12305;" TargetMode="External"/><Relationship Id="rId2" Type="http://schemas.openxmlformats.org/officeDocument/2006/relationships/hyperlink" Target="file:///C:/Users/Gamer/Downloads/Training/Week1/Day%203/&#12304;343877329506281&#8224;L84-L100&#12305;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864486615328870&#8224;L24-L38&#12305;" TargetMode="External"/><Relationship Id="rId2" Type="http://schemas.openxmlformats.org/officeDocument/2006/relationships/hyperlink" Target="file:///C:/Users/Gamer/Downloads/Training/Week1/Day%203/&#12304;290847093815069&#8224;L46-L54&#12305;" TargetMode="External"/><Relationship Id="rId3" Type="http://schemas.openxmlformats.org/officeDocument/2006/relationships/hyperlink" Target="file:///C:/Users/Gamer/Downloads/Training/Week1/Day%203/&#12304;923825948979014&#8224;L837-L857&#12305;" TargetMode="External"/><Relationship Id="rId4" Type="http://schemas.openxmlformats.org/officeDocument/2006/relationships/hyperlink" Target="file:///C:/Users/Gamer/Downloads/Training/Week1/Day%203/&#12304;343877329506281&#8224;L39-L61&#12305;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hyperlink" Target="file:///C:/Users/Gamer/Downloads/Training/Week1/Day%203/&#12304;673597612005892&#8224;L37-L43&#12305;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274320" y="457200"/>
            <a:ext cx="8005680" cy="3474360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d6e0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548640" y="1005840"/>
            <a:ext cx="438876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lang="en-US" sz="3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Day 3</a:t>
            </a:r>
            <a:endParaRPr lang="en-IN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Kafka Advanced Concepts &amp; Tools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Consumer Groups · Replication · Connect · Ecosystem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548640" y="3291840"/>
            <a:ext cx="43887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5a7bb5"/>
                </a:solidFill>
                <a:effectLst/>
                <a:uFillTx/>
                <a:latin typeface="Calibri"/>
              </a:rPr>
              <a:t>Data Engineering Workshop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5a7bb5"/>
                </a:solidFill>
                <a:effectLst/>
                <a:uFillTx/>
                <a:latin typeface="Calibri"/>
              </a:rPr>
              <a:t>May 2026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/>
          <p:cNvSpPr/>
          <p:nvPr/>
        </p:nvSpPr>
        <p:spPr>
          <a:xfrm>
            <a:off x="457200" y="36576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Learning Objectives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Image 0"/>
          <p:cNvPicPr/>
          <p:nvPr/>
        </p:nvPicPr>
        <p:blipFill>
          <a:blip r:embed="rId1"/>
          <a:stretch/>
        </p:blipFill>
        <p:spPr>
          <a:xfrm>
            <a:off x="548640" y="960120"/>
            <a:ext cx="273960" cy="27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Text 1"/>
          <p:cNvSpPr/>
          <p:nvPr/>
        </p:nvSpPr>
        <p:spPr>
          <a:xfrm>
            <a:off x="1005840" y="91440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Understand how consumer groups coordinate to scale consumption and provide fault tolerance.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Image 1"/>
          <p:cNvPicPr/>
          <p:nvPr/>
        </p:nvPicPr>
        <p:blipFill>
          <a:blip r:embed="rId2"/>
          <a:stretch/>
        </p:blipFill>
        <p:spPr>
          <a:xfrm>
            <a:off x="548640" y="1417320"/>
            <a:ext cx="273960" cy="27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Text 2"/>
          <p:cNvSpPr/>
          <p:nvPr/>
        </p:nvSpPr>
        <p:spPr>
          <a:xfrm>
            <a:off x="1005840" y="137160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Master offset management strategies and achieve exactly‑once processing semantics.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2"/>
          <p:cNvPicPr/>
          <p:nvPr/>
        </p:nvPicPr>
        <p:blipFill>
          <a:blip r:embed="rId3"/>
          <a:stretch/>
        </p:blipFill>
        <p:spPr>
          <a:xfrm>
            <a:off x="548640" y="1874520"/>
            <a:ext cx="273960" cy="27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3"/>
          <p:cNvSpPr/>
          <p:nvPr/>
        </p:nvSpPr>
        <p:spPr>
          <a:xfrm>
            <a:off x="1005840" y="182880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Learn how replication, in‑sync replicas and KRaft ensure high availability.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" name="Image 3"/>
          <p:cNvPicPr/>
          <p:nvPr/>
        </p:nvPicPr>
        <p:blipFill>
          <a:blip r:embed="rId4"/>
          <a:stretch/>
        </p:blipFill>
        <p:spPr>
          <a:xfrm>
            <a:off x="548640" y="2331720"/>
            <a:ext cx="273960" cy="27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 4"/>
          <p:cNvSpPr/>
          <p:nvPr/>
        </p:nvSpPr>
        <p:spPr>
          <a:xfrm>
            <a:off x="1005840" y="228600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Explore Kafka Connect architecture and configure source and sink connectors.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" name="Image 4"/>
          <p:cNvPicPr/>
          <p:nvPr/>
        </p:nvPicPr>
        <p:blipFill>
          <a:blip r:embed="rId5"/>
          <a:stretch/>
        </p:blipFill>
        <p:spPr>
          <a:xfrm>
            <a:off x="548640" y="2788920"/>
            <a:ext cx="273960" cy="27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Text 5"/>
          <p:cNvSpPr/>
          <p:nvPr/>
        </p:nvSpPr>
        <p:spPr>
          <a:xfrm>
            <a:off x="1005840" y="274320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Discover the wider Kafka ecosystem: Streams, ksqlDB, Schema Registry and more.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" name="Image 5"/>
          <p:cNvPicPr/>
          <p:nvPr/>
        </p:nvPicPr>
        <p:blipFill>
          <a:blip r:embed="rId6"/>
          <a:stretch/>
        </p:blipFill>
        <p:spPr>
          <a:xfrm>
            <a:off x="548640" y="3246120"/>
            <a:ext cx="273960" cy="27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Text 6"/>
          <p:cNvSpPr/>
          <p:nvPr/>
        </p:nvSpPr>
        <p:spPr>
          <a:xfrm>
            <a:off x="1005840" y="3200400"/>
            <a:ext cx="7772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Apply knowledge in labs and exercises to deploy Kafka with Connect.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7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7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Agenda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"/>
          <p:cNvSpPr/>
          <p:nvPr/>
        </p:nvSpPr>
        <p:spPr>
          <a:xfrm>
            <a:off x="4389120" y="914400"/>
            <a:ext cx="36360" cy="3474360"/>
          </a:xfrm>
          <a:prstGeom prst="rect">
            <a:avLst/>
          </a:prstGeom>
          <a:solidFill>
            <a:srgbClr val="d6e0f0"/>
          </a:solidFill>
          <a:ln w="12700">
            <a:solidFill>
              <a:srgbClr val="d6e0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2"/>
          <p:cNvSpPr/>
          <p:nvPr/>
        </p:nvSpPr>
        <p:spPr>
          <a:xfrm>
            <a:off x="4316040" y="1005840"/>
            <a:ext cx="145800" cy="14580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3"/>
          <p:cNvSpPr/>
          <p:nvPr/>
        </p:nvSpPr>
        <p:spPr>
          <a:xfrm>
            <a:off x="548640" y="914400"/>
            <a:ext cx="3474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Autofit/>
          </a:bodyPr>
          <a:p>
            <a:r>
              <a:rPr lang="en-US" sz="1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09:00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Consumer Groups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Fundamentals &amp; Rebalancing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4"/>
          <p:cNvSpPr/>
          <p:nvPr/>
        </p:nvSpPr>
        <p:spPr>
          <a:xfrm>
            <a:off x="4316040" y="1554480"/>
            <a:ext cx="145800" cy="14580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5"/>
          <p:cNvSpPr/>
          <p:nvPr/>
        </p:nvSpPr>
        <p:spPr>
          <a:xfrm>
            <a:off x="548640" y="1463040"/>
            <a:ext cx="3474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Autofit/>
          </a:bodyPr>
          <a:p>
            <a:r>
              <a:rPr lang="en-US" sz="1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10:30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Offset Management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Commits &amp; Semantics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6"/>
          <p:cNvSpPr/>
          <p:nvPr/>
        </p:nvSpPr>
        <p:spPr>
          <a:xfrm>
            <a:off x="4316040" y="2103120"/>
            <a:ext cx="145800" cy="14580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7"/>
          <p:cNvSpPr/>
          <p:nvPr/>
        </p:nvSpPr>
        <p:spPr>
          <a:xfrm>
            <a:off x="548640" y="2011680"/>
            <a:ext cx="3474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Autofit/>
          </a:bodyPr>
          <a:p>
            <a:r>
              <a:rPr lang="en-US" sz="1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12:00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Replication &amp; Fault Tolerance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ISR &amp; KRaft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8"/>
          <p:cNvSpPr/>
          <p:nvPr/>
        </p:nvSpPr>
        <p:spPr>
          <a:xfrm>
            <a:off x="4316040" y="2651760"/>
            <a:ext cx="145800" cy="14580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9"/>
          <p:cNvSpPr/>
          <p:nvPr/>
        </p:nvSpPr>
        <p:spPr>
          <a:xfrm>
            <a:off x="548640" y="2560320"/>
            <a:ext cx="3474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Autofit/>
          </a:bodyPr>
          <a:p>
            <a:r>
              <a:rPr lang="en-US" sz="1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14:00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Kafka Connect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Architecture &amp; Connectors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0"/>
          <p:cNvSpPr/>
          <p:nvPr/>
        </p:nvSpPr>
        <p:spPr>
          <a:xfrm>
            <a:off x="4316040" y="3200400"/>
            <a:ext cx="145800" cy="14580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1"/>
          <p:cNvSpPr/>
          <p:nvPr/>
        </p:nvSpPr>
        <p:spPr>
          <a:xfrm>
            <a:off x="548640" y="3108960"/>
            <a:ext cx="3474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Autofit/>
          </a:bodyPr>
          <a:p>
            <a:r>
              <a:rPr lang="en-US" sz="1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15:30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Ecosystem Tools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Streams, ksqlDB, Schema, MirrorMaker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2"/>
          <p:cNvSpPr/>
          <p:nvPr/>
        </p:nvSpPr>
        <p:spPr>
          <a:xfrm>
            <a:off x="4316040" y="3749040"/>
            <a:ext cx="145800" cy="14580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3"/>
          <p:cNvSpPr/>
          <p:nvPr/>
        </p:nvSpPr>
        <p:spPr>
          <a:xfrm>
            <a:off x="548640" y="3657600"/>
            <a:ext cx="3474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t">
            <a:noAutofit/>
          </a:bodyPr>
          <a:p>
            <a:r>
              <a:rPr lang="en-US" sz="1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17:00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Lab &amp; Quiz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Deploying Kafka with Connect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4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 0"/>
          <p:cNvSpPr/>
          <p:nvPr/>
        </p:nvSpPr>
        <p:spPr>
          <a:xfrm>
            <a:off x="457200" y="3657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Consumer Groups: What &amp; Why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" name="Image 0"/>
          <p:cNvPicPr/>
          <p:nvPr/>
        </p:nvPicPr>
        <p:blipFill>
          <a:blip r:embed="rId1"/>
          <a:stretch/>
        </p:blipFill>
        <p:spPr>
          <a:xfrm>
            <a:off x="640080" y="1280160"/>
            <a:ext cx="365400" cy="36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Text 1"/>
          <p:cNvSpPr/>
          <p:nvPr/>
        </p:nvSpPr>
        <p:spPr>
          <a:xfrm>
            <a:off x="457200" y="169164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Producers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"/>
          <p:cNvSpPr/>
          <p:nvPr/>
        </p:nvSpPr>
        <p:spPr>
          <a:xfrm>
            <a:off x="1371600" y="1417320"/>
            <a:ext cx="914040" cy="91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3"/>
          <p:cNvSpPr/>
          <p:nvPr/>
        </p:nvSpPr>
        <p:spPr>
          <a:xfrm>
            <a:off x="2468880" y="1280160"/>
            <a:ext cx="1096920" cy="365400"/>
          </a:xfrm>
          <a:prstGeom prst="rect">
            <a:avLst/>
          </a:prstGeom>
          <a:solidFill>
            <a:srgbClr val="d6e0f0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4"/>
          <p:cNvSpPr/>
          <p:nvPr/>
        </p:nvSpPr>
        <p:spPr>
          <a:xfrm>
            <a:off x="2468880" y="128016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Topic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5"/>
          <p:cNvSpPr/>
          <p:nvPr/>
        </p:nvSpPr>
        <p:spPr>
          <a:xfrm>
            <a:off x="3749040" y="1417320"/>
            <a:ext cx="914040" cy="910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6"/>
          <p:cNvSpPr/>
          <p:nvPr/>
        </p:nvSpPr>
        <p:spPr>
          <a:xfrm>
            <a:off x="4846320" y="1280160"/>
            <a:ext cx="3200040" cy="639720"/>
          </a:xfrm>
          <a:prstGeom prst="roundRect">
            <a:avLst>
              <a:gd name="adj" fmla="val 14286"/>
            </a:avLst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7"/>
          <p:cNvSpPr/>
          <p:nvPr/>
        </p:nvSpPr>
        <p:spPr>
          <a:xfrm>
            <a:off x="4846320" y="128016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Consumer Group (Group ID)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8"/>
          <p:cNvSpPr/>
          <p:nvPr/>
        </p:nvSpPr>
        <p:spPr>
          <a:xfrm>
            <a:off x="5029200" y="1600200"/>
            <a:ext cx="456840" cy="45684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9"/>
          <p:cNvSpPr/>
          <p:nvPr/>
        </p:nvSpPr>
        <p:spPr>
          <a:xfrm>
            <a:off x="5029200" y="16002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C1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0"/>
          <p:cNvSpPr/>
          <p:nvPr/>
        </p:nvSpPr>
        <p:spPr>
          <a:xfrm>
            <a:off x="6035040" y="1600200"/>
            <a:ext cx="456840" cy="45684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1"/>
          <p:cNvSpPr/>
          <p:nvPr/>
        </p:nvSpPr>
        <p:spPr>
          <a:xfrm>
            <a:off x="6035040" y="16002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C2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2"/>
          <p:cNvSpPr/>
          <p:nvPr/>
        </p:nvSpPr>
        <p:spPr>
          <a:xfrm>
            <a:off x="7040880" y="1600200"/>
            <a:ext cx="456840" cy="45684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3"/>
          <p:cNvSpPr/>
          <p:nvPr/>
        </p:nvSpPr>
        <p:spPr>
          <a:xfrm>
            <a:off x="7040880" y="16002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C3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4"/>
          <p:cNvSpPr/>
          <p:nvPr/>
        </p:nvSpPr>
        <p:spPr>
          <a:xfrm>
            <a:off x="457200" y="2468880"/>
            <a:ext cx="86864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2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A consumer group consists of one or more consumers that share a group ID and divide partitions.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It enables horizontal scalability — partitions are assigned to different consumers.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The group coordinator tracks membership and offsets in the __consumer_offsets topic.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5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Read the Diagram: Consumer Groups Share Partition Work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"/>
          <p:cNvSpPr/>
          <p:nvPr/>
        </p:nvSpPr>
        <p:spPr>
          <a:xfrm>
            <a:off x="457200" y="1097280"/>
            <a:ext cx="47545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Each consumer group receives its own view of the topic. Within one group, a partition is assigned to one active consumer at a time.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Use this picture before the assignment and rebalance exercise.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Image 0"/>
          <p:cNvPicPr/>
          <p:nvPr/>
        </p:nvPicPr>
        <p:blipFill>
          <a:blip r:embed="rId1"/>
          <a:stretch/>
        </p:blipFill>
        <p:spPr>
          <a:xfrm>
            <a:off x="5486400" y="1097280"/>
            <a:ext cx="3200040" cy="219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Text 2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[1] Hodges, Medium, 1 Apr 2024; terms verified with Apache Kafka documentation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Partition Assignment &amp; Scaling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5" name="Table 0"/>
          <p:cNvGraphicFramePr/>
          <p:nvPr/>
        </p:nvGraphicFramePr>
        <p:xfrm>
          <a:off x="457200" y="1097280"/>
          <a:ext cx="8686440" cy="1222200"/>
        </p:xfrm>
        <a:graphic>
          <a:graphicData uri="http://schemas.openxmlformats.org/drawingml/2006/table">
            <a:tbl>
              <a:tblPr/>
              <a:tblGrid>
                <a:gridCol w="2895480"/>
                <a:gridCol w="2895480"/>
                <a:gridCol w="2895480"/>
              </a:tblGrid>
              <a:tr h="182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Strategy</a:t>
                      </a:r>
                      <a:endParaRPr lang="en-IN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Description</a:t>
                      </a:r>
                      <a:endParaRPr lang="en-IN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Pros / Cons</a:t>
                      </a:r>
                      <a:endParaRPr lang="en-IN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Range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Assigns consecutive partitions to consumers in order.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Simple; may cause skew if partitions vary.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Round‑Robin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Distributes partitions evenly across consumers.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Balances load; may reorder keys.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Sticky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Keeps previous assignments when possible.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Reduces rebalances but can cause skew.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noFill/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Cooperative Sticky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Incremental reassignments; minimises disruption.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IN" sz="10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Recommended default since Kafka 2.4.</a:t>
                      </a:r>
                      <a:endParaRPr lang="en-IN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6e0f0"/>
                      </a:solidFill>
                      <a:prstDash val="solid"/>
                    </a:lnL>
                    <a:lnR w="6480">
                      <a:solidFill>
                        <a:srgbClr val="d6e0f0"/>
                      </a:solidFill>
                      <a:prstDash val="solid"/>
                    </a:lnR>
                    <a:lnT w="6480">
                      <a:solidFill>
                        <a:srgbClr val="d6e0f0"/>
                      </a:solidFill>
                      <a:prstDash val="solid"/>
                    </a:lnT>
                    <a:lnB w="6480">
                      <a:solidFill>
                        <a:srgbClr val="d6e0f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6" name="Text 1"/>
          <p:cNvSpPr/>
          <p:nvPr/>
        </p:nvSpPr>
        <p:spPr>
          <a:xfrm>
            <a:off x="457200" y="2926080"/>
            <a:ext cx="86864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Scaling considerations: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#Consumers ≤ #Partitions to fully utilise resources.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Extra consumers remain idle when partitions are fewer than consumers.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Increase partitions for throughput rather than consumer threads.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 18"/>
          <p:cNvSpPr/>
          <p:nvPr/>
        </p:nvSpPr>
        <p:spPr>
          <a:xfrm>
            <a:off x="457200" y="36576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Partitioning Strategies &amp; Throughput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9" name="Chart 2"/>
          <p:cNvGraphicFramePr/>
          <p:nvPr/>
        </p:nvGraphicFramePr>
        <p:xfrm>
          <a:off x="457200" y="914400"/>
          <a:ext cx="4114440" cy="1828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70" name="Text 20"/>
          <p:cNvSpPr/>
          <p:nvPr/>
        </p:nvSpPr>
        <p:spPr>
          <a:xfrm>
            <a:off x="4754880" y="914400"/>
            <a:ext cx="393156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Strategies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Round‑Robin: evenly distributes records across partitions; high variance and small batches.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4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Key‑Based: hashes record keys to maintain order for a given key; potential hotspots.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Sticky (default since 2.4): sends multiple batches to same partition before switching; improves throughput by forming larger batches.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1"/>
          <p:cNvSpPr/>
          <p:nvPr/>
        </p:nvSpPr>
        <p:spPr>
          <a:xfrm>
            <a:off x="457200" y="49377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070c0"/>
                </a:solidFill>
                <a:effectLst/>
                <a:uFillTx/>
                <a:latin typeface="Calibri"/>
                <a:hlinkClick r:id="rId2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070c0"/>
                </a:solidFill>
                <a:effectLst/>
                <a:uFillTx/>
                <a:latin typeface="Calibri"/>
                <a:hlinkClick r:id="rId3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Rebalancing &amp; Membership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"/>
          <p:cNvSpPr/>
          <p:nvPr/>
        </p:nvSpPr>
        <p:spPr>
          <a:xfrm>
            <a:off x="457200" y="1005840"/>
            <a:ext cx="4023000" cy="2011320"/>
          </a:xfrm>
          <a:prstGeom prst="roundRect">
            <a:avLst>
              <a:gd name="adj" fmla="val 2273"/>
            </a:avLst>
          </a:prstGeom>
          <a:solidFill>
            <a:srgbClr val="f2f6fa"/>
          </a:solidFill>
          <a:ln w="12700">
            <a:solidFill>
              <a:srgbClr val="d6e0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"/>
          <p:cNvSpPr/>
          <p:nvPr/>
        </p:nvSpPr>
        <p:spPr>
          <a:xfrm>
            <a:off x="457200" y="1005840"/>
            <a:ext cx="4023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Triggers for Rebalancing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3"/>
          <p:cNvSpPr/>
          <p:nvPr/>
        </p:nvSpPr>
        <p:spPr>
          <a:xfrm>
            <a:off x="457200" y="1280160"/>
            <a:ext cx="40230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Consumer joins or leaves the group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Topic partitions are added or removed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Heartbeats stop due to long processing or failure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4"/>
          <p:cNvSpPr/>
          <p:nvPr/>
        </p:nvSpPr>
        <p:spPr>
          <a:xfrm>
            <a:off x="4572000" y="1005840"/>
            <a:ext cx="4114440" cy="2011320"/>
          </a:xfrm>
          <a:prstGeom prst="roundRect">
            <a:avLst>
              <a:gd name="adj" fmla="val 2273"/>
            </a:avLst>
          </a:prstGeom>
          <a:solidFill>
            <a:srgbClr val="f2f6fa"/>
          </a:solidFill>
          <a:ln w="12700">
            <a:solidFill>
              <a:srgbClr val="d6e0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5"/>
          <p:cNvSpPr/>
          <p:nvPr/>
        </p:nvSpPr>
        <p:spPr>
          <a:xfrm>
            <a:off x="4572000" y="100584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40" rIns="1440" tIns="1440" bIns="1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Strategies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6"/>
          <p:cNvSpPr/>
          <p:nvPr/>
        </p:nvSpPr>
        <p:spPr>
          <a:xfrm>
            <a:off x="4572000" y="1280160"/>
            <a:ext cx="41144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Cooperative Rebalancing: Assign partitions incrementally; avoids stopping all consumers.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Static Membership: Set group.instance.id to persist assignments across restarts.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Tune session.timeout.ms, heartbeat.interval.ms, max.poll.interval.ms to avoid unnecessary rebalances.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7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3"/>
              </a:rPr>
              <a:t>[3]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Offset Commit &amp; Processing Guarantees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"/>
          <p:cNvSpPr/>
          <p:nvPr/>
        </p:nvSpPr>
        <p:spPr>
          <a:xfrm>
            <a:off x="457200" y="109728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Commit Strategies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457200" y="1371600"/>
            <a:ext cx="411444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Auto Commit: offsets committed periodically by the client; risk of data loss if committed before processing.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Manual Commit: commit after processing a batch; ensures at‑least‑once delivery.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Synchronous vs Asynchronous commit; choose based on latency requirements.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3"/>
          <p:cNvSpPr/>
          <p:nvPr/>
        </p:nvSpPr>
        <p:spPr>
          <a:xfrm>
            <a:off x="4572000" y="109728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Processing Semantics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4"/>
          <p:cNvSpPr/>
          <p:nvPr/>
        </p:nvSpPr>
        <p:spPr>
          <a:xfrm>
            <a:off x="4572000" y="1371600"/>
            <a:ext cx="411444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At‑Most‑Once: commit before processing; possible data loss on failure.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At‑Least‑Once: commit after processing; duplicates possible if processing retried.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Exactly‑Once: use idempotent producers, transactions &amp; isolation.level=read_committed; offsets committed within transaction.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5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22"/>
          <p:cNvSpPr/>
          <p:nvPr/>
        </p:nvSpPr>
        <p:spPr>
          <a:xfrm>
            <a:off x="457200" y="36576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Producer Responsibilities &amp; Delivery Semantics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23"/>
          <p:cNvSpPr/>
          <p:nvPr/>
        </p:nvSpPr>
        <p:spPr>
          <a:xfrm>
            <a:off x="457200" y="91440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• </a:t>
            </a: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Serialise data into bytes (e.g. Avro, Protobuf, JSON).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4"/>
          <p:cNvSpPr/>
          <p:nvPr/>
        </p:nvSpPr>
        <p:spPr>
          <a:xfrm>
            <a:off x="457200" y="123444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• </a:t>
            </a: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Determine partition (hash key, sticky or round‑robin).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5"/>
          <p:cNvSpPr/>
          <p:nvPr/>
        </p:nvSpPr>
        <p:spPr>
          <a:xfrm>
            <a:off x="457200" y="155448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• </a:t>
            </a: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Batch messages and compress to maximise throughput.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6"/>
          <p:cNvSpPr/>
          <p:nvPr/>
        </p:nvSpPr>
        <p:spPr>
          <a:xfrm>
            <a:off x="457200" y="1874520"/>
            <a:ext cx="5028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• </a:t>
            </a: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Configure acknowledgments to control durability.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1" name="Table 2"/>
          <p:cNvGraphicFramePr/>
          <p:nvPr/>
        </p:nvGraphicFramePr>
        <p:xfrm>
          <a:off x="5669280" y="914400"/>
          <a:ext cx="3017160" cy="1492920"/>
        </p:xfrm>
        <a:graphic>
          <a:graphicData uri="http://schemas.openxmlformats.org/drawingml/2006/table">
            <a:tbl>
              <a:tblPr/>
              <a:tblGrid>
                <a:gridCol w="914400"/>
                <a:gridCol w="1188720"/>
                <a:gridCol w="914400"/>
              </a:tblGrid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1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Ack Mode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1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Guarantee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1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Trade‑Off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d9e1f2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acks=0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At‑Most‑Once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Fastest but risk data loss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f7f9fb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acks=1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At‑Least‑Once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May duplicate messages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f7f9fb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acks=all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Exactly‑Once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en-US" sz="800" b="0" u="none" strike="noStrike">
                          <a:solidFill>
                            <a:srgbClr val="385170"/>
                          </a:solidFill>
                          <a:effectLst/>
                          <a:uFillTx/>
                          <a:latin typeface="Calibri"/>
                        </a:rPr>
                        <a:t>Safest but slower; requires idempotence</a:t>
                      </a:r>
                      <a:endParaRPr lang="en-IN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d0d8e8"/>
                      </a:solidFill>
                      <a:prstDash val="solid"/>
                    </a:lnL>
                    <a:lnR w="6480">
                      <a:solidFill>
                        <a:srgbClr val="d0d8e8"/>
                      </a:solidFill>
                      <a:prstDash val="solid"/>
                    </a:lnR>
                    <a:lnT w="6480">
                      <a:solidFill>
                        <a:srgbClr val="d0d8e8"/>
                      </a:solidFill>
                      <a:prstDash val="solid"/>
                    </a:lnT>
                    <a:lnB w="6480">
                      <a:solidFill>
                        <a:srgbClr val="d0d8e8"/>
                      </a:solidFill>
                      <a:prstDash val="soli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2" name="Text 27"/>
          <p:cNvSpPr/>
          <p:nvPr/>
        </p:nvSpPr>
        <p:spPr>
          <a:xfrm>
            <a:off x="457200" y="49377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070c0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070c0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Exactly‑Once Processing with Transactions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"/>
          <p:cNvSpPr/>
          <p:nvPr/>
        </p:nvSpPr>
        <p:spPr>
          <a:xfrm>
            <a:off x="457200" y="1097280"/>
            <a:ext cx="868644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Enable idempotence and transactions on the producer: set enable.idempotence=true and transactional.id.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On the consumer, set isolation.level=read_committed to avoid reading uncommitted records.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Use Kafka’s transaction API to send messages and commit offsets atomically; if the transaction aborts, offsets are not committed.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Combine with min.insync.replicas and acks=all for durability.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 0"/>
          <p:cNvSpPr/>
          <p:nvPr/>
        </p:nvSpPr>
        <p:spPr>
          <a:xfrm>
            <a:off x="457200" y="27432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Mini Exercise: Consumer Groups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"/>
          <p:cNvSpPr/>
          <p:nvPr/>
        </p:nvSpPr>
        <p:spPr>
          <a:xfrm>
            <a:off x="457200" y="914400"/>
            <a:ext cx="502884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Scenario: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You have 6 partitions in a topic and want to process them concurrently with consumer group G.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If you launch 3 consumers, how many partitions does each get?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What happens if you add a 4th consumer?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i="1" u="none" strike="noStrike">
                <a:solidFill>
                  <a:srgbClr val="5a7bb5"/>
                </a:solidFill>
                <a:effectLst/>
                <a:uFillTx/>
                <a:latin typeface="Calibri"/>
              </a:rPr>
              <a:t>• Try this with the command: 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i="1" u="none" strike="noStrike">
                <a:solidFill>
                  <a:srgbClr val="5a7bb5"/>
                </a:solidFill>
                <a:effectLst/>
                <a:uFillTx/>
                <a:latin typeface="Calibri"/>
              </a:rPr>
              <a:t>kafka-console-consumer.sh --bootstrap-server localhost:9092 --topic mytopic --group G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"/>
          <p:cNvSpPr/>
          <p:nvPr/>
        </p:nvSpPr>
        <p:spPr>
          <a:xfrm>
            <a:off x="5669280" y="91440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Quick Quiz: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3"/>
          <p:cNvSpPr/>
          <p:nvPr/>
        </p:nvSpPr>
        <p:spPr>
          <a:xfrm>
            <a:off x="5669280" y="1280160"/>
            <a:ext cx="320004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Q1. Which assignment strategy minimises disruption during rebalances?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a) Range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b) Round‑Robin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c) Sticky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d) Cooperative Sticky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Q2. To avoid unnecessary rebalances on pod restarts, which property should you configure?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a) session.timeout.ms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b) group.instance.id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c) max.poll.interval.ms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d) enable.idempotence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4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Offsets &amp; Internal Topics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457200" y="1097280"/>
            <a:ext cx="50288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Every record in a partition has a unique offset — its position in the log.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The consumer group coordinator stores the last committed offset per partition in a compacted internal topic, __consumer_offsets.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Upon restart, consumers resume from the committed offset, ensuring no messages are missed.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2"/>
          <p:cNvSpPr/>
          <p:nvPr/>
        </p:nvSpPr>
        <p:spPr>
          <a:xfrm>
            <a:off x="5669280" y="1280160"/>
            <a:ext cx="2742840" cy="273960"/>
          </a:xfrm>
          <a:prstGeom prst="rect">
            <a:avLst/>
          </a:prstGeom>
          <a:solidFill>
            <a:srgbClr val="d6e0f0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3"/>
          <p:cNvSpPr/>
          <p:nvPr/>
        </p:nvSpPr>
        <p:spPr>
          <a:xfrm>
            <a:off x="5760720" y="1554480"/>
            <a:ext cx="360" cy="13716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4"/>
          <p:cNvSpPr/>
          <p:nvPr/>
        </p:nvSpPr>
        <p:spPr>
          <a:xfrm>
            <a:off x="5669280" y="1691640"/>
            <a:ext cx="273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0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5"/>
          <p:cNvSpPr/>
          <p:nvPr/>
        </p:nvSpPr>
        <p:spPr>
          <a:xfrm>
            <a:off x="6172200" y="1554480"/>
            <a:ext cx="360" cy="13716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6"/>
          <p:cNvSpPr/>
          <p:nvPr/>
        </p:nvSpPr>
        <p:spPr>
          <a:xfrm>
            <a:off x="6080760" y="1691640"/>
            <a:ext cx="273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1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7"/>
          <p:cNvSpPr/>
          <p:nvPr/>
        </p:nvSpPr>
        <p:spPr>
          <a:xfrm>
            <a:off x="6583680" y="1554480"/>
            <a:ext cx="360" cy="13716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8"/>
          <p:cNvSpPr/>
          <p:nvPr/>
        </p:nvSpPr>
        <p:spPr>
          <a:xfrm>
            <a:off x="6492240" y="1691640"/>
            <a:ext cx="273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2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9"/>
          <p:cNvSpPr/>
          <p:nvPr/>
        </p:nvSpPr>
        <p:spPr>
          <a:xfrm>
            <a:off x="6995160" y="1554480"/>
            <a:ext cx="360" cy="13716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0"/>
          <p:cNvSpPr/>
          <p:nvPr/>
        </p:nvSpPr>
        <p:spPr>
          <a:xfrm>
            <a:off x="6903720" y="1691640"/>
            <a:ext cx="273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3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11"/>
          <p:cNvSpPr/>
          <p:nvPr/>
        </p:nvSpPr>
        <p:spPr>
          <a:xfrm>
            <a:off x="7406640" y="1554480"/>
            <a:ext cx="360" cy="13716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2"/>
          <p:cNvSpPr/>
          <p:nvPr/>
        </p:nvSpPr>
        <p:spPr>
          <a:xfrm>
            <a:off x="7315200" y="1691640"/>
            <a:ext cx="273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4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3"/>
          <p:cNvSpPr/>
          <p:nvPr/>
        </p:nvSpPr>
        <p:spPr>
          <a:xfrm>
            <a:off x="7818120" y="1554480"/>
            <a:ext cx="360" cy="13716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4"/>
          <p:cNvSpPr/>
          <p:nvPr/>
        </p:nvSpPr>
        <p:spPr>
          <a:xfrm>
            <a:off x="7726680" y="1691640"/>
            <a:ext cx="2739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5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5"/>
          <p:cNvSpPr/>
          <p:nvPr/>
        </p:nvSpPr>
        <p:spPr>
          <a:xfrm>
            <a:off x="7315200" y="914400"/>
            <a:ext cx="273960" cy="365400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6"/>
          <p:cNvSpPr/>
          <p:nvPr/>
        </p:nvSpPr>
        <p:spPr>
          <a:xfrm>
            <a:off x="7040880" y="54864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Committed Offset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7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Committing Offsets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"/>
          <p:cNvSpPr/>
          <p:nvPr/>
        </p:nvSpPr>
        <p:spPr>
          <a:xfrm>
            <a:off x="457200" y="1005840"/>
            <a:ext cx="502884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Auto Commit (enable.auto.commit=true)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Offsets are periodically committed in the background.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Simplicity comes at the cost of potential data loss on crash.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Manual Commit (enable.auto.commit=false)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Application explicitly commits offsets after processing.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Allows at‑least‑once delivery by placing commit after acking downstream.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"/>
          <p:cNvSpPr/>
          <p:nvPr/>
        </p:nvSpPr>
        <p:spPr>
          <a:xfrm>
            <a:off x="5669280" y="100584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Commit APIs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"/>
          <p:cNvSpPr/>
          <p:nvPr/>
        </p:nvSpPr>
        <p:spPr>
          <a:xfrm>
            <a:off x="5669280" y="1280160"/>
            <a:ext cx="320004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100" b="1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commitSync()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Waits for broker ack, blocks until commit is complete.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1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commitAsync()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Sends commit and continues; may reorder commits; handle errors in callback.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4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Offset Reset &amp; Seeking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"/>
          <p:cNvSpPr/>
          <p:nvPr/>
        </p:nvSpPr>
        <p:spPr>
          <a:xfrm>
            <a:off x="457200" y="1097280"/>
            <a:ext cx="868644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Resetting Offsets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Set auto.offset.reset=earliest or latest to control where a new group starts.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Use kafka-consumer-groups.sh --reset-offsets to rewind or skip offsets.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Seeking in the API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consumer.seek(partition, offset) lets you reposition at a specific offset.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consumer.seekToBeginning() / seekToEnd() can rewind or fast‑forward.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Monitoring Consumer Lag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"/>
          <p:cNvSpPr/>
          <p:nvPr/>
        </p:nvSpPr>
        <p:spPr>
          <a:xfrm>
            <a:off x="457200" y="1097280"/>
            <a:ext cx="868644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Consumer Lag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Lag is the difference between the latest offset in a partition and the last committed offset.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Monitor lag to detect slow consumers or backlogs.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Monitoring Tools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kafka-consumer-groups.sh --describe: CLI tool to list lag per group.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Kafka metrics (records-lag, records-lag-max) via JMX or Prometheus.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UI tools (Confluent Control Center, Burrow, Conduktor) provide dashboards for lag.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457200" y="274320"/>
            <a:ext cx="8686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Mini Exercise: Offsets &amp; Lag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457200" y="822960"/>
            <a:ext cx="493740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Exercise: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1. Produce 100 messages to a topic.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2. Start a consumer group and pause for a minute before committing offsets.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3. Use kafka-consumer-groups.sh --describe to observe lag and committed offsets.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4. Reset offsets to earliest and observe message replay.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2"/>
          <p:cNvSpPr/>
          <p:nvPr/>
        </p:nvSpPr>
        <p:spPr>
          <a:xfrm>
            <a:off x="5669280" y="82296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Quick Quiz: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669280" y="1097280"/>
            <a:ext cx="320004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Q3. Where are committed offsets stored?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a) __consumer_offsets internal topic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b) Each partition log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c) An external database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d) Zookeeper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Q4. Which setting controls where a new consumer group starts reading?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a) enable.auto.commit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b) auto.offset.reset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c) session.timeout.ms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d) max.poll.records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4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Replication &amp; Leaders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"/>
          <p:cNvSpPr/>
          <p:nvPr/>
        </p:nvSpPr>
        <p:spPr>
          <a:xfrm>
            <a:off x="457200" y="1097280"/>
            <a:ext cx="493740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When a topic is created, you specify a replication factor; e.g., RF=3 means each partition has one leader and two followers.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The leader handles all reads and writes; followers replicate data from the leader.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On leader failure, a follower in the ISR becomes the new leader automatically.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2"/>
          <p:cNvSpPr/>
          <p:nvPr/>
        </p:nvSpPr>
        <p:spPr>
          <a:xfrm>
            <a:off x="5669280" y="1188720"/>
            <a:ext cx="914040" cy="365400"/>
          </a:xfrm>
          <a:prstGeom prst="rect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3"/>
          <p:cNvSpPr/>
          <p:nvPr/>
        </p:nvSpPr>
        <p:spPr>
          <a:xfrm>
            <a:off x="5669280" y="118872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Leader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4"/>
          <p:cNvSpPr/>
          <p:nvPr/>
        </p:nvSpPr>
        <p:spPr>
          <a:xfrm>
            <a:off x="6858000" y="1188720"/>
            <a:ext cx="914040" cy="365400"/>
          </a:xfrm>
          <a:prstGeom prst="rect">
            <a:avLst/>
          </a:prstGeom>
          <a:solidFill>
            <a:srgbClr val="d6e0f0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5"/>
          <p:cNvSpPr/>
          <p:nvPr/>
        </p:nvSpPr>
        <p:spPr>
          <a:xfrm>
            <a:off x="6858000" y="118872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Follower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6"/>
          <p:cNvSpPr/>
          <p:nvPr/>
        </p:nvSpPr>
        <p:spPr>
          <a:xfrm>
            <a:off x="8046720" y="1188720"/>
            <a:ext cx="914040" cy="365400"/>
          </a:xfrm>
          <a:prstGeom prst="rect">
            <a:avLst/>
          </a:prstGeom>
          <a:solidFill>
            <a:srgbClr val="d6e0f0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7"/>
          <p:cNvSpPr/>
          <p:nvPr/>
        </p:nvSpPr>
        <p:spPr>
          <a:xfrm>
            <a:off x="8046720" y="118872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Follower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8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Read the Diagram: Replicas Live on Different Brokers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"/>
          <p:cNvSpPr/>
          <p:nvPr/>
        </p:nvSpPr>
        <p:spPr>
          <a:xfrm>
            <a:off x="457200" y="1097280"/>
            <a:ext cx="47545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 partition leader accepts client traffic; replicas on other brokers provide fault tolerance.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Replication protects availability and durability; it does not add independent ordering lanes.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6" name="Image 0"/>
          <p:cNvPicPr/>
          <p:nvPr/>
        </p:nvPicPr>
        <p:blipFill>
          <a:blip r:embed="rId1"/>
          <a:stretch/>
        </p:blipFill>
        <p:spPr>
          <a:xfrm>
            <a:off x="5486400" y="1097280"/>
            <a:ext cx="3200040" cy="219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" name="Text 2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[1] Hodges, Medium, 1 Apr 2024; terms verified with Apache Kafka documentation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In‑Sync Replicas (ISR)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"/>
          <p:cNvSpPr/>
          <p:nvPr/>
        </p:nvSpPr>
        <p:spPr>
          <a:xfrm>
            <a:off x="457200" y="1097280"/>
            <a:ext cx="493740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Followers in the ISR have caught up to the leader’s high watermark within replica.lag.time.max.ms.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Only ISR members are eligible for leadership on failover.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min.insync.replicas defines how many replicas (including leader) must be in sync to acknowledge writes when acks=all.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0" name="Chart 0"/>
          <p:cNvGraphicFramePr/>
          <p:nvPr/>
        </p:nvGraphicFramePr>
        <p:xfrm>
          <a:off x="5669280" y="1097280"/>
          <a:ext cx="3200040" cy="2102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51" name="Text 2"/>
          <p:cNvSpPr/>
          <p:nvPr/>
        </p:nvSpPr>
        <p:spPr>
          <a:xfrm>
            <a:off x="5669280" y="324612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Failures Tolerated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3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Automatic Failover &amp; KRaft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"/>
          <p:cNvSpPr/>
          <p:nvPr/>
        </p:nvSpPr>
        <p:spPr>
          <a:xfrm>
            <a:off x="457200" y="1097280"/>
            <a:ext cx="52117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The controller quorum detects leader failure and elects a new leader from ISR within seconds.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KRaft (Kafka Raft) removes ZooKeeper. Controllers use the Raft consensus protocol to manage metadata.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Faster leader elections and unified storage of metadata reduce failover times.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Configure dedicated controller nodes and distribute them across availability zones for resilience.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7"/>
          <p:cNvSpPr/>
          <p:nvPr/>
        </p:nvSpPr>
        <p:spPr>
          <a:xfrm>
            <a:off x="5943600" y="2103120"/>
            <a:ext cx="731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 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1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7" name=""/>
          <p:cNvPicPr/>
          <p:nvPr/>
        </p:nvPicPr>
        <p:blipFill>
          <a:blip r:embed="rId2"/>
          <a:srcRect l="11179" t="0" r="12690" b="0"/>
          <a:stretch/>
        </p:blipFill>
        <p:spPr>
          <a:xfrm>
            <a:off x="5580000" y="585720"/>
            <a:ext cx="3239640" cy="2474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Configuration Best Practices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"/>
          <p:cNvSpPr/>
          <p:nvPr/>
        </p:nvSpPr>
        <p:spPr>
          <a:xfrm>
            <a:off x="457200" y="1097280"/>
            <a:ext cx="86864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Replication Factor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Use RF≥3 in production to tolerate at least one broker failure.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min.insync.replicas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Set to RF−1 (e.g., 2 for RF=3) so writes are acknowledged by multiple replicas.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Producer Settings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Use acks=all for durability; enable.idempotence=true to avoid duplicates; set retries to Integer.MAX_VALUE.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Limit max.in.flight.requests.per.connection to 5 or fewer when idempotence is enabled.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3"/>
              </a:rPr>
              <a:t>[3]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Rack Awareness &amp; Unclean Leader Election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"/>
          <p:cNvSpPr/>
          <p:nvPr/>
        </p:nvSpPr>
        <p:spPr>
          <a:xfrm>
            <a:off x="457200" y="1097280"/>
            <a:ext cx="502884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Rack Awareness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Assign replicas across different racks or availability zones using broker.rack property.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Ensures that a zone failure doesn’t take down all replicas for a partition.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Unclean Leader Election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If all ISR replicas fail, unclean leader election determines whether a non‑ISR replica can become leader.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Setting unclean.leader.election.enable=false favours consistency (no data loss) over availability.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2"/>
          <p:cNvSpPr/>
          <p:nvPr/>
        </p:nvSpPr>
        <p:spPr>
          <a:xfrm>
            <a:off x="5943600" y="1280160"/>
            <a:ext cx="731160" cy="456840"/>
          </a:xfrm>
          <a:prstGeom prst="rect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3"/>
          <p:cNvSpPr/>
          <p:nvPr/>
        </p:nvSpPr>
        <p:spPr>
          <a:xfrm>
            <a:off x="5943600" y="1280160"/>
            <a:ext cx="731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Broker 1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4"/>
          <p:cNvSpPr/>
          <p:nvPr/>
        </p:nvSpPr>
        <p:spPr>
          <a:xfrm>
            <a:off x="6858000" y="1280160"/>
            <a:ext cx="731160" cy="456840"/>
          </a:xfrm>
          <a:prstGeom prst="rect">
            <a:avLst/>
          </a:prstGeom>
          <a:solidFill>
            <a:srgbClr val="d6e0f0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5"/>
          <p:cNvSpPr/>
          <p:nvPr/>
        </p:nvSpPr>
        <p:spPr>
          <a:xfrm>
            <a:off x="6858000" y="1280160"/>
            <a:ext cx="731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Broker 2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6"/>
          <p:cNvSpPr/>
          <p:nvPr/>
        </p:nvSpPr>
        <p:spPr>
          <a:xfrm>
            <a:off x="7772400" y="1280160"/>
            <a:ext cx="731160" cy="456840"/>
          </a:xfrm>
          <a:prstGeom prst="rect">
            <a:avLst/>
          </a:prstGeom>
          <a:solidFill>
            <a:srgbClr val="d6e0f0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7"/>
          <p:cNvSpPr/>
          <p:nvPr/>
        </p:nvSpPr>
        <p:spPr>
          <a:xfrm>
            <a:off x="7772400" y="1280160"/>
            <a:ext cx="731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Broker 3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8"/>
          <p:cNvSpPr/>
          <p:nvPr/>
        </p:nvSpPr>
        <p:spPr>
          <a:xfrm>
            <a:off x="5943600" y="178308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AZ1  AZ2  AZ3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9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 0"/>
          <p:cNvSpPr/>
          <p:nvPr/>
        </p:nvSpPr>
        <p:spPr>
          <a:xfrm>
            <a:off x="457200" y="274320"/>
            <a:ext cx="8686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Mini Exercise: Replication &amp; High Availability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"/>
          <p:cNvSpPr/>
          <p:nvPr/>
        </p:nvSpPr>
        <p:spPr>
          <a:xfrm>
            <a:off x="457200" y="822960"/>
            <a:ext cx="493740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Exercise: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1. Create a topic with replication factor 3 and partitions 3.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2. Produce messages with acks=all and observe behaviour when a broker is stopped.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3. Try setting min.insync.replicas=1 and compare.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4. Test unclean leader election by toggling unclean.leader.election.enable.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2"/>
          <p:cNvSpPr/>
          <p:nvPr/>
        </p:nvSpPr>
        <p:spPr>
          <a:xfrm>
            <a:off x="5669280" y="82296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Quick Quiz: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3"/>
          <p:cNvSpPr/>
          <p:nvPr/>
        </p:nvSpPr>
        <p:spPr>
          <a:xfrm>
            <a:off x="5669280" y="1097280"/>
            <a:ext cx="32000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Q5. With RF=3 and min.insync.replicas=2, how many broker failures can you tolerate without losing write availability?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a) 0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b) 1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c) 2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d) 3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Q6. What is the effect of setting unclean.leader.election.enable=true?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a) Better consistency; leaders elected only from ISR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b) Faster failover; non‑ISR replicas can become leader risking data loss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c) Slower failover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d) No effect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4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Kafka Connect: Overview &amp; Architecture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"/>
          <p:cNvSpPr/>
          <p:nvPr/>
        </p:nvSpPr>
        <p:spPr>
          <a:xfrm>
            <a:off x="457200" y="1097280"/>
            <a:ext cx="47545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Kafka Connect is a framework for streaming data between Kafka and external systems.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Runs as a cluster of workers that execute connectors and tasks.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Connectors define what to copy; tasks perform the data movement; converters and SMTs handle formats and transformations.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8" name="Image 0"/>
          <p:cNvPicPr/>
          <p:nvPr/>
        </p:nvPicPr>
        <p:blipFill>
          <a:blip r:embed="rId1"/>
          <a:stretch/>
        </p:blipFill>
        <p:spPr>
          <a:xfrm>
            <a:off x="5486400" y="1097280"/>
            <a:ext cx="3200040" cy="219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Text 2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Source Connectors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"/>
          <p:cNvSpPr/>
          <p:nvPr/>
        </p:nvSpPr>
        <p:spPr>
          <a:xfrm>
            <a:off x="457200" y="1097280"/>
            <a:ext cx="502884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Bring data from external systems into Kafka topics.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Must manage offsets to avoid duplicates and ensure exactly‑once delivery.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Support various ingestion patterns: query‑based polling, CDC (binlogs/WAL), file tailing, API polling.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Examples: JDBC, Debezium, SpoolDir, HTTP.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2" name="Image 0"/>
          <p:cNvPicPr/>
          <p:nvPr/>
        </p:nvPicPr>
        <p:blipFill>
          <a:blip r:embed="rId1"/>
          <a:stretch/>
        </p:blipFill>
        <p:spPr>
          <a:xfrm>
            <a:off x="5486400" y="1097280"/>
            <a:ext cx="3200040" cy="219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Text 2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Sink Connectors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"/>
          <p:cNvSpPr/>
          <p:nvPr/>
        </p:nvSpPr>
        <p:spPr>
          <a:xfrm>
            <a:off x="457200" y="1097280"/>
            <a:ext cx="502884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Read from Kafka topics and write to external systems.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Operate as Kafka consumers; commit offsets back to Kafka to track progress.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Common patterns: load data into data lakes/warehouses (e.g., S3, GCS), index data into search engines (Elasticsearch), upsert into databases, invoke HTTP APIs.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Sink connectors must manage idempotency on the destination to achieve exactly‑once semantics.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6" name="Image 0"/>
          <p:cNvPicPr/>
          <p:nvPr/>
        </p:nvPicPr>
        <p:blipFill>
          <a:blip r:embed="rId1"/>
          <a:stretch/>
        </p:blipFill>
        <p:spPr>
          <a:xfrm>
            <a:off x="5486400" y="1097280"/>
            <a:ext cx="3200040" cy="219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Text 2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Connect Modes &amp; Scaling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"/>
          <p:cNvSpPr/>
          <p:nvPr/>
        </p:nvSpPr>
        <p:spPr>
          <a:xfrm>
            <a:off x="457200" y="1097280"/>
            <a:ext cx="54860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Standalone Mode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Single process runs connectors and tasks; ideal for development.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Distributed Mode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Multiple worker processes coordinate through Kafka topics; tasks are rebalanced across workers.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Provides fault tolerance and horizontal scalability.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Scaling Considerations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Increase tasks per connector to parallelise work.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Use multiple workers to distribute tasks; tasks are automatically assigned via internal group management.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2"/>
          <p:cNvSpPr/>
          <p:nvPr/>
        </p:nvSpPr>
        <p:spPr>
          <a:xfrm>
            <a:off x="6400800" y="1280160"/>
            <a:ext cx="1828440" cy="456840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3"/>
          <p:cNvSpPr/>
          <p:nvPr/>
        </p:nvSpPr>
        <p:spPr>
          <a:xfrm>
            <a:off x="6400800" y="1280160"/>
            <a:ext cx="1828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Worker 1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4"/>
          <p:cNvSpPr/>
          <p:nvPr/>
        </p:nvSpPr>
        <p:spPr>
          <a:xfrm>
            <a:off x="6400800" y="2103120"/>
            <a:ext cx="1828440" cy="456840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5"/>
          <p:cNvSpPr/>
          <p:nvPr/>
        </p:nvSpPr>
        <p:spPr>
          <a:xfrm>
            <a:off x="6400800" y="2103120"/>
            <a:ext cx="1828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Worker 2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6"/>
          <p:cNvSpPr/>
          <p:nvPr/>
        </p:nvSpPr>
        <p:spPr>
          <a:xfrm>
            <a:off x="6400800" y="2926080"/>
            <a:ext cx="1828440" cy="456840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7"/>
          <p:cNvSpPr/>
          <p:nvPr/>
        </p:nvSpPr>
        <p:spPr>
          <a:xfrm>
            <a:off x="6400800" y="2926080"/>
            <a:ext cx="1828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Worker 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8"/>
          <p:cNvSpPr/>
          <p:nvPr/>
        </p:nvSpPr>
        <p:spPr>
          <a:xfrm>
            <a:off x="6949440" y="3840480"/>
            <a:ext cx="1096920" cy="365400"/>
          </a:xfrm>
          <a:prstGeom prst="rect">
            <a:avLst/>
          </a:prstGeom>
          <a:solidFill>
            <a:srgbClr val="d6e0f0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9"/>
          <p:cNvSpPr/>
          <p:nvPr/>
        </p:nvSpPr>
        <p:spPr>
          <a:xfrm>
            <a:off x="6949440" y="384048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Kafka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10"/>
          <p:cNvSpPr/>
          <p:nvPr/>
        </p:nvSpPr>
        <p:spPr>
          <a:xfrm>
            <a:off x="7498080" y="1828800"/>
            <a:ext cx="182520" cy="5482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1"/>
          <p:cNvSpPr/>
          <p:nvPr/>
        </p:nvSpPr>
        <p:spPr>
          <a:xfrm>
            <a:off x="7498080" y="2651760"/>
            <a:ext cx="182520" cy="5482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12"/>
          <p:cNvSpPr/>
          <p:nvPr/>
        </p:nvSpPr>
        <p:spPr>
          <a:xfrm>
            <a:off x="7498080" y="3474720"/>
            <a:ext cx="182520" cy="5482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3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Example: JDBC Source Connector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"/>
          <p:cNvSpPr/>
          <p:nvPr/>
        </p:nvSpPr>
        <p:spPr>
          <a:xfrm>
            <a:off x="457200" y="100584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The JSON below shows a basic configuration for a JDBC source connector that ingests data from PostgreSQL.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2"/>
          <p:cNvSpPr/>
          <p:nvPr/>
        </p:nvSpPr>
        <p:spPr>
          <a:xfrm>
            <a:off x="457200" y="1463040"/>
            <a:ext cx="8229240" cy="2011320"/>
          </a:xfrm>
          <a:prstGeom prst="rect">
            <a:avLst/>
          </a:prstGeom>
          <a:solidFill>
            <a:srgbClr val="f7f9fb"/>
          </a:solidFill>
          <a:ln w="12700">
            <a:solidFill>
              <a:srgbClr val="d6e0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3"/>
          <p:cNvSpPr/>
          <p:nvPr/>
        </p:nvSpPr>
        <p:spPr>
          <a:xfrm>
            <a:off x="502920" y="1508760"/>
            <a:ext cx="813780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{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"name": "postgres-source-connector",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"config": {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"connector.class": "io.confluent.connect.jdbc.JdbcSourceConnector",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"tasks.max": "3",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"connection.url": "jdbc:postgresql://postgres:5432/mydb",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"connection.user": "${secrets:postgres:username}",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"connection.password": "${secrets:postgres:password}",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"mode": "incrementing",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"incrementing.column.name": "id",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"topic.prefix": "postgres-",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"table.whitelist": "orders,customers,products",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"poll.interval.ms": "1000",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"batch.max.rows": "1000"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4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Text 0"/>
          <p:cNvSpPr/>
          <p:nvPr/>
        </p:nvSpPr>
        <p:spPr>
          <a:xfrm>
            <a:off x="457200" y="274320"/>
            <a:ext cx="8686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Mini Exercise: Configure a Connector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"/>
          <p:cNvSpPr/>
          <p:nvPr/>
        </p:nvSpPr>
        <p:spPr>
          <a:xfrm>
            <a:off x="457200" y="822960"/>
            <a:ext cx="502884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Exercise: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1. Use the REST API to deploy the JDBC source connector shown on the previous slide.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2. Verify that records are streaming into the postgres-orders topic.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3. Modify the configuration to ingest only the orders table and change poll interval to 5000 ms.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2"/>
          <p:cNvSpPr/>
          <p:nvPr/>
        </p:nvSpPr>
        <p:spPr>
          <a:xfrm>
            <a:off x="5669280" y="82296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Quick Quiz: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3"/>
          <p:cNvSpPr/>
          <p:nvPr/>
        </p:nvSpPr>
        <p:spPr>
          <a:xfrm>
            <a:off x="5669280" y="1097280"/>
            <a:ext cx="320004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Q7. Which component in Kafka Connect performs the actual data movement?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a) Worker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b) Connector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c) Task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d) Converter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Q8. Which ingestion pattern provides low‑latency streaming of database changes?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a) Query‑based polling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b) CDC using WAL/binlog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c) API polling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d) File tailing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4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Lab Topology: Ubuntu Host to Kafka and Back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1"/>
          <p:cNvSpPr/>
          <p:nvPr/>
        </p:nvSpPr>
        <p:spPr>
          <a:xfrm>
            <a:off x="457200" y="1097280"/>
            <a:ext cx="54860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Your supplied Docker Compose lab: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Starts one KRaft broker and one Kafka Connect worker.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Exposes Connect REST at localhost:8083.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Source: /data/input/produce.txt -&gt; topic fs-source.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Sink: topic fs-source -&gt; /data/output/consume.txt.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Distributed Connect stores config, offsets and status in Kafka topics.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2"/>
          <p:cNvSpPr/>
          <p:nvPr/>
        </p:nvSpPr>
        <p:spPr>
          <a:xfrm>
            <a:off x="6400800" y="1280160"/>
            <a:ext cx="1828440" cy="456840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3"/>
          <p:cNvSpPr/>
          <p:nvPr/>
        </p:nvSpPr>
        <p:spPr>
          <a:xfrm>
            <a:off x="6400800" y="1280160"/>
            <a:ext cx="1828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/data/input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4"/>
          <p:cNvSpPr/>
          <p:nvPr/>
        </p:nvSpPr>
        <p:spPr>
          <a:xfrm>
            <a:off x="6400800" y="2103120"/>
            <a:ext cx="1828440" cy="456840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5"/>
          <p:cNvSpPr/>
          <p:nvPr/>
        </p:nvSpPr>
        <p:spPr>
          <a:xfrm>
            <a:off x="6400800" y="2103120"/>
            <a:ext cx="1828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Connect :8083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6"/>
          <p:cNvSpPr/>
          <p:nvPr/>
        </p:nvSpPr>
        <p:spPr>
          <a:xfrm>
            <a:off x="6400800" y="2926080"/>
            <a:ext cx="1828440" cy="456840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7"/>
          <p:cNvSpPr/>
          <p:nvPr/>
        </p:nvSpPr>
        <p:spPr>
          <a:xfrm>
            <a:off x="6400800" y="2926080"/>
            <a:ext cx="1828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Kafka fs-source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8"/>
          <p:cNvSpPr/>
          <p:nvPr/>
        </p:nvSpPr>
        <p:spPr>
          <a:xfrm>
            <a:off x="6949440" y="3840480"/>
            <a:ext cx="1096920" cy="365400"/>
          </a:xfrm>
          <a:prstGeom prst="rect">
            <a:avLst/>
          </a:prstGeom>
          <a:solidFill>
            <a:srgbClr val="d6e0f0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9"/>
          <p:cNvSpPr/>
          <p:nvPr/>
        </p:nvSpPr>
        <p:spPr>
          <a:xfrm>
            <a:off x="6949440" y="384048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/data/output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10"/>
          <p:cNvSpPr/>
          <p:nvPr/>
        </p:nvSpPr>
        <p:spPr>
          <a:xfrm>
            <a:off x="7498080" y="1828800"/>
            <a:ext cx="182520" cy="5482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11"/>
          <p:cNvSpPr/>
          <p:nvPr/>
        </p:nvSpPr>
        <p:spPr>
          <a:xfrm>
            <a:off x="7498080" y="2651760"/>
            <a:ext cx="182520" cy="5482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12"/>
          <p:cNvSpPr/>
          <p:nvPr/>
        </p:nvSpPr>
        <p:spPr>
          <a:xfrm>
            <a:off x="7498080" y="3474720"/>
            <a:ext cx="182520" cy="5482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3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Lab 1: FileStream Source Connector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"/>
          <p:cNvSpPr/>
          <p:nvPr/>
        </p:nvSpPr>
        <p:spPr>
          <a:xfrm>
            <a:off x="457200" y="100584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This supplied configuration reads each new line from the mounted input file and publishes it to Kafka topic fs-source.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2"/>
          <p:cNvSpPr/>
          <p:nvPr/>
        </p:nvSpPr>
        <p:spPr>
          <a:xfrm>
            <a:off x="457200" y="1463040"/>
            <a:ext cx="8229240" cy="2011320"/>
          </a:xfrm>
          <a:prstGeom prst="rect">
            <a:avLst/>
          </a:prstGeom>
          <a:solidFill>
            <a:srgbClr val="f7f9fb"/>
          </a:solidFill>
          <a:ln w="12700">
            <a:solidFill>
              <a:srgbClr val="d6e0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3"/>
          <p:cNvSpPr/>
          <p:nvPr/>
        </p:nvSpPr>
        <p:spPr>
          <a:xfrm>
            <a:off x="502920" y="1508760"/>
            <a:ext cx="813780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{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"name": "fs-source-connector",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"config": {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"connector.class":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  "org.apache.kafka.connect.file.FileStreamSourceConnector",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"file": "/data/input/produce.txt",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"topic": "fs-source",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"tasks.max": "1"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4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Lab 2: FileStream Sink Connector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"/>
          <p:cNvSpPr/>
          <p:nvPr/>
        </p:nvSpPr>
        <p:spPr>
          <a:xfrm>
            <a:off x="457200" y="100584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The sink reads records from Kafka topic fs-source and writes the visible output file. It is the other direction of movement.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2"/>
          <p:cNvSpPr/>
          <p:nvPr/>
        </p:nvSpPr>
        <p:spPr>
          <a:xfrm>
            <a:off x="457200" y="1463040"/>
            <a:ext cx="8229240" cy="2011320"/>
          </a:xfrm>
          <a:prstGeom prst="rect">
            <a:avLst/>
          </a:prstGeom>
          <a:solidFill>
            <a:srgbClr val="f7f9fb"/>
          </a:solidFill>
          <a:ln w="12700">
            <a:solidFill>
              <a:srgbClr val="d6e0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3"/>
          <p:cNvSpPr/>
          <p:nvPr/>
        </p:nvSpPr>
        <p:spPr>
          <a:xfrm>
            <a:off x="502920" y="1508760"/>
            <a:ext cx="813780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{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"name": "fs-sink-connector",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"config": {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"connector.class":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  "org.apache.kafka.connect.file.FileStreamSinkConnector",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"topics": "fs-source",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"file": "/data/output/consume.txt",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  "tasks.max": "1"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4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Text 0"/>
          <p:cNvSpPr/>
          <p:nvPr/>
        </p:nvSpPr>
        <p:spPr>
          <a:xfrm>
            <a:off x="457200" y="274320"/>
            <a:ext cx="8686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Lab 3: Register Connectors Through REST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"/>
          <p:cNvSpPr/>
          <p:nvPr/>
        </p:nvSpPr>
        <p:spPr>
          <a:xfrm>
            <a:off x="457200" y="822960"/>
            <a:ext cx="502884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Run on Ubuntu from the lab-code folder: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1. docker compose up -d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2. curl http://localhost:8083/connector-plugins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3. curl -X POST -H "Content-Type: application/json"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   --data @connector-source.json http://localhost:8083/connectors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4. Repeat the POST with connector-sink.json.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2"/>
          <p:cNvSpPr/>
          <p:nvPr/>
        </p:nvSpPr>
        <p:spPr>
          <a:xfrm>
            <a:off x="5669280" y="82296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Explain Before You Run: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3"/>
          <p:cNvSpPr/>
          <p:nvPr/>
        </p:nvSpPr>
        <p:spPr>
          <a:xfrm>
            <a:off x="5669280" y="1097280"/>
            <a:ext cx="320004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Which part of each request defines direction?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Source configuration: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file -&gt; topic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Sink configuration: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topics -&gt; file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Evidence required: both connector names appear from GET /connectors.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4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Text 0"/>
          <p:cNvSpPr/>
          <p:nvPr/>
        </p:nvSpPr>
        <p:spPr>
          <a:xfrm>
            <a:off x="457200" y="274320"/>
            <a:ext cx="8686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Lab 4: Prove the Round Trip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"/>
          <p:cNvSpPr/>
          <p:nvPr/>
        </p:nvSpPr>
        <p:spPr>
          <a:xfrm>
            <a:off x="457200" y="822960"/>
            <a:ext cx="502884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Collect evidence in this order: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1. GET /connectors/fs-source-connector/status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2. GET /connectors/fs-sink-connector/status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3. Consume topic fs-source from the beginning.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4. cat data/output/consume.txt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5. Trace one line: input file -&gt; Kafka topic -&gt; output file.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2"/>
          <p:cNvSpPr/>
          <p:nvPr/>
        </p:nvSpPr>
        <p:spPr>
          <a:xfrm>
            <a:off x="5669280" y="82296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Evidence Check: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3"/>
          <p:cNvSpPr/>
          <p:nvPr/>
        </p:nvSpPr>
        <p:spPr>
          <a:xfrm>
            <a:off x="5669280" y="1097280"/>
            <a:ext cx="320004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RUNNING is necessary, but is it sufficient?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No. Status proves the task is alive.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Topic consumption proves ingestion.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Output file proves the sink path.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Capture all three before declaring success.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4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Connector Offsets: A Different Bookmark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"/>
          <p:cNvSpPr/>
          <p:nvPr/>
        </p:nvSpPr>
        <p:spPr>
          <a:xfrm>
            <a:off x="457200" y="1097280"/>
            <a:ext cx="868644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Consumer offset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A consumer group's resume position inside a Kafka partition.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Kafka stores committed group progress in __consumer_offsets.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Source connector offset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The external input position a source task has already processed.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Distributed Connect stores source progress in connect-offsets.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Lab observation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Append one new line, restart Connect, and prove only new input moves.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2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ext 0"/>
          <p:cNvSpPr/>
          <p:nvPr/>
        </p:nvSpPr>
        <p:spPr>
          <a:xfrm>
            <a:off x="457200" y="274320"/>
            <a:ext cx="8686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Lab 5: Restart and Recovery Test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"/>
          <p:cNvSpPr/>
          <p:nvPr/>
        </p:nvSpPr>
        <p:spPr>
          <a:xfrm>
            <a:off x="457200" y="822960"/>
            <a:ext cx="493740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Exercise: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1. Append an order-004 line to data/input/produce.txt.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2. Confirm it appears once in data/output/consume.txt.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3. Run: docker restart connect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4. Append order-005 after the worker returns.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5. Confirm continuation without replaying older lines.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2"/>
          <p:cNvSpPr/>
          <p:nvPr/>
        </p:nvSpPr>
        <p:spPr>
          <a:xfrm>
            <a:off x="5669280" y="82296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Recovery Question: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3"/>
          <p:cNvSpPr/>
          <p:nvPr/>
        </p:nvSpPr>
        <p:spPr>
          <a:xfrm>
            <a:off x="5669280" y="1097280"/>
            <a:ext cx="320004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What remembers the source file position in distributed mode?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a) connect-offsets topic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b) only the output file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c) Schema Registry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d) MirrorMaker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Answer: a. Rewinding that position may repeat downstream effects.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4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 0"/>
          <p:cNvSpPr/>
          <p:nvPr/>
        </p:nvSpPr>
        <p:spPr>
          <a:xfrm>
            <a:off x="457200" y="274320"/>
            <a:ext cx="8686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Lab 6: Diagnose a Failed Connector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"/>
          <p:cNvSpPr/>
          <p:nvPr/>
        </p:nvSpPr>
        <p:spPr>
          <a:xfrm>
            <a:off x="457200" y="822960"/>
            <a:ext cx="493740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Troubleshooting route: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1. GET /connectors/{name}/status and read task state.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2. Check GET /connector-plugins for FileStream support.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3. Inspect docker logs connect.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4. Verify mounted file paths and permissions.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5. Consume fs-source to locate the broken boundary.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2"/>
          <p:cNvSpPr/>
          <p:nvPr/>
        </p:nvSpPr>
        <p:spPr>
          <a:xfrm>
            <a:off x="5669280" y="82296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Incident Check: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3"/>
          <p:cNvSpPr/>
          <p:nvPr/>
        </p:nvSpPr>
        <p:spPr>
          <a:xfrm>
            <a:off x="5669280" y="1097280"/>
            <a:ext cx="32000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The source connector exists, but the topic is empty.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What is the first useful check?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Answer: read source task status and its error trace.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Do not restart blindly; locate the first missing evidence.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4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Kafka Ecosystem Overview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"/>
          <p:cNvSpPr/>
          <p:nvPr/>
        </p:nvSpPr>
        <p:spPr>
          <a:xfrm>
            <a:off x="457200" y="1097280"/>
            <a:ext cx="502884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Kafka Core: brokers, topics, logs, partitions and MirrorMaker.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Kafka Streams: library for building real‑time stream processing applications in Java.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Kafka Connect: connector API for ingesting and exporting data.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Schema Registry: central repository for Avro/JSON/Protobuf schemas.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REST Proxy: produce and consume records via HTTP.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MirrorMaker &amp; Replicator: replicate topics between clusters.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2"/>
          <p:cNvSpPr/>
          <p:nvPr/>
        </p:nvSpPr>
        <p:spPr>
          <a:xfrm>
            <a:off x="6035040" y="1463040"/>
            <a:ext cx="1645560" cy="164556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3"/>
          <p:cNvSpPr/>
          <p:nvPr/>
        </p:nvSpPr>
        <p:spPr>
          <a:xfrm>
            <a:off x="6035040" y="1463040"/>
            <a:ext cx="164556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Kafka Core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4"/>
          <p:cNvSpPr/>
          <p:nvPr/>
        </p:nvSpPr>
        <p:spPr>
          <a:xfrm>
            <a:off x="4480560" y="548640"/>
            <a:ext cx="1096920" cy="731160"/>
          </a:xfrm>
          <a:prstGeom prst="ellipse">
            <a:avLst/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5"/>
          <p:cNvSpPr/>
          <p:nvPr/>
        </p:nvSpPr>
        <p:spPr>
          <a:xfrm>
            <a:off x="4480560" y="548640"/>
            <a:ext cx="10969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Streams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Shape 6"/>
          <p:cNvSpPr/>
          <p:nvPr/>
        </p:nvSpPr>
        <p:spPr>
          <a:xfrm flipH="1" flipV="1">
            <a:off x="5029200" y="914400"/>
            <a:ext cx="1828800" cy="137160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7"/>
          <p:cNvSpPr/>
          <p:nvPr/>
        </p:nvSpPr>
        <p:spPr>
          <a:xfrm>
            <a:off x="8138160" y="548640"/>
            <a:ext cx="1096920" cy="731160"/>
          </a:xfrm>
          <a:prstGeom prst="ellipse">
            <a:avLst/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8"/>
          <p:cNvSpPr/>
          <p:nvPr/>
        </p:nvSpPr>
        <p:spPr>
          <a:xfrm>
            <a:off x="8138160" y="548640"/>
            <a:ext cx="10969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Connect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9"/>
          <p:cNvSpPr/>
          <p:nvPr/>
        </p:nvSpPr>
        <p:spPr>
          <a:xfrm flipV="1">
            <a:off x="6858000" y="914400"/>
            <a:ext cx="1828800" cy="137160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10"/>
          <p:cNvSpPr/>
          <p:nvPr/>
        </p:nvSpPr>
        <p:spPr>
          <a:xfrm>
            <a:off x="4480560" y="3291840"/>
            <a:ext cx="1096920" cy="731160"/>
          </a:xfrm>
          <a:prstGeom prst="ellipse">
            <a:avLst/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1"/>
          <p:cNvSpPr/>
          <p:nvPr/>
        </p:nvSpPr>
        <p:spPr>
          <a:xfrm>
            <a:off x="4480560" y="3291840"/>
            <a:ext cx="10969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Schema Registry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12"/>
          <p:cNvSpPr/>
          <p:nvPr/>
        </p:nvSpPr>
        <p:spPr>
          <a:xfrm flipH="1">
            <a:off x="5029200" y="2286000"/>
            <a:ext cx="1828800" cy="137160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13"/>
          <p:cNvSpPr/>
          <p:nvPr/>
        </p:nvSpPr>
        <p:spPr>
          <a:xfrm>
            <a:off x="8138160" y="3291840"/>
            <a:ext cx="1096920" cy="731160"/>
          </a:xfrm>
          <a:prstGeom prst="ellipse">
            <a:avLst/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4"/>
          <p:cNvSpPr/>
          <p:nvPr/>
        </p:nvSpPr>
        <p:spPr>
          <a:xfrm>
            <a:off x="8138160" y="3291840"/>
            <a:ext cx="10969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REST Proxy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5"/>
          <p:cNvSpPr/>
          <p:nvPr/>
        </p:nvSpPr>
        <p:spPr>
          <a:xfrm>
            <a:off x="6858000" y="2286000"/>
            <a:ext cx="1828800" cy="137160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16"/>
          <p:cNvSpPr/>
          <p:nvPr/>
        </p:nvSpPr>
        <p:spPr>
          <a:xfrm>
            <a:off x="6309360" y="4206240"/>
            <a:ext cx="1096920" cy="731160"/>
          </a:xfrm>
          <a:prstGeom prst="ellipse">
            <a:avLst/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7"/>
          <p:cNvSpPr/>
          <p:nvPr/>
        </p:nvSpPr>
        <p:spPr>
          <a:xfrm>
            <a:off x="6309360" y="4206240"/>
            <a:ext cx="10969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MirrorMaker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18"/>
          <p:cNvSpPr/>
          <p:nvPr/>
        </p:nvSpPr>
        <p:spPr>
          <a:xfrm>
            <a:off x="6858000" y="2286000"/>
            <a:ext cx="360" cy="228600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9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Kafka Streams API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"/>
          <p:cNvSpPr/>
          <p:nvPr/>
        </p:nvSpPr>
        <p:spPr>
          <a:xfrm>
            <a:off x="457200" y="1097280"/>
            <a:ext cx="493740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Kafka Streams is a Java library to build event streaming applications.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Provides high‑level DSL for map, filter, aggregate, join and window operations.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Manages state and fault tolerance using changelog topics and internal state stores.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Runs inside your application — no separate cluster required.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1" name="Chart 0"/>
          <p:cNvGraphicFramePr/>
          <p:nvPr/>
        </p:nvGraphicFramePr>
        <p:xfrm>
          <a:off x="5669280" y="1097280"/>
          <a:ext cx="3200040" cy="2102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82" name="Text 2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ksqlDB: Streaming SQL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"/>
          <p:cNvSpPr/>
          <p:nvPr/>
        </p:nvSpPr>
        <p:spPr>
          <a:xfrm>
            <a:off x="457200" y="1097280"/>
            <a:ext cx="502884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ksqlDB is Kafka’s SQL engine enabling real‑time querying of streams.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Use simple SQL statements to filter, transform, join and aggregate streaming data.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Create persistent streams and tables for continuous processing.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Ideal for rapid prototyping and dashboards; for complex logic, prefer the Streams API.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Shape 2"/>
          <p:cNvSpPr/>
          <p:nvPr/>
        </p:nvSpPr>
        <p:spPr>
          <a:xfrm>
            <a:off x="5669280" y="1097280"/>
            <a:ext cx="3200040" cy="1279800"/>
          </a:xfrm>
          <a:prstGeom prst="roundRect">
            <a:avLst>
              <a:gd name="adj" fmla="val 3571"/>
            </a:avLst>
          </a:prstGeom>
          <a:solidFill>
            <a:srgbClr val="f7f9fb"/>
          </a:solidFill>
          <a:ln w="12700">
            <a:solidFill>
              <a:srgbClr val="d6e0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3"/>
          <p:cNvSpPr/>
          <p:nvPr/>
        </p:nvSpPr>
        <p:spPr>
          <a:xfrm>
            <a:off x="5715000" y="1143000"/>
            <a:ext cx="31543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CREATE STREAM rides_stream AS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SELECT rider_id, trip_distance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FROM rides_topic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385170"/>
                </a:solidFill>
                <a:effectLst/>
                <a:uFillTx/>
                <a:latin typeface="Consolas"/>
                <a:ea typeface="Consolas"/>
              </a:rPr>
              <a:t>  EMIT CHANGES;</a:t>
            </a:r>
            <a:endParaRPr lang="en-IN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4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Schema Registry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"/>
          <p:cNvSpPr/>
          <p:nvPr/>
        </p:nvSpPr>
        <p:spPr>
          <a:xfrm>
            <a:off x="457200" y="1097280"/>
            <a:ext cx="502884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Central repository for Avro, JSON Schema and Protobuf schemas.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Validates and stores schemas, enforcing compatibility rules as schemas evolve.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Allows producers and consumers to exchange data using IDs rather than full schemas, reducing payload size.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Supports versioning and schema evolution; integrates with Connect, ksqlDB, and REST Proxy.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2"/>
          <p:cNvSpPr/>
          <p:nvPr/>
        </p:nvSpPr>
        <p:spPr>
          <a:xfrm>
            <a:off x="5943600" y="1371600"/>
            <a:ext cx="1005480" cy="548280"/>
          </a:xfrm>
          <a:prstGeom prst="ellipse">
            <a:avLst/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3"/>
          <p:cNvSpPr/>
          <p:nvPr/>
        </p:nvSpPr>
        <p:spPr>
          <a:xfrm>
            <a:off x="5943600" y="1371600"/>
            <a:ext cx="10054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Registry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4"/>
          <p:cNvSpPr/>
          <p:nvPr/>
        </p:nvSpPr>
        <p:spPr>
          <a:xfrm>
            <a:off x="3931920" y="731520"/>
            <a:ext cx="731160" cy="456840"/>
          </a:xfrm>
          <a:prstGeom prst="ellipse">
            <a:avLst/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5"/>
          <p:cNvSpPr/>
          <p:nvPr/>
        </p:nvSpPr>
        <p:spPr>
          <a:xfrm>
            <a:off x="3931920" y="731520"/>
            <a:ext cx="731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Producer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6"/>
          <p:cNvSpPr/>
          <p:nvPr/>
        </p:nvSpPr>
        <p:spPr>
          <a:xfrm>
            <a:off x="7772400" y="2011680"/>
            <a:ext cx="731160" cy="456840"/>
          </a:xfrm>
          <a:prstGeom prst="ellipse">
            <a:avLst/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7"/>
          <p:cNvSpPr/>
          <p:nvPr/>
        </p:nvSpPr>
        <p:spPr>
          <a:xfrm>
            <a:off x="7772400" y="2011680"/>
            <a:ext cx="731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Consumer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8"/>
          <p:cNvSpPr/>
          <p:nvPr/>
        </p:nvSpPr>
        <p:spPr>
          <a:xfrm>
            <a:off x="6446520" y="1645920"/>
            <a:ext cx="1508760" cy="73152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9"/>
          <p:cNvSpPr/>
          <p:nvPr/>
        </p:nvSpPr>
        <p:spPr>
          <a:xfrm flipH="1" flipV="1">
            <a:off x="4434840" y="914400"/>
            <a:ext cx="1508760" cy="731520"/>
          </a:xfrm>
          <a:prstGeom prst="line">
            <a:avLst/>
          </a:prstGeom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0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MirrorMaker &amp; Replicator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"/>
          <p:cNvSpPr/>
          <p:nvPr/>
        </p:nvSpPr>
        <p:spPr>
          <a:xfrm>
            <a:off x="457200" y="1097280"/>
            <a:ext cx="530316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MirrorMaker 2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Built on Kafka Connect; uses MirrorSource, MirrorCheckpoint and MirrorHeartbeat connectors.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Replicates topic data, configurations and consumer offsets across clusters.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Confluent Replicator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Commercial tool with tighter Schema Registry integration and provenance headers to prevent loops.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Provides topic and ACL sync, schema migration, and can translate consumer offsets.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2"/>
          <p:cNvSpPr/>
          <p:nvPr/>
        </p:nvSpPr>
        <p:spPr>
          <a:xfrm>
            <a:off x="6035040" y="1371600"/>
            <a:ext cx="1279800" cy="456840"/>
          </a:xfrm>
          <a:prstGeom prst="rect">
            <a:avLst/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3"/>
          <p:cNvSpPr/>
          <p:nvPr/>
        </p:nvSpPr>
        <p:spPr>
          <a:xfrm>
            <a:off x="6035040" y="1371600"/>
            <a:ext cx="1279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Source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4"/>
          <p:cNvSpPr/>
          <p:nvPr/>
        </p:nvSpPr>
        <p:spPr>
          <a:xfrm>
            <a:off x="8321040" y="1371600"/>
            <a:ext cx="1279800" cy="456840"/>
          </a:xfrm>
          <a:prstGeom prst="rect">
            <a:avLst/>
          </a:prstGeom>
          <a:solidFill>
            <a:srgbClr val="f2f6fa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5"/>
          <p:cNvSpPr/>
          <p:nvPr/>
        </p:nvSpPr>
        <p:spPr>
          <a:xfrm>
            <a:off x="8321040" y="1371600"/>
            <a:ext cx="1279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Target</a:t>
            </a:r>
            <a:endParaRPr lang="en-IN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6"/>
          <p:cNvSpPr/>
          <p:nvPr/>
        </p:nvSpPr>
        <p:spPr>
          <a:xfrm>
            <a:off x="7315200" y="1554480"/>
            <a:ext cx="822600" cy="1368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400" bIns="234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7"/>
          <p:cNvSpPr/>
          <p:nvPr/>
        </p:nvSpPr>
        <p:spPr>
          <a:xfrm>
            <a:off x="7315200" y="1417320"/>
            <a:ext cx="822600" cy="1368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400" bIns="234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8"/>
          <p:cNvSpPr/>
          <p:nvPr/>
        </p:nvSpPr>
        <p:spPr>
          <a:xfrm>
            <a:off x="7315200" y="1280160"/>
            <a:ext cx="822600" cy="1368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f81bd"/>
          </a:solidFill>
          <a:ln w="12700">
            <a:solidFill>
              <a:srgbClr val="4f81b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3400" bIns="23400" anchor="t">
            <a:noAutofit/>
          </a:bodyPr>
          <a:p>
            <a:endParaRPr lang="en-IN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9"/>
          <p:cNvSpPr/>
          <p:nvPr/>
        </p:nvSpPr>
        <p:spPr>
          <a:xfrm>
            <a:off x="7406640" y="1783080"/>
            <a:ext cx="18284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Source -&gt; Target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0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Text 0"/>
          <p:cNvSpPr/>
          <p:nvPr/>
        </p:nvSpPr>
        <p:spPr>
          <a:xfrm>
            <a:off x="457200" y="274320"/>
            <a:ext cx="8686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Ecosystem Review &amp; Quiz</a:t>
            </a:r>
            <a:endParaRPr lang="en-IN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"/>
          <p:cNvSpPr/>
          <p:nvPr/>
        </p:nvSpPr>
        <p:spPr>
          <a:xfrm>
            <a:off x="457200" y="731520"/>
            <a:ext cx="502884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Match each tool to its primary use case: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Kafka Streams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ksqlDB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Schema Registry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MirrorMaker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REST Proxy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• Kafka Connect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A. Replicating data between clusters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B. Managing data schemas and compatibility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C. Creating SQL‑based streaming pipelines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D. Building clientless producers/consumers over HTTP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E. High‑level Java API for processing streams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F. Ingesting and exporting data between systems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2"/>
          <p:cNvSpPr/>
          <p:nvPr/>
        </p:nvSpPr>
        <p:spPr>
          <a:xfrm>
            <a:off x="5669280" y="914400"/>
            <a:ext cx="347436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Bonus MCQs: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Q9. Which tool would you choose for performing interactive SQL queries on streaming data?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a) Kafka Streams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b) ksqlDB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c) Schema Registry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d) MirrorMaker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1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Q10. Which component ensures that producers and consumers use compatible data formats?</a:t>
            </a:r>
            <a:endParaRPr lang="en-IN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a) Kafka Connect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b) Kafka Streams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c) Schema Registry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385170"/>
                </a:solidFill>
                <a:effectLst/>
                <a:uFillTx/>
                <a:latin typeface="Calibri"/>
              </a:rPr>
              <a:t>d) REST Proxy</a:t>
            </a:r>
            <a:endParaRPr lang="en-IN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3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2"/>
              </a:rPr>
              <a:t>[2]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3"/>
              </a:rPr>
              <a:t>[3]</a:t>
            </a:r>
            <a:r>
              <a:rPr lang="en-US" sz="7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   </a:t>
            </a: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4"/>
              </a:rPr>
              <a:t>[4]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ext 0"/>
          <p:cNvSpPr/>
          <p:nvPr/>
        </p:nvSpPr>
        <p:spPr>
          <a:xfrm>
            <a:off x="457200" y="36576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Recap &amp; Next Steps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1"/>
          <p:cNvSpPr/>
          <p:nvPr/>
        </p:nvSpPr>
        <p:spPr>
          <a:xfrm>
            <a:off x="457200" y="1097280"/>
            <a:ext cx="868644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Today you learned: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How consumer groups, offsets, ISR and KRaft protect event movement.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How Kafka Connect workers, connectors and tasks divide responsibility.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How to deploy FileStream source and sink connectors with REST on Ubuntu.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How to prove file -&gt; Kafka -&gt; file movement and test recovery using connect-offsets.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Where Streams, ksqlDB, Schema Registry and MirrorMaker fit in the wider platform.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Tomorrow (Day 4):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Replace the visible file source with database changes using Debezium CDC.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f5597"/>
                </a:solidFill>
                <a:effectLst/>
                <a:uFillTx/>
                <a:latin typeface="Calibri"/>
              </a:rPr>
              <a:t>- Reuse today's status and offset reasoning when events originate in a database.</a:t>
            </a:r>
            <a:endParaRPr lang="en-IN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2"/>
          <p:cNvSpPr/>
          <p:nvPr/>
        </p:nvSpPr>
        <p:spPr>
          <a:xfrm>
            <a:off x="457200" y="4892040"/>
            <a:ext cx="82292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sng" strike="noStrike">
                <a:solidFill>
                  <a:srgbClr val="0563c1"/>
                </a:solidFill>
                <a:effectLst/>
                <a:uFillTx/>
                <a:latin typeface="Calibri"/>
                <a:hlinkClick r:id="rId1"/>
              </a:rPr>
              <a:t>[1]</a:t>
            </a:r>
            <a:endParaRPr lang="en-IN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LibreOffice/25.8.6.2$Windows_X86_64 LibreOffice_project/b4b39682cd9868fa725bc664aff94278d315bd04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2026-05-25T22:06:36Z</dcterms:created>
  <dc:creator>Walnut Exporter</dc:creator>
  <dc:description/>
  <dc:language>en-IN</dc:language>
  <cp:lastModifiedBy/>
  <dcterms:modified xsi:type="dcterms:W3CDTF">2026-05-26T04:04:59Z</dcterms:modified>
  <cp:revision>1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