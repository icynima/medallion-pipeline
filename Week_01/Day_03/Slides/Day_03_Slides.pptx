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2.xml" ContentType="application/vnd.openxmlformats-officedocument.drawingml.chart+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rts/chart3.xml" ContentType="application/vnd.openxmlformats-officedocument.drawingml.chart+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328" r:id="rId13"/>
    <p:sldId id="329" r:id="rId14"/>
    <p:sldId id="330" r:id="rId15"/>
    <p:sldId id="331" r:id="rId16"/>
    <p:sldId id="332" r:id="rId17"/>
    <p:sldId id="267" r:id="rId18"/>
    <p:sldId id="334"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9144000" cy="514826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1020" y="3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col"/>
        <c:grouping val="clustered"/>
        <c:varyColors val="0"/>
        <c:ser>
          <c:idx val="0"/>
          <c:order val="0"/>
          <c:tx>
            <c:strRef>
              <c:f>label 0</c:f>
              <c:strCache>
                <c:ptCount val="1"/>
                <c:pt idx="0">
                  <c:v>Throughput (msg/sec)</c:v>
                </c:pt>
              </c:strCache>
            </c:strRef>
          </c:tx>
          <c:spPr>
            <a:solidFill>
              <a:srgbClr val="92CDDC"/>
            </a:solidFill>
            <a:ln w="0">
              <a:noFill/>
            </a:ln>
          </c:spPr>
          <c:invertIfNegative val="0"/>
          <c:dLbls>
            <c:spPr>
              <a:noFill/>
              <a:ln>
                <a:noFill/>
              </a:ln>
              <a:effectLst/>
            </c:spPr>
            <c:txPr>
              <a:bodyPr wrap="square"/>
              <a:lstStyle/>
              <a:p>
                <a:pPr>
                  <a:defRPr sz="1200" b="0" u="none" strike="noStrike">
                    <a:solidFill>
                      <a:srgbClr val="000000"/>
                    </a:solidFill>
                    <a:uFillTx/>
                    <a:latin typeface="Arial"/>
                  </a:defRPr>
                </a:pPr>
                <a:endParaRPr lang="en-US"/>
              </a:p>
            </c:txPr>
            <c:dLblPos val="outEnd"/>
            <c:showLegendKey val="0"/>
            <c:showVal val="0"/>
            <c:showCatName val="0"/>
            <c:showSerName val="0"/>
            <c:showPercent val="0"/>
            <c:showBubbleSize val="1"/>
            <c:separator>; </c:separator>
            <c:showLeaderLines val="0"/>
            <c:extLst>
              <c:ext xmlns:c15="http://schemas.microsoft.com/office/drawing/2012/chart" uri="{CE6537A1-D6FC-4f65-9D91-7224C49458BB}">
                <c15:showLeaderLines val="0"/>
              </c:ext>
            </c:extLst>
          </c:dLbls>
          <c:cat>
            <c:strRef>
              <c:f>categories</c:f>
              <c:strCache>
                <c:ptCount val="3"/>
                <c:pt idx="0">
                  <c:v>Round‑Robin</c:v>
                </c:pt>
                <c:pt idx="1">
                  <c:v>Key‑Based</c:v>
                </c:pt>
                <c:pt idx="2">
                  <c:v>Sticky</c:v>
                </c:pt>
              </c:strCache>
            </c:strRef>
          </c:cat>
          <c:val>
            <c:numRef>
              <c:f>0</c:f>
              <c:numCache>
                <c:formatCode>General</c:formatCode>
                <c:ptCount val="3"/>
                <c:pt idx="0">
                  <c:v>15000</c:v>
                </c:pt>
                <c:pt idx="1">
                  <c:v>18000</c:v>
                </c:pt>
                <c:pt idx="2">
                  <c:v>22000</c:v>
                </c:pt>
              </c:numCache>
            </c:numRef>
          </c:val>
          <c:extLst>
            <c:ext xmlns:c16="http://schemas.microsoft.com/office/drawing/2014/chart" uri="{C3380CC4-5D6E-409C-BE32-E72D297353CC}">
              <c16:uniqueId val="{00000000-5241-4515-A036-F989AAE03134}"/>
            </c:ext>
          </c:extLst>
        </c:ser>
        <c:dLbls>
          <c:showLegendKey val="0"/>
          <c:showVal val="0"/>
          <c:showCatName val="0"/>
          <c:showSerName val="0"/>
          <c:showPercent val="0"/>
          <c:showBubbleSize val="0"/>
        </c:dLbls>
        <c:gapWidth val="150"/>
        <c:axId val="49457844"/>
        <c:axId val="65263047"/>
      </c:barChart>
      <c:catAx>
        <c:axId val="49457844"/>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sz="1200" b="0" u="none" strike="noStrike">
                <a:solidFill>
                  <a:srgbClr val="385170"/>
                </a:solidFill>
                <a:uFillTx/>
                <a:latin typeface="Arial"/>
              </a:defRPr>
            </a:pPr>
            <a:endParaRPr lang="en-US"/>
          </a:p>
        </c:txPr>
        <c:crossAx val="65263047"/>
        <c:crosses val="autoZero"/>
        <c:auto val="1"/>
        <c:lblAlgn val="ctr"/>
        <c:lblOffset val="100"/>
        <c:noMultiLvlLbl val="0"/>
      </c:catAx>
      <c:valAx>
        <c:axId val="65263047"/>
        <c:scaling>
          <c:orientation val="minMax"/>
          <c:max val="25000"/>
          <c:min val="0"/>
        </c:scaling>
        <c:delete val="0"/>
        <c:axPos val="l"/>
        <c:majorGridlines>
          <c:spPr>
            <a:ln w="12600">
              <a:solidFill>
                <a:srgbClr val="888888"/>
              </a:solidFill>
              <a:round/>
            </a:ln>
          </c:spPr>
        </c:majorGridlines>
        <c:numFmt formatCode="General" sourceLinked="0"/>
        <c:majorTickMark val="out"/>
        <c:minorTickMark val="none"/>
        <c:tickLblPos val="nextTo"/>
        <c:spPr>
          <a:ln w="12600">
            <a:solidFill>
              <a:srgbClr val="888888"/>
            </a:solidFill>
            <a:round/>
          </a:ln>
        </c:spPr>
        <c:txPr>
          <a:bodyPr/>
          <a:lstStyle/>
          <a:p>
            <a:pPr>
              <a:defRPr sz="1200" b="0" u="none" strike="noStrike">
                <a:solidFill>
                  <a:srgbClr val="385170"/>
                </a:solidFill>
                <a:uFillTx/>
                <a:latin typeface="Arial"/>
              </a:defRPr>
            </a:pPr>
            <a:endParaRPr lang="en-US"/>
          </a:p>
        </c:txPr>
        <c:crossAx val="49457844"/>
        <c:crosses val="autoZero"/>
        <c:crossBetween val="between"/>
        <c:majorUnit val="5000"/>
      </c:valAx>
      <c:spPr>
        <a:noFill/>
        <a:ln w="0">
          <a:noFill/>
        </a:ln>
      </c:spPr>
    </c:plotArea>
    <c:plotVisOnly val="1"/>
    <c:dispBlanksAs val="span"/>
    <c:showDLblsOverMax val="1"/>
  </c:chart>
  <c:spPr>
    <a:no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col"/>
        <c:grouping val="clustered"/>
        <c:varyColors val="0"/>
        <c:ser>
          <c:idx val="0"/>
          <c:order val="0"/>
          <c:tx>
            <c:strRef>
              <c:f>label 0</c:f>
              <c:strCache>
                <c:ptCount val="1"/>
                <c:pt idx="0">
                  <c:v>Failures Tolerated</c:v>
                </c:pt>
              </c:strCache>
            </c:strRef>
          </c:tx>
          <c:spPr>
            <a:solidFill>
              <a:srgbClr val="4F81BD"/>
            </a:solidFill>
            <a:ln w="0">
              <a:noFill/>
            </a:ln>
          </c:spPr>
          <c:invertIfNegative val="0"/>
          <c:dLbls>
            <c:spPr>
              <a:noFill/>
              <a:ln>
                <a:noFill/>
              </a:ln>
              <a:effectLst/>
            </c:spPr>
            <c:txPr>
              <a:bodyPr wrap="square"/>
              <a:lstStyle/>
              <a:p>
                <a:pPr>
                  <a:defRPr sz="1200" b="0" u="none" strike="noStrike">
                    <a:solidFill>
                      <a:srgbClr val="000000"/>
                    </a:solidFill>
                    <a:uFillTx/>
                    <a:latin typeface="Arial"/>
                    <a:ea typeface="Arial"/>
                  </a:defRPr>
                </a:pPr>
                <a:endParaRPr lang="en-US"/>
              </a:p>
            </c:txPr>
            <c:dLblPos val="outEnd"/>
            <c:showLegendKey val="0"/>
            <c:showVal val="0"/>
            <c:showCatName val="0"/>
            <c:showSerName val="0"/>
            <c:showPercent val="0"/>
            <c:showBubbleSize val="1"/>
            <c:separator>; </c:separator>
            <c:showLeaderLines val="0"/>
            <c:extLst>
              <c:ext xmlns:c15="http://schemas.microsoft.com/office/drawing/2012/chart" uri="{CE6537A1-D6FC-4f65-9D91-7224C49458BB}">
                <c15:showLeaderLines val="0"/>
              </c:ext>
            </c:extLst>
          </c:dLbls>
          <c:cat>
            <c:strRef>
              <c:f>categories</c:f>
              <c:strCache>
                <c:ptCount val="3"/>
                <c:pt idx="0">
                  <c:v>RF=3, ISR=2</c:v>
                </c:pt>
                <c:pt idx="1">
                  <c:v>RF=3, ISR=1</c:v>
                </c:pt>
                <c:pt idx="2">
                  <c:v>RF=5, ISR=3</c:v>
                </c:pt>
              </c:strCache>
            </c:strRef>
          </c:cat>
          <c:val>
            <c:numRef>
              <c:f>0</c:f>
              <c:numCache>
                <c:formatCode>General</c:formatCode>
                <c:ptCount val="3"/>
                <c:pt idx="0">
                  <c:v>1</c:v>
                </c:pt>
                <c:pt idx="1">
                  <c:v>0</c:v>
                </c:pt>
                <c:pt idx="2">
                  <c:v>2</c:v>
                </c:pt>
              </c:numCache>
            </c:numRef>
          </c:val>
          <c:extLst>
            <c:ext xmlns:c16="http://schemas.microsoft.com/office/drawing/2014/chart" uri="{C3380CC4-5D6E-409C-BE32-E72D297353CC}">
              <c16:uniqueId val="{00000000-5622-4C19-A593-C14C4C270707}"/>
            </c:ext>
          </c:extLst>
        </c:ser>
        <c:dLbls>
          <c:showLegendKey val="0"/>
          <c:showVal val="0"/>
          <c:showCatName val="0"/>
          <c:showSerName val="0"/>
          <c:showPercent val="0"/>
          <c:showBubbleSize val="0"/>
        </c:dLbls>
        <c:gapWidth val="150"/>
        <c:axId val="11778897"/>
        <c:axId val="11901571"/>
      </c:barChart>
      <c:catAx>
        <c:axId val="11778897"/>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sz="900" b="0" u="none" strike="noStrike">
                <a:solidFill>
                  <a:srgbClr val="385170"/>
                </a:solidFill>
                <a:uFillTx/>
                <a:latin typeface="Arial"/>
                <a:ea typeface="Arial"/>
              </a:defRPr>
            </a:pPr>
            <a:endParaRPr lang="en-US"/>
          </a:p>
        </c:txPr>
        <c:crossAx val="11901571"/>
        <c:crosses val="autoZero"/>
        <c:auto val="1"/>
        <c:lblAlgn val="ctr"/>
        <c:lblOffset val="100"/>
        <c:noMultiLvlLbl val="0"/>
      </c:catAx>
      <c:valAx>
        <c:axId val="11901571"/>
        <c:scaling>
          <c:orientation val="minMax"/>
          <c:max val="3"/>
        </c:scaling>
        <c:delete val="0"/>
        <c:axPos val="l"/>
        <c:majorGridlines>
          <c:spPr>
            <a:ln w="12600">
              <a:solidFill>
                <a:srgbClr val="888888"/>
              </a:solidFill>
              <a:round/>
            </a:ln>
          </c:spPr>
        </c:majorGridlines>
        <c:numFmt formatCode="General" sourceLinked="0"/>
        <c:majorTickMark val="out"/>
        <c:minorTickMark val="none"/>
        <c:tickLblPos val="nextTo"/>
        <c:spPr>
          <a:ln w="12600">
            <a:solidFill>
              <a:srgbClr val="888888"/>
            </a:solidFill>
            <a:round/>
          </a:ln>
        </c:spPr>
        <c:txPr>
          <a:bodyPr/>
          <a:lstStyle/>
          <a:p>
            <a:pPr>
              <a:defRPr sz="900" b="0" u="none" strike="noStrike">
                <a:solidFill>
                  <a:srgbClr val="385170"/>
                </a:solidFill>
                <a:uFillTx/>
                <a:latin typeface="Arial"/>
                <a:ea typeface="Arial"/>
              </a:defRPr>
            </a:pPr>
            <a:endParaRPr lang="en-US"/>
          </a:p>
        </c:txPr>
        <c:crossAx val="11778897"/>
        <c:crosses val="autoZero"/>
        <c:crossBetween val="between"/>
      </c:valAx>
      <c:spPr>
        <a:noFill/>
        <a:ln w="0">
          <a:noFill/>
        </a:ln>
      </c:spPr>
    </c:plotArea>
    <c:plotVisOnly val="1"/>
    <c:dispBlanksAs val="zero"/>
    <c:showDLblsOverMax val="1"/>
  </c:chart>
  <c:spPr>
    <a:no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col"/>
        <c:grouping val="clustered"/>
        <c:varyColors val="0"/>
        <c:ser>
          <c:idx val="0"/>
          <c:order val="0"/>
          <c:tx>
            <c:strRef>
              <c:f>label 0</c:f>
              <c:strCache>
                <c:ptCount val="1"/>
                <c:pt idx="0">
                  <c:v>Operations</c:v>
                </c:pt>
              </c:strCache>
            </c:strRef>
          </c:tx>
          <c:spPr>
            <a:solidFill>
              <a:srgbClr val="4F81BD"/>
            </a:solidFill>
            <a:ln w="0">
              <a:noFill/>
            </a:ln>
          </c:spPr>
          <c:invertIfNegative val="0"/>
          <c:dLbls>
            <c:spPr>
              <a:noFill/>
              <a:ln>
                <a:noFill/>
              </a:ln>
              <a:effectLst/>
            </c:spPr>
            <c:txPr>
              <a:bodyPr wrap="square"/>
              <a:lstStyle/>
              <a:p>
                <a:pPr>
                  <a:defRPr sz="1200" b="0" u="none" strike="noStrike">
                    <a:solidFill>
                      <a:srgbClr val="000000"/>
                    </a:solidFill>
                    <a:uFillTx/>
                    <a:latin typeface="Arial"/>
                    <a:ea typeface="Arial"/>
                  </a:defRPr>
                </a:pPr>
                <a:endParaRPr lang="en-US"/>
              </a:p>
            </c:txPr>
            <c:dLblPos val="outEnd"/>
            <c:showLegendKey val="0"/>
            <c:showVal val="0"/>
            <c:showCatName val="0"/>
            <c:showSerName val="0"/>
            <c:showPercent val="0"/>
            <c:showBubbleSize val="1"/>
            <c:separator>; </c:separator>
            <c:showLeaderLines val="0"/>
            <c:extLst>
              <c:ext xmlns:c15="http://schemas.microsoft.com/office/drawing/2012/chart" uri="{CE6537A1-D6FC-4f65-9D91-7224C49458BB}">
                <c15:showLeaderLines val="0"/>
              </c:ext>
            </c:extLst>
          </c:dLbls>
          <c:cat>
            <c:strRef>
              <c:f>categories</c:f>
              <c:strCache>
                <c:ptCount val="5"/>
                <c:pt idx="0">
                  <c:v>Map</c:v>
                </c:pt>
                <c:pt idx="1">
                  <c:v>Filter</c:v>
                </c:pt>
                <c:pt idx="2">
                  <c:v>Aggregate</c:v>
                </c:pt>
                <c:pt idx="3">
                  <c:v>Join</c:v>
                </c:pt>
                <c:pt idx="4">
                  <c:v>Window</c:v>
                </c:pt>
              </c:strCache>
            </c:strRef>
          </c:cat>
          <c:val>
            <c:numRef>
              <c:f>0</c:f>
              <c:numCache>
                <c:formatCode>General</c:formatCode>
                <c:ptCount val="5"/>
                <c:pt idx="0">
                  <c:v>10</c:v>
                </c:pt>
                <c:pt idx="1">
                  <c:v>8</c:v>
                </c:pt>
                <c:pt idx="2">
                  <c:v>6</c:v>
                </c:pt>
                <c:pt idx="3">
                  <c:v>5</c:v>
                </c:pt>
                <c:pt idx="4">
                  <c:v>4</c:v>
                </c:pt>
              </c:numCache>
            </c:numRef>
          </c:val>
          <c:extLst>
            <c:ext xmlns:c16="http://schemas.microsoft.com/office/drawing/2014/chart" uri="{C3380CC4-5D6E-409C-BE32-E72D297353CC}">
              <c16:uniqueId val="{00000000-030F-4036-B8FF-95CA36DE33DD}"/>
            </c:ext>
          </c:extLst>
        </c:ser>
        <c:dLbls>
          <c:showLegendKey val="0"/>
          <c:showVal val="0"/>
          <c:showCatName val="0"/>
          <c:showSerName val="0"/>
          <c:showPercent val="0"/>
          <c:showBubbleSize val="0"/>
        </c:dLbls>
        <c:gapWidth val="150"/>
        <c:axId val="24454093"/>
        <c:axId val="73624251"/>
      </c:barChart>
      <c:catAx>
        <c:axId val="24454093"/>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sz="800" b="0" u="none" strike="noStrike">
                <a:solidFill>
                  <a:srgbClr val="000000"/>
                </a:solidFill>
                <a:uFillTx/>
                <a:latin typeface="Arial"/>
                <a:ea typeface="Arial"/>
              </a:defRPr>
            </a:pPr>
            <a:endParaRPr lang="en-US"/>
          </a:p>
        </c:txPr>
        <c:crossAx val="73624251"/>
        <c:crosses val="autoZero"/>
        <c:auto val="1"/>
        <c:lblAlgn val="ctr"/>
        <c:lblOffset val="100"/>
        <c:noMultiLvlLbl val="0"/>
      </c:catAx>
      <c:valAx>
        <c:axId val="73624251"/>
        <c:scaling>
          <c:orientation val="minMax"/>
          <c:max val="12"/>
        </c:scaling>
        <c:delete val="0"/>
        <c:axPos val="l"/>
        <c:majorGridlines>
          <c:spPr>
            <a:ln w="12600">
              <a:solidFill>
                <a:srgbClr val="888888"/>
              </a:solidFill>
              <a:round/>
            </a:ln>
          </c:spPr>
        </c:majorGridlines>
        <c:numFmt formatCode="General" sourceLinked="0"/>
        <c:majorTickMark val="out"/>
        <c:minorTickMark val="none"/>
        <c:tickLblPos val="nextTo"/>
        <c:spPr>
          <a:ln w="12600">
            <a:solidFill>
              <a:srgbClr val="888888"/>
            </a:solidFill>
            <a:round/>
          </a:ln>
        </c:spPr>
        <c:txPr>
          <a:bodyPr/>
          <a:lstStyle/>
          <a:p>
            <a:pPr>
              <a:defRPr sz="800" b="0" u="none" strike="noStrike">
                <a:solidFill>
                  <a:srgbClr val="000000"/>
                </a:solidFill>
                <a:uFillTx/>
                <a:latin typeface="Arial"/>
                <a:ea typeface="Arial"/>
              </a:defRPr>
            </a:pPr>
            <a:endParaRPr lang="en-US"/>
          </a:p>
        </c:txPr>
        <c:crossAx val="24454093"/>
        <c:crosses val="autoZero"/>
        <c:crossBetween val="between"/>
      </c:valAx>
      <c:spPr>
        <a:noFill/>
        <a:ln w="0">
          <a:noFill/>
        </a:ln>
      </c:spPr>
    </c:plotArea>
    <c:plotVisOnly val="1"/>
    <c:dispBlanksAs val="zero"/>
    <c:showDLblsOverMax val="1"/>
  </c:chart>
  <c:spPr>
    <a:noFill/>
    <a:ln w="0">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IN" sz="2000" b="0" u="none" strike="noStrike">
                <a:solidFill>
                  <a:srgbClr val="000000"/>
                </a:solidFill>
                <a:effectLst/>
                <a:uFillTx/>
                <a:latin typeface="Arial"/>
              </a:rPr>
              <a:t>Click to edit the notes format</a:t>
            </a:r>
          </a:p>
        </p:txBody>
      </p:sp>
      <p:sp>
        <p:nvSpPr>
          <p:cNvPr id="6"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IN" sz="1400" b="0" u="none" strike="noStrike">
                <a:solidFill>
                  <a:srgbClr val="000000"/>
                </a:solidFill>
                <a:effectLst/>
                <a:uFillTx/>
                <a:latin typeface="Times New Roman"/>
              </a:rPr>
              <a:t> </a:t>
            </a:r>
          </a:p>
        </p:txBody>
      </p:sp>
      <p:sp>
        <p:nvSpPr>
          <p:cNvPr id="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IN" sz="1400" b="0" u="none" strike="noStrike">
                <a:solidFill>
                  <a:srgbClr val="000000"/>
                </a:solidFill>
                <a:effectLst/>
                <a:uFillTx/>
                <a:latin typeface="Times New Roman"/>
              </a:defRPr>
            </a:lvl1pPr>
          </a:lstStyle>
          <a:p>
            <a:pPr indent="0" algn="r">
              <a:buNone/>
            </a:pPr>
            <a:r>
              <a:rPr lang="en-IN" sz="1400" b="0" u="none" strike="noStrike">
                <a:solidFill>
                  <a:srgbClr val="000000"/>
                </a:solidFill>
                <a:effectLst/>
                <a:uFillTx/>
                <a:latin typeface="Times New Roman"/>
              </a:rPr>
              <a:t> </a:t>
            </a: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IN" sz="1400" b="0" u="none" strike="noStrike">
                <a:solidFill>
                  <a:srgbClr val="000000"/>
                </a:solidFill>
                <a:effectLst/>
                <a:uFillTx/>
                <a:latin typeface="Times New Roman"/>
              </a:defRPr>
            </a:lvl1pPr>
          </a:lstStyle>
          <a:p>
            <a:pPr indent="0">
              <a:buNone/>
            </a:pPr>
            <a:r>
              <a:rPr lang="en-IN" sz="1400" b="0" u="none" strike="noStrike">
                <a:solidFill>
                  <a:srgbClr val="000000"/>
                </a:solidFill>
                <a:effectLst/>
                <a:uFillTx/>
                <a:latin typeface="Times New Roman"/>
              </a:rPr>
              <a:t> </a:t>
            </a: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IN" sz="1400" b="0" u="none" strike="noStrike">
                <a:solidFill>
                  <a:srgbClr val="000000"/>
                </a:solidFill>
                <a:effectLst/>
                <a:uFillTx/>
                <a:latin typeface="Times New Roman"/>
              </a:defRPr>
            </a:lvl1pPr>
          </a:lstStyle>
          <a:p>
            <a:pPr indent="0" algn="r">
              <a:buNone/>
            </a:pPr>
            <a:fld id="{D8E03C10-9E0F-473E-8F4D-3CC6CB0D26D6}" type="slidenum">
              <a:rPr lang="en-IN" sz="1400" b="0" u="none" strike="noStrike">
                <a:solidFill>
                  <a:srgbClr val="000000"/>
                </a:solidFill>
                <a:effectLst/>
                <a:uFillTx/>
                <a:latin typeface="Times New Roman"/>
              </a:rPr>
              <a:t>‹#›</a:t>
            </a:fld>
            <a:endParaRPr lang="en-IN"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3" name="PlaceHolder 1"/>
          <p:cNvSpPr>
            <a:spLocks noGrp="1" noRot="1" noChangeAspect="1"/>
          </p:cNvSpPr>
          <p:nvPr>
            <p:ph type="sldImg"/>
          </p:nvPr>
        </p:nvSpPr>
        <p:spPr>
          <a:xfrm>
            <a:off x="0" y="0"/>
            <a:ext cx="0" cy="0"/>
          </a:xfrm>
          <a:prstGeom prst="rect">
            <a:avLst/>
          </a:prstGeom>
          <a:ln w="0">
            <a:noFill/>
          </a:ln>
        </p:spPr>
      </p:sp>
      <p:sp>
        <p:nvSpPr>
          <p:cNvPr id="49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495" name="PlaceHolder 3"/>
          <p:cNvSpPr>
            <a:spLocks noGrp="1"/>
          </p:cNvSpPr>
          <p:nvPr>
            <p:ph type="sldNum" idx="4"/>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PlaceHolder 1"/>
          <p:cNvSpPr>
            <a:spLocks noGrp="1" noRot="1" noChangeAspect="1"/>
          </p:cNvSpPr>
          <p:nvPr>
            <p:ph type="sldImg"/>
          </p:nvPr>
        </p:nvSpPr>
        <p:spPr>
          <a:xfrm>
            <a:off x="0" y="0"/>
            <a:ext cx="0" cy="0"/>
          </a:xfrm>
          <a:prstGeom prst="rect">
            <a:avLst/>
          </a:prstGeom>
          <a:ln w="0">
            <a:noFill/>
          </a:ln>
        </p:spPr>
      </p:sp>
      <p:sp>
        <p:nvSpPr>
          <p:cNvPr id="49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498" name="PlaceHolder 3"/>
          <p:cNvSpPr>
            <a:spLocks noGrp="1"/>
          </p:cNvSpPr>
          <p:nvPr>
            <p:ph type="sldNum" idx="5"/>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9" name="PlaceHolder 1"/>
          <p:cNvSpPr>
            <a:spLocks noGrp="1" noRot="1" noChangeAspect="1"/>
          </p:cNvSpPr>
          <p:nvPr>
            <p:ph type="sldImg"/>
          </p:nvPr>
        </p:nvSpPr>
        <p:spPr>
          <a:xfrm>
            <a:off x="0" y="0"/>
            <a:ext cx="0" cy="0"/>
          </a:xfrm>
          <a:prstGeom prst="rect">
            <a:avLst/>
          </a:prstGeom>
          <a:ln w="0">
            <a:noFill/>
          </a:ln>
        </p:spPr>
      </p:sp>
      <p:sp>
        <p:nvSpPr>
          <p:cNvPr id="50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01" name="PlaceHolder 3"/>
          <p:cNvSpPr>
            <a:spLocks noGrp="1"/>
          </p:cNvSpPr>
          <p:nvPr>
            <p:ph type="sldNum" idx="6"/>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2" name="PlaceHolder 1"/>
          <p:cNvSpPr>
            <a:spLocks noGrp="1" noRot="1" noChangeAspect="1"/>
          </p:cNvSpPr>
          <p:nvPr>
            <p:ph type="sldImg"/>
          </p:nvPr>
        </p:nvSpPr>
        <p:spPr>
          <a:xfrm>
            <a:off x="0" y="0"/>
            <a:ext cx="0" cy="0"/>
          </a:xfrm>
          <a:prstGeom prst="rect">
            <a:avLst/>
          </a:prstGeom>
          <a:ln w="0">
            <a:noFill/>
          </a:ln>
        </p:spPr>
      </p:sp>
      <p:sp>
        <p:nvSpPr>
          <p:cNvPr id="50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04" name="PlaceHolder 3"/>
          <p:cNvSpPr>
            <a:spLocks noGrp="1"/>
          </p:cNvSpPr>
          <p:nvPr>
            <p:ph type="sldNum" idx="7"/>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 name="PlaceHolder 1"/>
          <p:cNvSpPr>
            <a:spLocks noGrp="1" noRot="1" noChangeAspect="1"/>
          </p:cNvSpPr>
          <p:nvPr>
            <p:ph type="sldImg"/>
          </p:nvPr>
        </p:nvSpPr>
        <p:spPr>
          <a:xfrm>
            <a:off x="0" y="0"/>
            <a:ext cx="0" cy="0"/>
          </a:xfrm>
          <a:prstGeom prst="rect">
            <a:avLst/>
          </a:prstGeom>
          <a:ln w="0">
            <a:noFill/>
          </a:ln>
        </p:spPr>
      </p:sp>
      <p:sp>
        <p:nvSpPr>
          <p:cNvPr id="50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07" name="PlaceHolder 3"/>
          <p:cNvSpPr>
            <a:spLocks noGrp="1"/>
          </p:cNvSpPr>
          <p:nvPr>
            <p:ph type="sldNum" idx="8"/>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 name="PlaceHolder 1"/>
          <p:cNvSpPr>
            <a:spLocks noGrp="1" noRot="1" noChangeAspect="1"/>
          </p:cNvSpPr>
          <p:nvPr>
            <p:ph type="sldImg"/>
          </p:nvPr>
        </p:nvSpPr>
        <p:spPr>
          <a:xfrm>
            <a:off x="0" y="0"/>
            <a:ext cx="0" cy="0"/>
          </a:xfrm>
          <a:prstGeom prst="rect">
            <a:avLst/>
          </a:prstGeom>
          <a:ln w="0">
            <a:noFill/>
          </a:ln>
        </p:spPr>
      </p:sp>
      <p:sp>
        <p:nvSpPr>
          <p:cNvPr id="50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10" name="PlaceHolder 3"/>
          <p:cNvSpPr>
            <a:spLocks noGrp="1"/>
          </p:cNvSpPr>
          <p:nvPr>
            <p:ph type="sldNum" idx="9"/>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1" name="PlaceHolder 1"/>
          <p:cNvSpPr>
            <a:spLocks noGrp="1" noRot="1" noChangeAspect="1"/>
          </p:cNvSpPr>
          <p:nvPr>
            <p:ph type="sldImg"/>
          </p:nvPr>
        </p:nvSpPr>
        <p:spPr>
          <a:xfrm>
            <a:off x="688975" y="1143000"/>
            <a:ext cx="5480050" cy="3086100"/>
          </a:xfrm>
          <a:prstGeom prst="rect">
            <a:avLst/>
          </a:prstGeom>
          <a:ln w="0">
            <a:noFill/>
          </a:ln>
        </p:spPr>
      </p:sp>
      <p:sp>
        <p:nvSpPr>
          <p:cNvPr id="51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indent="0">
              <a:buNone/>
            </a:pPr>
            <a:endParaRPr lang="en-IN" sz="1800" b="0" u="none" strike="noStrike">
              <a:solidFill>
                <a:srgbClr val="000000"/>
              </a:solidFill>
              <a:effectLst/>
              <a:uFillTx/>
              <a:latin typeface="Arial"/>
            </a:endParaRPr>
          </a:p>
        </p:txBody>
      </p:sp>
      <p:sp>
        <p:nvSpPr>
          <p:cNvPr id="513" name="PlaceHolder 3"/>
          <p:cNvSpPr>
            <a:spLocks noGrp="1"/>
          </p:cNvSpPr>
          <p:nvPr>
            <p:ph type="sldNum" idx="1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E29163B-48A8-4DF2-8A42-7BC12B5D87D0}" type="slidenum">
              <a:rPr lang="en-US" sz="1200" b="0" u="none" strike="noStrike">
                <a:solidFill>
                  <a:schemeClr val="dk1"/>
                </a:solidFill>
                <a:effectLst/>
                <a:uFillTx/>
                <a:latin typeface="+mn-lt"/>
                <a:ea typeface="+mn-ea"/>
              </a:rPr>
              <a:t>9</a:t>
            </a:fld>
            <a:endParaRPr lang="en-IN"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4" name="PlaceHolder 1"/>
          <p:cNvSpPr>
            <a:spLocks noGrp="1" noRot="1" noChangeAspect="1"/>
          </p:cNvSpPr>
          <p:nvPr>
            <p:ph type="sldImg"/>
          </p:nvPr>
        </p:nvSpPr>
        <p:spPr>
          <a:xfrm>
            <a:off x="0" y="0"/>
            <a:ext cx="0" cy="0"/>
          </a:xfrm>
          <a:prstGeom prst="rect">
            <a:avLst/>
          </a:prstGeom>
          <a:ln w="0">
            <a:noFill/>
          </a:ln>
        </p:spPr>
      </p:sp>
      <p:sp>
        <p:nvSpPr>
          <p:cNvPr id="51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16" name="PlaceHolder 3"/>
          <p:cNvSpPr>
            <a:spLocks noGrp="1"/>
          </p:cNvSpPr>
          <p:nvPr>
            <p:ph type="sldNum" idx="11"/>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7" name="PlaceHolder 1"/>
          <p:cNvSpPr>
            <a:spLocks noGrp="1" noRot="1" noChangeAspect="1"/>
          </p:cNvSpPr>
          <p:nvPr>
            <p:ph type="sldImg"/>
          </p:nvPr>
        </p:nvSpPr>
        <p:spPr>
          <a:xfrm>
            <a:off x="0" y="0"/>
            <a:ext cx="0" cy="0"/>
          </a:xfrm>
          <a:prstGeom prst="rect">
            <a:avLst/>
          </a:prstGeom>
          <a:ln w="0">
            <a:noFill/>
          </a:ln>
        </p:spPr>
      </p:sp>
      <p:sp>
        <p:nvSpPr>
          <p:cNvPr id="51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19" name="PlaceHolder 3"/>
          <p:cNvSpPr>
            <a:spLocks noGrp="1"/>
          </p:cNvSpPr>
          <p:nvPr>
            <p:ph type="sldNum" idx="12"/>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423F3-3C91-0350-98C2-6236C4C1CCB1}"/>
            </a:ext>
          </a:extLst>
        </p:cNvPr>
        <p:cNvGrpSpPr/>
        <p:nvPr/>
      </p:nvGrpSpPr>
      <p:grpSpPr>
        <a:xfrm>
          <a:off x="0" y="0"/>
          <a:ext cx="0" cy="0"/>
          <a:chOff x="0" y="0"/>
          <a:chExt cx="0" cy="0"/>
        </a:xfrm>
      </p:grpSpPr>
      <p:sp>
        <p:nvSpPr>
          <p:cNvPr id="517" name="PlaceHolder 1">
            <a:extLst>
              <a:ext uri="{FF2B5EF4-FFF2-40B4-BE49-F238E27FC236}">
                <a16:creationId xmlns:a16="http://schemas.microsoft.com/office/drawing/2014/main" id="{EF9988C4-F84A-2E60-6D98-FCB92D9FB714}"/>
              </a:ext>
            </a:extLst>
          </p:cNvPr>
          <p:cNvSpPr>
            <a:spLocks noGrp="1" noRot="1" noChangeAspect="1"/>
          </p:cNvSpPr>
          <p:nvPr>
            <p:ph type="sldImg"/>
          </p:nvPr>
        </p:nvSpPr>
        <p:spPr>
          <a:xfrm>
            <a:off x="0" y="0"/>
            <a:ext cx="0" cy="0"/>
          </a:xfrm>
          <a:prstGeom prst="rect">
            <a:avLst/>
          </a:prstGeom>
          <a:ln w="0">
            <a:noFill/>
          </a:ln>
        </p:spPr>
      </p:sp>
      <p:sp>
        <p:nvSpPr>
          <p:cNvPr id="518" name="PlaceHolder 2">
            <a:extLst>
              <a:ext uri="{FF2B5EF4-FFF2-40B4-BE49-F238E27FC236}">
                <a16:creationId xmlns:a16="http://schemas.microsoft.com/office/drawing/2014/main" id="{AB46FFD0-EBE8-D1B6-EEE5-BEB658190EC7}"/>
              </a:ext>
            </a:extLst>
          </p:cNvPr>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19" name="PlaceHolder 3">
            <a:extLst>
              <a:ext uri="{FF2B5EF4-FFF2-40B4-BE49-F238E27FC236}">
                <a16:creationId xmlns:a16="http://schemas.microsoft.com/office/drawing/2014/main" id="{14C06C1C-F709-030B-C82D-C6288887CD3A}"/>
              </a:ext>
            </a:extLst>
          </p:cNvPr>
          <p:cNvSpPr>
            <a:spLocks noGrp="1"/>
          </p:cNvSpPr>
          <p:nvPr>
            <p:ph type="sldNum" idx="12"/>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extLst>
      <p:ext uri="{BB962C8B-B14F-4D97-AF65-F5344CB8AC3E}">
        <p14:creationId xmlns:p14="http://schemas.microsoft.com/office/powerpoint/2010/main" val="30101053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0" name="PlaceHolder 1"/>
          <p:cNvSpPr>
            <a:spLocks noGrp="1" noRot="1" noChangeAspect="1"/>
          </p:cNvSpPr>
          <p:nvPr>
            <p:ph type="sldImg"/>
          </p:nvPr>
        </p:nvSpPr>
        <p:spPr>
          <a:xfrm>
            <a:off x="688975" y="1143000"/>
            <a:ext cx="5480050" cy="3086100"/>
          </a:xfrm>
          <a:prstGeom prst="rect">
            <a:avLst/>
          </a:prstGeom>
          <a:ln w="0">
            <a:noFill/>
          </a:ln>
        </p:spPr>
      </p:sp>
      <p:sp>
        <p:nvSpPr>
          <p:cNvPr id="52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indent="0">
              <a:buNone/>
            </a:pPr>
            <a:endParaRPr lang="en-IN" sz="1800" b="0" u="none" strike="noStrike">
              <a:solidFill>
                <a:srgbClr val="000000"/>
              </a:solidFill>
              <a:effectLst/>
              <a:uFillTx/>
              <a:latin typeface="Arial"/>
            </a:endParaRPr>
          </a:p>
        </p:txBody>
      </p:sp>
      <p:sp>
        <p:nvSpPr>
          <p:cNvPr id="522" name="PlaceHolder 3"/>
          <p:cNvSpPr>
            <a:spLocks noGrp="1"/>
          </p:cNvSpPr>
          <p:nvPr>
            <p:ph type="sldNum" idx="1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2A1797C-6DBE-4979-851B-0C293D6034DA}" type="slidenum">
              <a:rPr lang="en-US" sz="1200" b="0" u="none" strike="noStrike">
                <a:solidFill>
                  <a:schemeClr val="dk1"/>
                </a:solidFill>
                <a:effectLst/>
                <a:uFillTx/>
                <a:latin typeface="+mn-lt"/>
                <a:ea typeface="+mn-ea"/>
              </a:rPr>
              <a:t>19</a:t>
            </a:fld>
            <a:endParaRPr lang="en-IN"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3" name="PlaceHolder 1"/>
          <p:cNvSpPr>
            <a:spLocks noGrp="1" noRot="1" noChangeAspect="1"/>
          </p:cNvSpPr>
          <p:nvPr>
            <p:ph type="sldImg"/>
          </p:nvPr>
        </p:nvSpPr>
        <p:spPr>
          <a:xfrm>
            <a:off x="0" y="0"/>
            <a:ext cx="0" cy="0"/>
          </a:xfrm>
          <a:prstGeom prst="rect">
            <a:avLst/>
          </a:prstGeom>
          <a:ln w="0">
            <a:noFill/>
          </a:ln>
        </p:spPr>
      </p:sp>
      <p:sp>
        <p:nvSpPr>
          <p:cNvPr id="52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25" name="PlaceHolder 3"/>
          <p:cNvSpPr>
            <a:spLocks noGrp="1"/>
          </p:cNvSpPr>
          <p:nvPr>
            <p:ph type="sldNum" idx="14"/>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6" name="PlaceHolder 1"/>
          <p:cNvSpPr>
            <a:spLocks noGrp="1" noRot="1" noChangeAspect="1"/>
          </p:cNvSpPr>
          <p:nvPr>
            <p:ph type="sldImg"/>
          </p:nvPr>
        </p:nvSpPr>
        <p:spPr>
          <a:xfrm>
            <a:off x="0" y="0"/>
            <a:ext cx="0" cy="0"/>
          </a:xfrm>
          <a:prstGeom prst="rect">
            <a:avLst/>
          </a:prstGeom>
          <a:ln w="0">
            <a:noFill/>
          </a:ln>
        </p:spPr>
      </p:sp>
      <p:sp>
        <p:nvSpPr>
          <p:cNvPr id="52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28" name="PlaceHolder 3"/>
          <p:cNvSpPr>
            <a:spLocks noGrp="1"/>
          </p:cNvSpPr>
          <p:nvPr>
            <p:ph type="sldNum" idx="15"/>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9" name="PlaceHolder 1"/>
          <p:cNvSpPr>
            <a:spLocks noGrp="1" noRot="1" noChangeAspect="1"/>
          </p:cNvSpPr>
          <p:nvPr>
            <p:ph type="sldImg"/>
          </p:nvPr>
        </p:nvSpPr>
        <p:spPr>
          <a:xfrm>
            <a:off x="0" y="0"/>
            <a:ext cx="0" cy="0"/>
          </a:xfrm>
          <a:prstGeom prst="rect">
            <a:avLst/>
          </a:prstGeom>
          <a:ln w="0">
            <a:noFill/>
          </a:ln>
        </p:spPr>
      </p:sp>
      <p:sp>
        <p:nvSpPr>
          <p:cNvPr id="53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31" name="PlaceHolder 3"/>
          <p:cNvSpPr>
            <a:spLocks noGrp="1"/>
          </p:cNvSpPr>
          <p:nvPr>
            <p:ph type="sldNum" idx="16"/>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PlaceHolder 1"/>
          <p:cNvSpPr>
            <a:spLocks noGrp="1" noRot="1" noChangeAspect="1"/>
          </p:cNvSpPr>
          <p:nvPr>
            <p:ph type="sldImg"/>
          </p:nvPr>
        </p:nvSpPr>
        <p:spPr>
          <a:xfrm>
            <a:off x="0" y="0"/>
            <a:ext cx="0" cy="0"/>
          </a:xfrm>
          <a:prstGeom prst="rect">
            <a:avLst/>
          </a:prstGeom>
          <a:ln w="0">
            <a:noFill/>
          </a:ln>
        </p:spPr>
      </p:sp>
      <p:sp>
        <p:nvSpPr>
          <p:cNvPr id="53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34" name="PlaceHolder 3"/>
          <p:cNvSpPr>
            <a:spLocks noGrp="1"/>
          </p:cNvSpPr>
          <p:nvPr>
            <p:ph type="sldNum" idx="17"/>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5" name="PlaceHolder 1"/>
          <p:cNvSpPr>
            <a:spLocks noGrp="1" noRot="1" noChangeAspect="1"/>
          </p:cNvSpPr>
          <p:nvPr>
            <p:ph type="sldImg"/>
          </p:nvPr>
        </p:nvSpPr>
        <p:spPr>
          <a:xfrm>
            <a:off x="0" y="0"/>
            <a:ext cx="0" cy="0"/>
          </a:xfrm>
          <a:prstGeom prst="rect">
            <a:avLst/>
          </a:prstGeom>
          <a:ln w="0">
            <a:noFill/>
          </a:ln>
        </p:spPr>
      </p:sp>
      <p:sp>
        <p:nvSpPr>
          <p:cNvPr id="53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37" name="PlaceHolder 3"/>
          <p:cNvSpPr>
            <a:spLocks noGrp="1"/>
          </p:cNvSpPr>
          <p:nvPr>
            <p:ph type="sldNum" idx="18"/>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8" name="PlaceHolder 1"/>
          <p:cNvSpPr>
            <a:spLocks noGrp="1" noRot="1" noChangeAspect="1"/>
          </p:cNvSpPr>
          <p:nvPr>
            <p:ph type="sldImg"/>
          </p:nvPr>
        </p:nvSpPr>
        <p:spPr>
          <a:xfrm>
            <a:off x="0" y="0"/>
            <a:ext cx="0" cy="0"/>
          </a:xfrm>
          <a:prstGeom prst="rect">
            <a:avLst/>
          </a:prstGeom>
          <a:ln w="0">
            <a:noFill/>
          </a:ln>
        </p:spPr>
      </p:sp>
      <p:sp>
        <p:nvSpPr>
          <p:cNvPr id="53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40" name="PlaceHolder 3"/>
          <p:cNvSpPr>
            <a:spLocks noGrp="1"/>
          </p:cNvSpPr>
          <p:nvPr>
            <p:ph type="sldNum" idx="19"/>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1" name="PlaceHolder 1"/>
          <p:cNvSpPr>
            <a:spLocks noGrp="1" noRot="1" noChangeAspect="1"/>
          </p:cNvSpPr>
          <p:nvPr>
            <p:ph type="sldImg"/>
          </p:nvPr>
        </p:nvSpPr>
        <p:spPr>
          <a:xfrm>
            <a:off x="0" y="0"/>
            <a:ext cx="0" cy="0"/>
          </a:xfrm>
          <a:prstGeom prst="rect">
            <a:avLst/>
          </a:prstGeom>
          <a:ln w="0">
            <a:noFill/>
          </a:ln>
        </p:spPr>
      </p:sp>
      <p:sp>
        <p:nvSpPr>
          <p:cNvPr id="54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43" name="PlaceHolder 3"/>
          <p:cNvSpPr>
            <a:spLocks noGrp="1"/>
          </p:cNvSpPr>
          <p:nvPr>
            <p:ph type="sldNum" idx="20"/>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4" name="PlaceHolder 1"/>
          <p:cNvSpPr>
            <a:spLocks noGrp="1" noRot="1" noChangeAspect="1"/>
          </p:cNvSpPr>
          <p:nvPr>
            <p:ph type="sldImg"/>
          </p:nvPr>
        </p:nvSpPr>
        <p:spPr>
          <a:xfrm>
            <a:off x="0" y="0"/>
            <a:ext cx="0" cy="0"/>
          </a:xfrm>
          <a:prstGeom prst="rect">
            <a:avLst/>
          </a:prstGeom>
          <a:ln w="0">
            <a:noFill/>
          </a:ln>
        </p:spPr>
      </p:sp>
      <p:sp>
        <p:nvSpPr>
          <p:cNvPr id="54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46" name="PlaceHolder 3"/>
          <p:cNvSpPr>
            <a:spLocks noGrp="1"/>
          </p:cNvSpPr>
          <p:nvPr>
            <p:ph type="sldNum" idx="21"/>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 name="PlaceHolder 1"/>
          <p:cNvSpPr>
            <a:spLocks noGrp="1" noRot="1" noChangeAspect="1"/>
          </p:cNvSpPr>
          <p:nvPr>
            <p:ph type="sldImg"/>
          </p:nvPr>
        </p:nvSpPr>
        <p:spPr>
          <a:xfrm>
            <a:off x="0" y="0"/>
            <a:ext cx="0" cy="0"/>
          </a:xfrm>
          <a:prstGeom prst="rect">
            <a:avLst/>
          </a:prstGeom>
          <a:ln w="0">
            <a:noFill/>
          </a:ln>
        </p:spPr>
      </p:sp>
      <p:sp>
        <p:nvSpPr>
          <p:cNvPr id="54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49" name="PlaceHolder 3"/>
          <p:cNvSpPr>
            <a:spLocks noGrp="1"/>
          </p:cNvSpPr>
          <p:nvPr>
            <p:ph type="sldNum" idx="22"/>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0" name="PlaceHolder 1"/>
          <p:cNvSpPr>
            <a:spLocks noGrp="1" noRot="1" noChangeAspect="1"/>
          </p:cNvSpPr>
          <p:nvPr>
            <p:ph type="sldImg"/>
          </p:nvPr>
        </p:nvSpPr>
        <p:spPr>
          <a:xfrm>
            <a:off x="0" y="0"/>
            <a:ext cx="0" cy="0"/>
          </a:xfrm>
          <a:prstGeom prst="rect">
            <a:avLst/>
          </a:prstGeom>
          <a:ln w="0">
            <a:noFill/>
          </a:ln>
        </p:spPr>
      </p:sp>
      <p:sp>
        <p:nvSpPr>
          <p:cNvPr id="55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52" name="PlaceHolder 3"/>
          <p:cNvSpPr>
            <a:spLocks noGrp="1"/>
          </p:cNvSpPr>
          <p:nvPr>
            <p:ph type="sldNum" idx="23"/>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3" name="PlaceHolder 1"/>
          <p:cNvSpPr>
            <a:spLocks noGrp="1" noRot="1" noChangeAspect="1"/>
          </p:cNvSpPr>
          <p:nvPr>
            <p:ph type="sldImg"/>
          </p:nvPr>
        </p:nvSpPr>
        <p:spPr>
          <a:xfrm>
            <a:off x="0" y="0"/>
            <a:ext cx="0" cy="0"/>
          </a:xfrm>
          <a:prstGeom prst="rect">
            <a:avLst/>
          </a:prstGeom>
          <a:ln w="0">
            <a:noFill/>
          </a:ln>
        </p:spPr>
      </p:sp>
      <p:sp>
        <p:nvSpPr>
          <p:cNvPr id="55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55" name="PlaceHolder 3"/>
          <p:cNvSpPr>
            <a:spLocks noGrp="1"/>
          </p:cNvSpPr>
          <p:nvPr>
            <p:ph type="sldNum" idx="24"/>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6" name="PlaceHolder 1"/>
          <p:cNvSpPr>
            <a:spLocks noGrp="1" noRot="1" noChangeAspect="1"/>
          </p:cNvSpPr>
          <p:nvPr>
            <p:ph type="sldImg"/>
          </p:nvPr>
        </p:nvSpPr>
        <p:spPr>
          <a:xfrm>
            <a:off x="0" y="0"/>
            <a:ext cx="0" cy="0"/>
          </a:xfrm>
          <a:prstGeom prst="rect">
            <a:avLst/>
          </a:prstGeom>
          <a:ln w="0">
            <a:noFill/>
          </a:ln>
        </p:spPr>
      </p:sp>
      <p:sp>
        <p:nvSpPr>
          <p:cNvPr id="55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58" name="PlaceHolder 3"/>
          <p:cNvSpPr>
            <a:spLocks noGrp="1"/>
          </p:cNvSpPr>
          <p:nvPr>
            <p:ph type="sldNum" idx="25"/>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9" name="PlaceHolder 1"/>
          <p:cNvSpPr>
            <a:spLocks noGrp="1" noRot="1" noChangeAspect="1"/>
          </p:cNvSpPr>
          <p:nvPr>
            <p:ph type="sldImg"/>
          </p:nvPr>
        </p:nvSpPr>
        <p:spPr>
          <a:xfrm>
            <a:off x="0" y="0"/>
            <a:ext cx="0" cy="0"/>
          </a:xfrm>
          <a:prstGeom prst="rect">
            <a:avLst/>
          </a:prstGeom>
          <a:ln w="0">
            <a:noFill/>
          </a:ln>
        </p:spPr>
      </p:sp>
      <p:sp>
        <p:nvSpPr>
          <p:cNvPr id="56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61" name="PlaceHolder 3"/>
          <p:cNvSpPr>
            <a:spLocks noGrp="1"/>
          </p:cNvSpPr>
          <p:nvPr>
            <p:ph type="sldNum" idx="26"/>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2" name="PlaceHolder 1"/>
          <p:cNvSpPr>
            <a:spLocks noGrp="1" noRot="1" noChangeAspect="1"/>
          </p:cNvSpPr>
          <p:nvPr>
            <p:ph type="sldImg"/>
          </p:nvPr>
        </p:nvSpPr>
        <p:spPr>
          <a:xfrm>
            <a:off x="0" y="0"/>
            <a:ext cx="0" cy="0"/>
          </a:xfrm>
          <a:prstGeom prst="rect">
            <a:avLst/>
          </a:prstGeom>
          <a:ln w="0">
            <a:noFill/>
          </a:ln>
        </p:spPr>
      </p:sp>
      <p:sp>
        <p:nvSpPr>
          <p:cNvPr id="56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64" name="PlaceHolder 3"/>
          <p:cNvSpPr>
            <a:spLocks noGrp="1"/>
          </p:cNvSpPr>
          <p:nvPr>
            <p:ph type="sldNum" idx="27"/>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5" name="PlaceHolder 1"/>
          <p:cNvSpPr>
            <a:spLocks noGrp="1" noRot="1" noChangeAspect="1"/>
          </p:cNvSpPr>
          <p:nvPr>
            <p:ph type="sldImg"/>
          </p:nvPr>
        </p:nvSpPr>
        <p:spPr>
          <a:xfrm>
            <a:off x="0" y="0"/>
            <a:ext cx="0" cy="0"/>
          </a:xfrm>
          <a:prstGeom prst="rect">
            <a:avLst/>
          </a:prstGeom>
          <a:ln w="0">
            <a:noFill/>
          </a:ln>
        </p:spPr>
      </p:sp>
      <p:sp>
        <p:nvSpPr>
          <p:cNvPr id="56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67" name="PlaceHolder 3"/>
          <p:cNvSpPr>
            <a:spLocks noGrp="1"/>
          </p:cNvSpPr>
          <p:nvPr>
            <p:ph type="sldNum" idx="28"/>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8" name="PlaceHolder 1"/>
          <p:cNvSpPr>
            <a:spLocks noGrp="1" noRot="1" noChangeAspect="1"/>
          </p:cNvSpPr>
          <p:nvPr>
            <p:ph type="sldImg"/>
          </p:nvPr>
        </p:nvSpPr>
        <p:spPr>
          <a:xfrm>
            <a:off x="0" y="0"/>
            <a:ext cx="0" cy="0"/>
          </a:xfrm>
          <a:prstGeom prst="rect">
            <a:avLst/>
          </a:prstGeom>
          <a:ln w="0">
            <a:noFill/>
          </a:ln>
        </p:spPr>
      </p:sp>
      <p:sp>
        <p:nvSpPr>
          <p:cNvPr id="56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70" name="PlaceHolder 3"/>
          <p:cNvSpPr>
            <a:spLocks noGrp="1"/>
          </p:cNvSpPr>
          <p:nvPr>
            <p:ph type="sldNum" idx="29"/>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1" name="PlaceHolder 1"/>
          <p:cNvSpPr>
            <a:spLocks noGrp="1" noRot="1" noChangeAspect="1"/>
          </p:cNvSpPr>
          <p:nvPr>
            <p:ph type="sldImg"/>
          </p:nvPr>
        </p:nvSpPr>
        <p:spPr>
          <a:xfrm>
            <a:off x="0" y="0"/>
            <a:ext cx="0" cy="0"/>
          </a:xfrm>
          <a:prstGeom prst="rect">
            <a:avLst/>
          </a:prstGeom>
          <a:ln w="0">
            <a:noFill/>
          </a:ln>
        </p:spPr>
      </p:sp>
      <p:sp>
        <p:nvSpPr>
          <p:cNvPr id="57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73" name="PlaceHolder 3"/>
          <p:cNvSpPr>
            <a:spLocks noGrp="1"/>
          </p:cNvSpPr>
          <p:nvPr>
            <p:ph type="sldNum" idx="30"/>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4" name="PlaceHolder 1"/>
          <p:cNvSpPr>
            <a:spLocks noGrp="1" noRot="1" noChangeAspect="1"/>
          </p:cNvSpPr>
          <p:nvPr>
            <p:ph type="sldImg"/>
          </p:nvPr>
        </p:nvSpPr>
        <p:spPr>
          <a:xfrm>
            <a:off x="0" y="0"/>
            <a:ext cx="0" cy="0"/>
          </a:xfrm>
          <a:prstGeom prst="rect">
            <a:avLst/>
          </a:prstGeom>
          <a:ln w="0">
            <a:noFill/>
          </a:ln>
        </p:spPr>
      </p:sp>
      <p:sp>
        <p:nvSpPr>
          <p:cNvPr id="57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76" name="PlaceHolder 3"/>
          <p:cNvSpPr>
            <a:spLocks noGrp="1"/>
          </p:cNvSpPr>
          <p:nvPr>
            <p:ph type="sldNum" idx="31"/>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7" name="PlaceHolder 1"/>
          <p:cNvSpPr>
            <a:spLocks noGrp="1" noRot="1" noChangeAspect="1"/>
          </p:cNvSpPr>
          <p:nvPr>
            <p:ph type="sldImg"/>
          </p:nvPr>
        </p:nvSpPr>
        <p:spPr>
          <a:xfrm>
            <a:off x="0" y="0"/>
            <a:ext cx="0" cy="0"/>
          </a:xfrm>
          <a:prstGeom prst="rect">
            <a:avLst/>
          </a:prstGeom>
          <a:ln w="0">
            <a:noFill/>
          </a:ln>
        </p:spPr>
      </p:sp>
      <p:sp>
        <p:nvSpPr>
          <p:cNvPr id="57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79" name="PlaceHolder 3"/>
          <p:cNvSpPr>
            <a:spLocks noGrp="1"/>
          </p:cNvSpPr>
          <p:nvPr>
            <p:ph type="sldNum" idx="32"/>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0" name="PlaceHolder 1"/>
          <p:cNvSpPr>
            <a:spLocks noGrp="1" noRot="1" noChangeAspect="1"/>
          </p:cNvSpPr>
          <p:nvPr>
            <p:ph type="sldImg"/>
          </p:nvPr>
        </p:nvSpPr>
        <p:spPr>
          <a:xfrm>
            <a:off x="0" y="0"/>
            <a:ext cx="0" cy="0"/>
          </a:xfrm>
          <a:prstGeom prst="rect">
            <a:avLst/>
          </a:prstGeom>
          <a:ln w="0">
            <a:noFill/>
          </a:ln>
        </p:spPr>
      </p:sp>
      <p:sp>
        <p:nvSpPr>
          <p:cNvPr id="58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82" name="PlaceHolder 3"/>
          <p:cNvSpPr>
            <a:spLocks noGrp="1"/>
          </p:cNvSpPr>
          <p:nvPr>
            <p:ph type="sldNum" idx="33"/>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 name="PlaceHolder 1"/>
          <p:cNvSpPr>
            <a:spLocks noGrp="1" noRot="1" noChangeAspect="1"/>
          </p:cNvSpPr>
          <p:nvPr>
            <p:ph type="sldImg"/>
          </p:nvPr>
        </p:nvSpPr>
        <p:spPr>
          <a:xfrm>
            <a:off x="0" y="0"/>
            <a:ext cx="0" cy="0"/>
          </a:xfrm>
          <a:prstGeom prst="rect">
            <a:avLst/>
          </a:prstGeom>
          <a:ln w="0">
            <a:noFill/>
          </a:ln>
        </p:spPr>
      </p:sp>
      <p:sp>
        <p:nvSpPr>
          <p:cNvPr id="58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85" name="PlaceHolder 3"/>
          <p:cNvSpPr>
            <a:spLocks noGrp="1"/>
          </p:cNvSpPr>
          <p:nvPr>
            <p:ph type="sldNum" idx="34"/>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6" name="PlaceHolder 1"/>
          <p:cNvSpPr>
            <a:spLocks noGrp="1" noRot="1" noChangeAspect="1"/>
          </p:cNvSpPr>
          <p:nvPr>
            <p:ph type="sldImg"/>
          </p:nvPr>
        </p:nvSpPr>
        <p:spPr>
          <a:xfrm>
            <a:off x="0" y="0"/>
            <a:ext cx="0" cy="0"/>
          </a:xfrm>
          <a:prstGeom prst="rect">
            <a:avLst/>
          </a:prstGeom>
          <a:ln w="0">
            <a:noFill/>
          </a:ln>
        </p:spPr>
      </p:sp>
      <p:sp>
        <p:nvSpPr>
          <p:cNvPr id="58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88" name="PlaceHolder 3"/>
          <p:cNvSpPr>
            <a:spLocks noGrp="1"/>
          </p:cNvSpPr>
          <p:nvPr>
            <p:ph type="sldNum" idx="35"/>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9" name="PlaceHolder 1"/>
          <p:cNvSpPr>
            <a:spLocks noGrp="1" noRot="1" noChangeAspect="1"/>
          </p:cNvSpPr>
          <p:nvPr>
            <p:ph type="sldImg"/>
          </p:nvPr>
        </p:nvSpPr>
        <p:spPr>
          <a:xfrm>
            <a:off x="0" y="0"/>
            <a:ext cx="0" cy="0"/>
          </a:xfrm>
          <a:prstGeom prst="rect">
            <a:avLst/>
          </a:prstGeom>
          <a:ln w="0">
            <a:noFill/>
          </a:ln>
        </p:spPr>
      </p:sp>
      <p:sp>
        <p:nvSpPr>
          <p:cNvPr id="59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91" name="PlaceHolder 3"/>
          <p:cNvSpPr>
            <a:spLocks noGrp="1"/>
          </p:cNvSpPr>
          <p:nvPr>
            <p:ph type="sldNum" idx="36"/>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2" name="PlaceHolder 1"/>
          <p:cNvSpPr>
            <a:spLocks noGrp="1" noRot="1" noChangeAspect="1"/>
          </p:cNvSpPr>
          <p:nvPr>
            <p:ph type="sldImg"/>
          </p:nvPr>
        </p:nvSpPr>
        <p:spPr>
          <a:xfrm>
            <a:off x="0" y="0"/>
            <a:ext cx="0" cy="0"/>
          </a:xfrm>
          <a:prstGeom prst="rect">
            <a:avLst/>
          </a:prstGeom>
          <a:ln w="0">
            <a:noFill/>
          </a:ln>
        </p:spPr>
      </p:sp>
      <p:sp>
        <p:nvSpPr>
          <p:cNvPr id="59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94" name="PlaceHolder 3"/>
          <p:cNvSpPr>
            <a:spLocks noGrp="1"/>
          </p:cNvSpPr>
          <p:nvPr>
            <p:ph type="sldNum" idx="37"/>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5" name="PlaceHolder 1"/>
          <p:cNvSpPr>
            <a:spLocks noGrp="1" noRot="1" noChangeAspect="1"/>
          </p:cNvSpPr>
          <p:nvPr>
            <p:ph type="sldImg"/>
          </p:nvPr>
        </p:nvSpPr>
        <p:spPr>
          <a:xfrm>
            <a:off x="0" y="0"/>
            <a:ext cx="0" cy="0"/>
          </a:xfrm>
          <a:prstGeom prst="rect">
            <a:avLst/>
          </a:prstGeom>
          <a:ln w="0">
            <a:noFill/>
          </a:ln>
        </p:spPr>
      </p:sp>
      <p:sp>
        <p:nvSpPr>
          <p:cNvPr id="59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597" name="PlaceHolder 3"/>
          <p:cNvSpPr>
            <a:spLocks noGrp="1"/>
          </p:cNvSpPr>
          <p:nvPr>
            <p:ph type="sldNum" idx="38"/>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8" name="PlaceHolder 1"/>
          <p:cNvSpPr>
            <a:spLocks noGrp="1" noRot="1" noChangeAspect="1"/>
          </p:cNvSpPr>
          <p:nvPr>
            <p:ph type="sldImg"/>
          </p:nvPr>
        </p:nvSpPr>
        <p:spPr>
          <a:xfrm>
            <a:off x="0" y="0"/>
            <a:ext cx="0" cy="0"/>
          </a:xfrm>
          <a:prstGeom prst="rect">
            <a:avLst/>
          </a:prstGeom>
          <a:ln w="0">
            <a:noFill/>
          </a:ln>
        </p:spPr>
      </p:sp>
      <p:sp>
        <p:nvSpPr>
          <p:cNvPr id="59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600" name="PlaceHolder 3"/>
          <p:cNvSpPr>
            <a:spLocks noGrp="1"/>
          </p:cNvSpPr>
          <p:nvPr>
            <p:ph type="sldNum" idx="39"/>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1" name="PlaceHolder 1"/>
          <p:cNvSpPr>
            <a:spLocks noGrp="1" noRot="1" noChangeAspect="1"/>
          </p:cNvSpPr>
          <p:nvPr>
            <p:ph type="sldImg"/>
          </p:nvPr>
        </p:nvSpPr>
        <p:spPr>
          <a:xfrm>
            <a:off x="0" y="0"/>
            <a:ext cx="0" cy="0"/>
          </a:xfrm>
          <a:prstGeom prst="rect">
            <a:avLst/>
          </a:prstGeom>
          <a:ln w="0">
            <a:noFill/>
          </a:ln>
        </p:spPr>
      </p:sp>
      <p:sp>
        <p:nvSpPr>
          <p:cNvPr id="60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603" name="PlaceHolder 3"/>
          <p:cNvSpPr>
            <a:spLocks noGrp="1"/>
          </p:cNvSpPr>
          <p:nvPr>
            <p:ph type="sldNum" idx="40"/>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 name="PlaceHolder 1"/>
          <p:cNvSpPr>
            <a:spLocks noGrp="1" noRot="1" noChangeAspect="1"/>
          </p:cNvSpPr>
          <p:nvPr>
            <p:ph type="sldImg"/>
          </p:nvPr>
        </p:nvSpPr>
        <p:spPr>
          <a:xfrm>
            <a:off x="0" y="0"/>
            <a:ext cx="0" cy="0"/>
          </a:xfrm>
          <a:prstGeom prst="rect">
            <a:avLst/>
          </a:prstGeom>
          <a:ln w="0">
            <a:noFill/>
          </a:ln>
        </p:spPr>
      </p:sp>
      <p:sp>
        <p:nvSpPr>
          <p:cNvPr id="60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606" name="PlaceHolder 3"/>
          <p:cNvSpPr>
            <a:spLocks noGrp="1"/>
          </p:cNvSpPr>
          <p:nvPr>
            <p:ph type="sldNum" idx="41"/>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7" name="PlaceHolder 1"/>
          <p:cNvSpPr>
            <a:spLocks noGrp="1" noRot="1" noChangeAspect="1"/>
          </p:cNvSpPr>
          <p:nvPr>
            <p:ph type="sldImg"/>
          </p:nvPr>
        </p:nvSpPr>
        <p:spPr>
          <a:xfrm>
            <a:off x="0" y="0"/>
            <a:ext cx="0" cy="0"/>
          </a:xfrm>
          <a:prstGeom prst="rect">
            <a:avLst/>
          </a:prstGeom>
          <a:ln w="0">
            <a:noFill/>
          </a:ln>
        </p:spPr>
      </p:sp>
      <p:sp>
        <p:nvSpPr>
          <p:cNvPr id="60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609" name="PlaceHolder 3"/>
          <p:cNvSpPr>
            <a:spLocks noGrp="1"/>
          </p:cNvSpPr>
          <p:nvPr>
            <p:ph type="sldNum" idx="42"/>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0" name="PlaceHolder 1"/>
          <p:cNvSpPr>
            <a:spLocks noGrp="1" noRot="1" noChangeAspect="1"/>
          </p:cNvSpPr>
          <p:nvPr>
            <p:ph type="sldImg"/>
          </p:nvPr>
        </p:nvSpPr>
        <p:spPr>
          <a:xfrm>
            <a:off x="0" y="0"/>
            <a:ext cx="0" cy="0"/>
          </a:xfrm>
          <a:prstGeom prst="rect">
            <a:avLst/>
          </a:prstGeom>
          <a:ln w="0">
            <a:noFill/>
          </a:ln>
        </p:spPr>
      </p:sp>
      <p:sp>
        <p:nvSpPr>
          <p:cNvPr id="61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612" name="PlaceHolder 3"/>
          <p:cNvSpPr>
            <a:spLocks noGrp="1"/>
          </p:cNvSpPr>
          <p:nvPr>
            <p:ph type="sldNum" idx="43"/>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3" name="PlaceHolder 1"/>
          <p:cNvSpPr>
            <a:spLocks noGrp="1" noRot="1" noChangeAspect="1"/>
          </p:cNvSpPr>
          <p:nvPr>
            <p:ph type="sldImg"/>
          </p:nvPr>
        </p:nvSpPr>
        <p:spPr>
          <a:xfrm>
            <a:off x="0" y="0"/>
            <a:ext cx="0" cy="0"/>
          </a:xfrm>
          <a:prstGeom prst="rect">
            <a:avLst/>
          </a:prstGeom>
          <a:ln w="0">
            <a:noFill/>
          </a:ln>
        </p:spPr>
      </p:sp>
      <p:sp>
        <p:nvSpPr>
          <p:cNvPr id="61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615" name="PlaceHolder 3"/>
          <p:cNvSpPr>
            <a:spLocks noGrp="1"/>
          </p:cNvSpPr>
          <p:nvPr>
            <p:ph type="sldNum" idx="44"/>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6" name="PlaceHolder 1"/>
          <p:cNvSpPr>
            <a:spLocks noGrp="1" noRot="1" noChangeAspect="1"/>
          </p:cNvSpPr>
          <p:nvPr>
            <p:ph type="sldImg"/>
          </p:nvPr>
        </p:nvSpPr>
        <p:spPr>
          <a:xfrm>
            <a:off x="0" y="0"/>
            <a:ext cx="0" cy="0"/>
          </a:xfrm>
          <a:prstGeom prst="rect">
            <a:avLst/>
          </a:prstGeom>
          <a:ln w="0">
            <a:noFill/>
          </a:ln>
        </p:spPr>
      </p:sp>
      <p:sp>
        <p:nvSpPr>
          <p:cNvPr id="61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618" name="PlaceHolder 3"/>
          <p:cNvSpPr>
            <a:spLocks noGrp="1"/>
          </p:cNvSpPr>
          <p:nvPr>
            <p:ph type="sldNum" idx="45"/>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9" name="PlaceHolder 1"/>
          <p:cNvSpPr>
            <a:spLocks noGrp="1" noRot="1" noChangeAspect="1"/>
          </p:cNvSpPr>
          <p:nvPr>
            <p:ph type="sldImg"/>
          </p:nvPr>
        </p:nvSpPr>
        <p:spPr>
          <a:xfrm>
            <a:off x="0" y="0"/>
            <a:ext cx="0" cy="0"/>
          </a:xfrm>
          <a:prstGeom prst="rect">
            <a:avLst/>
          </a:prstGeom>
          <a:ln w="0">
            <a:noFill/>
          </a:ln>
        </p:spPr>
      </p:sp>
      <p:sp>
        <p:nvSpPr>
          <p:cNvPr id="62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621" name="PlaceHolder 3"/>
          <p:cNvSpPr>
            <a:spLocks noGrp="1"/>
          </p:cNvSpPr>
          <p:nvPr>
            <p:ph type="sldNum" idx="46"/>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2" name="PlaceHolder 1"/>
          <p:cNvSpPr>
            <a:spLocks noGrp="1" noRot="1" noChangeAspect="1"/>
          </p:cNvSpPr>
          <p:nvPr>
            <p:ph type="sldImg"/>
          </p:nvPr>
        </p:nvSpPr>
        <p:spPr>
          <a:xfrm>
            <a:off x="0" y="0"/>
            <a:ext cx="0" cy="0"/>
          </a:xfrm>
          <a:prstGeom prst="rect">
            <a:avLst/>
          </a:prstGeom>
          <a:ln w="0">
            <a:noFill/>
          </a:ln>
        </p:spPr>
      </p:sp>
      <p:sp>
        <p:nvSpPr>
          <p:cNvPr id="62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624" name="PlaceHolder 3"/>
          <p:cNvSpPr>
            <a:spLocks noGrp="1"/>
          </p:cNvSpPr>
          <p:nvPr>
            <p:ph type="sldNum" idx="47"/>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5" name="PlaceHolder 1"/>
          <p:cNvSpPr>
            <a:spLocks noGrp="1" noRot="1" noChangeAspect="1"/>
          </p:cNvSpPr>
          <p:nvPr>
            <p:ph type="sldImg"/>
          </p:nvPr>
        </p:nvSpPr>
        <p:spPr>
          <a:xfrm>
            <a:off x="0" y="0"/>
            <a:ext cx="0" cy="0"/>
          </a:xfrm>
          <a:prstGeom prst="rect">
            <a:avLst/>
          </a:prstGeom>
          <a:ln w="0">
            <a:noFill/>
          </a:ln>
        </p:spPr>
      </p:sp>
      <p:sp>
        <p:nvSpPr>
          <p:cNvPr id="62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buNone/>
            </a:pPr>
            <a:endParaRPr lang="en-IN" sz="1800" b="0" u="none" strike="noStrike">
              <a:solidFill>
                <a:srgbClr val="000000"/>
              </a:solidFill>
              <a:effectLst/>
              <a:uFillTx/>
              <a:latin typeface="Arial"/>
            </a:endParaRPr>
          </a:p>
        </p:txBody>
      </p:sp>
      <p:sp>
        <p:nvSpPr>
          <p:cNvPr id="627" name="PlaceHolder 3"/>
          <p:cNvSpPr>
            <a:spLocks noGrp="1"/>
          </p:cNvSpPr>
          <p:nvPr>
            <p:ph type="sldNum" idx="48"/>
          </p:nvPr>
        </p:nvSpPr>
        <p:spPr>
          <a:xfrm>
            <a:off x="0" y="0"/>
            <a:ext cx="0" cy="0"/>
          </a:xfrm>
          <a:prstGeom prst="rect">
            <a:avLst/>
          </a:prstGeom>
          <a:noFill/>
          <a:ln w="0">
            <a:noFill/>
          </a:ln>
        </p:spPr>
        <p:txBody>
          <a:bodyPr lIns="90000" tIns="-45000" rIns="90000" bIns="-45000" anchor="t">
            <a:noAutofit/>
          </a:bodyPr>
          <a:lstStyle/>
          <a:p>
            <a:pPr indent="0">
              <a:buNone/>
            </a:pPr>
            <a:endParaRPr lang="en-IN" sz="1400" b="0" u="none" strike="noStrike">
              <a:solidFill>
                <a:srgbClr val="000000"/>
              </a:solidFill>
              <a:effectLst/>
              <a:uFillTx/>
              <a:latin typeface="Times New Roman"/>
              <a:ea typeface="+mn-ea"/>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9240" cy="85932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3" name="PlaceHolder 2"/>
          <p:cNvSpPr>
            <a:spLocks noGrp="1"/>
          </p:cNvSpPr>
          <p:nvPr>
            <p:ph type="body"/>
          </p:nvPr>
        </p:nvSpPr>
        <p:spPr>
          <a:xfrm>
            <a:off x="457200" y="1204560"/>
            <a:ext cx="8229240" cy="29854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p>
          <a:p>
            <a:pPr marL="864000" lvl="1" indent="-324000">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Calibri"/>
              </a:rPr>
              <a:t>Second Outline Level</a:t>
            </a:r>
          </a:p>
          <a:p>
            <a:pPr marL="1296000" lvl="2" indent="-288000">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Calibri"/>
              </a:rPr>
              <a:t>Third Outline Level</a:t>
            </a:r>
          </a:p>
          <a:p>
            <a:pPr marL="1728000" lvl="3" indent="-216000">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Calibri"/>
              </a:rPr>
              <a:t>Fourth Outline Level</a:t>
            </a:r>
          </a:p>
          <a:p>
            <a:pPr marL="2160000" lvl="4"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
        <p:nvSpPr>
          <p:cNvPr id="5" name="TextBox 4">
            <a:extLst>
              <a:ext uri="{FF2B5EF4-FFF2-40B4-BE49-F238E27FC236}">
                <a16:creationId xmlns:a16="http://schemas.microsoft.com/office/drawing/2014/main" id="{744442BD-EBB7-F331-BEFF-E2D14683FF4A}"/>
              </a:ext>
            </a:extLst>
          </p:cNvPr>
          <p:cNvSpPr txBox="1"/>
          <p:nvPr userDrawn="1">
            <p:extLst>
              <p:ext uri="{1162E1C5-73C7-4A58-AE30-91384D911F3F}">
                <p184:classification xmlns:p184="http://schemas.microsoft.com/office/powerpoint/2018/4/main" val="ftr"/>
              </p:ext>
            </p:extLst>
          </p:nvPr>
        </p:nvSpPr>
        <p:spPr>
          <a:xfrm>
            <a:off x="3992563" y="4962843"/>
            <a:ext cx="1187450" cy="121920"/>
          </a:xfrm>
          <a:prstGeom prst="rect">
            <a:avLst/>
          </a:prstGeom>
        </p:spPr>
        <p:txBody>
          <a:bodyPr horzOverflow="overflow" lIns="0" tIns="0" rIns="0" bIns="0">
            <a:spAutoFit/>
          </a:bodyPr>
          <a:lstStyle/>
          <a:p>
            <a:pPr algn="l"/>
            <a:r>
              <a:rPr lang="en-US" sz="800">
                <a:solidFill>
                  <a:srgbClr val="2E404D">
                    <a:alpha val="50000"/>
                  </a:srgbClr>
                </a:solidFill>
                <a:latin typeface="Arial" panose="020B0604020202020204" pitchFamily="34" charset="0"/>
                <a:cs typeface="Arial" panose="020B0604020202020204" pitchFamily="34" charset="0"/>
              </a:rPr>
              <a:t>Sensitivity Label: General</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file:///C:\Users\Gamer\Downloads\Training\Week1\Day%203\&#12304;673597612005892&#8224;L37-L43&#12305;"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hyperlink" Target="file:///C:\Users\Gamer\Downloads\Training\Week1\Day%203\&#12304;673597612005892&#8224;L37-L43&#12305;"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file:///C:\Users\Gamer\Downloads\Training\Week1\Day%203\&#12304;673597612005892&#8224;L37-L43&#12305;"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hyperlink" Target="file:///C:\Users\Gamer\Downloads\Training\Week1\Day%203\&#12304;109569185708490&#8224;L122-L131&#12305;"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hyperlink" Target="file:///C:\Users\Gamer\Downloads\Training\Week1\Day%203\&#12304;830786155811747&#8224;L34-L61&#12305;" TargetMode="Externa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hyperlink" Target="file:///C:\Users\Gamer\Downloads\Training\Week1\Day%203\&#12304;109569185708490&#8224;L163-L181&#12305;"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hyperlink" Target="file:///C:\Users\Gamer\Downloads\Training\Week1\Day%203\&#12304;109569185708490&#8224;L189-L208&#12305;" TargetMode="Externa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hyperlink" Target="file:///C:\Users\Gamer\Downloads\Old%20T\Day%202\&#12304;525385649920661&#8224;L157-L184&#12305;" TargetMode="External"/><Relationship Id="rId4" Type="http://schemas.openxmlformats.org/officeDocument/2006/relationships/hyperlink" Target="file:///C:\Users\Gamer\Downloads\Old%20T\Day%202\&#12304;154439817660870&#8224;L147-L158&#12305;"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file:///C:\Users\Gamer\Downloads\Training\Week1\Day%203\&#12304;994208945390217&#8224;L900-L929&#12305;"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hyperlink" Target="file:///C:\Users\Gamer\Downloads\Training\Week1\Day%203\&#12304;109569185708490&#8224;L226-L236&#12305;" TargetMode="External"/><Relationship Id="rId4" Type="http://schemas.openxmlformats.org/officeDocument/2006/relationships/hyperlink" Target="file:///C:\Users\Gamer\Downloads\Training\Week1\Day%203\&#12304;994208945390217&#8224;L836-L857&#12305;"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hyperlink" Target="file:///C:\Users\Gamer\Downloads\Training\Week1\Day%203\&#12304;109569185708490&#8224;L328-L339&#12305;"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file:///C:\Users\Gamer\Downloads\Training\Week1\Day%203\&#12304;109569185708490&#8224;L328-L339&#12305;"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hyperlink" Target="file:///C:\Users\Gamer\Downloads\Old%20T\Day%202\&#12304;154439817660870&#8224;L136-L160&#12305;"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hyperlink" Target="file:///C:\Users\Gamer\Downloads\Old%20T\Day%202\&#12304;154439817660870&#8224;L174-L194&#12305;"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file:///C:\Users\Gamer\Downloads\Training\Week1\Day%203\&#12304;109569185708490&#8224;L328-L339&#12305;"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hyperlink" Target="file:///C:\Users\Gamer\Downloads\Training\Week1\Day%203\&#12304;787459060714621&#8224;L216-L226&#12305;"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hyperlink" Target="file:///C:\Users\Gamer\Downloads\Training\Week1\Day%203\&#12304;109569185708490&#8224;L163-L181&#12305;"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hyperlink" Target="file:///C:\Users\Gamer\Downloads\Training\Week1\Day%203\&#12304;109569185708490&#8224;L226-L236&#12305;"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hyperlink" Target="file:///C:\Users\Gamer\Downloads\Training\Week1\Day%203\&#12304;109569185708490&#8224;L122-L131&#12305;"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hyperlink" Target="file:///C:\Users\Gamer\Downloads\Training\Week1\Day%203\&#12304;109569185708490&#8224;L328-L339&#12305;"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hyperlink" Target="file:///C:\Users\Gamer\Downloads\Training\Week1\Day%203\&#12304;109569185708490&#8224;L122-L131&#12305;"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hyperlink" Target="file:///C:\Users\Gamer\Downloads\Training\Week1\Day%203\&#12304;109569185708490&#8224;L122-L131&#12305;"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hyperlink" Target="file:///C:\Users\Gamer\Downloads\Training\Week1\Day%203\&#12304;109569185708490&#8224;L122-L131&#12305;"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hyperlink" Target="file:///C:\Users\Gamer\Downloads\Training\Week1\Day%203\&#12304;787459060714621&#8224;L114-L118&#12305;"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hyperlink" Target="file:///C:\Users\Gamer\Downloads\Training\Week1\Day%203\&#12304;830786155811747&#8224;L34-L61&#12305;" TargetMode="External"/></Relationships>
</file>

<file path=ppt/slides/_rels/slide3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hyperlink" Target="file:///C:\Users\Gamer\Downloads\Training\Week1\Day%203\&#12304;787459060714621&#8224;L130-L145&#12305;"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file:///C:\Users\Gamer\Downloads\Training\Week1\Day%203\&#12304;787459060714621&#8224;L147-L190&#12305;"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hyperlink" Target="file:///C:\Users\Gamer\Downloads\Training\Week1\Day%203\&#12304;787459060714621&#8224;L216-L226&#12305;"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hyperlink" Target="file:///C:\Users\Gamer\Downloads\Training\Week1\Day%203\&#12304;787459060714621&#8224;L251-L269&#12305;" TargetMode="External"/><Relationship Id="rId4" Type="http://schemas.openxmlformats.org/officeDocument/2006/relationships/hyperlink" Target="file:///C:\Users\Gamer\Downloads\Training\Week1\Day%203\&#12304;787459060714621&#8224;L239-L245&#12305;"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file:///C:\Users\Gamer\Downloads\Training\Week1\Day%203\&#12304;787459060714621&#8224;L205-L214&#12305;"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hyperlink" Target="file:///C:\Users\Gamer\Downloads\Training\Week1\Day%203\&#12304;787459060714621&#8224;L251-L269&#12305;"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file:///C:\Users\Gamer\Downloads\Training\Week1\Day%203\&#12304;787459060714621&#8224;L124-L145&#12305;"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hyperlink" Target="file:///C:\Users\Gamer\Downloads\Training\Week1\Day%203\&#12304;787459060714621&#8224;L205-L214&#12305;"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hyperlink" Target="file:///C:\Users\Gamer\Downloads\Training\Week1\Day%203\&#12304;830786155811747&#8224;L34-L61&#12305;"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43.xml.rels><?xml version="1.0" encoding="UTF-8" standalone="yes"?>
<Relationships xmlns="http://schemas.openxmlformats.org/package/2006/relationships"><Relationship Id="rId3" Type="http://schemas.openxmlformats.org/officeDocument/2006/relationships/hyperlink" Target="file:///C:\Users\Gamer\Downloads\Training\Week1\Day%203\&#12304;830786155811747&#8224;L76-L98&#12305;"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44.xml.rels><?xml version="1.0" encoding="UTF-8" standalone="yes"?>
<Relationships xmlns="http://schemas.openxmlformats.org/package/2006/relationships"><Relationship Id="rId3" Type="http://schemas.openxmlformats.org/officeDocument/2006/relationships/hyperlink" Target="file:///C:\Users\Gamer\Downloads\Training\Week1\Day%203\&#12304;830786155811747&#8224;L121-L139&#12305;" TargetMode="External"/><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45.xml.rels><?xml version="1.0" encoding="UTF-8" standalone="yes"?>
<Relationships xmlns="http://schemas.openxmlformats.org/package/2006/relationships"><Relationship Id="rId3" Type="http://schemas.openxmlformats.org/officeDocument/2006/relationships/hyperlink" Target="file:///C:\Users\Gamer\Downloads\Training\Week1\Day%203\&#12304;830786155811747&#8224;L34-L61&#12305;"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hyperlink" Target="file:///C:\Users\Gamer\Downloads\Training\Week1\Day%203\&#12304;830786155811747&#8224;L53-L61&#12305;" TargetMode="External"/></Relationships>
</file>

<file path=ppt/slides/_rels/slide4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hyperlink" Target="file:///C:\Users\Gamer\Downloads\Training\Week1\Day%203\&#12304;830786155811747&#8224;L128-L160&#12305;" TargetMode="External"/><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hyperlink" Target="file:///C:\Users\Gamer\Downloads\Training\Week1\Day%203\&#12304;830786155811747&#8224;L34-L61&#12305;" TargetMode="External"/><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hyperlink" Target="file:///C:\Users\Gamer\Downloads\Training\Week1\Day%203\&#12304;830786155811747&#8224;L76-L98&#12305;"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hyperlink" Target="file:///C:\Users\Gamer\Downloads\Training\Week1\Day%203\&#12304;830786155811747&#8224;L34-L61&#12305;" TargetMode="External"/><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hyperlink" Target="file:///C:\Users\Gamer\Downloads\Training\Week1\Day%203\&#12304;830786155811747&#8224;L53-L61&#12305;"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hyperlink" Target="file:///C:\Users\Gamer\Downloads\Training\Week1\Day%203\&#12304;830786155811747&#8224;L128-L160&#12305;" TargetMode="Externa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hyperlink" Target="file:///C:\Users\Gamer\Downloads\Training\Week1\Day%203\&#12304;830786155811747&#8224;L128-L160&#12305;" TargetMode="Externa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hyperlink" Target="file:///C:\Users\Gamer\Downloads\Training\Week1\Day%203\&#12304;830786155811747&#8224;L34-L61&#12305;"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hyperlink" Target="file:///C:\Users\Gamer\Downloads\Training\Week1\Day%203\&#12304;830786155811747&#8224;L76-L98&#12305;"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hyperlink" Target="file:///C:\Users\Gamer\Downloads\Training\Week1\Day%203\&#12304;830786155811747&#8224;L34-L61&#12305;"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hyperlink" Target="file:///C:\Users\Gamer\Downloads\Training\Week1\Day%203\&#12304;830786155811747&#8224;L76-L98&#12305;"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hyperlink" Target="file:///C:\Users\Gamer\Downloads\Training\Week1\Day%203\&#12304;109569185708490&#8224;L122-L131&#12305;" TargetMode="External"/><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hyperlink" Target="file:///C:\Users\Gamer\Downloads\Training\Week1\Day%203\&#12304;109569185708490&#8224;L122-L131&#12305;" TargetMode="External"/><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hyperlink" Target="file:///C:\Users\Gamer\Downloads\Training\Week1\Day%203\&#12304;787459060714621&#8224;L124-L145&#12305;" TargetMode="External"/><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hyperlink" Target="file:///C:\Users\Gamer\Downloads\Training\Week1\Day%203\&#12304;787459060714621&#8224;L205-L214&#12305;"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hyperlink" Target="file:///C:\Users\Gamer\Downloads\Training\Week1\Day%203\&#12304;864486615328870&#8224;L24-L38&#12305;" TargetMode="External"/><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hyperlink" Target="file:///C:\Users\Gamer\Downloads\Training\Week1\Day%203\&#12304;864486615328870&#8224;L56-L67&#12305;"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file:///C:\Users\Gamer\Downloads\Training\Week1\Day%203\&#12304;290847093815069&#8224;L46-L54&#12305;" TargetMode="External"/><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hyperlink" Target="file:///C:\Users\Gamer\Downloads\Training\Week1\Day%203\&#12304;290847093815069&#8224;L66-L98&#12305;"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file:///C:\Users\Gamer\Downloads\Training\Week1\Day%203\&#12304;923825948979014&#8224;L837-L857&#12305;"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hyperlink" Target="file:///C:\Users\Gamer\Downloads\Training\Week1\Day%203\&#12304;923825948979014&#8224;L859-L875&#12305;" TargetMode="External"/></Relationships>
</file>

<file path=ppt/slides/_rels/slide70.xml.rels><?xml version="1.0" encoding="UTF-8" standalone="yes"?>
<Relationships xmlns="http://schemas.openxmlformats.org/package/2006/relationships"><Relationship Id="rId3" Type="http://schemas.openxmlformats.org/officeDocument/2006/relationships/hyperlink" Target="file:///C:\Users\Gamer\Downloads\Training\Week1\Day%203\&#12304;343877329506281&#8224;L39-L61&#12305;" TargetMode="External"/><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hyperlink" Target="file:///C:\Users\Gamer\Downloads\Training\Week1\Day%203\&#12304;343877329506281&#8224;L84-L100&#12305;"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file:///C:\Users\Gamer\Downloads\Training\Week1\Day%203\&#12304;864486615328870&#8224;L24-L38&#12305;" TargetMode="External"/><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hyperlink" Target="file:///C:\Users\Gamer\Downloads\Training\Week1\Day%203\&#12304;343877329506281&#8224;L39-L61&#12305;" TargetMode="External"/><Relationship Id="rId5" Type="http://schemas.openxmlformats.org/officeDocument/2006/relationships/hyperlink" Target="file:///C:\Users\Gamer\Downloads\Training\Week1\Day%203\&#12304;923825948979014&#8224;L837-L857&#12305;" TargetMode="External"/><Relationship Id="rId4" Type="http://schemas.openxmlformats.org/officeDocument/2006/relationships/hyperlink" Target="file:///C:\Users\Gamer\Downloads\Training\Week1\Day%203\&#12304;290847093815069&#8224;L46-L54&#12305;"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hyperlink" Target="file:///C:\Users\Gamer\Downloads\Training\Week1\Day%203\&#12304;673597612005892&#8224;L37-L43&#12305;" TargetMode="External"/><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10" name="Shape 0"/>
          <p:cNvSpPr/>
          <p:nvPr/>
        </p:nvSpPr>
        <p:spPr>
          <a:xfrm>
            <a:off x="274320" y="457200"/>
            <a:ext cx="8005320" cy="3474000"/>
          </a:xfrm>
          <a:prstGeom prst="rect">
            <a:avLst/>
          </a:prstGeom>
          <a:solidFill>
            <a:srgbClr val="FFFFFF">
              <a:alpha val="80000"/>
            </a:srgbClr>
          </a:solidFill>
          <a:ln w="12700">
            <a:solidFill>
              <a:srgbClr val="D6E0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11" name="Text 1"/>
          <p:cNvSpPr/>
          <p:nvPr/>
        </p:nvSpPr>
        <p:spPr>
          <a:xfrm>
            <a:off x="548640" y="1005840"/>
            <a:ext cx="4388400" cy="2102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3400" b="1" u="none" strike="noStrike">
                <a:solidFill>
                  <a:srgbClr val="2F5597"/>
                </a:solidFill>
                <a:effectLst/>
                <a:uFillTx/>
                <a:latin typeface="Calibri"/>
              </a:rPr>
              <a:t>Day 3</a:t>
            </a:r>
            <a:endParaRPr lang="en-IN" sz="3400" b="0" u="none" strike="noStrike">
              <a:solidFill>
                <a:srgbClr val="000000"/>
              </a:solidFill>
              <a:effectLst/>
              <a:uFillTx/>
              <a:latin typeface="Arial"/>
            </a:endParaRPr>
          </a:p>
          <a:p>
            <a:pPr defTabSz="914400">
              <a:lnSpc>
                <a:spcPct val="100000"/>
              </a:lnSpc>
            </a:pPr>
            <a:r>
              <a:rPr lang="en-US" sz="2200" b="1" u="none" strike="noStrike">
                <a:solidFill>
                  <a:srgbClr val="2F5597"/>
                </a:solidFill>
                <a:effectLst/>
                <a:uFillTx/>
                <a:latin typeface="Calibri"/>
              </a:rPr>
              <a:t>Kafka Advanced Concepts &amp; Tools</a:t>
            </a:r>
            <a:endParaRPr lang="en-IN" sz="2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385170"/>
                </a:solidFill>
                <a:effectLst/>
                <a:uFillTx/>
                <a:latin typeface="Calibri"/>
              </a:rPr>
              <a:t>Consumer Groups · Replication · Connect · Ecosystem</a:t>
            </a:r>
            <a:endParaRPr lang="en-IN" sz="1200" b="0" u="none" strike="noStrike">
              <a:solidFill>
                <a:srgbClr val="000000"/>
              </a:solidFill>
              <a:effectLst/>
              <a:uFillTx/>
              <a:latin typeface="Arial"/>
            </a:endParaRPr>
          </a:p>
        </p:txBody>
      </p:sp>
      <p:sp>
        <p:nvSpPr>
          <p:cNvPr id="12" name="Text 2"/>
          <p:cNvSpPr/>
          <p:nvPr/>
        </p:nvSpPr>
        <p:spPr>
          <a:xfrm>
            <a:off x="548640" y="3291840"/>
            <a:ext cx="438840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000" b="0" i="1" u="none" strike="noStrike">
                <a:solidFill>
                  <a:srgbClr val="5A7BB5"/>
                </a:solidFill>
                <a:effectLst/>
                <a:uFillTx/>
                <a:latin typeface="Calibri"/>
              </a:rPr>
              <a:t>Data Engineering Workshop</a:t>
            </a:r>
            <a:endParaRPr lang="en-IN" sz="1000" b="0" u="none" strike="noStrike">
              <a:solidFill>
                <a:srgbClr val="000000"/>
              </a:solidFill>
              <a:effectLst/>
              <a:uFillTx/>
              <a:latin typeface="Arial"/>
            </a:endParaRPr>
          </a:p>
          <a:p>
            <a:pPr defTabSz="914400">
              <a:lnSpc>
                <a:spcPct val="100000"/>
              </a:lnSpc>
              <a:tabLst>
                <a:tab pos="0" algn="l"/>
              </a:tabLst>
            </a:pPr>
            <a:r>
              <a:rPr lang="en-US" sz="900" b="0" u="none" strike="noStrike">
                <a:solidFill>
                  <a:srgbClr val="5A7BB5"/>
                </a:solidFill>
                <a:effectLst/>
                <a:uFillTx/>
                <a:latin typeface="Calibri"/>
              </a:rPr>
              <a:t>May 2026</a:t>
            </a:r>
            <a:endParaRPr lang="en-IN" sz="900" b="0" u="none" strike="noStrike">
              <a:solidFill>
                <a:srgbClr val="000000"/>
              </a:solidFill>
              <a:effectLst/>
              <a:uFillTx/>
              <a:latin typeface="Arial"/>
            </a:endParaRPr>
          </a:p>
        </p:txBody>
      </p:sp>
      <p:sp>
        <p:nvSpPr>
          <p:cNvPr id="13" name="Text 3"/>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14" name="Text 0"/>
          <p:cNvSpPr/>
          <p:nvPr/>
        </p:nvSpPr>
        <p:spPr>
          <a:xfrm>
            <a:off x="457200" y="365760"/>
            <a:ext cx="82288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400" b="1" u="none" strike="noStrike">
                <a:solidFill>
                  <a:srgbClr val="2F5597"/>
                </a:solidFill>
                <a:effectLst/>
                <a:uFillTx/>
                <a:latin typeface="Calibri"/>
              </a:rPr>
              <a:t>Learning Objectives</a:t>
            </a:r>
            <a:endParaRPr lang="en-IN" sz="2400" b="0" u="none" strike="noStrike">
              <a:solidFill>
                <a:srgbClr val="000000"/>
              </a:solidFill>
              <a:effectLst/>
              <a:uFillTx/>
              <a:latin typeface="Arial"/>
            </a:endParaRPr>
          </a:p>
        </p:txBody>
      </p:sp>
      <p:pic>
        <p:nvPicPr>
          <p:cNvPr id="15" name="Image 0"/>
          <p:cNvPicPr/>
          <p:nvPr/>
        </p:nvPicPr>
        <p:blipFill>
          <a:blip r:embed="rId3"/>
          <a:stretch/>
        </p:blipFill>
        <p:spPr>
          <a:xfrm>
            <a:off x="548640" y="960120"/>
            <a:ext cx="273600" cy="273600"/>
          </a:xfrm>
          <a:prstGeom prst="rect">
            <a:avLst/>
          </a:prstGeom>
          <a:noFill/>
          <a:ln w="0">
            <a:noFill/>
          </a:ln>
        </p:spPr>
      </p:pic>
      <p:sp>
        <p:nvSpPr>
          <p:cNvPr id="16" name="Text 1"/>
          <p:cNvSpPr/>
          <p:nvPr/>
        </p:nvSpPr>
        <p:spPr>
          <a:xfrm>
            <a:off x="1005840" y="914400"/>
            <a:ext cx="777168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0" u="none" strike="noStrike">
                <a:solidFill>
                  <a:srgbClr val="385170"/>
                </a:solidFill>
                <a:effectLst/>
                <a:uFillTx/>
                <a:latin typeface="Calibri"/>
              </a:rPr>
              <a:t>Understand how consumer groups coordinate to scale consumption and provide fault tolerance.</a:t>
            </a:r>
            <a:endParaRPr lang="en-IN" sz="1200" b="0" u="none" strike="noStrike">
              <a:solidFill>
                <a:srgbClr val="000000"/>
              </a:solidFill>
              <a:effectLst/>
              <a:uFillTx/>
              <a:latin typeface="Arial"/>
            </a:endParaRPr>
          </a:p>
        </p:txBody>
      </p:sp>
      <p:pic>
        <p:nvPicPr>
          <p:cNvPr id="17" name="Image 1"/>
          <p:cNvPicPr/>
          <p:nvPr/>
        </p:nvPicPr>
        <p:blipFill>
          <a:blip r:embed="rId4"/>
          <a:stretch/>
        </p:blipFill>
        <p:spPr>
          <a:xfrm>
            <a:off x="548640" y="1417320"/>
            <a:ext cx="273600" cy="273600"/>
          </a:xfrm>
          <a:prstGeom prst="rect">
            <a:avLst/>
          </a:prstGeom>
          <a:noFill/>
          <a:ln w="0">
            <a:noFill/>
          </a:ln>
        </p:spPr>
      </p:pic>
      <p:sp>
        <p:nvSpPr>
          <p:cNvPr id="18" name="Text 2"/>
          <p:cNvSpPr/>
          <p:nvPr/>
        </p:nvSpPr>
        <p:spPr>
          <a:xfrm>
            <a:off x="1005840" y="1371600"/>
            <a:ext cx="777168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0" u="none" strike="noStrike">
                <a:solidFill>
                  <a:srgbClr val="385170"/>
                </a:solidFill>
                <a:effectLst/>
                <a:uFillTx/>
                <a:latin typeface="Calibri"/>
              </a:rPr>
              <a:t>Master offset management strategies and achieve exactly‑once processing semantics.</a:t>
            </a:r>
            <a:endParaRPr lang="en-IN" sz="1200" b="0" u="none" strike="noStrike">
              <a:solidFill>
                <a:srgbClr val="000000"/>
              </a:solidFill>
              <a:effectLst/>
              <a:uFillTx/>
              <a:latin typeface="Arial"/>
            </a:endParaRPr>
          </a:p>
        </p:txBody>
      </p:sp>
      <p:pic>
        <p:nvPicPr>
          <p:cNvPr id="19" name="Image 2"/>
          <p:cNvPicPr/>
          <p:nvPr/>
        </p:nvPicPr>
        <p:blipFill>
          <a:blip r:embed="rId5"/>
          <a:stretch/>
        </p:blipFill>
        <p:spPr>
          <a:xfrm>
            <a:off x="548640" y="1874520"/>
            <a:ext cx="273600" cy="273600"/>
          </a:xfrm>
          <a:prstGeom prst="rect">
            <a:avLst/>
          </a:prstGeom>
          <a:noFill/>
          <a:ln w="0">
            <a:noFill/>
          </a:ln>
        </p:spPr>
      </p:pic>
      <p:sp>
        <p:nvSpPr>
          <p:cNvPr id="20" name="Text 3"/>
          <p:cNvSpPr/>
          <p:nvPr/>
        </p:nvSpPr>
        <p:spPr>
          <a:xfrm>
            <a:off x="1005840" y="1828800"/>
            <a:ext cx="777168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0" u="none" strike="noStrike">
                <a:solidFill>
                  <a:srgbClr val="385170"/>
                </a:solidFill>
                <a:effectLst/>
                <a:uFillTx/>
                <a:latin typeface="Calibri"/>
              </a:rPr>
              <a:t>Learn how replication, in‑sync replicas and KRaft ensure high availability.</a:t>
            </a:r>
            <a:endParaRPr lang="en-IN" sz="1200" b="0" u="none" strike="noStrike">
              <a:solidFill>
                <a:srgbClr val="000000"/>
              </a:solidFill>
              <a:effectLst/>
              <a:uFillTx/>
              <a:latin typeface="Arial"/>
            </a:endParaRPr>
          </a:p>
        </p:txBody>
      </p:sp>
      <p:pic>
        <p:nvPicPr>
          <p:cNvPr id="21" name="Image 3"/>
          <p:cNvPicPr/>
          <p:nvPr/>
        </p:nvPicPr>
        <p:blipFill>
          <a:blip r:embed="rId6"/>
          <a:stretch/>
        </p:blipFill>
        <p:spPr>
          <a:xfrm>
            <a:off x="548640" y="2331720"/>
            <a:ext cx="273600" cy="273600"/>
          </a:xfrm>
          <a:prstGeom prst="rect">
            <a:avLst/>
          </a:prstGeom>
          <a:noFill/>
          <a:ln w="0">
            <a:noFill/>
          </a:ln>
        </p:spPr>
      </p:pic>
      <p:sp>
        <p:nvSpPr>
          <p:cNvPr id="22" name="Text 4"/>
          <p:cNvSpPr/>
          <p:nvPr/>
        </p:nvSpPr>
        <p:spPr>
          <a:xfrm>
            <a:off x="1005840" y="2286000"/>
            <a:ext cx="777168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0" u="none" strike="noStrike">
                <a:solidFill>
                  <a:srgbClr val="385170"/>
                </a:solidFill>
                <a:effectLst/>
                <a:uFillTx/>
                <a:latin typeface="Calibri"/>
              </a:rPr>
              <a:t>Explore Kafka Connect architecture and configure source and sink connectors.</a:t>
            </a:r>
            <a:endParaRPr lang="en-IN" sz="1200" b="0" u="none" strike="noStrike">
              <a:solidFill>
                <a:srgbClr val="000000"/>
              </a:solidFill>
              <a:effectLst/>
              <a:uFillTx/>
              <a:latin typeface="Arial"/>
            </a:endParaRPr>
          </a:p>
        </p:txBody>
      </p:sp>
      <p:pic>
        <p:nvPicPr>
          <p:cNvPr id="23" name="Image 4"/>
          <p:cNvPicPr/>
          <p:nvPr/>
        </p:nvPicPr>
        <p:blipFill>
          <a:blip r:embed="rId7"/>
          <a:stretch/>
        </p:blipFill>
        <p:spPr>
          <a:xfrm>
            <a:off x="548640" y="2788920"/>
            <a:ext cx="273600" cy="273600"/>
          </a:xfrm>
          <a:prstGeom prst="rect">
            <a:avLst/>
          </a:prstGeom>
          <a:noFill/>
          <a:ln w="0">
            <a:noFill/>
          </a:ln>
        </p:spPr>
      </p:pic>
      <p:sp>
        <p:nvSpPr>
          <p:cNvPr id="24" name="Text 5"/>
          <p:cNvSpPr/>
          <p:nvPr/>
        </p:nvSpPr>
        <p:spPr>
          <a:xfrm>
            <a:off x="1005840" y="2743200"/>
            <a:ext cx="777168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0" u="none" strike="noStrike">
                <a:solidFill>
                  <a:srgbClr val="385170"/>
                </a:solidFill>
                <a:effectLst/>
                <a:uFillTx/>
                <a:latin typeface="Calibri"/>
              </a:rPr>
              <a:t>Discover the wider Kafka ecosystem: Streams, ksqlDB, Schema Registry and more.</a:t>
            </a:r>
            <a:endParaRPr lang="en-IN" sz="1200" b="0" u="none" strike="noStrike">
              <a:solidFill>
                <a:srgbClr val="000000"/>
              </a:solidFill>
              <a:effectLst/>
              <a:uFillTx/>
              <a:latin typeface="Arial"/>
            </a:endParaRPr>
          </a:p>
        </p:txBody>
      </p:sp>
      <p:pic>
        <p:nvPicPr>
          <p:cNvPr id="25" name="Image 5"/>
          <p:cNvPicPr/>
          <p:nvPr/>
        </p:nvPicPr>
        <p:blipFill>
          <a:blip r:embed="rId8"/>
          <a:stretch/>
        </p:blipFill>
        <p:spPr>
          <a:xfrm>
            <a:off x="548640" y="3246120"/>
            <a:ext cx="273600" cy="273600"/>
          </a:xfrm>
          <a:prstGeom prst="rect">
            <a:avLst/>
          </a:prstGeom>
          <a:noFill/>
          <a:ln w="0">
            <a:noFill/>
          </a:ln>
        </p:spPr>
      </p:pic>
      <p:sp>
        <p:nvSpPr>
          <p:cNvPr id="26" name="Text 6"/>
          <p:cNvSpPr/>
          <p:nvPr/>
        </p:nvSpPr>
        <p:spPr>
          <a:xfrm>
            <a:off x="1005840" y="3200400"/>
            <a:ext cx="777168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0" u="none" strike="noStrike">
                <a:solidFill>
                  <a:srgbClr val="385170"/>
                </a:solidFill>
                <a:effectLst/>
                <a:uFillTx/>
                <a:latin typeface="Calibri"/>
              </a:rPr>
              <a:t>Apply knowledge in labs and exercises to deploy Kafka with Connect.</a:t>
            </a:r>
            <a:endParaRPr lang="en-IN" sz="1200" b="0" u="none" strike="noStrike">
              <a:solidFill>
                <a:srgbClr val="000000"/>
              </a:solidFill>
              <a:effectLst/>
              <a:uFillTx/>
              <a:latin typeface="Arial"/>
            </a:endParaRPr>
          </a:p>
        </p:txBody>
      </p:sp>
      <p:sp>
        <p:nvSpPr>
          <p:cNvPr id="27" name="Text 7"/>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9"/>
              </a:rPr>
              <a:t>[1]</a:t>
            </a:r>
            <a:endParaRPr lang="en-IN" sz="7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28"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400" b="1" u="none" strike="noStrike">
                <a:solidFill>
                  <a:srgbClr val="2F5597"/>
                </a:solidFill>
                <a:effectLst/>
                <a:uFillTx/>
                <a:latin typeface="Calibri"/>
              </a:rPr>
              <a:t>Agenda</a:t>
            </a:r>
            <a:endParaRPr lang="en-IN" sz="2400" b="0" u="none" strike="noStrike">
              <a:solidFill>
                <a:srgbClr val="000000"/>
              </a:solidFill>
              <a:effectLst/>
              <a:uFillTx/>
              <a:latin typeface="Arial"/>
            </a:endParaRPr>
          </a:p>
        </p:txBody>
      </p:sp>
      <p:sp>
        <p:nvSpPr>
          <p:cNvPr id="29" name="Shape 1"/>
          <p:cNvSpPr/>
          <p:nvPr/>
        </p:nvSpPr>
        <p:spPr>
          <a:xfrm>
            <a:off x="4389120" y="914400"/>
            <a:ext cx="36000" cy="3474000"/>
          </a:xfrm>
          <a:prstGeom prst="rect">
            <a:avLst/>
          </a:prstGeom>
          <a:solidFill>
            <a:srgbClr val="D6E0F0"/>
          </a:solidFill>
          <a:ln w="12700">
            <a:solidFill>
              <a:srgbClr val="D6E0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30" name="Shape 2"/>
          <p:cNvSpPr/>
          <p:nvPr/>
        </p:nvSpPr>
        <p:spPr>
          <a:xfrm>
            <a:off x="4316040" y="1005840"/>
            <a:ext cx="145440" cy="145440"/>
          </a:xfrm>
          <a:prstGeom prst="ellipse">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31" name="Text 3"/>
          <p:cNvSpPr/>
          <p:nvPr/>
        </p:nvSpPr>
        <p:spPr>
          <a:xfrm>
            <a:off x="548640" y="914400"/>
            <a:ext cx="3474000" cy="547920"/>
          </a:xfrm>
          <a:prstGeom prst="rect">
            <a:avLst/>
          </a:prstGeom>
          <a:noFill/>
          <a:ln w="0">
            <a:noFill/>
          </a:ln>
        </p:spPr>
        <p:style>
          <a:lnRef idx="0">
            <a:scrgbClr r="0" g="0" b="0"/>
          </a:lnRef>
          <a:fillRef idx="0">
            <a:scrgbClr r="0" g="0" b="0"/>
          </a:fillRef>
          <a:effectRef idx="0">
            <a:scrgbClr r="0" g="0" b="0"/>
          </a:effectRef>
          <a:fontRef idx="minor"/>
        </p:style>
        <p:txBody>
          <a:bodyPr lIns="1440" tIns="1440" rIns="1440" bIns="1440" anchor="t">
            <a:noAutofit/>
          </a:bodyPr>
          <a:lstStyle/>
          <a:p>
            <a:pPr defTabSz="914400">
              <a:lnSpc>
                <a:spcPct val="100000"/>
              </a:lnSpc>
            </a:pPr>
            <a:r>
              <a:rPr lang="en-US" sz="1000" b="1" u="none" strike="noStrike">
                <a:solidFill>
                  <a:srgbClr val="2F5597"/>
                </a:solidFill>
                <a:effectLst/>
                <a:uFillTx/>
                <a:latin typeface="Calibri"/>
              </a:rPr>
              <a:t>09:00</a:t>
            </a:r>
            <a:endParaRPr lang="en-IN" sz="1000" b="0" u="none" strike="noStrike">
              <a:solidFill>
                <a:srgbClr val="000000"/>
              </a:solidFill>
              <a:effectLst/>
              <a:uFillTx/>
              <a:latin typeface="Arial"/>
            </a:endParaRPr>
          </a:p>
          <a:p>
            <a:pPr defTabSz="914400">
              <a:lnSpc>
                <a:spcPct val="100000"/>
              </a:lnSpc>
            </a:pPr>
            <a:r>
              <a:rPr lang="en-US" sz="1400" b="1" u="none" strike="noStrike">
                <a:solidFill>
                  <a:srgbClr val="2F5597"/>
                </a:solidFill>
                <a:effectLst/>
                <a:uFillTx/>
                <a:latin typeface="Calibri"/>
              </a:rPr>
              <a:t>Consumer Groups</a:t>
            </a:r>
            <a:endParaRPr lang="en-IN" sz="1400" b="0" u="none" strike="noStrike">
              <a:solidFill>
                <a:srgbClr val="000000"/>
              </a:solidFill>
              <a:effectLst/>
              <a:uFillTx/>
              <a:latin typeface="Arial"/>
            </a:endParaRPr>
          </a:p>
          <a:p>
            <a:pPr algn="r" defTabSz="914400">
              <a:lnSpc>
                <a:spcPct val="100000"/>
              </a:lnSpc>
              <a:tabLst>
                <a:tab pos="0" algn="l"/>
              </a:tabLst>
            </a:pPr>
            <a:r>
              <a:rPr lang="en-US" sz="1000" b="0" u="none" strike="noStrike">
                <a:solidFill>
                  <a:srgbClr val="385170"/>
                </a:solidFill>
                <a:effectLst/>
                <a:uFillTx/>
                <a:latin typeface="Calibri"/>
              </a:rPr>
              <a:t>Fundamentals &amp; Rebalancing</a:t>
            </a:r>
            <a:endParaRPr lang="en-IN" sz="1000" b="0" u="none" strike="noStrike">
              <a:solidFill>
                <a:srgbClr val="000000"/>
              </a:solidFill>
              <a:effectLst/>
              <a:uFillTx/>
              <a:latin typeface="Arial"/>
            </a:endParaRPr>
          </a:p>
        </p:txBody>
      </p:sp>
      <p:sp>
        <p:nvSpPr>
          <p:cNvPr id="32" name="Shape 4"/>
          <p:cNvSpPr/>
          <p:nvPr/>
        </p:nvSpPr>
        <p:spPr>
          <a:xfrm>
            <a:off x="4316040" y="1554480"/>
            <a:ext cx="145440" cy="145440"/>
          </a:xfrm>
          <a:prstGeom prst="ellipse">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33" name="Text 5"/>
          <p:cNvSpPr/>
          <p:nvPr/>
        </p:nvSpPr>
        <p:spPr>
          <a:xfrm>
            <a:off x="548640" y="1463040"/>
            <a:ext cx="3474000" cy="547920"/>
          </a:xfrm>
          <a:prstGeom prst="rect">
            <a:avLst/>
          </a:prstGeom>
          <a:noFill/>
          <a:ln w="0">
            <a:noFill/>
          </a:ln>
        </p:spPr>
        <p:style>
          <a:lnRef idx="0">
            <a:scrgbClr r="0" g="0" b="0"/>
          </a:lnRef>
          <a:fillRef idx="0">
            <a:scrgbClr r="0" g="0" b="0"/>
          </a:fillRef>
          <a:effectRef idx="0">
            <a:scrgbClr r="0" g="0" b="0"/>
          </a:effectRef>
          <a:fontRef idx="minor"/>
        </p:style>
        <p:txBody>
          <a:bodyPr lIns="1440" tIns="1440" rIns="1440" bIns="1440" anchor="t">
            <a:noAutofit/>
          </a:bodyPr>
          <a:lstStyle/>
          <a:p>
            <a:pPr defTabSz="914400">
              <a:lnSpc>
                <a:spcPct val="100000"/>
              </a:lnSpc>
            </a:pPr>
            <a:r>
              <a:rPr lang="en-US" sz="1000" b="1" u="none" strike="noStrike">
                <a:solidFill>
                  <a:srgbClr val="2F5597"/>
                </a:solidFill>
                <a:effectLst/>
                <a:uFillTx/>
                <a:latin typeface="Calibri"/>
              </a:rPr>
              <a:t>10:30</a:t>
            </a:r>
            <a:endParaRPr lang="en-IN" sz="1000" b="0" u="none" strike="noStrike">
              <a:solidFill>
                <a:srgbClr val="000000"/>
              </a:solidFill>
              <a:effectLst/>
              <a:uFillTx/>
              <a:latin typeface="Arial"/>
            </a:endParaRPr>
          </a:p>
          <a:p>
            <a:pPr defTabSz="914400">
              <a:lnSpc>
                <a:spcPct val="100000"/>
              </a:lnSpc>
            </a:pPr>
            <a:r>
              <a:rPr lang="en-US" sz="1400" b="1" u="none" strike="noStrike">
                <a:solidFill>
                  <a:srgbClr val="2F5597"/>
                </a:solidFill>
                <a:effectLst/>
                <a:uFillTx/>
                <a:latin typeface="Calibri"/>
              </a:rPr>
              <a:t>Offset Management</a:t>
            </a:r>
            <a:endParaRPr lang="en-IN" sz="1400" b="0" u="none" strike="noStrike">
              <a:solidFill>
                <a:srgbClr val="000000"/>
              </a:solidFill>
              <a:effectLst/>
              <a:uFillTx/>
              <a:latin typeface="Arial"/>
            </a:endParaRPr>
          </a:p>
          <a:p>
            <a:pPr algn="r" defTabSz="914400">
              <a:lnSpc>
                <a:spcPct val="100000"/>
              </a:lnSpc>
              <a:tabLst>
                <a:tab pos="0" algn="l"/>
              </a:tabLst>
            </a:pPr>
            <a:r>
              <a:rPr lang="en-US" sz="1000" b="0" u="none" strike="noStrike">
                <a:solidFill>
                  <a:srgbClr val="385170"/>
                </a:solidFill>
                <a:effectLst/>
                <a:uFillTx/>
                <a:latin typeface="Calibri"/>
              </a:rPr>
              <a:t>Commits &amp; Semantics</a:t>
            </a:r>
            <a:endParaRPr lang="en-IN" sz="1000" b="0" u="none" strike="noStrike">
              <a:solidFill>
                <a:srgbClr val="000000"/>
              </a:solidFill>
              <a:effectLst/>
              <a:uFillTx/>
              <a:latin typeface="Arial"/>
            </a:endParaRPr>
          </a:p>
        </p:txBody>
      </p:sp>
      <p:sp>
        <p:nvSpPr>
          <p:cNvPr id="34" name="Shape 6"/>
          <p:cNvSpPr/>
          <p:nvPr/>
        </p:nvSpPr>
        <p:spPr>
          <a:xfrm>
            <a:off x="4316040" y="2103120"/>
            <a:ext cx="145440" cy="145440"/>
          </a:xfrm>
          <a:prstGeom prst="ellipse">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35" name="Text 7"/>
          <p:cNvSpPr/>
          <p:nvPr/>
        </p:nvSpPr>
        <p:spPr>
          <a:xfrm>
            <a:off x="548640" y="2011680"/>
            <a:ext cx="3474000" cy="547920"/>
          </a:xfrm>
          <a:prstGeom prst="rect">
            <a:avLst/>
          </a:prstGeom>
          <a:noFill/>
          <a:ln w="0">
            <a:noFill/>
          </a:ln>
        </p:spPr>
        <p:style>
          <a:lnRef idx="0">
            <a:scrgbClr r="0" g="0" b="0"/>
          </a:lnRef>
          <a:fillRef idx="0">
            <a:scrgbClr r="0" g="0" b="0"/>
          </a:fillRef>
          <a:effectRef idx="0">
            <a:scrgbClr r="0" g="0" b="0"/>
          </a:effectRef>
          <a:fontRef idx="minor"/>
        </p:style>
        <p:txBody>
          <a:bodyPr lIns="1440" tIns="1440" rIns="1440" bIns="1440" anchor="t">
            <a:noAutofit/>
          </a:bodyPr>
          <a:lstStyle/>
          <a:p>
            <a:pPr defTabSz="914400">
              <a:lnSpc>
                <a:spcPct val="100000"/>
              </a:lnSpc>
            </a:pPr>
            <a:r>
              <a:rPr lang="en-US" sz="1000" b="1" u="none" strike="noStrike">
                <a:solidFill>
                  <a:srgbClr val="2F5597"/>
                </a:solidFill>
                <a:effectLst/>
                <a:uFillTx/>
                <a:latin typeface="Calibri"/>
              </a:rPr>
              <a:t>12:00</a:t>
            </a:r>
            <a:endParaRPr lang="en-IN" sz="1000" b="0" u="none" strike="noStrike">
              <a:solidFill>
                <a:srgbClr val="000000"/>
              </a:solidFill>
              <a:effectLst/>
              <a:uFillTx/>
              <a:latin typeface="Arial"/>
            </a:endParaRPr>
          </a:p>
          <a:p>
            <a:pPr defTabSz="914400">
              <a:lnSpc>
                <a:spcPct val="100000"/>
              </a:lnSpc>
            </a:pPr>
            <a:r>
              <a:rPr lang="en-US" sz="1400" b="1" u="none" strike="noStrike">
                <a:solidFill>
                  <a:srgbClr val="2F5597"/>
                </a:solidFill>
                <a:effectLst/>
                <a:uFillTx/>
                <a:latin typeface="Calibri"/>
              </a:rPr>
              <a:t>Replication &amp; Fault Tolerance</a:t>
            </a:r>
            <a:endParaRPr lang="en-IN" sz="1400" b="0" u="none" strike="noStrike">
              <a:solidFill>
                <a:srgbClr val="000000"/>
              </a:solidFill>
              <a:effectLst/>
              <a:uFillTx/>
              <a:latin typeface="Arial"/>
            </a:endParaRPr>
          </a:p>
          <a:p>
            <a:pPr algn="r" defTabSz="914400">
              <a:lnSpc>
                <a:spcPct val="100000"/>
              </a:lnSpc>
              <a:tabLst>
                <a:tab pos="0" algn="l"/>
              </a:tabLst>
            </a:pPr>
            <a:r>
              <a:rPr lang="en-US" sz="1000" b="0" u="none" strike="noStrike">
                <a:solidFill>
                  <a:srgbClr val="385170"/>
                </a:solidFill>
                <a:effectLst/>
                <a:uFillTx/>
                <a:latin typeface="Calibri"/>
              </a:rPr>
              <a:t>ISR &amp; KRaft</a:t>
            </a:r>
            <a:endParaRPr lang="en-IN" sz="1000" b="0" u="none" strike="noStrike">
              <a:solidFill>
                <a:srgbClr val="000000"/>
              </a:solidFill>
              <a:effectLst/>
              <a:uFillTx/>
              <a:latin typeface="Arial"/>
            </a:endParaRPr>
          </a:p>
        </p:txBody>
      </p:sp>
      <p:sp>
        <p:nvSpPr>
          <p:cNvPr id="36" name="Shape 8"/>
          <p:cNvSpPr/>
          <p:nvPr/>
        </p:nvSpPr>
        <p:spPr>
          <a:xfrm>
            <a:off x="4316040" y="2651760"/>
            <a:ext cx="145440" cy="145440"/>
          </a:xfrm>
          <a:prstGeom prst="ellipse">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37" name="Text 9"/>
          <p:cNvSpPr/>
          <p:nvPr/>
        </p:nvSpPr>
        <p:spPr>
          <a:xfrm>
            <a:off x="548640" y="2560320"/>
            <a:ext cx="3474000" cy="547920"/>
          </a:xfrm>
          <a:prstGeom prst="rect">
            <a:avLst/>
          </a:prstGeom>
          <a:noFill/>
          <a:ln w="0">
            <a:noFill/>
          </a:ln>
        </p:spPr>
        <p:style>
          <a:lnRef idx="0">
            <a:scrgbClr r="0" g="0" b="0"/>
          </a:lnRef>
          <a:fillRef idx="0">
            <a:scrgbClr r="0" g="0" b="0"/>
          </a:fillRef>
          <a:effectRef idx="0">
            <a:scrgbClr r="0" g="0" b="0"/>
          </a:effectRef>
          <a:fontRef idx="minor"/>
        </p:style>
        <p:txBody>
          <a:bodyPr lIns="1440" tIns="1440" rIns="1440" bIns="1440" anchor="t">
            <a:noAutofit/>
          </a:bodyPr>
          <a:lstStyle/>
          <a:p>
            <a:pPr defTabSz="914400">
              <a:lnSpc>
                <a:spcPct val="100000"/>
              </a:lnSpc>
            </a:pPr>
            <a:r>
              <a:rPr lang="en-US" sz="1000" b="1" u="none" strike="noStrike">
                <a:solidFill>
                  <a:srgbClr val="2F5597"/>
                </a:solidFill>
                <a:effectLst/>
                <a:uFillTx/>
                <a:latin typeface="Calibri"/>
              </a:rPr>
              <a:t>14:00</a:t>
            </a:r>
            <a:endParaRPr lang="en-IN" sz="1000" b="0" u="none" strike="noStrike">
              <a:solidFill>
                <a:srgbClr val="000000"/>
              </a:solidFill>
              <a:effectLst/>
              <a:uFillTx/>
              <a:latin typeface="Arial"/>
            </a:endParaRPr>
          </a:p>
          <a:p>
            <a:pPr defTabSz="914400">
              <a:lnSpc>
                <a:spcPct val="100000"/>
              </a:lnSpc>
            </a:pPr>
            <a:r>
              <a:rPr lang="en-US" sz="1400" b="1" u="none" strike="noStrike">
                <a:solidFill>
                  <a:srgbClr val="2F5597"/>
                </a:solidFill>
                <a:effectLst/>
                <a:uFillTx/>
                <a:latin typeface="Calibri"/>
              </a:rPr>
              <a:t>Kafka Connect</a:t>
            </a:r>
            <a:endParaRPr lang="en-IN" sz="1400" b="0" u="none" strike="noStrike">
              <a:solidFill>
                <a:srgbClr val="000000"/>
              </a:solidFill>
              <a:effectLst/>
              <a:uFillTx/>
              <a:latin typeface="Arial"/>
            </a:endParaRPr>
          </a:p>
          <a:p>
            <a:pPr algn="r" defTabSz="914400">
              <a:lnSpc>
                <a:spcPct val="100000"/>
              </a:lnSpc>
              <a:tabLst>
                <a:tab pos="0" algn="l"/>
              </a:tabLst>
            </a:pPr>
            <a:r>
              <a:rPr lang="en-US" sz="1000" b="0" u="none" strike="noStrike">
                <a:solidFill>
                  <a:srgbClr val="385170"/>
                </a:solidFill>
                <a:effectLst/>
                <a:uFillTx/>
                <a:latin typeface="Calibri"/>
              </a:rPr>
              <a:t>Architecture &amp; Connectors</a:t>
            </a:r>
            <a:endParaRPr lang="en-IN" sz="1000" b="0" u="none" strike="noStrike">
              <a:solidFill>
                <a:srgbClr val="000000"/>
              </a:solidFill>
              <a:effectLst/>
              <a:uFillTx/>
              <a:latin typeface="Arial"/>
            </a:endParaRPr>
          </a:p>
        </p:txBody>
      </p:sp>
      <p:sp>
        <p:nvSpPr>
          <p:cNvPr id="38" name="Shape 10"/>
          <p:cNvSpPr/>
          <p:nvPr/>
        </p:nvSpPr>
        <p:spPr>
          <a:xfrm>
            <a:off x="4316040" y="3200400"/>
            <a:ext cx="145440" cy="145440"/>
          </a:xfrm>
          <a:prstGeom prst="ellipse">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39" name="Text 11"/>
          <p:cNvSpPr/>
          <p:nvPr/>
        </p:nvSpPr>
        <p:spPr>
          <a:xfrm>
            <a:off x="548640" y="3108960"/>
            <a:ext cx="3474000" cy="547920"/>
          </a:xfrm>
          <a:prstGeom prst="rect">
            <a:avLst/>
          </a:prstGeom>
          <a:noFill/>
          <a:ln w="0">
            <a:noFill/>
          </a:ln>
        </p:spPr>
        <p:style>
          <a:lnRef idx="0">
            <a:scrgbClr r="0" g="0" b="0"/>
          </a:lnRef>
          <a:fillRef idx="0">
            <a:scrgbClr r="0" g="0" b="0"/>
          </a:fillRef>
          <a:effectRef idx="0">
            <a:scrgbClr r="0" g="0" b="0"/>
          </a:effectRef>
          <a:fontRef idx="minor"/>
        </p:style>
        <p:txBody>
          <a:bodyPr lIns="1440" tIns="1440" rIns="1440" bIns="1440" anchor="t">
            <a:noAutofit/>
          </a:bodyPr>
          <a:lstStyle/>
          <a:p>
            <a:pPr defTabSz="914400">
              <a:lnSpc>
                <a:spcPct val="100000"/>
              </a:lnSpc>
            </a:pPr>
            <a:r>
              <a:rPr lang="en-US" sz="1000" b="1" u="none" strike="noStrike">
                <a:solidFill>
                  <a:srgbClr val="2F5597"/>
                </a:solidFill>
                <a:effectLst/>
                <a:uFillTx/>
                <a:latin typeface="Calibri"/>
              </a:rPr>
              <a:t>15:30</a:t>
            </a:r>
            <a:endParaRPr lang="en-IN" sz="1000" b="0" u="none" strike="noStrike">
              <a:solidFill>
                <a:srgbClr val="000000"/>
              </a:solidFill>
              <a:effectLst/>
              <a:uFillTx/>
              <a:latin typeface="Arial"/>
            </a:endParaRPr>
          </a:p>
          <a:p>
            <a:pPr defTabSz="914400">
              <a:lnSpc>
                <a:spcPct val="100000"/>
              </a:lnSpc>
            </a:pPr>
            <a:r>
              <a:rPr lang="en-US" sz="1400" b="1" u="none" strike="noStrike">
                <a:solidFill>
                  <a:srgbClr val="2F5597"/>
                </a:solidFill>
                <a:effectLst/>
                <a:uFillTx/>
                <a:latin typeface="Calibri"/>
              </a:rPr>
              <a:t>Ecosystem Tools</a:t>
            </a:r>
            <a:endParaRPr lang="en-IN" sz="1400" b="0" u="none" strike="noStrike">
              <a:solidFill>
                <a:srgbClr val="000000"/>
              </a:solidFill>
              <a:effectLst/>
              <a:uFillTx/>
              <a:latin typeface="Arial"/>
            </a:endParaRPr>
          </a:p>
          <a:p>
            <a:pPr algn="r" defTabSz="914400">
              <a:lnSpc>
                <a:spcPct val="100000"/>
              </a:lnSpc>
              <a:tabLst>
                <a:tab pos="0" algn="l"/>
              </a:tabLst>
            </a:pPr>
            <a:r>
              <a:rPr lang="en-US" sz="1000" b="0" u="none" strike="noStrike">
                <a:solidFill>
                  <a:srgbClr val="385170"/>
                </a:solidFill>
                <a:effectLst/>
                <a:uFillTx/>
                <a:latin typeface="Calibri"/>
              </a:rPr>
              <a:t>Streams, ksqlDB, Schema, MirrorMaker</a:t>
            </a:r>
            <a:endParaRPr lang="en-IN" sz="1000" b="0" u="none" strike="noStrike">
              <a:solidFill>
                <a:srgbClr val="000000"/>
              </a:solidFill>
              <a:effectLst/>
              <a:uFillTx/>
              <a:latin typeface="Arial"/>
            </a:endParaRPr>
          </a:p>
        </p:txBody>
      </p:sp>
      <p:sp>
        <p:nvSpPr>
          <p:cNvPr id="40" name="Shape 12"/>
          <p:cNvSpPr/>
          <p:nvPr/>
        </p:nvSpPr>
        <p:spPr>
          <a:xfrm>
            <a:off x="4316040" y="3749040"/>
            <a:ext cx="145440" cy="145440"/>
          </a:xfrm>
          <a:prstGeom prst="ellipse">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41" name="Text 13"/>
          <p:cNvSpPr/>
          <p:nvPr/>
        </p:nvSpPr>
        <p:spPr>
          <a:xfrm>
            <a:off x="548640" y="3657600"/>
            <a:ext cx="3474000" cy="547920"/>
          </a:xfrm>
          <a:prstGeom prst="rect">
            <a:avLst/>
          </a:prstGeom>
          <a:noFill/>
          <a:ln w="0">
            <a:noFill/>
          </a:ln>
        </p:spPr>
        <p:style>
          <a:lnRef idx="0">
            <a:scrgbClr r="0" g="0" b="0"/>
          </a:lnRef>
          <a:fillRef idx="0">
            <a:scrgbClr r="0" g="0" b="0"/>
          </a:fillRef>
          <a:effectRef idx="0">
            <a:scrgbClr r="0" g="0" b="0"/>
          </a:effectRef>
          <a:fontRef idx="minor"/>
        </p:style>
        <p:txBody>
          <a:bodyPr lIns="1440" tIns="1440" rIns="1440" bIns="1440" anchor="t">
            <a:noAutofit/>
          </a:bodyPr>
          <a:lstStyle/>
          <a:p>
            <a:pPr defTabSz="914400">
              <a:lnSpc>
                <a:spcPct val="100000"/>
              </a:lnSpc>
            </a:pPr>
            <a:r>
              <a:rPr lang="en-US" sz="1000" b="1" u="none" strike="noStrike">
                <a:solidFill>
                  <a:srgbClr val="2F5597"/>
                </a:solidFill>
                <a:effectLst/>
                <a:uFillTx/>
                <a:latin typeface="Calibri"/>
              </a:rPr>
              <a:t>17:00</a:t>
            </a:r>
            <a:endParaRPr lang="en-IN" sz="1000" b="0" u="none" strike="noStrike">
              <a:solidFill>
                <a:srgbClr val="000000"/>
              </a:solidFill>
              <a:effectLst/>
              <a:uFillTx/>
              <a:latin typeface="Arial"/>
            </a:endParaRPr>
          </a:p>
          <a:p>
            <a:pPr defTabSz="914400">
              <a:lnSpc>
                <a:spcPct val="100000"/>
              </a:lnSpc>
            </a:pPr>
            <a:r>
              <a:rPr lang="en-US" sz="1400" b="1" u="none" strike="noStrike">
                <a:solidFill>
                  <a:srgbClr val="2F5597"/>
                </a:solidFill>
                <a:effectLst/>
                <a:uFillTx/>
                <a:latin typeface="Calibri"/>
              </a:rPr>
              <a:t>Lab &amp; Quiz</a:t>
            </a:r>
            <a:endParaRPr lang="en-IN" sz="1400" b="0" u="none" strike="noStrike">
              <a:solidFill>
                <a:srgbClr val="000000"/>
              </a:solidFill>
              <a:effectLst/>
              <a:uFillTx/>
              <a:latin typeface="Arial"/>
            </a:endParaRPr>
          </a:p>
          <a:p>
            <a:pPr algn="r" defTabSz="914400">
              <a:lnSpc>
                <a:spcPct val="100000"/>
              </a:lnSpc>
              <a:tabLst>
                <a:tab pos="0" algn="l"/>
              </a:tabLst>
            </a:pPr>
            <a:r>
              <a:rPr lang="en-US" sz="1000" b="0" u="none" strike="noStrike">
                <a:solidFill>
                  <a:srgbClr val="385170"/>
                </a:solidFill>
                <a:effectLst/>
                <a:uFillTx/>
                <a:latin typeface="Calibri"/>
              </a:rPr>
              <a:t>Deploying Kafka with Connect</a:t>
            </a:r>
            <a:endParaRPr lang="en-IN" sz="1000" b="0" u="none" strike="noStrike">
              <a:solidFill>
                <a:srgbClr val="000000"/>
              </a:solidFill>
              <a:effectLst/>
              <a:uFillTx/>
              <a:latin typeface="Arial"/>
            </a:endParaRPr>
          </a:p>
        </p:txBody>
      </p:sp>
      <p:sp>
        <p:nvSpPr>
          <p:cNvPr id="42" name="Text 14"/>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Quick Recap: What Day 2 Already Proved</a:t>
            </a:r>
            <a:endParaRPr lang="en-IN" sz="2200" b="0" u="none" strike="noStrike">
              <a:solidFill>
                <a:srgbClr val="000000"/>
              </a:solidFill>
              <a:effectLst/>
              <a:uFillTx/>
              <a:latin typeface="Arial"/>
            </a:endParaRPr>
          </a:p>
        </p:txBody>
      </p:sp>
      <p:sp>
        <p:nvSpPr>
          <p:cNvPr id="44"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45" name="TextBox 3"/>
          <p:cNvSpPr/>
          <p:nvPr/>
        </p:nvSpPr>
        <p:spPr>
          <a:xfrm>
            <a:off x="438840" y="786240"/>
            <a:ext cx="7497720" cy="25560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150" b="0" u="none" strike="noStrike">
                <a:solidFill>
                  <a:srgbClr val="585858"/>
                </a:solidFill>
                <a:effectLst/>
                <a:uFillTx/>
                <a:latin typeface="Calibri"/>
              </a:rPr>
              <a:t>Carry-forward points before the next section.</a:t>
            </a:r>
            <a:endParaRPr lang="en-IN" sz="1150" b="0" u="none" strike="noStrike">
              <a:solidFill>
                <a:srgbClr val="000000"/>
              </a:solidFill>
              <a:effectLst/>
              <a:uFillTx/>
              <a:latin typeface="Arial"/>
            </a:endParaRPr>
          </a:p>
        </p:txBody>
      </p:sp>
      <p:sp>
        <p:nvSpPr>
          <p:cNvPr id="46" name="Rounded Rectangle 4"/>
          <p:cNvSpPr/>
          <p:nvPr/>
        </p:nvSpPr>
        <p:spPr>
          <a:xfrm>
            <a:off x="658440" y="1051560"/>
            <a:ext cx="420120" cy="32868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200" b="1" u="none" strike="noStrike">
                <a:solidFill>
                  <a:srgbClr val="365F91"/>
                </a:solidFill>
                <a:effectLst/>
                <a:uFillTx/>
                <a:latin typeface="Calibri"/>
              </a:rPr>
              <a:t>1</a:t>
            </a:r>
            <a:endParaRPr lang="en-IN" sz="1200" b="0" u="none" strike="noStrike">
              <a:solidFill>
                <a:srgbClr val="000000"/>
              </a:solidFill>
              <a:effectLst/>
              <a:uFillTx/>
              <a:latin typeface="Arial"/>
            </a:endParaRPr>
          </a:p>
        </p:txBody>
      </p:sp>
      <p:sp>
        <p:nvSpPr>
          <p:cNvPr id="47" name="TextBox 5"/>
          <p:cNvSpPr/>
          <p:nvPr/>
        </p:nvSpPr>
        <p:spPr>
          <a:xfrm>
            <a:off x="1170360" y="1033200"/>
            <a:ext cx="690336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450" b="0" u="none" strike="noStrike">
                <a:solidFill>
                  <a:srgbClr val="1E1E1E"/>
                </a:solidFill>
                <a:effectLst/>
                <a:uFillTx/>
                <a:latin typeface="Calibri"/>
              </a:rPr>
              <a:t>Kafka can run locally as a broker with Kafka UI for inspection.</a:t>
            </a:r>
            <a:endParaRPr lang="en-IN" sz="1450" b="0" u="none" strike="noStrike">
              <a:solidFill>
                <a:srgbClr val="000000"/>
              </a:solidFill>
              <a:effectLst/>
              <a:uFillTx/>
              <a:latin typeface="Arial"/>
            </a:endParaRPr>
          </a:p>
        </p:txBody>
      </p:sp>
      <p:sp>
        <p:nvSpPr>
          <p:cNvPr id="48" name="Rounded Rectangle 6"/>
          <p:cNvSpPr/>
          <p:nvPr/>
        </p:nvSpPr>
        <p:spPr>
          <a:xfrm>
            <a:off x="658440" y="1618560"/>
            <a:ext cx="420120" cy="32868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200" b="1" u="none" strike="noStrike">
                <a:solidFill>
                  <a:srgbClr val="365F91"/>
                </a:solidFill>
                <a:effectLst/>
                <a:uFillTx/>
                <a:latin typeface="Calibri"/>
              </a:rPr>
              <a:t>2</a:t>
            </a:r>
            <a:endParaRPr lang="en-IN" sz="1200" b="0" u="none" strike="noStrike">
              <a:solidFill>
                <a:srgbClr val="000000"/>
              </a:solidFill>
              <a:effectLst/>
              <a:uFillTx/>
              <a:latin typeface="Arial"/>
            </a:endParaRPr>
          </a:p>
        </p:txBody>
      </p:sp>
      <p:sp>
        <p:nvSpPr>
          <p:cNvPr id="49" name="TextBox 7"/>
          <p:cNvSpPr/>
          <p:nvPr/>
        </p:nvSpPr>
        <p:spPr>
          <a:xfrm>
            <a:off x="1170360" y="1600200"/>
            <a:ext cx="690336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450" b="0" u="none" strike="noStrike">
                <a:solidFill>
                  <a:srgbClr val="1E1E1E"/>
                </a:solidFill>
                <a:effectLst/>
                <a:uFillTx/>
                <a:latin typeface="Calibri"/>
              </a:rPr>
              <a:t>A topic is the named event stream and partitions are ordered lanes.</a:t>
            </a:r>
            <a:endParaRPr lang="en-IN" sz="1450" b="0" u="none" strike="noStrike">
              <a:solidFill>
                <a:srgbClr val="000000"/>
              </a:solidFill>
              <a:effectLst/>
              <a:uFillTx/>
              <a:latin typeface="Arial"/>
            </a:endParaRPr>
          </a:p>
        </p:txBody>
      </p:sp>
      <p:sp>
        <p:nvSpPr>
          <p:cNvPr id="50" name="Rounded Rectangle 8"/>
          <p:cNvSpPr/>
          <p:nvPr/>
        </p:nvSpPr>
        <p:spPr>
          <a:xfrm>
            <a:off x="658440" y="2185560"/>
            <a:ext cx="420120" cy="32868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200" b="1" u="none" strike="noStrike">
                <a:solidFill>
                  <a:srgbClr val="365F91"/>
                </a:solidFill>
                <a:effectLst/>
                <a:uFillTx/>
                <a:latin typeface="Calibri"/>
              </a:rPr>
              <a:t>3</a:t>
            </a:r>
            <a:endParaRPr lang="en-IN" sz="1200" b="0" u="none" strike="noStrike">
              <a:solidFill>
                <a:srgbClr val="000000"/>
              </a:solidFill>
              <a:effectLst/>
              <a:uFillTx/>
              <a:latin typeface="Arial"/>
            </a:endParaRPr>
          </a:p>
        </p:txBody>
      </p:sp>
      <p:sp>
        <p:nvSpPr>
          <p:cNvPr id="51" name="TextBox 9"/>
          <p:cNvSpPr/>
          <p:nvPr/>
        </p:nvSpPr>
        <p:spPr>
          <a:xfrm>
            <a:off x="1170360" y="2167200"/>
            <a:ext cx="690336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450" b="0" u="none" strike="noStrike">
                <a:solidFill>
                  <a:srgbClr val="1E1E1E"/>
                </a:solidFill>
                <a:effectLst/>
                <a:uFillTx/>
                <a:latin typeface="Calibri"/>
              </a:rPr>
              <a:t>Producers write records with keys and values; consumers read records independently.</a:t>
            </a:r>
            <a:endParaRPr lang="en-IN" sz="1450" b="0" u="none" strike="noStrike">
              <a:solidFill>
                <a:srgbClr val="000000"/>
              </a:solidFill>
              <a:effectLst/>
              <a:uFillTx/>
              <a:latin typeface="Arial"/>
            </a:endParaRPr>
          </a:p>
        </p:txBody>
      </p:sp>
      <p:sp>
        <p:nvSpPr>
          <p:cNvPr id="52" name="Rounded Rectangle 10"/>
          <p:cNvSpPr/>
          <p:nvPr/>
        </p:nvSpPr>
        <p:spPr>
          <a:xfrm>
            <a:off x="658440" y="2752200"/>
            <a:ext cx="420120" cy="32868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200" b="1" u="none" strike="noStrike">
                <a:solidFill>
                  <a:srgbClr val="365F91"/>
                </a:solidFill>
                <a:effectLst/>
                <a:uFillTx/>
                <a:latin typeface="Calibri"/>
              </a:rPr>
              <a:t>4</a:t>
            </a:r>
            <a:endParaRPr lang="en-IN" sz="1200" b="0" u="none" strike="noStrike">
              <a:solidFill>
                <a:srgbClr val="000000"/>
              </a:solidFill>
              <a:effectLst/>
              <a:uFillTx/>
              <a:latin typeface="Arial"/>
            </a:endParaRPr>
          </a:p>
        </p:txBody>
      </p:sp>
      <p:sp>
        <p:nvSpPr>
          <p:cNvPr id="53" name="TextBox 11"/>
          <p:cNvSpPr/>
          <p:nvPr/>
        </p:nvSpPr>
        <p:spPr>
          <a:xfrm>
            <a:off x="1170360" y="2734200"/>
            <a:ext cx="690336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450" b="0" u="none" strike="noStrike">
                <a:solidFill>
                  <a:srgbClr val="1E1E1E"/>
                </a:solidFill>
                <a:effectLst/>
                <a:uFillTx/>
                <a:latin typeface="Calibri"/>
              </a:rPr>
              <a:t>Offsets identify a record position inside one partition.</a:t>
            </a:r>
            <a:endParaRPr lang="en-IN" sz="1450" b="0" u="none" strike="noStrike">
              <a:solidFill>
                <a:srgbClr val="000000"/>
              </a:solidFill>
              <a:effectLst/>
              <a:uFillTx/>
              <a:latin typeface="Arial"/>
            </a:endParaRPr>
          </a:p>
        </p:txBody>
      </p:sp>
      <p:sp>
        <p:nvSpPr>
          <p:cNvPr id="54" name="Rounded Rectangle 12"/>
          <p:cNvSpPr/>
          <p:nvPr/>
        </p:nvSpPr>
        <p:spPr>
          <a:xfrm>
            <a:off x="658440" y="3319200"/>
            <a:ext cx="420120" cy="32868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200" b="1" u="none" strike="noStrike">
                <a:solidFill>
                  <a:srgbClr val="365F91"/>
                </a:solidFill>
                <a:effectLst/>
                <a:uFillTx/>
                <a:latin typeface="Calibri"/>
              </a:rPr>
              <a:t>5</a:t>
            </a:r>
            <a:endParaRPr lang="en-IN" sz="1200" b="0" u="none" strike="noStrike">
              <a:solidFill>
                <a:srgbClr val="000000"/>
              </a:solidFill>
              <a:effectLst/>
              <a:uFillTx/>
              <a:latin typeface="Arial"/>
            </a:endParaRPr>
          </a:p>
        </p:txBody>
      </p:sp>
      <p:sp>
        <p:nvSpPr>
          <p:cNvPr id="55" name="TextBox 13"/>
          <p:cNvSpPr/>
          <p:nvPr/>
        </p:nvSpPr>
        <p:spPr>
          <a:xfrm>
            <a:off x="1170360" y="3300840"/>
            <a:ext cx="690336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450" b="0" u="none" strike="noStrike">
                <a:solidFill>
                  <a:srgbClr val="1E1E1E"/>
                </a:solidFill>
                <a:effectLst/>
                <a:uFillTx/>
                <a:latin typeface="Calibri"/>
              </a:rPr>
              <a:t>Day 3 turns those basics into scaling, durability and operations evidence.</a:t>
            </a:r>
            <a:endParaRPr lang="en-IN" sz="1450" b="0" u="none" strike="noStrike">
              <a:solidFill>
                <a:srgbClr val="000000"/>
              </a:solidFill>
              <a:effectLst/>
              <a:uFillTx/>
              <a:latin typeface="Arial"/>
            </a:endParaRPr>
          </a:p>
        </p:txBody>
      </p:sp>
      <p:sp>
        <p:nvSpPr>
          <p:cNvPr id="56" name="TextBox 14"/>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[4]</a:t>
            </a:r>
            <a:endParaRPr lang="en-IN" sz="8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7" name="Text 0"/>
          <p:cNvSpPr/>
          <p:nvPr/>
        </p:nvSpPr>
        <p:spPr>
          <a:xfrm>
            <a:off x="457200" y="365760"/>
            <a:ext cx="82288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Consumer Groups: What &amp; Why</a:t>
            </a:r>
            <a:endParaRPr lang="en-IN" sz="2200" b="0" u="none" strike="noStrike">
              <a:solidFill>
                <a:srgbClr val="000000"/>
              </a:solidFill>
              <a:effectLst/>
              <a:uFillTx/>
              <a:latin typeface="Arial"/>
            </a:endParaRPr>
          </a:p>
        </p:txBody>
      </p:sp>
      <p:pic>
        <p:nvPicPr>
          <p:cNvPr id="58" name="Image 0"/>
          <p:cNvPicPr/>
          <p:nvPr/>
        </p:nvPicPr>
        <p:blipFill>
          <a:blip r:embed="rId3"/>
          <a:stretch/>
        </p:blipFill>
        <p:spPr>
          <a:xfrm>
            <a:off x="640080" y="1280160"/>
            <a:ext cx="365040" cy="365040"/>
          </a:xfrm>
          <a:prstGeom prst="rect">
            <a:avLst/>
          </a:prstGeom>
          <a:noFill/>
          <a:ln w="0">
            <a:noFill/>
          </a:ln>
        </p:spPr>
      </p:pic>
      <p:sp>
        <p:nvSpPr>
          <p:cNvPr id="59" name="Text 1"/>
          <p:cNvSpPr/>
          <p:nvPr/>
        </p:nvSpPr>
        <p:spPr>
          <a:xfrm>
            <a:off x="457200" y="1691640"/>
            <a:ext cx="9136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385170"/>
                </a:solidFill>
                <a:effectLst/>
                <a:uFillTx/>
                <a:latin typeface="Calibri"/>
              </a:rPr>
              <a:t>Producers</a:t>
            </a:r>
            <a:endParaRPr lang="en-IN" sz="900" b="0" u="none" strike="noStrike">
              <a:solidFill>
                <a:srgbClr val="000000"/>
              </a:solidFill>
              <a:effectLst/>
              <a:uFillTx/>
              <a:latin typeface="Arial"/>
            </a:endParaRPr>
          </a:p>
        </p:txBody>
      </p:sp>
      <p:sp>
        <p:nvSpPr>
          <p:cNvPr id="60" name="Shape 2"/>
          <p:cNvSpPr/>
          <p:nvPr/>
        </p:nvSpPr>
        <p:spPr>
          <a:xfrm>
            <a:off x="1371600" y="1417320"/>
            <a:ext cx="913680" cy="90720"/>
          </a:xfrm>
          <a:prstGeom prst="rightArrow">
            <a:avLst>
              <a:gd name="adj1" fmla="val 50000"/>
              <a:gd name="adj2" fmla="val 50000"/>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720" rIns="90000" bIns="72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61" name="Shape 3"/>
          <p:cNvSpPr/>
          <p:nvPr/>
        </p:nvSpPr>
        <p:spPr>
          <a:xfrm>
            <a:off x="2468880" y="1280160"/>
            <a:ext cx="1096560" cy="365040"/>
          </a:xfrm>
          <a:prstGeom prst="rect">
            <a:avLst/>
          </a:prstGeom>
          <a:solidFill>
            <a:srgbClr val="D6E0F0"/>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62" name="Text 4"/>
          <p:cNvSpPr/>
          <p:nvPr/>
        </p:nvSpPr>
        <p:spPr>
          <a:xfrm>
            <a:off x="2468880" y="1280160"/>
            <a:ext cx="109656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2F5597"/>
                </a:solidFill>
                <a:effectLst/>
                <a:uFillTx/>
                <a:latin typeface="Calibri"/>
              </a:rPr>
              <a:t>Topic</a:t>
            </a:r>
            <a:endParaRPr lang="en-IN" sz="900" b="0" u="none" strike="noStrike">
              <a:solidFill>
                <a:srgbClr val="000000"/>
              </a:solidFill>
              <a:effectLst/>
              <a:uFillTx/>
              <a:latin typeface="Arial"/>
            </a:endParaRPr>
          </a:p>
        </p:txBody>
      </p:sp>
      <p:sp>
        <p:nvSpPr>
          <p:cNvPr id="63" name="Shape 5"/>
          <p:cNvSpPr/>
          <p:nvPr/>
        </p:nvSpPr>
        <p:spPr>
          <a:xfrm>
            <a:off x="3749040" y="1417320"/>
            <a:ext cx="913680" cy="90720"/>
          </a:xfrm>
          <a:prstGeom prst="rightArrow">
            <a:avLst>
              <a:gd name="adj1" fmla="val 50000"/>
              <a:gd name="adj2" fmla="val 50000"/>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720" rIns="90000" bIns="72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64" name="Shape 6"/>
          <p:cNvSpPr/>
          <p:nvPr/>
        </p:nvSpPr>
        <p:spPr>
          <a:xfrm>
            <a:off x="4846320" y="1280160"/>
            <a:ext cx="3199680" cy="639360"/>
          </a:xfrm>
          <a:prstGeom prst="roundRect">
            <a:avLst>
              <a:gd name="adj" fmla="val 14286"/>
            </a:avLst>
          </a:prstGeom>
          <a:solidFill>
            <a:srgbClr val="F2F6FA"/>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65" name="Text 7"/>
          <p:cNvSpPr/>
          <p:nvPr/>
        </p:nvSpPr>
        <p:spPr>
          <a:xfrm>
            <a:off x="4846320" y="1280160"/>
            <a:ext cx="31996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1000" b="1" u="none" strike="noStrike">
                <a:solidFill>
                  <a:srgbClr val="2F5597"/>
                </a:solidFill>
                <a:effectLst/>
                <a:uFillTx/>
                <a:latin typeface="Calibri"/>
              </a:rPr>
              <a:t>Consumer Group (Group ID)</a:t>
            </a:r>
            <a:endParaRPr lang="en-IN" sz="1000" b="0" u="none" strike="noStrike">
              <a:solidFill>
                <a:srgbClr val="000000"/>
              </a:solidFill>
              <a:effectLst/>
              <a:uFillTx/>
              <a:latin typeface="Arial"/>
            </a:endParaRPr>
          </a:p>
        </p:txBody>
      </p:sp>
      <p:sp>
        <p:nvSpPr>
          <p:cNvPr id="66" name="Shape 8"/>
          <p:cNvSpPr/>
          <p:nvPr/>
        </p:nvSpPr>
        <p:spPr>
          <a:xfrm>
            <a:off x="5029200" y="1600200"/>
            <a:ext cx="456480" cy="456480"/>
          </a:xfrm>
          <a:prstGeom prst="ellipse">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67" name="Text 9"/>
          <p:cNvSpPr/>
          <p:nvPr/>
        </p:nvSpPr>
        <p:spPr>
          <a:xfrm>
            <a:off x="5029200" y="1600200"/>
            <a:ext cx="4564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FFFFFF"/>
                </a:solidFill>
                <a:effectLst/>
                <a:uFillTx/>
                <a:latin typeface="Calibri"/>
              </a:rPr>
              <a:t>C1</a:t>
            </a:r>
            <a:endParaRPr lang="en-IN" sz="800" b="0" u="none" strike="noStrike">
              <a:solidFill>
                <a:srgbClr val="000000"/>
              </a:solidFill>
              <a:effectLst/>
              <a:uFillTx/>
              <a:latin typeface="Arial"/>
            </a:endParaRPr>
          </a:p>
        </p:txBody>
      </p:sp>
      <p:sp>
        <p:nvSpPr>
          <p:cNvPr id="68" name="Shape 10"/>
          <p:cNvSpPr/>
          <p:nvPr/>
        </p:nvSpPr>
        <p:spPr>
          <a:xfrm>
            <a:off x="6035040" y="1600200"/>
            <a:ext cx="456480" cy="456480"/>
          </a:xfrm>
          <a:prstGeom prst="ellipse">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69" name="Text 11"/>
          <p:cNvSpPr/>
          <p:nvPr/>
        </p:nvSpPr>
        <p:spPr>
          <a:xfrm>
            <a:off x="6035040" y="1600200"/>
            <a:ext cx="4564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FFFFFF"/>
                </a:solidFill>
                <a:effectLst/>
                <a:uFillTx/>
                <a:latin typeface="Calibri"/>
              </a:rPr>
              <a:t>C2</a:t>
            </a:r>
            <a:endParaRPr lang="en-IN" sz="800" b="0" u="none" strike="noStrike">
              <a:solidFill>
                <a:srgbClr val="000000"/>
              </a:solidFill>
              <a:effectLst/>
              <a:uFillTx/>
              <a:latin typeface="Arial"/>
            </a:endParaRPr>
          </a:p>
        </p:txBody>
      </p:sp>
      <p:sp>
        <p:nvSpPr>
          <p:cNvPr id="70" name="Shape 12"/>
          <p:cNvSpPr/>
          <p:nvPr/>
        </p:nvSpPr>
        <p:spPr>
          <a:xfrm>
            <a:off x="7040880" y="1600200"/>
            <a:ext cx="456480" cy="456480"/>
          </a:xfrm>
          <a:prstGeom prst="ellipse">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71" name="Text 13"/>
          <p:cNvSpPr/>
          <p:nvPr/>
        </p:nvSpPr>
        <p:spPr>
          <a:xfrm>
            <a:off x="7040880" y="1600200"/>
            <a:ext cx="4564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FFFFFF"/>
                </a:solidFill>
                <a:effectLst/>
                <a:uFillTx/>
                <a:latin typeface="Calibri"/>
              </a:rPr>
              <a:t>C3</a:t>
            </a:r>
            <a:endParaRPr lang="en-IN" sz="800" b="0" u="none" strike="noStrike">
              <a:solidFill>
                <a:srgbClr val="000000"/>
              </a:solidFill>
              <a:effectLst/>
              <a:uFillTx/>
              <a:latin typeface="Arial"/>
            </a:endParaRPr>
          </a:p>
        </p:txBody>
      </p:sp>
      <p:sp>
        <p:nvSpPr>
          <p:cNvPr id="72" name="Text 14"/>
          <p:cNvSpPr/>
          <p:nvPr/>
        </p:nvSpPr>
        <p:spPr>
          <a:xfrm>
            <a:off x="457200" y="2468880"/>
            <a:ext cx="8686080" cy="1828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0" u="none" strike="noStrike">
                <a:solidFill>
                  <a:srgbClr val="385170"/>
                </a:solidFill>
                <a:effectLst/>
                <a:uFillTx/>
                <a:latin typeface="Calibri"/>
              </a:rPr>
              <a:t>• A consumer group consists of one or more consumers that share a group ID and divide partitions.</a:t>
            </a:r>
            <a:endParaRPr lang="en-IN" sz="1200" b="0" u="none" strike="noStrike">
              <a:solidFill>
                <a:srgbClr val="000000"/>
              </a:solidFill>
              <a:effectLst/>
              <a:uFillTx/>
              <a:latin typeface="Arial"/>
            </a:endParaRPr>
          </a:p>
          <a:p>
            <a:pPr defTabSz="914400">
              <a:lnSpc>
                <a:spcPct val="100000"/>
              </a:lnSpc>
            </a:pPr>
            <a:r>
              <a:rPr lang="en-US" sz="1200" b="0" u="none" strike="noStrike">
                <a:solidFill>
                  <a:srgbClr val="385170"/>
                </a:solidFill>
                <a:effectLst/>
                <a:uFillTx/>
                <a:latin typeface="Calibri"/>
              </a:rPr>
              <a:t>• It enables horizontal scalability — partitions are assigned to different consumers.</a:t>
            </a:r>
            <a:endParaRPr lang="en-IN"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385170"/>
                </a:solidFill>
                <a:effectLst/>
                <a:uFillTx/>
                <a:latin typeface="Calibri"/>
              </a:rPr>
              <a:t>• The group coordinator tracks membership and offsets in the __consumer_offsets topic.</a:t>
            </a:r>
            <a:endParaRPr lang="en-IN" sz="1200" b="0" u="none" strike="noStrike">
              <a:solidFill>
                <a:srgbClr val="000000"/>
              </a:solidFill>
              <a:effectLst/>
              <a:uFillTx/>
              <a:latin typeface="Arial"/>
            </a:endParaRPr>
          </a:p>
        </p:txBody>
      </p:sp>
      <p:sp>
        <p:nvSpPr>
          <p:cNvPr id="73" name="Text 15"/>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4"/>
              </a:rPr>
              <a:t>[1]</a:t>
            </a:r>
            <a:endParaRPr lang="en-IN" sz="7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4"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Read the Diagram: Consumer Groups Share Partition Work</a:t>
            </a:r>
            <a:endParaRPr lang="en-IN" sz="2200" b="0" u="none" strike="noStrike">
              <a:solidFill>
                <a:srgbClr val="000000"/>
              </a:solidFill>
              <a:effectLst/>
              <a:uFillTx/>
              <a:latin typeface="Arial"/>
            </a:endParaRPr>
          </a:p>
        </p:txBody>
      </p:sp>
      <p:sp>
        <p:nvSpPr>
          <p:cNvPr id="75" name="Text 1"/>
          <p:cNvSpPr/>
          <p:nvPr/>
        </p:nvSpPr>
        <p:spPr>
          <a:xfrm>
            <a:off x="457200" y="1097280"/>
            <a:ext cx="4754160" cy="2193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100" b="0" u="none" strike="noStrike">
                <a:solidFill>
                  <a:srgbClr val="385170"/>
                </a:solidFill>
                <a:effectLst/>
                <a:uFillTx/>
                <a:latin typeface="Calibri"/>
              </a:rPr>
              <a:t>Each consumer group receives its own view of the topic. Within one group, a partition is assigned to one active consumer at a time.</a:t>
            </a:r>
            <a:endParaRPr lang="en-IN" sz="1100" b="0" u="none" strike="noStrike">
              <a:solidFill>
                <a:srgbClr val="000000"/>
              </a:solidFill>
              <a:effectLst/>
              <a:uFillTx/>
              <a:latin typeface="Arial"/>
            </a:endParaRPr>
          </a:p>
          <a:p>
            <a:pPr defTabSz="914400">
              <a:lnSpc>
                <a:spcPct val="100000"/>
              </a:lnSpc>
              <a:tabLst>
                <a:tab pos="0" algn="l"/>
              </a:tabLst>
            </a:pP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Use this picture before the assignment and rebalance exercise.</a:t>
            </a:r>
            <a:endParaRPr lang="en-IN" sz="1100" b="0" u="none" strike="noStrike">
              <a:solidFill>
                <a:srgbClr val="000000"/>
              </a:solidFill>
              <a:effectLst/>
              <a:uFillTx/>
              <a:latin typeface="Arial"/>
            </a:endParaRPr>
          </a:p>
        </p:txBody>
      </p:sp>
      <p:pic>
        <p:nvPicPr>
          <p:cNvPr id="76" name="Image 0"/>
          <p:cNvPicPr/>
          <p:nvPr/>
        </p:nvPicPr>
        <p:blipFill>
          <a:blip r:embed="rId3"/>
          <a:stretch/>
        </p:blipFill>
        <p:spPr>
          <a:xfrm>
            <a:off x="5486400" y="1097280"/>
            <a:ext cx="3199680" cy="2193840"/>
          </a:xfrm>
          <a:prstGeom prst="rect">
            <a:avLst/>
          </a:prstGeom>
          <a:noFill/>
          <a:ln w="0">
            <a:noFill/>
          </a:ln>
        </p:spPr>
      </p:pic>
      <p:sp>
        <p:nvSpPr>
          <p:cNvPr id="77" name="Text 2"/>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4"/>
              </a:rPr>
              <a:t>[1] Hodges, Medium, 1 Apr 2024; terms verified with Apache Kafka documentation</a:t>
            </a:r>
            <a:endParaRPr lang="en-IN" sz="70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Group Coordinator: The Broker That Manages Membership</a:t>
            </a:r>
            <a:endParaRPr lang="en-IN" sz="2200" b="0" u="none" strike="noStrike">
              <a:solidFill>
                <a:srgbClr val="000000"/>
              </a:solidFill>
              <a:effectLst/>
              <a:uFillTx/>
              <a:latin typeface="Arial"/>
            </a:endParaRPr>
          </a:p>
        </p:txBody>
      </p:sp>
      <p:sp>
        <p:nvSpPr>
          <p:cNvPr id="79"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80" name="Picture 3" descr="group_coordinator.png"/>
          <p:cNvPicPr/>
          <p:nvPr/>
        </p:nvPicPr>
        <p:blipFill>
          <a:blip r:embed="rId2"/>
          <a:stretch/>
        </p:blipFill>
        <p:spPr>
          <a:xfrm>
            <a:off x="640080" y="960120"/>
            <a:ext cx="4251600" cy="3062880"/>
          </a:xfrm>
          <a:prstGeom prst="rect">
            <a:avLst/>
          </a:prstGeom>
          <a:noFill/>
          <a:ln w="0">
            <a:noFill/>
          </a:ln>
        </p:spPr>
      </p:pic>
      <p:sp>
        <p:nvSpPr>
          <p:cNvPr id="81" name="TextBox 4"/>
          <p:cNvSpPr/>
          <p:nvPr/>
        </p:nvSpPr>
        <p:spPr>
          <a:xfrm>
            <a:off x="5212080" y="1051560"/>
            <a:ext cx="3108600" cy="297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One broker coordinates each consumer group.</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It tracks members, heartbeats and partition assignments.</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It also manages committed offset writes into Kafka internal topics.</a:t>
            </a:r>
            <a:endParaRPr lang="en-IN" sz="1350" b="0" u="none" strike="noStrike">
              <a:solidFill>
                <a:srgbClr val="000000"/>
              </a:solidFill>
              <a:effectLst/>
              <a:uFillTx/>
              <a:latin typeface="Arial"/>
            </a:endParaRPr>
          </a:p>
        </p:txBody>
      </p:sp>
      <p:sp>
        <p:nvSpPr>
          <p:cNvPr id="82" name="TextBox 5"/>
          <p:cNvSpPr/>
          <p:nvPr/>
        </p:nvSpPr>
        <p:spPr>
          <a:xfrm>
            <a:off x="658440" y="4224600"/>
            <a:ext cx="7406280" cy="21924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850" b="0" u="none" strike="noStrike">
                <a:solidFill>
                  <a:srgbClr val="585858"/>
                </a:solidFill>
                <a:effectLst/>
                <a:uFillTx/>
                <a:latin typeface="Calibri"/>
              </a:rPr>
              <a:t>Source: Confluent consumer group architecture course.</a:t>
            </a:r>
            <a:endParaRPr lang="en-IN" sz="850" b="0" u="none" strike="noStrike">
              <a:solidFill>
                <a:srgbClr val="000000"/>
              </a:solidFill>
              <a:effectLst/>
              <a:uFillTx/>
              <a:latin typeface="Arial"/>
            </a:endParaRPr>
          </a:p>
        </p:txBody>
      </p:sp>
      <p:sp>
        <p:nvSpPr>
          <p:cNvPr id="83" name="TextBox 6"/>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[8]</a:t>
            </a:r>
            <a:endParaRPr lang="en-IN" sz="800" b="0" u="none" strike="noStrike">
              <a:solidFill>
                <a:srgbClr val="000000"/>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4"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Partition Assignment &amp; Scaling</a:t>
            </a:r>
            <a:endParaRPr lang="en-IN" sz="2200" b="0" u="none" strike="noStrike">
              <a:solidFill>
                <a:srgbClr val="000000"/>
              </a:solidFill>
              <a:effectLst/>
              <a:uFillTx/>
              <a:latin typeface="Arial"/>
            </a:endParaRPr>
          </a:p>
        </p:txBody>
      </p:sp>
      <p:graphicFrame>
        <p:nvGraphicFramePr>
          <p:cNvPr id="85" name="Table 0"/>
          <p:cNvGraphicFramePr/>
          <p:nvPr/>
        </p:nvGraphicFramePr>
        <p:xfrm>
          <a:off x="457200" y="1097280"/>
          <a:ext cx="8686440" cy="1371600"/>
        </p:xfrm>
        <a:graphic>
          <a:graphicData uri="http://schemas.openxmlformats.org/drawingml/2006/table">
            <a:tbl>
              <a:tblPr/>
              <a:tblGrid>
                <a:gridCol w="2895480">
                  <a:extLst>
                    <a:ext uri="{9D8B030D-6E8A-4147-A177-3AD203B41FA5}">
                      <a16:colId xmlns:a16="http://schemas.microsoft.com/office/drawing/2014/main" val="20000"/>
                    </a:ext>
                  </a:extLst>
                </a:gridCol>
                <a:gridCol w="2895480">
                  <a:extLst>
                    <a:ext uri="{9D8B030D-6E8A-4147-A177-3AD203B41FA5}">
                      <a16:colId xmlns:a16="http://schemas.microsoft.com/office/drawing/2014/main" val="20001"/>
                    </a:ext>
                  </a:extLst>
                </a:gridCol>
                <a:gridCol w="2895480">
                  <a:extLst>
                    <a:ext uri="{9D8B030D-6E8A-4147-A177-3AD203B41FA5}">
                      <a16:colId xmlns:a16="http://schemas.microsoft.com/office/drawing/2014/main" val="20002"/>
                    </a:ext>
                  </a:extLst>
                </a:gridCol>
              </a:tblGrid>
              <a:tr h="182880">
                <a:tc>
                  <a:txBody>
                    <a:bodyPr/>
                    <a:lstStyle/>
                    <a:p>
                      <a:pPr defTabSz="914400">
                        <a:lnSpc>
                          <a:spcPct val="100000"/>
                        </a:lnSpc>
                        <a:tabLst>
                          <a:tab pos="0" algn="l"/>
                        </a:tabLst>
                      </a:pPr>
                      <a:r>
                        <a:rPr lang="en-IN" sz="1000" b="1" u="none" strike="noStrike">
                          <a:solidFill>
                            <a:srgbClr val="FFFFFF"/>
                          </a:solidFill>
                          <a:effectLst/>
                          <a:uFillTx/>
                          <a:latin typeface="Calibri"/>
                          <a:ea typeface="Calibri"/>
                        </a:rPr>
                        <a:t>Strategy</a:t>
                      </a:r>
                      <a:endParaRPr lang="en-IN" sz="1000" b="0" u="none" strike="noStrike">
                        <a:solidFill>
                          <a:srgbClr val="FFFFFF"/>
                        </a:solidFill>
                        <a:effectLst/>
                        <a:uFillTx/>
                        <a:latin typeface="Arial"/>
                      </a:endParaRPr>
                    </a:p>
                  </a:txBody>
                  <a:tcPr>
                    <a:lnL w="6480">
                      <a:solidFill>
                        <a:srgbClr val="D6E0F0"/>
                      </a:solidFill>
                      <a:prstDash val="solid"/>
                    </a:lnL>
                    <a:lnR w="6480">
                      <a:solidFill>
                        <a:srgbClr val="D6E0F0"/>
                      </a:solidFill>
                      <a:prstDash val="solid"/>
                    </a:lnR>
                    <a:lnT w="6480">
                      <a:solidFill>
                        <a:srgbClr val="D6E0F0"/>
                      </a:solidFill>
                      <a:prstDash val="solid"/>
                    </a:lnT>
                    <a:lnB w="6480">
                      <a:solidFill>
                        <a:srgbClr val="D6E0F0"/>
                      </a:solidFill>
                      <a:prstDash val="solid"/>
                    </a:lnB>
                    <a:solidFill>
                      <a:srgbClr val="4F81BD"/>
                    </a:solidFill>
                  </a:tcPr>
                </a:tc>
                <a:tc>
                  <a:txBody>
                    <a:bodyPr/>
                    <a:lstStyle/>
                    <a:p>
                      <a:pPr defTabSz="914400">
                        <a:lnSpc>
                          <a:spcPct val="100000"/>
                        </a:lnSpc>
                        <a:tabLst>
                          <a:tab pos="0" algn="l"/>
                        </a:tabLst>
                      </a:pPr>
                      <a:r>
                        <a:rPr lang="en-IN" sz="1000" b="1" u="none" strike="noStrike">
                          <a:solidFill>
                            <a:srgbClr val="FFFFFF"/>
                          </a:solidFill>
                          <a:effectLst/>
                          <a:uFillTx/>
                          <a:latin typeface="Calibri"/>
                          <a:ea typeface="Calibri"/>
                        </a:rPr>
                        <a:t>Description</a:t>
                      </a:r>
                      <a:endParaRPr lang="en-IN" sz="1000" b="0" u="none" strike="noStrike">
                        <a:solidFill>
                          <a:srgbClr val="FFFFFF"/>
                        </a:solidFill>
                        <a:effectLst/>
                        <a:uFillTx/>
                        <a:latin typeface="Arial"/>
                      </a:endParaRPr>
                    </a:p>
                  </a:txBody>
                  <a:tcPr>
                    <a:lnL w="6480">
                      <a:solidFill>
                        <a:srgbClr val="D6E0F0"/>
                      </a:solidFill>
                      <a:prstDash val="solid"/>
                    </a:lnL>
                    <a:lnR w="6480">
                      <a:solidFill>
                        <a:srgbClr val="D6E0F0"/>
                      </a:solidFill>
                      <a:prstDash val="solid"/>
                    </a:lnR>
                    <a:lnT w="6480">
                      <a:solidFill>
                        <a:srgbClr val="D6E0F0"/>
                      </a:solidFill>
                      <a:prstDash val="solid"/>
                    </a:lnT>
                    <a:lnB w="6480">
                      <a:solidFill>
                        <a:srgbClr val="D6E0F0"/>
                      </a:solidFill>
                      <a:prstDash val="solid"/>
                    </a:lnB>
                    <a:solidFill>
                      <a:srgbClr val="4F81BD"/>
                    </a:solidFill>
                  </a:tcPr>
                </a:tc>
                <a:tc>
                  <a:txBody>
                    <a:bodyPr/>
                    <a:lstStyle/>
                    <a:p>
                      <a:pPr defTabSz="914400">
                        <a:lnSpc>
                          <a:spcPct val="100000"/>
                        </a:lnSpc>
                        <a:tabLst>
                          <a:tab pos="0" algn="l"/>
                        </a:tabLst>
                      </a:pPr>
                      <a:r>
                        <a:rPr lang="en-IN" sz="1000" b="1" u="none" strike="noStrike">
                          <a:solidFill>
                            <a:srgbClr val="FFFFFF"/>
                          </a:solidFill>
                          <a:effectLst/>
                          <a:uFillTx/>
                          <a:latin typeface="Calibri"/>
                          <a:ea typeface="Calibri"/>
                        </a:rPr>
                        <a:t>Pros / Cons</a:t>
                      </a:r>
                      <a:endParaRPr lang="en-IN" sz="1000" b="0" u="none" strike="noStrike">
                        <a:solidFill>
                          <a:srgbClr val="FFFFFF"/>
                        </a:solidFill>
                        <a:effectLst/>
                        <a:uFillTx/>
                        <a:latin typeface="Arial"/>
                      </a:endParaRPr>
                    </a:p>
                  </a:txBody>
                  <a:tcPr>
                    <a:lnL w="6480">
                      <a:solidFill>
                        <a:srgbClr val="D6E0F0"/>
                      </a:solidFill>
                      <a:prstDash val="solid"/>
                    </a:lnL>
                    <a:lnR w="6480">
                      <a:solidFill>
                        <a:srgbClr val="D6E0F0"/>
                      </a:solidFill>
                      <a:prstDash val="solid"/>
                    </a:lnR>
                    <a:lnT w="6480">
                      <a:solidFill>
                        <a:srgbClr val="D6E0F0"/>
                      </a:solidFill>
                      <a:prstDash val="solid"/>
                    </a:lnT>
                    <a:lnB w="6480">
                      <a:solidFill>
                        <a:srgbClr val="D6E0F0"/>
                      </a:solidFill>
                      <a:prstDash val="solid"/>
                    </a:lnB>
                    <a:solidFill>
                      <a:srgbClr val="4F81BD"/>
                    </a:solidFill>
                  </a:tcPr>
                </a:tc>
                <a:extLst>
                  <a:ext uri="{0D108BD9-81ED-4DB2-BD59-A6C34878D82A}">
                    <a16:rowId xmlns:a16="http://schemas.microsoft.com/office/drawing/2014/main" val="10000"/>
                  </a:ext>
                </a:extLst>
              </a:tr>
              <a:tr h="182880">
                <a:tc>
                  <a:txBody>
                    <a:bodyPr/>
                    <a:lstStyle/>
                    <a:p>
                      <a:pPr defTabSz="914400">
                        <a:lnSpc>
                          <a:spcPct val="100000"/>
                        </a:lnSpc>
                        <a:tabLst>
                          <a:tab pos="0" algn="l"/>
                        </a:tabLst>
                      </a:pPr>
                      <a:r>
                        <a:rPr lang="en-IN" sz="1000" b="0" u="none" strike="noStrike">
                          <a:solidFill>
                            <a:srgbClr val="385170"/>
                          </a:solidFill>
                          <a:effectLst/>
                          <a:uFillTx/>
                          <a:latin typeface="Calibri"/>
                          <a:ea typeface="Calibri"/>
                        </a:rPr>
                        <a:t>Range</a:t>
                      </a:r>
                      <a:endParaRPr lang="en-IN" sz="1000" b="0" u="none" strike="noStrike">
                        <a:solidFill>
                          <a:srgbClr val="000000"/>
                        </a:solidFill>
                        <a:effectLst/>
                        <a:uFillTx/>
                        <a:latin typeface="Arial"/>
                      </a:endParaRPr>
                    </a:p>
                  </a:txBody>
                  <a:tcPr>
                    <a:lnL w="6480">
                      <a:solidFill>
                        <a:srgbClr val="D6E0F0"/>
                      </a:solidFill>
                      <a:prstDash val="solid"/>
                    </a:lnL>
                    <a:lnR w="6480">
                      <a:solidFill>
                        <a:srgbClr val="D6E0F0"/>
                      </a:solidFill>
                      <a:prstDash val="solid"/>
                    </a:lnR>
                    <a:lnT w="6480">
                      <a:solidFill>
                        <a:srgbClr val="D6E0F0"/>
                      </a:solidFill>
                      <a:prstDash val="solid"/>
                    </a:lnT>
                    <a:lnB w="6480">
                      <a:solidFill>
                        <a:srgbClr val="D6E0F0"/>
                      </a:solidFill>
                      <a:prstDash val="solid"/>
                    </a:lnB>
                    <a:solidFill>
                      <a:srgbClr val="F2F6FA"/>
                    </a:solidFill>
                  </a:tcPr>
                </a:tc>
                <a:tc>
                  <a:txBody>
                    <a:bodyPr/>
                    <a:lstStyle/>
                    <a:p>
                      <a:pPr defTabSz="914400">
                        <a:lnSpc>
                          <a:spcPct val="100000"/>
                        </a:lnSpc>
                        <a:tabLst>
                          <a:tab pos="0" algn="l"/>
                        </a:tabLst>
                      </a:pPr>
                      <a:r>
                        <a:rPr lang="en-IN" sz="1000" b="0" u="none" strike="noStrike">
                          <a:solidFill>
                            <a:srgbClr val="385170"/>
                          </a:solidFill>
                          <a:effectLst/>
                          <a:uFillTx/>
                          <a:latin typeface="Calibri"/>
                          <a:ea typeface="Calibri"/>
                        </a:rPr>
                        <a:t>Assigns consecutive partitions to consumers in order.</a:t>
                      </a:r>
                      <a:endParaRPr lang="en-IN" sz="1000" b="0" u="none" strike="noStrike">
                        <a:solidFill>
                          <a:srgbClr val="000000"/>
                        </a:solidFill>
                        <a:effectLst/>
                        <a:uFillTx/>
                        <a:latin typeface="Arial"/>
                      </a:endParaRPr>
                    </a:p>
                  </a:txBody>
                  <a:tcPr>
                    <a:lnL w="6480">
                      <a:solidFill>
                        <a:srgbClr val="D6E0F0"/>
                      </a:solidFill>
                      <a:prstDash val="solid"/>
                    </a:lnL>
                    <a:lnR w="6480">
                      <a:solidFill>
                        <a:srgbClr val="D6E0F0"/>
                      </a:solidFill>
                      <a:prstDash val="solid"/>
                    </a:lnR>
                    <a:lnT w="6480">
                      <a:solidFill>
                        <a:srgbClr val="D6E0F0"/>
                      </a:solidFill>
                      <a:prstDash val="solid"/>
                    </a:lnT>
                    <a:lnB w="6480">
                      <a:solidFill>
                        <a:srgbClr val="D6E0F0"/>
                      </a:solidFill>
                      <a:prstDash val="solid"/>
                    </a:lnB>
                    <a:noFill/>
                  </a:tcPr>
                </a:tc>
                <a:tc>
                  <a:txBody>
                    <a:bodyPr/>
                    <a:lstStyle/>
                    <a:p>
                      <a:pPr defTabSz="914400">
                        <a:lnSpc>
                          <a:spcPct val="100000"/>
                        </a:lnSpc>
                        <a:tabLst>
                          <a:tab pos="0" algn="l"/>
                        </a:tabLst>
                      </a:pPr>
                      <a:r>
                        <a:rPr lang="en-IN" sz="1000" b="0" u="none" strike="noStrike">
                          <a:solidFill>
                            <a:srgbClr val="385170"/>
                          </a:solidFill>
                          <a:effectLst/>
                          <a:uFillTx/>
                          <a:latin typeface="Calibri"/>
                          <a:ea typeface="Calibri"/>
                        </a:rPr>
                        <a:t>Simple; may cause skew if partitions vary.</a:t>
                      </a:r>
                      <a:endParaRPr lang="en-IN" sz="1000" b="0" u="none" strike="noStrike">
                        <a:solidFill>
                          <a:srgbClr val="000000"/>
                        </a:solidFill>
                        <a:effectLst/>
                        <a:uFillTx/>
                        <a:latin typeface="Arial"/>
                      </a:endParaRPr>
                    </a:p>
                  </a:txBody>
                  <a:tcPr>
                    <a:lnL w="6480">
                      <a:solidFill>
                        <a:srgbClr val="D6E0F0"/>
                      </a:solidFill>
                      <a:prstDash val="solid"/>
                    </a:lnL>
                    <a:lnR w="6480">
                      <a:solidFill>
                        <a:srgbClr val="D6E0F0"/>
                      </a:solidFill>
                      <a:prstDash val="solid"/>
                    </a:lnR>
                    <a:lnT w="6480">
                      <a:solidFill>
                        <a:srgbClr val="D6E0F0"/>
                      </a:solidFill>
                      <a:prstDash val="solid"/>
                    </a:lnT>
                    <a:lnB w="6480">
                      <a:solidFill>
                        <a:srgbClr val="D6E0F0"/>
                      </a:solidFill>
                      <a:prstDash val="solid"/>
                    </a:lnB>
                    <a:noFill/>
                  </a:tcPr>
                </a:tc>
                <a:extLst>
                  <a:ext uri="{0D108BD9-81ED-4DB2-BD59-A6C34878D82A}">
                    <a16:rowId xmlns:a16="http://schemas.microsoft.com/office/drawing/2014/main" val="10001"/>
                  </a:ext>
                </a:extLst>
              </a:tr>
              <a:tr h="182880">
                <a:tc>
                  <a:txBody>
                    <a:bodyPr/>
                    <a:lstStyle/>
                    <a:p>
                      <a:pPr defTabSz="914400">
                        <a:lnSpc>
                          <a:spcPct val="100000"/>
                        </a:lnSpc>
                        <a:tabLst>
                          <a:tab pos="0" algn="l"/>
                        </a:tabLst>
                      </a:pPr>
                      <a:r>
                        <a:rPr lang="en-IN" sz="1000" b="0" u="none" strike="noStrike">
                          <a:solidFill>
                            <a:srgbClr val="385170"/>
                          </a:solidFill>
                          <a:effectLst/>
                          <a:uFillTx/>
                          <a:latin typeface="Calibri"/>
                          <a:ea typeface="Calibri"/>
                        </a:rPr>
                        <a:t>Round‑Robin</a:t>
                      </a:r>
                      <a:endParaRPr lang="en-IN" sz="1000" b="0" u="none" strike="noStrike">
                        <a:solidFill>
                          <a:srgbClr val="000000"/>
                        </a:solidFill>
                        <a:effectLst/>
                        <a:uFillTx/>
                        <a:latin typeface="Arial"/>
                      </a:endParaRPr>
                    </a:p>
                  </a:txBody>
                  <a:tcPr>
                    <a:lnL w="6480">
                      <a:solidFill>
                        <a:srgbClr val="D6E0F0"/>
                      </a:solidFill>
                      <a:prstDash val="solid"/>
                    </a:lnL>
                    <a:lnR w="6480">
                      <a:solidFill>
                        <a:srgbClr val="D6E0F0"/>
                      </a:solidFill>
                      <a:prstDash val="solid"/>
                    </a:lnR>
                    <a:lnT w="6480">
                      <a:solidFill>
                        <a:srgbClr val="D6E0F0"/>
                      </a:solidFill>
                      <a:prstDash val="solid"/>
                    </a:lnT>
                    <a:lnB w="6480">
                      <a:solidFill>
                        <a:srgbClr val="D6E0F0"/>
                      </a:solidFill>
                      <a:prstDash val="solid"/>
                    </a:lnB>
                    <a:solidFill>
                      <a:srgbClr val="FFFFFF"/>
                    </a:solidFill>
                  </a:tcPr>
                </a:tc>
                <a:tc>
                  <a:txBody>
                    <a:bodyPr/>
                    <a:lstStyle/>
                    <a:p>
                      <a:pPr defTabSz="914400">
                        <a:lnSpc>
                          <a:spcPct val="100000"/>
                        </a:lnSpc>
                        <a:tabLst>
                          <a:tab pos="0" algn="l"/>
                        </a:tabLst>
                      </a:pPr>
                      <a:r>
                        <a:rPr lang="en-IN" sz="1000" b="0" u="none" strike="noStrike">
                          <a:solidFill>
                            <a:srgbClr val="385170"/>
                          </a:solidFill>
                          <a:effectLst/>
                          <a:uFillTx/>
                          <a:latin typeface="Calibri"/>
                          <a:ea typeface="Calibri"/>
                        </a:rPr>
                        <a:t>Distributes partitions evenly across consumers.</a:t>
                      </a:r>
                      <a:endParaRPr lang="en-IN" sz="1000" b="0" u="none" strike="noStrike">
                        <a:solidFill>
                          <a:srgbClr val="000000"/>
                        </a:solidFill>
                        <a:effectLst/>
                        <a:uFillTx/>
                        <a:latin typeface="Arial"/>
                      </a:endParaRPr>
                    </a:p>
                  </a:txBody>
                  <a:tcPr>
                    <a:lnL w="6480">
                      <a:solidFill>
                        <a:srgbClr val="D6E0F0"/>
                      </a:solidFill>
                      <a:prstDash val="solid"/>
                    </a:lnL>
                    <a:lnR w="6480">
                      <a:solidFill>
                        <a:srgbClr val="D6E0F0"/>
                      </a:solidFill>
                      <a:prstDash val="solid"/>
                    </a:lnR>
                    <a:lnT w="6480">
                      <a:solidFill>
                        <a:srgbClr val="D6E0F0"/>
                      </a:solidFill>
                      <a:prstDash val="solid"/>
                    </a:lnT>
                    <a:lnB w="6480">
                      <a:solidFill>
                        <a:srgbClr val="D6E0F0"/>
                      </a:solidFill>
                      <a:prstDash val="solid"/>
                    </a:lnB>
                    <a:noFill/>
                  </a:tcPr>
                </a:tc>
                <a:tc>
                  <a:txBody>
                    <a:bodyPr/>
                    <a:lstStyle/>
                    <a:p>
                      <a:pPr defTabSz="914400">
                        <a:lnSpc>
                          <a:spcPct val="100000"/>
                        </a:lnSpc>
                        <a:tabLst>
                          <a:tab pos="0" algn="l"/>
                        </a:tabLst>
                      </a:pPr>
                      <a:r>
                        <a:rPr lang="en-IN" sz="1000" b="0" u="none" strike="noStrike">
                          <a:solidFill>
                            <a:srgbClr val="385170"/>
                          </a:solidFill>
                          <a:effectLst/>
                          <a:uFillTx/>
                          <a:latin typeface="Calibri"/>
                          <a:ea typeface="Calibri"/>
                        </a:rPr>
                        <a:t>Balances load; may reorder keys.</a:t>
                      </a:r>
                      <a:endParaRPr lang="en-IN" sz="1000" b="0" u="none" strike="noStrike">
                        <a:solidFill>
                          <a:srgbClr val="000000"/>
                        </a:solidFill>
                        <a:effectLst/>
                        <a:uFillTx/>
                        <a:latin typeface="Arial"/>
                      </a:endParaRPr>
                    </a:p>
                  </a:txBody>
                  <a:tcPr>
                    <a:lnL w="6480">
                      <a:solidFill>
                        <a:srgbClr val="D6E0F0"/>
                      </a:solidFill>
                      <a:prstDash val="solid"/>
                    </a:lnL>
                    <a:lnR w="6480">
                      <a:solidFill>
                        <a:srgbClr val="D6E0F0"/>
                      </a:solidFill>
                      <a:prstDash val="solid"/>
                    </a:lnR>
                    <a:lnT w="6480">
                      <a:solidFill>
                        <a:srgbClr val="D6E0F0"/>
                      </a:solidFill>
                      <a:prstDash val="solid"/>
                    </a:lnT>
                    <a:lnB w="6480">
                      <a:solidFill>
                        <a:srgbClr val="D6E0F0"/>
                      </a:solidFill>
                      <a:prstDash val="solid"/>
                    </a:lnB>
                    <a:noFill/>
                  </a:tcPr>
                </a:tc>
                <a:extLst>
                  <a:ext uri="{0D108BD9-81ED-4DB2-BD59-A6C34878D82A}">
                    <a16:rowId xmlns:a16="http://schemas.microsoft.com/office/drawing/2014/main" val="10002"/>
                  </a:ext>
                </a:extLst>
              </a:tr>
              <a:tr h="182880">
                <a:tc>
                  <a:txBody>
                    <a:bodyPr/>
                    <a:lstStyle/>
                    <a:p>
                      <a:pPr defTabSz="914400">
                        <a:lnSpc>
                          <a:spcPct val="100000"/>
                        </a:lnSpc>
                        <a:tabLst>
                          <a:tab pos="0" algn="l"/>
                        </a:tabLst>
                      </a:pPr>
                      <a:r>
                        <a:rPr lang="en-IN" sz="1000" b="0" u="none" strike="noStrike">
                          <a:solidFill>
                            <a:srgbClr val="385170"/>
                          </a:solidFill>
                          <a:effectLst/>
                          <a:uFillTx/>
                          <a:latin typeface="Calibri"/>
                          <a:ea typeface="Calibri"/>
                        </a:rPr>
                        <a:t>Sticky</a:t>
                      </a:r>
                      <a:endParaRPr lang="en-IN" sz="1000" b="0" u="none" strike="noStrike">
                        <a:solidFill>
                          <a:srgbClr val="000000"/>
                        </a:solidFill>
                        <a:effectLst/>
                        <a:uFillTx/>
                        <a:latin typeface="Arial"/>
                      </a:endParaRPr>
                    </a:p>
                  </a:txBody>
                  <a:tcPr>
                    <a:lnL w="6480">
                      <a:solidFill>
                        <a:srgbClr val="D6E0F0"/>
                      </a:solidFill>
                      <a:prstDash val="solid"/>
                    </a:lnL>
                    <a:lnR w="6480">
                      <a:solidFill>
                        <a:srgbClr val="D6E0F0"/>
                      </a:solidFill>
                      <a:prstDash val="solid"/>
                    </a:lnR>
                    <a:lnT w="6480">
                      <a:solidFill>
                        <a:srgbClr val="D6E0F0"/>
                      </a:solidFill>
                      <a:prstDash val="solid"/>
                    </a:lnT>
                    <a:lnB w="6480">
                      <a:solidFill>
                        <a:srgbClr val="D6E0F0"/>
                      </a:solidFill>
                      <a:prstDash val="solid"/>
                    </a:lnB>
                    <a:solidFill>
                      <a:srgbClr val="F2F6FA"/>
                    </a:solidFill>
                  </a:tcPr>
                </a:tc>
                <a:tc>
                  <a:txBody>
                    <a:bodyPr/>
                    <a:lstStyle/>
                    <a:p>
                      <a:pPr defTabSz="914400">
                        <a:lnSpc>
                          <a:spcPct val="100000"/>
                        </a:lnSpc>
                        <a:tabLst>
                          <a:tab pos="0" algn="l"/>
                        </a:tabLst>
                      </a:pPr>
                      <a:r>
                        <a:rPr lang="en-IN" sz="1000" b="0" u="none" strike="noStrike">
                          <a:solidFill>
                            <a:srgbClr val="385170"/>
                          </a:solidFill>
                          <a:effectLst/>
                          <a:uFillTx/>
                          <a:latin typeface="Calibri"/>
                          <a:ea typeface="Calibri"/>
                        </a:rPr>
                        <a:t>Keeps previous assignments when possible.</a:t>
                      </a:r>
                      <a:endParaRPr lang="en-IN" sz="1000" b="0" u="none" strike="noStrike">
                        <a:solidFill>
                          <a:srgbClr val="000000"/>
                        </a:solidFill>
                        <a:effectLst/>
                        <a:uFillTx/>
                        <a:latin typeface="Arial"/>
                      </a:endParaRPr>
                    </a:p>
                  </a:txBody>
                  <a:tcPr>
                    <a:lnL w="6480">
                      <a:solidFill>
                        <a:srgbClr val="D6E0F0"/>
                      </a:solidFill>
                      <a:prstDash val="solid"/>
                    </a:lnL>
                    <a:lnR w="6480">
                      <a:solidFill>
                        <a:srgbClr val="D6E0F0"/>
                      </a:solidFill>
                      <a:prstDash val="solid"/>
                    </a:lnR>
                    <a:lnT w="6480">
                      <a:solidFill>
                        <a:srgbClr val="D6E0F0"/>
                      </a:solidFill>
                      <a:prstDash val="solid"/>
                    </a:lnT>
                    <a:lnB w="6480">
                      <a:solidFill>
                        <a:srgbClr val="D6E0F0"/>
                      </a:solidFill>
                      <a:prstDash val="solid"/>
                    </a:lnB>
                    <a:noFill/>
                  </a:tcPr>
                </a:tc>
                <a:tc>
                  <a:txBody>
                    <a:bodyPr/>
                    <a:lstStyle/>
                    <a:p>
                      <a:pPr defTabSz="914400">
                        <a:lnSpc>
                          <a:spcPct val="100000"/>
                        </a:lnSpc>
                        <a:tabLst>
                          <a:tab pos="0" algn="l"/>
                        </a:tabLst>
                      </a:pPr>
                      <a:r>
                        <a:rPr lang="en-IN" sz="1000" b="0" u="none" strike="noStrike">
                          <a:solidFill>
                            <a:srgbClr val="385170"/>
                          </a:solidFill>
                          <a:effectLst/>
                          <a:uFillTx/>
                          <a:latin typeface="Calibri"/>
                          <a:ea typeface="Calibri"/>
                        </a:rPr>
                        <a:t>Reduces rebalances but can cause skew.</a:t>
                      </a:r>
                      <a:endParaRPr lang="en-IN" sz="1000" b="0" u="none" strike="noStrike">
                        <a:solidFill>
                          <a:srgbClr val="000000"/>
                        </a:solidFill>
                        <a:effectLst/>
                        <a:uFillTx/>
                        <a:latin typeface="Arial"/>
                      </a:endParaRPr>
                    </a:p>
                  </a:txBody>
                  <a:tcPr>
                    <a:lnL w="6480">
                      <a:solidFill>
                        <a:srgbClr val="D6E0F0"/>
                      </a:solidFill>
                      <a:prstDash val="solid"/>
                    </a:lnL>
                    <a:lnR w="6480">
                      <a:solidFill>
                        <a:srgbClr val="D6E0F0"/>
                      </a:solidFill>
                      <a:prstDash val="solid"/>
                    </a:lnR>
                    <a:lnT w="6480">
                      <a:solidFill>
                        <a:srgbClr val="D6E0F0"/>
                      </a:solidFill>
                      <a:prstDash val="solid"/>
                    </a:lnT>
                    <a:lnB w="6480">
                      <a:solidFill>
                        <a:srgbClr val="D6E0F0"/>
                      </a:solidFill>
                      <a:prstDash val="solid"/>
                    </a:lnB>
                    <a:noFill/>
                  </a:tcPr>
                </a:tc>
                <a:extLst>
                  <a:ext uri="{0D108BD9-81ED-4DB2-BD59-A6C34878D82A}">
                    <a16:rowId xmlns:a16="http://schemas.microsoft.com/office/drawing/2014/main" val="10003"/>
                  </a:ext>
                </a:extLst>
              </a:tr>
              <a:tr h="182880">
                <a:tc>
                  <a:txBody>
                    <a:bodyPr/>
                    <a:lstStyle/>
                    <a:p>
                      <a:pPr defTabSz="914400">
                        <a:lnSpc>
                          <a:spcPct val="100000"/>
                        </a:lnSpc>
                        <a:tabLst>
                          <a:tab pos="0" algn="l"/>
                        </a:tabLst>
                      </a:pPr>
                      <a:r>
                        <a:rPr lang="en-IN" sz="1000" b="0" u="none" strike="noStrike">
                          <a:solidFill>
                            <a:srgbClr val="385170"/>
                          </a:solidFill>
                          <a:effectLst/>
                          <a:uFillTx/>
                          <a:latin typeface="Calibri"/>
                          <a:ea typeface="Calibri"/>
                        </a:rPr>
                        <a:t>Cooperative Sticky</a:t>
                      </a:r>
                      <a:endParaRPr lang="en-IN" sz="1000" b="0" u="none" strike="noStrike">
                        <a:solidFill>
                          <a:srgbClr val="000000"/>
                        </a:solidFill>
                        <a:effectLst/>
                        <a:uFillTx/>
                        <a:latin typeface="Arial"/>
                      </a:endParaRPr>
                    </a:p>
                  </a:txBody>
                  <a:tcPr>
                    <a:lnL w="6480">
                      <a:solidFill>
                        <a:srgbClr val="D6E0F0"/>
                      </a:solidFill>
                      <a:prstDash val="solid"/>
                    </a:lnL>
                    <a:lnR w="6480">
                      <a:solidFill>
                        <a:srgbClr val="D6E0F0"/>
                      </a:solidFill>
                      <a:prstDash val="solid"/>
                    </a:lnR>
                    <a:lnT w="6480">
                      <a:solidFill>
                        <a:srgbClr val="D6E0F0"/>
                      </a:solidFill>
                      <a:prstDash val="solid"/>
                    </a:lnT>
                    <a:lnB w="6480">
                      <a:solidFill>
                        <a:srgbClr val="D6E0F0"/>
                      </a:solidFill>
                      <a:prstDash val="solid"/>
                    </a:lnB>
                    <a:solidFill>
                      <a:srgbClr val="FFFFFF"/>
                    </a:solidFill>
                  </a:tcPr>
                </a:tc>
                <a:tc>
                  <a:txBody>
                    <a:bodyPr/>
                    <a:lstStyle/>
                    <a:p>
                      <a:pPr defTabSz="914400">
                        <a:lnSpc>
                          <a:spcPct val="100000"/>
                        </a:lnSpc>
                        <a:tabLst>
                          <a:tab pos="0" algn="l"/>
                        </a:tabLst>
                      </a:pPr>
                      <a:r>
                        <a:rPr lang="en-IN" sz="1000" b="0" u="none" strike="noStrike">
                          <a:solidFill>
                            <a:srgbClr val="385170"/>
                          </a:solidFill>
                          <a:effectLst/>
                          <a:uFillTx/>
                          <a:latin typeface="Calibri"/>
                          <a:ea typeface="Calibri"/>
                        </a:rPr>
                        <a:t>Incremental reassignments; minimises disruption.</a:t>
                      </a:r>
                      <a:endParaRPr lang="en-IN" sz="1000" b="0" u="none" strike="noStrike">
                        <a:solidFill>
                          <a:srgbClr val="000000"/>
                        </a:solidFill>
                        <a:effectLst/>
                        <a:uFillTx/>
                        <a:latin typeface="Arial"/>
                      </a:endParaRPr>
                    </a:p>
                  </a:txBody>
                  <a:tcPr>
                    <a:lnL w="6480">
                      <a:solidFill>
                        <a:srgbClr val="D6E0F0"/>
                      </a:solidFill>
                      <a:prstDash val="solid"/>
                    </a:lnL>
                    <a:lnR w="6480">
                      <a:solidFill>
                        <a:srgbClr val="D6E0F0"/>
                      </a:solidFill>
                      <a:prstDash val="solid"/>
                    </a:lnR>
                    <a:lnT w="6480">
                      <a:solidFill>
                        <a:srgbClr val="D6E0F0"/>
                      </a:solidFill>
                      <a:prstDash val="solid"/>
                    </a:lnT>
                    <a:lnB w="6480">
                      <a:solidFill>
                        <a:srgbClr val="D6E0F0"/>
                      </a:solidFill>
                      <a:prstDash val="solid"/>
                    </a:lnB>
                    <a:noFill/>
                  </a:tcPr>
                </a:tc>
                <a:tc>
                  <a:txBody>
                    <a:bodyPr/>
                    <a:lstStyle/>
                    <a:p>
                      <a:pPr defTabSz="914400">
                        <a:lnSpc>
                          <a:spcPct val="100000"/>
                        </a:lnSpc>
                        <a:tabLst>
                          <a:tab pos="0" algn="l"/>
                        </a:tabLst>
                      </a:pPr>
                      <a:r>
                        <a:rPr lang="en-IN" sz="1000" b="0" u="none" strike="noStrike">
                          <a:solidFill>
                            <a:srgbClr val="385170"/>
                          </a:solidFill>
                          <a:effectLst/>
                          <a:uFillTx/>
                          <a:latin typeface="Calibri"/>
                          <a:ea typeface="Calibri"/>
                        </a:rPr>
                        <a:t>Recommended default since Kafka 2.4.</a:t>
                      </a:r>
                      <a:endParaRPr lang="en-IN" sz="1000" b="0" u="none" strike="noStrike">
                        <a:solidFill>
                          <a:srgbClr val="000000"/>
                        </a:solidFill>
                        <a:effectLst/>
                        <a:uFillTx/>
                        <a:latin typeface="Arial"/>
                      </a:endParaRPr>
                    </a:p>
                  </a:txBody>
                  <a:tcPr>
                    <a:lnL w="6480">
                      <a:solidFill>
                        <a:srgbClr val="D6E0F0"/>
                      </a:solidFill>
                      <a:prstDash val="solid"/>
                    </a:lnL>
                    <a:lnR w="6480">
                      <a:solidFill>
                        <a:srgbClr val="D6E0F0"/>
                      </a:solidFill>
                      <a:prstDash val="solid"/>
                    </a:lnR>
                    <a:lnT w="6480">
                      <a:solidFill>
                        <a:srgbClr val="D6E0F0"/>
                      </a:solidFill>
                      <a:prstDash val="solid"/>
                    </a:lnT>
                    <a:lnB w="6480">
                      <a:solidFill>
                        <a:srgbClr val="D6E0F0"/>
                      </a:solidFill>
                      <a:prstDash val="solid"/>
                    </a:lnB>
                    <a:noFill/>
                  </a:tcPr>
                </a:tc>
                <a:extLst>
                  <a:ext uri="{0D108BD9-81ED-4DB2-BD59-A6C34878D82A}">
                    <a16:rowId xmlns:a16="http://schemas.microsoft.com/office/drawing/2014/main" val="10004"/>
                  </a:ext>
                </a:extLst>
              </a:tr>
            </a:tbl>
          </a:graphicData>
        </a:graphic>
      </p:graphicFrame>
      <p:sp>
        <p:nvSpPr>
          <p:cNvPr id="86" name="Text 1"/>
          <p:cNvSpPr/>
          <p:nvPr/>
        </p:nvSpPr>
        <p:spPr>
          <a:xfrm>
            <a:off x="457200" y="2926080"/>
            <a:ext cx="8686080" cy="1462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1" u="none" strike="noStrike">
                <a:solidFill>
                  <a:srgbClr val="2F5597"/>
                </a:solidFill>
                <a:effectLst/>
                <a:uFillTx/>
                <a:latin typeface="Calibri"/>
              </a:rPr>
              <a:t>Scaling considerations:</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#Consumers ≤ #Partitions to fully utilise resources.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Extra consumers remain idle when partitions are fewer than consumers.</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 Increase partitions for throughput rather than consumer threads.</a:t>
            </a:r>
            <a:endParaRPr lang="en-IN" sz="1100" b="0" u="none" strike="noStrike">
              <a:solidFill>
                <a:srgbClr val="000000"/>
              </a:solidFill>
              <a:effectLst/>
              <a:uFillTx/>
              <a:latin typeface="Arial"/>
            </a:endParaRPr>
          </a:p>
        </p:txBody>
      </p:sp>
      <p:sp>
        <p:nvSpPr>
          <p:cNvPr id="87" name="Text 2"/>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endParaRPr lang="en-IN" sz="700" b="0" u="none" strike="noStrike">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88" name="Text 18"/>
          <p:cNvSpPr/>
          <p:nvPr/>
        </p:nvSpPr>
        <p:spPr>
          <a:xfrm>
            <a:off x="457200" y="365760"/>
            <a:ext cx="82288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000" b="1" u="none" strike="noStrike">
                <a:solidFill>
                  <a:srgbClr val="2F5597"/>
                </a:solidFill>
                <a:effectLst/>
                <a:uFillTx/>
                <a:latin typeface="Calibri"/>
              </a:rPr>
              <a:t>Partitioning Strategies &amp; Throughput</a:t>
            </a:r>
            <a:endParaRPr lang="en-IN" sz="2000" b="0" u="none" strike="noStrike">
              <a:solidFill>
                <a:srgbClr val="000000"/>
              </a:solidFill>
              <a:effectLst/>
              <a:uFillTx/>
              <a:latin typeface="Arial"/>
            </a:endParaRPr>
          </a:p>
        </p:txBody>
      </p:sp>
      <p:graphicFrame>
        <p:nvGraphicFramePr>
          <p:cNvPr id="89" name="Chart 2"/>
          <p:cNvGraphicFramePr/>
          <p:nvPr/>
        </p:nvGraphicFramePr>
        <p:xfrm>
          <a:off x="457200" y="914400"/>
          <a:ext cx="4114080" cy="1828080"/>
        </p:xfrm>
        <a:graphic>
          <a:graphicData uri="http://schemas.openxmlformats.org/drawingml/2006/chart">
            <c:chart xmlns:c="http://schemas.openxmlformats.org/drawingml/2006/chart" xmlns:r="http://schemas.openxmlformats.org/officeDocument/2006/relationships" r:id="rId3"/>
          </a:graphicData>
        </a:graphic>
      </p:graphicFrame>
      <p:sp>
        <p:nvSpPr>
          <p:cNvPr id="90" name="Text 20"/>
          <p:cNvSpPr/>
          <p:nvPr/>
        </p:nvSpPr>
        <p:spPr>
          <a:xfrm>
            <a:off x="4754880" y="914400"/>
            <a:ext cx="3931200" cy="2010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400" b="1" u="none" strike="noStrike">
                <a:solidFill>
                  <a:srgbClr val="2F5597"/>
                </a:solidFill>
                <a:effectLst/>
                <a:uFillTx/>
                <a:latin typeface="Calibri"/>
              </a:rPr>
              <a:t>Strategies</a:t>
            </a:r>
            <a:endParaRPr lang="en-IN" sz="1400" b="0" u="none" strike="noStrike">
              <a:solidFill>
                <a:srgbClr val="000000"/>
              </a:solidFill>
              <a:effectLst/>
              <a:uFillTx/>
              <a:latin typeface="Arial"/>
            </a:endParaRPr>
          </a:p>
          <a:p>
            <a:pPr defTabSz="914400">
              <a:lnSpc>
                <a:spcPct val="100000"/>
              </a:lnSpc>
            </a:pPr>
            <a:r>
              <a:rPr lang="en-US" sz="1400" b="0" u="none" strike="noStrike">
                <a:solidFill>
                  <a:srgbClr val="385170"/>
                </a:solidFill>
                <a:effectLst/>
                <a:uFillTx/>
                <a:latin typeface="Calibri"/>
              </a:rPr>
              <a:t>• Round‑Robin: evenly distributes records across partitions; high variance and small batches.</a:t>
            </a:r>
            <a:endParaRPr lang="en-IN" sz="1400" b="0" u="none" strike="noStrike">
              <a:solidFill>
                <a:srgbClr val="000000"/>
              </a:solidFill>
              <a:effectLst/>
              <a:uFillTx/>
              <a:latin typeface="Arial"/>
            </a:endParaRPr>
          </a:p>
          <a:p>
            <a:pPr defTabSz="914400">
              <a:lnSpc>
                <a:spcPct val="100000"/>
              </a:lnSpc>
            </a:pPr>
            <a:endParaRPr lang="en-IN" sz="1400" b="0" u="none" strike="noStrike">
              <a:solidFill>
                <a:srgbClr val="000000"/>
              </a:solidFill>
              <a:effectLst/>
              <a:uFillTx/>
              <a:latin typeface="Arial"/>
            </a:endParaRPr>
          </a:p>
          <a:p>
            <a:pPr defTabSz="914400">
              <a:lnSpc>
                <a:spcPct val="100000"/>
              </a:lnSpc>
            </a:pPr>
            <a:r>
              <a:rPr lang="en-US" sz="1400" b="0" u="none" strike="noStrike">
                <a:solidFill>
                  <a:srgbClr val="385170"/>
                </a:solidFill>
                <a:effectLst/>
                <a:uFillTx/>
                <a:latin typeface="Calibri"/>
              </a:rPr>
              <a:t>• Key‑Based: hashes record keys to maintain order for a given key; potential hotspots.</a:t>
            </a:r>
            <a:endParaRPr lang="en-IN" sz="1400" b="0" u="none" strike="noStrike">
              <a:solidFill>
                <a:srgbClr val="000000"/>
              </a:solidFill>
              <a:effectLst/>
              <a:uFillTx/>
              <a:latin typeface="Arial"/>
            </a:endParaRPr>
          </a:p>
          <a:p>
            <a:pPr defTabSz="914400">
              <a:lnSpc>
                <a:spcPct val="100000"/>
              </a:lnSpc>
            </a:pPr>
            <a:endParaRPr lang="en-IN"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385170"/>
                </a:solidFill>
                <a:effectLst/>
                <a:uFillTx/>
                <a:latin typeface="Calibri"/>
              </a:rPr>
              <a:t>• Sticky (default since 2.4): sends multiple batches to same partition before switching; improves throughput by forming larger batches.</a:t>
            </a:r>
            <a:endParaRPr lang="en-IN" sz="1400" b="0" u="none" strike="noStrike">
              <a:solidFill>
                <a:srgbClr val="000000"/>
              </a:solidFill>
              <a:effectLst/>
              <a:uFillTx/>
              <a:latin typeface="Arial"/>
            </a:endParaRPr>
          </a:p>
        </p:txBody>
      </p:sp>
      <p:sp>
        <p:nvSpPr>
          <p:cNvPr id="91" name="Text 21"/>
          <p:cNvSpPr/>
          <p:nvPr/>
        </p:nvSpPr>
        <p:spPr>
          <a:xfrm>
            <a:off x="457200" y="4937760"/>
            <a:ext cx="82288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4"/>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5"/>
              </a:rPr>
              <a:t>[2]</a:t>
            </a:r>
            <a:endParaRPr lang="en-IN" sz="700" b="0" u="none" strike="noStrike">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2"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Rebalancing &amp; Membership</a:t>
            </a:r>
            <a:endParaRPr lang="en-IN" sz="2200" b="0" u="none" strike="noStrike">
              <a:solidFill>
                <a:srgbClr val="000000"/>
              </a:solidFill>
              <a:effectLst/>
              <a:uFillTx/>
              <a:latin typeface="Arial"/>
            </a:endParaRPr>
          </a:p>
        </p:txBody>
      </p:sp>
      <p:sp>
        <p:nvSpPr>
          <p:cNvPr id="93" name="Shape 1"/>
          <p:cNvSpPr/>
          <p:nvPr/>
        </p:nvSpPr>
        <p:spPr>
          <a:xfrm>
            <a:off x="457200" y="1005840"/>
            <a:ext cx="4022640" cy="2010960"/>
          </a:xfrm>
          <a:prstGeom prst="roundRect">
            <a:avLst>
              <a:gd name="adj" fmla="val 2273"/>
            </a:avLst>
          </a:prstGeom>
          <a:solidFill>
            <a:srgbClr val="F2F6FA"/>
          </a:solidFill>
          <a:ln w="12700">
            <a:solidFill>
              <a:srgbClr val="D6E0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94" name="Text 2"/>
          <p:cNvSpPr/>
          <p:nvPr/>
        </p:nvSpPr>
        <p:spPr>
          <a:xfrm>
            <a:off x="457200" y="1005840"/>
            <a:ext cx="4022640" cy="273600"/>
          </a:xfrm>
          <a:prstGeom prst="rect">
            <a:avLst/>
          </a:prstGeom>
          <a:noFill/>
          <a:ln w="0">
            <a:noFill/>
          </a:ln>
        </p:spPr>
        <p:style>
          <a:lnRef idx="0">
            <a:scrgbClr r="0" g="0" b="0"/>
          </a:lnRef>
          <a:fillRef idx="0">
            <a:scrgbClr r="0" g="0" b="0"/>
          </a:fillRef>
          <a:effectRef idx="0">
            <a:scrgbClr r="0" g="0" b="0"/>
          </a:effectRef>
          <a:fontRef idx="minor"/>
        </p:style>
        <p:txBody>
          <a:bodyPr lIns="1440" tIns="1440" rIns="1440" bIns="1440" anchor="ctr">
            <a:noAutofit/>
          </a:bodyPr>
          <a:lstStyle/>
          <a:p>
            <a:pPr defTabSz="914400">
              <a:lnSpc>
                <a:spcPct val="100000"/>
              </a:lnSpc>
              <a:tabLst>
                <a:tab pos="0" algn="l"/>
              </a:tabLst>
            </a:pPr>
            <a:r>
              <a:rPr lang="en-US" sz="1200" b="1" u="none" strike="noStrike">
                <a:solidFill>
                  <a:srgbClr val="2F5597"/>
                </a:solidFill>
                <a:effectLst/>
                <a:uFillTx/>
                <a:latin typeface="Calibri"/>
              </a:rPr>
              <a:t>Triggers for Rebalancing</a:t>
            </a:r>
            <a:endParaRPr lang="en-IN" sz="1200" b="0" u="none" strike="noStrike">
              <a:solidFill>
                <a:srgbClr val="000000"/>
              </a:solidFill>
              <a:effectLst/>
              <a:uFillTx/>
              <a:latin typeface="Arial"/>
            </a:endParaRPr>
          </a:p>
        </p:txBody>
      </p:sp>
      <p:sp>
        <p:nvSpPr>
          <p:cNvPr id="95" name="Text 3"/>
          <p:cNvSpPr/>
          <p:nvPr/>
        </p:nvSpPr>
        <p:spPr>
          <a:xfrm>
            <a:off x="457200" y="1280160"/>
            <a:ext cx="4022640" cy="1370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0" u="none" strike="noStrike">
                <a:solidFill>
                  <a:srgbClr val="385170"/>
                </a:solidFill>
                <a:effectLst/>
                <a:uFillTx/>
                <a:latin typeface="Calibri"/>
              </a:rPr>
              <a:t>• Consumer joins or leaves the group</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Topic partitions are added or removed</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 Heartbeats stop due to long processing or failure</a:t>
            </a:r>
            <a:endParaRPr lang="en-IN" sz="1100" b="0" u="none" strike="noStrike">
              <a:solidFill>
                <a:srgbClr val="000000"/>
              </a:solidFill>
              <a:effectLst/>
              <a:uFillTx/>
              <a:latin typeface="Arial"/>
            </a:endParaRPr>
          </a:p>
        </p:txBody>
      </p:sp>
      <p:sp>
        <p:nvSpPr>
          <p:cNvPr id="96" name="Shape 4"/>
          <p:cNvSpPr/>
          <p:nvPr/>
        </p:nvSpPr>
        <p:spPr>
          <a:xfrm>
            <a:off x="4572000" y="1005840"/>
            <a:ext cx="4114080" cy="2010960"/>
          </a:xfrm>
          <a:prstGeom prst="roundRect">
            <a:avLst>
              <a:gd name="adj" fmla="val 2273"/>
            </a:avLst>
          </a:prstGeom>
          <a:solidFill>
            <a:srgbClr val="F2F6FA"/>
          </a:solidFill>
          <a:ln w="12700">
            <a:solidFill>
              <a:srgbClr val="D6E0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97" name="Text 5"/>
          <p:cNvSpPr/>
          <p:nvPr/>
        </p:nvSpPr>
        <p:spPr>
          <a:xfrm>
            <a:off x="4572000" y="1005840"/>
            <a:ext cx="4114080" cy="273600"/>
          </a:xfrm>
          <a:prstGeom prst="rect">
            <a:avLst/>
          </a:prstGeom>
          <a:noFill/>
          <a:ln w="0">
            <a:noFill/>
          </a:ln>
        </p:spPr>
        <p:style>
          <a:lnRef idx="0">
            <a:scrgbClr r="0" g="0" b="0"/>
          </a:lnRef>
          <a:fillRef idx="0">
            <a:scrgbClr r="0" g="0" b="0"/>
          </a:fillRef>
          <a:effectRef idx="0">
            <a:scrgbClr r="0" g="0" b="0"/>
          </a:effectRef>
          <a:fontRef idx="minor"/>
        </p:style>
        <p:txBody>
          <a:bodyPr lIns="1440" tIns="1440" rIns="1440" bIns="1440" anchor="ctr">
            <a:noAutofit/>
          </a:bodyPr>
          <a:lstStyle/>
          <a:p>
            <a:pPr defTabSz="914400">
              <a:lnSpc>
                <a:spcPct val="100000"/>
              </a:lnSpc>
              <a:tabLst>
                <a:tab pos="0" algn="l"/>
              </a:tabLst>
            </a:pPr>
            <a:r>
              <a:rPr lang="en-US" sz="1200" b="1" u="none" strike="noStrike">
                <a:solidFill>
                  <a:srgbClr val="2F5597"/>
                </a:solidFill>
                <a:effectLst/>
                <a:uFillTx/>
                <a:latin typeface="Calibri"/>
              </a:rPr>
              <a:t>Strategies</a:t>
            </a:r>
            <a:endParaRPr lang="en-IN" sz="1200" b="0" u="none" strike="noStrike">
              <a:solidFill>
                <a:srgbClr val="000000"/>
              </a:solidFill>
              <a:effectLst/>
              <a:uFillTx/>
              <a:latin typeface="Arial"/>
            </a:endParaRPr>
          </a:p>
        </p:txBody>
      </p:sp>
      <p:sp>
        <p:nvSpPr>
          <p:cNvPr id="98" name="Text 6"/>
          <p:cNvSpPr/>
          <p:nvPr/>
        </p:nvSpPr>
        <p:spPr>
          <a:xfrm>
            <a:off x="4572000" y="1280160"/>
            <a:ext cx="4114080" cy="1462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0" u="none" strike="noStrike">
                <a:solidFill>
                  <a:srgbClr val="385170"/>
                </a:solidFill>
                <a:effectLst/>
                <a:uFillTx/>
                <a:latin typeface="Calibri"/>
              </a:rPr>
              <a:t>Cooperative Rebalancing: Assign partitions incrementally; avoids stopping all consumers.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Static Membership: Set group.instance.id to persist assignments across restarts.</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Tune session.timeout.ms, heartbeat.interval.ms, max.poll.interval.ms to avoid unnecessary rebalances.</a:t>
            </a:r>
            <a:endParaRPr lang="en-IN" sz="1100" b="0" u="none" strike="noStrike">
              <a:solidFill>
                <a:srgbClr val="000000"/>
              </a:solidFill>
              <a:effectLst/>
              <a:uFillTx/>
              <a:latin typeface="Arial"/>
            </a:endParaRPr>
          </a:p>
        </p:txBody>
      </p:sp>
      <p:sp>
        <p:nvSpPr>
          <p:cNvPr id="99" name="Text 7"/>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5"/>
              </a:rPr>
              <a:t>[3]</a:t>
            </a:r>
            <a:endParaRPr lang="en-IN" sz="7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dirty="0">
                <a:solidFill>
                  <a:srgbClr val="365F91"/>
                </a:solidFill>
                <a:effectLst/>
                <a:uFillTx/>
                <a:latin typeface="Calibri"/>
              </a:rPr>
              <a:t>Rebalance Triggers: Why Work Moves Between Consumers</a:t>
            </a:r>
            <a:endParaRPr lang="en-IN" sz="2200" b="0" u="none" strike="noStrike" dirty="0">
              <a:solidFill>
                <a:srgbClr val="000000"/>
              </a:solidFill>
              <a:effectLst/>
              <a:uFillTx/>
              <a:latin typeface="Arial"/>
            </a:endParaRPr>
          </a:p>
        </p:txBody>
      </p:sp>
      <p:sp>
        <p:nvSpPr>
          <p:cNvPr id="101"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102" name="Picture 3" descr="rebalance_triggers.png"/>
          <p:cNvPicPr/>
          <p:nvPr/>
        </p:nvPicPr>
        <p:blipFill>
          <a:blip r:embed="rId2"/>
          <a:stretch/>
        </p:blipFill>
        <p:spPr>
          <a:xfrm>
            <a:off x="640080" y="960120"/>
            <a:ext cx="4251600" cy="3062880"/>
          </a:xfrm>
          <a:prstGeom prst="rect">
            <a:avLst/>
          </a:prstGeom>
          <a:noFill/>
          <a:ln w="0">
            <a:noFill/>
          </a:ln>
        </p:spPr>
      </p:pic>
      <p:sp>
        <p:nvSpPr>
          <p:cNvPr id="103" name="TextBox 4"/>
          <p:cNvSpPr/>
          <p:nvPr/>
        </p:nvSpPr>
        <p:spPr>
          <a:xfrm>
            <a:off x="5212080" y="1051560"/>
            <a:ext cx="3108600" cy="297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A join, leave, failure or partition-count change can trigger reassignment.</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During a rebalance, ownership changes before normal polling resumes.</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The lab evidence appears in group membership and lag, not only in app logs.</a:t>
            </a:r>
            <a:endParaRPr lang="en-IN" sz="1350" b="0" u="none" strike="noStrike">
              <a:solidFill>
                <a:srgbClr val="000000"/>
              </a:solidFill>
              <a:effectLst/>
              <a:uFillTx/>
              <a:latin typeface="Arial"/>
            </a:endParaRPr>
          </a:p>
        </p:txBody>
      </p:sp>
      <p:sp>
        <p:nvSpPr>
          <p:cNvPr id="104" name="TextBox 5"/>
          <p:cNvSpPr/>
          <p:nvPr/>
        </p:nvSpPr>
        <p:spPr>
          <a:xfrm>
            <a:off x="658440" y="4224600"/>
            <a:ext cx="7406280" cy="21924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850" b="0" u="none" strike="noStrike">
                <a:solidFill>
                  <a:srgbClr val="585858"/>
                </a:solidFill>
                <a:effectLst/>
                <a:uFillTx/>
                <a:latin typeface="Calibri"/>
              </a:rPr>
              <a:t>Source: Confluent consumer group protocol course.</a:t>
            </a:r>
            <a:endParaRPr lang="en-IN" sz="850" b="0" u="none" strike="noStrike">
              <a:solidFill>
                <a:srgbClr val="000000"/>
              </a:solidFill>
              <a:effectLst/>
              <a:uFillTx/>
              <a:latin typeface="Arial"/>
            </a:endParaRPr>
          </a:p>
        </p:txBody>
      </p:sp>
      <p:sp>
        <p:nvSpPr>
          <p:cNvPr id="105" name="TextBox 6"/>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[12]</a:t>
            </a:r>
            <a:endParaRPr lang="en-IN" sz="80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712DBDB-E079-7C83-5A94-86FAC76A3005}"/>
              </a:ext>
            </a:extLst>
          </p:cNvPr>
          <p:cNvSpPr txBox="1"/>
          <p:nvPr/>
        </p:nvSpPr>
        <p:spPr>
          <a:xfrm>
            <a:off x="623455" y="842098"/>
            <a:ext cx="8305799" cy="4138954"/>
          </a:xfrm>
          <a:prstGeom prst="rect">
            <a:avLst/>
          </a:prstGeom>
          <a:noFill/>
        </p:spPr>
        <p:txBody>
          <a:bodyPr wrap="square">
            <a:spAutoFit/>
          </a:bodyPr>
          <a:lstStyle/>
          <a:p>
            <a:pPr algn="l">
              <a:lnSpc>
                <a:spcPts val="2400"/>
              </a:lnSpc>
              <a:buNone/>
            </a:pPr>
            <a:r>
              <a:rPr lang="en-US" b="0" i="0" dirty="0">
                <a:solidFill>
                  <a:srgbClr val="242424"/>
                </a:solidFill>
                <a:effectLst/>
                <a:latin typeface="source-serif-pro"/>
              </a:rPr>
              <a:t>There’s a moment in every Kafka system where everything </a:t>
            </a:r>
            <a:r>
              <a:rPr lang="en-US" b="0" i="1" dirty="0">
                <a:solidFill>
                  <a:srgbClr val="242424"/>
                </a:solidFill>
                <a:effectLst/>
                <a:latin typeface="source-serif-pro"/>
              </a:rPr>
              <a:t>looks</a:t>
            </a:r>
            <a:r>
              <a:rPr lang="en-US" b="0" i="0" dirty="0">
                <a:solidFill>
                  <a:srgbClr val="242424"/>
                </a:solidFill>
                <a:effectLst/>
                <a:latin typeface="source-serif-pro"/>
              </a:rPr>
              <a:t> fine — consumers are running, lag is low, throughput is healthy — and yet, quietly, data is being lost or duplicated.</a:t>
            </a:r>
          </a:p>
          <a:p>
            <a:pPr algn="l">
              <a:lnSpc>
                <a:spcPts val="2400"/>
              </a:lnSpc>
              <a:buNone/>
            </a:pPr>
            <a:r>
              <a:rPr lang="en-US" b="0" i="0" dirty="0">
                <a:solidFill>
                  <a:srgbClr val="242424"/>
                </a:solidFill>
                <a:effectLst/>
                <a:latin typeface="source-serif-pro"/>
              </a:rPr>
              <a:t>That moment almost always traces back to one thing: </a:t>
            </a:r>
            <a:r>
              <a:rPr lang="en-US" b="1" i="0" dirty="0">
                <a:solidFill>
                  <a:srgbClr val="242424"/>
                </a:solidFill>
                <a:effectLst/>
                <a:latin typeface="source-serif-pro"/>
              </a:rPr>
              <a:t>offset management</a:t>
            </a:r>
            <a:r>
              <a:rPr lang="en-US" b="0" i="0" dirty="0">
                <a:solidFill>
                  <a:srgbClr val="242424"/>
                </a:solidFill>
                <a:effectLst/>
                <a:latin typeface="source-serif-pro"/>
              </a:rPr>
              <a:t>.</a:t>
            </a:r>
          </a:p>
          <a:p>
            <a:pPr algn="l">
              <a:lnSpc>
                <a:spcPts val="2400"/>
              </a:lnSpc>
              <a:buNone/>
            </a:pPr>
            <a:r>
              <a:rPr lang="en-US" b="0" i="0" dirty="0">
                <a:solidFill>
                  <a:srgbClr val="242424"/>
                </a:solidFill>
                <a:effectLst/>
                <a:latin typeface="source-serif-pro"/>
              </a:rPr>
              <a:t>Offsets are deceptively simple. A number that says, </a:t>
            </a:r>
            <a:r>
              <a:rPr lang="en-US" b="0" i="1" dirty="0">
                <a:solidFill>
                  <a:srgbClr val="242424"/>
                </a:solidFill>
                <a:effectLst/>
                <a:latin typeface="source-serif-pro"/>
              </a:rPr>
              <a:t>“I’ve processed up to here.”</a:t>
            </a:r>
            <a:endParaRPr lang="en-US" b="0" i="0" dirty="0">
              <a:solidFill>
                <a:srgbClr val="242424"/>
              </a:solidFill>
              <a:effectLst/>
              <a:latin typeface="source-serif-pro"/>
            </a:endParaRPr>
          </a:p>
          <a:p>
            <a:r>
              <a:rPr lang="en-US" dirty="0"/>
              <a:t>Kafka, committing an offset is not tied to processing. Kafka does not know if your business logic succeeded.</a:t>
            </a:r>
          </a:p>
          <a:p>
            <a:r>
              <a:rPr lang="en-US" dirty="0"/>
              <a:t>It only knows:</a:t>
            </a:r>
          </a:p>
          <a:p>
            <a:r>
              <a:rPr lang="en-US" dirty="0"/>
              <a:t>“The consumer claims it is safe to move forward.”</a:t>
            </a:r>
          </a:p>
          <a:p>
            <a:r>
              <a:rPr lang="en-US" dirty="0"/>
              <a:t>This creates three broad models:</a:t>
            </a:r>
          </a:p>
          <a:p>
            <a:pPr marL="285750" lvl="0" indent="-285750">
              <a:buFont typeface="Arial" panose="020B0604020202020204" pitchFamily="34" charset="0"/>
              <a:buChar char="•"/>
            </a:pPr>
            <a:r>
              <a:rPr lang="en-US" dirty="0"/>
              <a:t>Kafka decides (auto commit)</a:t>
            </a:r>
          </a:p>
          <a:p>
            <a:pPr marL="285750" lvl="0" indent="-285750">
              <a:buFont typeface="Arial" panose="020B0604020202020204" pitchFamily="34" charset="0"/>
              <a:buChar char="•"/>
            </a:pPr>
            <a:r>
              <a:rPr lang="en-US" dirty="0"/>
              <a:t>You decide (manual commit)</a:t>
            </a:r>
          </a:p>
          <a:p>
            <a:pPr marL="285750" lvl="0" indent="-285750">
              <a:buFont typeface="Arial" panose="020B0604020202020204" pitchFamily="34" charset="0"/>
              <a:buChar char="•"/>
            </a:pPr>
            <a:r>
              <a:rPr lang="en-US" dirty="0"/>
              <a:t>Kafka + you decide atomically (transactions)</a:t>
            </a:r>
          </a:p>
          <a:p>
            <a:pPr algn="l">
              <a:lnSpc>
                <a:spcPts val="2400"/>
              </a:lnSpc>
              <a:buNone/>
            </a:pPr>
            <a:endParaRPr lang="en-US" b="0" i="0" dirty="0">
              <a:solidFill>
                <a:srgbClr val="242424"/>
              </a:solidFill>
              <a:effectLst/>
              <a:latin typeface="source-serif-pro"/>
            </a:endParaRPr>
          </a:p>
        </p:txBody>
      </p:sp>
      <p:sp>
        <p:nvSpPr>
          <p:cNvPr id="5" name="TextBox 4">
            <a:extLst>
              <a:ext uri="{FF2B5EF4-FFF2-40B4-BE49-F238E27FC236}">
                <a16:creationId xmlns:a16="http://schemas.microsoft.com/office/drawing/2014/main" id="{FE3B1F94-A1B6-C4D7-7A9F-6579E8944898}"/>
              </a:ext>
            </a:extLst>
          </p:cNvPr>
          <p:cNvSpPr txBox="1"/>
          <p:nvPr/>
        </p:nvSpPr>
        <p:spPr>
          <a:xfrm>
            <a:off x="623455" y="411211"/>
            <a:ext cx="4572000" cy="430887"/>
          </a:xfrm>
          <a:prstGeom prst="rect">
            <a:avLst/>
          </a:prstGeom>
          <a:noFill/>
        </p:spPr>
        <p:txBody>
          <a:bodyPr wrap="square">
            <a:spAutoFit/>
          </a:bodyPr>
          <a:lstStyle/>
          <a:p>
            <a:pPr defTabSz="914400">
              <a:lnSpc>
                <a:spcPct val="100000"/>
              </a:lnSpc>
              <a:tabLst>
                <a:tab pos="0" algn="l"/>
              </a:tabLst>
            </a:pPr>
            <a:r>
              <a:rPr lang="en-US" sz="2200" b="1" dirty="0">
                <a:solidFill>
                  <a:srgbClr val="365F91"/>
                </a:solidFill>
                <a:latin typeface="Calibri"/>
              </a:rPr>
              <a:t>Offset</a:t>
            </a:r>
            <a:r>
              <a:rPr lang="en-US" sz="1800" b="1" u="none" strike="noStrike" dirty="0">
                <a:solidFill>
                  <a:srgbClr val="2F5597"/>
                </a:solidFill>
                <a:effectLst/>
                <a:uFillTx/>
                <a:latin typeface="Calibri"/>
              </a:rPr>
              <a:t> </a:t>
            </a:r>
            <a:r>
              <a:rPr lang="en-US" sz="2200" b="1" dirty="0">
                <a:solidFill>
                  <a:srgbClr val="365F91"/>
                </a:solidFill>
                <a:latin typeface="Calibri"/>
              </a:rPr>
              <a:t>Management</a:t>
            </a:r>
            <a:endParaRPr lang="en-IN" sz="2200" b="1" dirty="0">
              <a:solidFill>
                <a:srgbClr val="365F91"/>
              </a:solidFill>
              <a:latin typeface="Calibri"/>
            </a:endParaRPr>
          </a:p>
        </p:txBody>
      </p:sp>
      <p:sp>
        <p:nvSpPr>
          <p:cNvPr id="6" name="Rectangle 2">
            <a:extLst>
              <a:ext uri="{FF2B5EF4-FFF2-40B4-BE49-F238E27FC236}">
                <a16:creationId xmlns:a16="http://schemas.microsoft.com/office/drawing/2014/main" id="{715346CA-FE84-69FE-FFB5-F3131C5DA1A1}"/>
              </a:ext>
            </a:extLst>
          </p:cNvPr>
          <p:cNvSpPr/>
          <p:nvPr/>
        </p:nvSpPr>
        <p:spPr>
          <a:xfrm>
            <a:off x="723208" y="797719"/>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extLst>
      <p:ext uri="{BB962C8B-B14F-4D97-AF65-F5344CB8AC3E}">
        <p14:creationId xmlns:p14="http://schemas.microsoft.com/office/powerpoint/2010/main" val="2008817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9AEE0-1054-F9C1-6B53-406DC498A92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22D2523-A19B-6261-5997-6093635C505B}"/>
              </a:ext>
            </a:extLst>
          </p:cNvPr>
          <p:cNvSpPr txBox="1"/>
          <p:nvPr/>
        </p:nvSpPr>
        <p:spPr>
          <a:xfrm>
            <a:off x="623455" y="411211"/>
            <a:ext cx="4572000" cy="430887"/>
          </a:xfrm>
          <a:prstGeom prst="rect">
            <a:avLst/>
          </a:prstGeom>
          <a:noFill/>
        </p:spPr>
        <p:txBody>
          <a:bodyPr wrap="square">
            <a:spAutoFit/>
          </a:bodyPr>
          <a:lstStyle/>
          <a:p>
            <a:pPr defTabSz="914400">
              <a:lnSpc>
                <a:spcPct val="100000"/>
              </a:lnSpc>
              <a:tabLst>
                <a:tab pos="0" algn="l"/>
              </a:tabLst>
            </a:pPr>
            <a:r>
              <a:rPr lang="en-US" sz="2200" b="1" dirty="0">
                <a:solidFill>
                  <a:srgbClr val="365F91"/>
                </a:solidFill>
                <a:latin typeface="Calibri"/>
              </a:rPr>
              <a:t>Process guarantee</a:t>
            </a:r>
            <a:endParaRPr lang="en-IN" sz="2200" b="1" dirty="0">
              <a:solidFill>
                <a:srgbClr val="365F91"/>
              </a:solidFill>
              <a:latin typeface="Calibri"/>
            </a:endParaRPr>
          </a:p>
        </p:txBody>
      </p:sp>
      <p:sp>
        <p:nvSpPr>
          <p:cNvPr id="6" name="Rectangle 2">
            <a:extLst>
              <a:ext uri="{FF2B5EF4-FFF2-40B4-BE49-F238E27FC236}">
                <a16:creationId xmlns:a16="http://schemas.microsoft.com/office/drawing/2014/main" id="{ACF1A1C8-931C-0DE4-4E17-526CF0A5C154}"/>
              </a:ext>
            </a:extLst>
          </p:cNvPr>
          <p:cNvSpPr/>
          <p:nvPr/>
        </p:nvSpPr>
        <p:spPr>
          <a:xfrm>
            <a:off x="723208" y="797719"/>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1026" name="Picture 2">
            <a:extLst>
              <a:ext uri="{FF2B5EF4-FFF2-40B4-BE49-F238E27FC236}">
                <a16:creationId xmlns:a16="http://schemas.microsoft.com/office/drawing/2014/main" id="{1037848E-2A97-F06F-A7B2-75476DFF1BB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0435" y="1167154"/>
            <a:ext cx="3030110" cy="23606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ECDA7B2-46F1-67A9-4D4B-F7E0E31D6AD7}"/>
              </a:ext>
            </a:extLst>
          </p:cNvPr>
          <p:cNvSpPr txBox="1"/>
          <p:nvPr/>
        </p:nvSpPr>
        <p:spPr>
          <a:xfrm>
            <a:off x="723208" y="892165"/>
            <a:ext cx="4472247" cy="2292935"/>
          </a:xfrm>
          <a:prstGeom prst="rect">
            <a:avLst/>
          </a:prstGeom>
          <a:noFill/>
        </p:spPr>
        <p:txBody>
          <a:bodyPr wrap="square">
            <a:spAutoFit/>
          </a:bodyPr>
          <a:lstStyle/>
          <a:p>
            <a:r>
              <a:rPr lang="en-US" sz="1100" dirty="0"/>
              <a:t>At this point, you may be asking why is this so complicated? Why isn’t it always effectively once? What’s causing messages to go missing or appear more than once? The short answer to this is system </a:t>
            </a:r>
            <a:r>
              <a:rPr lang="en-US" sz="1100" dirty="0" err="1"/>
              <a:t>behaviour</a:t>
            </a:r>
            <a:r>
              <a:rPr lang="en-US" sz="1100" dirty="0"/>
              <a:t> in the face of failure. The key word in describing these architectures is distributed. Here is a small subset of failure scenarios that you will need to consider:</a:t>
            </a:r>
          </a:p>
          <a:p>
            <a:pPr marL="171450" indent="-171450">
              <a:buFont typeface="Arial" panose="020B0604020202020204" pitchFamily="34" charset="0"/>
              <a:buChar char="•"/>
            </a:pPr>
            <a:r>
              <a:rPr lang="en-US" sz="1100" dirty="0"/>
              <a:t>Producer failure</a:t>
            </a:r>
          </a:p>
          <a:p>
            <a:pPr marL="171450" indent="-171450">
              <a:buFont typeface="Arial" panose="020B0604020202020204" pitchFamily="34" charset="0"/>
              <a:buChar char="•"/>
            </a:pPr>
            <a:r>
              <a:rPr lang="en-US" sz="1100" dirty="0"/>
              <a:t>Consumer publish remote call failure</a:t>
            </a:r>
          </a:p>
          <a:p>
            <a:pPr marL="171450" indent="-171450">
              <a:buFont typeface="Arial" panose="020B0604020202020204" pitchFamily="34" charset="0"/>
              <a:buChar char="•"/>
            </a:pPr>
            <a:r>
              <a:rPr lang="en-US" sz="1100" dirty="0"/>
              <a:t>Messaging system failure</a:t>
            </a:r>
          </a:p>
          <a:p>
            <a:pPr marL="171450" indent="-171450">
              <a:buFont typeface="Arial" panose="020B0604020202020204" pitchFamily="34" charset="0"/>
              <a:buChar char="•"/>
            </a:pPr>
            <a:r>
              <a:rPr lang="en-US" sz="1100" dirty="0"/>
              <a:t>Consumer processing failure</a:t>
            </a:r>
          </a:p>
          <a:p>
            <a:r>
              <a:rPr lang="en-US" sz="1100" dirty="0"/>
              <a:t>Your consumer process could run out of memory and crash while writing to a downstream database; your broker could run out of disk space; a network partition may form between </a:t>
            </a:r>
            <a:r>
              <a:rPr lang="en-US" sz="1100" dirty="0" err="1"/>
              <a:t>ZooKeeper</a:t>
            </a:r>
            <a:r>
              <a:rPr lang="en-US" sz="1100" dirty="0"/>
              <a:t> instances; a timeout could occur publishing messages to Kafka.</a:t>
            </a:r>
          </a:p>
        </p:txBody>
      </p:sp>
    </p:spTree>
    <p:extLst>
      <p:ext uri="{BB962C8B-B14F-4D97-AF65-F5344CB8AC3E}">
        <p14:creationId xmlns:p14="http://schemas.microsoft.com/office/powerpoint/2010/main" val="3361731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789B8-0445-F368-4D40-F13F98B6F54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F5A8294-0A7F-AAD3-7345-E98965F005D1}"/>
              </a:ext>
            </a:extLst>
          </p:cNvPr>
          <p:cNvSpPr txBox="1"/>
          <p:nvPr/>
        </p:nvSpPr>
        <p:spPr>
          <a:xfrm>
            <a:off x="623455" y="411211"/>
            <a:ext cx="4572000" cy="430887"/>
          </a:xfrm>
          <a:prstGeom prst="rect">
            <a:avLst/>
          </a:prstGeom>
          <a:noFill/>
        </p:spPr>
        <p:txBody>
          <a:bodyPr wrap="square">
            <a:spAutoFit/>
          </a:bodyPr>
          <a:lstStyle/>
          <a:p>
            <a:pPr defTabSz="914400">
              <a:lnSpc>
                <a:spcPct val="100000"/>
              </a:lnSpc>
              <a:tabLst>
                <a:tab pos="0" algn="l"/>
              </a:tabLst>
            </a:pPr>
            <a:r>
              <a:rPr lang="en-US" sz="2200" b="1" dirty="0">
                <a:solidFill>
                  <a:srgbClr val="365F91"/>
                </a:solidFill>
                <a:latin typeface="Calibri"/>
              </a:rPr>
              <a:t>No guarantee</a:t>
            </a:r>
            <a:endParaRPr lang="en-IN" sz="2200" b="1" dirty="0">
              <a:solidFill>
                <a:srgbClr val="365F91"/>
              </a:solidFill>
              <a:latin typeface="Calibri"/>
            </a:endParaRPr>
          </a:p>
        </p:txBody>
      </p:sp>
      <p:sp>
        <p:nvSpPr>
          <p:cNvPr id="6" name="Rectangle 2">
            <a:extLst>
              <a:ext uri="{FF2B5EF4-FFF2-40B4-BE49-F238E27FC236}">
                <a16:creationId xmlns:a16="http://schemas.microsoft.com/office/drawing/2014/main" id="{93DCFC3E-43EC-E130-25C0-691AA9DE64FA}"/>
              </a:ext>
            </a:extLst>
          </p:cNvPr>
          <p:cNvSpPr/>
          <p:nvPr/>
        </p:nvSpPr>
        <p:spPr>
          <a:xfrm>
            <a:off x="723208" y="797719"/>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4" name="TextBox 3">
            <a:extLst>
              <a:ext uri="{FF2B5EF4-FFF2-40B4-BE49-F238E27FC236}">
                <a16:creationId xmlns:a16="http://schemas.microsoft.com/office/drawing/2014/main" id="{874002B8-838A-BF13-6153-11E3E248C743}"/>
              </a:ext>
            </a:extLst>
          </p:cNvPr>
          <p:cNvSpPr txBox="1"/>
          <p:nvPr/>
        </p:nvSpPr>
        <p:spPr>
          <a:xfrm>
            <a:off x="625527" y="981065"/>
            <a:ext cx="8058842" cy="1477328"/>
          </a:xfrm>
          <a:prstGeom prst="rect">
            <a:avLst/>
          </a:prstGeom>
          <a:noFill/>
        </p:spPr>
        <p:txBody>
          <a:bodyPr wrap="square">
            <a:spAutoFit/>
          </a:bodyPr>
          <a:lstStyle/>
          <a:p>
            <a:r>
              <a:rPr lang="en-US" dirty="0"/>
              <a:t>A system that provides no guarantee means any given message could be processed once, multiple times or not at all. With Kafka a simple search where you will end up with these semantics is if you have a consumer with </a:t>
            </a:r>
            <a:r>
              <a:rPr lang="en-US" b="1" dirty="0" err="1"/>
              <a:t>enable.auto.commit</a:t>
            </a:r>
            <a:r>
              <a:rPr lang="en-US" b="1" dirty="0"/>
              <a:t> set to true (this is the default) </a:t>
            </a:r>
            <a:r>
              <a:rPr lang="en-US" dirty="0"/>
              <a:t>and for each batch of messages you </a:t>
            </a:r>
            <a:r>
              <a:rPr lang="en-US" i="1" dirty="0"/>
              <a:t>asynchronously</a:t>
            </a:r>
            <a:r>
              <a:rPr lang="en-US" dirty="0"/>
              <a:t> process and save the results to a database.</a:t>
            </a:r>
            <a:endParaRPr lang="en-US" sz="1100" dirty="0"/>
          </a:p>
        </p:txBody>
      </p:sp>
      <p:pic>
        <p:nvPicPr>
          <p:cNvPr id="2050" name="Picture 2">
            <a:extLst>
              <a:ext uri="{FF2B5EF4-FFF2-40B4-BE49-F238E27FC236}">
                <a16:creationId xmlns:a16="http://schemas.microsoft.com/office/drawing/2014/main" id="{98B81F4B-F0E0-B016-5565-DDF9A1CA699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08150" y="2981325"/>
            <a:ext cx="4648200" cy="1457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52139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B7989-2AC6-A4A3-FBA5-FAE80F12714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500852B-B090-2E52-D58A-93280BA93405}"/>
              </a:ext>
            </a:extLst>
          </p:cNvPr>
          <p:cNvSpPr txBox="1"/>
          <p:nvPr/>
        </p:nvSpPr>
        <p:spPr>
          <a:xfrm>
            <a:off x="623455" y="411211"/>
            <a:ext cx="4572000" cy="430887"/>
          </a:xfrm>
          <a:prstGeom prst="rect">
            <a:avLst/>
          </a:prstGeom>
          <a:noFill/>
        </p:spPr>
        <p:txBody>
          <a:bodyPr wrap="square">
            <a:spAutoFit/>
          </a:bodyPr>
          <a:lstStyle/>
          <a:p>
            <a:pPr defTabSz="914400">
              <a:lnSpc>
                <a:spcPct val="100000"/>
              </a:lnSpc>
              <a:tabLst>
                <a:tab pos="0" algn="l"/>
              </a:tabLst>
            </a:pPr>
            <a:r>
              <a:rPr lang="en-US" sz="2200" b="1" dirty="0">
                <a:solidFill>
                  <a:srgbClr val="365F91"/>
                </a:solidFill>
                <a:latin typeface="Calibri"/>
              </a:rPr>
              <a:t>At most once</a:t>
            </a:r>
          </a:p>
        </p:txBody>
      </p:sp>
      <p:sp>
        <p:nvSpPr>
          <p:cNvPr id="6" name="Rectangle 2">
            <a:extLst>
              <a:ext uri="{FF2B5EF4-FFF2-40B4-BE49-F238E27FC236}">
                <a16:creationId xmlns:a16="http://schemas.microsoft.com/office/drawing/2014/main" id="{F96DEE79-7F51-6882-92F4-602734BD6AA5}"/>
              </a:ext>
            </a:extLst>
          </p:cNvPr>
          <p:cNvSpPr/>
          <p:nvPr/>
        </p:nvSpPr>
        <p:spPr>
          <a:xfrm>
            <a:off x="723208" y="797719"/>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4" name="TextBox 3">
            <a:extLst>
              <a:ext uri="{FF2B5EF4-FFF2-40B4-BE49-F238E27FC236}">
                <a16:creationId xmlns:a16="http://schemas.microsoft.com/office/drawing/2014/main" id="{6E3F9055-2AA3-99C0-3EB0-4D149151ACD2}"/>
              </a:ext>
            </a:extLst>
          </p:cNvPr>
          <p:cNvSpPr txBox="1"/>
          <p:nvPr/>
        </p:nvSpPr>
        <p:spPr>
          <a:xfrm>
            <a:off x="625527" y="981065"/>
            <a:ext cx="5299023" cy="3323987"/>
          </a:xfrm>
          <a:prstGeom prst="rect">
            <a:avLst/>
          </a:prstGeom>
          <a:noFill/>
        </p:spPr>
        <p:txBody>
          <a:bodyPr wrap="square">
            <a:spAutoFit/>
          </a:bodyPr>
          <a:lstStyle/>
          <a:p>
            <a:r>
              <a:rPr lang="en-US" sz="1050" dirty="0"/>
              <a:t>At most once guarantee means the message will be processed exactly once, or not at all. This guarantee is often known as “best effort” semantics.</a:t>
            </a:r>
          </a:p>
          <a:p>
            <a:endParaRPr lang="en-US" sz="1050" dirty="0"/>
          </a:p>
          <a:p>
            <a:r>
              <a:rPr lang="en-US" sz="1050" dirty="0"/>
              <a:t>1. A common example that results in at most once semantics is where a producer performs a ‘fire-and-forget’ approach sending a message to Kafka with no retries and ignoring any response from the broker. This approach is useful where progress is a higher priority than completeness.</a:t>
            </a:r>
          </a:p>
          <a:p>
            <a:endParaRPr lang="en-US" sz="1050" dirty="0"/>
          </a:p>
          <a:p>
            <a:endParaRPr lang="en-US" sz="1050" dirty="0"/>
          </a:p>
          <a:p>
            <a:endParaRPr lang="en-US" sz="1050" dirty="0"/>
          </a:p>
          <a:p>
            <a:r>
              <a:rPr lang="en-US" sz="1050" dirty="0"/>
              <a:t>2. A producer saves its progress reading from a source system first, then writes data into Kafka. If the producer crashes before the second step, the data will never be delivered to Kafka.</a:t>
            </a:r>
          </a:p>
          <a:p>
            <a:endParaRPr lang="en-US" sz="1050" dirty="0"/>
          </a:p>
          <a:p>
            <a:endParaRPr lang="en-US" sz="1050" dirty="0"/>
          </a:p>
          <a:p>
            <a:r>
              <a:rPr lang="en-US" sz="1050" dirty="0"/>
              <a:t>3. A consumer receives a batch of messages from Kafka, transforms these and writes the results to a database. The consumer application has </a:t>
            </a:r>
            <a:r>
              <a:rPr lang="en-US" sz="1050" dirty="0" err="1"/>
              <a:t>enable.auto.commit</a:t>
            </a:r>
            <a:r>
              <a:rPr lang="en-US" sz="1050" dirty="0"/>
              <a:t> set to </a:t>
            </a:r>
            <a:r>
              <a:rPr lang="en-US" sz="1050" b="1" dirty="0"/>
              <a:t>false</a:t>
            </a:r>
            <a:r>
              <a:rPr lang="en-US" sz="1050" dirty="0"/>
              <a:t> and is programmed to commit their offsets back to Kafka prior to writing to the database. If the consumer fails after saving the offsets back to Kafka but before writing the data to the database, it will skip these records next time it runs and data will be lost.</a:t>
            </a:r>
          </a:p>
        </p:txBody>
      </p:sp>
      <p:sp>
        <p:nvSpPr>
          <p:cNvPr id="2" name="Rectangle 1">
            <a:extLst>
              <a:ext uri="{FF2B5EF4-FFF2-40B4-BE49-F238E27FC236}">
                <a16:creationId xmlns:a16="http://schemas.microsoft.com/office/drawing/2014/main" id="{B59A9DAE-3D61-E501-B1E5-570AA646751A}"/>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0" i="0" u="none" strike="noStrike" cap="none" normalizeH="0" baseline="0">
                <a:ln>
                  <a:noFill/>
                </a:ln>
                <a:solidFill>
                  <a:srgbClr val="242424"/>
                </a:solidFill>
                <a:effectLst/>
                <a:latin typeface="source-serif-pro"/>
              </a:rPr>
              <a:t>At most once guarantee means the message will be processed exactly once, or not at all. This guarantee is often known as “best effort” semantics.</a:t>
            </a:r>
            <a:endParaRPr kumimoji="0" lang="en-US" altLang="en-US" sz="6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0" i="0" u="none" strike="noStrike" cap="none" normalizeH="0" baseline="0">
                <a:ln>
                  <a:noFill/>
                </a:ln>
                <a:solidFill>
                  <a:srgbClr val="242424"/>
                </a:solidFill>
                <a:effectLst/>
                <a:latin typeface="source-serif-pro"/>
              </a:rPr>
              <a:t>1. A common example that results in at most once semantics is where a producer performs a ‘fire-and-forget’ approach sending a message to Kafka with no retries and ignoring any response from the broker. This approach is useful where progress is a higher priority than completeness.</a:t>
            </a:r>
            <a:endParaRPr kumimoji="0" lang="en-US" altLang="en-US" sz="6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solidFill>
                <a:effectLst/>
                <a:latin typeface="Arial" panose="020B0604020202020204" pitchFamily="34" charset="0"/>
              </a:rPr>
              <a:t>  </a:t>
            </a:r>
            <a:r>
              <a:rPr kumimoji="0" lang="en-US" altLang="en-US" sz="6500" b="0" i="0" u="none" strike="noStrike" cap="none" normalizeH="0" baseline="0">
                <a:ln>
                  <a:noFill/>
                </a:ln>
                <a:solidFill>
                  <a:schemeClr val="tx1"/>
                </a:solidFill>
                <a:effectLst/>
                <a:latin typeface="Arial" panose="020B0604020202020204" pitchFamily="34" charset="0"/>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3" name="AutoShape 2">
            <a:extLst>
              <a:ext uri="{FF2B5EF4-FFF2-40B4-BE49-F238E27FC236}">
                <a16:creationId xmlns:a16="http://schemas.microsoft.com/office/drawing/2014/main" id="{CB43A7EB-B7BB-3FA7-B94C-B102E65BE65B}"/>
              </a:ext>
            </a:extLst>
          </p:cNvPr>
          <p:cNvSpPr>
            <a:spLocks noChangeAspect="1" noChangeArrowheads="1"/>
          </p:cNvSpPr>
          <p:nvPr/>
        </p:nvSpPr>
        <p:spPr bwMode="auto">
          <a:xfrm>
            <a:off x="127000" y="-266700"/>
            <a:ext cx="3829050" cy="1038225"/>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076" name="Picture 4">
            <a:extLst>
              <a:ext uri="{FF2B5EF4-FFF2-40B4-BE49-F238E27FC236}">
                <a16:creationId xmlns:a16="http://schemas.microsoft.com/office/drawing/2014/main" id="{CDCC2E17-EF2C-4AE9-324C-B00EBA9C7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0188" y="981065"/>
            <a:ext cx="2476500" cy="1038225"/>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a:extLst>
              <a:ext uri="{FF2B5EF4-FFF2-40B4-BE49-F238E27FC236}">
                <a16:creationId xmlns:a16="http://schemas.microsoft.com/office/drawing/2014/main" id="{E776BF81-705F-72FD-5D9B-3942EA601AE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24550" y="2175636"/>
            <a:ext cx="2989988" cy="865188"/>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a:extLst>
              <a:ext uri="{FF2B5EF4-FFF2-40B4-BE49-F238E27FC236}">
                <a16:creationId xmlns:a16="http://schemas.microsoft.com/office/drawing/2014/main" id="{02089B92-0D8F-0B0B-EB0C-FF43EA720AA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14465" y="3420936"/>
            <a:ext cx="3210157" cy="9296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0102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1F0AB-A625-2286-96C6-D1C026EE062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4F0EA74-FA1B-6A1D-7B37-C015178DBE77}"/>
              </a:ext>
            </a:extLst>
          </p:cNvPr>
          <p:cNvSpPr txBox="1"/>
          <p:nvPr/>
        </p:nvSpPr>
        <p:spPr>
          <a:xfrm>
            <a:off x="623455" y="411211"/>
            <a:ext cx="4572000" cy="430887"/>
          </a:xfrm>
          <a:prstGeom prst="rect">
            <a:avLst/>
          </a:prstGeom>
          <a:noFill/>
        </p:spPr>
        <p:txBody>
          <a:bodyPr wrap="square">
            <a:spAutoFit/>
          </a:bodyPr>
          <a:lstStyle/>
          <a:p>
            <a:pPr defTabSz="914400">
              <a:lnSpc>
                <a:spcPct val="100000"/>
              </a:lnSpc>
              <a:tabLst>
                <a:tab pos="0" algn="l"/>
              </a:tabLst>
            </a:pPr>
            <a:r>
              <a:rPr lang="en-US" sz="2200" b="1" dirty="0">
                <a:solidFill>
                  <a:srgbClr val="365F91"/>
                </a:solidFill>
                <a:latin typeface="Calibri"/>
              </a:rPr>
              <a:t>At least once</a:t>
            </a:r>
          </a:p>
        </p:txBody>
      </p:sp>
      <p:sp>
        <p:nvSpPr>
          <p:cNvPr id="6" name="Rectangle 2">
            <a:extLst>
              <a:ext uri="{FF2B5EF4-FFF2-40B4-BE49-F238E27FC236}">
                <a16:creationId xmlns:a16="http://schemas.microsoft.com/office/drawing/2014/main" id="{01AC5F99-D226-6637-D2CF-AEA23385DC39}"/>
              </a:ext>
            </a:extLst>
          </p:cNvPr>
          <p:cNvSpPr/>
          <p:nvPr/>
        </p:nvSpPr>
        <p:spPr>
          <a:xfrm>
            <a:off x="723208" y="797719"/>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4" name="TextBox 3">
            <a:extLst>
              <a:ext uri="{FF2B5EF4-FFF2-40B4-BE49-F238E27FC236}">
                <a16:creationId xmlns:a16="http://schemas.microsoft.com/office/drawing/2014/main" id="{F7500774-98A0-3356-A8C5-B8C540C83D5E}"/>
              </a:ext>
            </a:extLst>
          </p:cNvPr>
          <p:cNvSpPr txBox="1"/>
          <p:nvPr/>
        </p:nvSpPr>
        <p:spPr>
          <a:xfrm>
            <a:off x="625527" y="981065"/>
            <a:ext cx="5299023" cy="3647152"/>
          </a:xfrm>
          <a:prstGeom prst="rect">
            <a:avLst/>
          </a:prstGeom>
          <a:noFill/>
        </p:spPr>
        <p:txBody>
          <a:bodyPr wrap="square">
            <a:spAutoFit/>
          </a:bodyPr>
          <a:lstStyle/>
          <a:p>
            <a:r>
              <a:rPr lang="en-US" sz="1050" dirty="0"/>
              <a:t>At least once guarantee means you will definitely receive and process every message, but you may process some messages additional times in the face of a failure. Here’s a few examples of some failure scenarios that can lead to at-least-once semantics:</a:t>
            </a:r>
          </a:p>
          <a:p>
            <a:endParaRPr lang="en-US" sz="1050" dirty="0"/>
          </a:p>
          <a:p>
            <a:r>
              <a:rPr lang="en-US" sz="1050" dirty="0"/>
              <a:t>1. An application sends a batch of messages to Kafka. The application never receives a response so sends the batch again. In this case it may have been the first batch was successfully saved, but the acknowledgement was lost, so the messages end up being added twice.</a:t>
            </a:r>
          </a:p>
          <a:p>
            <a:endParaRPr lang="en-US" sz="1050" dirty="0"/>
          </a:p>
          <a:p>
            <a:endParaRPr lang="en-US" sz="1050" dirty="0"/>
          </a:p>
          <a:p>
            <a:r>
              <a:rPr lang="en-US" sz="1050" dirty="0"/>
              <a:t>2. An application processes a large file containing events. It starts processing the file sending a message to Kafka for each event. Half way through processing the file the process dies and is restarted. It then starts processing the file again from the start and only marks it as processed when the whole file has been read. In this case the events from the first half of the file will be in Kafka twice.</a:t>
            </a:r>
          </a:p>
          <a:p>
            <a:endParaRPr lang="en-US" sz="1050" dirty="0"/>
          </a:p>
          <a:p>
            <a:r>
              <a:rPr lang="en-US" sz="1050" dirty="0"/>
              <a:t>3. A consumer receives a batch of messages from Kafka, transforms these and writes the results to a database. The consumer application has </a:t>
            </a:r>
            <a:r>
              <a:rPr lang="en-US" sz="1050" dirty="0" err="1"/>
              <a:t>enable.auto.commit</a:t>
            </a:r>
            <a:r>
              <a:rPr lang="en-US" sz="1050" dirty="0"/>
              <a:t> set to false and is programmed to commit their offsets back to Kafka once the database write succeeds. If the consumer fails after writing the data to the database but before saving the offsets back to Kafka, it will reprocess the same records next time it runs and save them to the database once more.</a:t>
            </a:r>
          </a:p>
        </p:txBody>
      </p:sp>
      <p:sp>
        <p:nvSpPr>
          <p:cNvPr id="3" name="AutoShape 2">
            <a:extLst>
              <a:ext uri="{FF2B5EF4-FFF2-40B4-BE49-F238E27FC236}">
                <a16:creationId xmlns:a16="http://schemas.microsoft.com/office/drawing/2014/main" id="{D3C5FB91-DA3F-AC9D-2078-6EF200710E3C}"/>
              </a:ext>
            </a:extLst>
          </p:cNvPr>
          <p:cNvSpPr>
            <a:spLocks noChangeAspect="1" noChangeArrowheads="1"/>
          </p:cNvSpPr>
          <p:nvPr/>
        </p:nvSpPr>
        <p:spPr bwMode="auto">
          <a:xfrm>
            <a:off x="127000" y="-266700"/>
            <a:ext cx="3829050" cy="1038225"/>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084" name="Picture 12">
            <a:extLst>
              <a:ext uri="{FF2B5EF4-FFF2-40B4-BE49-F238E27FC236}">
                <a16:creationId xmlns:a16="http://schemas.microsoft.com/office/drawing/2014/main" id="{63018602-ACCD-F3E5-C3E9-AD3A8AC967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4465" y="3420936"/>
            <a:ext cx="3210157" cy="929608"/>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a:extLst>
              <a:ext uri="{FF2B5EF4-FFF2-40B4-BE49-F238E27FC236}">
                <a16:creationId xmlns:a16="http://schemas.microsoft.com/office/drawing/2014/main" id="{F6B8181E-5A26-2B5F-8CF5-DE04C8C8CBC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35903" y="2473350"/>
            <a:ext cx="2774721" cy="826754"/>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A55DDCAB-1156-DEF0-C041-C0058AC09B1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35902" y="1119391"/>
            <a:ext cx="2612797" cy="8500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75137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6"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dirty="0">
                <a:solidFill>
                  <a:srgbClr val="2F5597"/>
                </a:solidFill>
                <a:effectLst/>
                <a:uFillTx/>
                <a:latin typeface="Calibri"/>
              </a:rPr>
              <a:t>Offset Commit &amp; Processing Guarantees</a:t>
            </a:r>
            <a:endParaRPr lang="en-IN" sz="2200" b="0" u="none" strike="noStrike" dirty="0">
              <a:solidFill>
                <a:srgbClr val="000000"/>
              </a:solidFill>
              <a:effectLst/>
              <a:uFillTx/>
              <a:latin typeface="Arial"/>
            </a:endParaRPr>
          </a:p>
        </p:txBody>
      </p:sp>
      <p:sp>
        <p:nvSpPr>
          <p:cNvPr id="107" name="Text 1"/>
          <p:cNvSpPr/>
          <p:nvPr/>
        </p:nvSpPr>
        <p:spPr>
          <a:xfrm>
            <a:off x="457200" y="1097280"/>
            <a:ext cx="41140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1" u="none" strike="noStrike">
                <a:solidFill>
                  <a:srgbClr val="2F5597"/>
                </a:solidFill>
                <a:effectLst/>
                <a:uFillTx/>
                <a:latin typeface="Calibri"/>
              </a:rPr>
              <a:t>Commit Strategies</a:t>
            </a:r>
            <a:endParaRPr lang="en-IN" sz="1200" b="0" u="none" strike="noStrike">
              <a:solidFill>
                <a:srgbClr val="000000"/>
              </a:solidFill>
              <a:effectLst/>
              <a:uFillTx/>
              <a:latin typeface="Arial"/>
            </a:endParaRPr>
          </a:p>
        </p:txBody>
      </p:sp>
      <p:sp>
        <p:nvSpPr>
          <p:cNvPr id="108" name="Text 2"/>
          <p:cNvSpPr/>
          <p:nvPr/>
        </p:nvSpPr>
        <p:spPr>
          <a:xfrm>
            <a:off x="457200" y="1371600"/>
            <a:ext cx="4114080" cy="1553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0" u="none" strike="noStrike" dirty="0">
                <a:solidFill>
                  <a:srgbClr val="385170"/>
                </a:solidFill>
                <a:effectLst/>
                <a:uFillTx/>
                <a:latin typeface="Calibri"/>
              </a:rPr>
              <a:t>Auto Commit: Auto commit is the simplest approach where Kafka automatically commits offsets at regular intervals (default is every 5 seconds). When offsets committed periodically by the client there is  risk of data loss if committed before processing.</a:t>
            </a:r>
            <a:endParaRPr lang="en-IN" sz="1100" b="0" u="none" strike="noStrike" dirty="0">
              <a:solidFill>
                <a:srgbClr val="000000"/>
              </a:solidFill>
              <a:effectLst/>
              <a:uFillTx/>
              <a:latin typeface="Arial"/>
            </a:endParaRPr>
          </a:p>
          <a:p>
            <a:pPr defTabSz="914400">
              <a:lnSpc>
                <a:spcPct val="100000"/>
              </a:lnSpc>
            </a:pPr>
            <a:r>
              <a:rPr lang="en-US" sz="1100" b="0" u="none" strike="noStrike" dirty="0">
                <a:solidFill>
                  <a:srgbClr val="385170"/>
                </a:solidFill>
                <a:effectLst/>
                <a:uFillTx/>
                <a:latin typeface="Calibri"/>
              </a:rPr>
              <a:t>Manual Commit: commit after processing a batch; ensures at‑least‑once delivery.</a:t>
            </a:r>
            <a:endParaRPr lang="en-IN" sz="1100" b="0" u="none" strike="noStrike" dirty="0">
              <a:solidFill>
                <a:srgbClr val="000000"/>
              </a:solidFill>
              <a:effectLst/>
              <a:uFillTx/>
              <a:latin typeface="Arial"/>
            </a:endParaRPr>
          </a:p>
          <a:p>
            <a:pPr defTabSz="914400">
              <a:lnSpc>
                <a:spcPct val="100000"/>
              </a:lnSpc>
              <a:tabLst>
                <a:tab pos="0" algn="l"/>
              </a:tabLst>
            </a:pPr>
            <a:r>
              <a:rPr lang="en-US" sz="1100" b="0" u="none" strike="noStrike" dirty="0">
                <a:solidFill>
                  <a:srgbClr val="385170"/>
                </a:solidFill>
                <a:effectLst/>
                <a:uFillTx/>
                <a:latin typeface="Calibri"/>
              </a:rPr>
              <a:t>Synchronous vs Asynchronous commit; choose based on latency requirements.</a:t>
            </a:r>
            <a:endParaRPr lang="en-IN" sz="1100" b="0" u="none" strike="noStrike" dirty="0">
              <a:solidFill>
                <a:srgbClr val="000000"/>
              </a:solidFill>
              <a:effectLst/>
              <a:uFillTx/>
              <a:latin typeface="Arial"/>
            </a:endParaRPr>
          </a:p>
        </p:txBody>
      </p:sp>
      <p:sp>
        <p:nvSpPr>
          <p:cNvPr id="109" name="Text 3"/>
          <p:cNvSpPr/>
          <p:nvPr/>
        </p:nvSpPr>
        <p:spPr>
          <a:xfrm>
            <a:off x="4572000" y="1097280"/>
            <a:ext cx="41140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1" u="none" strike="noStrike">
                <a:solidFill>
                  <a:srgbClr val="2F5597"/>
                </a:solidFill>
                <a:effectLst/>
                <a:uFillTx/>
                <a:latin typeface="Calibri"/>
              </a:rPr>
              <a:t>Processing Semantics</a:t>
            </a:r>
            <a:endParaRPr lang="en-IN" sz="1200" b="0" u="none" strike="noStrike">
              <a:solidFill>
                <a:srgbClr val="000000"/>
              </a:solidFill>
              <a:effectLst/>
              <a:uFillTx/>
              <a:latin typeface="Arial"/>
            </a:endParaRPr>
          </a:p>
        </p:txBody>
      </p:sp>
      <p:sp>
        <p:nvSpPr>
          <p:cNvPr id="110" name="Text 4"/>
          <p:cNvSpPr/>
          <p:nvPr/>
        </p:nvSpPr>
        <p:spPr>
          <a:xfrm>
            <a:off x="4572000" y="1371600"/>
            <a:ext cx="4114080" cy="1553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0" u="none" strike="noStrike" dirty="0">
                <a:solidFill>
                  <a:srgbClr val="385170"/>
                </a:solidFill>
                <a:effectLst/>
                <a:uFillTx/>
                <a:latin typeface="Calibri"/>
              </a:rPr>
              <a:t>At‑Most‑Once: commit before processing; possible data loss on failure.</a:t>
            </a:r>
            <a:endParaRPr lang="en-IN" sz="1100" b="0" u="none" strike="noStrike" dirty="0">
              <a:solidFill>
                <a:srgbClr val="000000"/>
              </a:solidFill>
              <a:effectLst/>
              <a:uFillTx/>
              <a:latin typeface="Arial"/>
            </a:endParaRPr>
          </a:p>
          <a:p>
            <a:pPr defTabSz="914400">
              <a:lnSpc>
                <a:spcPct val="100000"/>
              </a:lnSpc>
            </a:pPr>
            <a:r>
              <a:rPr lang="en-US" sz="1100" b="0" u="none" strike="noStrike" dirty="0">
                <a:solidFill>
                  <a:srgbClr val="385170"/>
                </a:solidFill>
                <a:effectLst/>
                <a:uFillTx/>
                <a:latin typeface="Calibri"/>
              </a:rPr>
              <a:t>At‑Least‑Once: commit after processing; duplicates possible if processing retried.</a:t>
            </a:r>
            <a:endParaRPr lang="en-IN" sz="1100" b="0" u="none" strike="noStrike" dirty="0">
              <a:solidFill>
                <a:srgbClr val="000000"/>
              </a:solidFill>
              <a:effectLst/>
              <a:uFillTx/>
              <a:latin typeface="Arial"/>
            </a:endParaRPr>
          </a:p>
          <a:p>
            <a:pPr defTabSz="914400">
              <a:lnSpc>
                <a:spcPct val="100000"/>
              </a:lnSpc>
              <a:tabLst>
                <a:tab pos="0" algn="l"/>
              </a:tabLst>
            </a:pPr>
            <a:r>
              <a:rPr lang="en-US" sz="1100" b="0" u="none" strike="noStrike" dirty="0">
                <a:solidFill>
                  <a:srgbClr val="385170"/>
                </a:solidFill>
                <a:effectLst/>
                <a:uFillTx/>
                <a:latin typeface="Calibri"/>
              </a:rPr>
              <a:t>Exactly‑Once: use idempotent producers, transactions &amp; </a:t>
            </a:r>
            <a:r>
              <a:rPr lang="en-US" sz="1100" b="0" u="none" strike="noStrike" dirty="0" err="1">
                <a:solidFill>
                  <a:srgbClr val="385170"/>
                </a:solidFill>
                <a:effectLst/>
                <a:uFillTx/>
                <a:latin typeface="Calibri"/>
              </a:rPr>
              <a:t>isolation.level</a:t>
            </a:r>
            <a:r>
              <a:rPr lang="en-US" sz="1100" b="0" u="none" strike="noStrike" dirty="0">
                <a:solidFill>
                  <a:srgbClr val="385170"/>
                </a:solidFill>
                <a:effectLst/>
                <a:uFillTx/>
                <a:latin typeface="Calibri"/>
              </a:rPr>
              <a:t>=</a:t>
            </a:r>
            <a:r>
              <a:rPr lang="en-US" sz="1100" b="0" u="none" strike="noStrike" dirty="0" err="1">
                <a:solidFill>
                  <a:srgbClr val="385170"/>
                </a:solidFill>
                <a:effectLst/>
                <a:uFillTx/>
                <a:latin typeface="Calibri"/>
              </a:rPr>
              <a:t>read_committed</a:t>
            </a:r>
            <a:r>
              <a:rPr lang="en-US" sz="1100" b="0" u="none" strike="noStrike" dirty="0">
                <a:solidFill>
                  <a:srgbClr val="385170"/>
                </a:solidFill>
                <a:effectLst/>
                <a:uFillTx/>
                <a:latin typeface="Calibri"/>
              </a:rPr>
              <a:t>; offsets committed within transaction.</a:t>
            </a:r>
            <a:endParaRPr lang="en-IN" sz="1100" b="0" u="none" strike="noStrike" dirty="0">
              <a:solidFill>
                <a:srgbClr val="000000"/>
              </a:solidFill>
              <a:effectLst/>
              <a:uFillTx/>
              <a:latin typeface="Arial"/>
            </a:endParaRPr>
          </a:p>
        </p:txBody>
      </p:sp>
      <p:sp>
        <p:nvSpPr>
          <p:cNvPr id="111" name="Text 5"/>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
        <p:nvSpPr>
          <p:cNvPr id="2" name="Rectangle 2">
            <a:extLst>
              <a:ext uri="{FF2B5EF4-FFF2-40B4-BE49-F238E27FC236}">
                <a16:creationId xmlns:a16="http://schemas.microsoft.com/office/drawing/2014/main" id="{EEC735BE-135B-2463-A381-BD405F875A71}"/>
              </a:ext>
            </a:extLst>
          </p:cNvPr>
          <p:cNvSpPr/>
          <p:nvPr/>
        </p:nvSpPr>
        <p:spPr>
          <a:xfrm>
            <a:off x="532708" y="87354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17F63-1ABE-6D9E-49AD-983E81046EDC}"/>
            </a:ext>
          </a:extLst>
        </p:cNvPr>
        <p:cNvGrpSpPr/>
        <p:nvPr/>
      </p:nvGrpSpPr>
      <p:grpSpPr>
        <a:xfrm>
          <a:off x="0" y="0"/>
          <a:ext cx="0" cy="0"/>
          <a:chOff x="0" y="0"/>
          <a:chExt cx="0" cy="0"/>
        </a:xfrm>
      </p:grpSpPr>
      <p:sp>
        <p:nvSpPr>
          <p:cNvPr id="106" name="Text 0">
            <a:extLst>
              <a:ext uri="{FF2B5EF4-FFF2-40B4-BE49-F238E27FC236}">
                <a16:creationId xmlns:a16="http://schemas.microsoft.com/office/drawing/2014/main" id="{8ED9D781-D3F2-A62E-B420-0292A957EF65}"/>
              </a:ext>
            </a:extLst>
          </p:cNvPr>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dirty="0">
                <a:solidFill>
                  <a:srgbClr val="2F5597"/>
                </a:solidFill>
                <a:effectLst/>
                <a:uFillTx/>
                <a:latin typeface="Calibri"/>
              </a:rPr>
              <a:t>Idempotent writes &amp; Processing Guarantees</a:t>
            </a:r>
            <a:endParaRPr lang="en-IN" sz="2200" b="0" u="none" strike="noStrike" dirty="0">
              <a:solidFill>
                <a:srgbClr val="000000"/>
              </a:solidFill>
              <a:effectLst/>
              <a:uFillTx/>
              <a:latin typeface="Arial"/>
            </a:endParaRPr>
          </a:p>
        </p:txBody>
      </p:sp>
      <p:sp>
        <p:nvSpPr>
          <p:cNvPr id="107" name="Text 1">
            <a:extLst>
              <a:ext uri="{FF2B5EF4-FFF2-40B4-BE49-F238E27FC236}">
                <a16:creationId xmlns:a16="http://schemas.microsoft.com/office/drawing/2014/main" id="{61298DB4-6432-DB5F-7115-1A3F5E31A0C3}"/>
              </a:ext>
            </a:extLst>
          </p:cNvPr>
          <p:cNvSpPr/>
          <p:nvPr/>
        </p:nvSpPr>
        <p:spPr>
          <a:xfrm>
            <a:off x="457200" y="1097280"/>
            <a:ext cx="41140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1" u="none" strike="noStrike" dirty="0">
                <a:solidFill>
                  <a:srgbClr val="2F5597"/>
                </a:solidFill>
                <a:effectLst/>
                <a:uFillTx/>
                <a:latin typeface="Calibri"/>
              </a:rPr>
              <a:t>Idempotent writes</a:t>
            </a:r>
            <a:endParaRPr lang="en-IN" sz="1200" b="0" u="none" strike="noStrike" dirty="0">
              <a:solidFill>
                <a:srgbClr val="000000"/>
              </a:solidFill>
              <a:effectLst/>
              <a:uFillTx/>
              <a:latin typeface="Arial"/>
            </a:endParaRPr>
          </a:p>
        </p:txBody>
      </p:sp>
      <p:sp>
        <p:nvSpPr>
          <p:cNvPr id="108" name="Text 2">
            <a:extLst>
              <a:ext uri="{FF2B5EF4-FFF2-40B4-BE49-F238E27FC236}">
                <a16:creationId xmlns:a16="http://schemas.microsoft.com/office/drawing/2014/main" id="{F89397C8-7AD4-8601-90EC-385BD06E8869}"/>
              </a:ext>
            </a:extLst>
          </p:cNvPr>
          <p:cNvSpPr/>
          <p:nvPr/>
        </p:nvSpPr>
        <p:spPr>
          <a:xfrm>
            <a:off x="457200" y="1517650"/>
            <a:ext cx="4114080" cy="251261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r>
              <a:rPr lang="en-US" sz="1100" dirty="0"/>
              <a:t>One of the at least once guarantee scenarios given above covered the case of a producer that is unable to determine if a previous publish call succeeded, so pushes the batch of messages again. In previous versions of Kafka, the broker had no means of determining if the second batch is a retry of the previous batch. From Kafka 0.11 onwards, producers can opt-in to </a:t>
            </a:r>
            <a:r>
              <a:rPr lang="en-US" sz="1100" b="1" dirty="0"/>
              <a:t>idempotent writes</a:t>
            </a:r>
            <a:r>
              <a:rPr lang="en-US" sz="1100" dirty="0"/>
              <a:t> (it’s disabled by default), by setting the configuration</a:t>
            </a:r>
          </a:p>
          <a:p>
            <a:endParaRPr lang="en-US" sz="1100" dirty="0"/>
          </a:p>
          <a:p>
            <a:r>
              <a:rPr lang="en-US" sz="1100" dirty="0"/>
              <a:t>flag </a:t>
            </a:r>
            <a:r>
              <a:rPr lang="en-US" sz="1100" dirty="0" err="1"/>
              <a:t>enable.idempotence</a:t>
            </a:r>
            <a:r>
              <a:rPr lang="en-US" sz="1100" dirty="0"/>
              <a:t> to true.</a:t>
            </a:r>
          </a:p>
          <a:p>
            <a:endParaRPr lang="en-US" sz="1100" dirty="0"/>
          </a:p>
          <a:p>
            <a:r>
              <a:rPr lang="en-US" sz="1100" dirty="0"/>
              <a:t> This causes the client to request a </a:t>
            </a:r>
            <a:r>
              <a:rPr lang="en-US" sz="1100" b="1" dirty="0"/>
              <a:t>producer id</a:t>
            </a:r>
            <a:r>
              <a:rPr lang="en-US" sz="1100" dirty="0"/>
              <a:t> (</a:t>
            </a:r>
            <a:r>
              <a:rPr lang="en-US" sz="1100" dirty="0" err="1"/>
              <a:t>pid</a:t>
            </a:r>
            <a:r>
              <a:rPr lang="en-US" sz="1100" dirty="0"/>
              <a:t>) from a broker. The </a:t>
            </a:r>
            <a:r>
              <a:rPr lang="en-US" sz="1100" dirty="0" err="1"/>
              <a:t>pid</a:t>
            </a:r>
            <a:r>
              <a:rPr lang="en-US" sz="1100" dirty="0"/>
              <a:t> helps the Kafka cluster identify the producer. With idempotence enabled, the producer sends the </a:t>
            </a:r>
            <a:r>
              <a:rPr lang="en-US" sz="1100" dirty="0" err="1"/>
              <a:t>pid</a:t>
            </a:r>
            <a:r>
              <a:rPr lang="en-US" sz="1100" dirty="0"/>
              <a:t> along with a </a:t>
            </a:r>
            <a:r>
              <a:rPr lang="en-US" sz="1100" b="1" dirty="0"/>
              <a:t>sequence number</a:t>
            </a:r>
            <a:r>
              <a:rPr lang="en-US" sz="1100" dirty="0"/>
              <a:t> with each batch of records. The sequence number logically increases by one for each record sent by the same producer.</a:t>
            </a:r>
            <a:endParaRPr lang="en-IN" sz="1100" b="0" u="none" strike="noStrike" dirty="0">
              <a:solidFill>
                <a:srgbClr val="000000"/>
              </a:solidFill>
              <a:effectLst/>
              <a:uFillTx/>
              <a:latin typeface="Arial"/>
            </a:endParaRPr>
          </a:p>
        </p:txBody>
      </p:sp>
      <p:sp>
        <p:nvSpPr>
          <p:cNvPr id="109" name="Text 3">
            <a:extLst>
              <a:ext uri="{FF2B5EF4-FFF2-40B4-BE49-F238E27FC236}">
                <a16:creationId xmlns:a16="http://schemas.microsoft.com/office/drawing/2014/main" id="{6489B1D8-1CB7-2CBC-A9B6-3A29D121D936}"/>
              </a:ext>
            </a:extLst>
          </p:cNvPr>
          <p:cNvSpPr/>
          <p:nvPr/>
        </p:nvSpPr>
        <p:spPr>
          <a:xfrm>
            <a:off x="4572000" y="1097280"/>
            <a:ext cx="41140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1" u="none" strike="noStrike" dirty="0">
                <a:solidFill>
                  <a:srgbClr val="2F5597"/>
                </a:solidFill>
                <a:effectLst/>
                <a:uFillTx/>
                <a:latin typeface="Calibri"/>
              </a:rPr>
              <a:t>Transactions</a:t>
            </a:r>
            <a:endParaRPr lang="en-IN" sz="1200" b="0" u="none" strike="noStrike" dirty="0">
              <a:solidFill>
                <a:srgbClr val="000000"/>
              </a:solidFill>
              <a:effectLst/>
              <a:uFillTx/>
              <a:latin typeface="Arial"/>
            </a:endParaRPr>
          </a:p>
        </p:txBody>
      </p:sp>
      <p:sp>
        <p:nvSpPr>
          <p:cNvPr id="110" name="Text 4">
            <a:extLst>
              <a:ext uri="{FF2B5EF4-FFF2-40B4-BE49-F238E27FC236}">
                <a16:creationId xmlns:a16="http://schemas.microsoft.com/office/drawing/2014/main" id="{657C29EA-2F45-8164-119F-975F376C86B8}"/>
              </a:ext>
            </a:extLst>
          </p:cNvPr>
          <p:cNvSpPr/>
          <p:nvPr/>
        </p:nvSpPr>
        <p:spPr>
          <a:xfrm>
            <a:off x="4572000" y="1371600"/>
            <a:ext cx="4114080" cy="1553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IN" sz="1100" b="0" u="none" strike="noStrike" dirty="0">
              <a:solidFill>
                <a:srgbClr val="000000"/>
              </a:solidFill>
              <a:effectLst/>
              <a:uFillTx/>
              <a:latin typeface="Arial"/>
            </a:endParaRPr>
          </a:p>
        </p:txBody>
      </p:sp>
      <p:sp>
        <p:nvSpPr>
          <p:cNvPr id="111" name="Text 5">
            <a:extLst>
              <a:ext uri="{FF2B5EF4-FFF2-40B4-BE49-F238E27FC236}">
                <a16:creationId xmlns:a16="http://schemas.microsoft.com/office/drawing/2014/main" id="{6C87B3F7-0CD2-3CB4-8118-66C2FCD4B4A7}"/>
              </a:ext>
            </a:extLst>
          </p:cNvPr>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
        <p:nvSpPr>
          <p:cNvPr id="2" name="Rectangle 2">
            <a:extLst>
              <a:ext uri="{FF2B5EF4-FFF2-40B4-BE49-F238E27FC236}">
                <a16:creationId xmlns:a16="http://schemas.microsoft.com/office/drawing/2014/main" id="{A029B7B2-4B31-9583-2A21-59522D1526FB}"/>
              </a:ext>
            </a:extLst>
          </p:cNvPr>
          <p:cNvSpPr/>
          <p:nvPr/>
        </p:nvSpPr>
        <p:spPr>
          <a:xfrm>
            <a:off x="532708" y="87354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 name="TextBox 5">
            <a:extLst>
              <a:ext uri="{FF2B5EF4-FFF2-40B4-BE49-F238E27FC236}">
                <a16:creationId xmlns:a16="http://schemas.microsoft.com/office/drawing/2014/main" id="{23B658D9-6268-9E69-DBDE-ADBECAAFDC5A}"/>
              </a:ext>
            </a:extLst>
          </p:cNvPr>
          <p:cNvSpPr txBox="1"/>
          <p:nvPr/>
        </p:nvSpPr>
        <p:spPr>
          <a:xfrm>
            <a:off x="4464448" y="1408320"/>
            <a:ext cx="4357819" cy="2970044"/>
          </a:xfrm>
          <a:prstGeom prst="rect">
            <a:avLst/>
          </a:prstGeom>
          <a:noFill/>
        </p:spPr>
        <p:txBody>
          <a:bodyPr wrap="square">
            <a:spAutoFit/>
          </a:bodyPr>
          <a:lstStyle/>
          <a:p>
            <a:r>
              <a:rPr lang="en-US" sz="1100" dirty="0"/>
              <a:t>Transactions give us the ability to atomically update data in multiple topic partitions. All the records included in a transaction will be successfully saved, or none of them will be.</a:t>
            </a:r>
          </a:p>
          <a:p>
            <a:endParaRPr lang="en-US" sz="1100" dirty="0"/>
          </a:p>
          <a:p>
            <a:r>
              <a:rPr lang="en-US" sz="1100" dirty="0"/>
              <a:t>Transactions are enabled through producer configuration. Clients need to first enable idempotent writes (</a:t>
            </a:r>
            <a:r>
              <a:rPr lang="en-US" sz="1100" b="1" dirty="0" err="1"/>
              <a:t>enable.idempotence</a:t>
            </a:r>
            <a:r>
              <a:rPr lang="en-US" sz="1100" b="1" dirty="0"/>
              <a:t>=true</a:t>
            </a:r>
            <a:r>
              <a:rPr lang="en-US" sz="1100" dirty="0"/>
              <a:t>) and provide a transactional id (</a:t>
            </a:r>
            <a:r>
              <a:rPr lang="en-US" sz="1100" b="1" i="1" dirty="0"/>
              <a:t>transactional.id=my-</a:t>
            </a:r>
            <a:r>
              <a:rPr lang="en-US" sz="1100" b="1" i="1" dirty="0" err="1"/>
              <a:t>tx</a:t>
            </a:r>
            <a:r>
              <a:rPr lang="en-US" sz="1100" b="1" i="1" dirty="0"/>
              <a:t>-i</a:t>
            </a:r>
            <a:r>
              <a:rPr lang="en-US" sz="1100" i="1" dirty="0"/>
              <a:t>d</a:t>
            </a:r>
            <a:r>
              <a:rPr lang="en-US" sz="1100" dirty="0"/>
              <a:t>). The producer then needs to register itself with the Kafka cluster by calling </a:t>
            </a:r>
            <a:r>
              <a:rPr lang="en-US" sz="1100" b="1" dirty="0" err="1"/>
              <a:t>initTransactions</a:t>
            </a:r>
            <a:r>
              <a:rPr lang="en-US" sz="1100" dirty="0"/>
              <a:t>. </a:t>
            </a:r>
          </a:p>
          <a:p>
            <a:endParaRPr lang="en-US" sz="1100" dirty="0"/>
          </a:p>
          <a:p>
            <a:r>
              <a:rPr lang="en-US" sz="1100" dirty="0"/>
              <a:t>The transactional id is used to identify the same producer across process restarts. When reconnecting with the same transactional id, a producer will be assigned the same </a:t>
            </a:r>
            <a:r>
              <a:rPr lang="en-US" sz="1100" dirty="0" err="1"/>
              <a:t>pid</a:t>
            </a:r>
            <a:r>
              <a:rPr lang="en-US" sz="1100" dirty="0"/>
              <a:t> and an epoch number associated with that </a:t>
            </a:r>
            <a:r>
              <a:rPr lang="en-US" sz="1100" dirty="0" err="1"/>
              <a:t>pid</a:t>
            </a:r>
            <a:r>
              <a:rPr lang="en-US" sz="1100" dirty="0"/>
              <a:t> will be incremented. Kafka will then guarantee that any pending transactions from previous sessions for that </a:t>
            </a:r>
            <a:r>
              <a:rPr lang="en-US" sz="1100" dirty="0" err="1"/>
              <a:t>pid</a:t>
            </a:r>
            <a:r>
              <a:rPr lang="en-US" sz="1100" dirty="0"/>
              <a:t> will either be committed or aborted before the producer can send any new data. Any attempt by an old zombie instance of the producer with an older epoch number to perform operations will now fail.</a:t>
            </a:r>
          </a:p>
        </p:txBody>
      </p:sp>
    </p:spTree>
    <p:extLst>
      <p:ext uri="{BB962C8B-B14F-4D97-AF65-F5344CB8AC3E}">
        <p14:creationId xmlns:p14="http://schemas.microsoft.com/office/powerpoint/2010/main" val="31845783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112" name="Text 22"/>
          <p:cNvSpPr/>
          <p:nvPr/>
        </p:nvSpPr>
        <p:spPr>
          <a:xfrm>
            <a:off x="457200" y="365760"/>
            <a:ext cx="82288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000" b="1" u="none" strike="noStrike">
                <a:solidFill>
                  <a:srgbClr val="2F5597"/>
                </a:solidFill>
                <a:effectLst/>
                <a:uFillTx/>
                <a:latin typeface="Calibri"/>
              </a:rPr>
              <a:t>Producer Responsibilities &amp; Delivery Semantics</a:t>
            </a:r>
            <a:endParaRPr lang="en-IN" sz="2000" b="0" u="none" strike="noStrike">
              <a:solidFill>
                <a:srgbClr val="000000"/>
              </a:solidFill>
              <a:effectLst/>
              <a:uFillTx/>
              <a:latin typeface="Arial"/>
            </a:endParaRPr>
          </a:p>
        </p:txBody>
      </p:sp>
      <p:sp>
        <p:nvSpPr>
          <p:cNvPr id="113" name="Text 23"/>
          <p:cNvSpPr/>
          <p:nvPr/>
        </p:nvSpPr>
        <p:spPr>
          <a:xfrm>
            <a:off x="457200" y="914400"/>
            <a:ext cx="502848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000" b="1" u="none" strike="noStrike">
                <a:solidFill>
                  <a:srgbClr val="2F5597"/>
                </a:solidFill>
                <a:effectLst/>
                <a:uFillTx/>
                <a:latin typeface="Calibri"/>
              </a:rPr>
              <a:t>• </a:t>
            </a:r>
            <a:r>
              <a:rPr lang="en-US" sz="1000" b="0" u="none" strike="noStrike">
                <a:solidFill>
                  <a:srgbClr val="385170"/>
                </a:solidFill>
                <a:effectLst/>
                <a:uFillTx/>
                <a:latin typeface="Calibri"/>
              </a:rPr>
              <a:t>Serialise data into bytes (e.g. Avro, Protobuf, JSON).</a:t>
            </a:r>
            <a:endParaRPr lang="en-IN" sz="1000" b="0" u="none" strike="noStrike">
              <a:solidFill>
                <a:srgbClr val="000000"/>
              </a:solidFill>
              <a:effectLst/>
              <a:uFillTx/>
              <a:latin typeface="Arial"/>
            </a:endParaRPr>
          </a:p>
        </p:txBody>
      </p:sp>
      <p:sp>
        <p:nvSpPr>
          <p:cNvPr id="114" name="Text 24"/>
          <p:cNvSpPr/>
          <p:nvPr/>
        </p:nvSpPr>
        <p:spPr>
          <a:xfrm>
            <a:off x="457200" y="1234440"/>
            <a:ext cx="502848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000" b="1" u="none" strike="noStrike">
                <a:solidFill>
                  <a:srgbClr val="2F5597"/>
                </a:solidFill>
                <a:effectLst/>
                <a:uFillTx/>
                <a:latin typeface="Calibri"/>
              </a:rPr>
              <a:t>• </a:t>
            </a:r>
            <a:r>
              <a:rPr lang="en-US" sz="1000" b="0" u="none" strike="noStrike">
                <a:solidFill>
                  <a:srgbClr val="385170"/>
                </a:solidFill>
                <a:effectLst/>
                <a:uFillTx/>
                <a:latin typeface="Calibri"/>
              </a:rPr>
              <a:t>Determine partition (hash key, sticky or round‑robin).</a:t>
            </a:r>
            <a:endParaRPr lang="en-IN" sz="1000" b="0" u="none" strike="noStrike">
              <a:solidFill>
                <a:srgbClr val="000000"/>
              </a:solidFill>
              <a:effectLst/>
              <a:uFillTx/>
              <a:latin typeface="Arial"/>
            </a:endParaRPr>
          </a:p>
        </p:txBody>
      </p:sp>
      <p:sp>
        <p:nvSpPr>
          <p:cNvPr id="115" name="Text 25"/>
          <p:cNvSpPr/>
          <p:nvPr/>
        </p:nvSpPr>
        <p:spPr>
          <a:xfrm>
            <a:off x="457200" y="1554480"/>
            <a:ext cx="502848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000" b="1" u="none" strike="noStrike">
                <a:solidFill>
                  <a:srgbClr val="2F5597"/>
                </a:solidFill>
                <a:effectLst/>
                <a:uFillTx/>
                <a:latin typeface="Calibri"/>
              </a:rPr>
              <a:t>• </a:t>
            </a:r>
            <a:r>
              <a:rPr lang="en-US" sz="1000" b="0" u="none" strike="noStrike">
                <a:solidFill>
                  <a:srgbClr val="385170"/>
                </a:solidFill>
                <a:effectLst/>
                <a:uFillTx/>
                <a:latin typeface="Calibri"/>
              </a:rPr>
              <a:t>Batch messages and compress to maximise throughput.</a:t>
            </a:r>
            <a:endParaRPr lang="en-IN" sz="1000" b="0" u="none" strike="noStrike">
              <a:solidFill>
                <a:srgbClr val="000000"/>
              </a:solidFill>
              <a:effectLst/>
              <a:uFillTx/>
              <a:latin typeface="Arial"/>
            </a:endParaRPr>
          </a:p>
        </p:txBody>
      </p:sp>
      <p:sp>
        <p:nvSpPr>
          <p:cNvPr id="116" name="Text 26"/>
          <p:cNvSpPr/>
          <p:nvPr/>
        </p:nvSpPr>
        <p:spPr>
          <a:xfrm>
            <a:off x="457200" y="1874520"/>
            <a:ext cx="502848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000" b="1" u="none" strike="noStrike">
                <a:solidFill>
                  <a:srgbClr val="2F5597"/>
                </a:solidFill>
                <a:effectLst/>
                <a:uFillTx/>
                <a:latin typeface="Calibri"/>
              </a:rPr>
              <a:t>• </a:t>
            </a:r>
            <a:r>
              <a:rPr lang="en-US" sz="1000" b="0" u="none" strike="noStrike">
                <a:solidFill>
                  <a:srgbClr val="385170"/>
                </a:solidFill>
                <a:effectLst/>
                <a:uFillTx/>
                <a:latin typeface="Calibri"/>
              </a:rPr>
              <a:t>Configure acknowledgments to control durability.</a:t>
            </a:r>
            <a:endParaRPr lang="en-IN" sz="1000" b="0" u="none" strike="noStrike">
              <a:solidFill>
                <a:srgbClr val="000000"/>
              </a:solidFill>
              <a:effectLst/>
              <a:uFillTx/>
              <a:latin typeface="Arial"/>
            </a:endParaRPr>
          </a:p>
        </p:txBody>
      </p:sp>
      <p:graphicFrame>
        <p:nvGraphicFramePr>
          <p:cNvPr id="117" name="Table 2"/>
          <p:cNvGraphicFramePr/>
          <p:nvPr/>
        </p:nvGraphicFramePr>
        <p:xfrm>
          <a:off x="5669280" y="914400"/>
          <a:ext cx="3017520" cy="1493520"/>
        </p:xfrm>
        <a:graphic>
          <a:graphicData uri="http://schemas.openxmlformats.org/drawingml/2006/table">
            <a:tbl>
              <a:tblPr/>
              <a:tblGrid>
                <a:gridCol w="9144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365760">
                <a:tc>
                  <a:txBody>
                    <a:bodyPr/>
                    <a:lstStyle/>
                    <a:p>
                      <a:pPr defTabSz="914400">
                        <a:lnSpc>
                          <a:spcPct val="100000"/>
                        </a:lnSpc>
                        <a:tabLst>
                          <a:tab pos="0" algn="l"/>
                        </a:tabLst>
                      </a:pPr>
                      <a:r>
                        <a:rPr lang="en-US" sz="800" b="1" u="none" strike="noStrike">
                          <a:solidFill>
                            <a:srgbClr val="385170"/>
                          </a:solidFill>
                          <a:effectLst/>
                          <a:uFillTx/>
                          <a:latin typeface="Calibri"/>
                        </a:rPr>
                        <a:t>Ack Mode</a:t>
                      </a:r>
                      <a:endParaRPr lang="en-IN" sz="800" b="0" u="none" strike="noStrike">
                        <a:solidFill>
                          <a:srgbClr val="000000"/>
                        </a:solidFill>
                        <a:effectLst/>
                        <a:uFillTx/>
                        <a:latin typeface="Arial"/>
                      </a:endParaRPr>
                    </a:p>
                  </a:txBody>
                  <a:tcPr>
                    <a:lnL w="6480">
                      <a:solidFill>
                        <a:srgbClr val="D0D8E8"/>
                      </a:solidFill>
                      <a:prstDash val="solid"/>
                    </a:lnL>
                    <a:lnR w="6480">
                      <a:solidFill>
                        <a:srgbClr val="D0D8E8"/>
                      </a:solidFill>
                      <a:prstDash val="solid"/>
                    </a:lnR>
                    <a:lnT w="6480">
                      <a:solidFill>
                        <a:srgbClr val="D0D8E8"/>
                      </a:solidFill>
                      <a:prstDash val="solid"/>
                    </a:lnT>
                    <a:lnB w="6480">
                      <a:solidFill>
                        <a:srgbClr val="D0D8E8"/>
                      </a:solidFill>
                      <a:prstDash val="solid"/>
                    </a:lnB>
                    <a:solidFill>
                      <a:srgbClr val="D9E1F2"/>
                    </a:solidFill>
                  </a:tcPr>
                </a:tc>
                <a:tc>
                  <a:txBody>
                    <a:bodyPr/>
                    <a:lstStyle/>
                    <a:p>
                      <a:pPr defTabSz="914400">
                        <a:lnSpc>
                          <a:spcPct val="100000"/>
                        </a:lnSpc>
                        <a:tabLst>
                          <a:tab pos="0" algn="l"/>
                        </a:tabLst>
                      </a:pPr>
                      <a:r>
                        <a:rPr lang="en-US" sz="800" b="1" u="none" strike="noStrike">
                          <a:solidFill>
                            <a:srgbClr val="385170"/>
                          </a:solidFill>
                          <a:effectLst/>
                          <a:uFillTx/>
                          <a:latin typeface="Calibri"/>
                        </a:rPr>
                        <a:t>Guarantee</a:t>
                      </a:r>
                      <a:endParaRPr lang="en-IN" sz="800" b="0" u="none" strike="noStrike">
                        <a:solidFill>
                          <a:srgbClr val="000000"/>
                        </a:solidFill>
                        <a:effectLst/>
                        <a:uFillTx/>
                        <a:latin typeface="Arial"/>
                      </a:endParaRPr>
                    </a:p>
                  </a:txBody>
                  <a:tcPr>
                    <a:lnL w="6480">
                      <a:solidFill>
                        <a:srgbClr val="D0D8E8"/>
                      </a:solidFill>
                      <a:prstDash val="solid"/>
                    </a:lnL>
                    <a:lnR w="6480">
                      <a:solidFill>
                        <a:srgbClr val="D0D8E8"/>
                      </a:solidFill>
                      <a:prstDash val="solid"/>
                    </a:lnR>
                    <a:lnT w="6480">
                      <a:solidFill>
                        <a:srgbClr val="D0D8E8"/>
                      </a:solidFill>
                      <a:prstDash val="solid"/>
                    </a:lnT>
                    <a:lnB w="6480">
                      <a:solidFill>
                        <a:srgbClr val="D0D8E8"/>
                      </a:solidFill>
                      <a:prstDash val="solid"/>
                    </a:lnB>
                    <a:solidFill>
                      <a:srgbClr val="D9E1F2"/>
                    </a:solidFill>
                  </a:tcPr>
                </a:tc>
                <a:tc>
                  <a:txBody>
                    <a:bodyPr/>
                    <a:lstStyle/>
                    <a:p>
                      <a:pPr defTabSz="914400">
                        <a:lnSpc>
                          <a:spcPct val="100000"/>
                        </a:lnSpc>
                        <a:tabLst>
                          <a:tab pos="0" algn="l"/>
                        </a:tabLst>
                      </a:pPr>
                      <a:r>
                        <a:rPr lang="en-US" sz="800" b="1" u="none" strike="noStrike">
                          <a:solidFill>
                            <a:srgbClr val="385170"/>
                          </a:solidFill>
                          <a:effectLst/>
                          <a:uFillTx/>
                          <a:latin typeface="Calibri"/>
                        </a:rPr>
                        <a:t>Trade‑Off</a:t>
                      </a:r>
                      <a:endParaRPr lang="en-IN" sz="800" b="0" u="none" strike="noStrike">
                        <a:solidFill>
                          <a:srgbClr val="000000"/>
                        </a:solidFill>
                        <a:effectLst/>
                        <a:uFillTx/>
                        <a:latin typeface="Arial"/>
                      </a:endParaRPr>
                    </a:p>
                  </a:txBody>
                  <a:tcPr>
                    <a:lnL w="6480">
                      <a:solidFill>
                        <a:srgbClr val="D0D8E8"/>
                      </a:solidFill>
                      <a:prstDash val="solid"/>
                    </a:lnL>
                    <a:lnR w="6480">
                      <a:solidFill>
                        <a:srgbClr val="D0D8E8"/>
                      </a:solidFill>
                      <a:prstDash val="solid"/>
                    </a:lnR>
                    <a:lnT w="6480">
                      <a:solidFill>
                        <a:srgbClr val="D0D8E8"/>
                      </a:solidFill>
                      <a:prstDash val="solid"/>
                    </a:lnT>
                    <a:lnB w="6480">
                      <a:solidFill>
                        <a:srgbClr val="D0D8E8"/>
                      </a:solidFill>
                      <a:prstDash val="solid"/>
                    </a:lnB>
                    <a:solidFill>
                      <a:srgbClr val="D9E1F2"/>
                    </a:solidFill>
                  </a:tcPr>
                </a:tc>
                <a:extLst>
                  <a:ext uri="{0D108BD9-81ED-4DB2-BD59-A6C34878D82A}">
                    <a16:rowId xmlns:a16="http://schemas.microsoft.com/office/drawing/2014/main" val="10000"/>
                  </a:ext>
                </a:extLst>
              </a:tr>
              <a:tr h="320040">
                <a:tc>
                  <a:txBody>
                    <a:bodyPr/>
                    <a:lstStyle/>
                    <a:p>
                      <a:pPr defTabSz="914400">
                        <a:lnSpc>
                          <a:spcPct val="100000"/>
                        </a:lnSpc>
                        <a:tabLst>
                          <a:tab pos="0" algn="l"/>
                        </a:tabLst>
                      </a:pPr>
                      <a:r>
                        <a:rPr lang="en-US" sz="800" b="0" u="none" strike="noStrike">
                          <a:solidFill>
                            <a:srgbClr val="385170"/>
                          </a:solidFill>
                          <a:effectLst/>
                          <a:uFillTx/>
                          <a:latin typeface="Calibri"/>
                        </a:rPr>
                        <a:t>acks=0</a:t>
                      </a:r>
                      <a:endParaRPr lang="en-IN" sz="800" b="0" u="none" strike="noStrike">
                        <a:solidFill>
                          <a:srgbClr val="000000"/>
                        </a:solidFill>
                        <a:effectLst/>
                        <a:uFillTx/>
                        <a:latin typeface="Arial"/>
                      </a:endParaRPr>
                    </a:p>
                  </a:txBody>
                  <a:tcPr>
                    <a:lnL w="6480">
                      <a:solidFill>
                        <a:srgbClr val="D0D8E8"/>
                      </a:solidFill>
                      <a:prstDash val="solid"/>
                    </a:lnL>
                    <a:lnR w="6480">
                      <a:solidFill>
                        <a:srgbClr val="D0D8E8"/>
                      </a:solidFill>
                      <a:prstDash val="solid"/>
                    </a:lnR>
                    <a:lnT w="6480">
                      <a:solidFill>
                        <a:srgbClr val="D0D8E8"/>
                      </a:solidFill>
                      <a:prstDash val="solid"/>
                    </a:lnT>
                    <a:lnB w="6480">
                      <a:solidFill>
                        <a:srgbClr val="D0D8E8"/>
                      </a:solidFill>
                      <a:prstDash val="solid"/>
                    </a:lnB>
                    <a:solidFill>
                      <a:srgbClr val="F7F9FB"/>
                    </a:solidFill>
                  </a:tcPr>
                </a:tc>
                <a:tc>
                  <a:txBody>
                    <a:bodyPr/>
                    <a:lstStyle/>
                    <a:p>
                      <a:pPr defTabSz="914400">
                        <a:lnSpc>
                          <a:spcPct val="100000"/>
                        </a:lnSpc>
                        <a:tabLst>
                          <a:tab pos="0" algn="l"/>
                        </a:tabLst>
                      </a:pPr>
                      <a:r>
                        <a:rPr lang="en-US" sz="800" b="0" u="none" strike="noStrike">
                          <a:solidFill>
                            <a:srgbClr val="385170"/>
                          </a:solidFill>
                          <a:effectLst/>
                          <a:uFillTx/>
                          <a:latin typeface="Calibri"/>
                        </a:rPr>
                        <a:t>At‑Most‑Once</a:t>
                      </a:r>
                      <a:endParaRPr lang="en-IN" sz="800" b="0" u="none" strike="noStrike">
                        <a:solidFill>
                          <a:srgbClr val="000000"/>
                        </a:solidFill>
                        <a:effectLst/>
                        <a:uFillTx/>
                        <a:latin typeface="Arial"/>
                      </a:endParaRPr>
                    </a:p>
                  </a:txBody>
                  <a:tcPr>
                    <a:lnL w="6480">
                      <a:solidFill>
                        <a:srgbClr val="D0D8E8"/>
                      </a:solidFill>
                      <a:prstDash val="solid"/>
                    </a:lnL>
                    <a:lnR w="6480">
                      <a:solidFill>
                        <a:srgbClr val="D0D8E8"/>
                      </a:solidFill>
                      <a:prstDash val="solid"/>
                    </a:lnR>
                    <a:lnT w="6480">
                      <a:solidFill>
                        <a:srgbClr val="D0D8E8"/>
                      </a:solidFill>
                      <a:prstDash val="solid"/>
                    </a:lnT>
                    <a:lnB w="6480">
                      <a:solidFill>
                        <a:srgbClr val="D0D8E8"/>
                      </a:solidFill>
                      <a:prstDash val="solid"/>
                    </a:lnB>
                    <a:solidFill>
                      <a:srgbClr val="F7F9FB"/>
                    </a:solidFill>
                  </a:tcPr>
                </a:tc>
                <a:tc>
                  <a:txBody>
                    <a:bodyPr/>
                    <a:lstStyle/>
                    <a:p>
                      <a:pPr defTabSz="914400">
                        <a:lnSpc>
                          <a:spcPct val="100000"/>
                        </a:lnSpc>
                        <a:tabLst>
                          <a:tab pos="0" algn="l"/>
                        </a:tabLst>
                      </a:pPr>
                      <a:r>
                        <a:rPr lang="en-US" sz="800" b="0" u="none" strike="noStrike">
                          <a:solidFill>
                            <a:srgbClr val="385170"/>
                          </a:solidFill>
                          <a:effectLst/>
                          <a:uFillTx/>
                          <a:latin typeface="Calibri"/>
                        </a:rPr>
                        <a:t>Fastest but risk data loss</a:t>
                      </a:r>
                      <a:endParaRPr lang="en-IN" sz="800" b="0" u="none" strike="noStrike">
                        <a:solidFill>
                          <a:srgbClr val="000000"/>
                        </a:solidFill>
                        <a:effectLst/>
                        <a:uFillTx/>
                        <a:latin typeface="Arial"/>
                      </a:endParaRPr>
                    </a:p>
                  </a:txBody>
                  <a:tcPr>
                    <a:lnL w="6480">
                      <a:solidFill>
                        <a:srgbClr val="D0D8E8"/>
                      </a:solidFill>
                      <a:prstDash val="solid"/>
                    </a:lnL>
                    <a:lnR w="6480">
                      <a:solidFill>
                        <a:srgbClr val="D0D8E8"/>
                      </a:solidFill>
                      <a:prstDash val="solid"/>
                    </a:lnR>
                    <a:lnT w="6480">
                      <a:solidFill>
                        <a:srgbClr val="D0D8E8"/>
                      </a:solidFill>
                      <a:prstDash val="solid"/>
                    </a:lnT>
                    <a:lnB w="6480">
                      <a:solidFill>
                        <a:srgbClr val="D0D8E8"/>
                      </a:solidFill>
                      <a:prstDash val="solid"/>
                    </a:lnB>
                    <a:solidFill>
                      <a:srgbClr val="F7F9FB"/>
                    </a:solidFill>
                  </a:tcPr>
                </a:tc>
                <a:extLst>
                  <a:ext uri="{0D108BD9-81ED-4DB2-BD59-A6C34878D82A}">
                    <a16:rowId xmlns:a16="http://schemas.microsoft.com/office/drawing/2014/main" val="10001"/>
                  </a:ext>
                </a:extLst>
              </a:tr>
              <a:tr h="320040">
                <a:tc>
                  <a:txBody>
                    <a:bodyPr/>
                    <a:lstStyle/>
                    <a:p>
                      <a:pPr defTabSz="914400">
                        <a:lnSpc>
                          <a:spcPct val="100000"/>
                        </a:lnSpc>
                        <a:tabLst>
                          <a:tab pos="0" algn="l"/>
                        </a:tabLst>
                      </a:pPr>
                      <a:r>
                        <a:rPr lang="en-US" sz="800" b="0" u="none" strike="noStrike">
                          <a:solidFill>
                            <a:srgbClr val="385170"/>
                          </a:solidFill>
                          <a:effectLst/>
                          <a:uFillTx/>
                          <a:latin typeface="Calibri"/>
                        </a:rPr>
                        <a:t>acks=1</a:t>
                      </a:r>
                      <a:endParaRPr lang="en-IN" sz="800" b="0" u="none" strike="noStrike">
                        <a:solidFill>
                          <a:srgbClr val="000000"/>
                        </a:solidFill>
                        <a:effectLst/>
                        <a:uFillTx/>
                        <a:latin typeface="Arial"/>
                      </a:endParaRPr>
                    </a:p>
                  </a:txBody>
                  <a:tcPr>
                    <a:lnL w="6480">
                      <a:solidFill>
                        <a:srgbClr val="D0D8E8"/>
                      </a:solidFill>
                      <a:prstDash val="solid"/>
                    </a:lnL>
                    <a:lnR w="6480">
                      <a:solidFill>
                        <a:srgbClr val="D0D8E8"/>
                      </a:solidFill>
                      <a:prstDash val="solid"/>
                    </a:lnR>
                    <a:lnT w="6480">
                      <a:solidFill>
                        <a:srgbClr val="D0D8E8"/>
                      </a:solidFill>
                      <a:prstDash val="solid"/>
                    </a:lnT>
                    <a:lnB w="6480">
                      <a:solidFill>
                        <a:srgbClr val="D0D8E8"/>
                      </a:solidFill>
                      <a:prstDash val="solid"/>
                    </a:lnB>
                    <a:solidFill>
                      <a:srgbClr val="F7F9FB"/>
                    </a:solidFill>
                  </a:tcPr>
                </a:tc>
                <a:tc>
                  <a:txBody>
                    <a:bodyPr/>
                    <a:lstStyle/>
                    <a:p>
                      <a:pPr defTabSz="914400">
                        <a:lnSpc>
                          <a:spcPct val="100000"/>
                        </a:lnSpc>
                        <a:tabLst>
                          <a:tab pos="0" algn="l"/>
                        </a:tabLst>
                      </a:pPr>
                      <a:r>
                        <a:rPr lang="en-US" sz="800" b="0" u="none" strike="noStrike">
                          <a:solidFill>
                            <a:srgbClr val="385170"/>
                          </a:solidFill>
                          <a:effectLst/>
                          <a:uFillTx/>
                          <a:latin typeface="Calibri"/>
                        </a:rPr>
                        <a:t>At‑Least‑Once</a:t>
                      </a:r>
                      <a:endParaRPr lang="en-IN" sz="800" b="0" u="none" strike="noStrike">
                        <a:solidFill>
                          <a:srgbClr val="000000"/>
                        </a:solidFill>
                        <a:effectLst/>
                        <a:uFillTx/>
                        <a:latin typeface="Arial"/>
                      </a:endParaRPr>
                    </a:p>
                  </a:txBody>
                  <a:tcPr>
                    <a:lnL w="6480">
                      <a:solidFill>
                        <a:srgbClr val="D0D8E8"/>
                      </a:solidFill>
                      <a:prstDash val="solid"/>
                    </a:lnL>
                    <a:lnR w="6480">
                      <a:solidFill>
                        <a:srgbClr val="D0D8E8"/>
                      </a:solidFill>
                      <a:prstDash val="solid"/>
                    </a:lnR>
                    <a:lnT w="6480">
                      <a:solidFill>
                        <a:srgbClr val="D0D8E8"/>
                      </a:solidFill>
                      <a:prstDash val="solid"/>
                    </a:lnT>
                    <a:lnB w="6480">
                      <a:solidFill>
                        <a:srgbClr val="D0D8E8"/>
                      </a:solidFill>
                      <a:prstDash val="solid"/>
                    </a:lnB>
                    <a:solidFill>
                      <a:srgbClr val="F7F9FB"/>
                    </a:solidFill>
                  </a:tcPr>
                </a:tc>
                <a:tc>
                  <a:txBody>
                    <a:bodyPr/>
                    <a:lstStyle/>
                    <a:p>
                      <a:pPr defTabSz="914400">
                        <a:lnSpc>
                          <a:spcPct val="100000"/>
                        </a:lnSpc>
                        <a:tabLst>
                          <a:tab pos="0" algn="l"/>
                        </a:tabLst>
                      </a:pPr>
                      <a:r>
                        <a:rPr lang="en-US" sz="800" b="0" u="none" strike="noStrike">
                          <a:solidFill>
                            <a:srgbClr val="385170"/>
                          </a:solidFill>
                          <a:effectLst/>
                          <a:uFillTx/>
                          <a:latin typeface="Calibri"/>
                        </a:rPr>
                        <a:t>May duplicate messages</a:t>
                      </a:r>
                      <a:endParaRPr lang="en-IN" sz="800" b="0" u="none" strike="noStrike">
                        <a:solidFill>
                          <a:srgbClr val="000000"/>
                        </a:solidFill>
                        <a:effectLst/>
                        <a:uFillTx/>
                        <a:latin typeface="Arial"/>
                      </a:endParaRPr>
                    </a:p>
                  </a:txBody>
                  <a:tcPr>
                    <a:lnL w="6480">
                      <a:solidFill>
                        <a:srgbClr val="D0D8E8"/>
                      </a:solidFill>
                      <a:prstDash val="solid"/>
                    </a:lnL>
                    <a:lnR w="6480">
                      <a:solidFill>
                        <a:srgbClr val="D0D8E8"/>
                      </a:solidFill>
                      <a:prstDash val="solid"/>
                    </a:lnR>
                    <a:lnT w="6480">
                      <a:solidFill>
                        <a:srgbClr val="D0D8E8"/>
                      </a:solidFill>
                      <a:prstDash val="solid"/>
                    </a:lnT>
                    <a:lnB w="6480">
                      <a:solidFill>
                        <a:srgbClr val="D0D8E8"/>
                      </a:solidFill>
                      <a:prstDash val="solid"/>
                    </a:lnB>
                    <a:solidFill>
                      <a:srgbClr val="F7F9FB"/>
                    </a:solidFill>
                  </a:tcPr>
                </a:tc>
                <a:extLst>
                  <a:ext uri="{0D108BD9-81ED-4DB2-BD59-A6C34878D82A}">
                    <a16:rowId xmlns:a16="http://schemas.microsoft.com/office/drawing/2014/main" val="10002"/>
                  </a:ext>
                </a:extLst>
              </a:tr>
              <a:tr h="320040">
                <a:tc>
                  <a:txBody>
                    <a:bodyPr/>
                    <a:lstStyle/>
                    <a:p>
                      <a:pPr defTabSz="914400">
                        <a:lnSpc>
                          <a:spcPct val="100000"/>
                        </a:lnSpc>
                        <a:tabLst>
                          <a:tab pos="0" algn="l"/>
                        </a:tabLst>
                      </a:pPr>
                      <a:r>
                        <a:rPr lang="en-US" sz="800" b="0" u="none" strike="noStrike">
                          <a:solidFill>
                            <a:srgbClr val="385170"/>
                          </a:solidFill>
                          <a:effectLst/>
                          <a:uFillTx/>
                          <a:latin typeface="Calibri"/>
                        </a:rPr>
                        <a:t>acks=all</a:t>
                      </a:r>
                      <a:endParaRPr lang="en-IN" sz="800" b="0" u="none" strike="noStrike">
                        <a:solidFill>
                          <a:srgbClr val="000000"/>
                        </a:solidFill>
                        <a:effectLst/>
                        <a:uFillTx/>
                        <a:latin typeface="Arial"/>
                      </a:endParaRPr>
                    </a:p>
                  </a:txBody>
                  <a:tcPr>
                    <a:lnL w="6480">
                      <a:solidFill>
                        <a:srgbClr val="D0D8E8"/>
                      </a:solidFill>
                      <a:prstDash val="solid"/>
                    </a:lnL>
                    <a:lnR w="6480">
                      <a:solidFill>
                        <a:srgbClr val="D0D8E8"/>
                      </a:solidFill>
                      <a:prstDash val="solid"/>
                    </a:lnR>
                    <a:lnT w="6480">
                      <a:solidFill>
                        <a:srgbClr val="D0D8E8"/>
                      </a:solidFill>
                      <a:prstDash val="solid"/>
                    </a:lnT>
                    <a:lnB w="6480">
                      <a:solidFill>
                        <a:srgbClr val="D0D8E8"/>
                      </a:solidFill>
                      <a:prstDash val="solid"/>
                    </a:lnB>
                    <a:solidFill>
                      <a:srgbClr val="F7F9FB"/>
                    </a:solidFill>
                  </a:tcPr>
                </a:tc>
                <a:tc>
                  <a:txBody>
                    <a:bodyPr/>
                    <a:lstStyle/>
                    <a:p>
                      <a:pPr defTabSz="914400">
                        <a:lnSpc>
                          <a:spcPct val="100000"/>
                        </a:lnSpc>
                        <a:tabLst>
                          <a:tab pos="0" algn="l"/>
                        </a:tabLst>
                      </a:pPr>
                      <a:r>
                        <a:rPr lang="en-US" sz="800" b="0" u="none" strike="noStrike">
                          <a:solidFill>
                            <a:srgbClr val="385170"/>
                          </a:solidFill>
                          <a:effectLst/>
                          <a:uFillTx/>
                          <a:latin typeface="Calibri"/>
                        </a:rPr>
                        <a:t>Exactly‑Once</a:t>
                      </a:r>
                      <a:endParaRPr lang="en-IN" sz="800" b="0" u="none" strike="noStrike">
                        <a:solidFill>
                          <a:srgbClr val="000000"/>
                        </a:solidFill>
                        <a:effectLst/>
                        <a:uFillTx/>
                        <a:latin typeface="Arial"/>
                      </a:endParaRPr>
                    </a:p>
                  </a:txBody>
                  <a:tcPr>
                    <a:lnL w="6480">
                      <a:solidFill>
                        <a:srgbClr val="D0D8E8"/>
                      </a:solidFill>
                      <a:prstDash val="solid"/>
                    </a:lnL>
                    <a:lnR w="6480">
                      <a:solidFill>
                        <a:srgbClr val="D0D8E8"/>
                      </a:solidFill>
                      <a:prstDash val="solid"/>
                    </a:lnR>
                    <a:lnT w="6480">
                      <a:solidFill>
                        <a:srgbClr val="D0D8E8"/>
                      </a:solidFill>
                      <a:prstDash val="solid"/>
                    </a:lnT>
                    <a:lnB w="6480">
                      <a:solidFill>
                        <a:srgbClr val="D0D8E8"/>
                      </a:solidFill>
                      <a:prstDash val="solid"/>
                    </a:lnB>
                    <a:solidFill>
                      <a:srgbClr val="F7F9FB"/>
                    </a:solidFill>
                  </a:tcPr>
                </a:tc>
                <a:tc>
                  <a:txBody>
                    <a:bodyPr/>
                    <a:lstStyle/>
                    <a:p>
                      <a:pPr defTabSz="914400">
                        <a:lnSpc>
                          <a:spcPct val="100000"/>
                        </a:lnSpc>
                        <a:tabLst>
                          <a:tab pos="0" algn="l"/>
                        </a:tabLst>
                      </a:pPr>
                      <a:r>
                        <a:rPr lang="en-US" sz="800" b="0" u="none" strike="noStrike">
                          <a:solidFill>
                            <a:srgbClr val="385170"/>
                          </a:solidFill>
                          <a:effectLst/>
                          <a:uFillTx/>
                          <a:latin typeface="Calibri"/>
                        </a:rPr>
                        <a:t>Safest but slower; requires idempotence</a:t>
                      </a:r>
                      <a:endParaRPr lang="en-IN" sz="800" b="0" u="none" strike="noStrike">
                        <a:solidFill>
                          <a:srgbClr val="000000"/>
                        </a:solidFill>
                        <a:effectLst/>
                        <a:uFillTx/>
                        <a:latin typeface="Arial"/>
                      </a:endParaRPr>
                    </a:p>
                  </a:txBody>
                  <a:tcPr>
                    <a:lnL w="6480">
                      <a:solidFill>
                        <a:srgbClr val="D0D8E8"/>
                      </a:solidFill>
                      <a:prstDash val="solid"/>
                    </a:lnL>
                    <a:lnR w="6480">
                      <a:solidFill>
                        <a:srgbClr val="D0D8E8"/>
                      </a:solidFill>
                      <a:prstDash val="solid"/>
                    </a:lnR>
                    <a:lnT w="6480">
                      <a:solidFill>
                        <a:srgbClr val="D0D8E8"/>
                      </a:solidFill>
                      <a:prstDash val="solid"/>
                    </a:lnT>
                    <a:lnB w="6480">
                      <a:solidFill>
                        <a:srgbClr val="D0D8E8"/>
                      </a:solidFill>
                      <a:prstDash val="solid"/>
                    </a:lnB>
                    <a:solidFill>
                      <a:srgbClr val="F7F9FB"/>
                    </a:solidFill>
                  </a:tcPr>
                </a:tc>
                <a:extLst>
                  <a:ext uri="{0D108BD9-81ED-4DB2-BD59-A6C34878D82A}">
                    <a16:rowId xmlns:a16="http://schemas.microsoft.com/office/drawing/2014/main" val="10003"/>
                  </a:ext>
                </a:extLst>
              </a:tr>
            </a:tbl>
          </a:graphicData>
        </a:graphic>
      </p:graphicFrame>
      <p:sp>
        <p:nvSpPr>
          <p:cNvPr id="118" name="Text 27"/>
          <p:cNvSpPr/>
          <p:nvPr/>
        </p:nvSpPr>
        <p:spPr>
          <a:xfrm>
            <a:off x="457200" y="4937760"/>
            <a:ext cx="82288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endParaRPr lang="en-IN" sz="70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9"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Exactly‑Once Processing with Transactions</a:t>
            </a:r>
            <a:endParaRPr lang="en-IN" sz="2200" b="0" u="none" strike="noStrike">
              <a:solidFill>
                <a:srgbClr val="000000"/>
              </a:solidFill>
              <a:effectLst/>
              <a:uFillTx/>
              <a:latin typeface="Arial"/>
            </a:endParaRPr>
          </a:p>
        </p:txBody>
      </p:sp>
      <p:sp>
        <p:nvSpPr>
          <p:cNvPr id="120" name="Text 1"/>
          <p:cNvSpPr/>
          <p:nvPr/>
        </p:nvSpPr>
        <p:spPr>
          <a:xfrm>
            <a:off x="457200" y="1097280"/>
            <a:ext cx="8686080" cy="2193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0" u="none" strike="noStrike" dirty="0">
                <a:solidFill>
                  <a:srgbClr val="385170"/>
                </a:solidFill>
                <a:effectLst/>
                <a:uFillTx/>
                <a:latin typeface="Calibri"/>
              </a:rPr>
              <a:t>• Enable idempotence and transactions on the producer: set </a:t>
            </a:r>
            <a:r>
              <a:rPr lang="en-US" sz="1100" b="0" u="none" strike="noStrike" dirty="0" err="1">
                <a:solidFill>
                  <a:srgbClr val="385170"/>
                </a:solidFill>
                <a:effectLst/>
                <a:uFillTx/>
                <a:latin typeface="Calibri"/>
              </a:rPr>
              <a:t>enable.idempotence</a:t>
            </a:r>
            <a:r>
              <a:rPr lang="en-US" sz="1100" b="0" u="none" strike="noStrike" dirty="0">
                <a:solidFill>
                  <a:srgbClr val="385170"/>
                </a:solidFill>
                <a:effectLst/>
                <a:uFillTx/>
                <a:latin typeface="Calibri"/>
              </a:rPr>
              <a:t>=true and transactional.id.</a:t>
            </a:r>
            <a:endParaRPr lang="en-US" sz="1100" dirty="0">
              <a:solidFill>
                <a:srgbClr val="385170"/>
              </a:solidFill>
              <a:latin typeface="Calibri"/>
            </a:endParaRPr>
          </a:p>
          <a:p>
            <a:r>
              <a:rPr lang="en-US" sz="1100" dirty="0">
                <a:solidFill>
                  <a:srgbClr val="385170"/>
                </a:solidFill>
              </a:rPr>
              <a:t>• Consumers now have an additional configuration parameter called </a:t>
            </a:r>
            <a:r>
              <a:rPr lang="en-US" sz="1100" dirty="0" err="1">
                <a:solidFill>
                  <a:srgbClr val="385170"/>
                </a:solidFill>
              </a:rPr>
              <a:t>isolation.level</a:t>
            </a:r>
            <a:r>
              <a:rPr lang="en-US" sz="1100" dirty="0">
                <a:solidFill>
                  <a:srgbClr val="385170"/>
                </a:solidFill>
              </a:rPr>
              <a:t> that must be set to either </a:t>
            </a:r>
            <a:r>
              <a:rPr lang="en-US" sz="1100" dirty="0" err="1">
                <a:solidFill>
                  <a:srgbClr val="385170"/>
                </a:solidFill>
              </a:rPr>
              <a:t>read_uncommitted</a:t>
            </a:r>
            <a:r>
              <a:rPr lang="en-US" sz="1100" dirty="0">
                <a:solidFill>
                  <a:srgbClr val="385170"/>
                </a:solidFill>
              </a:rPr>
              <a:t>(the default) or </a:t>
            </a:r>
            <a:r>
              <a:rPr lang="en-US" sz="1100" dirty="0" err="1">
                <a:solidFill>
                  <a:srgbClr val="385170"/>
                </a:solidFill>
              </a:rPr>
              <a:t>read_committed</a:t>
            </a:r>
            <a:r>
              <a:rPr lang="en-US" sz="1100" dirty="0">
                <a:solidFill>
                  <a:srgbClr val="385170"/>
                </a:solidFill>
              </a:rPr>
              <a:t>. When set to </a:t>
            </a:r>
            <a:r>
              <a:rPr lang="en-US" sz="1100" dirty="0" err="1">
                <a:solidFill>
                  <a:srgbClr val="385170"/>
                </a:solidFill>
              </a:rPr>
              <a:t>read_uncommitted</a:t>
            </a:r>
            <a:r>
              <a:rPr lang="en-US" sz="1100" dirty="0">
                <a:solidFill>
                  <a:srgbClr val="385170"/>
                </a:solidFill>
              </a:rPr>
              <a:t>, all messages are consumed as they become available in offset ordering. When set to </a:t>
            </a:r>
            <a:r>
              <a:rPr lang="en-US" sz="1100" dirty="0" err="1">
                <a:solidFill>
                  <a:srgbClr val="385170"/>
                </a:solidFill>
              </a:rPr>
              <a:t>read_committed</a:t>
            </a:r>
            <a:r>
              <a:rPr lang="en-US" sz="1100" dirty="0">
                <a:solidFill>
                  <a:srgbClr val="385170"/>
                </a:solidFill>
              </a:rPr>
              <a:t>, only messages not in a transaction, or messages from committed transactions are read in offset ordering</a:t>
            </a:r>
            <a:endParaRPr lang="en-US" sz="1100" b="0" u="none" strike="noStrike" dirty="0">
              <a:solidFill>
                <a:srgbClr val="385170"/>
              </a:solidFill>
              <a:effectLst/>
              <a:uFillTx/>
              <a:latin typeface="Calibri"/>
            </a:endParaRPr>
          </a:p>
          <a:p>
            <a:pPr defTabSz="914400">
              <a:lnSpc>
                <a:spcPct val="100000"/>
              </a:lnSpc>
            </a:pPr>
            <a:r>
              <a:rPr lang="en-US" sz="1100" b="0" u="none" strike="noStrike" dirty="0">
                <a:solidFill>
                  <a:srgbClr val="385170"/>
                </a:solidFill>
                <a:effectLst/>
                <a:uFillTx/>
                <a:latin typeface="Calibri"/>
              </a:rPr>
              <a:t>• On the consumer, set </a:t>
            </a:r>
            <a:r>
              <a:rPr lang="en-US" sz="1100" b="0" u="none" strike="noStrike" dirty="0" err="1">
                <a:solidFill>
                  <a:srgbClr val="385170"/>
                </a:solidFill>
                <a:effectLst/>
                <a:uFillTx/>
                <a:latin typeface="Calibri"/>
              </a:rPr>
              <a:t>isolation.level</a:t>
            </a:r>
            <a:r>
              <a:rPr lang="en-US" sz="1100" b="0" u="none" strike="noStrike" dirty="0">
                <a:solidFill>
                  <a:srgbClr val="385170"/>
                </a:solidFill>
                <a:effectLst/>
                <a:uFillTx/>
                <a:latin typeface="Calibri"/>
              </a:rPr>
              <a:t>=</a:t>
            </a:r>
            <a:r>
              <a:rPr lang="en-US" sz="1100" b="0" u="none" strike="noStrike" dirty="0" err="1">
                <a:solidFill>
                  <a:srgbClr val="385170"/>
                </a:solidFill>
                <a:effectLst/>
                <a:uFillTx/>
                <a:latin typeface="Calibri"/>
              </a:rPr>
              <a:t>read_committed</a:t>
            </a:r>
            <a:r>
              <a:rPr lang="en-US" sz="1100" b="0" u="none" strike="noStrike" dirty="0">
                <a:solidFill>
                  <a:srgbClr val="385170"/>
                </a:solidFill>
                <a:effectLst/>
                <a:uFillTx/>
                <a:latin typeface="Calibri"/>
              </a:rPr>
              <a:t> to avoid reading uncommitted records.</a:t>
            </a:r>
            <a:endParaRPr lang="en-IN" sz="1100" b="0" u="none" strike="noStrike" dirty="0">
              <a:solidFill>
                <a:srgbClr val="000000"/>
              </a:solidFill>
              <a:effectLst/>
              <a:uFillTx/>
              <a:latin typeface="Arial"/>
            </a:endParaRPr>
          </a:p>
          <a:p>
            <a:pPr defTabSz="914400">
              <a:lnSpc>
                <a:spcPct val="100000"/>
              </a:lnSpc>
            </a:pPr>
            <a:r>
              <a:rPr lang="en-US" sz="1100" b="0" u="none" strike="noStrike" dirty="0">
                <a:solidFill>
                  <a:srgbClr val="385170"/>
                </a:solidFill>
                <a:effectLst/>
                <a:uFillTx/>
                <a:latin typeface="Calibri"/>
              </a:rPr>
              <a:t>• Use Kafka’s transaction API to send messages and commit offsets atomically; if the transaction aborts, offsets are not committed.</a:t>
            </a:r>
            <a:endParaRPr lang="en-IN" sz="1100" b="0" u="none" strike="noStrike" dirty="0">
              <a:solidFill>
                <a:srgbClr val="000000"/>
              </a:solidFill>
              <a:effectLst/>
              <a:uFillTx/>
              <a:latin typeface="Arial"/>
            </a:endParaRPr>
          </a:p>
          <a:p>
            <a:pPr defTabSz="914400">
              <a:lnSpc>
                <a:spcPct val="100000"/>
              </a:lnSpc>
              <a:tabLst>
                <a:tab pos="0" algn="l"/>
              </a:tabLst>
            </a:pPr>
            <a:r>
              <a:rPr lang="en-US" sz="1100" b="0" u="none" strike="noStrike" dirty="0">
                <a:solidFill>
                  <a:srgbClr val="385170"/>
                </a:solidFill>
                <a:effectLst/>
                <a:uFillTx/>
                <a:latin typeface="Calibri"/>
              </a:rPr>
              <a:t>• Combine with </a:t>
            </a:r>
            <a:r>
              <a:rPr lang="en-US" sz="1100" b="0" u="none" strike="noStrike" dirty="0" err="1">
                <a:solidFill>
                  <a:srgbClr val="385170"/>
                </a:solidFill>
                <a:effectLst/>
                <a:uFillTx/>
                <a:latin typeface="Calibri"/>
              </a:rPr>
              <a:t>min.insync.replicas</a:t>
            </a:r>
            <a:r>
              <a:rPr lang="en-US" sz="1100" b="0" u="none" strike="noStrike" dirty="0">
                <a:solidFill>
                  <a:srgbClr val="385170"/>
                </a:solidFill>
                <a:effectLst/>
                <a:uFillTx/>
                <a:latin typeface="Calibri"/>
              </a:rPr>
              <a:t> and acks=all for durability.</a:t>
            </a:r>
            <a:endParaRPr lang="en-IN" sz="1100" b="0" u="none" strike="noStrike" dirty="0">
              <a:solidFill>
                <a:srgbClr val="000000"/>
              </a:solidFill>
              <a:effectLst/>
              <a:uFillTx/>
              <a:latin typeface="Arial"/>
            </a:endParaRPr>
          </a:p>
        </p:txBody>
      </p:sp>
      <p:sp>
        <p:nvSpPr>
          <p:cNvPr id="121" name="Text 2"/>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endParaRPr lang="en-IN" sz="7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Exactly-Once: Keep the Claim Precise</a:t>
            </a:r>
            <a:endParaRPr lang="en-IN" sz="2200" b="0" u="none" strike="noStrike">
              <a:solidFill>
                <a:srgbClr val="000000"/>
              </a:solidFill>
              <a:effectLst/>
              <a:uFillTx/>
              <a:latin typeface="Arial"/>
            </a:endParaRPr>
          </a:p>
        </p:txBody>
      </p:sp>
      <p:sp>
        <p:nvSpPr>
          <p:cNvPr id="123"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24" name="Rounded Rectangle 3"/>
          <p:cNvSpPr/>
          <p:nvPr/>
        </p:nvSpPr>
        <p:spPr>
          <a:xfrm>
            <a:off x="594360" y="960120"/>
            <a:ext cx="3565800" cy="34704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300" b="1" u="none" strike="noStrike">
                <a:solidFill>
                  <a:srgbClr val="365F91"/>
                </a:solidFill>
                <a:effectLst/>
                <a:uFillTx/>
                <a:latin typeface="Calibri"/>
              </a:rPr>
              <a:t>What Kafka can provide</a:t>
            </a:r>
            <a:endParaRPr lang="en-IN" sz="1300" b="0" u="none" strike="noStrike">
              <a:solidFill>
                <a:srgbClr val="000000"/>
              </a:solidFill>
              <a:effectLst/>
              <a:uFillTx/>
              <a:latin typeface="Arial"/>
            </a:endParaRPr>
          </a:p>
        </p:txBody>
      </p:sp>
      <p:sp>
        <p:nvSpPr>
          <p:cNvPr id="125" name="Rounded Rectangle 4"/>
          <p:cNvSpPr/>
          <p:nvPr/>
        </p:nvSpPr>
        <p:spPr>
          <a:xfrm>
            <a:off x="4617720" y="960120"/>
            <a:ext cx="3565800" cy="34704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300" b="1" u="none" strike="noStrike">
                <a:solidFill>
                  <a:srgbClr val="365F91"/>
                </a:solidFill>
                <a:effectLst/>
                <a:uFillTx/>
                <a:latin typeface="Calibri"/>
              </a:rPr>
              <a:t>What still belongs to the app</a:t>
            </a:r>
            <a:endParaRPr lang="en-IN" sz="1300" b="0" u="none" strike="noStrike">
              <a:solidFill>
                <a:srgbClr val="000000"/>
              </a:solidFill>
              <a:effectLst/>
              <a:uFillTx/>
              <a:latin typeface="Arial"/>
            </a:endParaRPr>
          </a:p>
        </p:txBody>
      </p:sp>
      <p:sp>
        <p:nvSpPr>
          <p:cNvPr id="126" name="TextBox 5"/>
          <p:cNvSpPr/>
          <p:nvPr/>
        </p:nvSpPr>
        <p:spPr>
          <a:xfrm>
            <a:off x="658440" y="1508760"/>
            <a:ext cx="3401280" cy="297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Idempotent producer removes duplicates caused by retries.</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Transactions can atomically write output and commit consumed offsets.</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Read-process-write Kafka pipelines can be made exactly-once.</a:t>
            </a:r>
            <a:endParaRPr lang="en-IN" sz="1350" b="0" u="none" strike="noStrike">
              <a:solidFill>
                <a:srgbClr val="000000"/>
              </a:solidFill>
              <a:effectLst/>
              <a:uFillTx/>
              <a:latin typeface="Arial"/>
            </a:endParaRPr>
          </a:p>
        </p:txBody>
      </p:sp>
      <p:sp>
        <p:nvSpPr>
          <p:cNvPr id="127" name="TextBox 6"/>
          <p:cNvSpPr/>
          <p:nvPr/>
        </p:nvSpPr>
        <p:spPr>
          <a:xfrm>
            <a:off x="4681800" y="1508760"/>
            <a:ext cx="3401280" cy="297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External databases and APIs need idempotent writes.</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Side effects outside Kafka must be designed carefully.</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The lab uses manual commit to make progress visible.</a:t>
            </a:r>
            <a:endParaRPr lang="en-IN" sz="1350" b="0" u="none" strike="noStrike">
              <a:solidFill>
                <a:srgbClr val="000000"/>
              </a:solidFill>
              <a:effectLst/>
              <a:uFillTx/>
              <a:latin typeface="Arial"/>
            </a:endParaRPr>
          </a:p>
        </p:txBody>
      </p:sp>
      <p:sp>
        <p:nvSpPr>
          <p:cNvPr id="128" name="TextBox 7"/>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[16]</a:t>
            </a:r>
            <a:endParaRPr lang="en-IN" sz="8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9FBFD"/>
        </a:solidFill>
        <a:effectLst/>
      </p:bgPr>
    </p:bg>
    <p:spTree>
      <p:nvGrpSpPr>
        <p:cNvPr id="1" name=""/>
        <p:cNvGrpSpPr/>
        <p:nvPr/>
      </p:nvGrpSpPr>
      <p:grpSpPr>
        <a:xfrm>
          <a:off x="0" y="0"/>
          <a:ext cx="0" cy="0"/>
          <a:chOff x="0" y="0"/>
          <a:chExt cx="0" cy="0"/>
        </a:xfrm>
      </p:grpSpPr>
      <p:sp>
        <p:nvSpPr>
          <p:cNvPr id="129" name="Text 0"/>
          <p:cNvSpPr/>
          <p:nvPr/>
        </p:nvSpPr>
        <p:spPr>
          <a:xfrm>
            <a:off x="457200" y="27432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Mini Exercise: Consumer Groups</a:t>
            </a:r>
            <a:endParaRPr lang="en-IN" sz="2200" b="0" u="none" strike="noStrike">
              <a:solidFill>
                <a:srgbClr val="000000"/>
              </a:solidFill>
              <a:effectLst/>
              <a:uFillTx/>
              <a:latin typeface="Arial"/>
            </a:endParaRPr>
          </a:p>
        </p:txBody>
      </p:sp>
      <p:sp>
        <p:nvSpPr>
          <p:cNvPr id="130" name="Text 1"/>
          <p:cNvSpPr/>
          <p:nvPr/>
        </p:nvSpPr>
        <p:spPr>
          <a:xfrm>
            <a:off x="457200" y="914400"/>
            <a:ext cx="5028480" cy="2285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1" u="none" strike="noStrike">
                <a:solidFill>
                  <a:srgbClr val="2F5597"/>
                </a:solidFill>
                <a:effectLst/>
                <a:uFillTx/>
                <a:latin typeface="Calibri"/>
              </a:rPr>
              <a:t>Scenario:</a:t>
            </a:r>
            <a:endParaRPr lang="en-IN" sz="1200" b="0" u="none" strike="noStrike">
              <a:solidFill>
                <a:srgbClr val="000000"/>
              </a:solidFill>
              <a:effectLst/>
              <a:uFillTx/>
              <a:latin typeface="Arial"/>
            </a:endParaRPr>
          </a:p>
          <a:p>
            <a:pPr defTabSz="914400">
              <a:lnSpc>
                <a:spcPct val="100000"/>
              </a:lnSpc>
            </a:pPr>
            <a:r>
              <a:rPr lang="en-US" sz="1200" b="0" u="none" strike="noStrike">
                <a:solidFill>
                  <a:srgbClr val="385170"/>
                </a:solidFill>
                <a:effectLst/>
                <a:uFillTx/>
                <a:latin typeface="Calibri"/>
              </a:rPr>
              <a:t>You have 6 partitions in a topic and want to process them concurrently with consumer group G.</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If you launch 3 consumers, how many partitions does each get?</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What happens if you add a 4th consumer?</a:t>
            </a:r>
            <a:endParaRPr lang="en-IN" sz="1100" b="0" u="none" strike="noStrike">
              <a:solidFill>
                <a:srgbClr val="000000"/>
              </a:solidFill>
              <a:effectLst/>
              <a:uFillTx/>
              <a:latin typeface="Arial"/>
            </a:endParaRPr>
          </a:p>
          <a:p>
            <a:pPr defTabSz="914400">
              <a:lnSpc>
                <a:spcPct val="100000"/>
              </a:lnSpc>
            </a:pPr>
            <a:r>
              <a:rPr lang="en-US" sz="1000" b="0" i="1" u="none" strike="noStrike">
                <a:solidFill>
                  <a:srgbClr val="5A7BB5"/>
                </a:solidFill>
                <a:effectLst/>
                <a:uFillTx/>
                <a:latin typeface="Calibri"/>
              </a:rPr>
              <a:t>• Try this with the command: </a:t>
            </a:r>
            <a:endParaRPr lang="en-IN" sz="1000" b="0" u="none" strike="noStrike">
              <a:solidFill>
                <a:srgbClr val="000000"/>
              </a:solidFill>
              <a:effectLst/>
              <a:uFillTx/>
              <a:latin typeface="Arial"/>
            </a:endParaRPr>
          </a:p>
          <a:p>
            <a:pPr defTabSz="914400">
              <a:lnSpc>
                <a:spcPct val="100000"/>
              </a:lnSpc>
            </a:pPr>
            <a:r>
              <a:rPr lang="en-US" sz="1000" b="0" i="1" u="none" strike="noStrike">
                <a:solidFill>
                  <a:srgbClr val="5A7BB5"/>
                </a:solidFill>
                <a:effectLst/>
                <a:uFillTx/>
                <a:latin typeface="Calibri"/>
              </a:rPr>
              <a:t>kafka-console-consumer.sh --bootstrap-server localhost:9092 --topic mytopic --group G</a:t>
            </a:r>
            <a:endParaRPr lang="en-IN" sz="1000" b="0" u="none" strike="noStrike">
              <a:solidFill>
                <a:srgbClr val="000000"/>
              </a:solidFill>
              <a:effectLst/>
              <a:uFillTx/>
              <a:latin typeface="Arial"/>
            </a:endParaRPr>
          </a:p>
          <a:p>
            <a:pPr defTabSz="914400">
              <a:lnSpc>
                <a:spcPct val="100000"/>
              </a:lnSpc>
              <a:tabLst>
                <a:tab pos="0" algn="l"/>
              </a:tabLst>
            </a:pPr>
            <a:endParaRPr lang="en-IN" sz="1000" b="0" u="none" strike="noStrike">
              <a:solidFill>
                <a:srgbClr val="000000"/>
              </a:solidFill>
              <a:effectLst/>
              <a:uFillTx/>
              <a:latin typeface="Arial"/>
            </a:endParaRPr>
          </a:p>
        </p:txBody>
      </p:sp>
      <p:sp>
        <p:nvSpPr>
          <p:cNvPr id="131" name="Text 2"/>
          <p:cNvSpPr/>
          <p:nvPr/>
        </p:nvSpPr>
        <p:spPr>
          <a:xfrm>
            <a:off x="5669280" y="914400"/>
            <a:ext cx="319968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400" b="1" u="none" strike="noStrike">
                <a:solidFill>
                  <a:srgbClr val="2F5597"/>
                </a:solidFill>
                <a:effectLst/>
                <a:uFillTx/>
                <a:latin typeface="Calibri"/>
              </a:rPr>
              <a:t>Quick Quiz:</a:t>
            </a:r>
            <a:endParaRPr lang="en-IN" sz="1400" b="0" u="none" strike="noStrike">
              <a:solidFill>
                <a:srgbClr val="000000"/>
              </a:solidFill>
              <a:effectLst/>
              <a:uFillTx/>
              <a:latin typeface="Arial"/>
            </a:endParaRPr>
          </a:p>
        </p:txBody>
      </p:sp>
      <p:sp>
        <p:nvSpPr>
          <p:cNvPr id="132" name="Text 3"/>
          <p:cNvSpPr/>
          <p:nvPr/>
        </p:nvSpPr>
        <p:spPr>
          <a:xfrm>
            <a:off x="5669280" y="1280160"/>
            <a:ext cx="3199680" cy="255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1" u="none" strike="noStrike">
                <a:solidFill>
                  <a:srgbClr val="2F5597"/>
                </a:solidFill>
                <a:effectLst/>
                <a:uFillTx/>
                <a:latin typeface="Calibri"/>
              </a:rPr>
              <a:t>Q1. Which assignment strategy minimises disruption during rebalances?</a:t>
            </a:r>
            <a:endParaRPr lang="en-IN" sz="11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a) Range</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b) Round‑Robin</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c) Sticky</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d) Cooperative Sticky</a:t>
            </a:r>
            <a:endParaRPr lang="en-IN" sz="1000" b="0" u="none" strike="noStrike">
              <a:solidFill>
                <a:srgbClr val="000000"/>
              </a:solidFill>
              <a:effectLst/>
              <a:uFillTx/>
              <a:latin typeface="Arial"/>
            </a:endParaRPr>
          </a:p>
          <a:p>
            <a:pPr defTabSz="914400">
              <a:lnSpc>
                <a:spcPct val="100000"/>
              </a:lnSpc>
              <a:tabLst>
                <a:tab pos="0" algn="l"/>
              </a:tabLst>
            </a:pPr>
            <a:endParaRPr lang="en-IN" sz="1100" b="0" u="none" strike="noStrike">
              <a:solidFill>
                <a:srgbClr val="000000"/>
              </a:solidFill>
              <a:effectLst/>
              <a:uFillTx/>
              <a:latin typeface="Arial"/>
            </a:endParaRPr>
          </a:p>
          <a:p>
            <a:pPr defTabSz="914400">
              <a:lnSpc>
                <a:spcPct val="100000"/>
              </a:lnSpc>
              <a:tabLst>
                <a:tab pos="0" algn="l"/>
              </a:tabLst>
            </a:pPr>
            <a:endParaRPr lang="en-IN" sz="1100" b="0" u="none" strike="noStrike">
              <a:solidFill>
                <a:srgbClr val="000000"/>
              </a:solidFill>
              <a:effectLst/>
              <a:uFillTx/>
              <a:latin typeface="Arial"/>
            </a:endParaRPr>
          </a:p>
          <a:p>
            <a:pPr defTabSz="914400">
              <a:lnSpc>
                <a:spcPct val="100000"/>
              </a:lnSpc>
              <a:tabLst>
                <a:tab pos="0" algn="l"/>
              </a:tabLst>
            </a:pPr>
            <a:r>
              <a:rPr lang="en-US" sz="1100" b="1" u="none" strike="noStrike">
                <a:solidFill>
                  <a:srgbClr val="2F5597"/>
                </a:solidFill>
                <a:effectLst/>
                <a:uFillTx/>
                <a:latin typeface="Calibri"/>
              </a:rPr>
              <a:t>Q2. To avoid unnecessary rebalances on pod restarts, which property should you configure?</a:t>
            </a:r>
            <a:endParaRPr lang="en-IN" sz="11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a) session.timeout.ms</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b) group.instance.id</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c) max.poll.interval.ms</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d) enable.idempotence</a:t>
            </a:r>
            <a:endParaRPr lang="en-IN" sz="1000" b="0" u="none" strike="noStrike">
              <a:solidFill>
                <a:srgbClr val="000000"/>
              </a:solidFill>
              <a:effectLst/>
              <a:uFillTx/>
              <a:latin typeface="Arial"/>
            </a:endParaRPr>
          </a:p>
        </p:txBody>
      </p:sp>
      <p:sp>
        <p:nvSpPr>
          <p:cNvPr id="133" name="Text 4"/>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endParaRPr lang="en-IN" sz="7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Solution: Consumer Groups</a:t>
            </a:r>
            <a:endParaRPr lang="en-IN" sz="2200" b="0" u="none" strike="noStrike">
              <a:solidFill>
                <a:srgbClr val="000000"/>
              </a:solidFill>
              <a:effectLst/>
              <a:uFillTx/>
              <a:latin typeface="Arial"/>
            </a:endParaRPr>
          </a:p>
        </p:txBody>
      </p:sp>
      <p:sp>
        <p:nvSpPr>
          <p:cNvPr id="135"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36" name="TextBox 3"/>
          <p:cNvSpPr/>
          <p:nvPr/>
        </p:nvSpPr>
        <p:spPr>
          <a:xfrm>
            <a:off x="438840" y="786240"/>
            <a:ext cx="7497720" cy="25560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150" b="0" u="none" strike="noStrike">
                <a:solidFill>
                  <a:srgbClr val="585858"/>
                </a:solidFill>
                <a:effectLst/>
                <a:uFillTx/>
                <a:latin typeface="Calibri"/>
              </a:rPr>
              <a:t>Solution / trainer answer key</a:t>
            </a:r>
            <a:endParaRPr lang="en-IN" sz="1150" b="0" u="none" strike="noStrike">
              <a:solidFill>
                <a:srgbClr val="000000"/>
              </a:solidFill>
              <a:effectLst/>
              <a:uFillTx/>
              <a:latin typeface="Arial"/>
            </a:endParaRPr>
          </a:p>
        </p:txBody>
      </p:sp>
      <p:sp>
        <p:nvSpPr>
          <p:cNvPr id="137" name="TextBox 4"/>
          <p:cNvSpPr/>
          <p:nvPr/>
        </p:nvSpPr>
        <p:spPr>
          <a:xfrm>
            <a:off x="640080" y="1234440"/>
            <a:ext cx="7406280" cy="3245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With 6 partitions and 3 consumers in one group, each consumer can receive about 2 partitions.</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A seventh consumer in the same group would be idle if the topic still has only 6 partitions.</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Different group IDs are independent subscribers and each group keeps its own committed offsets.</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Cooperative sticky assignment usually minimizes disruption during rebalances.</a:t>
            </a:r>
            <a:endParaRPr lang="en-IN" sz="1500" b="0" u="none" strike="noStrike">
              <a:solidFill>
                <a:srgbClr val="000000"/>
              </a:solidFill>
              <a:effectLst/>
              <a:uFillTx/>
              <a:latin typeface="Arial"/>
            </a:endParaRPr>
          </a:p>
        </p:txBody>
      </p:sp>
      <p:sp>
        <p:nvSpPr>
          <p:cNvPr id="138" name="TextBox 5"/>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[18]</a:t>
            </a:r>
            <a:endParaRPr lang="en-IN" sz="80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9"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Offsets &amp; Internal Topics</a:t>
            </a:r>
            <a:endParaRPr lang="en-IN" sz="2200" b="0" u="none" strike="noStrike">
              <a:solidFill>
                <a:srgbClr val="000000"/>
              </a:solidFill>
              <a:effectLst/>
              <a:uFillTx/>
              <a:latin typeface="Arial"/>
            </a:endParaRPr>
          </a:p>
        </p:txBody>
      </p:sp>
      <p:sp>
        <p:nvSpPr>
          <p:cNvPr id="140" name="Text 1"/>
          <p:cNvSpPr/>
          <p:nvPr/>
        </p:nvSpPr>
        <p:spPr>
          <a:xfrm>
            <a:off x="457200" y="1097280"/>
            <a:ext cx="5028480" cy="1828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0" u="none" strike="noStrike">
                <a:solidFill>
                  <a:srgbClr val="385170"/>
                </a:solidFill>
                <a:effectLst/>
                <a:uFillTx/>
                <a:latin typeface="Calibri"/>
              </a:rPr>
              <a:t>• Every record in a partition has a unique offset — its position in the log.</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The consumer group coordinator stores the last committed offset per partition in a compacted internal topic, __consumer_offsets.</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 Upon restart, consumers resume from the committed offset, ensuring no messages are missed.</a:t>
            </a:r>
            <a:endParaRPr lang="en-IN" sz="1100" b="0" u="none" strike="noStrike">
              <a:solidFill>
                <a:srgbClr val="000000"/>
              </a:solidFill>
              <a:effectLst/>
              <a:uFillTx/>
              <a:latin typeface="Arial"/>
            </a:endParaRPr>
          </a:p>
        </p:txBody>
      </p:sp>
      <p:sp>
        <p:nvSpPr>
          <p:cNvPr id="141" name="Shape 2"/>
          <p:cNvSpPr/>
          <p:nvPr/>
        </p:nvSpPr>
        <p:spPr>
          <a:xfrm>
            <a:off x="5669280" y="1280160"/>
            <a:ext cx="2742480" cy="273600"/>
          </a:xfrm>
          <a:prstGeom prst="rect">
            <a:avLst/>
          </a:prstGeom>
          <a:solidFill>
            <a:srgbClr val="D6E0F0"/>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142" name="Shape 3"/>
          <p:cNvSpPr/>
          <p:nvPr/>
        </p:nvSpPr>
        <p:spPr>
          <a:xfrm>
            <a:off x="5760720" y="1554480"/>
            <a:ext cx="360" cy="137160"/>
          </a:xfrm>
          <a:prstGeom prst="line">
            <a:avLst/>
          </a:prstGeom>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IN" sz="1800" b="0" u="none" strike="noStrike">
              <a:solidFill>
                <a:srgbClr val="000000"/>
              </a:solidFill>
              <a:effectLst/>
              <a:uFillTx/>
              <a:latin typeface="Arial"/>
            </a:endParaRPr>
          </a:p>
        </p:txBody>
      </p:sp>
      <p:sp>
        <p:nvSpPr>
          <p:cNvPr id="143" name="Text 4"/>
          <p:cNvSpPr/>
          <p:nvPr/>
        </p:nvSpPr>
        <p:spPr>
          <a:xfrm>
            <a:off x="5669280" y="1691640"/>
            <a:ext cx="273600" cy="182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385170"/>
                </a:solidFill>
                <a:effectLst/>
                <a:uFillTx/>
                <a:latin typeface="Calibri"/>
              </a:rPr>
              <a:t>0</a:t>
            </a:r>
            <a:endParaRPr lang="en-IN" sz="800" b="0" u="none" strike="noStrike">
              <a:solidFill>
                <a:srgbClr val="000000"/>
              </a:solidFill>
              <a:effectLst/>
              <a:uFillTx/>
              <a:latin typeface="Arial"/>
            </a:endParaRPr>
          </a:p>
        </p:txBody>
      </p:sp>
      <p:sp>
        <p:nvSpPr>
          <p:cNvPr id="144" name="Shape 5"/>
          <p:cNvSpPr/>
          <p:nvPr/>
        </p:nvSpPr>
        <p:spPr>
          <a:xfrm>
            <a:off x="6172200" y="1554480"/>
            <a:ext cx="360" cy="137160"/>
          </a:xfrm>
          <a:prstGeom prst="line">
            <a:avLst/>
          </a:prstGeom>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IN" sz="1800" b="0" u="none" strike="noStrike">
              <a:solidFill>
                <a:srgbClr val="000000"/>
              </a:solidFill>
              <a:effectLst/>
              <a:uFillTx/>
              <a:latin typeface="Arial"/>
            </a:endParaRPr>
          </a:p>
        </p:txBody>
      </p:sp>
      <p:sp>
        <p:nvSpPr>
          <p:cNvPr id="145" name="Text 6"/>
          <p:cNvSpPr/>
          <p:nvPr/>
        </p:nvSpPr>
        <p:spPr>
          <a:xfrm>
            <a:off x="6080760" y="1691640"/>
            <a:ext cx="273600" cy="182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385170"/>
                </a:solidFill>
                <a:effectLst/>
                <a:uFillTx/>
                <a:latin typeface="Calibri"/>
              </a:rPr>
              <a:t>1</a:t>
            </a:r>
            <a:endParaRPr lang="en-IN" sz="800" b="0" u="none" strike="noStrike">
              <a:solidFill>
                <a:srgbClr val="000000"/>
              </a:solidFill>
              <a:effectLst/>
              <a:uFillTx/>
              <a:latin typeface="Arial"/>
            </a:endParaRPr>
          </a:p>
        </p:txBody>
      </p:sp>
      <p:sp>
        <p:nvSpPr>
          <p:cNvPr id="146" name="Shape 7"/>
          <p:cNvSpPr/>
          <p:nvPr/>
        </p:nvSpPr>
        <p:spPr>
          <a:xfrm>
            <a:off x="6583680" y="1554480"/>
            <a:ext cx="360" cy="137160"/>
          </a:xfrm>
          <a:prstGeom prst="line">
            <a:avLst/>
          </a:prstGeom>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IN" sz="1800" b="0" u="none" strike="noStrike">
              <a:solidFill>
                <a:srgbClr val="000000"/>
              </a:solidFill>
              <a:effectLst/>
              <a:uFillTx/>
              <a:latin typeface="Arial"/>
            </a:endParaRPr>
          </a:p>
        </p:txBody>
      </p:sp>
      <p:sp>
        <p:nvSpPr>
          <p:cNvPr id="147" name="Text 8"/>
          <p:cNvSpPr/>
          <p:nvPr/>
        </p:nvSpPr>
        <p:spPr>
          <a:xfrm>
            <a:off x="6492240" y="1691640"/>
            <a:ext cx="273600" cy="182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385170"/>
                </a:solidFill>
                <a:effectLst/>
                <a:uFillTx/>
                <a:latin typeface="Calibri"/>
              </a:rPr>
              <a:t>2</a:t>
            </a:r>
            <a:endParaRPr lang="en-IN" sz="800" b="0" u="none" strike="noStrike">
              <a:solidFill>
                <a:srgbClr val="000000"/>
              </a:solidFill>
              <a:effectLst/>
              <a:uFillTx/>
              <a:latin typeface="Arial"/>
            </a:endParaRPr>
          </a:p>
        </p:txBody>
      </p:sp>
      <p:sp>
        <p:nvSpPr>
          <p:cNvPr id="148" name="Shape 9"/>
          <p:cNvSpPr/>
          <p:nvPr/>
        </p:nvSpPr>
        <p:spPr>
          <a:xfrm>
            <a:off x="6995160" y="1554480"/>
            <a:ext cx="360" cy="137160"/>
          </a:xfrm>
          <a:prstGeom prst="line">
            <a:avLst/>
          </a:prstGeom>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IN" sz="1800" b="0" u="none" strike="noStrike">
              <a:solidFill>
                <a:srgbClr val="000000"/>
              </a:solidFill>
              <a:effectLst/>
              <a:uFillTx/>
              <a:latin typeface="Arial"/>
            </a:endParaRPr>
          </a:p>
        </p:txBody>
      </p:sp>
      <p:sp>
        <p:nvSpPr>
          <p:cNvPr id="149" name="Text 10"/>
          <p:cNvSpPr/>
          <p:nvPr/>
        </p:nvSpPr>
        <p:spPr>
          <a:xfrm>
            <a:off x="6903720" y="1691640"/>
            <a:ext cx="273600" cy="182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385170"/>
                </a:solidFill>
                <a:effectLst/>
                <a:uFillTx/>
                <a:latin typeface="Calibri"/>
              </a:rPr>
              <a:t>3</a:t>
            </a:r>
            <a:endParaRPr lang="en-IN" sz="800" b="0" u="none" strike="noStrike">
              <a:solidFill>
                <a:srgbClr val="000000"/>
              </a:solidFill>
              <a:effectLst/>
              <a:uFillTx/>
              <a:latin typeface="Arial"/>
            </a:endParaRPr>
          </a:p>
        </p:txBody>
      </p:sp>
      <p:sp>
        <p:nvSpPr>
          <p:cNvPr id="150" name="Shape 11"/>
          <p:cNvSpPr/>
          <p:nvPr/>
        </p:nvSpPr>
        <p:spPr>
          <a:xfrm>
            <a:off x="7406640" y="1554480"/>
            <a:ext cx="360" cy="137160"/>
          </a:xfrm>
          <a:prstGeom prst="line">
            <a:avLst/>
          </a:prstGeom>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IN" sz="1800" b="0" u="none" strike="noStrike">
              <a:solidFill>
                <a:srgbClr val="000000"/>
              </a:solidFill>
              <a:effectLst/>
              <a:uFillTx/>
              <a:latin typeface="Arial"/>
            </a:endParaRPr>
          </a:p>
        </p:txBody>
      </p:sp>
      <p:sp>
        <p:nvSpPr>
          <p:cNvPr id="151" name="Text 12"/>
          <p:cNvSpPr/>
          <p:nvPr/>
        </p:nvSpPr>
        <p:spPr>
          <a:xfrm>
            <a:off x="7315200" y="1691640"/>
            <a:ext cx="273600" cy="182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385170"/>
                </a:solidFill>
                <a:effectLst/>
                <a:uFillTx/>
                <a:latin typeface="Calibri"/>
              </a:rPr>
              <a:t>4</a:t>
            </a:r>
            <a:endParaRPr lang="en-IN" sz="800" b="0" u="none" strike="noStrike">
              <a:solidFill>
                <a:srgbClr val="000000"/>
              </a:solidFill>
              <a:effectLst/>
              <a:uFillTx/>
              <a:latin typeface="Arial"/>
            </a:endParaRPr>
          </a:p>
        </p:txBody>
      </p:sp>
      <p:sp>
        <p:nvSpPr>
          <p:cNvPr id="152" name="Shape 13"/>
          <p:cNvSpPr/>
          <p:nvPr/>
        </p:nvSpPr>
        <p:spPr>
          <a:xfrm>
            <a:off x="7818120" y="1554480"/>
            <a:ext cx="360" cy="137160"/>
          </a:xfrm>
          <a:prstGeom prst="line">
            <a:avLst/>
          </a:prstGeom>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IN" sz="1800" b="0" u="none" strike="noStrike">
              <a:solidFill>
                <a:srgbClr val="000000"/>
              </a:solidFill>
              <a:effectLst/>
              <a:uFillTx/>
              <a:latin typeface="Arial"/>
            </a:endParaRPr>
          </a:p>
        </p:txBody>
      </p:sp>
      <p:sp>
        <p:nvSpPr>
          <p:cNvPr id="153" name="Text 14"/>
          <p:cNvSpPr/>
          <p:nvPr/>
        </p:nvSpPr>
        <p:spPr>
          <a:xfrm>
            <a:off x="7726680" y="1691640"/>
            <a:ext cx="273600" cy="182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385170"/>
                </a:solidFill>
                <a:effectLst/>
                <a:uFillTx/>
                <a:latin typeface="Calibri"/>
              </a:rPr>
              <a:t>5</a:t>
            </a:r>
            <a:endParaRPr lang="en-IN" sz="800" b="0" u="none" strike="noStrike">
              <a:solidFill>
                <a:srgbClr val="000000"/>
              </a:solidFill>
              <a:effectLst/>
              <a:uFillTx/>
              <a:latin typeface="Arial"/>
            </a:endParaRPr>
          </a:p>
        </p:txBody>
      </p:sp>
      <p:sp>
        <p:nvSpPr>
          <p:cNvPr id="154" name="Shape 15"/>
          <p:cNvSpPr/>
          <p:nvPr/>
        </p:nvSpPr>
        <p:spPr>
          <a:xfrm>
            <a:off x="7315200" y="914400"/>
            <a:ext cx="273600" cy="365040"/>
          </a:xfrm>
          <a:prstGeom prst="upArrow">
            <a:avLst>
              <a:gd name="adj1" fmla="val 50000"/>
              <a:gd name="adj2" fmla="val 50000"/>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155" name="Text 16"/>
          <p:cNvSpPr/>
          <p:nvPr/>
        </p:nvSpPr>
        <p:spPr>
          <a:xfrm>
            <a:off x="7040880" y="548640"/>
            <a:ext cx="109656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900" b="0" u="none" strike="noStrike">
                <a:solidFill>
                  <a:srgbClr val="385170"/>
                </a:solidFill>
                <a:effectLst/>
                <a:uFillTx/>
                <a:latin typeface="Calibri"/>
              </a:rPr>
              <a:t>Committed Offset</a:t>
            </a:r>
            <a:endParaRPr lang="en-IN" sz="900" b="0" u="none" strike="noStrike">
              <a:solidFill>
                <a:srgbClr val="000000"/>
              </a:solidFill>
              <a:effectLst/>
              <a:uFillTx/>
              <a:latin typeface="Arial"/>
            </a:endParaRPr>
          </a:p>
        </p:txBody>
      </p:sp>
      <p:sp>
        <p:nvSpPr>
          <p:cNvPr id="156" name="Text 17"/>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7"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Committing Offsets</a:t>
            </a:r>
            <a:endParaRPr lang="en-IN" sz="2200" b="0" u="none" strike="noStrike">
              <a:solidFill>
                <a:srgbClr val="000000"/>
              </a:solidFill>
              <a:effectLst/>
              <a:uFillTx/>
              <a:latin typeface="Arial"/>
            </a:endParaRPr>
          </a:p>
        </p:txBody>
      </p:sp>
      <p:sp>
        <p:nvSpPr>
          <p:cNvPr id="158" name="Text 1"/>
          <p:cNvSpPr/>
          <p:nvPr/>
        </p:nvSpPr>
        <p:spPr>
          <a:xfrm>
            <a:off x="457200" y="1005840"/>
            <a:ext cx="5028480" cy="2193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1" u="none" strike="noStrike">
                <a:solidFill>
                  <a:srgbClr val="2F5597"/>
                </a:solidFill>
                <a:effectLst/>
                <a:uFillTx/>
                <a:latin typeface="Calibri"/>
              </a:rPr>
              <a:t>Auto Commit (enable.auto.commit=true)</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Offsets are periodically committed in the background.</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Simplicity comes at the cost of potential data loss on crash.</a:t>
            </a:r>
            <a:endParaRPr lang="en-IN" sz="1100" b="0" u="none" strike="noStrike">
              <a:solidFill>
                <a:srgbClr val="000000"/>
              </a:solidFill>
              <a:effectLst/>
              <a:uFillTx/>
              <a:latin typeface="Arial"/>
            </a:endParaRPr>
          </a:p>
          <a:p>
            <a:pPr defTabSz="914400">
              <a:lnSpc>
                <a:spcPct val="100000"/>
              </a:lnSpc>
            </a:pPr>
            <a:endParaRPr lang="en-IN" sz="1100" b="0" u="none" strike="noStrike">
              <a:solidFill>
                <a:srgbClr val="000000"/>
              </a:solidFill>
              <a:effectLst/>
              <a:uFillTx/>
              <a:latin typeface="Arial"/>
            </a:endParaRPr>
          </a:p>
          <a:p>
            <a:pPr defTabSz="914400">
              <a:lnSpc>
                <a:spcPct val="100000"/>
              </a:lnSpc>
            </a:pPr>
            <a:r>
              <a:rPr lang="en-US" sz="1200" b="1" u="none" strike="noStrike">
                <a:solidFill>
                  <a:srgbClr val="2F5597"/>
                </a:solidFill>
                <a:effectLst/>
                <a:uFillTx/>
                <a:latin typeface="Calibri"/>
              </a:rPr>
              <a:t>Manual Commit (enable.auto.commit=false)</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Application explicitly commits offsets after processing.</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 Allows at‑least‑once delivery by placing commit after acking downstream.</a:t>
            </a:r>
            <a:endParaRPr lang="en-IN" sz="1100" b="0" u="none" strike="noStrike">
              <a:solidFill>
                <a:srgbClr val="000000"/>
              </a:solidFill>
              <a:effectLst/>
              <a:uFillTx/>
              <a:latin typeface="Arial"/>
            </a:endParaRPr>
          </a:p>
        </p:txBody>
      </p:sp>
      <p:sp>
        <p:nvSpPr>
          <p:cNvPr id="159" name="Text 2"/>
          <p:cNvSpPr/>
          <p:nvPr/>
        </p:nvSpPr>
        <p:spPr>
          <a:xfrm>
            <a:off x="5669280" y="1005840"/>
            <a:ext cx="31996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1" u="none" strike="noStrike">
                <a:solidFill>
                  <a:srgbClr val="2F5597"/>
                </a:solidFill>
                <a:effectLst/>
                <a:uFillTx/>
                <a:latin typeface="Calibri"/>
              </a:rPr>
              <a:t>Commit APIs</a:t>
            </a:r>
            <a:endParaRPr lang="en-IN" sz="1200" b="0" u="none" strike="noStrike">
              <a:solidFill>
                <a:srgbClr val="000000"/>
              </a:solidFill>
              <a:effectLst/>
              <a:uFillTx/>
              <a:latin typeface="Arial"/>
            </a:endParaRPr>
          </a:p>
        </p:txBody>
      </p:sp>
      <p:sp>
        <p:nvSpPr>
          <p:cNvPr id="160" name="Text 3"/>
          <p:cNvSpPr/>
          <p:nvPr/>
        </p:nvSpPr>
        <p:spPr>
          <a:xfrm>
            <a:off x="5669280" y="1280160"/>
            <a:ext cx="3199680" cy="1919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1" u="none" strike="noStrike">
                <a:solidFill>
                  <a:srgbClr val="385170"/>
                </a:solidFill>
                <a:effectLst/>
                <a:uFillTx/>
                <a:latin typeface="Calibri"/>
              </a:rPr>
              <a:t>commitSync()</a:t>
            </a:r>
            <a:endParaRPr lang="en-IN" sz="1100" b="0" u="none" strike="noStrike">
              <a:solidFill>
                <a:srgbClr val="000000"/>
              </a:solidFill>
              <a:effectLst/>
              <a:uFillTx/>
              <a:latin typeface="Arial"/>
            </a:endParaRPr>
          </a:p>
          <a:p>
            <a:pPr defTabSz="914400">
              <a:lnSpc>
                <a:spcPct val="100000"/>
              </a:lnSpc>
            </a:pPr>
            <a:r>
              <a:rPr lang="en-US" sz="1000" b="0" u="none" strike="noStrike">
                <a:solidFill>
                  <a:srgbClr val="385170"/>
                </a:solidFill>
                <a:effectLst/>
                <a:uFillTx/>
                <a:latin typeface="Calibri"/>
              </a:rPr>
              <a:t>Waits for broker ack, blocks until commit is complete.</a:t>
            </a:r>
            <a:endParaRPr lang="en-IN" sz="1000" b="0" u="none" strike="noStrike">
              <a:solidFill>
                <a:srgbClr val="000000"/>
              </a:solidFill>
              <a:effectLst/>
              <a:uFillTx/>
              <a:latin typeface="Arial"/>
            </a:endParaRPr>
          </a:p>
          <a:p>
            <a:pPr defTabSz="914400">
              <a:lnSpc>
                <a:spcPct val="100000"/>
              </a:lnSpc>
            </a:pPr>
            <a:endParaRPr lang="en-IN" sz="1000" b="0" u="none" strike="noStrike">
              <a:solidFill>
                <a:srgbClr val="000000"/>
              </a:solidFill>
              <a:effectLst/>
              <a:uFillTx/>
              <a:latin typeface="Arial"/>
            </a:endParaRPr>
          </a:p>
          <a:p>
            <a:pPr defTabSz="914400">
              <a:lnSpc>
                <a:spcPct val="100000"/>
              </a:lnSpc>
            </a:pPr>
            <a:r>
              <a:rPr lang="en-US" sz="1100" b="1" u="none" strike="noStrike">
                <a:solidFill>
                  <a:srgbClr val="385170"/>
                </a:solidFill>
                <a:effectLst/>
                <a:uFillTx/>
                <a:latin typeface="Calibri"/>
              </a:rPr>
              <a:t>commitAsync()</a:t>
            </a:r>
            <a:endParaRPr lang="en-IN" sz="11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Sends commit and continues; may reorder commits; handle errors in callback.</a:t>
            </a:r>
            <a:endParaRPr lang="en-IN" sz="1000" b="0" u="none" strike="noStrike">
              <a:solidFill>
                <a:srgbClr val="000000"/>
              </a:solidFill>
              <a:effectLst/>
              <a:uFillTx/>
              <a:latin typeface="Arial"/>
            </a:endParaRPr>
          </a:p>
        </p:txBody>
      </p:sp>
      <p:sp>
        <p:nvSpPr>
          <p:cNvPr id="161" name="Text 4"/>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2"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Offset Reset &amp; Seeking</a:t>
            </a:r>
            <a:endParaRPr lang="en-IN" sz="2200" b="0" u="none" strike="noStrike">
              <a:solidFill>
                <a:srgbClr val="000000"/>
              </a:solidFill>
              <a:effectLst/>
              <a:uFillTx/>
              <a:latin typeface="Arial"/>
            </a:endParaRPr>
          </a:p>
        </p:txBody>
      </p:sp>
      <p:sp>
        <p:nvSpPr>
          <p:cNvPr id="163" name="Text 1"/>
          <p:cNvSpPr/>
          <p:nvPr/>
        </p:nvSpPr>
        <p:spPr>
          <a:xfrm>
            <a:off x="457200" y="1097280"/>
            <a:ext cx="8686080" cy="2376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1" u="none" strike="noStrike">
                <a:solidFill>
                  <a:srgbClr val="2F5597"/>
                </a:solidFill>
                <a:effectLst/>
                <a:uFillTx/>
                <a:latin typeface="Calibri"/>
              </a:rPr>
              <a:t>Resetting Offsets</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Set auto.offset.reset=earliest or latest to control where a new group starts.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Use kafka-consumer-groups.sh --reset-offsets to rewind or skip offsets.</a:t>
            </a:r>
            <a:endParaRPr lang="en-IN" sz="1100" b="0" u="none" strike="noStrike">
              <a:solidFill>
                <a:srgbClr val="000000"/>
              </a:solidFill>
              <a:effectLst/>
              <a:uFillTx/>
              <a:latin typeface="Arial"/>
            </a:endParaRPr>
          </a:p>
          <a:p>
            <a:pPr defTabSz="914400">
              <a:lnSpc>
                <a:spcPct val="100000"/>
              </a:lnSpc>
            </a:pPr>
            <a:endParaRPr lang="en-IN" sz="1100" b="0" u="none" strike="noStrike">
              <a:solidFill>
                <a:srgbClr val="000000"/>
              </a:solidFill>
              <a:effectLst/>
              <a:uFillTx/>
              <a:latin typeface="Arial"/>
            </a:endParaRPr>
          </a:p>
          <a:p>
            <a:pPr defTabSz="914400">
              <a:lnSpc>
                <a:spcPct val="100000"/>
              </a:lnSpc>
            </a:pPr>
            <a:r>
              <a:rPr lang="en-US" sz="1200" b="1" u="none" strike="noStrike">
                <a:solidFill>
                  <a:srgbClr val="2F5597"/>
                </a:solidFill>
                <a:effectLst/>
                <a:uFillTx/>
                <a:latin typeface="Calibri"/>
              </a:rPr>
              <a:t>Seeking in the API</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consumer.seek(partition, offset) lets you reposition at a specific offset.</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 consumer.seekToBeginning() / seekToEnd() can rewind or fast‑forward.</a:t>
            </a:r>
            <a:endParaRPr lang="en-IN" sz="1100" b="0" u="none" strike="noStrike">
              <a:solidFill>
                <a:srgbClr val="000000"/>
              </a:solidFill>
              <a:effectLst/>
              <a:uFillTx/>
              <a:latin typeface="Arial"/>
            </a:endParaRPr>
          </a:p>
        </p:txBody>
      </p:sp>
      <p:sp>
        <p:nvSpPr>
          <p:cNvPr id="164" name="Text 2"/>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Monitoring Consumer Lag</a:t>
            </a:r>
            <a:endParaRPr lang="en-IN" sz="2200" b="0" u="none" strike="noStrike">
              <a:solidFill>
                <a:srgbClr val="000000"/>
              </a:solidFill>
              <a:effectLst/>
              <a:uFillTx/>
              <a:latin typeface="Arial"/>
            </a:endParaRPr>
          </a:p>
        </p:txBody>
      </p:sp>
      <p:sp>
        <p:nvSpPr>
          <p:cNvPr id="166" name="Text 1"/>
          <p:cNvSpPr/>
          <p:nvPr/>
        </p:nvSpPr>
        <p:spPr>
          <a:xfrm>
            <a:off x="457200" y="1097280"/>
            <a:ext cx="8686080" cy="2376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1" u="none" strike="noStrike">
                <a:solidFill>
                  <a:srgbClr val="2F5597"/>
                </a:solidFill>
                <a:effectLst/>
                <a:uFillTx/>
                <a:latin typeface="Calibri"/>
              </a:rPr>
              <a:t>Consumer Lag</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Lag is the difference between the latest offset in a partition and the last committed offset.</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Monitor lag to detect slow consumers or backlogs.</a:t>
            </a:r>
            <a:endParaRPr lang="en-IN" sz="1100" b="0" u="none" strike="noStrike">
              <a:solidFill>
                <a:srgbClr val="000000"/>
              </a:solidFill>
              <a:effectLst/>
              <a:uFillTx/>
              <a:latin typeface="Arial"/>
            </a:endParaRPr>
          </a:p>
          <a:p>
            <a:pPr defTabSz="914400">
              <a:lnSpc>
                <a:spcPct val="100000"/>
              </a:lnSpc>
            </a:pPr>
            <a:endParaRPr lang="en-IN" sz="1100" b="0" u="none" strike="noStrike">
              <a:solidFill>
                <a:srgbClr val="000000"/>
              </a:solidFill>
              <a:effectLst/>
              <a:uFillTx/>
              <a:latin typeface="Arial"/>
            </a:endParaRPr>
          </a:p>
          <a:p>
            <a:pPr defTabSz="914400">
              <a:lnSpc>
                <a:spcPct val="100000"/>
              </a:lnSpc>
            </a:pPr>
            <a:r>
              <a:rPr lang="en-US" sz="1200" b="1" u="none" strike="noStrike">
                <a:solidFill>
                  <a:srgbClr val="2F5597"/>
                </a:solidFill>
                <a:effectLst/>
                <a:uFillTx/>
                <a:latin typeface="Calibri"/>
              </a:rPr>
              <a:t>Monitoring Tools</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kafka-consumer-groups.sh --describe: CLI tool to list lag per group.</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Kafka metrics (records-lag, records-lag-max) via JMX or Prometheus.</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 UI tools (Confluent Control Center, Burrow, Conduktor) provide dashboards for lag.</a:t>
            </a:r>
            <a:endParaRPr lang="en-IN" sz="1100" b="0" u="none" strike="noStrike">
              <a:solidFill>
                <a:srgbClr val="000000"/>
              </a:solidFill>
              <a:effectLst/>
              <a:uFillTx/>
              <a:latin typeface="Arial"/>
            </a:endParaRPr>
          </a:p>
        </p:txBody>
      </p:sp>
      <p:sp>
        <p:nvSpPr>
          <p:cNvPr id="167" name="Text 2"/>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Consumer Position: Current, Committed, High Watermark</a:t>
            </a:r>
            <a:endParaRPr lang="en-IN" sz="2200" b="0" u="none" strike="noStrike">
              <a:solidFill>
                <a:srgbClr val="000000"/>
              </a:solidFill>
              <a:effectLst/>
              <a:uFillTx/>
              <a:latin typeface="Arial"/>
            </a:endParaRPr>
          </a:p>
        </p:txBody>
      </p:sp>
      <p:sp>
        <p:nvSpPr>
          <p:cNvPr id="169"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170" name="Picture 3" descr="consumer_position.png"/>
          <p:cNvPicPr/>
          <p:nvPr/>
        </p:nvPicPr>
        <p:blipFill>
          <a:blip r:embed="rId2"/>
          <a:stretch/>
        </p:blipFill>
        <p:spPr>
          <a:xfrm>
            <a:off x="640080" y="960120"/>
            <a:ext cx="4251600" cy="3062880"/>
          </a:xfrm>
          <a:prstGeom prst="rect">
            <a:avLst/>
          </a:prstGeom>
          <a:noFill/>
          <a:ln w="0">
            <a:noFill/>
          </a:ln>
        </p:spPr>
      </p:pic>
      <p:sp>
        <p:nvSpPr>
          <p:cNvPr id="171" name="TextBox 4"/>
          <p:cNvSpPr/>
          <p:nvPr/>
        </p:nvSpPr>
        <p:spPr>
          <a:xfrm>
            <a:off x="5212080" y="1051560"/>
            <a:ext cx="3108600" cy="297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Current position is what the consumer has fetched.</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Committed offset is the durable group bookmark.</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Lag compares committed progress with the log end.</a:t>
            </a:r>
            <a:endParaRPr lang="en-IN" sz="1350" b="0" u="none" strike="noStrike">
              <a:solidFill>
                <a:srgbClr val="000000"/>
              </a:solidFill>
              <a:effectLst/>
              <a:uFillTx/>
              <a:latin typeface="Arial"/>
            </a:endParaRPr>
          </a:p>
        </p:txBody>
      </p:sp>
      <p:sp>
        <p:nvSpPr>
          <p:cNvPr id="172" name="TextBox 5"/>
          <p:cNvSpPr/>
          <p:nvPr/>
        </p:nvSpPr>
        <p:spPr>
          <a:xfrm>
            <a:off x="658440" y="4224600"/>
            <a:ext cx="7406280" cy="21924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850" b="0" u="none" strike="noStrike">
                <a:solidFill>
                  <a:srgbClr val="585858"/>
                </a:solidFill>
                <a:effectLst/>
                <a:uFillTx/>
                <a:latin typeface="Calibri"/>
              </a:rPr>
              <a:t>Source: Confluent consumer design documentation.</a:t>
            </a:r>
            <a:endParaRPr lang="en-IN" sz="850" b="0" u="none" strike="noStrike">
              <a:solidFill>
                <a:srgbClr val="000000"/>
              </a:solidFill>
              <a:effectLst/>
              <a:uFillTx/>
              <a:latin typeface="Arial"/>
            </a:endParaRPr>
          </a:p>
        </p:txBody>
      </p:sp>
      <p:sp>
        <p:nvSpPr>
          <p:cNvPr id="173" name="TextBox 6"/>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[23]</a:t>
            </a:r>
            <a:endParaRPr lang="en-IN" sz="800" b="0" u="none" strike="noStrike">
              <a:solidFill>
                <a:srgbClr val="000000"/>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9FBFD"/>
        </a:solidFill>
        <a:effectLst/>
      </p:bgPr>
    </p:bg>
    <p:spTree>
      <p:nvGrpSpPr>
        <p:cNvPr id="1" name=""/>
        <p:cNvGrpSpPr/>
        <p:nvPr/>
      </p:nvGrpSpPr>
      <p:grpSpPr>
        <a:xfrm>
          <a:off x="0" y="0"/>
          <a:ext cx="0" cy="0"/>
          <a:chOff x="0" y="0"/>
          <a:chExt cx="0" cy="0"/>
        </a:xfrm>
      </p:grpSpPr>
      <p:sp>
        <p:nvSpPr>
          <p:cNvPr id="174" name="Text 0"/>
          <p:cNvSpPr/>
          <p:nvPr/>
        </p:nvSpPr>
        <p:spPr>
          <a:xfrm>
            <a:off x="457200" y="274320"/>
            <a:ext cx="86860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Mini Exercise: Offsets &amp; Lag</a:t>
            </a:r>
            <a:endParaRPr lang="en-IN" sz="2200" b="0" u="none" strike="noStrike">
              <a:solidFill>
                <a:srgbClr val="000000"/>
              </a:solidFill>
              <a:effectLst/>
              <a:uFillTx/>
              <a:latin typeface="Arial"/>
            </a:endParaRPr>
          </a:p>
        </p:txBody>
      </p:sp>
      <p:sp>
        <p:nvSpPr>
          <p:cNvPr id="175" name="Text 1"/>
          <p:cNvSpPr/>
          <p:nvPr/>
        </p:nvSpPr>
        <p:spPr>
          <a:xfrm>
            <a:off x="457200" y="822960"/>
            <a:ext cx="4937040" cy="255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1" u="none" strike="noStrike">
                <a:solidFill>
                  <a:srgbClr val="2F5597"/>
                </a:solidFill>
                <a:effectLst/>
                <a:uFillTx/>
                <a:latin typeface="Calibri"/>
              </a:rPr>
              <a:t>Exercise:</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1. Produce 100 messages to a topic.</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2. Start a consumer group and pause for a minute before committing offsets.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3. Use kafka-consumer-groups.sh --describe to observe lag and committed offsets.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4. Reset offsets to earliest and observe message replay.</a:t>
            </a:r>
            <a:endParaRPr lang="en-IN" sz="1100" b="0" u="none" strike="noStrike">
              <a:solidFill>
                <a:srgbClr val="000000"/>
              </a:solidFill>
              <a:effectLst/>
              <a:uFillTx/>
              <a:latin typeface="Arial"/>
            </a:endParaRPr>
          </a:p>
          <a:p>
            <a:pPr defTabSz="914400">
              <a:lnSpc>
                <a:spcPct val="100000"/>
              </a:lnSpc>
              <a:tabLst>
                <a:tab pos="0" algn="l"/>
              </a:tabLst>
            </a:pPr>
            <a:endParaRPr lang="en-IN" sz="1100" b="0" u="none" strike="noStrike">
              <a:solidFill>
                <a:srgbClr val="000000"/>
              </a:solidFill>
              <a:effectLst/>
              <a:uFillTx/>
              <a:latin typeface="Arial"/>
            </a:endParaRPr>
          </a:p>
        </p:txBody>
      </p:sp>
      <p:sp>
        <p:nvSpPr>
          <p:cNvPr id="176" name="Text 2"/>
          <p:cNvSpPr/>
          <p:nvPr/>
        </p:nvSpPr>
        <p:spPr>
          <a:xfrm>
            <a:off x="5669280" y="822960"/>
            <a:ext cx="31996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400" b="1" u="none" strike="noStrike">
                <a:solidFill>
                  <a:srgbClr val="2F5597"/>
                </a:solidFill>
                <a:effectLst/>
                <a:uFillTx/>
                <a:latin typeface="Calibri"/>
              </a:rPr>
              <a:t>Quick Quiz:</a:t>
            </a:r>
            <a:endParaRPr lang="en-IN" sz="1400" b="0" u="none" strike="noStrike">
              <a:solidFill>
                <a:srgbClr val="000000"/>
              </a:solidFill>
              <a:effectLst/>
              <a:uFillTx/>
              <a:latin typeface="Arial"/>
            </a:endParaRPr>
          </a:p>
        </p:txBody>
      </p:sp>
      <p:sp>
        <p:nvSpPr>
          <p:cNvPr id="177" name="Text 3"/>
          <p:cNvSpPr/>
          <p:nvPr/>
        </p:nvSpPr>
        <p:spPr>
          <a:xfrm>
            <a:off x="5669280" y="1097280"/>
            <a:ext cx="3199680" cy="2376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1" u="none" strike="noStrike">
                <a:solidFill>
                  <a:srgbClr val="2F5597"/>
                </a:solidFill>
                <a:effectLst/>
                <a:uFillTx/>
                <a:latin typeface="Calibri"/>
              </a:rPr>
              <a:t>Q3. Where are committed offsets stored?</a:t>
            </a:r>
            <a:endParaRPr lang="en-IN" sz="1100" b="0" u="none" strike="noStrike">
              <a:solidFill>
                <a:srgbClr val="000000"/>
              </a:solidFill>
              <a:effectLst/>
              <a:uFillTx/>
              <a:latin typeface="Arial"/>
            </a:endParaRPr>
          </a:p>
          <a:p>
            <a:pPr defTabSz="914400">
              <a:lnSpc>
                <a:spcPct val="100000"/>
              </a:lnSpc>
            </a:pPr>
            <a:r>
              <a:rPr lang="en-US" sz="1000" b="0" u="none" strike="noStrike">
                <a:solidFill>
                  <a:srgbClr val="385170"/>
                </a:solidFill>
                <a:effectLst/>
                <a:uFillTx/>
                <a:latin typeface="Calibri"/>
              </a:rPr>
              <a:t>a) __consumer_offsets internal topic</a:t>
            </a:r>
            <a:endParaRPr lang="en-IN" sz="1000" b="0" u="none" strike="noStrike">
              <a:solidFill>
                <a:srgbClr val="000000"/>
              </a:solidFill>
              <a:effectLst/>
              <a:uFillTx/>
              <a:latin typeface="Arial"/>
            </a:endParaRPr>
          </a:p>
          <a:p>
            <a:pPr defTabSz="914400">
              <a:lnSpc>
                <a:spcPct val="100000"/>
              </a:lnSpc>
            </a:pPr>
            <a:r>
              <a:rPr lang="en-US" sz="1000" b="0" u="none" strike="noStrike">
                <a:solidFill>
                  <a:srgbClr val="385170"/>
                </a:solidFill>
                <a:effectLst/>
                <a:uFillTx/>
                <a:latin typeface="Calibri"/>
              </a:rPr>
              <a:t>b) Each partition log</a:t>
            </a:r>
            <a:endParaRPr lang="en-IN" sz="1000" b="0" u="none" strike="noStrike">
              <a:solidFill>
                <a:srgbClr val="000000"/>
              </a:solidFill>
              <a:effectLst/>
              <a:uFillTx/>
              <a:latin typeface="Arial"/>
            </a:endParaRPr>
          </a:p>
          <a:p>
            <a:pPr defTabSz="914400">
              <a:lnSpc>
                <a:spcPct val="100000"/>
              </a:lnSpc>
            </a:pPr>
            <a:r>
              <a:rPr lang="en-US" sz="1000" b="0" u="none" strike="noStrike">
                <a:solidFill>
                  <a:srgbClr val="385170"/>
                </a:solidFill>
                <a:effectLst/>
                <a:uFillTx/>
                <a:latin typeface="Calibri"/>
              </a:rPr>
              <a:t>c) An external database</a:t>
            </a:r>
            <a:endParaRPr lang="en-IN" sz="1000" b="0" u="none" strike="noStrike">
              <a:solidFill>
                <a:srgbClr val="000000"/>
              </a:solidFill>
              <a:effectLst/>
              <a:uFillTx/>
              <a:latin typeface="Arial"/>
            </a:endParaRPr>
          </a:p>
          <a:p>
            <a:pPr defTabSz="914400">
              <a:lnSpc>
                <a:spcPct val="100000"/>
              </a:lnSpc>
            </a:pPr>
            <a:r>
              <a:rPr lang="en-US" sz="1000" b="0" u="none" strike="noStrike">
                <a:solidFill>
                  <a:srgbClr val="385170"/>
                </a:solidFill>
                <a:effectLst/>
                <a:uFillTx/>
                <a:latin typeface="Calibri"/>
              </a:rPr>
              <a:t>d) Zookeeper</a:t>
            </a:r>
            <a:endParaRPr lang="en-IN" sz="1000" b="0" u="none" strike="noStrike">
              <a:solidFill>
                <a:srgbClr val="000000"/>
              </a:solidFill>
              <a:effectLst/>
              <a:uFillTx/>
              <a:latin typeface="Arial"/>
            </a:endParaRPr>
          </a:p>
          <a:p>
            <a:pPr defTabSz="914400">
              <a:lnSpc>
                <a:spcPct val="100000"/>
              </a:lnSpc>
            </a:pPr>
            <a:endParaRPr lang="en-IN" sz="1000" b="0" u="none" strike="noStrike">
              <a:solidFill>
                <a:srgbClr val="000000"/>
              </a:solidFill>
              <a:effectLst/>
              <a:uFillTx/>
              <a:latin typeface="Arial"/>
            </a:endParaRPr>
          </a:p>
          <a:p>
            <a:pPr defTabSz="914400">
              <a:lnSpc>
                <a:spcPct val="100000"/>
              </a:lnSpc>
            </a:pPr>
            <a:r>
              <a:rPr lang="en-US" sz="1100" b="1" u="none" strike="noStrike">
                <a:solidFill>
                  <a:srgbClr val="2F5597"/>
                </a:solidFill>
                <a:effectLst/>
                <a:uFillTx/>
                <a:latin typeface="Calibri"/>
              </a:rPr>
              <a:t>Q4. Which setting controls where a new consumer group starts reading?</a:t>
            </a:r>
            <a:endParaRPr lang="en-IN" sz="11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a) enable.auto.commit</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b) auto.offset.reset</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c) session.timeout.ms</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d) max.poll.records</a:t>
            </a:r>
            <a:endParaRPr lang="en-IN" sz="1000" b="0" u="none" strike="noStrike">
              <a:solidFill>
                <a:srgbClr val="000000"/>
              </a:solidFill>
              <a:effectLst/>
              <a:uFillTx/>
              <a:latin typeface="Arial"/>
            </a:endParaRPr>
          </a:p>
        </p:txBody>
      </p:sp>
      <p:sp>
        <p:nvSpPr>
          <p:cNvPr id="178" name="Text 4"/>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Solution: Offsets and Lag</a:t>
            </a:r>
            <a:endParaRPr lang="en-IN" sz="2200" b="0" u="none" strike="noStrike">
              <a:solidFill>
                <a:srgbClr val="000000"/>
              </a:solidFill>
              <a:effectLst/>
              <a:uFillTx/>
              <a:latin typeface="Arial"/>
            </a:endParaRPr>
          </a:p>
        </p:txBody>
      </p:sp>
      <p:sp>
        <p:nvSpPr>
          <p:cNvPr id="180"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82" name="TextBox 4"/>
          <p:cNvSpPr/>
          <p:nvPr/>
        </p:nvSpPr>
        <p:spPr>
          <a:xfrm>
            <a:off x="341630" y="886943"/>
            <a:ext cx="7406280" cy="4261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900" b="0" u="none" strike="noStrike" dirty="0">
                <a:solidFill>
                  <a:srgbClr val="1E1E1E"/>
                </a:solidFill>
                <a:effectLst/>
                <a:uFillTx/>
                <a:latin typeface="Calibri"/>
              </a:rPr>
              <a:t>Committed offsets are stored in the internal __</a:t>
            </a:r>
            <a:r>
              <a:rPr lang="en-US" sz="900" b="0" u="none" strike="noStrike" dirty="0" err="1">
                <a:solidFill>
                  <a:srgbClr val="1E1E1E"/>
                </a:solidFill>
                <a:effectLst/>
                <a:uFillTx/>
                <a:latin typeface="Calibri"/>
              </a:rPr>
              <a:t>consumer_offsets</a:t>
            </a:r>
            <a:r>
              <a:rPr lang="en-US" sz="900" b="0" u="none" strike="noStrike" dirty="0">
                <a:solidFill>
                  <a:srgbClr val="1E1E1E"/>
                </a:solidFill>
                <a:effectLst/>
                <a:uFillTx/>
                <a:latin typeface="Calibri"/>
              </a:rPr>
              <a:t> topic.</a:t>
            </a:r>
            <a:endParaRPr lang="en-IN" sz="900" b="0" u="none" strike="noStrike" dirty="0">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900" b="0" u="none" strike="noStrike" dirty="0">
                <a:solidFill>
                  <a:srgbClr val="1E1E1E"/>
                </a:solidFill>
                <a:effectLst/>
                <a:uFillTx/>
                <a:latin typeface="Calibri"/>
              </a:rPr>
              <a:t>Lag = log end offset minus the consumer group's committed offset for a partition.</a:t>
            </a:r>
            <a:endParaRPr lang="en-IN" sz="900" b="0" u="none" strike="noStrike" dirty="0">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900" b="0" u="none" strike="noStrike" dirty="0" err="1">
                <a:solidFill>
                  <a:srgbClr val="1E1E1E"/>
                </a:solidFill>
                <a:effectLst/>
                <a:uFillTx/>
                <a:latin typeface="Calibri"/>
              </a:rPr>
              <a:t>auto.offset.reset</a:t>
            </a:r>
            <a:r>
              <a:rPr lang="en-US" sz="900" b="0" u="none" strike="noStrike" dirty="0">
                <a:solidFill>
                  <a:srgbClr val="1E1E1E"/>
                </a:solidFill>
                <a:effectLst/>
                <a:uFillTx/>
                <a:latin typeface="Calibri"/>
              </a:rPr>
              <a:t> applies only when the group has no committed offset.</a:t>
            </a:r>
            <a:endParaRPr lang="en-IN" sz="900" b="0" u="none" strike="noStrike" dirty="0">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900" b="0" u="none" strike="noStrike" dirty="0">
                <a:solidFill>
                  <a:srgbClr val="1E1E1E"/>
                </a:solidFill>
                <a:effectLst/>
                <a:uFillTx/>
                <a:latin typeface="Calibri"/>
              </a:rPr>
              <a:t>Resetting offsets is useful for replay, but replay can repeat downstream side effects.</a:t>
            </a:r>
            <a:endParaRPr lang="en-IN" sz="900" b="0" u="none" strike="noStrike" dirty="0">
              <a:solidFill>
                <a:srgbClr val="000000"/>
              </a:solidFill>
              <a:effectLst/>
              <a:uFillTx/>
              <a:latin typeface="Arial"/>
            </a:endParaRPr>
          </a:p>
          <a:p>
            <a:pPr defTabSz="914400">
              <a:lnSpc>
                <a:spcPct val="100000"/>
              </a:lnSpc>
              <a:spcBef>
                <a:spcPts val="1191"/>
              </a:spcBef>
              <a:spcAft>
                <a:spcPts val="992"/>
              </a:spcAft>
            </a:pPr>
            <a:r>
              <a:rPr lang="en-US" sz="900" b="0" u="none" strike="noStrike" dirty="0">
                <a:solidFill>
                  <a:srgbClr val="1E1E1E"/>
                </a:solidFill>
                <a:effectLst/>
                <a:uFillTx/>
                <a:latin typeface="Calibri"/>
              </a:rPr>
              <a:t>Q5. With RF=3 and </a:t>
            </a:r>
            <a:r>
              <a:rPr lang="en-US" sz="900" b="0" u="none" strike="noStrike" dirty="0" err="1">
                <a:solidFill>
                  <a:srgbClr val="1E1E1E"/>
                </a:solidFill>
                <a:effectLst/>
                <a:uFillTx/>
                <a:latin typeface="Calibri"/>
              </a:rPr>
              <a:t>min.insync.replicas</a:t>
            </a:r>
            <a:r>
              <a:rPr lang="en-US" sz="900" b="0" u="none" strike="noStrike" dirty="0">
                <a:solidFill>
                  <a:srgbClr val="1E1E1E"/>
                </a:solidFill>
                <a:effectLst/>
                <a:uFillTx/>
                <a:latin typeface="Calibri"/>
              </a:rPr>
              <a:t>=2, how many broker failures can you tolerate without losing write availability?</a:t>
            </a:r>
            <a:endParaRPr lang="en-IN" sz="900" b="0" u="none" strike="noStrike" dirty="0">
              <a:solidFill>
                <a:srgbClr val="000000"/>
              </a:solidFill>
              <a:effectLst/>
              <a:uFillTx/>
              <a:latin typeface="Arial"/>
            </a:endParaRPr>
          </a:p>
          <a:p>
            <a:pPr defTabSz="914400">
              <a:lnSpc>
                <a:spcPct val="100000"/>
              </a:lnSpc>
              <a:spcBef>
                <a:spcPts val="1191"/>
              </a:spcBef>
              <a:spcAft>
                <a:spcPts val="992"/>
              </a:spcAft>
            </a:pPr>
            <a:r>
              <a:rPr lang="en-US" sz="900" b="0" u="none" strike="noStrike" dirty="0">
                <a:solidFill>
                  <a:srgbClr val="1E1E1E"/>
                </a:solidFill>
                <a:effectLst/>
                <a:uFillTx/>
                <a:latin typeface="Calibri"/>
              </a:rPr>
              <a:t>Answer: b) 1</a:t>
            </a:r>
            <a:endParaRPr lang="en-IN" sz="900" b="0" u="none" strike="noStrike" dirty="0">
              <a:solidFill>
                <a:srgbClr val="000000"/>
              </a:solidFill>
              <a:effectLst/>
              <a:uFillTx/>
              <a:latin typeface="Arial"/>
            </a:endParaRPr>
          </a:p>
          <a:p>
            <a:pPr defTabSz="914400">
              <a:lnSpc>
                <a:spcPct val="100000"/>
              </a:lnSpc>
              <a:spcBef>
                <a:spcPts val="1191"/>
              </a:spcBef>
              <a:spcAft>
                <a:spcPts val="992"/>
              </a:spcAft>
            </a:pPr>
            <a:r>
              <a:rPr lang="en-US" sz="900" b="0" u="none" strike="noStrike" dirty="0">
                <a:solidFill>
                  <a:srgbClr val="1E1E1E"/>
                </a:solidFill>
                <a:effectLst/>
                <a:uFillTx/>
                <a:latin typeface="Calibri"/>
              </a:rPr>
              <a:t>With replication factor 3, there are 3 replicas. With </a:t>
            </a:r>
            <a:r>
              <a:rPr lang="en-US" sz="900" b="0" u="none" strike="noStrike" dirty="0" err="1">
                <a:solidFill>
                  <a:srgbClr val="1E1E1E"/>
                </a:solidFill>
                <a:effectLst/>
                <a:uFillTx/>
                <a:latin typeface="Calibri"/>
              </a:rPr>
              <a:t>min.insync.replicas</a:t>
            </a:r>
            <a:r>
              <a:rPr lang="en-US" sz="900" b="0" u="none" strike="noStrike" dirty="0">
                <a:solidFill>
                  <a:srgbClr val="1E1E1E"/>
                </a:solidFill>
                <a:effectLst/>
                <a:uFillTx/>
                <a:latin typeface="Calibri"/>
              </a:rPr>
              <a:t>=2, Kafka needs at least 2 in-sync replicas available to accept writes when producer acks=all is used. So you can lose 1 broker and still continue writing.</a:t>
            </a:r>
            <a:endParaRPr lang="en-IN" sz="900" b="0" u="none" strike="noStrike" dirty="0">
              <a:solidFill>
                <a:srgbClr val="000000"/>
              </a:solidFill>
              <a:effectLst/>
              <a:uFillTx/>
              <a:latin typeface="Arial"/>
            </a:endParaRPr>
          </a:p>
          <a:p>
            <a:pPr defTabSz="914400">
              <a:lnSpc>
                <a:spcPct val="100000"/>
              </a:lnSpc>
              <a:spcBef>
                <a:spcPts val="1191"/>
              </a:spcBef>
              <a:spcAft>
                <a:spcPts val="992"/>
              </a:spcAft>
            </a:pPr>
            <a:r>
              <a:rPr lang="en-US" sz="900" b="0" u="none" strike="noStrike" dirty="0">
                <a:solidFill>
                  <a:srgbClr val="1E1E1E"/>
                </a:solidFill>
                <a:effectLst/>
                <a:uFillTx/>
                <a:latin typeface="Calibri"/>
              </a:rPr>
              <a:t>Q6. What is the effect of setting </a:t>
            </a:r>
            <a:r>
              <a:rPr lang="en-US" sz="900" b="0" u="none" strike="noStrike" dirty="0" err="1">
                <a:solidFill>
                  <a:srgbClr val="1E1E1E"/>
                </a:solidFill>
                <a:effectLst/>
                <a:uFillTx/>
                <a:latin typeface="Calibri"/>
              </a:rPr>
              <a:t>unclean.leader.election.enable</a:t>
            </a:r>
            <a:r>
              <a:rPr lang="en-US" sz="900" b="0" u="none" strike="noStrike" dirty="0">
                <a:solidFill>
                  <a:srgbClr val="1E1E1E"/>
                </a:solidFill>
                <a:effectLst/>
                <a:uFillTx/>
                <a:latin typeface="Calibri"/>
              </a:rPr>
              <a:t>=true?</a:t>
            </a:r>
            <a:endParaRPr lang="en-IN" sz="900" b="0" u="none" strike="noStrike" dirty="0">
              <a:solidFill>
                <a:srgbClr val="000000"/>
              </a:solidFill>
              <a:effectLst/>
              <a:uFillTx/>
              <a:latin typeface="Arial"/>
            </a:endParaRPr>
          </a:p>
          <a:p>
            <a:pPr defTabSz="914400">
              <a:lnSpc>
                <a:spcPct val="100000"/>
              </a:lnSpc>
              <a:spcBef>
                <a:spcPts val="1191"/>
              </a:spcBef>
              <a:spcAft>
                <a:spcPts val="992"/>
              </a:spcAft>
            </a:pPr>
            <a:r>
              <a:rPr lang="en-US" sz="900" b="0" u="none" strike="noStrike" dirty="0">
                <a:solidFill>
                  <a:srgbClr val="1E1E1E"/>
                </a:solidFill>
                <a:effectLst/>
                <a:uFillTx/>
                <a:latin typeface="Calibri"/>
              </a:rPr>
              <a:t>Answer: b) Faster failover; non-ISR replicas can become leader risking data loss</a:t>
            </a:r>
            <a:endParaRPr lang="en-IN" sz="900" b="0" u="none" strike="noStrike" dirty="0">
              <a:solidFill>
                <a:srgbClr val="000000"/>
              </a:solidFill>
              <a:effectLst/>
              <a:uFillTx/>
              <a:latin typeface="Arial"/>
            </a:endParaRPr>
          </a:p>
          <a:p>
            <a:pPr defTabSz="914400">
              <a:lnSpc>
                <a:spcPct val="100000"/>
              </a:lnSpc>
              <a:spcBef>
                <a:spcPts val="1191"/>
              </a:spcBef>
              <a:spcAft>
                <a:spcPts val="992"/>
              </a:spcAft>
            </a:pPr>
            <a:r>
              <a:rPr lang="en-US" sz="900" b="0" u="none" strike="noStrike" dirty="0">
                <a:solidFill>
                  <a:srgbClr val="1E1E1E"/>
                </a:solidFill>
                <a:effectLst/>
                <a:uFillTx/>
                <a:latin typeface="Calibri"/>
              </a:rPr>
              <a:t>This setting allows Kafka to elect a replica that is not in the ISR as leader. It can restore availability faster, but it may lose messages that were not replicated to that out-of-sync replica.</a:t>
            </a:r>
            <a:endParaRPr lang="en-IN" sz="900" b="0" u="none" strike="noStrike" dirty="0">
              <a:solidFill>
                <a:srgbClr val="000000"/>
              </a:solidFill>
              <a:effectLst/>
              <a:uFillTx/>
              <a:latin typeface="Arial"/>
            </a:endParaRPr>
          </a:p>
          <a:p>
            <a:pPr defTabSz="914400">
              <a:lnSpc>
                <a:spcPct val="100000"/>
              </a:lnSpc>
              <a:spcBef>
                <a:spcPts val="1191"/>
              </a:spcBef>
              <a:spcAft>
                <a:spcPts val="992"/>
              </a:spcAft>
            </a:pPr>
            <a:endParaRPr lang="en-IN" sz="900" b="0" u="none" strike="noStrike" dirty="0">
              <a:solidFill>
                <a:srgbClr val="000000"/>
              </a:solidFill>
              <a:effectLst/>
              <a:uFillTx/>
              <a:latin typeface="Arial"/>
            </a:endParaRPr>
          </a:p>
          <a:p>
            <a:pPr defTabSz="914400">
              <a:lnSpc>
                <a:spcPct val="100000"/>
              </a:lnSpc>
              <a:spcAft>
                <a:spcPts val="601"/>
              </a:spcAft>
            </a:pPr>
            <a:endParaRPr lang="en-IN" sz="900" b="0" u="none" strike="noStrike" dirty="0">
              <a:solidFill>
                <a:srgbClr val="000000"/>
              </a:solidFill>
              <a:effectLst/>
              <a:uFillTx/>
              <a:latin typeface="Arial"/>
            </a:endParaRPr>
          </a:p>
        </p:txBody>
      </p:sp>
      <p:sp>
        <p:nvSpPr>
          <p:cNvPr id="183" name="TextBox 5"/>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[25]</a:t>
            </a:r>
            <a:endParaRPr lang="en-IN" sz="80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CLI Evidence: Describe a Consumer Group</a:t>
            </a:r>
            <a:endParaRPr lang="en-IN" sz="2200" b="0" u="none" strike="noStrike">
              <a:solidFill>
                <a:srgbClr val="000000"/>
              </a:solidFill>
              <a:effectLst/>
              <a:uFillTx/>
              <a:latin typeface="Arial"/>
            </a:endParaRPr>
          </a:p>
        </p:txBody>
      </p:sp>
      <p:sp>
        <p:nvSpPr>
          <p:cNvPr id="185"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86" name="TextBox 3"/>
          <p:cNvSpPr/>
          <p:nvPr/>
        </p:nvSpPr>
        <p:spPr>
          <a:xfrm>
            <a:off x="438840" y="786240"/>
            <a:ext cx="7497720" cy="25560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150" b="0" u="none" strike="noStrike">
                <a:solidFill>
                  <a:srgbClr val="585858"/>
                </a:solidFill>
                <a:effectLst/>
                <a:uFillTx/>
                <a:latin typeface="Calibri"/>
              </a:rPr>
              <a:t>The same idea appears in the lab as CURRENT-OFFSET, LOG-END-OFFSET and LAG.</a:t>
            </a:r>
            <a:endParaRPr lang="en-IN" sz="1150" b="0" u="none" strike="noStrike">
              <a:solidFill>
                <a:srgbClr val="000000"/>
              </a:solidFill>
              <a:effectLst/>
              <a:uFillTx/>
              <a:latin typeface="Arial"/>
            </a:endParaRPr>
          </a:p>
        </p:txBody>
      </p:sp>
      <p:sp>
        <p:nvSpPr>
          <p:cNvPr id="187" name="TextBox 4"/>
          <p:cNvSpPr/>
          <p:nvPr/>
        </p:nvSpPr>
        <p:spPr>
          <a:xfrm>
            <a:off x="640080" y="1234440"/>
            <a:ext cx="7406280" cy="3245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Run: kafka-consumer-groups --describe --group cg-day3-python</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CURRENT-OFFSET shows the committed group bookmark.</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LOG-END-OFFSET shows the latest topic position.</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LAG is the work still waiting for that group.</a:t>
            </a:r>
            <a:endParaRPr lang="en-IN" sz="1500" b="0" u="none" strike="noStrike">
              <a:solidFill>
                <a:srgbClr val="000000"/>
              </a:solidFill>
              <a:effectLst/>
              <a:uFillTx/>
              <a:latin typeface="Arial"/>
            </a:endParaRPr>
          </a:p>
        </p:txBody>
      </p:sp>
      <p:sp>
        <p:nvSpPr>
          <p:cNvPr id="188" name="TextBox 5"/>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[26]</a:t>
            </a:r>
            <a:endParaRPr lang="en-IN" sz="8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Replication &amp; Leaders</a:t>
            </a:r>
            <a:endParaRPr lang="en-IN" sz="2200" b="0" u="none" strike="noStrike">
              <a:solidFill>
                <a:srgbClr val="000000"/>
              </a:solidFill>
              <a:effectLst/>
              <a:uFillTx/>
              <a:latin typeface="Arial"/>
            </a:endParaRPr>
          </a:p>
        </p:txBody>
      </p:sp>
      <p:sp>
        <p:nvSpPr>
          <p:cNvPr id="190" name="Text 1"/>
          <p:cNvSpPr/>
          <p:nvPr/>
        </p:nvSpPr>
        <p:spPr>
          <a:xfrm>
            <a:off x="457200" y="1097280"/>
            <a:ext cx="4937040" cy="2193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0" u="none" strike="noStrike">
                <a:solidFill>
                  <a:srgbClr val="385170"/>
                </a:solidFill>
                <a:effectLst/>
                <a:uFillTx/>
                <a:latin typeface="Calibri"/>
              </a:rPr>
              <a:t>• When a topic is created, you specify a replication factor; e.g., RF=3 means each partition has one leader and two followers.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The leader handles all reads and writes; followers replicate data from the leader.</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 On leader failure, a follower in the ISR becomes the new leader automatically.</a:t>
            </a:r>
            <a:endParaRPr lang="en-IN" sz="1100" b="0" u="none" strike="noStrike">
              <a:solidFill>
                <a:srgbClr val="000000"/>
              </a:solidFill>
              <a:effectLst/>
              <a:uFillTx/>
              <a:latin typeface="Arial"/>
            </a:endParaRPr>
          </a:p>
        </p:txBody>
      </p:sp>
      <p:sp>
        <p:nvSpPr>
          <p:cNvPr id="191" name="Shape 2"/>
          <p:cNvSpPr/>
          <p:nvPr/>
        </p:nvSpPr>
        <p:spPr>
          <a:xfrm>
            <a:off x="5669280" y="1188720"/>
            <a:ext cx="913680" cy="365040"/>
          </a:xfrm>
          <a:prstGeom prst="rect">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192" name="Text 3"/>
          <p:cNvSpPr/>
          <p:nvPr/>
        </p:nvSpPr>
        <p:spPr>
          <a:xfrm>
            <a:off x="5669280" y="1188720"/>
            <a:ext cx="91368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FFFFFF"/>
                </a:solidFill>
                <a:effectLst/>
                <a:uFillTx/>
                <a:latin typeface="Calibri"/>
              </a:rPr>
              <a:t>Leader</a:t>
            </a:r>
            <a:endParaRPr lang="en-IN" sz="900" b="0" u="none" strike="noStrike">
              <a:solidFill>
                <a:srgbClr val="000000"/>
              </a:solidFill>
              <a:effectLst/>
              <a:uFillTx/>
              <a:latin typeface="Arial"/>
            </a:endParaRPr>
          </a:p>
        </p:txBody>
      </p:sp>
      <p:sp>
        <p:nvSpPr>
          <p:cNvPr id="193" name="Shape 4"/>
          <p:cNvSpPr/>
          <p:nvPr/>
        </p:nvSpPr>
        <p:spPr>
          <a:xfrm>
            <a:off x="6858000" y="1188720"/>
            <a:ext cx="913680" cy="365040"/>
          </a:xfrm>
          <a:prstGeom prst="rect">
            <a:avLst/>
          </a:prstGeom>
          <a:solidFill>
            <a:srgbClr val="D6E0F0"/>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194" name="Text 5"/>
          <p:cNvSpPr/>
          <p:nvPr/>
        </p:nvSpPr>
        <p:spPr>
          <a:xfrm>
            <a:off x="6858000" y="1188720"/>
            <a:ext cx="91368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2F5597"/>
                </a:solidFill>
                <a:effectLst/>
                <a:uFillTx/>
                <a:latin typeface="Calibri"/>
              </a:rPr>
              <a:t>Follower</a:t>
            </a:r>
            <a:endParaRPr lang="en-IN" sz="900" b="0" u="none" strike="noStrike">
              <a:solidFill>
                <a:srgbClr val="000000"/>
              </a:solidFill>
              <a:effectLst/>
              <a:uFillTx/>
              <a:latin typeface="Arial"/>
            </a:endParaRPr>
          </a:p>
        </p:txBody>
      </p:sp>
      <p:sp>
        <p:nvSpPr>
          <p:cNvPr id="195" name="Shape 6"/>
          <p:cNvSpPr/>
          <p:nvPr/>
        </p:nvSpPr>
        <p:spPr>
          <a:xfrm>
            <a:off x="8046720" y="1188720"/>
            <a:ext cx="913680" cy="365040"/>
          </a:xfrm>
          <a:prstGeom prst="rect">
            <a:avLst/>
          </a:prstGeom>
          <a:solidFill>
            <a:srgbClr val="D6E0F0"/>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196" name="Text 7"/>
          <p:cNvSpPr/>
          <p:nvPr/>
        </p:nvSpPr>
        <p:spPr>
          <a:xfrm>
            <a:off x="8046720" y="1188720"/>
            <a:ext cx="91368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2F5597"/>
                </a:solidFill>
                <a:effectLst/>
                <a:uFillTx/>
                <a:latin typeface="Calibri"/>
              </a:rPr>
              <a:t>Follower</a:t>
            </a:r>
            <a:endParaRPr lang="en-IN" sz="900" b="0" u="none" strike="noStrike">
              <a:solidFill>
                <a:srgbClr val="000000"/>
              </a:solidFill>
              <a:effectLst/>
              <a:uFillTx/>
              <a:latin typeface="Arial"/>
            </a:endParaRPr>
          </a:p>
        </p:txBody>
      </p:sp>
      <p:sp>
        <p:nvSpPr>
          <p:cNvPr id="197" name="Text 8"/>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8"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Read the Diagram: Replicas Live on Different Brokers</a:t>
            </a:r>
            <a:endParaRPr lang="en-IN" sz="2200" b="0" u="none" strike="noStrike">
              <a:solidFill>
                <a:srgbClr val="000000"/>
              </a:solidFill>
              <a:effectLst/>
              <a:uFillTx/>
              <a:latin typeface="Arial"/>
            </a:endParaRPr>
          </a:p>
        </p:txBody>
      </p:sp>
      <p:sp>
        <p:nvSpPr>
          <p:cNvPr id="199" name="Text 1"/>
          <p:cNvSpPr/>
          <p:nvPr/>
        </p:nvSpPr>
        <p:spPr>
          <a:xfrm>
            <a:off x="457200" y="1097280"/>
            <a:ext cx="4754160" cy="2193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100" b="0" u="none" strike="noStrike">
                <a:solidFill>
                  <a:srgbClr val="385170"/>
                </a:solidFill>
                <a:effectLst/>
                <a:uFillTx/>
                <a:latin typeface="Calibri"/>
              </a:rPr>
              <a:t>A partition leader accepts client traffic; replicas on other brokers provide fault tolerance.</a:t>
            </a:r>
            <a:endParaRPr lang="en-IN" sz="1100" b="0" u="none" strike="noStrike">
              <a:solidFill>
                <a:srgbClr val="000000"/>
              </a:solidFill>
              <a:effectLst/>
              <a:uFillTx/>
              <a:latin typeface="Arial"/>
            </a:endParaRPr>
          </a:p>
          <a:p>
            <a:pPr defTabSz="914400">
              <a:lnSpc>
                <a:spcPct val="100000"/>
              </a:lnSpc>
              <a:tabLst>
                <a:tab pos="0" algn="l"/>
              </a:tabLst>
            </a:pP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Replication protects availability and durability; it does not add independent ordering lanes.</a:t>
            </a:r>
            <a:endParaRPr lang="en-IN" sz="1100" b="0" u="none" strike="noStrike">
              <a:solidFill>
                <a:srgbClr val="000000"/>
              </a:solidFill>
              <a:effectLst/>
              <a:uFillTx/>
              <a:latin typeface="Arial"/>
            </a:endParaRPr>
          </a:p>
        </p:txBody>
      </p:sp>
      <p:pic>
        <p:nvPicPr>
          <p:cNvPr id="200" name="Image 0"/>
          <p:cNvPicPr/>
          <p:nvPr/>
        </p:nvPicPr>
        <p:blipFill>
          <a:blip r:embed="rId3"/>
          <a:stretch/>
        </p:blipFill>
        <p:spPr>
          <a:xfrm>
            <a:off x="5486400" y="1097280"/>
            <a:ext cx="3199680" cy="2193840"/>
          </a:xfrm>
          <a:prstGeom prst="rect">
            <a:avLst/>
          </a:prstGeom>
          <a:noFill/>
          <a:ln w="0">
            <a:noFill/>
          </a:ln>
        </p:spPr>
      </p:pic>
      <p:sp>
        <p:nvSpPr>
          <p:cNvPr id="201" name="Text 2"/>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4"/>
              </a:rPr>
              <a:t>[1] Hodges, Medium, 1 Apr 2024; terms verified with Apache Kafka documentation</a:t>
            </a:r>
            <a:endParaRPr lang="en-IN" sz="7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2"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In‑Sync Replicas (ISR)</a:t>
            </a:r>
            <a:endParaRPr lang="en-IN" sz="2200" b="0" u="none" strike="noStrike">
              <a:solidFill>
                <a:srgbClr val="000000"/>
              </a:solidFill>
              <a:effectLst/>
              <a:uFillTx/>
              <a:latin typeface="Arial"/>
            </a:endParaRPr>
          </a:p>
        </p:txBody>
      </p:sp>
      <p:sp>
        <p:nvSpPr>
          <p:cNvPr id="203" name="Text 1"/>
          <p:cNvSpPr/>
          <p:nvPr/>
        </p:nvSpPr>
        <p:spPr>
          <a:xfrm>
            <a:off x="457200" y="1097280"/>
            <a:ext cx="4937040" cy="2010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0" u="none" strike="noStrike">
                <a:solidFill>
                  <a:srgbClr val="385170"/>
                </a:solidFill>
                <a:effectLst/>
                <a:uFillTx/>
                <a:latin typeface="Calibri"/>
              </a:rPr>
              <a:t>• Followers in the ISR have caught up to the leader’s high watermark within replica.lag.time.max.ms.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Only ISR members are eligible for leadership on failover.</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 min.insync.replicas defines how many replicas (including leader) must be in sync to acknowledge writes when acks=all.</a:t>
            </a:r>
            <a:endParaRPr lang="en-IN" sz="1100" b="0" u="none" strike="noStrike">
              <a:solidFill>
                <a:srgbClr val="000000"/>
              </a:solidFill>
              <a:effectLst/>
              <a:uFillTx/>
              <a:latin typeface="Arial"/>
            </a:endParaRPr>
          </a:p>
        </p:txBody>
      </p:sp>
      <p:graphicFrame>
        <p:nvGraphicFramePr>
          <p:cNvPr id="204" name="Chart 0"/>
          <p:cNvGraphicFramePr/>
          <p:nvPr/>
        </p:nvGraphicFramePr>
        <p:xfrm>
          <a:off x="5669280" y="1097280"/>
          <a:ext cx="3199680" cy="2102400"/>
        </p:xfrm>
        <a:graphic>
          <a:graphicData uri="http://schemas.openxmlformats.org/drawingml/2006/chart">
            <c:chart xmlns:c="http://schemas.openxmlformats.org/drawingml/2006/chart" xmlns:r="http://schemas.openxmlformats.org/officeDocument/2006/relationships" r:id="rId3"/>
          </a:graphicData>
        </a:graphic>
      </p:graphicFrame>
      <p:sp>
        <p:nvSpPr>
          <p:cNvPr id="205" name="Text 2"/>
          <p:cNvSpPr/>
          <p:nvPr/>
        </p:nvSpPr>
        <p:spPr>
          <a:xfrm>
            <a:off x="5669280" y="3246120"/>
            <a:ext cx="31996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385170"/>
                </a:solidFill>
                <a:effectLst/>
                <a:uFillTx/>
                <a:latin typeface="Calibri"/>
              </a:rPr>
              <a:t>Failures Tolerated</a:t>
            </a:r>
            <a:endParaRPr lang="en-IN" sz="900" b="0" u="none" strike="noStrike">
              <a:solidFill>
                <a:srgbClr val="000000"/>
              </a:solidFill>
              <a:effectLst/>
              <a:uFillTx/>
              <a:latin typeface="Arial"/>
            </a:endParaRPr>
          </a:p>
        </p:txBody>
      </p:sp>
      <p:sp>
        <p:nvSpPr>
          <p:cNvPr id="206" name="Text 3"/>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4"/>
              </a:rPr>
              <a:t>[1]</a:t>
            </a:r>
            <a:endParaRPr lang="en-IN" sz="7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7"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Automatic Failover &amp; KRaft</a:t>
            </a:r>
            <a:endParaRPr lang="en-IN" sz="2200" b="0" u="none" strike="noStrike">
              <a:solidFill>
                <a:srgbClr val="000000"/>
              </a:solidFill>
              <a:effectLst/>
              <a:uFillTx/>
              <a:latin typeface="Arial"/>
            </a:endParaRPr>
          </a:p>
        </p:txBody>
      </p:sp>
      <p:sp>
        <p:nvSpPr>
          <p:cNvPr id="208" name="Text 1"/>
          <p:cNvSpPr/>
          <p:nvPr/>
        </p:nvSpPr>
        <p:spPr>
          <a:xfrm>
            <a:off x="457200" y="1097280"/>
            <a:ext cx="5211360" cy="2193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0" u="none" strike="noStrike">
                <a:solidFill>
                  <a:srgbClr val="385170"/>
                </a:solidFill>
                <a:effectLst/>
                <a:uFillTx/>
                <a:latin typeface="Calibri"/>
              </a:rPr>
              <a:t>• The controller quorum detects leader failure and elects a new leader from ISR within seconds.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KRaft (Kafka Raft) removes ZooKeeper. Controllers use the Raft consensus protocol to manage metadata.</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Faster leader elections and unified storage of metadata reduce failover times.</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 Configure dedicated controller nodes and distribute them across availability zones for resilience.</a:t>
            </a:r>
            <a:endParaRPr lang="en-IN" sz="1100" b="0" u="none" strike="noStrike">
              <a:solidFill>
                <a:srgbClr val="000000"/>
              </a:solidFill>
              <a:effectLst/>
              <a:uFillTx/>
              <a:latin typeface="Arial"/>
            </a:endParaRPr>
          </a:p>
        </p:txBody>
      </p:sp>
      <p:sp>
        <p:nvSpPr>
          <p:cNvPr id="209" name="Text 7"/>
          <p:cNvSpPr/>
          <p:nvPr/>
        </p:nvSpPr>
        <p:spPr>
          <a:xfrm>
            <a:off x="5943600" y="2103120"/>
            <a:ext cx="73080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2F5597"/>
                </a:solidFill>
                <a:effectLst/>
                <a:uFillTx/>
                <a:latin typeface="Calibri"/>
              </a:rPr>
              <a:t> </a:t>
            </a:r>
            <a:endParaRPr lang="en-IN" sz="800" b="0" u="none" strike="noStrike">
              <a:solidFill>
                <a:srgbClr val="000000"/>
              </a:solidFill>
              <a:effectLst/>
              <a:uFillTx/>
              <a:latin typeface="Arial"/>
            </a:endParaRPr>
          </a:p>
        </p:txBody>
      </p:sp>
      <p:sp>
        <p:nvSpPr>
          <p:cNvPr id="210" name="Text 11"/>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pic>
        <p:nvPicPr>
          <p:cNvPr id="211" name="Picture 156"/>
          <p:cNvPicPr/>
          <p:nvPr/>
        </p:nvPicPr>
        <p:blipFill>
          <a:blip r:embed="rId4"/>
          <a:srcRect l="11179" r="12692"/>
          <a:stretch/>
        </p:blipFill>
        <p:spPr>
          <a:xfrm>
            <a:off x="5580000" y="585720"/>
            <a:ext cx="3239280" cy="2473920"/>
          </a:xfrm>
          <a:prstGeom prst="rect">
            <a:avLst/>
          </a:prstGeom>
          <a:noFill/>
          <a:ln w="0">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KRaft Controller Quorum: Metadata Has Its Own Log</a:t>
            </a:r>
            <a:endParaRPr lang="en-IN" sz="2200" b="0" u="none" strike="noStrike">
              <a:solidFill>
                <a:srgbClr val="000000"/>
              </a:solidFill>
              <a:effectLst/>
              <a:uFillTx/>
              <a:latin typeface="Arial"/>
            </a:endParaRPr>
          </a:p>
        </p:txBody>
      </p:sp>
      <p:sp>
        <p:nvSpPr>
          <p:cNvPr id="213"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214" name="Picture 3" descr="kraft_isolated_mode.png"/>
          <p:cNvPicPr/>
          <p:nvPr/>
        </p:nvPicPr>
        <p:blipFill>
          <a:blip r:embed="rId2"/>
          <a:stretch/>
        </p:blipFill>
        <p:spPr>
          <a:xfrm>
            <a:off x="640080" y="960120"/>
            <a:ext cx="4251600" cy="3062880"/>
          </a:xfrm>
          <a:prstGeom prst="rect">
            <a:avLst/>
          </a:prstGeom>
          <a:noFill/>
          <a:ln w="0">
            <a:noFill/>
          </a:ln>
        </p:spPr>
      </p:pic>
      <p:sp>
        <p:nvSpPr>
          <p:cNvPr id="215" name="TextBox 4"/>
          <p:cNvSpPr/>
          <p:nvPr/>
        </p:nvSpPr>
        <p:spPr>
          <a:xfrm>
            <a:off x="5212080" y="1051560"/>
            <a:ext cx="3108600" cy="297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KRaft removes ZooKeeper by storing metadata in a Raft quorum.</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Controllers manage broker registration, topic metadata and leader election.</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The lab runs combined broker/controller nodes for local simplicity.</a:t>
            </a:r>
            <a:endParaRPr lang="en-IN" sz="1350" b="0" u="none" strike="noStrike">
              <a:solidFill>
                <a:srgbClr val="000000"/>
              </a:solidFill>
              <a:effectLst/>
              <a:uFillTx/>
              <a:latin typeface="Arial"/>
            </a:endParaRPr>
          </a:p>
        </p:txBody>
      </p:sp>
      <p:sp>
        <p:nvSpPr>
          <p:cNvPr id="216" name="TextBox 5"/>
          <p:cNvSpPr/>
          <p:nvPr/>
        </p:nvSpPr>
        <p:spPr>
          <a:xfrm>
            <a:off x="658440" y="4224600"/>
            <a:ext cx="7406280" cy="21924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850" b="0" u="none" strike="noStrike">
                <a:solidFill>
                  <a:srgbClr val="585858"/>
                </a:solidFill>
                <a:effectLst/>
                <a:uFillTx/>
                <a:latin typeface="Calibri"/>
              </a:rPr>
              <a:t>Source: Confluent KRaft overview.</a:t>
            </a:r>
            <a:endParaRPr lang="en-IN" sz="850" b="0" u="none" strike="noStrike">
              <a:solidFill>
                <a:srgbClr val="000000"/>
              </a:solidFill>
              <a:effectLst/>
              <a:uFillTx/>
              <a:latin typeface="Arial"/>
            </a:endParaRPr>
          </a:p>
        </p:txBody>
      </p:sp>
      <p:sp>
        <p:nvSpPr>
          <p:cNvPr id="217" name="TextBox 6"/>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[31]</a:t>
            </a:r>
            <a:endParaRPr lang="en-IN" sz="800" b="0" u="none" strike="noStrike">
              <a:solidFill>
                <a:srgbClr val="000000"/>
              </a:solidFill>
              <a:effectLst/>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8"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Configuration Best Practices</a:t>
            </a:r>
            <a:endParaRPr lang="en-IN" sz="2200" b="0" u="none" strike="noStrike">
              <a:solidFill>
                <a:srgbClr val="000000"/>
              </a:solidFill>
              <a:effectLst/>
              <a:uFillTx/>
              <a:latin typeface="Arial"/>
            </a:endParaRPr>
          </a:p>
        </p:txBody>
      </p:sp>
      <p:sp>
        <p:nvSpPr>
          <p:cNvPr id="219" name="Text 1"/>
          <p:cNvSpPr/>
          <p:nvPr/>
        </p:nvSpPr>
        <p:spPr>
          <a:xfrm>
            <a:off x="457200" y="1097280"/>
            <a:ext cx="8686080" cy="2742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1" u="none" strike="noStrike">
                <a:solidFill>
                  <a:srgbClr val="2F5597"/>
                </a:solidFill>
                <a:effectLst/>
                <a:uFillTx/>
                <a:latin typeface="Calibri"/>
              </a:rPr>
              <a:t>Replication Factor</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Use RF≥3 in production to tolerate at least one broker failure.</a:t>
            </a:r>
            <a:endParaRPr lang="en-IN" sz="1100" b="0" u="none" strike="noStrike">
              <a:solidFill>
                <a:srgbClr val="000000"/>
              </a:solidFill>
              <a:effectLst/>
              <a:uFillTx/>
              <a:latin typeface="Arial"/>
            </a:endParaRPr>
          </a:p>
          <a:p>
            <a:pPr defTabSz="914400">
              <a:lnSpc>
                <a:spcPct val="100000"/>
              </a:lnSpc>
            </a:pPr>
            <a:endParaRPr lang="en-IN" sz="1100" b="0" u="none" strike="noStrike">
              <a:solidFill>
                <a:srgbClr val="000000"/>
              </a:solidFill>
              <a:effectLst/>
              <a:uFillTx/>
              <a:latin typeface="Arial"/>
            </a:endParaRPr>
          </a:p>
          <a:p>
            <a:pPr defTabSz="914400">
              <a:lnSpc>
                <a:spcPct val="100000"/>
              </a:lnSpc>
            </a:pPr>
            <a:r>
              <a:rPr lang="en-US" sz="1200" b="1" u="none" strike="noStrike">
                <a:solidFill>
                  <a:srgbClr val="2F5597"/>
                </a:solidFill>
                <a:effectLst/>
                <a:uFillTx/>
                <a:latin typeface="Calibri"/>
              </a:rPr>
              <a:t>min.insync.replicas</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Set to RF−1 (e.g., 2 for RF=3) so writes are acknowledged by multiple replicas.</a:t>
            </a:r>
            <a:endParaRPr lang="en-IN" sz="1100" b="0" u="none" strike="noStrike">
              <a:solidFill>
                <a:srgbClr val="000000"/>
              </a:solidFill>
              <a:effectLst/>
              <a:uFillTx/>
              <a:latin typeface="Arial"/>
            </a:endParaRPr>
          </a:p>
          <a:p>
            <a:pPr defTabSz="914400">
              <a:lnSpc>
                <a:spcPct val="100000"/>
              </a:lnSpc>
            </a:pPr>
            <a:endParaRPr lang="en-IN" sz="1100" b="0" u="none" strike="noStrike">
              <a:solidFill>
                <a:srgbClr val="000000"/>
              </a:solidFill>
              <a:effectLst/>
              <a:uFillTx/>
              <a:latin typeface="Arial"/>
            </a:endParaRPr>
          </a:p>
          <a:p>
            <a:pPr defTabSz="914400">
              <a:lnSpc>
                <a:spcPct val="100000"/>
              </a:lnSpc>
            </a:pPr>
            <a:r>
              <a:rPr lang="en-US" sz="1200" b="1" u="none" strike="noStrike">
                <a:solidFill>
                  <a:srgbClr val="2F5597"/>
                </a:solidFill>
                <a:effectLst/>
                <a:uFillTx/>
                <a:latin typeface="Calibri"/>
              </a:rPr>
              <a:t>Producer Settings</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Use acks=all for durability; enable.idempotence=true to avoid duplicates; set retries to Integer.MAX_VALUE.</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 Limit max.in.flight.requests.per.connection to 5 or fewer when idempotence is enabled.</a:t>
            </a:r>
            <a:endParaRPr lang="en-IN" sz="1100" b="0" u="none" strike="noStrike">
              <a:solidFill>
                <a:srgbClr val="000000"/>
              </a:solidFill>
              <a:effectLst/>
              <a:uFillTx/>
              <a:latin typeface="Arial"/>
            </a:endParaRPr>
          </a:p>
        </p:txBody>
      </p:sp>
      <p:sp>
        <p:nvSpPr>
          <p:cNvPr id="220" name="Text 2"/>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5"/>
              </a:rPr>
              <a:t>[3]</a:t>
            </a:r>
            <a:endParaRPr lang="en-IN" sz="700" b="0" u="none" strike="noStrike">
              <a:solidFill>
                <a:srgbClr val="000000"/>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1"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Rack Awareness &amp; Unclean Leader Election</a:t>
            </a:r>
            <a:endParaRPr lang="en-IN" sz="2200" b="0" u="none" strike="noStrike">
              <a:solidFill>
                <a:srgbClr val="000000"/>
              </a:solidFill>
              <a:effectLst/>
              <a:uFillTx/>
              <a:latin typeface="Arial"/>
            </a:endParaRPr>
          </a:p>
        </p:txBody>
      </p:sp>
      <p:sp>
        <p:nvSpPr>
          <p:cNvPr id="222" name="Text 1"/>
          <p:cNvSpPr/>
          <p:nvPr/>
        </p:nvSpPr>
        <p:spPr>
          <a:xfrm>
            <a:off x="457200" y="1097280"/>
            <a:ext cx="5028480" cy="2285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1" u="none" strike="noStrike">
                <a:solidFill>
                  <a:srgbClr val="2F5597"/>
                </a:solidFill>
                <a:effectLst/>
                <a:uFillTx/>
                <a:latin typeface="Calibri"/>
              </a:rPr>
              <a:t>Rack Awareness</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Assign replicas across different racks or availability zones using broker.rack property.</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Ensures that a zone failure doesn’t take down all replicas for a partition.</a:t>
            </a:r>
            <a:endParaRPr lang="en-IN" sz="1100" b="0" u="none" strike="noStrike">
              <a:solidFill>
                <a:srgbClr val="000000"/>
              </a:solidFill>
              <a:effectLst/>
              <a:uFillTx/>
              <a:latin typeface="Arial"/>
            </a:endParaRPr>
          </a:p>
          <a:p>
            <a:pPr defTabSz="914400">
              <a:lnSpc>
                <a:spcPct val="100000"/>
              </a:lnSpc>
            </a:pPr>
            <a:endParaRPr lang="en-IN" sz="1100" b="0" u="none" strike="noStrike">
              <a:solidFill>
                <a:srgbClr val="000000"/>
              </a:solidFill>
              <a:effectLst/>
              <a:uFillTx/>
              <a:latin typeface="Arial"/>
            </a:endParaRPr>
          </a:p>
          <a:p>
            <a:pPr defTabSz="914400">
              <a:lnSpc>
                <a:spcPct val="100000"/>
              </a:lnSpc>
            </a:pPr>
            <a:r>
              <a:rPr lang="en-US" sz="1200" b="1" u="none" strike="noStrike">
                <a:solidFill>
                  <a:srgbClr val="2F5597"/>
                </a:solidFill>
                <a:effectLst/>
                <a:uFillTx/>
                <a:latin typeface="Calibri"/>
              </a:rPr>
              <a:t>Unclean Leader Election</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If all ISR replicas fail, unclean leader election determines whether a non‑ISR replica can become leader.</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Setting unclean.leader.election.enable=false favours consistency (no data loss) over availability.</a:t>
            </a:r>
            <a:endParaRPr lang="en-IN" sz="1100" b="0" u="none" strike="noStrike">
              <a:solidFill>
                <a:srgbClr val="000000"/>
              </a:solidFill>
              <a:effectLst/>
              <a:uFillTx/>
              <a:latin typeface="Arial"/>
            </a:endParaRPr>
          </a:p>
          <a:p>
            <a:pPr defTabSz="914400">
              <a:lnSpc>
                <a:spcPct val="100000"/>
              </a:lnSpc>
              <a:tabLst>
                <a:tab pos="0" algn="l"/>
              </a:tabLst>
            </a:pPr>
            <a:endParaRPr lang="en-IN" sz="1100" b="0" u="none" strike="noStrike">
              <a:solidFill>
                <a:srgbClr val="000000"/>
              </a:solidFill>
              <a:effectLst/>
              <a:uFillTx/>
              <a:latin typeface="Arial"/>
            </a:endParaRPr>
          </a:p>
        </p:txBody>
      </p:sp>
      <p:sp>
        <p:nvSpPr>
          <p:cNvPr id="223" name="Shape 2"/>
          <p:cNvSpPr/>
          <p:nvPr/>
        </p:nvSpPr>
        <p:spPr>
          <a:xfrm>
            <a:off x="5943600" y="1280160"/>
            <a:ext cx="730800" cy="456480"/>
          </a:xfrm>
          <a:prstGeom prst="rect">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224" name="Text 3"/>
          <p:cNvSpPr/>
          <p:nvPr/>
        </p:nvSpPr>
        <p:spPr>
          <a:xfrm>
            <a:off x="5943600" y="1280160"/>
            <a:ext cx="73080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FFFFFF"/>
                </a:solidFill>
                <a:effectLst/>
                <a:uFillTx/>
                <a:latin typeface="Calibri"/>
              </a:rPr>
              <a:t>Broker 1</a:t>
            </a:r>
            <a:endParaRPr lang="en-IN" sz="800" b="0" u="none" strike="noStrike">
              <a:solidFill>
                <a:srgbClr val="000000"/>
              </a:solidFill>
              <a:effectLst/>
              <a:uFillTx/>
              <a:latin typeface="Arial"/>
            </a:endParaRPr>
          </a:p>
        </p:txBody>
      </p:sp>
      <p:sp>
        <p:nvSpPr>
          <p:cNvPr id="225" name="Shape 4"/>
          <p:cNvSpPr/>
          <p:nvPr/>
        </p:nvSpPr>
        <p:spPr>
          <a:xfrm>
            <a:off x="6858000" y="1280160"/>
            <a:ext cx="730800" cy="456480"/>
          </a:xfrm>
          <a:prstGeom prst="rect">
            <a:avLst/>
          </a:prstGeom>
          <a:solidFill>
            <a:srgbClr val="D6E0F0"/>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226" name="Text 5"/>
          <p:cNvSpPr/>
          <p:nvPr/>
        </p:nvSpPr>
        <p:spPr>
          <a:xfrm>
            <a:off x="6858000" y="1280160"/>
            <a:ext cx="73080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2F5597"/>
                </a:solidFill>
                <a:effectLst/>
                <a:uFillTx/>
                <a:latin typeface="Calibri"/>
              </a:rPr>
              <a:t>Broker 2</a:t>
            </a:r>
            <a:endParaRPr lang="en-IN" sz="800" b="0" u="none" strike="noStrike">
              <a:solidFill>
                <a:srgbClr val="000000"/>
              </a:solidFill>
              <a:effectLst/>
              <a:uFillTx/>
              <a:latin typeface="Arial"/>
            </a:endParaRPr>
          </a:p>
        </p:txBody>
      </p:sp>
      <p:sp>
        <p:nvSpPr>
          <p:cNvPr id="227" name="Shape 6"/>
          <p:cNvSpPr/>
          <p:nvPr/>
        </p:nvSpPr>
        <p:spPr>
          <a:xfrm>
            <a:off x="7772400" y="1280160"/>
            <a:ext cx="730800" cy="456480"/>
          </a:xfrm>
          <a:prstGeom prst="rect">
            <a:avLst/>
          </a:prstGeom>
          <a:solidFill>
            <a:srgbClr val="D6E0F0"/>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228" name="Text 7"/>
          <p:cNvSpPr/>
          <p:nvPr/>
        </p:nvSpPr>
        <p:spPr>
          <a:xfrm>
            <a:off x="7772400" y="1280160"/>
            <a:ext cx="73080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2F5597"/>
                </a:solidFill>
                <a:effectLst/>
                <a:uFillTx/>
                <a:latin typeface="Calibri"/>
              </a:rPr>
              <a:t>Broker 3</a:t>
            </a:r>
            <a:endParaRPr lang="en-IN" sz="800" b="0" u="none" strike="noStrike">
              <a:solidFill>
                <a:srgbClr val="000000"/>
              </a:solidFill>
              <a:effectLst/>
              <a:uFillTx/>
              <a:latin typeface="Arial"/>
            </a:endParaRPr>
          </a:p>
        </p:txBody>
      </p:sp>
      <p:sp>
        <p:nvSpPr>
          <p:cNvPr id="229" name="Text 8"/>
          <p:cNvSpPr/>
          <p:nvPr/>
        </p:nvSpPr>
        <p:spPr>
          <a:xfrm>
            <a:off x="5943600" y="1783080"/>
            <a:ext cx="27424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385170"/>
                </a:solidFill>
                <a:effectLst/>
                <a:uFillTx/>
                <a:latin typeface="Calibri"/>
              </a:rPr>
              <a:t>AZ1  AZ2  AZ3</a:t>
            </a:r>
            <a:endParaRPr lang="en-IN" sz="800" b="0" u="none" strike="noStrike">
              <a:solidFill>
                <a:srgbClr val="000000"/>
              </a:solidFill>
              <a:effectLst/>
              <a:uFillTx/>
              <a:latin typeface="Arial"/>
            </a:endParaRPr>
          </a:p>
        </p:txBody>
      </p:sp>
      <p:sp>
        <p:nvSpPr>
          <p:cNvPr id="230" name="Text 9"/>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endParaRPr lang="en-IN" sz="700" b="0" u="none" strike="noStrike">
              <a:solidFill>
                <a:srgbClr val="000000"/>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9FBFD"/>
        </a:solidFill>
        <a:effectLst/>
      </p:bgPr>
    </p:bg>
    <p:spTree>
      <p:nvGrpSpPr>
        <p:cNvPr id="1" name=""/>
        <p:cNvGrpSpPr/>
        <p:nvPr/>
      </p:nvGrpSpPr>
      <p:grpSpPr>
        <a:xfrm>
          <a:off x="0" y="0"/>
          <a:ext cx="0" cy="0"/>
          <a:chOff x="0" y="0"/>
          <a:chExt cx="0" cy="0"/>
        </a:xfrm>
      </p:grpSpPr>
      <p:sp>
        <p:nvSpPr>
          <p:cNvPr id="231" name="Text 0"/>
          <p:cNvSpPr/>
          <p:nvPr/>
        </p:nvSpPr>
        <p:spPr>
          <a:xfrm>
            <a:off x="457200" y="274320"/>
            <a:ext cx="86860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Mini Exercise: Replication &amp; High Availability</a:t>
            </a:r>
            <a:endParaRPr lang="en-IN" sz="2200" b="0" u="none" strike="noStrike">
              <a:solidFill>
                <a:srgbClr val="000000"/>
              </a:solidFill>
              <a:effectLst/>
              <a:uFillTx/>
              <a:latin typeface="Arial"/>
            </a:endParaRPr>
          </a:p>
        </p:txBody>
      </p:sp>
      <p:sp>
        <p:nvSpPr>
          <p:cNvPr id="232" name="Text 1"/>
          <p:cNvSpPr/>
          <p:nvPr/>
        </p:nvSpPr>
        <p:spPr>
          <a:xfrm>
            <a:off x="457200" y="822960"/>
            <a:ext cx="4937040" cy="2742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1" u="none" strike="noStrike">
                <a:solidFill>
                  <a:srgbClr val="2F5597"/>
                </a:solidFill>
                <a:effectLst/>
                <a:uFillTx/>
                <a:latin typeface="Calibri"/>
              </a:rPr>
              <a:t>Exercise:</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1. Create a topic with replication factor 3 and partitions 3.</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2. Produce messages with acks=all and observe behaviour when a broker is stopped.</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3. Try setting min.insync.replicas=1 and compare.</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4. Test unclean leader election by toggling unclean.leader.election.enable.</a:t>
            </a:r>
            <a:endParaRPr lang="en-IN" sz="1100" b="0" u="none" strike="noStrike">
              <a:solidFill>
                <a:srgbClr val="000000"/>
              </a:solidFill>
              <a:effectLst/>
              <a:uFillTx/>
              <a:latin typeface="Arial"/>
            </a:endParaRPr>
          </a:p>
        </p:txBody>
      </p:sp>
      <p:sp>
        <p:nvSpPr>
          <p:cNvPr id="233" name="Text 2"/>
          <p:cNvSpPr/>
          <p:nvPr/>
        </p:nvSpPr>
        <p:spPr>
          <a:xfrm>
            <a:off x="5669280" y="822960"/>
            <a:ext cx="31996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400" b="1" u="none" strike="noStrike">
                <a:solidFill>
                  <a:srgbClr val="2F5597"/>
                </a:solidFill>
                <a:effectLst/>
                <a:uFillTx/>
                <a:latin typeface="Calibri"/>
              </a:rPr>
              <a:t>Quick Quiz:</a:t>
            </a:r>
            <a:endParaRPr lang="en-IN" sz="1400" b="0" u="none" strike="noStrike">
              <a:solidFill>
                <a:srgbClr val="000000"/>
              </a:solidFill>
              <a:effectLst/>
              <a:uFillTx/>
              <a:latin typeface="Arial"/>
            </a:endParaRPr>
          </a:p>
        </p:txBody>
      </p:sp>
      <p:sp>
        <p:nvSpPr>
          <p:cNvPr id="234" name="Text 3"/>
          <p:cNvSpPr/>
          <p:nvPr/>
        </p:nvSpPr>
        <p:spPr>
          <a:xfrm>
            <a:off x="5669280" y="1097280"/>
            <a:ext cx="3199680" cy="2742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1" u="none" strike="noStrike">
                <a:solidFill>
                  <a:srgbClr val="2F5597"/>
                </a:solidFill>
                <a:effectLst/>
                <a:uFillTx/>
                <a:latin typeface="Calibri"/>
              </a:rPr>
              <a:t>Q5. With RF=3 and min.insync.replicas=2, how many broker failures can you tolerate without losing write availability?</a:t>
            </a:r>
            <a:endParaRPr lang="en-IN" sz="1100" b="0" u="none" strike="noStrike">
              <a:solidFill>
                <a:srgbClr val="000000"/>
              </a:solidFill>
              <a:effectLst/>
              <a:uFillTx/>
              <a:latin typeface="Arial"/>
            </a:endParaRPr>
          </a:p>
          <a:p>
            <a:pPr defTabSz="914400">
              <a:lnSpc>
                <a:spcPct val="100000"/>
              </a:lnSpc>
            </a:pPr>
            <a:r>
              <a:rPr lang="en-US" sz="1000" b="0" u="none" strike="noStrike">
                <a:solidFill>
                  <a:srgbClr val="385170"/>
                </a:solidFill>
                <a:effectLst/>
                <a:uFillTx/>
                <a:latin typeface="Calibri"/>
              </a:rPr>
              <a:t>a) 0</a:t>
            </a:r>
            <a:endParaRPr lang="en-IN" sz="1000" b="0" u="none" strike="noStrike">
              <a:solidFill>
                <a:srgbClr val="000000"/>
              </a:solidFill>
              <a:effectLst/>
              <a:uFillTx/>
              <a:latin typeface="Arial"/>
            </a:endParaRPr>
          </a:p>
          <a:p>
            <a:pPr defTabSz="914400">
              <a:lnSpc>
                <a:spcPct val="100000"/>
              </a:lnSpc>
            </a:pPr>
            <a:r>
              <a:rPr lang="en-US" sz="1000" b="0" u="none" strike="noStrike">
                <a:solidFill>
                  <a:srgbClr val="385170"/>
                </a:solidFill>
                <a:effectLst/>
                <a:uFillTx/>
                <a:latin typeface="Calibri"/>
              </a:rPr>
              <a:t>b) 1</a:t>
            </a:r>
            <a:endParaRPr lang="en-IN" sz="1000" b="0" u="none" strike="noStrike">
              <a:solidFill>
                <a:srgbClr val="000000"/>
              </a:solidFill>
              <a:effectLst/>
              <a:uFillTx/>
              <a:latin typeface="Arial"/>
            </a:endParaRPr>
          </a:p>
          <a:p>
            <a:pPr defTabSz="914400">
              <a:lnSpc>
                <a:spcPct val="100000"/>
              </a:lnSpc>
            </a:pPr>
            <a:r>
              <a:rPr lang="en-US" sz="1000" b="0" u="none" strike="noStrike">
                <a:solidFill>
                  <a:srgbClr val="385170"/>
                </a:solidFill>
                <a:effectLst/>
                <a:uFillTx/>
                <a:latin typeface="Calibri"/>
              </a:rPr>
              <a:t>c) 2</a:t>
            </a:r>
            <a:endParaRPr lang="en-IN" sz="1000" b="0" u="none" strike="noStrike">
              <a:solidFill>
                <a:srgbClr val="000000"/>
              </a:solidFill>
              <a:effectLst/>
              <a:uFillTx/>
              <a:latin typeface="Arial"/>
            </a:endParaRPr>
          </a:p>
          <a:p>
            <a:pPr defTabSz="914400">
              <a:lnSpc>
                <a:spcPct val="100000"/>
              </a:lnSpc>
            </a:pPr>
            <a:r>
              <a:rPr lang="en-US" sz="1000" b="0" u="none" strike="noStrike">
                <a:solidFill>
                  <a:srgbClr val="385170"/>
                </a:solidFill>
                <a:effectLst/>
                <a:uFillTx/>
                <a:latin typeface="Calibri"/>
              </a:rPr>
              <a:t>d) 3</a:t>
            </a:r>
            <a:endParaRPr lang="en-IN" sz="1000" b="0" u="none" strike="noStrike">
              <a:solidFill>
                <a:srgbClr val="000000"/>
              </a:solidFill>
              <a:effectLst/>
              <a:uFillTx/>
              <a:latin typeface="Arial"/>
            </a:endParaRPr>
          </a:p>
          <a:p>
            <a:pPr defTabSz="914400">
              <a:lnSpc>
                <a:spcPct val="100000"/>
              </a:lnSpc>
            </a:pPr>
            <a:endParaRPr lang="en-IN" sz="1000" b="0" u="none" strike="noStrike">
              <a:solidFill>
                <a:srgbClr val="000000"/>
              </a:solidFill>
              <a:effectLst/>
              <a:uFillTx/>
              <a:latin typeface="Arial"/>
            </a:endParaRPr>
          </a:p>
          <a:p>
            <a:pPr defTabSz="914400">
              <a:lnSpc>
                <a:spcPct val="100000"/>
              </a:lnSpc>
            </a:pPr>
            <a:r>
              <a:rPr lang="en-US" sz="1100" b="1" u="none" strike="noStrike">
                <a:solidFill>
                  <a:srgbClr val="2F5597"/>
                </a:solidFill>
                <a:effectLst/>
                <a:uFillTx/>
                <a:latin typeface="Calibri"/>
              </a:rPr>
              <a:t>Q6. What is the effect of setting unclean.leader.election.enable=true?</a:t>
            </a:r>
            <a:endParaRPr lang="en-IN" sz="11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a) Better consistency; leaders elected only from ISR</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b) Faster failover; non‑ISR replicas can become leader risking data loss</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c) Slower failover</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d) No effect</a:t>
            </a:r>
            <a:endParaRPr lang="en-IN" sz="1000" b="0" u="none" strike="noStrike">
              <a:solidFill>
                <a:srgbClr val="000000"/>
              </a:solidFill>
              <a:effectLst/>
              <a:uFillTx/>
              <a:latin typeface="Arial"/>
            </a:endParaRPr>
          </a:p>
        </p:txBody>
      </p:sp>
      <p:sp>
        <p:nvSpPr>
          <p:cNvPr id="235" name="Text 4"/>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endParaRPr lang="en-IN" sz="7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Solution: Replication and High Availability</a:t>
            </a:r>
            <a:endParaRPr lang="en-IN" sz="2200" b="0" u="none" strike="noStrike">
              <a:solidFill>
                <a:srgbClr val="000000"/>
              </a:solidFill>
              <a:effectLst/>
              <a:uFillTx/>
              <a:latin typeface="Arial"/>
            </a:endParaRPr>
          </a:p>
        </p:txBody>
      </p:sp>
      <p:sp>
        <p:nvSpPr>
          <p:cNvPr id="237"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38" name="TextBox 3"/>
          <p:cNvSpPr/>
          <p:nvPr/>
        </p:nvSpPr>
        <p:spPr>
          <a:xfrm>
            <a:off x="438840" y="786240"/>
            <a:ext cx="7497720" cy="25560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endParaRPr lang="en-IN" sz="1800" b="0" u="none" strike="noStrike">
              <a:solidFill>
                <a:srgbClr val="000000"/>
              </a:solidFill>
              <a:effectLst/>
              <a:uFillTx/>
              <a:latin typeface="Arial"/>
            </a:endParaRPr>
          </a:p>
        </p:txBody>
      </p:sp>
      <p:sp>
        <p:nvSpPr>
          <p:cNvPr id="239" name="TextBox 4"/>
          <p:cNvSpPr/>
          <p:nvPr/>
        </p:nvSpPr>
        <p:spPr>
          <a:xfrm>
            <a:off x="640080" y="1234440"/>
            <a:ext cx="7406280" cy="181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With RF=3 and min.insync.replicas=2, Kafka can usually tolerate one broker failure for acks=all writes.</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The leader handles client traffic; followers replicate from the leader.</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Only in-sync replicas are safe candidates for clean leadership.</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KRaft manages metadata and leader election without ZooKeeper.</a:t>
            </a:r>
            <a:endParaRPr lang="en-IN" sz="1500" b="0" u="none" strike="noStrike">
              <a:solidFill>
                <a:srgbClr val="000000"/>
              </a:solidFill>
              <a:effectLst/>
              <a:uFillTx/>
              <a:latin typeface="Arial"/>
            </a:endParaRPr>
          </a:p>
          <a:p>
            <a:pPr defTabSz="914400">
              <a:lnSpc>
                <a:spcPct val="100000"/>
              </a:lnSpc>
              <a:spcAft>
                <a:spcPts val="601"/>
              </a:spcAft>
            </a:pPr>
            <a:endParaRPr lang="en-IN" sz="1800" b="0" u="none" strike="noStrike">
              <a:solidFill>
                <a:srgbClr val="000000"/>
              </a:solidFill>
              <a:effectLst/>
              <a:uFillTx/>
              <a:latin typeface="Arial"/>
            </a:endParaRPr>
          </a:p>
        </p:txBody>
      </p:sp>
      <p:sp>
        <p:nvSpPr>
          <p:cNvPr id="240" name="TextBox 5"/>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[35]</a:t>
            </a:r>
            <a:endParaRPr lang="en-IN" sz="8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Day 3 Replication Lab: What the Commands Prove</a:t>
            </a:r>
            <a:endParaRPr lang="en-IN" sz="2200" b="0" u="none" strike="noStrike">
              <a:solidFill>
                <a:srgbClr val="000000"/>
              </a:solidFill>
              <a:effectLst/>
              <a:uFillTx/>
              <a:latin typeface="Arial"/>
            </a:endParaRPr>
          </a:p>
        </p:txBody>
      </p:sp>
      <p:sp>
        <p:nvSpPr>
          <p:cNvPr id="242"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3" name="TextBox 3"/>
          <p:cNvSpPr/>
          <p:nvPr/>
        </p:nvSpPr>
        <p:spPr>
          <a:xfrm>
            <a:off x="438840" y="786240"/>
            <a:ext cx="7497720" cy="25560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150" b="0" u="none" strike="noStrike">
                <a:solidFill>
                  <a:srgbClr val="585858"/>
                </a:solidFill>
                <a:effectLst/>
                <a:uFillTx/>
                <a:latin typeface="Calibri"/>
              </a:rPr>
              <a:t>The lab command sequence turns RF, ISR and acks=all into visible terminal evidence.</a:t>
            </a:r>
            <a:endParaRPr lang="en-IN" sz="1150" b="0" u="none" strike="noStrike">
              <a:solidFill>
                <a:srgbClr val="000000"/>
              </a:solidFill>
              <a:effectLst/>
              <a:uFillTx/>
              <a:latin typeface="Arial"/>
            </a:endParaRPr>
          </a:p>
        </p:txBody>
      </p:sp>
      <p:sp>
        <p:nvSpPr>
          <p:cNvPr id="244" name="Rounded Rectangle 4"/>
          <p:cNvSpPr/>
          <p:nvPr/>
        </p:nvSpPr>
        <p:spPr>
          <a:xfrm>
            <a:off x="502920" y="1600200"/>
            <a:ext cx="1234080" cy="52992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150" b="1" u="none" strike="noStrike">
                <a:solidFill>
                  <a:srgbClr val="365F91"/>
                </a:solidFill>
                <a:effectLst/>
                <a:uFillTx/>
                <a:latin typeface="Calibri"/>
              </a:rPr>
              <a:t>Create RF=3</a:t>
            </a:r>
            <a:endParaRPr lang="en-IN" sz="1150" b="0" u="none" strike="noStrike">
              <a:solidFill>
                <a:srgbClr val="000000"/>
              </a:solidFill>
              <a:effectLst/>
              <a:uFillTx/>
              <a:latin typeface="Arial"/>
            </a:endParaRPr>
          </a:p>
        </p:txBody>
      </p:sp>
      <p:sp>
        <p:nvSpPr>
          <p:cNvPr id="245" name="Right Arrow 5"/>
          <p:cNvSpPr/>
          <p:nvPr/>
        </p:nvSpPr>
        <p:spPr>
          <a:xfrm>
            <a:off x="1847160" y="1764720"/>
            <a:ext cx="328680" cy="200880"/>
          </a:xfrm>
          <a:prstGeom prst="rightArrow">
            <a:avLst>
              <a:gd name="adj1" fmla="val 50000"/>
              <a:gd name="adj2" fmla="val 50000"/>
            </a:avLst>
          </a:prstGeom>
          <a:solidFill>
            <a:srgbClr val="585858"/>
          </a:solidFill>
          <a:ln>
            <a:solidFill>
              <a:srgbClr val="585858"/>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6" name="Rounded Rectangle 6"/>
          <p:cNvSpPr/>
          <p:nvPr/>
        </p:nvSpPr>
        <p:spPr>
          <a:xfrm>
            <a:off x="2267640" y="1600200"/>
            <a:ext cx="1234080" cy="52992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150" b="1" u="none" strike="noStrike">
                <a:solidFill>
                  <a:srgbClr val="365F91"/>
                </a:solidFill>
                <a:effectLst/>
                <a:uFillTx/>
                <a:latin typeface="Calibri"/>
              </a:rPr>
              <a:t>Describe ISR</a:t>
            </a:r>
            <a:endParaRPr lang="en-IN" sz="1150" b="0" u="none" strike="noStrike">
              <a:solidFill>
                <a:srgbClr val="000000"/>
              </a:solidFill>
              <a:effectLst/>
              <a:uFillTx/>
              <a:latin typeface="Arial"/>
            </a:endParaRPr>
          </a:p>
        </p:txBody>
      </p:sp>
      <p:sp>
        <p:nvSpPr>
          <p:cNvPr id="247" name="Right Arrow 7"/>
          <p:cNvSpPr/>
          <p:nvPr/>
        </p:nvSpPr>
        <p:spPr>
          <a:xfrm>
            <a:off x="3611880" y="1764720"/>
            <a:ext cx="328680" cy="200880"/>
          </a:xfrm>
          <a:prstGeom prst="rightArrow">
            <a:avLst>
              <a:gd name="adj1" fmla="val 50000"/>
              <a:gd name="adj2" fmla="val 50000"/>
            </a:avLst>
          </a:prstGeom>
          <a:solidFill>
            <a:srgbClr val="585858"/>
          </a:solidFill>
          <a:ln>
            <a:solidFill>
              <a:srgbClr val="585858"/>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8" name="Rounded Rectangle 8"/>
          <p:cNvSpPr/>
          <p:nvPr/>
        </p:nvSpPr>
        <p:spPr>
          <a:xfrm>
            <a:off x="4032360" y="1600200"/>
            <a:ext cx="1234080" cy="52992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150" b="1" u="none" strike="noStrike">
                <a:solidFill>
                  <a:srgbClr val="365F91"/>
                </a:solidFill>
                <a:effectLst/>
                <a:uFillTx/>
                <a:latin typeface="Calibri"/>
              </a:rPr>
              <a:t>Produce acks=all</a:t>
            </a:r>
            <a:endParaRPr lang="en-IN" sz="1150" b="0" u="none" strike="noStrike">
              <a:solidFill>
                <a:srgbClr val="000000"/>
              </a:solidFill>
              <a:effectLst/>
              <a:uFillTx/>
              <a:latin typeface="Arial"/>
            </a:endParaRPr>
          </a:p>
        </p:txBody>
      </p:sp>
      <p:sp>
        <p:nvSpPr>
          <p:cNvPr id="249" name="Right Arrow 9"/>
          <p:cNvSpPr/>
          <p:nvPr/>
        </p:nvSpPr>
        <p:spPr>
          <a:xfrm>
            <a:off x="5376600" y="1764720"/>
            <a:ext cx="328680" cy="200880"/>
          </a:xfrm>
          <a:prstGeom prst="rightArrow">
            <a:avLst>
              <a:gd name="adj1" fmla="val 50000"/>
              <a:gd name="adj2" fmla="val 50000"/>
            </a:avLst>
          </a:prstGeom>
          <a:solidFill>
            <a:srgbClr val="585858"/>
          </a:solidFill>
          <a:ln>
            <a:solidFill>
              <a:srgbClr val="585858"/>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0" name="Rounded Rectangle 10"/>
          <p:cNvSpPr/>
          <p:nvPr/>
        </p:nvSpPr>
        <p:spPr>
          <a:xfrm>
            <a:off x="5797440" y="1600200"/>
            <a:ext cx="1234080" cy="52992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150" b="1" u="none" strike="noStrike">
                <a:solidFill>
                  <a:srgbClr val="365F91"/>
                </a:solidFill>
                <a:effectLst/>
                <a:uFillTx/>
                <a:latin typeface="Calibri"/>
              </a:rPr>
              <a:t>Stop broker</a:t>
            </a:r>
            <a:endParaRPr lang="en-IN" sz="1150" b="0" u="none" strike="noStrike">
              <a:solidFill>
                <a:srgbClr val="000000"/>
              </a:solidFill>
              <a:effectLst/>
              <a:uFillTx/>
              <a:latin typeface="Arial"/>
            </a:endParaRPr>
          </a:p>
        </p:txBody>
      </p:sp>
      <p:sp>
        <p:nvSpPr>
          <p:cNvPr id="251" name="Right Arrow 11"/>
          <p:cNvSpPr/>
          <p:nvPr/>
        </p:nvSpPr>
        <p:spPr>
          <a:xfrm>
            <a:off x="7141320" y="1764720"/>
            <a:ext cx="328680" cy="200880"/>
          </a:xfrm>
          <a:prstGeom prst="rightArrow">
            <a:avLst>
              <a:gd name="adj1" fmla="val 50000"/>
              <a:gd name="adj2" fmla="val 50000"/>
            </a:avLst>
          </a:prstGeom>
          <a:solidFill>
            <a:srgbClr val="585858"/>
          </a:solidFill>
          <a:ln>
            <a:solidFill>
              <a:srgbClr val="585858"/>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2" name="Rounded Rectangle 12"/>
          <p:cNvSpPr/>
          <p:nvPr/>
        </p:nvSpPr>
        <p:spPr>
          <a:xfrm>
            <a:off x="7562160" y="1600200"/>
            <a:ext cx="1234080" cy="52992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150" b="1" u="none" strike="noStrike">
                <a:solidFill>
                  <a:srgbClr val="365F91"/>
                </a:solidFill>
                <a:effectLst/>
                <a:uFillTx/>
                <a:latin typeface="Calibri"/>
              </a:rPr>
              <a:t>Describe again</a:t>
            </a:r>
            <a:endParaRPr lang="en-IN" sz="1150" b="0" u="none" strike="noStrike">
              <a:solidFill>
                <a:srgbClr val="000000"/>
              </a:solidFill>
              <a:effectLst/>
              <a:uFillTx/>
              <a:latin typeface="Arial"/>
            </a:endParaRPr>
          </a:p>
        </p:txBody>
      </p:sp>
      <p:sp>
        <p:nvSpPr>
          <p:cNvPr id="253" name="TextBox 13"/>
          <p:cNvSpPr/>
          <p:nvPr/>
        </p:nvSpPr>
        <p:spPr>
          <a:xfrm>
            <a:off x="685800" y="2880360"/>
            <a:ext cx="7314840" cy="1279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400" b="0" u="none" strike="noStrike">
                <a:solidFill>
                  <a:srgbClr val="1E1E1E"/>
                </a:solidFill>
                <a:effectLst/>
                <a:uFillTx/>
                <a:latin typeface="Calibri"/>
              </a:rPr>
              <a:t>Do not treat this as a new topic-creation lesson; Day 2 already did that.</a:t>
            </a:r>
            <a:endParaRPr lang="en-IN" sz="14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400" b="0" u="none" strike="noStrike">
                <a:solidFill>
                  <a:srgbClr val="1E1E1E"/>
                </a:solidFill>
                <a:effectLst/>
                <a:uFillTx/>
                <a:latin typeface="Calibri"/>
              </a:rPr>
              <a:t>The Day 3 proof is leader placement, full ISR and durable producer acknowledgement.</a:t>
            </a:r>
            <a:endParaRPr lang="en-IN" sz="1400" b="0" u="none" strike="noStrike">
              <a:solidFill>
                <a:srgbClr val="000000"/>
              </a:solidFill>
              <a:effectLst/>
              <a:uFillTx/>
              <a:latin typeface="Arial"/>
            </a:endParaRPr>
          </a:p>
        </p:txBody>
      </p:sp>
      <p:sp>
        <p:nvSpPr>
          <p:cNvPr id="254" name="TextBox 14"/>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[36]</a:t>
            </a:r>
            <a:endParaRPr lang="en-IN" sz="8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5"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Kafka Connect: Overview &amp; Architecture</a:t>
            </a:r>
            <a:endParaRPr lang="en-IN" sz="2200" b="0" u="none" strike="noStrike">
              <a:solidFill>
                <a:srgbClr val="000000"/>
              </a:solidFill>
              <a:effectLst/>
              <a:uFillTx/>
              <a:latin typeface="Arial"/>
            </a:endParaRPr>
          </a:p>
        </p:txBody>
      </p:sp>
      <p:sp>
        <p:nvSpPr>
          <p:cNvPr id="256" name="Text 1"/>
          <p:cNvSpPr/>
          <p:nvPr/>
        </p:nvSpPr>
        <p:spPr>
          <a:xfrm>
            <a:off x="457200" y="1097280"/>
            <a:ext cx="4754160" cy="2193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a:solidFill>
                  <a:srgbClr val="385170"/>
                </a:solidFill>
                <a:effectLst/>
                <a:uFillTx/>
                <a:latin typeface="Calibri"/>
              </a:rPr>
              <a:t>• Kafka Connect is a framework for streaming data between Kafka and external systems.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Runs as a cluster of workers that execute connectors and tasks.</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 Connectors define what to copy; tasks perform the data movement; converters and SMTs handle formats and transformations.</a:t>
            </a:r>
            <a:endParaRPr lang="en-IN" sz="1100" b="0" u="none" strike="noStrike">
              <a:solidFill>
                <a:srgbClr val="000000"/>
              </a:solidFill>
              <a:effectLst/>
              <a:uFillTx/>
              <a:latin typeface="Arial"/>
            </a:endParaRPr>
          </a:p>
        </p:txBody>
      </p:sp>
      <p:sp>
        <p:nvSpPr>
          <p:cNvPr id="257" name="Text 2"/>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pic>
        <p:nvPicPr>
          <p:cNvPr id="258" name="Picture 257"/>
          <p:cNvPicPr/>
          <p:nvPr/>
        </p:nvPicPr>
        <p:blipFill>
          <a:blip r:embed="rId4"/>
          <a:srcRect t="39555"/>
          <a:stretch/>
        </p:blipFill>
        <p:spPr>
          <a:xfrm>
            <a:off x="576360" y="2340000"/>
            <a:ext cx="7343640" cy="2322360"/>
          </a:xfrm>
          <a:prstGeom prst="rect">
            <a:avLst/>
          </a:prstGeom>
          <a:noFill/>
          <a:ln w="0">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9"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Source Connectors</a:t>
            </a:r>
            <a:endParaRPr lang="en-IN" sz="2200" b="0" u="none" strike="noStrike">
              <a:solidFill>
                <a:srgbClr val="000000"/>
              </a:solidFill>
              <a:effectLst/>
              <a:uFillTx/>
              <a:latin typeface="Arial"/>
            </a:endParaRPr>
          </a:p>
        </p:txBody>
      </p:sp>
      <p:sp>
        <p:nvSpPr>
          <p:cNvPr id="260" name="Text 1"/>
          <p:cNvSpPr/>
          <p:nvPr/>
        </p:nvSpPr>
        <p:spPr>
          <a:xfrm>
            <a:off x="457200" y="1097280"/>
            <a:ext cx="5028480" cy="2193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a:solidFill>
                  <a:srgbClr val="385170"/>
                </a:solidFill>
                <a:effectLst/>
                <a:uFillTx/>
                <a:latin typeface="Calibri"/>
              </a:rPr>
              <a:t>• Bring data from external systems into Kafka topics.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Must manage offsets to avoid duplicates and ensure exactly‑once delivery.</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Support various ingestion patterns: query‑based polling, CDC (binlogs/WAL), file tailing, API polling.</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Examples: JDBC, Debezium, SpoolDir, HTTP.</a:t>
            </a:r>
            <a:endParaRPr lang="en-IN" sz="1100" b="0" u="none" strike="noStrike">
              <a:solidFill>
                <a:srgbClr val="000000"/>
              </a:solidFill>
              <a:effectLst/>
              <a:uFillTx/>
              <a:latin typeface="Arial"/>
            </a:endParaRPr>
          </a:p>
          <a:p>
            <a:pPr defTabSz="914400">
              <a:lnSpc>
                <a:spcPct val="100000"/>
              </a:lnSpc>
              <a:tabLst>
                <a:tab pos="0" algn="l"/>
              </a:tabLst>
            </a:pPr>
            <a:endParaRPr lang="en-IN" sz="1100" b="0" u="none" strike="noStrike">
              <a:solidFill>
                <a:srgbClr val="000000"/>
              </a:solidFill>
              <a:effectLst/>
              <a:uFillTx/>
              <a:latin typeface="Arial"/>
            </a:endParaRPr>
          </a:p>
        </p:txBody>
      </p:sp>
      <p:sp>
        <p:nvSpPr>
          <p:cNvPr id="261" name="Text 2"/>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pic>
        <p:nvPicPr>
          <p:cNvPr id="262" name="Picture 261"/>
          <p:cNvPicPr/>
          <p:nvPr/>
        </p:nvPicPr>
        <p:blipFill>
          <a:blip r:embed="rId4"/>
          <a:srcRect t="8582" b="7242"/>
          <a:stretch>
            <a:fillRect/>
          </a:stretch>
        </p:blipFill>
        <p:spPr>
          <a:xfrm>
            <a:off x="512330" y="2063750"/>
            <a:ext cx="5188320" cy="2660650"/>
          </a:xfrm>
          <a:prstGeom prst="rect">
            <a:avLst/>
          </a:prstGeom>
          <a:noFill/>
          <a:ln w="0">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3"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Sink Connectors</a:t>
            </a:r>
            <a:endParaRPr lang="en-IN" sz="2200" b="0" u="none" strike="noStrike">
              <a:solidFill>
                <a:srgbClr val="000000"/>
              </a:solidFill>
              <a:effectLst/>
              <a:uFillTx/>
              <a:latin typeface="Arial"/>
            </a:endParaRPr>
          </a:p>
        </p:txBody>
      </p:sp>
      <p:sp>
        <p:nvSpPr>
          <p:cNvPr id="264" name="Text 1"/>
          <p:cNvSpPr/>
          <p:nvPr/>
        </p:nvSpPr>
        <p:spPr>
          <a:xfrm>
            <a:off x="457200" y="1097280"/>
            <a:ext cx="5028480" cy="2193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a:solidFill>
                  <a:srgbClr val="385170"/>
                </a:solidFill>
                <a:effectLst/>
                <a:uFillTx/>
                <a:latin typeface="Calibri"/>
              </a:rPr>
              <a:t>• Read from Kafka topics and write to external systems.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Operate as Kafka consumers; commit offsets back to Kafka to track progress.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Common patterns: load data into data lakes/warehouses (e.g., S3, GCS), index data into search engines (Elasticsearch), upsert into databases, invoke HTTP APIs.</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 Sink connectors must manage idempotency on the destination to achieve exactly‑once semantics.</a:t>
            </a:r>
            <a:endParaRPr lang="en-IN" sz="1100" b="0" u="none" strike="noStrike">
              <a:solidFill>
                <a:srgbClr val="000000"/>
              </a:solidFill>
              <a:effectLst/>
              <a:uFillTx/>
              <a:latin typeface="Arial"/>
            </a:endParaRPr>
          </a:p>
        </p:txBody>
      </p:sp>
      <p:sp>
        <p:nvSpPr>
          <p:cNvPr id="265" name="Text 2"/>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pic>
        <p:nvPicPr>
          <p:cNvPr id="266" name="Picture 265"/>
          <p:cNvPicPr/>
          <p:nvPr/>
        </p:nvPicPr>
        <p:blipFill>
          <a:blip r:embed="rId4"/>
          <a:stretch/>
        </p:blipFill>
        <p:spPr>
          <a:xfrm rot="3000">
            <a:off x="1078920" y="2522160"/>
            <a:ext cx="5400000" cy="1688760"/>
          </a:xfrm>
          <a:prstGeom prst="rect">
            <a:avLst/>
          </a:prstGeom>
          <a:noFill/>
          <a:ln w="0">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7"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Connect Modes &amp; Scaling</a:t>
            </a:r>
            <a:endParaRPr lang="en-IN" sz="2200" b="0" u="none" strike="noStrike">
              <a:solidFill>
                <a:srgbClr val="000000"/>
              </a:solidFill>
              <a:effectLst/>
              <a:uFillTx/>
              <a:latin typeface="Arial"/>
            </a:endParaRPr>
          </a:p>
        </p:txBody>
      </p:sp>
      <p:sp>
        <p:nvSpPr>
          <p:cNvPr id="268" name="Text 1"/>
          <p:cNvSpPr/>
          <p:nvPr/>
        </p:nvSpPr>
        <p:spPr>
          <a:xfrm>
            <a:off x="457200" y="1097280"/>
            <a:ext cx="5485680" cy="2742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1" u="none" strike="noStrike">
                <a:solidFill>
                  <a:srgbClr val="2F5597"/>
                </a:solidFill>
                <a:effectLst/>
                <a:uFillTx/>
                <a:latin typeface="Calibri"/>
              </a:rPr>
              <a:t>Standalone Mode</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Single process runs connectors and tasks; ideal for development.</a:t>
            </a:r>
            <a:endParaRPr lang="en-IN" sz="1100" b="0" u="none" strike="noStrike">
              <a:solidFill>
                <a:srgbClr val="000000"/>
              </a:solidFill>
              <a:effectLst/>
              <a:uFillTx/>
              <a:latin typeface="Arial"/>
            </a:endParaRPr>
          </a:p>
          <a:p>
            <a:pPr defTabSz="914400">
              <a:lnSpc>
                <a:spcPct val="100000"/>
              </a:lnSpc>
            </a:pPr>
            <a:endParaRPr lang="en-IN" sz="1100" b="0" u="none" strike="noStrike">
              <a:solidFill>
                <a:srgbClr val="000000"/>
              </a:solidFill>
              <a:effectLst/>
              <a:uFillTx/>
              <a:latin typeface="Arial"/>
            </a:endParaRPr>
          </a:p>
          <a:p>
            <a:pPr defTabSz="914400">
              <a:lnSpc>
                <a:spcPct val="100000"/>
              </a:lnSpc>
            </a:pPr>
            <a:r>
              <a:rPr lang="en-US" sz="1200" b="1" u="none" strike="noStrike">
                <a:solidFill>
                  <a:srgbClr val="2F5597"/>
                </a:solidFill>
                <a:effectLst/>
                <a:uFillTx/>
                <a:latin typeface="Calibri"/>
              </a:rPr>
              <a:t>Distributed Mode</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Multiple worker processes coordinate through Kafka topics; tasks are rebalanced across workers.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Provides fault tolerance and horizontal scalability.</a:t>
            </a:r>
            <a:endParaRPr lang="en-IN" sz="1100" b="0" u="none" strike="noStrike">
              <a:solidFill>
                <a:srgbClr val="000000"/>
              </a:solidFill>
              <a:effectLst/>
              <a:uFillTx/>
              <a:latin typeface="Arial"/>
            </a:endParaRPr>
          </a:p>
          <a:p>
            <a:pPr defTabSz="914400">
              <a:lnSpc>
                <a:spcPct val="100000"/>
              </a:lnSpc>
            </a:pPr>
            <a:endParaRPr lang="en-IN" sz="1100" b="0" u="none" strike="noStrike">
              <a:solidFill>
                <a:srgbClr val="000000"/>
              </a:solidFill>
              <a:effectLst/>
              <a:uFillTx/>
              <a:latin typeface="Arial"/>
            </a:endParaRPr>
          </a:p>
          <a:p>
            <a:pPr defTabSz="914400">
              <a:lnSpc>
                <a:spcPct val="100000"/>
              </a:lnSpc>
            </a:pPr>
            <a:r>
              <a:rPr lang="en-US" sz="1200" b="1" u="none" strike="noStrike">
                <a:solidFill>
                  <a:srgbClr val="2F5597"/>
                </a:solidFill>
                <a:effectLst/>
                <a:uFillTx/>
                <a:latin typeface="Calibri"/>
              </a:rPr>
              <a:t>Scaling Considerations</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Increase tasks per connector to parallelise work.</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 Use multiple workers to distribute tasks; tasks are automatically assigned via internal group management.</a:t>
            </a:r>
            <a:endParaRPr lang="en-IN" sz="1100" b="0" u="none" strike="noStrike">
              <a:solidFill>
                <a:srgbClr val="000000"/>
              </a:solidFill>
              <a:effectLst/>
              <a:uFillTx/>
              <a:latin typeface="Arial"/>
            </a:endParaRPr>
          </a:p>
        </p:txBody>
      </p:sp>
      <p:sp>
        <p:nvSpPr>
          <p:cNvPr id="269" name="Shape 2"/>
          <p:cNvSpPr/>
          <p:nvPr/>
        </p:nvSpPr>
        <p:spPr>
          <a:xfrm>
            <a:off x="6400800" y="1280160"/>
            <a:ext cx="1828080" cy="456480"/>
          </a:xfrm>
          <a:prstGeom prst="roundRect">
            <a:avLst>
              <a:gd name="adj" fmla="val 10000"/>
            </a:avLst>
          </a:prstGeom>
          <a:solidFill>
            <a:srgbClr val="F2F6FA"/>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270" name="Text 3"/>
          <p:cNvSpPr/>
          <p:nvPr/>
        </p:nvSpPr>
        <p:spPr>
          <a:xfrm>
            <a:off x="6400800" y="1280160"/>
            <a:ext cx="18280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2F5597"/>
                </a:solidFill>
                <a:effectLst/>
                <a:uFillTx/>
                <a:latin typeface="Calibri"/>
              </a:rPr>
              <a:t>Worker 1</a:t>
            </a:r>
            <a:endParaRPr lang="en-IN" sz="900" b="0" u="none" strike="noStrike">
              <a:solidFill>
                <a:srgbClr val="000000"/>
              </a:solidFill>
              <a:effectLst/>
              <a:uFillTx/>
              <a:latin typeface="Arial"/>
            </a:endParaRPr>
          </a:p>
        </p:txBody>
      </p:sp>
      <p:sp>
        <p:nvSpPr>
          <p:cNvPr id="271" name="Shape 4"/>
          <p:cNvSpPr/>
          <p:nvPr/>
        </p:nvSpPr>
        <p:spPr>
          <a:xfrm>
            <a:off x="6400800" y="2103120"/>
            <a:ext cx="1828080" cy="456480"/>
          </a:xfrm>
          <a:prstGeom prst="roundRect">
            <a:avLst>
              <a:gd name="adj" fmla="val 10000"/>
            </a:avLst>
          </a:prstGeom>
          <a:solidFill>
            <a:srgbClr val="F2F6FA"/>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272" name="Text 5"/>
          <p:cNvSpPr/>
          <p:nvPr/>
        </p:nvSpPr>
        <p:spPr>
          <a:xfrm>
            <a:off x="6400800" y="2103120"/>
            <a:ext cx="18280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2F5597"/>
                </a:solidFill>
                <a:effectLst/>
                <a:uFillTx/>
                <a:latin typeface="Calibri"/>
              </a:rPr>
              <a:t>Worker 2</a:t>
            </a:r>
            <a:endParaRPr lang="en-IN" sz="900" b="0" u="none" strike="noStrike">
              <a:solidFill>
                <a:srgbClr val="000000"/>
              </a:solidFill>
              <a:effectLst/>
              <a:uFillTx/>
              <a:latin typeface="Arial"/>
            </a:endParaRPr>
          </a:p>
        </p:txBody>
      </p:sp>
      <p:sp>
        <p:nvSpPr>
          <p:cNvPr id="273" name="Shape 6"/>
          <p:cNvSpPr/>
          <p:nvPr/>
        </p:nvSpPr>
        <p:spPr>
          <a:xfrm>
            <a:off x="6400800" y="2926080"/>
            <a:ext cx="1828080" cy="456480"/>
          </a:xfrm>
          <a:prstGeom prst="roundRect">
            <a:avLst>
              <a:gd name="adj" fmla="val 10000"/>
            </a:avLst>
          </a:prstGeom>
          <a:solidFill>
            <a:srgbClr val="F2F6FA"/>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274" name="Text 7"/>
          <p:cNvSpPr/>
          <p:nvPr/>
        </p:nvSpPr>
        <p:spPr>
          <a:xfrm>
            <a:off x="6400800" y="2926080"/>
            <a:ext cx="18280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2F5597"/>
                </a:solidFill>
                <a:effectLst/>
                <a:uFillTx/>
                <a:latin typeface="Calibri"/>
              </a:rPr>
              <a:t>Worker 3</a:t>
            </a:r>
            <a:endParaRPr lang="en-IN" sz="900" b="0" u="none" strike="noStrike">
              <a:solidFill>
                <a:srgbClr val="000000"/>
              </a:solidFill>
              <a:effectLst/>
              <a:uFillTx/>
              <a:latin typeface="Arial"/>
            </a:endParaRPr>
          </a:p>
        </p:txBody>
      </p:sp>
      <p:sp>
        <p:nvSpPr>
          <p:cNvPr id="275" name="Shape 8"/>
          <p:cNvSpPr/>
          <p:nvPr/>
        </p:nvSpPr>
        <p:spPr>
          <a:xfrm>
            <a:off x="6877440" y="3840480"/>
            <a:ext cx="1096560" cy="365040"/>
          </a:xfrm>
          <a:prstGeom prst="rect">
            <a:avLst/>
          </a:prstGeom>
          <a:solidFill>
            <a:srgbClr val="D6E0F0"/>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276" name="Text 9"/>
          <p:cNvSpPr/>
          <p:nvPr/>
        </p:nvSpPr>
        <p:spPr>
          <a:xfrm>
            <a:off x="6841440" y="3840480"/>
            <a:ext cx="109656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2F5597"/>
                </a:solidFill>
                <a:effectLst/>
                <a:uFillTx/>
                <a:latin typeface="Calibri"/>
              </a:rPr>
              <a:t>Kafka</a:t>
            </a:r>
            <a:endParaRPr lang="en-IN" sz="800" b="0" u="none" strike="noStrike">
              <a:solidFill>
                <a:srgbClr val="000000"/>
              </a:solidFill>
              <a:effectLst/>
              <a:uFillTx/>
              <a:latin typeface="Arial"/>
            </a:endParaRPr>
          </a:p>
        </p:txBody>
      </p:sp>
      <p:sp>
        <p:nvSpPr>
          <p:cNvPr id="277" name="Shape 10"/>
          <p:cNvSpPr/>
          <p:nvPr/>
        </p:nvSpPr>
        <p:spPr>
          <a:xfrm>
            <a:off x="7200000" y="1736640"/>
            <a:ext cx="182160" cy="366480"/>
          </a:xfrm>
          <a:prstGeom prst="downArrow">
            <a:avLst>
              <a:gd name="adj1" fmla="val 50000"/>
              <a:gd name="adj2" fmla="val 50000"/>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278" name="Shape 11"/>
          <p:cNvSpPr/>
          <p:nvPr/>
        </p:nvSpPr>
        <p:spPr>
          <a:xfrm>
            <a:off x="7253640" y="2612520"/>
            <a:ext cx="182160" cy="267480"/>
          </a:xfrm>
          <a:prstGeom prst="downArrow">
            <a:avLst>
              <a:gd name="adj1" fmla="val 50000"/>
              <a:gd name="adj2" fmla="val 50000"/>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279" name="Shape 12"/>
          <p:cNvSpPr/>
          <p:nvPr/>
        </p:nvSpPr>
        <p:spPr>
          <a:xfrm>
            <a:off x="7282080" y="3438720"/>
            <a:ext cx="182160" cy="401760"/>
          </a:xfrm>
          <a:prstGeom prst="downArrow">
            <a:avLst>
              <a:gd name="adj1" fmla="val 50000"/>
              <a:gd name="adj2" fmla="val 50000"/>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280" name="Text 13"/>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endParaRPr lang="en-IN" sz="70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Connect Task Failover: Tasks Are the Work Units</a:t>
            </a:r>
            <a:endParaRPr lang="en-IN" sz="2200" b="0" u="none" strike="noStrike">
              <a:solidFill>
                <a:srgbClr val="000000"/>
              </a:solidFill>
              <a:effectLst/>
              <a:uFillTx/>
              <a:latin typeface="Arial"/>
            </a:endParaRPr>
          </a:p>
        </p:txBody>
      </p:sp>
      <p:sp>
        <p:nvSpPr>
          <p:cNvPr id="282"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283" name="Picture 3" descr="connect_task_failover_clean.png"/>
          <p:cNvPicPr/>
          <p:nvPr/>
        </p:nvPicPr>
        <p:blipFill>
          <a:blip r:embed="rId2"/>
          <a:stretch/>
        </p:blipFill>
        <p:spPr>
          <a:xfrm>
            <a:off x="640080" y="960120"/>
            <a:ext cx="4251600" cy="3062880"/>
          </a:xfrm>
          <a:prstGeom prst="rect">
            <a:avLst/>
          </a:prstGeom>
          <a:noFill/>
          <a:ln w="0">
            <a:noFill/>
          </a:ln>
        </p:spPr>
      </p:pic>
      <p:sp>
        <p:nvSpPr>
          <p:cNvPr id="284" name="TextBox 4"/>
          <p:cNvSpPr/>
          <p:nvPr/>
        </p:nvSpPr>
        <p:spPr>
          <a:xfrm>
            <a:off x="5212080" y="1051560"/>
            <a:ext cx="3108600" cy="297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Connectors define the job; tasks perform the data movement.</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Distributed workers rebalance tasks when workers join, leave or fail.</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The lab uses one worker, but the status model is the same.</a:t>
            </a:r>
            <a:endParaRPr lang="en-IN" sz="1350" b="0" u="none" strike="noStrike">
              <a:solidFill>
                <a:srgbClr val="000000"/>
              </a:solidFill>
              <a:effectLst/>
              <a:uFillTx/>
              <a:latin typeface="Arial"/>
            </a:endParaRPr>
          </a:p>
        </p:txBody>
      </p:sp>
      <p:sp>
        <p:nvSpPr>
          <p:cNvPr id="285" name="TextBox 5"/>
          <p:cNvSpPr/>
          <p:nvPr/>
        </p:nvSpPr>
        <p:spPr>
          <a:xfrm>
            <a:off x="658440" y="4224600"/>
            <a:ext cx="7406280" cy="21924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850" b="0" u="none" strike="noStrike">
                <a:solidFill>
                  <a:srgbClr val="585858"/>
                </a:solidFill>
                <a:effectLst/>
                <a:uFillTx/>
                <a:latin typeface="Calibri"/>
              </a:rPr>
              <a:t>Source: Confluent Kafka Connect design documentation.</a:t>
            </a:r>
            <a:endParaRPr lang="en-IN" sz="850" b="0" u="none" strike="noStrike">
              <a:solidFill>
                <a:srgbClr val="000000"/>
              </a:solidFill>
              <a:effectLst/>
              <a:uFillTx/>
              <a:latin typeface="Arial"/>
            </a:endParaRPr>
          </a:p>
        </p:txBody>
      </p:sp>
      <p:sp>
        <p:nvSpPr>
          <p:cNvPr id="286" name="TextBox 6"/>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[41]</a:t>
            </a:r>
            <a:endParaRPr lang="en-IN" sz="80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7" name="Picture 286"/>
          <p:cNvPicPr/>
          <p:nvPr/>
        </p:nvPicPr>
        <p:blipFill>
          <a:blip r:embed="rId2"/>
          <a:stretch/>
        </p:blipFill>
        <p:spPr>
          <a:xfrm>
            <a:off x="0" y="65160"/>
            <a:ext cx="9122040" cy="5083200"/>
          </a:xfrm>
          <a:prstGeom prst="rect">
            <a:avLst/>
          </a:prstGeom>
          <a:noFill/>
          <a:ln w="0">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8"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Example: JDBC Source Connector</a:t>
            </a:r>
            <a:endParaRPr lang="en-IN" sz="2200" b="0" u="none" strike="noStrike">
              <a:solidFill>
                <a:srgbClr val="000000"/>
              </a:solidFill>
              <a:effectLst/>
              <a:uFillTx/>
              <a:latin typeface="Arial"/>
            </a:endParaRPr>
          </a:p>
        </p:txBody>
      </p:sp>
      <p:sp>
        <p:nvSpPr>
          <p:cNvPr id="289" name="Text 1"/>
          <p:cNvSpPr/>
          <p:nvPr/>
        </p:nvSpPr>
        <p:spPr>
          <a:xfrm>
            <a:off x="457200" y="1005840"/>
            <a:ext cx="82288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100" b="0" u="none" strike="noStrike">
                <a:solidFill>
                  <a:srgbClr val="385170"/>
                </a:solidFill>
                <a:effectLst/>
                <a:uFillTx/>
                <a:latin typeface="Calibri"/>
              </a:rPr>
              <a:t>The JSON below shows a basic configuration for a JDBC source connector that ingests data from PostgreSQL.</a:t>
            </a:r>
            <a:endParaRPr lang="en-IN" sz="1100" b="0" u="none" strike="noStrike">
              <a:solidFill>
                <a:srgbClr val="000000"/>
              </a:solidFill>
              <a:effectLst/>
              <a:uFillTx/>
              <a:latin typeface="Arial"/>
            </a:endParaRPr>
          </a:p>
        </p:txBody>
      </p:sp>
      <p:sp>
        <p:nvSpPr>
          <p:cNvPr id="290" name="Shape 2"/>
          <p:cNvSpPr/>
          <p:nvPr/>
        </p:nvSpPr>
        <p:spPr>
          <a:xfrm>
            <a:off x="457200" y="1463040"/>
            <a:ext cx="8228880" cy="2010960"/>
          </a:xfrm>
          <a:prstGeom prst="rect">
            <a:avLst/>
          </a:prstGeom>
          <a:solidFill>
            <a:srgbClr val="F7F9FB"/>
          </a:solidFill>
          <a:ln w="12700">
            <a:solidFill>
              <a:srgbClr val="D6E0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291" name="Text 3"/>
          <p:cNvSpPr/>
          <p:nvPr/>
        </p:nvSpPr>
        <p:spPr>
          <a:xfrm>
            <a:off x="502920" y="1508760"/>
            <a:ext cx="8137440" cy="1919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800" b="0" u="none" strike="noStrike">
                <a:solidFill>
                  <a:srgbClr val="385170"/>
                </a:solidFill>
                <a:effectLst/>
                <a:uFillTx/>
                <a:latin typeface="Consolas"/>
                <a:ea typeface="Consolas"/>
              </a:rPr>
              <a:t>{</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"name": "postgres-source-connector",</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"config": {</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"connector.class": "io.confluent.connect.jdbc.JdbcSourceConnector",</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"tasks.max": "3",</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"connection.url": "jdbc:postgresql://postgres:5432/mydb",</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"connection.user": "${secrets:postgres:username}",</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"connection.password": "${secrets:postgres:password}",</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"mode": "incrementing",</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"incrementing.column.name": "id",</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"topic.prefix": "postgres-",</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"table.whitelist": "orders,customers,products",</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"poll.interval.ms": "1000",</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"batch.max.rows": "1000"</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a:t>
            </a:r>
            <a:endParaRPr lang="en-IN" sz="800" b="0" u="none" strike="noStrike">
              <a:solidFill>
                <a:srgbClr val="000000"/>
              </a:solidFill>
              <a:effectLst/>
              <a:uFillTx/>
              <a:latin typeface="Arial"/>
            </a:endParaRPr>
          </a:p>
        </p:txBody>
      </p:sp>
      <p:sp>
        <p:nvSpPr>
          <p:cNvPr id="292" name="Text 4"/>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Connector Config Fields Learners Should Read First</a:t>
            </a:r>
            <a:endParaRPr lang="en-IN" sz="2200" b="0" u="none" strike="noStrike">
              <a:solidFill>
                <a:srgbClr val="000000"/>
              </a:solidFill>
              <a:effectLst/>
              <a:uFillTx/>
              <a:latin typeface="Arial"/>
            </a:endParaRPr>
          </a:p>
        </p:txBody>
      </p:sp>
      <p:sp>
        <p:nvSpPr>
          <p:cNvPr id="294"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95" name="Rounded Rectangle 3"/>
          <p:cNvSpPr/>
          <p:nvPr/>
        </p:nvSpPr>
        <p:spPr>
          <a:xfrm>
            <a:off x="594360" y="960120"/>
            <a:ext cx="3565800" cy="34704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300" b="1" u="none" strike="noStrike">
                <a:solidFill>
                  <a:srgbClr val="365F91"/>
                </a:solidFill>
                <a:effectLst/>
                <a:uFillTx/>
                <a:latin typeface="Calibri"/>
              </a:rPr>
              <a:t>Source connector</a:t>
            </a:r>
            <a:endParaRPr lang="en-IN" sz="1300" b="0" u="none" strike="noStrike">
              <a:solidFill>
                <a:srgbClr val="000000"/>
              </a:solidFill>
              <a:effectLst/>
              <a:uFillTx/>
              <a:latin typeface="Arial"/>
            </a:endParaRPr>
          </a:p>
        </p:txBody>
      </p:sp>
      <p:sp>
        <p:nvSpPr>
          <p:cNvPr id="296" name="Rounded Rectangle 4"/>
          <p:cNvSpPr/>
          <p:nvPr/>
        </p:nvSpPr>
        <p:spPr>
          <a:xfrm>
            <a:off x="4617720" y="960120"/>
            <a:ext cx="3565800" cy="34704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300" b="1" u="none" strike="noStrike">
                <a:solidFill>
                  <a:srgbClr val="365F91"/>
                </a:solidFill>
                <a:effectLst/>
                <a:uFillTx/>
                <a:latin typeface="Calibri"/>
              </a:rPr>
              <a:t>Sink connector</a:t>
            </a:r>
            <a:endParaRPr lang="en-IN" sz="1300" b="0" u="none" strike="noStrike">
              <a:solidFill>
                <a:srgbClr val="000000"/>
              </a:solidFill>
              <a:effectLst/>
              <a:uFillTx/>
              <a:latin typeface="Arial"/>
            </a:endParaRPr>
          </a:p>
        </p:txBody>
      </p:sp>
      <p:sp>
        <p:nvSpPr>
          <p:cNvPr id="297" name="TextBox 5"/>
          <p:cNvSpPr/>
          <p:nvPr/>
        </p:nvSpPr>
        <p:spPr>
          <a:xfrm>
            <a:off x="658440" y="1508760"/>
            <a:ext cx="3401280" cy="297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connector.class names the source plugin.</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file is the external input path.</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topic is where records enter Kafka.</a:t>
            </a:r>
            <a:endParaRPr lang="en-IN" sz="1350" b="0" u="none" strike="noStrike">
              <a:solidFill>
                <a:srgbClr val="000000"/>
              </a:solidFill>
              <a:effectLst/>
              <a:uFillTx/>
              <a:latin typeface="Arial"/>
            </a:endParaRPr>
          </a:p>
        </p:txBody>
      </p:sp>
      <p:sp>
        <p:nvSpPr>
          <p:cNvPr id="298" name="TextBox 6"/>
          <p:cNvSpPr/>
          <p:nvPr/>
        </p:nvSpPr>
        <p:spPr>
          <a:xfrm>
            <a:off x="4681800" y="1508760"/>
            <a:ext cx="3401280" cy="297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connector.class names the sink plugin.</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topics is the Kafka input.</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file is the external output path.</a:t>
            </a:r>
            <a:endParaRPr lang="en-IN" sz="1350" b="0" u="none" strike="noStrike">
              <a:solidFill>
                <a:srgbClr val="000000"/>
              </a:solidFill>
              <a:effectLst/>
              <a:uFillTx/>
              <a:latin typeface="Arial"/>
            </a:endParaRPr>
          </a:p>
        </p:txBody>
      </p:sp>
      <p:sp>
        <p:nvSpPr>
          <p:cNvPr id="299" name="TextBox 7"/>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[43]</a:t>
            </a:r>
            <a:endParaRPr lang="en-IN" sz="800" b="0" u="none" strike="noStrike">
              <a:solidFill>
                <a:srgbClr val="000000"/>
              </a:solidFill>
              <a:effectLst/>
              <a:uFillTx/>
              <a:latin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9FBFD"/>
        </a:solidFill>
        <a:effectLst/>
      </p:bgPr>
    </p:bg>
    <p:spTree>
      <p:nvGrpSpPr>
        <p:cNvPr id="1" name=""/>
        <p:cNvGrpSpPr/>
        <p:nvPr/>
      </p:nvGrpSpPr>
      <p:grpSpPr>
        <a:xfrm>
          <a:off x="0" y="0"/>
          <a:ext cx="0" cy="0"/>
          <a:chOff x="0" y="0"/>
          <a:chExt cx="0" cy="0"/>
        </a:xfrm>
      </p:grpSpPr>
      <p:sp>
        <p:nvSpPr>
          <p:cNvPr id="300" name="Text 28"/>
          <p:cNvSpPr/>
          <p:nvPr/>
        </p:nvSpPr>
        <p:spPr>
          <a:xfrm>
            <a:off x="457200" y="274320"/>
            <a:ext cx="86860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Mini Exercise: Configure a Connector</a:t>
            </a:r>
            <a:endParaRPr lang="en-IN" sz="2200" b="0" u="none" strike="noStrike">
              <a:solidFill>
                <a:srgbClr val="000000"/>
              </a:solidFill>
              <a:effectLst/>
              <a:uFillTx/>
              <a:latin typeface="Arial"/>
            </a:endParaRPr>
          </a:p>
        </p:txBody>
      </p:sp>
      <p:sp>
        <p:nvSpPr>
          <p:cNvPr id="301" name="Text 29"/>
          <p:cNvSpPr/>
          <p:nvPr/>
        </p:nvSpPr>
        <p:spPr>
          <a:xfrm>
            <a:off x="457200" y="822960"/>
            <a:ext cx="5028480" cy="255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1" u="none" strike="noStrike">
                <a:solidFill>
                  <a:srgbClr val="2F5597"/>
                </a:solidFill>
                <a:effectLst/>
                <a:uFillTx/>
                <a:latin typeface="Calibri"/>
              </a:rPr>
              <a:t>Exercise:</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1. Use the REST API to deploy the JDBC source connector shown on the previous slide.</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2. Verify that records are streaming into the postgres-orders topic.</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3. Modify the configuration to ingest only the orders table and change poll interval to 5000 ms.</a:t>
            </a:r>
            <a:endParaRPr lang="en-IN" sz="1100" b="0" u="none" strike="noStrike">
              <a:solidFill>
                <a:srgbClr val="000000"/>
              </a:solidFill>
              <a:effectLst/>
              <a:uFillTx/>
              <a:latin typeface="Arial"/>
            </a:endParaRPr>
          </a:p>
        </p:txBody>
      </p:sp>
      <p:sp>
        <p:nvSpPr>
          <p:cNvPr id="302" name="Text 30"/>
          <p:cNvSpPr/>
          <p:nvPr/>
        </p:nvSpPr>
        <p:spPr>
          <a:xfrm>
            <a:off x="5669280" y="822960"/>
            <a:ext cx="31996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400" b="1" u="none" strike="noStrike">
                <a:solidFill>
                  <a:srgbClr val="2F5597"/>
                </a:solidFill>
                <a:effectLst/>
                <a:uFillTx/>
                <a:latin typeface="Calibri"/>
              </a:rPr>
              <a:t>Quick Quiz:</a:t>
            </a:r>
            <a:endParaRPr lang="en-IN" sz="1400" b="0" u="none" strike="noStrike">
              <a:solidFill>
                <a:srgbClr val="000000"/>
              </a:solidFill>
              <a:effectLst/>
              <a:uFillTx/>
              <a:latin typeface="Arial"/>
            </a:endParaRPr>
          </a:p>
        </p:txBody>
      </p:sp>
      <p:sp>
        <p:nvSpPr>
          <p:cNvPr id="303" name="Text 31"/>
          <p:cNvSpPr/>
          <p:nvPr/>
        </p:nvSpPr>
        <p:spPr>
          <a:xfrm>
            <a:off x="5669280" y="1097280"/>
            <a:ext cx="3199680" cy="2376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1" u="none" strike="noStrike">
                <a:solidFill>
                  <a:srgbClr val="2F5597"/>
                </a:solidFill>
                <a:effectLst/>
                <a:uFillTx/>
                <a:latin typeface="Calibri"/>
              </a:rPr>
              <a:t>Q7. Which component in Kafka Connect performs the actual data movement?</a:t>
            </a:r>
            <a:endParaRPr lang="en-IN" sz="1100" b="0" u="none" strike="noStrike">
              <a:solidFill>
                <a:srgbClr val="000000"/>
              </a:solidFill>
              <a:effectLst/>
              <a:uFillTx/>
              <a:latin typeface="Arial"/>
            </a:endParaRPr>
          </a:p>
          <a:p>
            <a:pPr defTabSz="914400">
              <a:lnSpc>
                <a:spcPct val="100000"/>
              </a:lnSpc>
            </a:pPr>
            <a:r>
              <a:rPr lang="en-US" sz="1000" b="0" u="none" strike="noStrike">
                <a:solidFill>
                  <a:srgbClr val="385170"/>
                </a:solidFill>
                <a:effectLst/>
                <a:uFillTx/>
                <a:latin typeface="Calibri"/>
              </a:rPr>
              <a:t>a) Worker</a:t>
            </a:r>
            <a:endParaRPr lang="en-IN" sz="1000" b="0" u="none" strike="noStrike">
              <a:solidFill>
                <a:srgbClr val="000000"/>
              </a:solidFill>
              <a:effectLst/>
              <a:uFillTx/>
              <a:latin typeface="Arial"/>
            </a:endParaRPr>
          </a:p>
          <a:p>
            <a:pPr defTabSz="914400">
              <a:lnSpc>
                <a:spcPct val="100000"/>
              </a:lnSpc>
            </a:pPr>
            <a:r>
              <a:rPr lang="en-US" sz="1000" b="0" u="none" strike="noStrike">
                <a:solidFill>
                  <a:srgbClr val="385170"/>
                </a:solidFill>
                <a:effectLst/>
                <a:uFillTx/>
                <a:latin typeface="Calibri"/>
              </a:rPr>
              <a:t>b) Connector</a:t>
            </a:r>
            <a:endParaRPr lang="en-IN" sz="1000" b="0" u="none" strike="noStrike">
              <a:solidFill>
                <a:srgbClr val="000000"/>
              </a:solidFill>
              <a:effectLst/>
              <a:uFillTx/>
              <a:latin typeface="Arial"/>
            </a:endParaRPr>
          </a:p>
          <a:p>
            <a:pPr defTabSz="914400">
              <a:lnSpc>
                <a:spcPct val="100000"/>
              </a:lnSpc>
            </a:pPr>
            <a:r>
              <a:rPr lang="en-US" sz="1000" b="0" u="none" strike="noStrike">
                <a:solidFill>
                  <a:srgbClr val="385170"/>
                </a:solidFill>
                <a:effectLst/>
                <a:uFillTx/>
                <a:latin typeface="Calibri"/>
              </a:rPr>
              <a:t>c) Task</a:t>
            </a:r>
            <a:endParaRPr lang="en-IN" sz="1000" b="0" u="none" strike="noStrike">
              <a:solidFill>
                <a:srgbClr val="000000"/>
              </a:solidFill>
              <a:effectLst/>
              <a:uFillTx/>
              <a:latin typeface="Arial"/>
            </a:endParaRPr>
          </a:p>
          <a:p>
            <a:pPr defTabSz="914400">
              <a:lnSpc>
                <a:spcPct val="100000"/>
              </a:lnSpc>
            </a:pPr>
            <a:r>
              <a:rPr lang="en-US" sz="1000" b="0" u="none" strike="noStrike">
                <a:solidFill>
                  <a:srgbClr val="385170"/>
                </a:solidFill>
                <a:effectLst/>
                <a:uFillTx/>
                <a:latin typeface="Calibri"/>
              </a:rPr>
              <a:t>d) Converter</a:t>
            </a:r>
            <a:endParaRPr lang="en-IN" sz="1000" b="0" u="none" strike="noStrike">
              <a:solidFill>
                <a:srgbClr val="000000"/>
              </a:solidFill>
              <a:effectLst/>
              <a:uFillTx/>
              <a:latin typeface="Arial"/>
            </a:endParaRPr>
          </a:p>
          <a:p>
            <a:pPr defTabSz="914400">
              <a:lnSpc>
                <a:spcPct val="100000"/>
              </a:lnSpc>
            </a:pPr>
            <a:endParaRPr lang="en-IN" sz="1000" b="0" u="none" strike="noStrike">
              <a:solidFill>
                <a:srgbClr val="000000"/>
              </a:solidFill>
              <a:effectLst/>
              <a:uFillTx/>
              <a:latin typeface="Arial"/>
            </a:endParaRPr>
          </a:p>
          <a:p>
            <a:pPr defTabSz="914400">
              <a:lnSpc>
                <a:spcPct val="100000"/>
              </a:lnSpc>
            </a:pPr>
            <a:r>
              <a:rPr lang="en-US" sz="1100" b="1" u="none" strike="noStrike">
                <a:solidFill>
                  <a:srgbClr val="2F5597"/>
                </a:solidFill>
                <a:effectLst/>
                <a:uFillTx/>
                <a:latin typeface="Calibri"/>
              </a:rPr>
              <a:t>Q8. Which ingestion pattern provides low‑latency streaming of database changes?</a:t>
            </a:r>
            <a:endParaRPr lang="en-IN" sz="11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a) Query‑based polling</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b) CDC using WAL/binlog</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c) API polling</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d) File tailing</a:t>
            </a:r>
            <a:endParaRPr lang="en-IN" sz="1000" b="0" u="none" strike="noStrike">
              <a:solidFill>
                <a:srgbClr val="000000"/>
              </a:solidFill>
              <a:effectLst/>
              <a:uFillTx/>
              <a:latin typeface="Arial"/>
            </a:endParaRPr>
          </a:p>
        </p:txBody>
      </p:sp>
      <p:sp>
        <p:nvSpPr>
          <p:cNvPr id="304" name="Text 32"/>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endParaRPr lang="en-IN" sz="700" b="0" u="none" strike="noStrike">
              <a:solidFill>
                <a:srgbClr val="000000"/>
              </a:solidFill>
              <a:effectLst/>
              <a:uFillTx/>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5"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Solution: Configure a Connector</a:t>
            </a:r>
            <a:endParaRPr lang="en-IN" sz="2200" b="0" u="none" strike="noStrike">
              <a:solidFill>
                <a:srgbClr val="000000"/>
              </a:solidFill>
              <a:effectLst/>
              <a:uFillTx/>
              <a:latin typeface="Arial"/>
            </a:endParaRPr>
          </a:p>
        </p:txBody>
      </p:sp>
      <p:sp>
        <p:nvSpPr>
          <p:cNvPr id="306"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07" name="TextBox 3"/>
          <p:cNvSpPr/>
          <p:nvPr/>
        </p:nvSpPr>
        <p:spPr>
          <a:xfrm>
            <a:off x="438840" y="786240"/>
            <a:ext cx="7497720" cy="25560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endParaRPr lang="en-IN" sz="1800" b="0" u="none" strike="noStrike">
              <a:solidFill>
                <a:srgbClr val="000000"/>
              </a:solidFill>
              <a:effectLst/>
              <a:uFillTx/>
              <a:latin typeface="Arial"/>
            </a:endParaRPr>
          </a:p>
        </p:txBody>
      </p:sp>
      <p:sp>
        <p:nvSpPr>
          <p:cNvPr id="308" name="TextBox 4"/>
          <p:cNvSpPr/>
          <p:nvPr/>
        </p:nvSpPr>
        <p:spPr>
          <a:xfrm>
            <a:off x="640080" y="1234440"/>
            <a:ext cx="7406280" cy="3305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spcBef>
                <a:spcPts val="1191"/>
              </a:spcBef>
              <a:spcAft>
                <a:spcPts val="992"/>
              </a:spcAft>
            </a:pPr>
            <a:r>
              <a:rPr lang="en-US" sz="1500" b="0" u="none" strike="noStrike">
                <a:solidFill>
                  <a:srgbClr val="1E1E1E"/>
                </a:solidFill>
                <a:effectLst/>
                <a:uFillTx/>
                <a:latin typeface="Calibri"/>
              </a:rPr>
              <a:t>Q7. Which component in Kafka Connect performs the actual data movement?</a:t>
            </a:r>
            <a:endParaRPr lang="en-IN" sz="1500" b="0" u="none" strike="noStrike">
              <a:solidFill>
                <a:srgbClr val="000000"/>
              </a:solidFill>
              <a:effectLst/>
              <a:uFillTx/>
              <a:latin typeface="Arial"/>
            </a:endParaRPr>
          </a:p>
          <a:p>
            <a:pPr defTabSz="914400">
              <a:lnSpc>
                <a:spcPct val="100000"/>
              </a:lnSpc>
              <a:spcBef>
                <a:spcPts val="1191"/>
              </a:spcBef>
              <a:spcAft>
                <a:spcPts val="992"/>
              </a:spcAft>
            </a:pPr>
            <a:r>
              <a:rPr lang="en-US" sz="1500" b="0" u="none" strike="noStrike">
                <a:solidFill>
                  <a:srgbClr val="1E1E1E"/>
                </a:solidFill>
                <a:effectLst/>
                <a:uFillTx/>
                <a:latin typeface="Calibri"/>
              </a:rPr>
              <a:t>Answer: c) Task</a:t>
            </a:r>
            <a:endParaRPr lang="en-IN" sz="1500" b="0" u="none" strike="noStrike">
              <a:solidFill>
                <a:srgbClr val="000000"/>
              </a:solidFill>
              <a:effectLst/>
              <a:uFillTx/>
              <a:latin typeface="Arial"/>
            </a:endParaRPr>
          </a:p>
          <a:p>
            <a:pPr defTabSz="914400">
              <a:lnSpc>
                <a:spcPct val="100000"/>
              </a:lnSpc>
              <a:spcBef>
                <a:spcPts val="1191"/>
              </a:spcBef>
              <a:spcAft>
                <a:spcPts val="992"/>
              </a:spcAft>
            </a:pPr>
            <a:r>
              <a:rPr lang="en-US" sz="1500" b="0" u="none" strike="noStrike">
                <a:solidFill>
                  <a:srgbClr val="1E1E1E"/>
                </a:solidFill>
                <a:effectLst/>
                <a:uFillTx/>
                <a:latin typeface="Calibri"/>
              </a:rPr>
              <a:t>A Connector defines what data source/sink to use and creates one or more Tasks. The Tasks do the actual work of copying/moving data.</a:t>
            </a:r>
            <a:endParaRPr lang="en-IN" sz="1500" b="0" u="none" strike="noStrike">
              <a:solidFill>
                <a:srgbClr val="000000"/>
              </a:solidFill>
              <a:effectLst/>
              <a:uFillTx/>
              <a:latin typeface="Arial"/>
            </a:endParaRPr>
          </a:p>
          <a:p>
            <a:pPr defTabSz="914400">
              <a:lnSpc>
                <a:spcPct val="100000"/>
              </a:lnSpc>
              <a:spcBef>
                <a:spcPts val="1191"/>
              </a:spcBef>
              <a:spcAft>
                <a:spcPts val="992"/>
              </a:spcAft>
            </a:pPr>
            <a:r>
              <a:rPr lang="en-US" sz="1500" b="0" u="none" strike="noStrike">
                <a:solidFill>
                  <a:srgbClr val="1E1E1E"/>
                </a:solidFill>
                <a:effectLst/>
                <a:uFillTx/>
                <a:latin typeface="Calibri"/>
              </a:rPr>
              <a:t>Q8. Which ingestion pattern provides low-latency streaming of database changes?</a:t>
            </a:r>
            <a:endParaRPr lang="en-IN" sz="1500" b="0" u="none" strike="noStrike">
              <a:solidFill>
                <a:srgbClr val="000000"/>
              </a:solidFill>
              <a:effectLst/>
              <a:uFillTx/>
              <a:latin typeface="Arial"/>
            </a:endParaRPr>
          </a:p>
          <a:p>
            <a:pPr defTabSz="914400">
              <a:lnSpc>
                <a:spcPct val="100000"/>
              </a:lnSpc>
              <a:spcBef>
                <a:spcPts val="1191"/>
              </a:spcBef>
              <a:spcAft>
                <a:spcPts val="992"/>
              </a:spcAft>
            </a:pPr>
            <a:r>
              <a:rPr lang="en-US" sz="1500" b="0" u="none" strike="noStrike">
                <a:solidFill>
                  <a:srgbClr val="1E1E1E"/>
                </a:solidFill>
                <a:effectLst/>
                <a:uFillTx/>
                <a:latin typeface="Calibri"/>
              </a:rPr>
              <a:t>Answer: b) CDC using WAL/binlog</a:t>
            </a:r>
            <a:endParaRPr lang="en-IN" sz="1500" b="0" u="none" strike="noStrike">
              <a:solidFill>
                <a:srgbClr val="000000"/>
              </a:solidFill>
              <a:effectLst/>
              <a:uFillTx/>
              <a:latin typeface="Arial"/>
            </a:endParaRPr>
          </a:p>
          <a:p>
            <a:pPr defTabSz="914400">
              <a:lnSpc>
                <a:spcPct val="100000"/>
              </a:lnSpc>
              <a:spcBef>
                <a:spcPts val="1191"/>
              </a:spcBef>
              <a:spcAft>
                <a:spcPts val="992"/>
              </a:spcAft>
            </a:pPr>
            <a:r>
              <a:rPr lang="en-US" sz="1500" b="0" u="none" strike="noStrike">
                <a:solidFill>
                  <a:srgbClr val="1E1E1E"/>
                </a:solidFill>
                <a:effectLst/>
                <a:uFillTx/>
                <a:latin typeface="Calibri"/>
              </a:rPr>
              <a:t>CDC reads database change logs such as WAL in PostgreSQL or binlog in MySQL, so changes can be streamed to Kafka with low latency.</a:t>
            </a:r>
            <a:endParaRPr lang="en-IN" sz="1500" b="0" u="none" strike="noStrike">
              <a:solidFill>
                <a:srgbClr val="000000"/>
              </a:solidFill>
              <a:effectLst/>
              <a:uFillTx/>
              <a:latin typeface="Arial"/>
            </a:endParaRPr>
          </a:p>
        </p:txBody>
      </p:sp>
      <p:sp>
        <p:nvSpPr>
          <p:cNvPr id="309" name="TextBox 5"/>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[45]</a:t>
            </a:r>
            <a:endParaRPr lang="en-IN" sz="800" b="0" u="none" strike="noStrike">
              <a:solidFill>
                <a:srgbClr val="000000"/>
              </a:solidFill>
              <a:effectLst/>
              <a:uFillTx/>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0"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Lab Topology: Ubuntu Host to Kafka and Back</a:t>
            </a:r>
            <a:endParaRPr lang="en-IN" sz="2200" b="0" u="none" strike="noStrike">
              <a:solidFill>
                <a:srgbClr val="000000"/>
              </a:solidFill>
              <a:effectLst/>
              <a:uFillTx/>
              <a:latin typeface="Arial"/>
            </a:endParaRPr>
          </a:p>
        </p:txBody>
      </p:sp>
      <p:sp>
        <p:nvSpPr>
          <p:cNvPr id="311" name="Text 1"/>
          <p:cNvSpPr/>
          <p:nvPr/>
        </p:nvSpPr>
        <p:spPr>
          <a:xfrm>
            <a:off x="457200" y="1097280"/>
            <a:ext cx="5485680" cy="2742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1" u="none" strike="noStrike">
                <a:solidFill>
                  <a:srgbClr val="2F5597"/>
                </a:solidFill>
                <a:effectLst/>
                <a:uFillTx/>
                <a:latin typeface="Calibri"/>
              </a:rPr>
              <a:t>Your supplied Docker Compose lab:</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Starts one KRaft broker and one Kafka Connect worker.</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Exposes Connect REST at localhost:8083.</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Source: /data/input/produce.txt -&gt; topic fs-source.</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Sink: topic fs-source -&gt; /data/output/consume.txt.</a:t>
            </a:r>
            <a:endParaRPr lang="en-IN" sz="1200" b="0" u="none" strike="noStrike">
              <a:solidFill>
                <a:srgbClr val="000000"/>
              </a:solidFill>
              <a:effectLst/>
              <a:uFillTx/>
              <a:latin typeface="Arial"/>
            </a:endParaRPr>
          </a:p>
          <a:p>
            <a:pPr defTabSz="914400">
              <a:lnSpc>
                <a:spcPct val="100000"/>
              </a:lnSpc>
              <a:tabLst>
                <a:tab pos="0" algn="l"/>
              </a:tabLst>
            </a:pP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Distributed Connect stores config, offsets and status in Kafka topics.</a:t>
            </a:r>
            <a:endParaRPr lang="en-IN" sz="1200" b="0" u="none" strike="noStrike">
              <a:solidFill>
                <a:srgbClr val="000000"/>
              </a:solidFill>
              <a:effectLst/>
              <a:uFillTx/>
              <a:latin typeface="Arial"/>
            </a:endParaRPr>
          </a:p>
        </p:txBody>
      </p:sp>
      <p:sp>
        <p:nvSpPr>
          <p:cNvPr id="312" name="Shape 2"/>
          <p:cNvSpPr/>
          <p:nvPr/>
        </p:nvSpPr>
        <p:spPr>
          <a:xfrm>
            <a:off x="6400800" y="1280160"/>
            <a:ext cx="1828080" cy="456480"/>
          </a:xfrm>
          <a:prstGeom prst="roundRect">
            <a:avLst>
              <a:gd name="adj" fmla="val 10000"/>
            </a:avLst>
          </a:prstGeom>
          <a:solidFill>
            <a:srgbClr val="F2F6FA"/>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313" name="Text 3"/>
          <p:cNvSpPr/>
          <p:nvPr/>
        </p:nvSpPr>
        <p:spPr>
          <a:xfrm>
            <a:off x="6400800" y="1280160"/>
            <a:ext cx="18280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2F5597"/>
                </a:solidFill>
                <a:effectLst/>
                <a:uFillTx/>
                <a:latin typeface="Calibri"/>
              </a:rPr>
              <a:t>/data/input</a:t>
            </a:r>
            <a:endParaRPr lang="en-IN" sz="900" b="0" u="none" strike="noStrike">
              <a:solidFill>
                <a:srgbClr val="000000"/>
              </a:solidFill>
              <a:effectLst/>
              <a:uFillTx/>
              <a:latin typeface="Arial"/>
            </a:endParaRPr>
          </a:p>
        </p:txBody>
      </p:sp>
      <p:sp>
        <p:nvSpPr>
          <p:cNvPr id="314" name="Shape 4"/>
          <p:cNvSpPr/>
          <p:nvPr/>
        </p:nvSpPr>
        <p:spPr>
          <a:xfrm>
            <a:off x="6400800" y="2103120"/>
            <a:ext cx="1828080" cy="456480"/>
          </a:xfrm>
          <a:prstGeom prst="roundRect">
            <a:avLst>
              <a:gd name="adj" fmla="val 10000"/>
            </a:avLst>
          </a:prstGeom>
          <a:solidFill>
            <a:srgbClr val="F2F6FA"/>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315" name="Text 5"/>
          <p:cNvSpPr/>
          <p:nvPr/>
        </p:nvSpPr>
        <p:spPr>
          <a:xfrm>
            <a:off x="6400800" y="2103120"/>
            <a:ext cx="18280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2F5597"/>
                </a:solidFill>
                <a:effectLst/>
                <a:uFillTx/>
                <a:latin typeface="Calibri"/>
              </a:rPr>
              <a:t>Connect :8083</a:t>
            </a:r>
            <a:endParaRPr lang="en-IN" sz="900" b="0" u="none" strike="noStrike">
              <a:solidFill>
                <a:srgbClr val="000000"/>
              </a:solidFill>
              <a:effectLst/>
              <a:uFillTx/>
              <a:latin typeface="Arial"/>
            </a:endParaRPr>
          </a:p>
        </p:txBody>
      </p:sp>
      <p:sp>
        <p:nvSpPr>
          <p:cNvPr id="316" name="Shape 6"/>
          <p:cNvSpPr/>
          <p:nvPr/>
        </p:nvSpPr>
        <p:spPr>
          <a:xfrm>
            <a:off x="6400800" y="2926080"/>
            <a:ext cx="1828080" cy="456480"/>
          </a:xfrm>
          <a:prstGeom prst="roundRect">
            <a:avLst>
              <a:gd name="adj" fmla="val 10000"/>
            </a:avLst>
          </a:prstGeom>
          <a:solidFill>
            <a:srgbClr val="F2F6FA"/>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317" name="Text 7"/>
          <p:cNvSpPr/>
          <p:nvPr/>
        </p:nvSpPr>
        <p:spPr>
          <a:xfrm>
            <a:off x="6400800" y="2926080"/>
            <a:ext cx="18280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2F5597"/>
                </a:solidFill>
                <a:effectLst/>
                <a:uFillTx/>
                <a:latin typeface="Calibri"/>
              </a:rPr>
              <a:t>Kafka fs-source</a:t>
            </a:r>
            <a:endParaRPr lang="en-IN" sz="900" b="0" u="none" strike="noStrike">
              <a:solidFill>
                <a:srgbClr val="000000"/>
              </a:solidFill>
              <a:effectLst/>
              <a:uFillTx/>
              <a:latin typeface="Arial"/>
            </a:endParaRPr>
          </a:p>
        </p:txBody>
      </p:sp>
      <p:sp>
        <p:nvSpPr>
          <p:cNvPr id="318" name="Shape 8"/>
          <p:cNvSpPr/>
          <p:nvPr/>
        </p:nvSpPr>
        <p:spPr>
          <a:xfrm>
            <a:off x="6949440" y="3840480"/>
            <a:ext cx="1096560" cy="365040"/>
          </a:xfrm>
          <a:prstGeom prst="rect">
            <a:avLst/>
          </a:prstGeom>
          <a:solidFill>
            <a:srgbClr val="D6E0F0"/>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319" name="Text 9"/>
          <p:cNvSpPr/>
          <p:nvPr/>
        </p:nvSpPr>
        <p:spPr>
          <a:xfrm>
            <a:off x="6949440" y="3840480"/>
            <a:ext cx="1096560" cy="36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2F5597"/>
                </a:solidFill>
                <a:effectLst/>
                <a:uFillTx/>
                <a:latin typeface="Calibri"/>
              </a:rPr>
              <a:t>/data/output</a:t>
            </a:r>
            <a:endParaRPr lang="en-IN" sz="800" b="0" u="none" strike="noStrike">
              <a:solidFill>
                <a:srgbClr val="000000"/>
              </a:solidFill>
              <a:effectLst/>
              <a:uFillTx/>
              <a:latin typeface="Arial"/>
            </a:endParaRPr>
          </a:p>
        </p:txBody>
      </p:sp>
      <p:sp>
        <p:nvSpPr>
          <p:cNvPr id="320" name="Shape 10"/>
          <p:cNvSpPr/>
          <p:nvPr/>
        </p:nvSpPr>
        <p:spPr>
          <a:xfrm>
            <a:off x="7498080" y="1828800"/>
            <a:ext cx="182160" cy="547920"/>
          </a:xfrm>
          <a:prstGeom prst="downArrow">
            <a:avLst>
              <a:gd name="adj1" fmla="val 50000"/>
              <a:gd name="adj2" fmla="val 50000"/>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321" name="Shape 11"/>
          <p:cNvSpPr/>
          <p:nvPr/>
        </p:nvSpPr>
        <p:spPr>
          <a:xfrm>
            <a:off x="7498080" y="2651760"/>
            <a:ext cx="182160" cy="547920"/>
          </a:xfrm>
          <a:prstGeom prst="downArrow">
            <a:avLst>
              <a:gd name="adj1" fmla="val 50000"/>
              <a:gd name="adj2" fmla="val 50000"/>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322" name="Shape 12"/>
          <p:cNvSpPr/>
          <p:nvPr/>
        </p:nvSpPr>
        <p:spPr>
          <a:xfrm>
            <a:off x="7498080" y="3474720"/>
            <a:ext cx="182160" cy="547920"/>
          </a:xfrm>
          <a:prstGeom prst="downArrow">
            <a:avLst>
              <a:gd name="adj1" fmla="val 50000"/>
              <a:gd name="adj2" fmla="val 50000"/>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323" name="Text 13"/>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endParaRPr lang="en-IN" sz="700" b="0" u="none" strike="noStrike">
              <a:solidFill>
                <a:srgbClr val="000000"/>
              </a:solidFill>
              <a:effectLst/>
              <a:uFillTx/>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Client-Ready Lab Topology: Three Brokers Plus Connect</a:t>
            </a:r>
            <a:endParaRPr lang="en-IN" sz="2200" b="0" u="none" strike="noStrike">
              <a:solidFill>
                <a:srgbClr val="000000"/>
              </a:solidFill>
              <a:effectLst/>
              <a:uFillTx/>
              <a:latin typeface="Arial"/>
            </a:endParaRPr>
          </a:p>
        </p:txBody>
      </p:sp>
      <p:sp>
        <p:nvSpPr>
          <p:cNvPr id="325"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26" name="TextBox 3"/>
          <p:cNvSpPr/>
          <p:nvPr/>
        </p:nvSpPr>
        <p:spPr>
          <a:xfrm>
            <a:off x="438840" y="786240"/>
            <a:ext cx="7497720" cy="25560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150" b="0" u="none" strike="noStrike">
                <a:solidFill>
                  <a:srgbClr val="585858"/>
                </a:solidFill>
                <a:effectLst/>
                <a:uFillTx/>
                <a:latin typeface="Calibri"/>
              </a:rPr>
              <a:t>The refreshed lab keeps the original FileStream idea but runs it beside a visible replicated Kafka cluster.</a:t>
            </a:r>
            <a:endParaRPr lang="en-IN" sz="1150" b="0" u="none" strike="noStrike">
              <a:solidFill>
                <a:srgbClr val="000000"/>
              </a:solidFill>
              <a:effectLst/>
              <a:uFillTx/>
              <a:latin typeface="Arial"/>
            </a:endParaRPr>
          </a:p>
        </p:txBody>
      </p:sp>
      <p:sp>
        <p:nvSpPr>
          <p:cNvPr id="327" name="Rounded Rectangle 4"/>
          <p:cNvSpPr/>
          <p:nvPr/>
        </p:nvSpPr>
        <p:spPr>
          <a:xfrm>
            <a:off x="502920" y="1600200"/>
            <a:ext cx="1234080" cy="52992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150" b="1" u="none" strike="noStrike">
                <a:solidFill>
                  <a:srgbClr val="365F91"/>
                </a:solidFill>
                <a:effectLst/>
                <a:uFillTx/>
                <a:latin typeface="Calibri"/>
              </a:rPr>
              <a:t>Producer</a:t>
            </a:r>
            <a:endParaRPr lang="en-IN" sz="1150" b="0" u="none" strike="noStrike">
              <a:solidFill>
                <a:srgbClr val="000000"/>
              </a:solidFill>
              <a:effectLst/>
              <a:uFillTx/>
              <a:latin typeface="Arial"/>
            </a:endParaRPr>
          </a:p>
        </p:txBody>
      </p:sp>
      <p:sp>
        <p:nvSpPr>
          <p:cNvPr id="328" name="Right Arrow 5"/>
          <p:cNvSpPr/>
          <p:nvPr/>
        </p:nvSpPr>
        <p:spPr>
          <a:xfrm>
            <a:off x="1847160" y="1764720"/>
            <a:ext cx="328680" cy="200880"/>
          </a:xfrm>
          <a:prstGeom prst="rightArrow">
            <a:avLst>
              <a:gd name="adj1" fmla="val 50000"/>
              <a:gd name="adj2" fmla="val 50000"/>
            </a:avLst>
          </a:prstGeom>
          <a:solidFill>
            <a:srgbClr val="585858"/>
          </a:solidFill>
          <a:ln>
            <a:solidFill>
              <a:srgbClr val="585858"/>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29" name="Rounded Rectangle 6"/>
          <p:cNvSpPr/>
          <p:nvPr/>
        </p:nvSpPr>
        <p:spPr>
          <a:xfrm>
            <a:off x="2267640" y="1600200"/>
            <a:ext cx="1234080" cy="52992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150" b="1" u="none" strike="noStrike">
                <a:solidFill>
                  <a:srgbClr val="365F91"/>
                </a:solidFill>
                <a:effectLst/>
                <a:uFillTx/>
                <a:latin typeface="Calibri"/>
              </a:rPr>
              <a:t>Broker 1/2/3</a:t>
            </a:r>
            <a:endParaRPr lang="en-IN" sz="1150" b="0" u="none" strike="noStrike">
              <a:solidFill>
                <a:srgbClr val="000000"/>
              </a:solidFill>
              <a:effectLst/>
              <a:uFillTx/>
              <a:latin typeface="Arial"/>
            </a:endParaRPr>
          </a:p>
        </p:txBody>
      </p:sp>
      <p:sp>
        <p:nvSpPr>
          <p:cNvPr id="330" name="Right Arrow 7"/>
          <p:cNvSpPr/>
          <p:nvPr/>
        </p:nvSpPr>
        <p:spPr>
          <a:xfrm>
            <a:off x="3611880" y="1764720"/>
            <a:ext cx="328680" cy="200880"/>
          </a:xfrm>
          <a:prstGeom prst="rightArrow">
            <a:avLst>
              <a:gd name="adj1" fmla="val 50000"/>
              <a:gd name="adj2" fmla="val 50000"/>
            </a:avLst>
          </a:prstGeom>
          <a:solidFill>
            <a:srgbClr val="585858"/>
          </a:solidFill>
          <a:ln>
            <a:solidFill>
              <a:srgbClr val="585858"/>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31" name="Rounded Rectangle 8"/>
          <p:cNvSpPr/>
          <p:nvPr/>
        </p:nvSpPr>
        <p:spPr>
          <a:xfrm>
            <a:off x="4032360" y="1600200"/>
            <a:ext cx="1234080" cy="52992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150" b="1" u="none" strike="noStrike">
                <a:solidFill>
                  <a:srgbClr val="365F91"/>
                </a:solidFill>
                <a:effectLst/>
                <a:uFillTx/>
                <a:latin typeface="Calibri"/>
              </a:rPr>
              <a:t>Connect</a:t>
            </a:r>
            <a:endParaRPr lang="en-IN" sz="1150" b="0" u="none" strike="noStrike">
              <a:solidFill>
                <a:srgbClr val="000000"/>
              </a:solidFill>
              <a:effectLst/>
              <a:uFillTx/>
              <a:latin typeface="Arial"/>
            </a:endParaRPr>
          </a:p>
        </p:txBody>
      </p:sp>
      <p:sp>
        <p:nvSpPr>
          <p:cNvPr id="332" name="Right Arrow 9"/>
          <p:cNvSpPr/>
          <p:nvPr/>
        </p:nvSpPr>
        <p:spPr>
          <a:xfrm>
            <a:off x="5376600" y="1764720"/>
            <a:ext cx="328680" cy="200880"/>
          </a:xfrm>
          <a:prstGeom prst="rightArrow">
            <a:avLst>
              <a:gd name="adj1" fmla="val 50000"/>
              <a:gd name="adj2" fmla="val 50000"/>
            </a:avLst>
          </a:prstGeom>
          <a:solidFill>
            <a:srgbClr val="585858"/>
          </a:solidFill>
          <a:ln>
            <a:solidFill>
              <a:srgbClr val="585858"/>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33" name="Rounded Rectangle 10"/>
          <p:cNvSpPr/>
          <p:nvPr/>
        </p:nvSpPr>
        <p:spPr>
          <a:xfrm>
            <a:off x="5797440" y="1600200"/>
            <a:ext cx="1234080" cy="52992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150" b="1" u="none" strike="noStrike">
                <a:solidFill>
                  <a:srgbClr val="365F91"/>
                </a:solidFill>
                <a:effectLst/>
                <a:uFillTx/>
                <a:latin typeface="Calibri"/>
              </a:rPr>
              <a:t>fs-source</a:t>
            </a:r>
            <a:endParaRPr lang="en-IN" sz="1150" b="0" u="none" strike="noStrike">
              <a:solidFill>
                <a:srgbClr val="000000"/>
              </a:solidFill>
              <a:effectLst/>
              <a:uFillTx/>
              <a:latin typeface="Arial"/>
            </a:endParaRPr>
          </a:p>
        </p:txBody>
      </p:sp>
      <p:sp>
        <p:nvSpPr>
          <p:cNvPr id="334" name="Right Arrow 11"/>
          <p:cNvSpPr/>
          <p:nvPr/>
        </p:nvSpPr>
        <p:spPr>
          <a:xfrm>
            <a:off x="7141320" y="1764720"/>
            <a:ext cx="328680" cy="200880"/>
          </a:xfrm>
          <a:prstGeom prst="rightArrow">
            <a:avLst>
              <a:gd name="adj1" fmla="val 50000"/>
              <a:gd name="adj2" fmla="val 50000"/>
            </a:avLst>
          </a:prstGeom>
          <a:solidFill>
            <a:srgbClr val="585858"/>
          </a:solidFill>
          <a:ln>
            <a:solidFill>
              <a:srgbClr val="585858"/>
            </a:solidFill>
            <a:round/>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35" name="Rounded Rectangle 12"/>
          <p:cNvSpPr/>
          <p:nvPr/>
        </p:nvSpPr>
        <p:spPr>
          <a:xfrm>
            <a:off x="7562160" y="1600200"/>
            <a:ext cx="1234080" cy="52992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150" b="1" u="none" strike="noStrike">
                <a:solidFill>
                  <a:srgbClr val="365F91"/>
                </a:solidFill>
                <a:effectLst/>
                <a:uFillTx/>
                <a:latin typeface="Calibri"/>
              </a:rPr>
              <a:t>Output file</a:t>
            </a:r>
            <a:endParaRPr lang="en-IN" sz="1150" b="0" u="none" strike="noStrike">
              <a:solidFill>
                <a:srgbClr val="000000"/>
              </a:solidFill>
              <a:effectLst/>
              <a:uFillTx/>
              <a:latin typeface="Arial"/>
            </a:endParaRPr>
          </a:p>
        </p:txBody>
      </p:sp>
      <p:sp>
        <p:nvSpPr>
          <p:cNvPr id="336" name="TextBox 13"/>
          <p:cNvSpPr/>
          <p:nvPr/>
        </p:nvSpPr>
        <p:spPr>
          <a:xfrm>
            <a:off x="685800" y="2880360"/>
            <a:ext cx="7314840" cy="1279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400" b="0" u="none" strike="noStrike">
                <a:solidFill>
                  <a:srgbClr val="1E1E1E"/>
                </a:solidFill>
                <a:effectLst/>
                <a:uFillTx/>
                <a:latin typeface="Calibri"/>
              </a:rPr>
              <a:t>Python clients use localhost:9092.</a:t>
            </a:r>
            <a:endParaRPr lang="en-IN" sz="14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400" b="0" u="none" strike="noStrike">
                <a:solidFill>
                  <a:srgbClr val="1E1E1E"/>
                </a:solidFill>
                <a:effectLst/>
                <a:uFillTx/>
                <a:latin typeface="Calibri"/>
              </a:rPr>
              <a:t>Kafka UI is localhost:8080 and Connect REST is localhost:8083.</a:t>
            </a:r>
            <a:endParaRPr lang="en-IN" sz="14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400" b="0" u="none" strike="noStrike">
                <a:solidFill>
                  <a:srgbClr val="1E1E1E"/>
                </a:solidFill>
                <a:effectLst/>
                <a:uFillTx/>
                <a:latin typeface="Calibri"/>
              </a:rPr>
              <a:t>Connect talks to brokers on the Docker network: broker1:29092, broker2:29092, broker3:29092.</a:t>
            </a:r>
            <a:endParaRPr lang="en-IN" sz="1400" b="0" u="none" strike="noStrike">
              <a:solidFill>
                <a:srgbClr val="000000"/>
              </a:solidFill>
              <a:effectLst/>
              <a:uFillTx/>
              <a:latin typeface="Arial"/>
            </a:endParaRPr>
          </a:p>
        </p:txBody>
      </p:sp>
      <p:sp>
        <p:nvSpPr>
          <p:cNvPr id="337" name="TextBox 14"/>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[47]</a:t>
            </a:r>
            <a:endParaRPr lang="en-IN" sz="800" b="0" u="none" strike="noStrike">
              <a:solidFill>
                <a:srgbClr val="000000"/>
              </a:solidFill>
              <a:effectLst/>
              <a:uFillTx/>
              <a:latin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8"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Lab 1: FileStream Source Connector</a:t>
            </a:r>
            <a:endParaRPr lang="en-IN" sz="2200" b="0" u="none" strike="noStrike">
              <a:solidFill>
                <a:srgbClr val="000000"/>
              </a:solidFill>
              <a:effectLst/>
              <a:uFillTx/>
              <a:latin typeface="Arial"/>
            </a:endParaRPr>
          </a:p>
        </p:txBody>
      </p:sp>
      <p:sp>
        <p:nvSpPr>
          <p:cNvPr id="339" name="Text 1"/>
          <p:cNvSpPr/>
          <p:nvPr/>
        </p:nvSpPr>
        <p:spPr>
          <a:xfrm>
            <a:off x="457200" y="1005840"/>
            <a:ext cx="82288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100" b="0" u="none" strike="noStrike">
                <a:solidFill>
                  <a:srgbClr val="385170"/>
                </a:solidFill>
                <a:effectLst/>
                <a:uFillTx/>
                <a:latin typeface="Calibri"/>
              </a:rPr>
              <a:t>This supplied configuration reads each new line from the mounted input file and publishes it to Kafka topic fs-source.</a:t>
            </a:r>
            <a:endParaRPr lang="en-IN" sz="1100" b="0" u="none" strike="noStrike">
              <a:solidFill>
                <a:srgbClr val="000000"/>
              </a:solidFill>
              <a:effectLst/>
              <a:uFillTx/>
              <a:latin typeface="Arial"/>
            </a:endParaRPr>
          </a:p>
        </p:txBody>
      </p:sp>
      <p:sp>
        <p:nvSpPr>
          <p:cNvPr id="340" name="Shape 2"/>
          <p:cNvSpPr/>
          <p:nvPr/>
        </p:nvSpPr>
        <p:spPr>
          <a:xfrm>
            <a:off x="457200" y="1463040"/>
            <a:ext cx="8228880" cy="2010960"/>
          </a:xfrm>
          <a:prstGeom prst="rect">
            <a:avLst/>
          </a:prstGeom>
          <a:solidFill>
            <a:srgbClr val="F7F9FB"/>
          </a:solidFill>
          <a:ln w="12700">
            <a:solidFill>
              <a:srgbClr val="D6E0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341" name="Text 3"/>
          <p:cNvSpPr/>
          <p:nvPr/>
        </p:nvSpPr>
        <p:spPr>
          <a:xfrm>
            <a:off x="502920" y="1508760"/>
            <a:ext cx="8137440" cy="1919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800" b="0" u="none" strike="noStrike">
                <a:solidFill>
                  <a:srgbClr val="385170"/>
                </a:solidFill>
                <a:effectLst/>
                <a:uFillTx/>
                <a:latin typeface="Consolas"/>
                <a:ea typeface="Consolas"/>
              </a:rPr>
              <a:t>{</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"name": "fs-source-connector",</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"config": {</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"connector.class":</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"org.apache.kafka.connect.file.FileStreamSourceConnector",</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"file": "/data/input/produce.txt",</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"topic": "fs-source",</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"tasks.max": "1"</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a:t>
            </a:r>
            <a:endParaRPr lang="en-IN" sz="800" b="0" u="none" strike="noStrike">
              <a:solidFill>
                <a:srgbClr val="000000"/>
              </a:solidFill>
              <a:effectLst/>
              <a:uFillTx/>
              <a:latin typeface="Arial"/>
            </a:endParaRPr>
          </a:p>
        </p:txBody>
      </p:sp>
      <p:sp>
        <p:nvSpPr>
          <p:cNvPr id="342" name="Text 4"/>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3"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Lab 2: FileStream Sink Connector</a:t>
            </a:r>
            <a:endParaRPr lang="en-IN" sz="2200" b="0" u="none" strike="noStrike">
              <a:solidFill>
                <a:srgbClr val="000000"/>
              </a:solidFill>
              <a:effectLst/>
              <a:uFillTx/>
              <a:latin typeface="Arial"/>
            </a:endParaRPr>
          </a:p>
        </p:txBody>
      </p:sp>
      <p:sp>
        <p:nvSpPr>
          <p:cNvPr id="344" name="Text 1"/>
          <p:cNvSpPr/>
          <p:nvPr/>
        </p:nvSpPr>
        <p:spPr>
          <a:xfrm>
            <a:off x="457200" y="1005840"/>
            <a:ext cx="82288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100" b="0" u="none" strike="noStrike">
                <a:solidFill>
                  <a:srgbClr val="385170"/>
                </a:solidFill>
                <a:effectLst/>
                <a:uFillTx/>
                <a:latin typeface="Calibri"/>
              </a:rPr>
              <a:t>The sink reads records from Kafka topic fs-source and writes the visible output file. It is the other direction of movement.</a:t>
            </a:r>
            <a:endParaRPr lang="en-IN" sz="1100" b="0" u="none" strike="noStrike">
              <a:solidFill>
                <a:srgbClr val="000000"/>
              </a:solidFill>
              <a:effectLst/>
              <a:uFillTx/>
              <a:latin typeface="Arial"/>
            </a:endParaRPr>
          </a:p>
        </p:txBody>
      </p:sp>
      <p:sp>
        <p:nvSpPr>
          <p:cNvPr id="345" name="Shape 2"/>
          <p:cNvSpPr/>
          <p:nvPr/>
        </p:nvSpPr>
        <p:spPr>
          <a:xfrm>
            <a:off x="457200" y="1463040"/>
            <a:ext cx="8228880" cy="2010960"/>
          </a:xfrm>
          <a:prstGeom prst="rect">
            <a:avLst/>
          </a:prstGeom>
          <a:solidFill>
            <a:srgbClr val="F7F9FB"/>
          </a:solidFill>
          <a:ln w="12700">
            <a:solidFill>
              <a:srgbClr val="D6E0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346" name="Text 3"/>
          <p:cNvSpPr/>
          <p:nvPr/>
        </p:nvSpPr>
        <p:spPr>
          <a:xfrm>
            <a:off x="502920" y="1508760"/>
            <a:ext cx="8137440" cy="1919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800" b="0" u="none" strike="noStrike">
                <a:solidFill>
                  <a:srgbClr val="385170"/>
                </a:solidFill>
                <a:effectLst/>
                <a:uFillTx/>
                <a:latin typeface="Consolas"/>
                <a:ea typeface="Consolas"/>
              </a:rPr>
              <a:t>{</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"name": "fs-sink-connector",</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"config": {</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"connector.class":</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"org.apache.kafka.connect.file.FileStreamSinkConnector",</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"topics": "fs-source",</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"file": "/data/output/consume.txt",</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"tasks.max": "1"</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  }</a:t>
            </a:r>
            <a:endParaRPr lang="en-IN" sz="800" b="0" u="none" strike="noStrike">
              <a:solidFill>
                <a:srgbClr val="000000"/>
              </a:solidFill>
              <a:effectLst/>
              <a:uFillTx/>
              <a:latin typeface="Arial"/>
            </a:endParaRPr>
          </a:p>
          <a:p>
            <a:pPr defTabSz="914400">
              <a:lnSpc>
                <a:spcPct val="100000"/>
              </a:lnSpc>
              <a:tabLst>
                <a:tab pos="0" algn="l"/>
              </a:tabLst>
            </a:pPr>
            <a:r>
              <a:rPr lang="en-US" sz="800" b="0" u="none" strike="noStrike">
                <a:solidFill>
                  <a:srgbClr val="385170"/>
                </a:solidFill>
                <a:effectLst/>
                <a:uFillTx/>
                <a:latin typeface="Consolas"/>
                <a:ea typeface="Consolas"/>
              </a:rPr>
              <a:t>}</a:t>
            </a:r>
            <a:endParaRPr lang="en-IN" sz="800" b="0" u="none" strike="noStrike">
              <a:solidFill>
                <a:srgbClr val="000000"/>
              </a:solidFill>
              <a:effectLst/>
              <a:uFillTx/>
              <a:latin typeface="Arial"/>
            </a:endParaRPr>
          </a:p>
        </p:txBody>
      </p:sp>
      <p:sp>
        <p:nvSpPr>
          <p:cNvPr id="347" name="Text 4"/>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9FBFD"/>
        </a:solidFill>
        <a:effectLst/>
      </p:bgPr>
    </p:bg>
    <p:spTree>
      <p:nvGrpSpPr>
        <p:cNvPr id="1" name=""/>
        <p:cNvGrpSpPr/>
        <p:nvPr/>
      </p:nvGrpSpPr>
      <p:grpSpPr>
        <a:xfrm>
          <a:off x="0" y="0"/>
          <a:ext cx="0" cy="0"/>
          <a:chOff x="0" y="0"/>
          <a:chExt cx="0" cy="0"/>
        </a:xfrm>
      </p:grpSpPr>
      <p:sp>
        <p:nvSpPr>
          <p:cNvPr id="348" name="Text 0"/>
          <p:cNvSpPr/>
          <p:nvPr/>
        </p:nvSpPr>
        <p:spPr>
          <a:xfrm>
            <a:off x="457200" y="274320"/>
            <a:ext cx="86860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Lab 3: Register Connectors Through REST</a:t>
            </a:r>
            <a:endParaRPr lang="en-IN" sz="2200" b="0" u="none" strike="noStrike">
              <a:solidFill>
                <a:srgbClr val="000000"/>
              </a:solidFill>
              <a:effectLst/>
              <a:uFillTx/>
              <a:latin typeface="Arial"/>
            </a:endParaRPr>
          </a:p>
        </p:txBody>
      </p:sp>
      <p:sp>
        <p:nvSpPr>
          <p:cNvPr id="349" name="Text 1"/>
          <p:cNvSpPr/>
          <p:nvPr/>
        </p:nvSpPr>
        <p:spPr>
          <a:xfrm>
            <a:off x="457200" y="822960"/>
            <a:ext cx="5028480" cy="255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1" u="none" strike="noStrike">
                <a:solidFill>
                  <a:srgbClr val="2F5597"/>
                </a:solidFill>
                <a:effectLst/>
                <a:uFillTx/>
                <a:latin typeface="Calibri"/>
              </a:rPr>
              <a:t>Run on Ubuntu from the lab-code folder:</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1. docker compose up -d</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2. curl http://localhost:8083/connector-plugins</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3. curl -X POST -H "Content-Type: application/json"</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--data @connector-source.json http://localhost:8083/connectors</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4. Repeat the POST with connector-sink.json.</a:t>
            </a:r>
            <a:endParaRPr lang="en-IN" sz="1200" b="0" u="none" strike="noStrike">
              <a:solidFill>
                <a:srgbClr val="000000"/>
              </a:solidFill>
              <a:effectLst/>
              <a:uFillTx/>
              <a:latin typeface="Arial"/>
            </a:endParaRPr>
          </a:p>
        </p:txBody>
      </p:sp>
      <p:sp>
        <p:nvSpPr>
          <p:cNvPr id="350" name="Text 2"/>
          <p:cNvSpPr/>
          <p:nvPr/>
        </p:nvSpPr>
        <p:spPr>
          <a:xfrm>
            <a:off x="5669280" y="822960"/>
            <a:ext cx="31996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400" b="1" u="none" strike="noStrike">
                <a:solidFill>
                  <a:srgbClr val="2F5597"/>
                </a:solidFill>
                <a:effectLst/>
                <a:uFillTx/>
                <a:latin typeface="Calibri"/>
              </a:rPr>
              <a:t>Explain Before You Run:</a:t>
            </a:r>
            <a:endParaRPr lang="en-IN" sz="1400" b="0" u="none" strike="noStrike">
              <a:solidFill>
                <a:srgbClr val="000000"/>
              </a:solidFill>
              <a:effectLst/>
              <a:uFillTx/>
              <a:latin typeface="Arial"/>
            </a:endParaRPr>
          </a:p>
        </p:txBody>
      </p:sp>
      <p:sp>
        <p:nvSpPr>
          <p:cNvPr id="351" name="Text 3"/>
          <p:cNvSpPr/>
          <p:nvPr/>
        </p:nvSpPr>
        <p:spPr>
          <a:xfrm>
            <a:off x="5669280" y="1097280"/>
            <a:ext cx="3199680" cy="2376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100" b="1" u="none" strike="noStrike">
                <a:solidFill>
                  <a:srgbClr val="2F5597"/>
                </a:solidFill>
                <a:effectLst/>
                <a:uFillTx/>
                <a:latin typeface="Calibri"/>
              </a:rPr>
              <a:t>Which part of each request defines direction?</a:t>
            </a:r>
            <a:endParaRPr lang="en-IN" sz="1100" b="0" u="none" strike="noStrike">
              <a:solidFill>
                <a:srgbClr val="000000"/>
              </a:solidFill>
              <a:effectLst/>
              <a:uFillTx/>
              <a:latin typeface="Arial"/>
            </a:endParaRPr>
          </a:p>
          <a:p>
            <a:pPr defTabSz="914400">
              <a:lnSpc>
                <a:spcPct val="100000"/>
              </a:lnSpc>
              <a:tabLst>
                <a:tab pos="0" algn="l"/>
              </a:tabLst>
            </a:pP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Source configuration:</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file -&gt; topic</a:t>
            </a:r>
            <a:endParaRPr lang="en-IN" sz="1000" b="0" u="none" strike="noStrike">
              <a:solidFill>
                <a:srgbClr val="000000"/>
              </a:solidFill>
              <a:effectLst/>
              <a:uFillTx/>
              <a:latin typeface="Arial"/>
            </a:endParaRPr>
          </a:p>
          <a:p>
            <a:pPr defTabSz="914400">
              <a:lnSpc>
                <a:spcPct val="100000"/>
              </a:lnSpc>
              <a:tabLst>
                <a:tab pos="0" algn="l"/>
              </a:tabLst>
            </a:pP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Sink configuration:</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topics -&gt; file</a:t>
            </a:r>
            <a:endParaRPr lang="en-IN" sz="1000" b="0" u="none" strike="noStrike">
              <a:solidFill>
                <a:srgbClr val="000000"/>
              </a:solidFill>
              <a:effectLst/>
              <a:uFillTx/>
              <a:latin typeface="Arial"/>
            </a:endParaRPr>
          </a:p>
          <a:p>
            <a:pPr defTabSz="914400">
              <a:lnSpc>
                <a:spcPct val="100000"/>
              </a:lnSpc>
              <a:tabLst>
                <a:tab pos="0" algn="l"/>
              </a:tabLst>
            </a:pP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Evidence required: both connector names appear from GET /connectors.</a:t>
            </a:r>
            <a:endParaRPr lang="en-IN" sz="1000" b="0" u="none" strike="noStrike">
              <a:solidFill>
                <a:srgbClr val="000000"/>
              </a:solidFill>
              <a:effectLst/>
              <a:uFillTx/>
              <a:latin typeface="Arial"/>
            </a:endParaRPr>
          </a:p>
        </p:txBody>
      </p:sp>
      <p:sp>
        <p:nvSpPr>
          <p:cNvPr id="352" name="Text 4"/>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endParaRPr lang="en-IN" sz="700" b="0" u="none" strike="noStrike">
              <a:solidFill>
                <a:srgbClr val="000000"/>
              </a:solidFill>
              <a:effectLst/>
              <a:uFillTx/>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3"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Kafka UI Evidence: What Learners Should Capture</a:t>
            </a:r>
            <a:endParaRPr lang="en-IN" sz="2200" b="0" u="none" strike="noStrike">
              <a:solidFill>
                <a:srgbClr val="000000"/>
              </a:solidFill>
              <a:effectLst/>
              <a:uFillTx/>
              <a:latin typeface="Arial"/>
            </a:endParaRPr>
          </a:p>
        </p:txBody>
      </p:sp>
      <p:sp>
        <p:nvSpPr>
          <p:cNvPr id="354"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55" name="TextBox 3"/>
          <p:cNvSpPr/>
          <p:nvPr/>
        </p:nvSpPr>
        <p:spPr>
          <a:xfrm>
            <a:off x="438840" y="786240"/>
            <a:ext cx="7497720" cy="25560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150" b="0" u="none" strike="noStrike">
                <a:solidFill>
                  <a:srgbClr val="585858"/>
                </a:solidFill>
                <a:effectLst/>
                <a:uFillTx/>
                <a:latin typeface="Calibri"/>
              </a:rPr>
              <a:t>The terminal proves commands worked; Kafka UI proves learners can inspect the system.</a:t>
            </a:r>
            <a:endParaRPr lang="en-IN" sz="1150" b="0" u="none" strike="noStrike">
              <a:solidFill>
                <a:srgbClr val="000000"/>
              </a:solidFill>
              <a:effectLst/>
              <a:uFillTx/>
              <a:latin typeface="Arial"/>
            </a:endParaRPr>
          </a:p>
        </p:txBody>
      </p:sp>
      <p:sp>
        <p:nvSpPr>
          <p:cNvPr id="356" name="TextBox 4"/>
          <p:cNvSpPr/>
          <p:nvPr/>
        </p:nvSpPr>
        <p:spPr>
          <a:xfrm>
            <a:off x="640080" y="1234440"/>
            <a:ext cx="7406280" cy="3245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Topics: orders-replicated and fs-source are present.</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Messages: keys, values, partitions and offsets are visible.</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Consumer Groups: lag and committed offsets are visible.</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Connect: source and sink connector tasks are RUNNING.</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Brokers: replicated topics show leaders and ISR.</a:t>
            </a:r>
            <a:endParaRPr lang="en-IN" sz="1500" b="0" u="none" strike="noStrike">
              <a:solidFill>
                <a:srgbClr val="000000"/>
              </a:solidFill>
              <a:effectLst/>
              <a:uFillTx/>
              <a:latin typeface="Arial"/>
            </a:endParaRPr>
          </a:p>
        </p:txBody>
      </p:sp>
      <p:sp>
        <p:nvSpPr>
          <p:cNvPr id="357" name="TextBox 5"/>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[51]</a:t>
            </a:r>
            <a:endParaRPr lang="en-IN" sz="800" b="0" u="none" strike="noStrike">
              <a:solidFill>
                <a:srgbClr val="000000"/>
              </a:solidFill>
              <a:effectLst/>
              <a:uFillTx/>
              <a:latin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9FBFD"/>
        </a:solidFill>
        <a:effectLst/>
      </p:bgPr>
    </p:bg>
    <p:spTree>
      <p:nvGrpSpPr>
        <p:cNvPr id="1" name=""/>
        <p:cNvGrpSpPr/>
        <p:nvPr/>
      </p:nvGrpSpPr>
      <p:grpSpPr>
        <a:xfrm>
          <a:off x="0" y="0"/>
          <a:ext cx="0" cy="0"/>
          <a:chOff x="0" y="0"/>
          <a:chExt cx="0" cy="0"/>
        </a:xfrm>
      </p:grpSpPr>
      <p:sp>
        <p:nvSpPr>
          <p:cNvPr id="358" name="Text 0"/>
          <p:cNvSpPr/>
          <p:nvPr/>
        </p:nvSpPr>
        <p:spPr>
          <a:xfrm>
            <a:off x="457200" y="274320"/>
            <a:ext cx="86860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Lab 4: Prove the Round Trip</a:t>
            </a:r>
            <a:endParaRPr lang="en-IN" sz="2200" b="0" u="none" strike="noStrike">
              <a:solidFill>
                <a:srgbClr val="000000"/>
              </a:solidFill>
              <a:effectLst/>
              <a:uFillTx/>
              <a:latin typeface="Arial"/>
            </a:endParaRPr>
          </a:p>
        </p:txBody>
      </p:sp>
      <p:sp>
        <p:nvSpPr>
          <p:cNvPr id="359" name="Text 1"/>
          <p:cNvSpPr/>
          <p:nvPr/>
        </p:nvSpPr>
        <p:spPr>
          <a:xfrm>
            <a:off x="457200" y="822960"/>
            <a:ext cx="5028480" cy="255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1" u="none" strike="noStrike">
                <a:solidFill>
                  <a:srgbClr val="2F5597"/>
                </a:solidFill>
                <a:effectLst/>
                <a:uFillTx/>
                <a:latin typeface="Calibri"/>
              </a:rPr>
              <a:t>Collect evidence in this order:</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1. GET /connectors/fs-source-connector/status</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2. GET /connectors/fs-sink-connector/status</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3. Consume topic fs-source from the beginning.</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4. cat data/output/consume.txt</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5. Trace one line: input file -&gt; Kafka topic -&gt; output file.</a:t>
            </a:r>
            <a:endParaRPr lang="en-IN" sz="1200" b="0" u="none" strike="noStrike">
              <a:solidFill>
                <a:srgbClr val="000000"/>
              </a:solidFill>
              <a:effectLst/>
              <a:uFillTx/>
              <a:latin typeface="Arial"/>
            </a:endParaRPr>
          </a:p>
        </p:txBody>
      </p:sp>
      <p:sp>
        <p:nvSpPr>
          <p:cNvPr id="360" name="Text 2"/>
          <p:cNvSpPr/>
          <p:nvPr/>
        </p:nvSpPr>
        <p:spPr>
          <a:xfrm>
            <a:off x="5669280" y="822960"/>
            <a:ext cx="31996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400" b="1" u="none" strike="noStrike">
                <a:solidFill>
                  <a:srgbClr val="2F5597"/>
                </a:solidFill>
                <a:effectLst/>
                <a:uFillTx/>
                <a:latin typeface="Calibri"/>
              </a:rPr>
              <a:t>Evidence Check:</a:t>
            </a:r>
            <a:endParaRPr lang="en-IN" sz="1400" b="0" u="none" strike="noStrike">
              <a:solidFill>
                <a:srgbClr val="000000"/>
              </a:solidFill>
              <a:effectLst/>
              <a:uFillTx/>
              <a:latin typeface="Arial"/>
            </a:endParaRPr>
          </a:p>
        </p:txBody>
      </p:sp>
      <p:sp>
        <p:nvSpPr>
          <p:cNvPr id="361" name="Text 3"/>
          <p:cNvSpPr/>
          <p:nvPr/>
        </p:nvSpPr>
        <p:spPr>
          <a:xfrm>
            <a:off x="5669280" y="1097280"/>
            <a:ext cx="3199680" cy="2376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100" b="1" u="none" strike="noStrike">
                <a:solidFill>
                  <a:srgbClr val="2F5597"/>
                </a:solidFill>
                <a:effectLst/>
                <a:uFillTx/>
                <a:latin typeface="Calibri"/>
              </a:rPr>
              <a:t>RUNNING is necessary, but is it sufficient?</a:t>
            </a:r>
            <a:endParaRPr lang="en-IN" sz="1100" b="0" u="none" strike="noStrike">
              <a:solidFill>
                <a:srgbClr val="000000"/>
              </a:solidFill>
              <a:effectLst/>
              <a:uFillTx/>
              <a:latin typeface="Arial"/>
            </a:endParaRPr>
          </a:p>
          <a:p>
            <a:pPr defTabSz="914400">
              <a:lnSpc>
                <a:spcPct val="100000"/>
              </a:lnSpc>
              <a:tabLst>
                <a:tab pos="0" algn="l"/>
              </a:tabLst>
            </a:pP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No. Status proves the task is alive.</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Topic consumption proves ingestion.</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Output file proves the sink path.</a:t>
            </a:r>
            <a:endParaRPr lang="en-IN" sz="1000" b="0" u="none" strike="noStrike">
              <a:solidFill>
                <a:srgbClr val="000000"/>
              </a:solidFill>
              <a:effectLst/>
              <a:uFillTx/>
              <a:latin typeface="Arial"/>
            </a:endParaRPr>
          </a:p>
          <a:p>
            <a:pPr defTabSz="914400">
              <a:lnSpc>
                <a:spcPct val="100000"/>
              </a:lnSpc>
              <a:tabLst>
                <a:tab pos="0" algn="l"/>
              </a:tabLst>
            </a:pP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Capture all three before declaring success.</a:t>
            </a:r>
            <a:endParaRPr lang="en-IN" sz="1000" b="0" u="none" strike="noStrike">
              <a:solidFill>
                <a:srgbClr val="000000"/>
              </a:solidFill>
              <a:effectLst/>
              <a:uFillTx/>
              <a:latin typeface="Arial"/>
            </a:endParaRPr>
          </a:p>
        </p:txBody>
      </p:sp>
      <p:sp>
        <p:nvSpPr>
          <p:cNvPr id="362" name="Text 4"/>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endParaRPr lang="en-IN" sz="700" b="0" u="none" strike="noStrike">
              <a:solidFill>
                <a:srgbClr val="000000"/>
              </a:solidFill>
              <a:effectLst/>
              <a:uFillTx/>
              <a:latin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Connect Status Is Necessary, Not Sufficient</a:t>
            </a:r>
            <a:endParaRPr lang="en-IN" sz="2200" b="0" u="none" strike="noStrike">
              <a:solidFill>
                <a:srgbClr val="000000"/>
              </a:solidFill>
              <a:effectLst/>
              <a:uFillTx/>
              <a:latin typeface="Arial"/>
            </a:endParaRPr>
          </a:p>
        </p:txBody>
      </p:sp>
      <p:sp>
        <p:nvSpPr>
          <p:cNvPr id="364"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65" name="Rounded Rectangle 3"/>
          <p:cNvSpPr/>
          <p:nvPr/>
        </p:nvSpPr>
        <p:spPr>
          <a:xfrm>
            <a:off x="594360" y="960120"/>
            <a:ext cx="3565800" cy="34704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300" b="1" u="none" strike="noStrike">
                <a:solidFill>
                  <a:srgbClr val="365F91"/>
                </a:solidFill>
                <a:effectLst/>
                <a:uFillTx/>
                <a:latin typeface="Calibri"/>
              </a:rPr>
              <a:t>Status checks</a:t>
            </a:r>
            <a:endParaRPr lang="en-IN" sz="1300" b="0" u="none" strike="noStrike">
              <a:solidFill>
                <a:srgbClr val="000000"/>
              </a:solidFill>
              <a:effectLst/>
              <a:uFillTx/>
              <a:latin typeface="Arial"/>
            </a:endParaRPr>
          </a:p>
        </p:txBody>
      </p:sp>
      <p:sp>
        <p:nvSpPr>
          <p:cNvPr id="366" name="Rounded Rectangle 4"/>
          <p:cNvSpPr/>
          <p:nvPr/>
        </p:nvSpPr>
        <p:spPr>
          <a:xfrm>
            <a:off x="4617720" y="960120"/>
            <a:ext cx="3565800" cy="34704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300" b="1" u="none" strike="noStrike">
                <a:solidFill>
                  <a:srgbClr val="365F91"/>
                </a:solidFill>
                <a:effectLst/>
                <a:uFillTx/>
                <a:latin typeface="Calibri"/>
              </a:rPr>
              <a:t>Data-path checks</a:t>
            </a:r>
            <a:endParaRPr lang="en-IN" sz="1300" b="0" u="none" strike="noStrike">
              <a:solidFill>
                <a:srgbClr val="000000"/>
              </a:solidFill>
              <a:effectLst/>
              <a:uFillTx/>
              <a:latin typeface="Arial"/>
            </a:endParaRPr>
          </a:p>
        </p:txBody>
      </p:sp>
      <p:sp>
        <p:nvSpPr>
          <p:cNvPr id="367" name="TextBox 5"/>
          <p:cNvSpPr/>
          <p:nvPr/>
        </p:nvSpPr>
        <p:spPr>
          <a:xfrm>
            <a:off x="658440" y="1508760"/>
            <a:ext cx="3401280" cy="297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GET /connectors/{name}/status</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Connector state is RUNNING.</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Task state is RUNNING.</a:t>
            </a:r>
            <a:endParaRPr lang="en-IN" sz="1350" b="0" u="none" strike="noStrike">
              <a:solidFill>
                <a:srgbClr val="000000"/>
              </a:solidFill>
              <a:effectLst/>
              <a:uFillTx/>
              <a:latin typeface="Arial"/>
            </a:endParaRPr>
          </a:p>
        </p:txBody>
      </p:sp>
      <p:sp>
        <p:nvSpPr>
          <p:cNvPr id="368" name="TextBox 6"/>
          <p:cNvSpPr/>
          <p:nvPr/>
        </p:nvSpPr>
        <p:spPr>
          <a:xfrm>
            <a:off x="4681800" y="1508760"/>
            <a:ext cx="3401280" cy="297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Consume records from fs-source.</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Read data/output/consume.txt.</a:t>
            </a:r>
            <a:endParaRPr lang="en-IN" sz="135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350" b="0" u="none" strike="noStrike">
                <a:solidFill>
                  <a:srgbClr val="1E1E1E"/>
                </a:solidFill>
                <a:effectLst/>
                <a:uFillTx/>
                <a:latin typeface="Calibri"/>
              </a:rPr>
              <a:t>Append a new input line and observe one new output line.</a:t>
            </a:r>
            <a:endParaRPr lang="en-IN" sz="1350" b="0" u="none" strike="noStrike">
              <a:solidFill>
                <a:srgbClr val="000000"/>
              </a:solidFill>
              <a:effectLst/>
              <a:uFillTx/>
              <a:latin typeface="Arial"/>
            </a:endParaRPr>
          </a:p>
        </p:txBody>
      </p:sp>
      <p:sp>
        <p:nvSpPr>
          <p:cNvPr id="369" name="TextBox 7"/>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[53]</a:t>
            </a:r>
            <a:endParaRPr lang="en-IN" sz="800" b="0" u="none" strike="noStrike">
              <a:solidFill>
                <a:srgbClr val="000000"/>
              </a:solidFill>
              <a:effectLst/>
              <a:uFillTx/>
              <a:latin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Knowledge Check: Lab Evidence</a:t>
            </a:r>
            <a:endParaRPr lang="en-IN" sz="2200" b="0" u="none" strike="noStrike">
              <a:solidFill>
                <a:srgbClr val="000000"/>
              </a:solidFill>
              <a:effectLst/>
              <a:uFillTx/>
              <a:latin typeface="Arial"/>
            </a:endParaRPr>
          </a:p>
        </p:txBody>
      </p:sp>
      <p:sp>
        <p:nvSpPr>
          <p:cNvPr id="371"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72" name="TextBox 3"/>
          <p:cNvSpPr/>
          <p:nvPr/>
        </p:nvSpPr>
        <p:spPr>
          <a:xfrm>
            <a:off x="438840" y="786240"/>
            <a:ext cx="7497720" cy="25560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150" b="0" u="none" strike="noStrike">
                <a:solidFill>
                  <a:srgbClr val="585858"/>
                </a:solidFill>
                <a:effectLst/>
                <a:uFillTx/>
                <a:latin typeface="Calibri"/>
              </a:rPr>
              <a:t>Answer before moving to the next section.</a:t>
            </a:r>
            <a:endParaRPr lang="en-IN" sz="1150" b="0" u="none" strike="noStrike">
              <a:solidFill>
                <a:srgbClr val="000000"/>
              </a:solidFill>
              <a:effectLst/>
              <a:uFillTx/>
              <a:latin typeface="Arial"/>
            </a:endParaRPr>
          </a:p>
        </p:txBody>
      </p:sp>
      <p:sp>
        <p:nvSpPr>
          <p:cNvPr id="373" name="TextBox 4"/>
          <p:cNvSpPr/>
          <p:nvPr/>
        </p:nvSpPr>
        <p:spPr>
          <a:xfrm>
            <a:off x="685800" y="1051560"/>
            <a:ext cx="7497720" cy="3474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400" b="0" u="none" strike="noStrike">
                <a:solidFill>
                  <a:srgbClr val="1E1E1E"/>
                </a:solidFill>
                <a:effectLst/>
                <a:uFillTx/>
                <a:latin typeface="Calibri"/>
              </a:rPr>
              <a:t>Q1. Which command proves a consumer group is caught up: topic describe or consumer-groups describe?</a:t>
            </a:r>
            <a:endParaRPr lang="en-IN" sz="14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400" b="0" u="none" strike="noStrike">
                <a:solidFill>
                  <a:srgbClr val="1E1E1E"/>
                </a:solidFill>
                <a:effectLst/>
                <a:uFillTx/>
                <a:latin typeface="Calibri"/>
              </a:rPr>
              <a:t>Q2. Which evidence proves Connect source ingestion: connector RUNNING, fs-source records, or both?</a:t>
            </a:r>
            <a:endParaRPr lang="en-IN" sz="14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400" b="0" u="none" strike="noStrike">
                <a:solidFill>
                  <a:srgbClr val="1E1E1E"/>
                </a:solidFill>
                <a:effectLst/>
                <a:uFillTx/>
                <a:latin typeface="Calibri"/>
              </a:rPr>
              <a:t>Q3. Which file proves the sink connector wrote output?</a:t>
            </a:r>
            <a:endParaRPr lang="en-IN" sz="14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400" b="0" u="none" strike="noStrike">
                <a:solidFill>
                  <a:srgbClr val="1E1E1E"/>
                </a:solidFill>
                <a:effectLst/>
                <a:uFillTx/>
                <a:latin typeface="Calibri"/>
              </a:rPr>
              <a:t>Q4. Why should Kafka UI be used after terminal commands?</a:t>
            </a:r>
            <a:endParaRPr lang="en-IN" sz="1400" b="0" u="none" strike="noStrike">
              <a:solidFill>
                <a:srgbClr val="000000"/>
              </a:solidFill>
              <a:effectLst/>
              <a:uFillTx/>
              <a:latin typeface="Arial"/>
            </a:endParaRPr>
          </a:p>
        </p:txBody>
      </p:sp>
      <p:sp>
        <p:nvSpPr>
          <p:cNvPr id="374" name="TextBox 5"/>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[54]</a:t>
            </a:r>
            <a:endParaRPr lang="en-IN" sz="800" b="0" u="none" strike="noStrike">
              <a:solidFill>
                <a:srgbClr val="000000"/>
              </a:solidFill>
              <a:effectLst/>
              <a:uFillTx/>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Solution: Lab Evidence</a:t>
            </a:r>
            <a:endParaRPr lang="en-IN" sz="2200" b="0" u="none" strike="noStrike">
              <a:solidFill>
                <a:srgbClr val="000000"/>
              </a:solidFill>
              <a:effectLst/>
              <a:uFillTx/>
              <a:latin typeface="Arial"/>
            </a:endParaRPr>
          </a:p>
        </p:txBody>
      </p:sp>
      <p:sp>
        <p:nvSpPr>
          <p:cNvPr id="376"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77" name="TextBox 3"/>
          <p:cNvSpPr/>
          <p:nvPr/>
        </p:nvSpPr>
        <p:spPr>
          <a:xfrm>
            <a:off x="438840" y="786240"/>
            <a:ext cx="7497720" cy="25560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150" b="0" u="none" strike="noStrike">
                <a:solidFill>
                  <a:srgbClr val="585858"/>
                </a:solidFill>
                <a:effectLst/>
                <a:uFillTx/>
                <a:latin typeface="Calibri"/>
              </a:rPr>
              <a:t>Solution / trainer answer key</a:t>
            </a:r>
            <a:endParaRPr lang="en-IN" sz="1150" b="0" u="none" strike="noStrike">
              <a:solidFill>
                <a:srgbClr val="000000"/>
              </a:solidFill>
              <a:effectLst/>
              <a:uFillTx/>
              <a:latin typeface="Arial"/>
            </a:endParaRPr>
          </a:p>
        </p:txBody>
      </p:sp>
      <p:sp>
        <p:nvSpPr>
          <p:cNvPr id="378" name="TextBox 4"/>
          <p:cNvSpPr/>
          <p:nvPr/>
        </p:nvSpPr>
        <p:spPr>
          <a:xfrm>
            <a:off x="640080" y="1234440"/>
            <a:ext cx="7406280" cy="3245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Q1. consumer-groups describe shows CURRENT-OFFSET, LOG-END-OFFSET and LAG.</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Q2. Both matter: RUNNING proves the task is alive; fs-source records prove ingestion.</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Q3. data/output/consume.txt proves sink output in this lab.</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Q4. Kafka UI verifies the same state visually: topics, messages, groups, brokers and connectors.</a:t>
            </a:r>
            <a:endParaRPr lang="en-IN" sz="1500" b="0" u="none" strike="noStrike">
              <a:solidFill>
                <a:srgbClr val="000000"/>
              </a:solidFill>
              <a:effectLst/>
              <a:uFillTx/>
              <a:latin typeface="Arial"/>
            </a:endParaRPr>
          </a:p>
        </p:txBody>
      </p:sp>
      <p:sp>
        <p:nvSpPr>
          <p:cNvPr id="379" name="TextBox 5"/>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[55]</a:t>
            </a:r>
            <a:endParaRPr lang="en-IN" sz="800" b="0" u="none" strike="noStrike">
              <a:solidFill>
                <a:srgbClr val="000000"/>
              </a:solidFill>
              <a:effectLst/>
              <a:uFillTx/>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80"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Connector Offsets: A Different Bookmark</a:t>
            </a:r>
            <a:endParaRPr lang="en-IN" sz="2200" b="0" u="none" strike="noStrike">
              <a:solidFill>
                <a:srgbClr val="000000"/>
              </a:solidFill>
              <a:effectLst/>
              <a:uFillTx/>
              <a:latin typeface="Arial"/>
            </a:endParaRPr>
          </a:p>
        </p:txBody>
      </p:sp>
      <p:sp>
        <p:nvSpPr>
          <p:cNvPr id="381" name="Text 1"/>
          <p:cNvSpPr/>
          <p:nvPr/>
        </p:nvSpPr>
        <p:spPr>
          <a:xfrm>
            <a:off x="457200" y="1097280"/>
            <a:ext cx="8686080" cy="2376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1" u="none" strike="noStrike">
                <a:solidFill>
                  <a:srgbClr val="2F5597"/>
                </a:solidFill>
                <a:effectLst/>
                <a:uFillTx/>
                <a:latin typeface="Calibri"/>
              </a:rPr>
              <a:t>Consumer offset</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A consumer group's resume position inside a Kafka partition.</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Kafka stores committed group progress in __consumer_offsets.</a:t>
            </a:r>
            <a:endParaRPr lang="en-IN" sz="1200" b="0" u="none" strike="noStrike">
              <a:solidFill>
                <a:srgbClr val="000000"/>
              </a:solidFill>
              <a:effectLst/>
              <a:uFillTx/>
              <a:latin typeface="Arial"/>
            </a:endParaRPr>
          </a:p>
          <a:p>
            <a:pPr defTabSz="914400">
              <a:lnSpc>
                <a:spcPct val="100000"/>
              </a:lnSpc>
              <a:tabLst>
                <a:tab pos="0" algn="l"/>
              </a:tabLst>
            </a:pP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Source connector offset</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The external input position a source task has already processed.</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Distributed Connect stores source progress in connect-offsets.</a:t>
            </a:r>
            <a:endParaRPr lang="en-IN" sz="1200" b="0" u="none" strike="noStrike">
              <a:solidFill>
                <a:srgbClr val="000000"/>
              </a:solidFill>
              <a:effectLst/>
              <a:uFillTx/>
              <a:latin typeface="Arial"/>
            </a:endParaRPr>
          </a:p>
          <a:p>
            <a:pPr defTabSz="914400">
              <a:lnSpc>
                <a:spcPct val="100000"/>
              </a:lnSpc>
              <a:tabLst>
                <a:tab pos="0" algn="l"/>
              </a:tabLst>
            </a:pP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Lab observation</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Append one new line, restart Connect, and prove only new input moves.</a:t>
            </a:r>
            <a:endParaRPr lang="en-IN" sz="1200" b="0" u="none" strike="noStrike">
              <a:solidFill>
                <a:srgbClr val="000000"/>
              </a:solidFill>
              <a:effectLst/>
              <a:uFillTx/>
              <a:latin typeface="Arial"/>
            </a:endParaRPr>
          </a:p>
        </p:txBody>
      </p:sp>
      <p:sp>
        <p:nvSpPr>
          <p:cNvPr id="382" name="Text 2"/>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9FBFD"/>
        </a:solidFill>
        <a:effectLst/>
      </p:bgPr>
    </p:bg>
    <p:spTree>
      <p:nvGrpSpPr>
        <p:cNvPr id="1" name=""/>
        <p:cNvGrpSpPr/>
        <p:nvPr/>
      </p:nvGrpSpPr>
      <p:grpSpPr>
        <a:xfrm>
          <a:off x="0" y="0"/>
          <a:ext cx="0" cy="0"/>
          <a:chOff x="0" y="0"/>
          <a:chExt cx="0" cy="0"/>
        </a:xfrm>
      </p:grpSpPr>
      <p:sp>
        <p:nvSpPr>
          <p:cNvPr id="383" name="Text 0"/>
          <p:cNvSpPr/>
          <p:nvPr/>
        </p:nvSpPr>
        <p:spPr>
          <a:xfrm>
            <a:off x="457200" y="274320"/>
            <a:ext cx="86860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Lab 5: Restart and Recovery Test</a:t>
            </a:r>
            <a:endParaRPr lang="en-IN" sz="2200" b="0" u="none" strike="noStrike">
              <a:solidFill>
                <a:srgbClr val="000000"/>
              </a:solidFill>
              <a:effectLst/>
              <a:uFillTx/>
              <a:latin typeface="Arial"/>
            </a:endParaRPr>
          </a:p>
        </p:txBody>
      </p:sp>
      <p:sp>
        <p:nvSpPr>
          <p:cNvPr id="384" name="Text 1"/>
          <p:cNvSpPr/>
          <p:nvPr/>
        </p:nvSpPr>
        <p:spPr>
          <a:xfrm>
            <a:off x="457200" y="822960"/>
            <a:ext cx="4937040" cy="255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1" u="none" strike="noStrike">
                <a:solidFill>
                  <a:srgbClr val="2F5597"/>
                </a:solidFill>
                <a:effectLst/>
                <a:uFillTx/>
                <a:latin typeface="Calibri"/>
              </a:rPr>
              <a:t>Exercise:</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1. Append an order-004 line to data/input/produce.txt.</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2. Confirm it appears once in data/output/consume.txt.</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3. Run: docker restart connect</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4. Append order-005 after the worker returns.</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5. Confirm continuation without replaying older lines.</a:t>
            </a:r>
            <a:endParaRPr lang="en-IN" sz="1200" b="0" u="none" strike="noStrike">
              <a:solidFill>
                <a:srgbClr val="000000"/>
              </a:solidFill>
              <a:effectLst/>
              <a:uFillTx/>
              <a:latin typeface="Arial"/>
            </a:endParaRPr>
          </a:p>
        </p:txBody>
      </p:sp>
      <p:sp>
        <p:nvSpPr>
          <p:cNvPr id="385" name="Text 2"/>
          <p:cNvSpPr/>
          <p:nvPr/>
        </p:nvSpPr>
        <p:spPr>
          <a:xfrm>
            <a:off x="5669280" y="822960"/>
            <a:ext cx="31996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400" b="1" u="none" strike="noStrike">
                <a:solidFill>
                  <a:srgbClr val="2F5597"/>
                </a:solidFill>
                <a:effectLst/>
                <a:uFillTx/>
                <a:latin typeface="Calibri"/>
              </a:rPr>
              <a:t>Recovery Question:</a:t>
            </a:r>
            <a:endParaRPr lang="en-IN" sz="1400" b="0" u="none" strike="noStrike">
              <a:solidFill>
                <a:srgbClr val="000000"/>
              </a:solidFill>
              <a:effectLst/>
              <a:uFillTx/>
              <a:latin typeface="Arial"/>
            </a:endParaRPr>
          </a:p>
        </p:txBody>
      </p:sp>
      <p:sp>
        <p:nvSpPr>
          <p:cNvPr id="386" name="Text 3"/>
          <p:cNvSpPr/>
          <p:nvPr/>
        </p:nvSpPr>
        <p:spPr>
          <a:xfrm>
            <a:off x="5669280" y="1097280"/>
            <a:ext cx="3199680" cy="2376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100" b="1" u="none" strike="noStrike">
                <a:solidFill>
                  <a:srgbClr val="2F5597"/>
                </a:solidFill>
                <a:effectLst/>
                <a:uFillTx/>
                <a:latin typeface="Calibri"/>
              </a:rPr>
              <a:t>What remembers the source file position in distributed mode?</a:t>
            </a:r>
            <a:endParaRPr lang="en-IN" sz="11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a) connect-offsets topic</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b) only the output file</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c) Schema Registry</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d) MirrorMaker</a:t>
            </a:r>
            <a:endParaRPr lang="en-IN" sz="1000" b="0" u="none" strike="noStrike">
              <a:solidFill>
                <a:srgbClr val="000000"/>
              </a:solidFill>
              <a:effectLst/>
              <a:uFillTx/>
              <a:latin typeface="Arial"/>
            </a:endParaRPr>
          </a:p>
          <a:p>
            <a:pPr defTabSz="914400">
              <a:lnSpc>
                <a:spcPct val="100000"/>
              </a:lnSpc>
              <a:tabLst>
                <a:tab pos="0" algn="l"/>
              </a:tabLst>
            </a:pP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Answer: a. Rewinding that position may repeat downstream effects.</a:t>
            </a:r>
            <a:endParaRPr lang="en-IN" sz="1000" b="0" u="none" strike="noStrike">
              <a:solidFill>
                <a:srgbClr val="000000"/>
              </a:solidFill>
              <a:effectLst/>
              <a:uFillTx/>
              <a:latin typeface="Arial"/>
            </a:endParaRPr>
          </a:p>
        </p:txBody>
      </p:sp>
      <p:sp>
        <p:nvSpPr>
          <p:cNvPr id="387" name="Text 4"/>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9FBFD"/>
        </a:solidFill>
        <a:effectLst/>
      </p:bgPr>
    </p:bg>
    <p:spTree>
      <p:nvGrpSpPr>
        <p:cNvPr id="1" name=""/>
        <p:cNvGrpSpPr/>
        <p:nvPr/>
      </p:nvGrpSpPr>
      <p:grpSpPr>
        <a:xfrm>
          <a:off x="0" y="0"/>
          <a:ext cx="0" cy="0"/>
          <a:chOff x="0" y="0"/>
          <a:chExt cx="0" cy="0"/>
        </a:xfrm>
      </p:grpSpPr>
      <p:sp>
        <p:nvSpPr>
          <p:cNvPr id="388" name="Text 0"/>
          <p:cNvSpPr/>
          <p:nvPr/>
        </p:nvSpPr>
        <p:spPr>
          <a:xfrm>
            <a:off x="457200" y="274320"/>
            <a:ext cx="86860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Lab 6: Diagnose a Failed Connector</a:t>
            </a:r>
            <a:endParaRPr lang="en-IN" sz="2200" b="0" u="none" strike="noStrike">
              <a:solidFill>
                <a:srgbClr val="000000"/>
              </a:solidFill>
              <a:effectLst/>
              <a:uFillTx/>
              <a:latin typeface="Arial"/>
            </a:endParaRPr>
          </a:p>
        </p:txBody>
      </p:sp>
      <p:sp>
        <p:nvSpPr>
          <p:cNvPr id="389" name="Text 1"/>
          <p:cNvSpPr/>
          <p:nvPr/>
        </p:nvSpPr>
        <p:spPr>
          <a:xfrm>
            <a:off x="457200" y="822960"/>
            <a:ext cx="4937040" cy="2742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1" u="none" strike="noStrike">
                <a:solidFill>
                  <a:srgbClr val="2F5597"/>
                </a:solidFill>
                <a:effectLst/>
                <a:uFillTx/>
                <a:latin typeface="Calibri"/>
              </a:rPr>
              <a:t>Troubleshooting route:</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1. GET /connectors/{name}/status and read task state.</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2. Check GET /connector-plugins for FileStream support.</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3. Inspect docker logs connect.</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4. Verify mounted file paths and permissions.</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5. Consume fs-source to locate the broken boundary.</a:t>
            </a:r>
            <a:endParaRPr lang="en-IN" sz="1200" b="0" u="none" strike="noStrike">
              <a:solidFill>
                <a:srgbClr val="000000"/>
              </a:solidFill>
              <a:effectLst/>
              <a:uFillTx/>
              <a:latin typeface="Arial"/>
            </a:endParaRPr>
          </a:p>
        </p:txBody>
      </p:sp>
      <p:sp>
        <p:nvSpPr>
          <p:cNvPr id="390" name="Text 2"/>
          <p:cNvSpPr/>
          <p:nvPr/>
        </p:nvSpPr>
        <p:spPr>
          <a:xfrm>
            <a:off x="5669280" y="822960"/>
            <a:ext cx="3199680" cy="27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400" b="1" u="none" strike="noStrike">
                <a:solidFill>
                  <a:srgbClr val="2F5597"/>
                </a:solidFill>
                <a:effectLst/>
                <a:uFillTx/>
                <a:latin typeface="Calibri"/>
              </a:rPr>
              <a:t>Incident Check:</a:t>
            </a:r>
            <a:endParaRPr lang="en-IN" sz="1400" b="0" u="none" strike="noStrike">
              <a:solidFill>
                <a:srgbClr val="000000"/>
              </a:solidFill>
              <a:effectLst/>
              <a:uFillTx/>
              <a:latin typeface="Arial"/>
            </a:endParaRPr>
          </a:p>
        </p:txBody>
      </p:sp>
      <p:sp>
        <p:nvSpPr>
          <p:cNvPr id="391" name="Text 3"/>
          <p:cNvSpPr/>
          <p:nvPr/>
        </p:nvSpPr>
        <p:spPr>
          <a:xfrm>
            <a:off x="5669280" y="1097280"/>
            <a:ext cx="3199680" cy="2742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100" b="1" u="none" strike="noStrike">
                <a:solidFill>
                  <a:srgbClr val="2F5597"/>
                </a:solidFill>
                <a:effectLst/>
                <a:uFillTx/>
                <a:latin typeface="Calibri"/>
              </a:rPr>
              <a:t>The source connector exists, but the topic is empty.</a:t>
            </a:r>
            <a:endParaRPr lang="en-IN" sz="11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What is the first useful check?</a:t>
            </a:r>
            <a:endParaRPr lang="en-IN" sz="1000" b="0" u="none" strike="noStrike">
              <a:solidFill>
                <a:srgbClr val="000000"/>
              </a:solidFill>
              <a:effectLst/>
              <a:uFillTx/>
              <a:latin typeface="Arial"/>
            </a:endParaRPr>
          </a:p>
          <a:p>
            <a:pPr defTabSz="914400">
              <a:lnSpc>
                <a:spcPct val="100000"/>
              </a:lnSpc>
              <a:tabLst>
                <a:tab pos="0" algn="l"/>
              </a:tabLst>
            </a:pP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Answer: read source task status and its error trace.</a:t>
            </a:r>
            <a:endParaRPr lang="en-IN"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385170"/>
                </a:solidFill>
                <a:effectLst/>
                <a:uFillTx/>
                <a:latin typeface="Calibri"/>
              </a:rPr>
              <a:t>Do not restart blindly; locate the first missing evidence.</a:t>
            </a:r>
            <a:endParaRPr lang="en-IN" sz="1000" b="0" u="none" strike="noStrike">
              <a:solidFill>
                <a:srgbClr val="000000"/>
              </a:solidFill>
              <a:effectLst/>
              <a:uFillTx/>
              <a:latin typeface="Arial"/>
            </a:endParaRPr>
          </a:p>
        </p:txBody>
      </p:sp>
      <p:sp>
        <p:nvSpPr>
          <p:cNvPr id="392" name="Text 4"/>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endParaRPr lang="en-IN" sz="700" b="0" u="none" strike="noStrike">
              <a:solidFill>
                <a:srgbClr val="000000"/>
              </a:solidFill>
              <a:effectLst/>
              <a:uFillTx/>
              <a:latin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3"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Troubleshooting Route for the Day 3 Lab</a:t>
            </a:r>
            <a:endParaRPr lang="en-IN" sz="2200" b="0" u="none" strike="noStrike">
              <a:solidFill>
                <a:srgbClr val="000000"/>
              </a:solidFill>
              <a:effectLst/>
              <a:uFillTx/>
              <a:latin typeface="Arial"/>
            </a:endParaRPr>
          </a:p>
        </p:txBody>
      </p:sp>
      <p:sp>
        <p:nvSpPr>
          <p:cNvPr id="394"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95" name="TextBox 3"/>
          <p:cNvSpPr/>
          <p:nvPr/>
        </p:nvSpPr>
        <p:spPr>
          <a:xfrm>
            <a:off x="438840" y="786240"/>
            <a:ext cx="7497720" cy="25560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150" b="0" u="none" strike="noStrike">
                <a:solidFill>
                  <a:srgbClr val="585858"/>
                </a:solidFill>
                <a:effectLst/>
                <a:uFillTx/>
                <a:latin typeface="Calibri"/>
              </a:rPr>
              <a:t>Use this order so learners do not jump randomly between logs.</a:t>
            </a:r>
            <a:endParaRPr lang="en-IN" sz="1150" b="0" u="none" strike="noStrike">
              <a:solidFill>
                <a:srgbClr val="000000"/>
              </a:solidFill>
              <a:effectLst/>
              <a:uFillTx/>
              <a:latin typeface="Arial"/>
            </a:endParaRPr>
          </a:p>
        </p:txBody>
      </p:sp>
      <p:sp>
        <p:nvSpPr>
          <p:cNvPr id="396" name="TextBox 4"/>
          <p:cNvSpPr/>
          <p:nvPr/>
        </p:nvSpPr>
        <p:spPr>
          <a:xfrm>
            <a:off x="640080" y="1234440"/>
            <a:ext cx="7406280" cy="3245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1. docker compose ps: confirm services are running.</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2. curl /connector-plugins: confirm FileStream plugins exist.</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3. GET connector status: read connector and task state.</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4. Consume fs-source: prove ingestion into Kafka.</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5. Read consume.txt: prove sink output.</a:t>
            </a:r>
            <a:endParaRPr lang="en-IN" sz="1500" b="0" u="none" strike="noStrike">
              <a:solidFill>
                <a:srgbClr val="000000"/>
              </a:solidFill>
              <a:effectLst/>
              <a:uFillTx/>
              <a:latin typeface="Arial"/>
            </a:endParaRPr>
          </a:p>
        </p:txBody>
      </p:sp>
      <p:sp>
        <p:nvSpPr>
          <p:cNvPr id="397" name="TextBox 5"/>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[59]</a:t>
            </a:r>
            <a:endParaRPr lang="en-IN" sz="800" b="0" u="none" strike="noStrike">
              <a:solidFill>
                <a:srgbClr val="000000"/>
              </a:solidFill>
              <a:effectLst/>
              <a:uFillTx/>
              <a:latin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8"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Kafka Ecosystem Overview</a:t>
            </a:r>
            <a:endParaRPr lang="en-IN" sz="2200" b="0" u="none" strike="noStrike">
              <a:solidFill>
                <a:srgbClr val="000000"/>
              </a:solidFill>
              <a:effectLst/>
              <a:uFillTx/>
              <a:latin typeface="Arial"/>
            </a:endParaRPr>
          </a:p>
        </p:txBody>
      </p:sp>
      <p:sp>
        <p:nvSpPr>
          <p:cNvPr id="399" name="Text 1"/>
          <p:cNvSpPr/>
          <p:nvPr/>
        </p:nvSpPr>
        <p:spPr>
          <a:xfrm>
            <a:off x="457200" y="1097280"/>
            <a:ext cx="5028480" cy="255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0" u="none" strike="noStrike">
                <a:solidFill>
                  <a:srgbClr val="385170"/>
                </a:solidFill>
                <a:effectLst/>
                <a:uFillTx/>
                <a:latin typeface="Calibri"/>
              </a:rPr>
              <a:t>• Kafka Core: brokers, topics, logs, partitions and MirrorMaker.</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Kafka Streams: library for building real‑time stream processing applications in Java.</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Kafka Connect: connector API for ingesting and exporting data.</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Schema Registry: central repository for Avro/JSON/Protobuf schemas.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REST Proxy: produce and consume records via HTTP.</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 MirrorMaker &amp; Replicator: replicate topics between clusters.</a:t>
            </a:r>
            <a:endParaRPr lang="en-IN" sz="1100" b="0" u="none" strike="noStrike">
              <a:solidFill>
                <a:srgbClr val="000000"/>
              </a:solidFill>
              <a:effectLst/>
              <a:uFillTx/>
              <a:latin typeface="Arial"/>
            </a:endParaRPr>
          </a:p>
        </p:txBody>
      </p:sp>
      <p:sp>
        <p:nvSpPr>
          <p:cNvPr id="400" name="Shape 2"/>
          <p:cNvSpPr/>
          <p:nvPr/>
        </p:nvSpPr>
        <p:spPr>
          <a:xfrm>
            <a:off x="6035040" y="1463040"/>
            <a:ext cx="1645200" cy="1645200"/>
          </a:xfrm>
          <a:prstGeom prst="ellipse">
            <a:avLst/>
          </a:prstGeom>
          <a:solidFill>
            <a:srgbClr val="4F81BD"/>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FFFFFF"/>
              </a:solidFill>
              <a:effectLst/>
              <a:uFillTx/>
              <a:latin typeface="Arial"/>
            </a:endParaRPr>
          </a:p>
        </p:txBody>
      </p:sp>
      <p:sp>
        <p:nvSpPr>
          <p:cNvPr id="401" name="Text 3"/>
          <p:cNvSpPr/>
          <p:nvPr/>
        </p:nvSpPr>
        <p:spPr>
          <a:xfrm>
            <a:off x="6035040" y="1463040"/>
            <a:ext cx="1645200" cy="1645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800" b="0" u="none" strike="noStrike">
                <a:solidFill>
                  <a:srgbClr val="FFFFFF"/>
                </a:solidFill>
                <a:effectLst/>
                <a:uFillTx/>
                <a:latin typeface="Calibri"/>
              </a:rPr>
              <a:t>Kafka Core</a:t>
            </a:r>
            <a:endParaRPr lang="en-IN" sz="800" b="0" u="none" strike="noStrike">
              <a:solidFill>
                <a:srgbClr val="000000"/>
              </a:solidFill>
              <a:effectLst/>
              <a:uFillTx/>
              <a:latin typeface="Arial"/>
            </a:endParaRPr>
          </a:p>
        </p:txBody>
      </p:sp>
      <p:sp>
        <p:nvSpPr>
          <p:cNvPr id="402" name="Shape 4"/>
          <p:cNvSpPr/>
          <p:nvPr/>
        </p:nvSpPr>
        <p:spPr>
          <a:xfrm>
            <a:off x="4480560" y="548640"/>
            <a:ext cx="1096560" cy="730800"/>
          </a:xfrm>
          <a:prstGeom prst="ellipse">
            <a:avLst/>
          </a:prstGeom>
          <a:solidFill>
            <a:srgbClr val="F2F6FA"/>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403" name="Text 5"/>
          <p:cNvSpPr/>
          <p:nvPr/>
        </p:nvSpPr>
        <p:spPr>
          <a:xfrm>
            <a:off x="4480560" y="548640"/>
            <a:ext cx="1096560" cy="730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700" b="0" u="none" strike="noStrike">
                <a:solidFill>
                  <a:srgbClr val="2F5597"/>
                </a:solidFill>
                <a:effectLst/>
                <a:uFillTx/>
                <a:latin typeface="Calibri"/>
              </a:rPr>
              <a:t>Streams</a:t>
            </a:r>
            <a:endParaRPr lang="en-IN" sz="700" b="0" u="none" strike="noStrike">
              <a:solidFill>
                <a:srgbClr val="000000"/>
              </a:solidFill>
              <a:effectLst/>
              <a:uFillTx/>
              <a:latin typeface="Arial"/>
            </a:endParaRPr>
          </a:p>
        </p:txBody>
      </p:sp>
      <p:sp>
        <p:nvSpPr>
          <p:cNvPr id="404" name="Shape 6"/>
          <p:cNvSpPr/>
          <p:nvPr/>
        </p:nvSpPr>
        <p:spPr>
          <a:xfrm flipH="1" flipV="1">
            <a:off x="5419026" y="1155700"/>
            <a:ext cx="762699" cy="627380"/>
          </a:xfrm>
          <a:prstGeom prst="line">
            <a:avLst/>
          </a:prstGeom>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IN" sz="1800" b="0" u="none" strike="noStrike">
              <a:solidFill>
                <a:srgbClr val="000000"/>
              </a:solidFill>
              <a:effectLst/>
              <a:uFillTx/>
              <a:latin typeface="Arial"/>
            </a:endParaRPr>
          </a:p>
        </p:txBody>
      </p:sp>
      <p:sp>
        <p:nvSpPr>
          <p:cNvPr id="405" name="Shape 7"/>
          <p:cNvSpPr/>
          <p:nvPr/>
        </p:nvSpPr>
        <p:spPr>
          <a:xfrm>
            <a:off x="8138160" y="548640"/>
            <a:ext cx="1096560" cy="730800"/>
          </a:xfrm>
          <a:prstGeom prst="ellipse">
            <a:avLst/>
          </a:prstGeom>
          <a:solidFill>
            <a:srgbClr val="F2F6FA"/>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406" name="Text 8"/>
          <p:cNvSpPr/>
          <p:nvPr/>
        </p:nvSpPr>
        <p:spPr>
          <a:xfrm>
            <a:off x="8138160" y="548640"/>
            <a:ext cx="1096560" cy="730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700" b="0" u="none" strike="noStrike">
                <a:solidFill>
                  <a:srgbClr val="2F5597"/>
                </a:solidFill>
                <a:effectLst/>
                <a:uFillTx/>
                <a:latin typeface="Calibri"/>
              </a:rPr>
              <a:t>Connect</a:t>
            </a:r>
            <a:endParaRPr lang="en-IN" sz="700" b="0" u="none" strike="noStrike">
              <a:solidFill>
                <a:srgbClr val="000000"/>
              </a:solidFill>
              <a:effectLst/>
              <a:uFillTx/>
              <a:latin typeface="Arial"/>
            </a:endParaRPr>
          </a:p>
        </p:txBody>
      </p:sp>
      <p:sp>
        <p:nvSpPr>
          <p:cNvPr id="407" name="Shape 9"/>
          <p:cNvSpPr/>
          <p:nvPr/>
        </p:nvSpPr>
        <p:spPr>
          <a:xfrm flipV="1">
            <a:off x="7533240" y="1187280"/>
            <a:ext cx="763733" cy="627380"/>
          </a:xfrm>
          <a:prstGeom prst="line">
            <a:avLst/>
          </a:prstGeom>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IN" sz="1800" b="0" u="none" strike="noStrike">
              <a:solidFill>
                <a:srgbClr val="000000"/>
              </a:solidFill>
              <a:effectLst/>
              <a:uFillTx/>
              <a:latin typeface="Arial"/>
            </a:endParaRPr>
          </a:p>
        </p:txBody>
      </p:sp>
      <p:sp>
        <p:nvSpPr>
          <p:cNvPr id="408" name="Shape 10"/>
          <p:cNvSpPr/>
          <p:nvPr/>
        </p:nvSpPr>
        <p:spPr>
          <a:xfrm>
            <a:off x="4480560" y="3291840"/>
            <a:ext cx="1096560" cy="730800"/>
          </a:xfrm>
          <a:prstGeom prst="ellipse">
            <a:avLst/>
          </a:prstGeom>
          <a:solidFill>
            <a:srgbClr val="F2F6FA"/>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409" name="Text 11"/>
          <p:cNvSpPr/>
          <p:nvPr/>
        </p:nvSpPr>
        <p:spPr>
          <a:xfrm>
            <a:off x="4480560" y="3291840"/>
            <a:ext cx="1096560" cy="730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700" b="0" u="none" strike="noStrike">
                <a:solidFill>
                  <a:srgbClr val="2F5597"/>
                </a:solidFill>
                <a:effectLst/>
                <a:uFillTx/>
                <a:latin typeface="Calibri"/>
              </a:rPr>
              <a:t>Schema Registry</a:t>
            </a:r>
            <a:endParaRPr lang="en-IN" sz="700" b="0" u="none" strike="noStrike">
              <a:solidFill>
                <a:srgbClr val="000000"/>
              </a:solidFill>
              <a:effectLst/>
              <a:uFillTx/>
              <a:latin typeface="Arial"/>
            </a:endParaRPr>
          </a:p>
        </p:txBody>
      </p:sp>
      <p:sp>
        <p:nvSpPr>
          <p:cNvPr id="410" name="Shape 12"/>
          <p:cNvSpPr/>
          <p:nvPr/>
        </p:nvSpPr>
        <p:spPr>
          <a:xfrm flipH="1">
            <a:off x="5419026" y="2809874"/>
            <a:ext cx="797616" cy="574126"/>
          </a:xfrm>
          <a:prstGeom prst="line">
            <a:avLst/>
          </a:prstGeom>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IN" sz="1800" b="0" u="none" strike="noStrike">
              <a:solidFill>
                <a:srgbClr val="000000"/>
              </a:solidFill>
              <a:effectLst/>
              <a:uFillTx/>
              <a:latin typeface="Arial"/>
            </a:endParaRPr>
          </a:p>
        </p:txBody>
      </p:sp>
      <p:sp>
        <p:nvSpPr>
          <p:cNvPr id="411" name="Shape 13"/>
          <p:cNvSpPr/>
          <p:nvPr/>
        </p:nvSpPr>
        <p:spPr>
          <a:xfrm>
            <a:off x="8138160" y="3291840"/>
            <a:ext cx="1096560" cy="730800"/>
          </a:xfrm>
          <a:prstGeom prst="ellipse">
            <a:avLst/>
          </a:prstGeom>
          <a:solidFill>
            <a:srgbClr val="F2F6FA"/>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412" name="Text 14"/>
          <p:cNvSpPr/>
          <p:nvPr/>
        </p:nvSpPr>
        <p:spPr>
          <a:xfrm>
            <a:off x="8138160" y="3291840"/>
            <a:ext cx="1096560" cy="730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700" b="0" u="none" strike="noStrike">
                <a:solidFill>
                  <a:srgbClr val="2F5597"/>
                </a:solidFill>
                <a:effectLst/>
                <a:uFillTx/>
                <a:latin typeface="Calibri"/>
              </a:rPr>
              <a:t>REST Proxy</a:t>
            </a:r>
            <a:endParaRPr lang="en-IN" sz="700" b="0" u="none" strike="noStrike">
              <a:solidFill>
                <a:srgbClr val="000000"/>
              </a:solidFill>
              <a:effectLst/>
              <a:uFillTx/>
              <a:latin typeface="Arial"/>
            </a:endParaRPr>
          </a:p>
        </p:txBody>
      </p:sp>
      <p:sp>
        <p:nvSpPr>
          <p:cNvPr id="413" name="Shape 15"/>
          <p:cNvSpPr/>
          <p:nvPr/>
        </p:nvSpPr>
        <p:spPr>
          <a:xfrm>
            <a:off x="7464425" y="2809874"/>
            <a:ext cx="763733" cy="605705"/>
          </a:xfrm>
          <a:prstGeom prst="line">
            <a:avLst/>
          </a:prstGeom>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IN" sz="1800" b="0" u="none" strike="noStrike">
              <a:solidFill>
                <a:srgbClr val="000000"/>
              </a:solidFill>
              <a:effectLst/>
              <a:uFillTx/>
              <a:latin typeface="Arial"/>
            </a:endParaRPr>
          </a:p>
        </p:txBody>
      </p:sp>
      <p:sp>
        <p:nvSpPr>
          <p:cNvPr id="414" name="Shape 16"/>
          <p:cNvSpPr/>
          <p:nvPr/>
        </p:nvSpPr>
        <p:spPr>
          <a:xfrm>
            <a:off x="6309360" y="4206240"/>
            <a:ext cx="1096560" cy="730800"/>
          </a:xfrm>
          <a:prstGeom prst="ellipse">
            <a:avLst/>
          </a:prstGeom>
          <a:solidFill>
            <a:srgbClr val="F2F6FA"/>
          </a:solidFill>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415" name="Text 17"/>
          <p:cNvSpPr/>
          <p:nvPr/>
        </p:nvSpPr>
        <p:spPr>
          <a:xfrm>
            <a:off x="6309360" y="4206240"/>
            <a:ext cx="1096560" cy="730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700" b="0" u="none" strike="noStrike">
                <a:solidFill>
                  <a:srgbClr val="2F5597"/>
                </a:solidFill>
                <a:effectLst/>
                <a:uFillTx/>
                <a:latin typeface="Calibri"/>
              </a:rPr>
              <a:t>MirrorMaker</a:t>
            </a:r>
            <a:endParaRPr lang="en-IN" sz="700" b="0" u="none" strike="noStrike">
              <a:solidFill>
                <a:srgbClr val="000000"/>
              </a:solidFill>
              <a:effectLst/>
              <a:uFillTx/>
              <a:latin typeface="Arial"/>
            </a:endParaRPr>
          </a:p>
        </p:txBody>
      </p:sp>
      <p:sp>
        <p:nvSpPr>
          <p:cNvPr id="416" name="Shape 18"/>
          <p:cNvSpPr/>
          <p:nvPr/>
        </p:nvSpPr>
        <p:spPr>
          <a:xfrm>
            <a:off x="6857280" y="3108240"/>
            <a:ext cx="0" cy="1098000"/>
          </a:xfrm>
          <a:prstGeom prst="line">
            <a:avLst/>
          </a:prstGeom>
          <a:ln w="127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IN" sz="1800" b="0" u="none" strike="noStrike">
              <a:solidFill>
                <a:srgbClr val="000000"/>
              </a:solidFill>
              <a:effectLst/>
              <a:uFillTx/>
              <a:latin typeface="Arial"/>
            </a:endParaRPr>
          </a:p>
        </p:txBody>
      </p:sp>
      <p:sp>
        <p:nvSpPr>
          <p:cNvPr id="417" name="Text 19"/>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8"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Kafka Streams API</a:t>
            </a:r>
            <a:endParaRPr lang="en-IN" sz="2200" b="0" u="none" strike="noStrike">
              <a:solidFill>
                <a:srgbClr val="000000"/>
              </a:solidFill>
              <a:effectLst/>
              <a:uFillTx/>
              <a:latin typeface="Arial"/>
            </a:endParaRPr>
          </a:p>
        </p:txBody>
      </p:sp>
      <p:sp>
        <p:nvSpPr>
          <p:cNvPr id="419" name="Text 1"/>
          <p:cNvSpPr/>
          <p:nvPr/>
        </p:nvSpPr>
        <p:spPr>
          <a:xfrm>
            <a:off x="457200" y="1097280"/>
            <a:ext cx="4937040" cy="2376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0" u="none" strike="noStrike">
                <a:solidFill>
                  <a:srgbClr val="385170"/>
                </a:solidFill>
                <a:effectLst/>
                <a:uFillTx/>
                <a:latin typeface="Calibri"/>
              </a:rPr>
              <a:t>• Kafka Streams is a Java library to build event streaming applications.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Provides high‑level DSL for map, filter, aggregate, join and window operations.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Manages state and fault tolerance using changelog topics and internal state stores.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Runs inside your application — no separate cluster required.</a:t>
            </a:r>
            <a:endParaRPr lang="en-IN" sz="1100" b="0" u="none" strike="noStrike">
              <a:solidFill>
                <a:srgbClr val="000000"/>
              </a:solidFill>
              <a:effectLst/>
              <a:uFillTx/>
              <a:latin typeface="Arial"/>
            </a:endParaRPr>
          </a:p>
          <a:p>
            <a:pPr defTabSz="914400">
              <a:lnSpc>
                <a:spcPct val="100000"/>
              </a:lnSpc>
              <a:tabLst>
                <a:tab pos="0" algn="l"/>
              </a:tabLst>
            </a:pPr>
            <a:endParaRPr lang="en-IN" sz="1100" b="0" u="none" strike="noStrike">
              <a:solidFill>
                <a:srgbClr val="000000"/>
              </a:solidFill>
              <a:effectLst/>
              <a:uFillTx/>
              <a:latin typeface="Arial"/>
            </a:endParaRPr>
          </a:p>
        </p:txBody>
      </p:sp>
      <p:graphicFrame>
        <p:nvGraphicFramePr>
          <p:cNvPr id="420" name="Chart 0"/>
          <p:cNvGraphicFramePr/>
          <p:nvPr/>
        </p:nvGraphicFramePr>
        <p:xfrm>
          <a:off x="5669280" y="1097280"/>
          <a:ext cx="3199680" cy="2102400"/>
        </p:xfrm>
        <a:graphic>
          <a:graphicData uri="http://schemas.openxmlformats.org/drawingml/2006/chart">
            <c:chart xmlns:c="http://schemas.openxmlformats.org/drawingml/2006/chart" xmlns:r="http://schemas.openxmlformats.org/officeDocument/2006/relationships" r:id="rId3"/>
          </a:graphicData>
        </a:graphic>
      </p:graphicFrame>
      <p:sp>
        <p:nvSpPr>
          <p:cNvPr id="421" name="Text 2"/>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4"/>
              </a:rPr>
              <a:t>[1]</a:t>
            </a:r>
            <a:endParaRPr lang="en-IN" sz="700" b="0" u="none" strike="noStrike">
              <a:solidFill>
                <a:srgbClr val="000000"/>
              </a:solidFill>
              <a:effectLst/>
              <a:uFillTx/>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22"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ksqlDB: Streaming SQL</a:t>
            </a:r>
            <a:endParaRPr lang="en-IN" sz="2200" b="0" u="none" strike="noStrike">
              <a:solidFill>
                <a:srgbClr val="000000"/>
              </a:solidFill>
              <a:effectLst/>
              <a:uFillTx/>
              <a:latin typeface="Arial"/>
            </a:endParaRPr>
          </a:p>
        </p:txBody>
      </p:sp>
      <p:sp>
        <p:nvSpPr>
          <p:cNvPr id="423" name="Text 1"/>
          <p:cNvSpPr/>
          <p:nvPr/>
        </p:nvSpPr>
        <p:spPr>
          <a:xfrm>
            <a:off x="457200" y="1097280"/>
            <a:ext cx="5028480" cy="2376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0" u="none" strike="noStrike">
                <a:solidFill>
                  <a:srgbClr val="385170"/>
                </a:solidFill>
                <a:effectLst/>
                <a:uFillTx/>
                <a:latin typeface="Calibri"/>
              </a:rPr>
              <a:t>• ksqlDB is Kafka’s SQL engine enabling real‑time querying of streams.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Use simple SQL statements to filter, transform, join and aggregate streaming data.</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Create persistent streams and tables for continuous processing.</a:t>
            </a:r>
            <a:endParaRPr lang="en-IN" sz="1100" b="0" u="none" strike="noStrike">
              <a:solidFill>
                <a:srgbClr val="000000"/>
              </a:solidFill>
              <a:effectLst/>
              <a:uFillTx/>
              <a:latin typeface="Arial"/>
            </a:endParaRPr>
          </a:p>
          <a:p>
            <a:pPr defTabSz="914400">
              <a:lnSpc>
                <a:spcPct val="100000"/>
              </a:lnSpc>
              <a:tabLst>
                <a:tab pos="0" algn="l"/>
              </a:tabLst>
            </a:pPr>
            <a:r>
              <a:rPr lang="en-US" sz="1100" b="0" u="none" strike="noStrike">
                <a:solidFill>
                  <a:srgbClr val="385170"/>
                </a:solidFill>
                <a:effectLst/>
                <a:uFillTx/>
                <a:latin typeface="Calibri"/>
              </a:rPr>
              <a:t>• Ideal for rapid prototyping and dashboards; for complex logic, prefer the Streams API.</a:t>
            </a:r>
            <a:endParaRPr lang="en-IN" sz="1100" b="0" u="none" strike="noStrike">
              <a:solidFill>
                <a:srgbClr val="000000"/>
              </a:solidFill>
              <a:effectLst/>
              <a:uFillTx/>
              <a:latin typeface="Arial"/>
            </a:endParaRPr>
          </a:p>
        </p:txBody>
      </p:sp>
      <p:sp>
        <p:nvSpPr>
          <p:cNvPr id="424" name="Shape 2"/>
          <p:cNvSpPr/>
          <p:nvPr/>
        </p:nvSpPr>
        <p:spPr>
          <a:xfrm>
            <a:off x="5669280" y="1097280"/>
            <a:ext cx="3199680" cy="1279440"/>
          </a:xfrm>
          <a:prstGeom prst="roundRect">
            <a:avLst>
              <a:gd name="adj" fmla="val 3571"/>
            </a:avLst>
          </a:prstGeom>
          <a:solidFill>
            <a:srgbClr val="F7F9FB"/>
          </a:solidFill>
          <a:ln w="12700">
            <a:solidFill>
              <a:srgbClr val="D6E0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IN" sz="1800" b="0" u="none" strike="noStrike">
              <a:solidFill>
                <a:srgbClr val="000000"/>
              </a:solidFill>
              <a:effectLst/>
              <a:uFillTx/>
              <a:latin typeface="Arial"/>
            </a:endParaRPr>
          </a:p>
        </p:txBody>
      </p:sp>
      <p:sp>
        <p:nvSpPr>
          <p:cNvPr id="425" name="Text 3"/>
          <p:cNvSpPr/>
          <p:nvPr/>
        </p:nvSpPr>
        <p:spPr>
          <a:xfrm>
            <a:off x="5715000" y="1143000"/>
            <a:ext cx="3153960" cy="1188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900" b="0" u="none" strike="noStrike">
                <a:solidFill>
                  <a:srgbClr val="385170"/>
                </a:solidFill>
                <a:effectLst/>
                <a:uFillTx/>
                <a:latin typeface="Consolas"/>
                <a:ea typeface="Consolas"/>
              </a:rPr>
              <a:t>CREATE STREAM rides_stream AS</a:t>
            </a:r>
            <a:endParaRPr lang="en-IN" sz="900" b="0" u="none" strike="noStrike">
              <a:solidFill>
                <a:srgbClr val="000000"/>
              </a:solidFill>
              <a:effectLst/>
              <a:uFillTx/>
              <a:latin typeface="Arial"/>
            </a:endParaRPr>
          </a:p>
          <a:p>
            <a:pPr defTabSz="914400">
              <a:lnSpc>
                <a:spcPct val="100000"/>
              </a:lnSpc>
              <a:tabLst>
                <a:tab pos="0" algn="l"/>
              </a:tabLst>
            </a:pPr>
            <a:r>
              <a:rPr lang="en-US" sz="900" b="0" u="none" strike="noStrike">
                <a:solidFill>
                  <a:srgbClr val="385170"/>
                </a:solidFill>
                <a:effectLst/>
                <a:uFillTx/>
                <a:latin typeface="Consolas"/>
                <a:ea typeface="Consolas"/>
              </a:rPr>
              <a:t>  SELECT rider_id, trip_distance</a:t>
            </a:r>
            <a:endParaRPr lang="en-IN" sz="900" b="0" u="none" strike="noStrike">
              <a:solidFill>
                <a:srgbClr val="000000"/>
              </a:solidFill>
              <a:effectLst/>
              <a:uFillTx/>
              <a:latin typeface="Arial"/>
            </a:endParaRPr>
          </a:p>
          <a:p>
            <a:pPr defTabSz="914400">
              <a:lnSpc>
                <a:spcPct val="100000"/>
              </a:lnSpc>
              <a:tabLst>
                <a:tab pos="0" algn="l"/>
              </a:tabLst>
            </a:pPr>
            <a:r>
              <a:rPr lang="en-US" sz="900" b="0" u="none" strike="noStrike">
                <a:solidFill>
                  <a:srgbClr val="385170"/>
                </a:solidFill>
                <a:effectLst/>
                <a:uFillTx/>
                <a:latin typeface="Consolas"/>
                <a:ea typeface="Consolas"/>
              </a:rPr>
              <a:t>  FROM rides_topic</a:t>
            </a:r>
            <a:endParaRPr lang="en-IN" sz="900" b="0" u="none" strike="noStrike">
              <a:solidFill>
                <a:srgbClr val="000000"/>
              </a:solidFill>
              <a:effectLst/>
              <a:uFillTx/>
              <a:latin typeface="Arial"/>
            </a:endParaRPr>
          </a:p>
          <a:p>
            <a:pPr defTabSz="914400">
              <a:lnSpc>
                <a:spcPct val="100000"/>
              </a:lnSpc>
              <a:tabLst>
                <a:tab pos="0" algn="l"/>
              </a:tabLst>
            </a:pPr>
            <a:r>
              <a:rPr lang="en-US" sz="900" b="0" u="none" strike="noStrike">
                <a:solidFill>
                  <a:srgbClr val="385170"/>
                </a:solidFill>
                <a:effectLst/>
                <a:uFillTx/>
                <a:latin typeface="Consolas"/>
                <a:ea typeface="Consolas"/>
              </a:rPr>
              <a:t>  EMIT CHANGES;</a:t>
            </a:r>
            <a:endParaRPr lang="en-IN" sz="900" b="0" u="none" strike="noStrike">
              <a:solidFill>
                <a:srgbClr val="000000"/>
              </a:solidFill>
              <a:effectLst/>
              <a:uFillTx/>
              <a:latin typeface="Arial"/>
            </a:endParaRPr>
          </a:p>
        </p:txBody>
      </p:sp>
      <p:sp>
        <p:nvSpPr>
          <p:cNvPr id="426" name="Text 4"/>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endParaRPr lang="en-IN" sz="700" b="0" u="none" strike="noStrike">
              <a:solidFill>
                <a:srgbClr val="000000"/>
              </a:solidFill>
              <a:effectLst/>
              <a:uFillTx/>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27"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Schema Registry</a:t>
            </a:r>
            <a:endParaRPr lang="en-IN" sz="2200" b="0" u="none" strike="noStrike">
              <a:solidFill>
                <a:srgbClr val="000000"/>
              </a:solidFill>
              <a:effectLst/>
              <a:uFillTx/>
              <a:latin typeface="Arial"/>
            </a:endParaRPr>
          </a:p>
        </p:txBody>
      </p:sp>
      <p:sp>
        <p:nvSpPr>
          <p:cNvPr id="428" name="Text 1"/>
          <p:cNvSpPr/>
          <p:nvPr/>
        </p:nvSpPr>
        <p:spPr>
          <a:xfrm>
            <a:off x="457200" y="244330"/>
            <a:ext cx="5028480" cy="2376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100" b="0" u="none" strike="noStrike" dirty="0">
                <a:solidFill>
                  <a:srgbClr val="385170"/>
                </a:solidFill>
                <a:effectLst/>
                <a:uFillTx/>
                <a:latin typeface="Calibri"/>
              </a:rPr>
              <a:t>• Central repository for Avro, JSON Schema and </a:t>
            </a:r>
            <a:r>
              <a:rPr lang="en-US" sz="1100" b="0" u="none" strike="noStrike" dirty="0" err="1">
                <a:solidFill>
                  <a:srgbClr val="385170"/>
                </a:solidFill>
                <a:effectLst/>
                <a:uFillTx/>
                <a:latin typeface="Calibri"/>
              </a:rPr>
              <a:t>Protobuf</a:t>
            </a:r>
            <a:r>
              <a:rPr lang="en-US" sz="1100" b="0" u="none" strike="noStrike" dirty="0">
                <a:solidFill>
                  <a:srgbClr val="385170"/>
                </a:solidFill>
                <a:effectLst/>
                <a:uFillTx/>
                <a:latin typeface="Calibri"/>
              </a:rPr>
              <a:t> schemas.</a:t>
            </a:r>
            <a:endParaRPr lang="en-IN" sz="1100" b="0" u="none" strike="noStrike" dirty="0">
              <a:solidFill>
                <a:srgbClr val="000000"/>
              </a:solidFill>
              <a:effectLst/>
              <a:uFillTx/>
              <a:latin typeface="Arial"/>
            </a:endParaRPr>
          </a:p>
          <a:p>
            <a:pPr defTabSz="914400">
              <a:lnSpc>
                <a:spcPct val="100000"/>
              </a:lnSpc>
            </a:pPr>
            <a:r>
              <a:rPr lang="en-US" sz="1100" b="0" u="none" strike="noStrike" dirty="0">
                <a:solidFill>
                  <a:srgbClr val="385170"/>
                </a:solidFill>
                <a:effectLst/>
                <a:uFillTx/>
                <a:latin typeface="Calibri"/>
              </a:rPr>
              <a:t>• Validates and stores schemas, enforcing compatibility rules as schemas evolve.</a:t>
            </a:r>
            <a:endParaRPr lang="en-IN" sz="1100" b="0" u="none" strike="noStrike" dirty="0">
              <a:solidFill>
                <a:srgbClr val="000000"/>
              </a:solidFill>
              <a:effectLst/>
              <a:uFillTx/>
              <a:latin typeface="Arial"/>
            </a:endParaRPr>
          </a:p>
          <a:p>
            <a:pPr defTabSz="914400">
              <a:lnSpc>
                <a:spcPct val="100000"/>
              </a:lnSpc>
            </a:pPr>
            <a:r>
              <a:rPr lang="en-US" sz="1100" b="0" u="none" strike="noStrike" dirty="0">
                <a:solidFill>
                  <a:srgbClr val="385170"/>
                </a:solidFill>
                <a:effectLst/>
                <a:uFillTx/>
                <a:latin typeface="Calibri"/>
              </a:rPr>
              <a:t>• Allows producers and consumers to exchange data using IDs rather than full schemas, reducing payload size.</a:t>
            </a:r>
            <a:endParaRPr lang="en-IN" sz="1100" b="0" u="none" strike="noStrike" dirty="0">
              <a:solidFill>
                <a:srgbClr val="000000"/>
              </a:solidFill>
              <a:effectLst/>
              <a:uFillTx/>
              <a:latin typeface="Arial"/>
            </a:endParaRPr>
          </a:p>
          <a:p>
            <a:pPr defTabSz="914400">
              <a:lnSpc>
                <a:spcPct val="100000"/>
              </a:lnSpc>
              <a:tabLst>
                <a:tab pos="0" algn="l"/>
              </a:tabLst>
            </a:pPr>
            <a:r>
              <a:rPr lang="en-US" sz="1100" b="0" u="none" strike="noStrike" dirty="0">
                <a:solidFill>
                  <a:srgbClr val="385170"/>
                </a:solidFill>
                <a:effectLst/>
                <a:uFillTx/>
                <a:latin typeface="Calibri"/>
              </a:rPr>
              <a:t>• Supports versioning and schema evolution; integrates with Connect, </a:t>
            </a:r>
            <a:r>
              <a:rPr lang="en-US" sz="1100" b="0" u="none" strike="noStrike" dirty="0" err="1">
                <a:solidFill>
                  <a:srgbClr val="385170"/>
                </a:solidFill>
                <a:effectLst/>
                <a:uFillTx/>
                <a:latin typeface="Calibri"/>
              </a:rPr>
              <a:t>ksqlDB</a:t>
            </a:r>
            <a:r>
              <a:rPr lang="en-US" sz="1100" b="0" u="none" strike="noStrike" dirty="0">
                <a:solidFill>
                  <a:srgbClr val="385170"/>
                </a:solidFill>
                <a:effectLst/>
                <a:uFillTx/>
                <a:latin typeface="Calibri"/>
              </a:rPr>
              <a:t>, and REST Proxy.</a:t>
            </a:r>
            <a:endParaRPr lang="en-IN" sz="1100" b="0" u="none" strike="noStrike" dirty="0">
              <a:solidFill>
                <a:srgbClr val="000000"/>
              </a:solidFill>
              <a:effectLst/>
              <a:uFillTx/>
              <a:latin typeface="Arial"/>
            </a:endParaRPr>
          </a:p>
        </p:txBody>
      </p:sp>
      <p:sp>
        <p:nvSpPr>
          <p:cNvPr id="437" name="Text 10"/>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endParaRPr lang="en-IN" sz="700" b="0" u="none" strike="noStrike">
              <a:solidFill>
                <a:srgbClr val="000000"/>
              </a:solidFill>
              <a:effectLst/>
              <a:uFillTx/>
              <a:latin typeface="Arial"/>
            </a:endParaRPr>
          </a:p>
        </p:txBody>
      </p:sp>
      <p:pic>
        <p:nvPicPr>
          <p:cNvPr id="4" name="Picture 3">
            <a:extLst>
              <a:ext uri="{FF2B5EF4-FFF2-40B4-BE49-F238E27FC236}">
                <a16:creationId xmlns:a16="http://schemas.microsoft.com/office/drawing/2014/main" id="{24DC77AB-C94E-0CEA-74F0-7685C7E1FBA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7199" y="1939226"/>
            <a:ext cx="5028481" cy="2843277"/>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38" name="Text 0"/>
          <p:cNvSpPr/>
          <p:nvPr/>
        </p:nvSpPr>
        <p:spPr>
          <a:xfrm>
            <a:off x="304080" y="446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MirrorMaker &amp; Replicator</a:t>
            </a:r>
            <a:endParaRPr lang="en-IN" sz="2200" b="0" u="none" strike="noStrike">
              <a:solidFill>
                <a:srgbClr val="000000"/>
              </a:solidFill>
              <a:effectLst/>
              <a:uFillTx/>
              <a:latin typeface="Arial"/>
            </a:endParaRPr>
          </a:p>
        </p:txBody>
      </p:sp>
      <p:sp>
        <p:nvSpPr>
          <p:cNvPr id="439" name="Text 1"/>
          <p:cNvSpPr/>
          <p:nvPr/>
        </p:nvSpPr>
        <p:spPr>
          <a:xfrm>
            <a:off x="320040" y="918399"/>
            <a:ext cx="5360324" cy="324489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1" u="none" strike="noStrike" dirty="0" err="1">
                <a:solidFill>
                  <a:srgbClr val="2F5597"/>
                </a:solidFill>
                <a:effectLst/>
                <a:uFillTx/>
                <a:latin typeface="Calibri"/>
              </a:rPr>
              <a:t>MirrorMaker</a:t>
            </a:r>
            <a:r>
              <a:rPr lang="en-US" sz="1200" b="1" u="none" strike="noStrike" dirty="0">
                <a:solidFill>
                  <a:srgbClr val="2F5597"/>
                </a:solidFill>
                <a:effectLst/>
                <a:uFillTx/>
                <a:latin typeface="Calibri"/>
              </a:rPr>
              <a:t> </a:t>
            </a:r>
          </a:p>
          <a:p>
            <a:r>
              <a:rPr lang="en-US" sz="1100" dirty="0">
                <a:solidFill>
                  <a:srgbClr val="385170"/>
                </a:solidFill>
              </a:rPr>
              <a:t>• </a:t>
            </a:r>
            <a:r>
              <a:rPr lang="en-US" sz="1100" dirty="0">
                <a:solidFill>
                  <a:srgbClr val="385170"/>
                </a:solidFill>
                <a:latin typeface="Calibri"/>
              </a:rPr>
              <a:t>It is a tool provided by Apache Kafka that allows you to maintain a replica of an existing Kafka cluster. It uses a Kafka consumer to consume messages from the source cluster and re-publishes those messages to the target (mirror) cluster using an embedded Kafka producer</a:t>
            </a:r>
            <a:r>
              <a:rPr lang="en-US" sz="1200" b="0" u="none" strike="noStrike" dirty="0">
                <a:solidFill>
                  <a:srgbClr val="000000"/>
                </a:solidFill>
                <a:effectLst/>
                <a:uFillTx/>
                <a:latin typeface="Arial"/>
              </a:rPr>
              <a:t>.</a:t>
            </a:r>
            <a:endParaRPr lang="en-IN" sz="1200" b="0" u="none" strike="noStrike" dirty="0">
              <a:solidFill>
                <a:srgbClr val="000000"/>
              </a:solidFill>
              <a:effectLst/>
              <a:uFillTx/>
              <a:latin typeface="Arial"/>
            </a:endParaRPr>
          </a:p>
          <a:p>
            <a:pPr defTabSz="914400">
              <a:lnSpc>
                <a:spcPct val="100000"/>
              </a:lnSpc>
            </a:pPr>
            <a:r>
              <a:rPr lang="en-US" sz="1100" b="0" u="none" strike="noStrike" dirty="0">
                <a:solidFill>
                  <a:srgbClr val="385170"/>
                </a:solidFill>
                <a:effectLst/>
                <a:uFillTx/>
                <a:latin typeface="Calibri"/>
              </a:rPr>
              <a:t>• Built on Kafka Connect; uses </a:t>
            </a:r>
            <a:r>
              <a:rPr lang="en-US" sz="1100" b="0" u="none" strike="noStrike" dirty="0" err="1">
                <a:solidFill>
                  <a:srgbClr val="385170"/>
                </a:solidFill>
                <a:effectLst/>
                <a:uFillTx/>
                <a:latin typeface="Calibri"/>
              </a:rPr>
              <a:t>MirrorSource</a:t>
            </a:r>
            <a:r>
              <a:rPr lang="en-US" sz="1100" b="0" u="none" strike="noStrike" dirty="0">
                <a:solidFill>
                  <a:srgbClr val="385170"/>
                </a:solidFill>
                <a:effectLst/>
                <a:uFillTx/>
                <a:latin typeface="Calibri"/>
              </a:rPr>
              <a:t>, </a:t>
            </a:r>
            <a:r>
              <a:rPr lang="en-US" sz="1100" b="0" u="none" strike="noStrike" dirty="0" err="1">
                <a:solidFill>
                  <a:srgbClr val="385170"/>
                </a:solidFill>
                <a:effectLst/>
                <a:uFillTx/>
                <a:latin typeface="Calibri"/>
              </a:rPr>
              <a:t>MirrorCheckpoint</a:t>
            </a:r>
            <a:r>
              <a:rPr lang="en-US" sz="1100" b="0" u="none" strike="noStrike" dirty="0">
                <a:solidFill>
                  <a:srgbClr val="385170"/>
                </a:solidFill>
                <a:effectLst/>
                <a:uFillTx/>
                <a:latin typeface="Calibri"/>
              </a:rPr>
              <a:t> and </a:t>
            </a:r>
            <a:r>
              <a:rPr lang="en-US" sz="1100" b="0" u="none" strike="noStrike" dirty="0" err="1">
                <a:solidFill>
                  <a:srgbClr val="385170"/>
                </a:solidFill>
                <a:effectLst/>
                <a:uFillTx/>
                <a:latin typeface="Calibri"/>
              </a:rPr>
              <a:t>MirrorHeartbeat</a:t>
            </a:r>
            <a:r>
              <a:rPr lang="en-US" sz="1100" b="0" u="none" strike="noStrike" dirty="0">
                <a:solidFill>
                  <a:srgbClr val="385170"/>
                </a:solidFill>
                <a:effectLst/>
                <a:uFillTx/>
                <a:latin typeface="Calibri"/>
              </a:rPr>
              <a:t> connectors.</a:t>
            </a:r>
            <a:endParaRPr lang="en-IN" sz="1100" b="0" u="none" strike="noStrike" dirty="0">
              <a:solidFill>
                <a:srgbClr val="000000"/>
              </a:solidFill>
              <a:effectLst/>
              <a:uFillTx/>
              <a:latin typeface="Arial"/>
            </a:endParaRPr>
          </a:p>
          <a:p>
            <a:pPr defTabSz="914400">
              <a:lnSpc>
                <a:spcPct val="100000"/>
              </a:lnSpc>
            </a:pPr>
            <a:r>
              <a:rPr lang="en-US" sz="1100" b="0" u="none" strike="noStrike" dirty="0">
                <a:solidFill>
                  <a:srgbClr val="385170"/>
                </a:solidFill>
                <a:effectLst/>
                <a:uFillTx/>
                <a:latin typeface="Calibri"/>
              </a:rPr>
              <a:t>• Replicates topic data, configurations and consumer offsets across clusters.</a:t>
            </a:r>
          </a:p>
          <a:p>
            <a:pPr defTabSz="914400">
              <a:lnSpc>
                <a:spcPct val="100000"/>
              </a:lnSpc>
            </a:pPr>
            <a:endParaRPr lang="en-US" sz="1100" dirty="0">
              <a:solidFill>
                <a:srgbClr val="385170"/>
              </a:solidFill>
              <a:latin typeface="Calibri"/>
            </a:endParaRPr>
          </a:p>
          <a:p>
            <a:pPr defTabSz="914400">
              <a:lnSpc>
                <a:spcPct val="100000"/>
              </a:lnSpc>
            </a:pPr>
            <a:endParaRPr lang="en-IN" sz="1100" b="0" u="none" strike="noStrike" dirty="0">
              <a:solidFill>
                <a:srgbClr val="000000"/>
              </a:solidFill>
              <a:effectLst/>
              <a:uFillTx/>
              <a:latin typeface="Arial"/>
            </a:endParaRPr>
          </a:p>
          <a:p>
            <a:pPr defTabSz="914400">
              <a:lnSpc>
                <a:spcPct val="100000"/>
              </a:lnSpc>
            </a:pPr>
            <a:endParaRPr lang="en-IN" sz="1100" b="0" u="none" strike="noStrike" dirty="0">
              <a:solidFill>
                <a:srgbClr val="000000"/>
              </a:solidFill>
              <a:effectLst/>
              <a:uFillTx/>
              <a:latin typeface="Arial"/>
            </a:endParaRPr>
          </a:p>
          <a:p>
            <a:pPr defTabSz="914400">
              <a:lnSpc>
                <a:spcPct val="100000"/>
              </a:lnSpc>
            </a:pPr>
            <a:r>
              <a:rPr lang="en-US" sz="1200" b="1" u="none" strike="noStrike" dirty="0">
                <a:solidFill>
                  <a:srgbClr val="2F5597"/>
                </a:solidFill>
                <a:effectLst/>
                <a:uFillTx/>
                <a:latin typeface="Calibri"/>
              </a:rPr>
              <a:t>Confluent Replicator</a:t>
            </a:r>
          </a:p>
          <a:p>
            <a:r>
              <a:rPr lang="en-US" sz="1100" dirty="0">
                <a:solidFill>
                  <a:srgbClr val="385170"/>
                </a:solidFill>
              </a:rPr>
              <a:t>• </a:t>
            </a:r>
            <a:r>
              <a:rPr lang="en-US" sz="1100" dirty="0">
                <a:solidFill>
                  <a:srgbClr val="385170"/>
                </a:solidFill>
                <a:latin typeface="Calibri"/>
              </a:rPr>
              <a:t>It is a proprietary connector designed to replicate topics and their data from one Kafka cluster to another.</a:t>
            </a:r>
            <a:endParaRPr lang="en-IN" sz="1100" dirty="0">
              <a:solidFill>
                <a:srgbClr val="385170"/>
              </a:solidFill>
              <a:latin typeface="Calibri"/>
            </a:endParaRPr>
          </a:p>
          <a:p>
            <a:pPr defTabSz="914400">
              <a:lnSpc>
                <a:spcPct val="100000"/>
              </a:lnSpc>
            </a:pPr>
            <a:r>
              <a:rPr lang="en-US" sz="1100" b="0" u="none" strike="noStrike" dirty="0">
                <a:solidFill>
                  <a:srgbClr val="385170"/>
                </a:solidFill>
                <a:effectLst/>
                <a:uFillTx/>
                <a:latin typeface="Calibri"/>
              </a:rPr>
              <a:t>• Commercial tool with tighter Schema Registry integration and provenance headers to prevent loops.</a:t>
            </a:r>
            <a:endParaRPr lang="en-IN" sz="1100" b="0" u="none" strike="noStrike" dirty="0">
              <a:solidFill>
                <a:srgbClr val="000000"/>
              </a:solidFill>
              <a:effectLst/>
              <a:uFillTx/>
              <a:latin typeface="Arial"/>
            </a:endParaRPr>
          </a:p>
          <a:p>
            <a:pPr defTabSz="914400">
              <a:lnSpc>
                <a:spcPct val="100000"/>
              </a:lnSpc>
            </a:pPr>
            <a:r>
              <a:rPr lang="en-US" sz="1100" b="0" u="none" strike="noStrike" dirty="0">
                <a:solidFill>
                  <a:srgbClr val="385170"/>
                </a:solidFill>
                <a:effectLst/>
                <a:uFillTx/>
                <a:latin typeface="Calibri"/>
              </a:rPr>
              <a:t>• Provides topic and ACL sync, schema migration, and can translate consumer offsets.</a:t>
            </a:r>
            <a:endParaRPr lang="en-IN" sz="1100" b="0" u="none" strike="noStrike" dirty="0">
              <a:solidFill>
                <a:srgbClr val="000000"/>
              </a:solidFill>
              <a:effectLst/>
              <a:uFillTx/>
              <a:latin typeface="Arial"/>
            </a:endParaRPr>
          </a:p>
          <a:p>
            <a:pPr defTabSz="914400">
              <a:lnSpc>
                <a:spcPct val="100000"/>
              </a:lnSpc>
              <a:tabLst>
                <a:tab pos="0" algn="l"/>
              </a:tabLst>
            </a:pPr>
            <a:endParaRPr lang="en-IN" sz="1100" b="0" u="none" strike="noStrike" dirty="0">
              <a:solidFill>
                <a:srgbClr val="000000"/>
              </a:solidFill>
              <a:effectLst/>
              <a:uFillTx/>
              <a:latin typeface="Arial"/>
            </a:endParaRPr>
          </a:p>
        </p:txBody>
      </p:sp>
      <p:sp>
        <p:nvSpPr>
          <p:cNvPr id="441" name="Text 3"/>
          <p:cNvSpPr/>
          <p:nvPr/>
        </p:nvSpPr>
        <p:spPr>
          <a:xfrm>
            <a:off x="5567040" y="1299600"/>
            <a:ext cx="127944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IN" sz="800" b="0" u="none" strike="noStrike" dirty="0">
              <a:solidFill>
                <a:srgbClr val="000000"/>
              </a:solidFill>
              <a:effectLst/>
              <a:uFillTx/>
              <a:latin typeface="Arial"/>
            </a:endParaRPr>
          </a:p>
        </p:txBody>
      </p:sp>
      <p:sp>
        <p:nvSpPr>
          <p:cNvPr id="443" name="Text 5"/>
          <p:cNvSpPr/>
          <p:nvPr/>
        </p:nvSpPr>
        <p:spPr>
          <a:xfrm>
            <a:off x="7745040" y="1263600"/>
            <a:ext cx="127944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IN" sz="800" b="0" u="none" strike="noStrike" dirty="0">
              <a:solidFill>
                <a:srgbClr val="000000"/>
              </a:solidFill>
              <a:effectLst/>
              <a:uFillTx/>
              <a:latin typeface="Arial"/>
            </a:endParaRPr>
          </a:p>
        </p:txBody>
      </p:sp>
      <p:sp>
        <p:nvSpPr>
          <p:cNvPr id="448" name="Text 10"/>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endParaRPr lang="en-IN" sz="700" b="0" u="none" strike="noStrike">
              <a:solidFill>
                <a:srgbClr val="000000"/>
              </a:solidFill>
              <a:effectLst/>
              <a:uFillTx/>
              <a:latin typeface="Arial"/>
            </a:endParaRPr>
          </a:p>
        </p:txBody>
      </p:sp>
      <p:pic>
        <p:nvPicPr>
          <p:cNvPr id="10" name="Picture 9">
            <a:extLst>
              <a:ext uri="{FF2B5EF4-FFF2-40B4-BE49-F238E27FC236}">
                <a16:creationId xmlns:a16="http://schemas.microsoft.com/office/drawing/2014/main" id="{C67498D9-2E9A-C7EC-F207-A263B1376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75494" y="1123044"/>
            <a:ext cx="3010586" cy="1194072"/>
          </a:xfrm>
          <a:prstGeom prst="rect">
            <a:avLst/>
          </a:prstGeom>
        </p:spPr>
      </p:pic>
      <p:pic>
        <p:nvPicPr>
          <p:cNvPr id="12" name="Picture 11">
            <a:extLst>
              <a:ext uri="{FF2B5EF4-FFF2-40B4-BE49-F238E27FC236}">
                <a16:creationId xmlns:a16="http://schemas.microsoft.com/office/drawing/2014/main" id="{EF1D57D6-27FA-3F55-CD18-49256D5FB1A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721350" y="2370918"/>
            <a:ext cx="2953570" cy="1654301"/>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9FBFD"/>
        </a:solidFill>
        <a:effectLst/>
      </p:bgPr>
    </p:bg>
    <p:spTree>
      <p:nvGrpSpPr>
        <p:cNvPr id="1" name=""/>
        <p:cNvGrpSpPr/>
        <p:nvPr/>
      </p:nvGrpSpPr>
      <p:grpSpPr>
        <a:xfrm>
          <a:off x="0" y="0"/>
          <a:ext cx="0" cy="0"/>
          <a:chOff x="0" y="0"/>
          <a:chExt cx="0" cy="0"/>
        </a:xfrm>
      </p:grpSpPr>
      <p:sp>
        <p:nvSpPr>
          <p:cNvPr id="449" name="Text 0"/>
          <p:cNvSpPr/>
          <p:nvPr/>
        </p:nvSpPr>
        <p:spPr>
          <a:xfrm>
            <a:off x="457200" y="274320"/>
            <a:ext cx="8686080" cy="45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200" b="1" u="none" strike="noStrike">
                <a:solidFill>
                  <a:srgbClr val="2F5597"/>
                </a:solidFill>
                <a:effectLst/>
                <a:uFillTx/>
                <a:latin typeface="Calibri"/>
              </a:rPr>
              <a:t>Knowledge check - 1</a:t>
            </a:r>
            <a:endParaRPr lang="en-IN" sz="2200" b="0" u="none" strike="noStrike">
              <a:solidFill>
                <a:srgbClr val="000000"/>
              </a:solidFill>
              <a:effectLst/>
              <a:uFillTx/>
              <a:latin typeface="Arial"/>
            </a:endParaRPr>
          </a:p>
        </p:txBody>
      </p:sp>
      <p:sp>
        <p:nvSpPr>
          <p:cNvPr id="450" name="Text 1"/>
          <p:cNvSpPr/>
          <p:nvPr/>
        </p:nvSpPr>
        <p:spPr>
          <a:xfrm>
            <a:off x="457200" y="731520"/>
            <a:ext cx="5028480" cy="2742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1" u="none" strike="noStrike">
                <a:solidFill>
                  <a:srgbClr val="2F5597"/>
                </a:solidFill>
                <a:effectLst/>
                <a:uFillTx/>
                <a:latin typeface="Calibri"/>
              </a:rPr>
              <a:t>Match the following tool to its primary use case:</a:t>
            </a:r>
            <a:endParaRPr lang="en-IN" sz="12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Kafka Streams</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ksqlDB</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Schema Registry</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MirrorMaker</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REST Proxy</a:t>
            </a:r>
            <a:endParaRPr lang="en-IN" sz="1100" b="0" u="none" strike="noStrike">
              <a:solidFill>
                <a:srgbClr val="000000"/>
              </a:solidFill>
              <a:effectLst/>
              <a:uFillTx/>
              <a:latin typeface="Arial"/>
            </a:endParaRPr>
          </a:p>
          <a:p>
            <a:pPr defTabSz="914400">
              <a:lnSpc>
                <a:spcPct val="100000"/>
              </a:lnSpc>
            </a:pPr>
            <a:r>
              <a:rPr lang="en-US" sz="1100" b="0" u="none" strike="noStrike">
                <a:solidFill>
                  <a:srgbClr val="385170"/>
                </a:solidFill>
                <a:effectLst/>
                <a:uFillTx/>
                <a:latin typeface="Calibri"/>
              </a:rPr>
              <a:t>• Kafka Connect</a:t>
            </a:r>
            <a:endParaRPr lang="en-IN" sz="1100" b="0" u="none" strike="noStrike">
              <a:solidFill>
                <a:srgbClr val="000000"/>
              </a:solidFill>
              <a:effectLst/>
              <a:uFillTx/>
              <a:latin typeface="Arial"/>
            </a:endParaRPr>
          </a:p>
          <a:p>
            <a:pPr defTabSz="914400">
              <a:lnSpc>
                <a:spcPct val="100000"/>
              </a:lnSpc>
              <a:tabLst>
                <a:tab pos="0" algn="l"/>
              </a:tabLst>
            </a:pPr>
            <a:endParaRPr lang="en-IN" sz="1100" b="0" u="none" strike="noStrike">
              <a:solidFill>
                <a:srgbClr val="000000"/>
              </a:solidFill>
              <a:effectLst/>
              <a:uFillTx/>
              <a:latin typeface="Arial"/>
            </a:endParaRPr>
          </a:p>
        </p:txBody>
      </p:sp>
      <p:sp>
        <p:nvSpPr>
          <p:cNvPr id="451" name="Text 2"/>
          <p:cNvSpPr/>
          <p:nvPr/>
        </p:nvSpPr>
        <p:spPr>
          <a:xfrm>
            <a:off x="5669280" y="914400"/>
            <a:ext cx="3474000" cy="2742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IN" sz="1800" b="0" u="none" strike="noStrike">
              <a:solidFill>
                <a:srgbClr val="000000"/>
              </a:solidFill>
              <a:effectLst/>
              <a:uFillTx/>
              <a:latin typeface="Arial"/>
            </a:endParaRPr>
          </a:p>
        </p:txBody>
      </p:sp>
      <p:sp>
        <p:nvSpPr>
          <p:cNvPr id="452" name="Text 3"/>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4"/>
              </a:rPr>
              <a:t>[2]</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5"/>
              </a:rPr>
              <a:t>[3]</a:t>
            </a:r>
            <a:r>
              <a:rPr lang="en-US" sz="700" b="0" u="none" strike="noStrike">
                <a:solidFill>
                  <a:srgbClr val="666666"/>
                </a:solidFill>
                <a:effectLst/>
                <a:uFillTx/>
                <a:latin typeface="Calibri"/>
              </a:rPr>
              <a:t>   </a:t>
            </a:r>
            <a:r>
              <a:rPr lang="en-US" sz="700" b="0" u="sng" strike="noStrike">
                <a:solidFill>
                  <a:srgbClr val="0563C1"/>
                </a:solidFill>
                <a:effectLst/>
                <a:uFillTx/>
                <a:latin typeface="Calibri"/>
                <a:hlinkClick r:id="rId6"/>
              </a:rPr>
              <a:t>[4]</a:t>
            </a:r>
            <a:endParaRPr lang="en-IN" sz="700" b="0" u="none" strike="noStrike">
              <a:solidFill>
                <a:srgbClr val="000000"/>
              </a:solidFill>
              <a:effectLst/>
              <a:uFillTx/>
              <a:latin typeface="Arial"/>
            </a:endParaRPr>
          </a:p>
        </p:txBody>
      </p:sp>
      <p:sp>
        <p:nvSpPr>
          <p:cNvPr id="453" name="TextBox 452"/>
          <p:cNvSpPr txBox="1"/>
          <p:nvPr/>
        </p:nvSpPr>
        <p:spPr>
          <a:xfrm>
            <a:off x="2580920" y="1560760"/>
            <a:ext cx="3234960" cy="930960"/>
          </a:xfrm>
          <a:prstGeom prst="rect">
            <a:avLst/>
          </a:prstGeom>
          <a:noFill/>
          <a:ln w="0">
            <a:noFill/>
          </a:ln>
        </p:spPr>
        <p:txBody>
          <a:bodyPr lIns="90000" tIns="45000" rIns="90000" bIns="45000" anchor="t">
            <a:spAutoFit/>
          </a:bodyPr>
          <a:lstStyle/>
          <a:p>
            <a:r>
              <a:rPr lang="en-US" sz="1100" b="0" u="none" strike="noStrike" dirty="0">
                <a:solidFill>
                  <a:srgbClr val="385170"/>
                </a:solidFill>
                <a:effectLst/>
                <a:uFillTx/>
                <a:latin typeface="Calibri"/>
              </a:rPr>
              <a:t>A. Replicating data between clusters</a:t>
            </a:r>
            <a:endParaRPr lang="en-IN" sz="1100" b="0" u="none" strike="noStrike" dirty="0">
              <a:solidFill>
                <a:srgbClr val="000000"/>
              </a:solidFill>
              <a:effectLst/>
              <a:uFillTx/>
              <a:latin typeface="Arial"/>
            </a:endParaRPr>
          </a:p>
          <a:p>
            <a:r>
              <a:rPr lang="en-US" sz="1100" b="0" u="none" strike="noStrike" dirty="0">
                <a:solidFill>
                  <a:srgbClr val="385170"/>
                </a:solidFill>
                <a:effectLst/>
                <a:uFillTx/>
                <a:latin typeface="Calibri"/>
              </a:rPr>
              <a:t>B. Managing data schemas and compatibility</a:t>
            </a:r>
            <a:endParaRPr lang="en-IN" sz="1100" b="0" u="none" strike="noStrike" dirty="0">
              <a:solidFill>
                <a:srgbClr val="000000"/>
              </a:solidFill>
              <a:effectLst/>
              <a:uFillTx/>
              <a:latin typeface="Arial"/>
            </a:endParaRPr>
          </a:p>
          <a:p>
            <a:r>
              <a:rPr lang="en-US" sz="1100" b="0" u="none" strike="noStrike" dirty="0">
                <a:solidFill>
                  <a:srgbClr val="385170"/>
                </a:solidFill>
                <a:effectLst/>
                <a:uFillTx/>
                <a:latin typeface="Calibri"/>
              </a:rPr>
              <a:t>C. Creating SQL‑based streaming pipelines</a:t>
            </a:r>
            <a:endParaRPr lang="en-IN" sz="1100" b="0" u="none" strike="noStrike" dirty="0">
              <a:solidFill>
                <a:srgbClr val="000000"/>
              </a:solidFill>
              <a:effectLst/>
              <a:uFillTx/>
              <a:latin typeface="Arial"/>
            </a:endParaRPr>
          </a:p>
          <a:p>
            <a:r>
              <a:rPr lang="en-US" sz="1100" b="0" u="none" strike="noStrike" dirty="0">
                <a:solidFill>
                  <a:srgbClr val="385170"/>
                </a:solidFill>
                <a:effectLst/>
                <a:uFillTx/>
                <a:latin typeface="Calibri"/>
              </a:rPr>
              <a:t>D. Building clientless producers/consumers over HTTP</a:t>
            </a:r>
            <a:endParaRPr lang="en-IN" sz="1100" b="0" u="none" strike="noStrike" dirty="0">
              <a:solidFill>
                <a:srgbClr val="000000"/>
              </a:solidFill>
              <a:effectLst/>
              <a:uFillTx/>
              <a:latin typeface="Arial"/>
            </a:endParaRPr>
          </a:p>
          <a:p>
            <a:r>
              <a:rPr lang="en-US" sz="1100" b="0" u="none" strike="noStrike" dirty="0">
                <a:solidFill>
                  <a:srgbClr val="385170"/>
                </a:solidFill>
                <a:effectLst/>
                <a:uFillTx/>
                <a:latin typeface="Calibri"/>
              </a:rPr>
              <a:t>E. High‑level Java API for processing streams</a:t>
            </a:r>
            <a:endParaRPr lang="en-IN" sz="1100" b="0" u="none" strike="noStrike" dirty="0">
              <a:solidFill>
                <a:srgbClr val="000000"/>
              </a:solidFill>
              <a:effectLst/>
              <a:uFillTx/>
              <a:latin typeface="Arial"/>
            </a:endParaRPr>
          </a:p>
          <a:p>
            <a:r>
              <a:rPr lang="en-US" sz="1100" b="0" u="none" strike="noStrike" dirty="0">
                <a:solidFill>
                  <a:srgbClr val="385170"/>
                </a:solidFill>
                <a:effectLst/>
                <a:uFillTx/>
                <a:latin typeface="Calibri"/>
              </a:rPr>
              <a:t>F. Ingesting and exporting data between systems</a:t>
            </a:r>
            <a:endParaRPr lang="en-IN" sz="1100" b="0" u="none" strike="noStrike" dirty="0">
              <a:solidFill>
                <a:srgbClr val="000000"/>
              </a:solidFill>
              <a:effectLst/>
              <a:uFillTx/>
              <a:latin typeface="Arial"/>
            </a:endParaRPr>
          </a:p>
        </p:txBody>
      </p:sp>
      <p:sp>
        <p:nvSpPr>
          <p:cNvPr id="454" name="Rectangle 3"/>
          <p:cNvSpPr/>
          <p:nvPr/>
        </p:nvSpPr>
        <p:spPr>
          <a:xfrm>
            <a:off x="411840" y="71352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endParaRPr lang="en-US" sz="1800" b="0" u="none" strike="noStrike">
              <a:solidFill>
                <a:schemeClr val="lt1"/>
              </a:solidFill>
              <a:effectLst/>
              <a:uFillTx/>
              <a:latin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5" name="TextBox 1"/>
          <p:cNvSpPr/>
          <p:nvPr/>
        </p:nvSpPr>
        <p:spPr>
          <a:xfrm>
            <a:off x="411480" y="255960"/>
            <a:ext cx="7863480" cy="38952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Solution: </a:t>
            </a:r>
            <a:endParaRPr lang="en-IN" sz="2200" b="0" u="none" strike="noStrike">
              <a:solidFill>
                <a:srgbClr val="000000"/>
              </a:solidFill>
              <a:effectLst/>
              <a:uFillTx/>
              <a:latin typeface="Arial"/>
            </a:endParaRPr>
          </a:p>
        </p:txBody>
      </p:sp>
      <p:sp>
        <p:nvSpPr>
          <p:cNvPr id="456"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457" name="TextBox 3"/>
          <p:cNvSpPr/>
          <p:nvPr/>
        </p:nvSpPr>
        <p:spPr>
          <a:xfrm>
            <a:off x="438840" y="786240"/>
            <a:ext cx="7497720" cy="25560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endParaRPr lang="en-IN" sz="1800" b="0" u="none" strike="noStrike">
              <a:solidFill>
                <a:srgbClr val="000000"/>
              </a:solidFill>
              <a:effectLst/>
              <a:uFillTx/>
              <a:latin typeface="Arial"/>
            </a:endParaRPr>
          </a:p>
        </p:txBody>
      </p:sp>
      <p:sp>
        <p:nvSpPr>
          <p:cNvPr id="458" name="TextBox 4"/>
          <p:cNvSpPr/>
          <p:nvPr/>
        </p:nvSpPr>
        <p:spPr>
          <a:xfrm>
            <a:off x="640080" y="1234440"/>
            <a:ext cx="7406280" cy="3245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Kafka Streams: Java library for stateful stream processing applications.</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ksqlDB: SQL interface for streams and tables.</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Schema Registry: central schema storage and compatibility enforcement.</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MirrorMaker 2: cross-cluster replication built on Kafka Connect.</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Kafka Connect: managed integration framework for source and sink connectors.</a:t>
            </a:r>
            <a:endParaRPr lang="en-IN" sz="1500" b="0" u="none" strike="noStrike">
              <a:solidFill>
                <a:srgbClr val="000000"/>
              </a:solidFill>
              <a:effectLst/>
              <a:uFillTx/>
              <a:latin typeface="Arial"/>
            </a:endParaRPr>
          </a:p>
        </p:txBody>
      </p:sp>
      <p:sp>
        <p:nvSpPr>
          <p:cNvPr id="459" name="TextBox 5"/>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[66]</a:t>
            </a:r>
            <a:endParaRPr lang="en-IN" sz="800" b="0" u="none" strike="noStrike">
              <a:solidFill>
                <a:srgbClr val="000000"/>
              </a:solidFill>
              <a:effectLst/>
              <a:uFillTx/>
              <a:latin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 name="TextBox 459"/>
          <p:cNvSpPr txBox="1"/>
          <p:nvPr/>
        </p:nvSpPr>
        <p:spPr>
          <a:xfrm>
            <a:off x="203400" y="842400"/>
            <a:ext cx="5494680" cy="1676160"/>
          </a:xfrm>
          <a:prstGeom prst="rect">
            <a:avLst/>
          </a:prstGeom>
          <a:noFill/>
          <a:ln w="0">
            <a:noFill/>
          </a:ln>
        </p:spPr>
        <p:txBody>
          <a:bodyPr lIns="90000" tIns="45000" rIns="90000" bIns="45000" anchor="t">
            <a:spAutoFit/>
          </a:bodyPr>
          <a:lstStyle/>
          <a:p>
            <a:r>
              <a:rPr lang="en-US" sz="1100" b="0" u="none" strike="noStrike" dirty="0">
                <a:solidFill>
                  <a:srgbClr val="385170"/>
                </a:solidFill>
                <a:effectLst/>
                <a:uFillTx/>
                <a:latin typeface="Calibri"/>
              </a:rPr>
              <a:t>Which tool would you choose for performing interactive SQL queries on streaming data?</a:t>
            </a:r>
            <a:endParaRPr lang="en-IN" sz="1100" b="0" u="none" strike="noStrike" dirty="0">
              <a:solidFill>
                <a:srgbClr val="000000"/>
              </a:solidFill>
              <a:effectLst/>
              <a:uFillTx/>
              <a:latin typeface="Arial"/>
            </a:endParaRPr>
          </a:p>
          <a:p>
            <a:r>
              <a:rPr lang="en-US" sz="1000" b="0" u="none" strike="noStrike" dirty="0">
                <a:solidFill>
                  <a:srgbClr val="385170"/>
                </a:solidFill>
                <a:effectLst/>
                <a:uFillTx/>
                <a:latin typeface="Calibri"/>
              </a:rPr>
              <a:t>a) Kafka Streams</a:t>
            </a:r>
            <a:endParaRPr lang="en-IN" sz="1000" b="0" u="none" strike="noStrike" dirty="0">
              <a:solidFill>
                <a:srgbClr val="000000"/>
              </a:solidFill>
              <a:effectLst/>
              <a:uFillTx/>
              <a:latin typeface="Arial"/>
            </a:endParaRPr>
          </a:p>
          <a:p>
            <a:r>
              <a:rPr lang="en-US" sz="1000" b="0" u="none" strike="noStrike" dirty="0">
                <a:solidFill>
                  <a:srgbClr val="385170"/>
                </a:solidFill>
                <a:effectLst/>
                <a:uFillTx/>
                <a:latin typeface="Calibri"/>
              </a:rPr>
              <a:t>b) </a:t>
            </a:r>
            <a:r>
              <a:rPr lang="en-US" sz="1000" b="0" u="none" strike="noStrike" dirty="0" err="1">
                <a:solidFill>
                  <a:srgbClr val="385170"/>
                </a:solidFill>
                <a:effectLst/>
                <a:uFillTx/>
                <a:latin typeface="Calibri"/>
              </a:rPr>
              <a:t>ksqlDB</a:t>
            </a:r>
            <a:endParaRPr lang="en-IN" sz="1000" b="0" u="none" strike="noStrike" dirty="0">
              <a:solidFill>
                <a:srgbClr val="000000"/>
              </a:solidFill>
              <a:effectLst/>
              <a:uFillTx/>
              <a:latin typeface="Arial"/>
            </a:endParaRPr>
          </a:p>
          <a:p>
            <a:r>
              <a:rPr lang="en-US" sz="1000" b="0" u="none" strike="noStrike" dirty="0">
                <a:solidFill>
                  <a:srgbClr val="385170"/>
                </a:solidFill>
                <a:effectLst/>
                <a:uFillTx/>
                <a:latin typeface="Calibri"/>
              </a:rPr>
              <a:t>c) Schema Registry</a:t>
            </a:r>
            <a:endParaRPr lang="en-IN" sz="1000" b="0" u="none" strike="noStrike" dirty="0">
              <a:solidFill>
                <a:srgbClr val="000000"/>
              </a:solidFill>
              <a:effectLst/>
              <a:uFillTx/>
              <a:latin typeface="Arial"/>
            </a:endParaRPr>
          </a:p>
          <a:p>
            <a:r>
              <a:rPr lang="en-US" sz="1000" b="0" u="none" strike="noStrike" dirty="0">
                <a:solidFill>
                  <a:srgbClr val="385170"/>
                </a:solidFill>
                <a:effectLst/>
                <a:uFillTx/>
                <a:latin typeface="Calibri"/>
              </a:rPr>
              <a:t>d) </a:t>
            </a:r>
            <a:r>
              <a:rPr lang="en-US" sz="1000" b="0" u="none" strike="noStrike" dirty="0" err="1">
                <a:solidFill>
                  <a:srgbClr val="385170"/>
                </a:solidFill>
                <a:effectLst/>
                <a:uFillTx/>
                <a:latin typeface="Calibri"/>
              </a:rPr>
              <a:t>MirrorMaker</a:t>
            </a:r>
            <a:endParaRPr lang="en-IN" sz="1000" b="0" u="none" strike="noStrike" dirty="0">
              <a:solidFill>
                <a:srgbClr val="000000"/>
              </a:solidFill>
              <a:effectLst/>
              <a:uFillTx/>
              <a:latin typeface="Arial"/>
            </a:endParaRPr>
          </a:p>
          <a:p>
            <a:endParaRPr lang="en-IN" sz="1000" b="0" u="none" strike="noStrike" dirty="0">
              <a:solidFill>
                <a:srgbClr val="000000"/>
              </a:solidFill>
              <a:effectLst/>
              <a:uFillTx/>
              <a:latin typeface="Arial"/>
            </a:endParaRPr>
          </a:p>
          <a:p>
            <a:r>
              <a:rPr lang="en-US" sz="1100" b="0" u="none" strike="noStrike" dirty="0">
                <a:solidFill>
                  <a:srgbClr val="385170"/>
                </a:solidFill>
                <a:effectLst/>
                <a:uFillTx/>
                <a:latin typeface="Calibri"/>
              </a:rPr>
              <a:t>Which component ensures that producers and consumers use compatible data formats?</a:t>
            </a:r>
            <a:endParaRPr lang="en-IN" sz="1100" b="0" u="none" strike="noStrike" dirty="0">
              <a:solidFill>
                <a:srgbClr val="000000"/>
              </a:solidFill>
              <a:effectLst/>
              <a:uFillTx/>
              <a:latin typeface="Arial"/>
            </a:endParaRPr>
          </a:p>
          <a:p>
            <a:r>
              <a:rPr lang="en-US" sz="1000" b="0" u="none" strike="noStrike" dirty="0">
                <a:solidFill>
                  <a:srgbClr val="385170"/>
                </a:solidFill>
                <a:effectLst/>
                <a:uFillTx/>
                <a:latin typeface="Calibri"/>
              </a:rPr>
              <a:t>a) Kafka Connect</a:t>
            </a:r>
            <a:endParaRPr lang="en-IN" sz="1000" b="0" u="none" strike="noStrike" dirty="0">
              <a:solidFill>
                <a:srgbClr val="000000"/>
              </a:solidFill>
              <a:effectLst/>
              <a:uFillTx/>
              <a:latin typeface="Arial"/>
            </a:endParaRPr>
          </a:p>
          <a:p>
            <a:r>
              <a:rPr lang="en-US" sz="1000" b="0" u="none" strike="noStrike" dirty="0">
                <a:solidFill>
                  <a:srgbClr val="385170"/>
                </a:solidFill>
                <a:effectLst/>
                <a:uFillTx/>
                <a:latin typeface="Calibri"/>
              </a:rPr>
              <a:t>b) Kafka Streams</a:t>
            </a:r>
            <a:endParaRPr lang="en-IN" sz="1000" b="0" u="none" strike="noStrike" dirty="0">
              <a:solidFill>
                <a:srgbClr val="000000"/>
              </a:solidFill>
              <a:effectLst/>
              <a:uFillTx/>
              <a:latin typeface="Arial"/>
            </a:endParaRPr>
          </a:p>
          <a:p>
            <a:r>
              <a:rPr lang="en-US" sz="1000" b="0" u="none" strike="noStrike" dirty="0">
                <a:solidFill>
                  <a:srgbClr val="385170"/>
                </a:solidFill>
                <a:effectLst/>
                <a:uFillTx/>
                <a:latin typeface="Calibri"/>
              </a:rPr>
              <a:t>c) Schema Registry</a:t>
            </a:r>
            <a:endParaRPr lang="en-IN" sz="1000" b="0" u="none" strike="noStrike" dirty="0">
              <a:solidFill>
                <a:srgbClr val="000000"/>
              </a:solidFill>
              <a:effectLst/>
              <a:uFillTx/>
              <a:latin typeface="Arial"/>
            </a:endParaRPr>
          </a:p>
          <a:p>
            <a:r>
              <a:rPr lang="en-US" sz="1000" b="0" u="none" strike="noStrike" dirty="0">
                <a:solidFill>
                  <a:srgbClr val="385170"/>
                </a:solidFill>
                <a:effectLst/>
                <a:uFillTx/>
                <a:latin typeface="Calibri"/>
              </a:rPr>
              <a:t>d) REST Proxy</a:t>
            </a:r>
            <a:endParaRPr lang="en-IN" sz="1000" b="0" u="none" strike="noStrike" dirty="0">
              <a:solidFill>
                <a:srgbClr val="000000"/>
              </a:solidFill>
              <a:effectLst/>
              <a:uFillTx/>
              <a:latin typeface="Arial"/>
            </a:endParaRPr>
          </a:p>
        </p:txBody>
      </p:sp>
      <p:sp>
        <p:nvSpPr>
          <p:cNvPr id="461" name="TextBox 460"/>
          <p:cNvSpPr txBox="1"/>
          <p:nvPr/>
        </p:nvSpPr>
        <p:spPr>
          <a:xfrm>
            <a:off x="341640" y="360000"/>
            <a:ext cx="3239760" cy="429433"/>
          </a:xfrm>
          <a:prstGeom prst="rect">
            <a:avLst/>
          </a:prstGeom>
          <a:noFill/>
          <a:ln w="0">
            <a:noFill/>
          </a:ln>
        </p:spPr>
        <p:txBody>
          <a:bodyPr wrap="square" lIns="90000" tIns="45000" rIns="90000" bIns="45000" anchor="t">
            <a:spAutoFit/>
          </a:bodyPr>
          <a:lstStyle/>
          <a:p>
            <a:r>
              <a:rPr lang="en-US" sz="2200" b="1" u="none" strike="noStrike" dirty="0">
                <a:solidFill>
                  <a:srgbClr val="2F5597"/>
                </a:solidFill>
                <a:effectLst/>
                <a:uFillTx/>
                <a:latin typeface="Calibri"/>
              </a:rPr>
              <a:t>Knowledge check - 2</a:t>
            </a:r>
            <a:endParaRPr lang="en-IN" sz="2200" b="0" u="none" strike="noStrike" dirty="0">
              <a:solidFill>
                <a:srgbClr val="000000"/>
              </a:solidFill>
              <a:effectLst/>
              <a:uFillTx/>
              <a:latin typeface="Arial"/>
            </a:endParaRPr>
          </a:p>
        </p:txBody>
      </p:sp>
      <p:sp>
        <p:nvSpPr>
          <p:cNvPr id="462" name="Rectangle 1"/>
          <p:cNvSpPr/>
          <p:nvPr/>
        </p:nvSpPr>
        <p:spPr>
          <a:xfrm>
            <a:off x="272520" y="74952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endParaRPr lang="en-US" sz="1800" b="0" u="none" strike="noStrike">
              <a:solidFill>
                <a:schemeClr val="lt1"/>
              </a:solidFill>
              <a:effectLst/>
              <a:uFillTx/>
              <a:latin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TextBox 462"/>
          <p:cNvSpPr txBox="1"/>
          <p:nvPr/>
        </p:nvSpPr>
        <p:spPr>
          <a:xfrm>
            <a:off x="473760" y="955440"/>
            <a:ext cx="5910480" cy="2778840"/>
          </a:xfrm>
          <a:prstGeom prst="rect">
            <a:avLst/>
          </a:prstGeom>
          <a:noFill/>
          <a:ln w="0">
            <a:noFill/>
          </a:ln>
        </p:spPr>
        <p:txBody>
          <a:bodyPr lIns="90000" tIns="45000" rIns="90000" bIns="45000" anchor="t">
            <a:spAutoFit/>
          </a:bodyPr>
          <a:lstStyle/>
          <a:p>
            <a:r>
              <a:rPr lang="en-IN" sz="900" b="0" u="none" strike="noStrike">
                <a:solidFill>
                  <a:srgbClr val="000000"/>
                </a:solidFill>
                <a:effectLst/>
                <a:uFillTx/>
                <a:latin typeface="Arial"/>
              </a:rPr>
              <a:t>Which tool would you choose for performing interactive SQL queries on streaming data?</a:t>
            </a:r>
          </a:p>
          <a:p>
            <a:r>
              <a:rPr lang="en-IN" sz="900" b="0" u="none" strike="noStrike">
                <a:solidFill>
                  <a:srgbClr val="000000"/>
                </a:solidFill>
                <a:effectLst/>
                <a:uFillTx/>
                <a:latin typeface="Arial"/>
              </a:rPr>
              <a:t>Answer: b) ksqlDB</a:t>
            </a:r>
          </a:p>
          <a:p>
            <a:r>
              <a:rPr lang="en-IN" sz="900" b="0" u="none" strike="noStrike">
                <a:solidFill>
                  <a:srgbClr val="000000"/>
                </a:solidFill>
                <a:effectLst/>
                <a:uFillTx/>
                <a:latin typeface="Arial"/>
              </a:rPr>
              <a:t>ksqlDB lets you write SQL-like queries on Kafka topics, so it is used for interactive streaming analytics.</a:t>
            </a:r>
          </a:p>
          <a:p>
            <a:r>
              <a:rPr lang="en-IN" sz="900" b="0" u="none" strike="noStrike">
                <a:solidFill>
                  <a:srgbClr val="000000"/>
                </a:solidFill>
                <a:effectLst/>
                <a:uFillTx/>
                <a:latin typeface="Arial"/>
              </a:rPr>
              <a:t>Which component ensures that producers and consumers use compatible data formats?</a:t>
            </a:r>
          </a:p>
          <a:p>
            <a:r>
              <a:rPr lang="en-IN" sz="900" b="0" u="none" strike="noStrike">
                <a:solidFill>
                  <a:srgbClr val="000000"/>
                </a:solidFill>
                <a:effectLst/>
                <a:uFillTx/>
                <a:latin typeface="Arial"/>
              </a:rPr>
              <a:t>Answer: c) Schema Registry</a:t>
            </a:r>
          </a:p>
          <a:p>
            <a:r>
              <a:rPr lang="en-IN" sz="900" b="0" u="none" strike="noStrike">
                <a:solidFill>
                  <a:srgbClr val="000000"/>
                </a:solidFill>
                <a:effectLst/>
                <a:uFillTx/>
                <a:latin typeface="Arial"/>
              </a:rPr>
              <a:t>Schema Registry stores and validates schemas like Avro, Protobuf, or JSON Schema so producers and consumers remain compatible. </a:t>
            </a:r>
          </a:p>
          <a:p>
            <a:endParaRPr lang="en-IN" sz="900" b="0" u="none" strike="noStrike">
              <a:solidFill>
                <a:srgbClr val="000000"/>
              </a:solidFill>
              <a:effectLst/>
              <a:uFillTx/>
              <a:latin typeface="Arial"/>
            </a:endParaRPr>
          </a:p>
        </p:txBody>
      </p:sp>
      <p:sp>
        <p:nvSpPr>
          <p:cNvPr id="464" name="TextBox 2"/>
          <p:cNvSpPr/>
          <p:nvPr/>
        </p:nvSpPr>
        <p:spPr>
          <a:xfrm>
            <a:off x="411840" y="256320"/>
            <a:ext cx="7863480" cy="38952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Solution: </a:t>
            </a:r>
            <a:endParaRPr lang="en-IN" sz="2200" b="0" u="none" strike="noStrike">
              <a:solidFill>
                <a:srgbClr val="000000"/>
              </a:solidFill>
              <a:effectLst/>
              <a:uFillTx/>
              <a:latin typeface="Arial"/>
            </a:endParaRPr>
          </a:p>
        </p:txBody>
      </p:sp>
      <p:sp>
        <p:nvSpPr>
          <p:cNvPr id="465" name="Rectangle 4"/>
          <p:cNvSpPr/>
          <p:nvPr/>
        </p:nvSpPr>
        <p:spPr>
          <a:xfrm>
            <a:off x="411840" y="71352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endParaRPr lang="en-US" sz="1800" b="0" u="none" strike="noStrike">
              <a:solidFill>
                <a:schemeClr val="lt1"/>
              </a:solidFill>
              <a:effectLst/>
              <a:uFillTx/>
              <a:latin typeface="Calibri"/>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6" name="TextBox 1"/>
          <p:cNvSpPr/>
          <p:nvPr/>
        </p:nvSpPr>
        <p:spPr>
          <a:xfrm>
            <a:off x="411480" y="255960"/>
            <a:ext cx="7863480" cy="38952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Knowledge Check- 3</a:t>
            </a:r>
            <a:endParaRPr lang="en-IN" sz="2200" b="0" u="none" strike="noStrike">
              <a:solidFill>
                <a:srgbClr val="000000"/>
              </a:solidFill>
              <a:effectLst/>
              <a:uFillTx/>
              <a:latin typeface="Arial"/>
            </a:endParaRPr>
          </a:p>
        </p:txBody>
      </p:sp>
      <p:sp>
        <p:nvSpPr>
          <p:cNvPr id="467"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468" name="TextBox 3"/>
          <p:cNvSpPr/>
          <p:nvPr/>
        </p:nvSpPr>
        <p:spPr>
          <a:xfrm>
            <a:off x="438840" y="786240"/>
            <a:ext cx="7497720" cy="23040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endParaRPr lang="en-IN" sz="1800" b="0" u="none" strike="noStrike">
              <a:solidFill>
                <a:srgbClr val="000000"/>
              </a:solidFill>
              <a:effectLst/>
              <a:uFillTx/>
              <a:latin typeface="Arial"/>
            </a:endParaRPr>
          </a:p>
        </p:txBody>
      </p:sp>
      <p:sp>
        <p:nvSpPr>
          <p:cNvPr id="469" name="TextBox 4"/>
          <p:cNvSpPr/>
          <p:nvPr/>
        </p:nvSpPr>
        <p:spPr>
          <a:xfrm>
            <a:off x="685800" y="1051560"/>
            <a:ext cx="7497720" cy="3474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400" b="0" u="none" strike="noStrike">
                <a:solidFill>
                  <a:srgbClr val="1E1E1E"/>
                </a:solidFill>
                <a:effectLst/>
                <a:uFillTx/>
                <a:latin typeface="Calibri"/>
              </a:rPr>
              <a:t>Q1. Which service exposes REST endpoints for connector lifecycle?</a:t>
            </a:r>
            <a:endParaRPr lang="en-IN" sz="14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400" b="0" u="none" strike="noStrike">
                <a:solidFill>
                  <a:srgbClr val="1E1E1E"/>
                </a:solidFill>
                <a:effectLst/>
                <a:uFillTx/>
                <a:latin typeface="Calibri"/>
              </a:rPr>
              <a:t>Q2. Which internal topic stores consumer group committed offsets?</a:t>
            </a:r>
            <a:endParaRPr lang="en-IN" sz="14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400" b="0" u="none" strike="noStrike">
                <a:solidFill>
                  <a:srgbClr val="1E1E1E"/>
                </a:solidFill>
                <a:effectLst/>
                <a:uFillTx/>
                <a:latin typeface="Calibri"/>
              </a:rPr>
              <a:t>Q3. Which setting tells the producer to wait for all required in-sync replicas?</a:t>
            </a:r>
            <a:endParaRPr lang="en-IN" sz="14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400" b="0" u="none" strike="noStrike">
                <a:solidFill>
                  <a:srgbClr val="1E1E1E"/>
                </a:solidFill>
                <a:effectLst/>
                <a:uFillTx/>
                <a:latin typeface="Calibri"/>
              </a:rPr>
              <a:t>Q4. Which lab output proves the FileStream sink connector worked?</a:t>
            </a:r>
            <a:endParaRPr lang="en-IN" sz="1400" b="0" u="none" strike="noStrike">
              <a:solidFill>
                <a:srgbClr val="000000"/>
              </a:solidFill>
              <a:effectLst/>
              <a:uFillTx/>
              <a:latin typeface="Arial"/>
            </a:endParaRPr>
          </a:p>
        </p:txBody>
      </p:sp>
      <p:sp>
        <p:nvSpPr>
          <p:cNvPr id="470" name="TextBox 5"/>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[67]</a:t>
            </a:r>
            <a:endParaRPr lang="en-IN" sz="800" b="0" u="none" strike="noStrike">
              <a:solidFill>
                <a:srgbClr val="000000"/>
              </a:solidFill>
              <a:effectLst/>
              <a:uFillTx/>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Solution: Deployment View</a:t>
            </a:r>
            <a:endParaRPr lang="en-IN" sz="2200" b="0" u="none" strike="noStrike">
              <a:solidFill>
                <a:srgbClr val="000000"/>
              </a:solidFill>
              <a:effectLst/>
              <a:uFillTx/>
              <a:latin typeface="Arial"/>
            </a:endParaRPr>
          </a:p>
        </p:txBody>
      </p:sp>
      <p:sp>
        <p:nvSpPr>
          <p:cNvPr id="472"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473" name="TextBox 3"/>
          <p:cNvSpPr/>
          <p:nvPr/>
        </p:nvSpPr>
        <p:spPr>
          <a:xfrm>
            <a:off x="438840" y="786240"/>
            <a:ext cx="7497720" cy="25560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150" b="0" u="none" strike="noStrike">
                <a:solidFill>
                  <a:srgbClr val="585858"/>
                </a:solidFill>
                <a:effectLst/>
                <a:uFillTx/>
                <a:latin typeface="Calibri"/>
              </a:rPr>
              <a:t>Solution / trainer answer key</a:t>
            </a:r>
            <a:endParaRPr lang="en-IN" sz="1150" b="0" u="none" strike="noStrike">
              <a:solidFill>
                <a:srgbClr val="000000"/>
              </a:solidFill>
              <a:effectLst/>
              <a:uFillTx/>
              <a:latin typeface="Arial"/>
            </a:endParaRPr>
          </a:p>
        </p:txBody>
      </p:sp>
      <p:sp>
        <p:nvSpPr>
          <p:cNvPr id="474" name="TextBox 4"/>
          <p:cNvSpPr/>
          <p:nvPr/>
        </p:nvSpPr>
        <p:spPr>
          <a:xfrm>
            <a:off x="640080" y="1234440"/>
            <a:ext cx="7406280" cy="3245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Q1. Kafka Connect REST exposes connector lifecycle endpoints.</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Q2. __consumer_offsets stores committed group progress.</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Q3. acks=all makes the producer wait for required in-sync replicas.</a:t>
            </a:r>
            <a:endParaRPr lang="en-IN" sz="1500" b="0" u="none" strike="noStrike">
              <a:solidFill>
                <a:srgbClr val="000000"/>
              </a:solidFill>
              <a:effectLst/>
              <a:uFillTx/>
              <a:latin typeface="Arial"/>
            </a:endParaRPr>
          </a:p>
          <a:p>
            <a:pPr marL="343080" indent="-171360" defTabSz="914400">
              <a:lnSpc>
                <a:spcPct val="100000"/>
              </a:lnSpc>
              <a:spcAft>
                <a:spcPts val="601"/>
              </a:spcAft>
              <a:buClr>
                <a:srgbClr val="1E1E1E"/>
              </a:buClr>
              <a:buFont typeface="Symbol" charset="2"/>
              <a:buChar char=""/>
            </a:pPr>
            <a:r>
              <a:rPr lang="en-US" sz="1500" b="0" u="none" strike="noStrike">
                <a:solidFill>
                  <a:srgbClr val="1E1E1E"/>
                </a:solidFill>
                <a:effectLst/>
                <a:uFillTx/>
                <a:latin typeface="Calibri"/>
              </a:rPr>
              <a:t>Q4. data/output/consume.txt proves the FileStream sink wrote records.</a:t>
            </a:r>
            <a:endParaRPr lang="en-IN" sz="1500" b="0" u="none" strike="noStrike">
              <a:solidFill>
                <a:srgbClr val="000000"/>
              </a:solidFill>
              <a:effectLst/>
              <a:uFillTx/>
              <a:latin typeface="Arial"/>
            </a:endParaRPr>
          </a:p>
        </p:txBody>
      </p:sp>
      <p:sp>
        <p:nvSpPr>
          <p:cNvPr id="475" name="TextBox 5"/>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[68]</a:t>
            </a:r>
            <a:endParaRPr lang="en-IN" sz="800" b="0" u="none" strike="noStrike">
              <a:solidFill>
                <a:srgbClr val="000000"/>
              </a:solidFill>
              <a:effectLst/>
              <a:uFillTx/>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476" name="Text 0"/>
          <p:cNvSpPr/>
          <p:nvPr/>
        </p:nvSpPr>
        <p:spPr>
          <a:xfrm>
            <a:off x="457200" y="365760"/>
            <a:ext cx="8686080" cy="54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400" b="1" u="none" strike="noStrike">
                <a:solidFill>
                  <a:srgbClr val="2F5597"/>
                </a:solidFill>
                <a:effectLst/>
                <a:uFillTx/>
                <a:latin typeface="Calibri"/>
              </a:rPr>
              <a:t>Recap &amp; Next Steps</a:t>
            </a:r>
            <a:endParaRPr lang="en-IN" sz="2400" b="0" u="none" strike="noStrike">
              <a:solidFill>
                <a:srgbClr val="000000"/>
              </a:solidFill>
              <a:effectLst/>
              <a:uFillTx/>
              <a:latin typeface="Arial"/>
            </a:endParaRPr>
          </a:p>
        </p:txBody>
      </p:sp>
      <p:sp>
        <p:nvSpPr>
          <p:cNvPr id="477" name="Text 1"/>
          <p:cNvSpPr/>
          <p:nvPr/>
        </p:nvSpPr>
        <p:spPr>
          <a:xfrm>
            <a:off x="457200" y="1097280"/>
            <a:ext cx="8686080" cy="319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1" u="none" strike="noStrike">
                <a:solidFill>
                  <a:srgbClr val="2F5597"/>
                </a:solidFill>
                <a:effectLst/>
                <a:uFillTx/>
                <a:latin typeface="Calibri"/>
              </a:rPr>
              <a:t>Today you learned:</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How consumer groups, offsets, ISR and KRaft protect event movement.</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How Kafka Connect workers, connectors and tasks divide responsibility.</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How to deploy FileStream source and sink connectors with REST on Ubuntu.</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How to prove file -&gt; Kafka -&gt; file movement and test recovery using connect-offsets.</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Where Streams, ksqlDB, Schema Registry and MirrorMaker fit in the wider platform.</a:t>
            </a:r>
            <a:endParaRPr lang="en-IN" sz="1200" b="0" u="none" strike="noStrike">
              <a:solidFill>
                <a:srgbClr val="000000"/>
              </a:solidFill>
              <a:effectLst/>
              <a:uFillTx/>
              <a:latin typeface="Arial"/>
            </a:endParaRPr>
          </a:p>
          <a:p>
            <a:pPr defTabSz="914400">
              <a:lnSpc>
                <a:spcPct val="100000"/>
              </a:lnSpc>
              <a:tabLst>
                <a:tab pos="0" algn="l"/>
              </a:tabLst>
            </a:pP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Tomorrow (Day 4):</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Replace the visible file source with database changes using Debezium CDC.</a:t>
            </a:r>
            <a:endParaRPr lang="en-IN" sz="1200" b="0" u="none" strike="noStrike">
              <a:solidFill>
                <a:srgbClr val="000000"/>
              </a:solidFill>
              <a:effectLst/>
              <a:uFillTx/>
              <a:latin typeface="Arial"/>
            </a:endParaRPr>
          </a:p>
          <a:p>
            <a:pPr defTabSz="914400">
              <a:lnSpc>
                <a:spcPct val="100000"/>
              </a:lnSpc>
              <a:tabLst>
                <a:tab pos="0" algn="l"/>
              </a:tabLst>
            </a:pPr>
            <a:r>
              <a:rPr lang="en-US" sz="1200" b="1" u="none" strike="noStrike">
                <a:solidFill>
                  <a:srgbClr val="2F5597"/>
                </a:solidFill>
                <a:effectLst/>
                <a:uFillTx/>
                <a:latin typeface="Calibri"/>
              </a:rPr>
              <a:t>- Reuse today's status and offset reasoning when events originate in a database.</a:t>
            </a:r>
            <a:endParaRPr lang="en-IN" sz="1200" b="0" u="none" strike="noStrike">
              <a:solidFill>
                <a:srgbClr val="000000"/>
              </a:solidFill>
              <a:effectLst/>
              <a:uFillTx/>
              <a:latin typeface="Arial"/>
            </a:endParaRPr>
          </a:p>
        </p:txBody>
      </p:sp>
      <p:sp>
        <p:nvSpPr>
          <p:cNvPr id="478" name="Text 2"/>
          <p:cNvSpPr/>
          <p:nvPr/>
        </p:nvSpPr>
        <p:spPr>
          <a:xfrm>
            <a:off x="457200" y="4892040"/>
            <a:ext cx="8228880" cy="22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700" b="0" u="sng" strike="noStrike">
                <a:solidFill>
                  <a:srgbClr val="0563C1"/>
                </a:solidFill>
                <a:effectLst/>
                <a:uFillTx/>
                <a:latin typeface="Calibri"/>
                <a:hlinkClick r:id="rId3"/>
              </a:rPr>
              <a:t>[1]</a:t>
            </a:r>
            <a:endParaRPr lang="en-IN" sz="700" b="0" u="none" strike="noStrike">
              <a:solidFill>
                <a:srgbClr val="000000"/>
              </a:solidFill>
              <a:effectLst/>
              <a:uFillTx/>
              <a:latin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9" name="TextBox 1"/>
          <p:cNvSpPr/>
          <p:nvPr/>
        </p:nvSpPr>
        <p:spPr>
          <a:xfrm>
            <a:off x="411480" y="255960"/>
            <a:ext cx="786348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2200" b="1" u="none" strike="noStrike">
                <a:solidFill>
                  <a:srgbClr val="365F91"/>
                </a:solidFill>
                <a:effectLst/>
                <a:uFillTx/>
                <a:latin typeface="Calibri"/>
              </a:rPr>
              <a:t>Quick Recap: Five Sentences to Carry Forward</a:t>
            </a:r>
            <a:endParaRPr lang="en-IN" sz="2200" b="0" u="none" strike="noStrike">
              <a:solidFill>
                <a:srgbClr val="000000"/>
              </a:solidFill>
              <a:effectLst/>
              <a:uFillTx/>
              <a:latin typeface="Arial"/>
            </a:endParaRPr>
          </a:p>
        </p:txBody>
      </p:sp>
      <p:sp>
        <p:nvSpPr>
          <p:cNvPr id="480" name="Rectangle 2"/>
          <p:cNvSpPr/>
          <p:nvPr/>
        </p:nvSpPr>
        <p:spPr>
          <a:xfrm>
            <a:off x="411480" y="713160"/>
            <a:ext cx="7863480" cy="27000"/>
          </a:xfrm>
          <a:prstGeom prst="rect">
            <a:avLst/>
          </a:prstGeom>
          <a:solidFill>
            <a:srgbClr val="4F81BD"/>
          </a:solidFill>
          <a:ln>
            <a:solidFill>
              <a:srgbClr val="4F81BD"/>
            </a:solidFill>
            <a:round/>
          </a:ln>
        </p:spPr>
        <p:style>
          <a:lnRef idx="1">
            <a:schemeClr val="accent1"/>
          </a:lnRef>
          <a:fillRef idx="3">
            <a:schemeClr val="accent1"/>
          </a:fillRef>
          <a:effectRef idx="2">
            <a:schemeClr val="accent1"/>
          </a:effectRef>
          <a:fontRef idx="minor"/>
        </p:style>
        <p:txBody>
          <a:bodyPr lIns="90000" tIns="-17640" rIns="90000" bIns="-1764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481" name="TextBox 3"/>
          <p:cNvSpPr/>
          <p:nvPr/>
        </p:nvSpPr>
        <p:spPr>
          <a:xfrm>
            <a:off x="438840" y="786240"/>
            <a:ext cx="7497720" cy="25560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150" b="0" u="none" strike="noStrike">
                <a:solidFill>
                  <a:srgbClr val="585858"/>
                </a:solidFill>
                <a:effectLst/>
                <a:uFillTx/>
                <a:latin typeface="Calibri"/>
              </a:rPr>
              <a:t>Carry-forward points before the next section.</a:t>
            </a:r>
            <a:endParaRPr lang="en-IN" sz="1150" b="0" u="none" strike="noStrike">
              <a:solidFill>
                <a:srgbClr val="000000"/>
              </a:solidFill>
              <a:effectLst/>
              <a:uFillTx/>
              <a:latin typeface="Arial"/>
            </a:endParaRPr>
          </a:p>
        </p:txBody>
      </p:sp>
      <p:sp>
        <p:nvSpPr>
          <p:cNvPr id="482" name="Rounded Rectangle 4"/>
          <p:cNvSpPr/>
          <p:nvPr/>
        </p:nvSpPr>
        <p:spPr>
          <a:xfrm>
            <a:off x="658440" y="1051560"/>
            <a:ext cx="420120" cy="32868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200" b="1" u="none" strike="noStrike">
                <a:solidFill>
                  <a:srgbClr val="365F91"/>
                </a:solidFill>
                <a:effectLst/>
                <a:uFillTx/>
                <a:latin typeface="Calibri"/>
              </a:rPr>
              <a:t>1</a:t>
            </a:r>
            <a:endParaRPr lang="en-IN" sz="1200" b="0" u="none" strike="noStrike">
              <a:solidFill>
                <a:srgbClr val="000000"/>
              </a:solidFill>
              <a:effectLst/>
              <a:uFillTx/>
              <a:latin typeface="Arial"/>
            </a:endParaRPr>
          </a:p>
        </p:txBody>
      </p:sp>
      <p:sp>
        <p:nvSpPr>
          <p:cNvPr id="483" name="TextBox 5"/>
          <p:cNvSpPr/>
          <p:nvPr/>
        </p:nvSpPr>
        <p:spPr>
          <a:xfrm>
            <a:off x="1170360" y="1033200"/>
            <a:ext cx="690336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450" b="0" u="none" strike="noStrike">
                <a:solidFill>
                  <a:srgbClr val="1E1E1E"/>
                </a:solidFill>
                <a:effectLst/>
                <a:uFillTx/>
                <a:latin typeface="Calibri"/>
              </a:rPr>
              <a:t>Consumer groups scale reads, but partition count sets the ceiling.</a:t>
            </a:r>
            <a:endParaRPr lang="en-IN" sz="1450" b="0" u="none" strike="noStrike">
              <a:solidFill>
                <a:srgbClr val="000000"/>
              </a:solidFill>
              <a:effectLst/>
              <a:uFillTx/>
              <a:latin typeface="Arial"/>
            </a:endParaRPr>
          </a:p>
        </p:txBody>
      </p:sp>
      <p:sp>
        <p:nvSpPr>
          <p:cNvPr id="484" name="Rounded Rectangle 6"/>
          <p:cNvSpPr/>
          <p:nvPr/>
        </p:nvSpPr>
        <p:spPr>
          <a:xfrm>
            <a:off x="658440" y="1618560"/>
            <a:ext cx="420120" cy="32868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200" b="1" u="none" strike="noStrike">
                <a:solidFill>
                  <a:srgbClr val="365F91"/>
                </a:solidFill>
                <a:effectLst/>
                <a:uFillTx/>
                <a:latin typeface="Calibri"/>
              </a:rPr>
              <a:t>2</a:t>
            </a:r>
            <a:endParaRPr lang="en-IN" sz="1200" b="0" u="none" strike="noStrike">
              <a:solidFill>
                <a:srgbClr val="000000"/>
              </a:solidFill>
              <a:effectLst/>
              <a:uFillTx/>
              <a:latin typeface="Arial"/>
            </a:endParaRPr>
          </a:p>
        </p:txBody>
      </p:sp>
      <p:sp>
        <p:nvSpPr>
          <p:cNvPr id="485" name="TextBox 7"/>
          <p:cNvSpPr/>
          <p:nvPr/>
        </p:nvSpPr>
        <p:spPr>
          <a:xfrm>
            <a:off x="1170360" y="1600200"/>
            <a:ext cx="690336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450" b="0" u="none" strike="noStrike">
                <a:solidFill>
                  <a:srgbClr val="1E1E1E"/>
                </a:solidFill>
                <a:effectLst/>
                <a:uFillTx/>
                <a:latin typeface="Calibri"/>
              </a:rPr>
              <a:t>Offsets are progress bookmarks, not proof that side effects are safe.</a:t>
            </a:r>
            <a:endParaRPr lang="en-IN" sz="1450" b="0" u="none" strike="noStrike">
              <a:solidFill>
                <a:srgbClr val="000000"/>
              </a:solidFill>
              <a:effectLst/>
              <a:uFillTx/>
              <a:latin typeface="Arial"/>
            </a:endParaRPr>
          </a:p>
        </p:txBody>
      </p:sp>
      <p:sp>
        <p:nvSpPr>
          <p:cNvPr id="486" name="Rounded Rectangle 8"/>
          <p:cNvSpPr/>
          <p:nvPr/>
        </p:nvSpPr>
        <p:spPr>
          <a:xfrm>
            <a:off x="658440" y="2185560"/>
            <a:ext cx="420120" cy="32868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200" b="1" u="none" strike="noStrike">
                <a:solidFill>
                  <a:srgbClr val="365F91"/>
                </a:solidFill>
                <a:effectLst/>
                <a:uFillTx/>
                <a:latin typeface="Calibri"/>
              </a:rPr>
              <a:t>3</a:t>
            </a:r>
            <a:endParaRPr lang="en-IN" sz="1200" b="0" u="none" strike="noStrike">
              <a:solidFill>
                <a:srgbClr val="000000"/>
              </a:solidFill>
              <a:effectLst/>
              <a:uFillTx/>
              <a:latin typeface="Arial"/>
            </a:endParaRPr>
          </a:p>
        </p:txBody>
      </p:sp>
      <p:sp>
        <p:nvSpPr>
          <p:cNvPr id="487" name="TextBox 9"/>
          <p:cNvSpPr/>
          <p:nvPr/>
        </p:nvSpPr>
        <p:spPr>
          <a:xfrm>
            <a:off x="1170360" y="2167200"/>
            <a:ext cx="690336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450" b="0" u="none" strike="noStrike">
                <a:solidFill>
                  <a:srgbClr val="1E1E1E"/>
                </a:solidFill>
                <a:effectLst/>
                <a:uFillTx/>
                <a:latin typeface="Calibri"/>
              </a:rPr>
              <a:t>Replication protects availability only when enough replicas remain in sync.</a:t>
            </a:r>
            <a:endParaRPr lang="en-IN" sz="1450" b="0" u="none" strike="noStrike">
              <a:solidFill>
                <a:srgbClr val="000000"/>
              </a:solidFill>
              <a:effectLst/>
              <a:uFillTx/>
              <a:latin typeface="Arial"/>
            </a:endParaRPr>
          </a:p>
        </p:txBody>
      </p:sp>
      <p:sp>
        <p:nvSpPr>
          <p:cNvPr id="488" name="Rounded Rectangle 10"/>
          <p:cNvSpPr/>
          <p:nvPr/>
        </p:nvSpPr>
        <p:spPr>
          <a:xfrm>
            <a:off x="658440" y="2752200"/>
            <a:ext cx="420120" cy="32868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200" b="1" u="none" strike="noStrike">
                <a:solidFill>
                  <a:srgbClr val="365F91"/>
                </a:solidFill>
                <a:effectLst/>
                <a:uFillTx/>
                <a:latin typeface="Calibri"/>
              </a:rPr>
              <a:t>4</a:t>
            </a:r>
            <a:endParaRPr lang="en-IN" sz="1200" b="0" u="none" strike="noStrike">
              <a:solidFill>
                <a:srgbClr val="000000"/>
              </a:solidFill>
              <a:effectLst/>
              <a:uFillTx/>
              <a:latin typeface="Arial"/>
            </a:endParaRPr>
          </a:p>
        </p:txBody>
      </p:sp>
      <p:sp>
        <p:nvSpPr>
          <p:cNvPr id="489" name="TextBox 11"/>
          <p:cNvSpPr/>
          <p:nvPr/>
        </p:nvSpPr>
        <p:spPr>
          <a:xfrm>
            <a:off x="1170360" y="2734200"/>
            <a:ext cx="690336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450" b="0" u="none" strike="noStrike">
                <a:solidFill>
                  <a:srgbClr val="1E1E1E"/>
                </a:solidFill>
                <a:effectLst/>
                <a:uFillTx/>
                <a:latin typeface="Calibri"/>
              </a:rPr>
              <a:t>Kafka Connect turns integration into managed connector tasks.</a:t>
            </a:r>
            <a:endParaRPr lang="en-IN" sz="1450" b="0" u="none" strike="noStrike">
              <a:solidFill>
                <a:srgbClr val="000000"/>
              </a:solidFill>
              <a:effectLst/>
              <a:uFillTx/>
              <a:latin typeface="Arial"/>
            </a:endParaRPr>
          </a:p>
        </p:txBody>
      </p:sp>
      <p:sp>
        <p:nvSpPr>
          <p:cNvPr id="490" name="Rounded Rectangle 12"/>
          <p:cNvSpPr/>
          <p:nvPr/>
        </p:nvSpPr>
        <p:spPr>
          <a:xfrm>
            <a:off x="658440" y="3319200"/>
            <a:ext cx="420120" cy="328680"/>
          </a:xfrm>
          <a:prstGeom prst="roundRect">
            <a:avLst>
              <a:gd name="adj" fmla="val 16667"/>
            </a:avLst>
          </a:prstGeom>
          <a:solidFill>
            <a:srgbClr val="E6EEF7"/>
          </a:solidFill>
          <a:ln>
            <a:solidFill>
              <a:srgbClr val="4F81BD"/>
            </a:solidFill>
            <a:round/>
          </a:ln>
        </p:spPr>
        <p:style>
          <a:lnRef idx="1">
            <a:schemeClr val="accent1"/>
          </a:lnRef>
          <a:fillRef idx="3">
            <a:schemeClr val="accent1"/>
          </a:fillRef>
          <a:effectRef idx="2">
            <a:schemeClr val="accent1"/>
          </a:effectRef>
          <a:fontRef idx="minor"/>
        </p:style>
        <p:txBody>
          <a:bodyPr lIns="73080" tIns="45000" rIns="73080" bIns="45000" anchor="ctr">
            <a:noAutofit/>
          </a:bodyPr>
          <a:lstStyle/>
          <a:p>
            <a:pPr algn="ctr" defTabSz="914400">
              <a:lnSpc>
                <a:spcPct val="100000"/>
              </a:lnSpc>
            </a:pPr>
            <a:r>
              <a:rPr lang="en-US" sz="1200" b="1" u="none" strike="noStrike">
                <a:solidFill>
                  <a:srgbClr val="365F91"/>
                </a:solidFill>
                <a:effectLst/>
                <a:uFillTx/>
                <a:latin typeface="Calibri"/>
              </a:rPr>
              <a:t>5</a:t>
            </a:r>
            <a:endParaRPr lang="en-IN" sz="1200" b="0" u="none" strike="noStrike">
              <a:solidFill>
                <a:srgbClr val="000000"/>
              </a:solidFill>
              <a:effectLst/>
              <a:uFillTx/>
              <a:latin typeface="Arial"/>
            </a:endParaRPr>
          </a:p>
        </p:txBody>
      </p:sp>
      <p:sp>
        <p:nvSpPr>
          <p:cNvPr id="491" name="TextBox 13"/>
          <p:cNvSpPr/>
          <p:nvPr/>
        </p:nvSpPr>
        <p:spPr>
          <a:xfrm>
            <a:off x="1170360" y="3300840"/>
            <a:ext cx="6903360" cy="3837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defTabSz="914400">
              <a:lnSpc>
                <a:spcPct val="100000"/>
              </a:lnSpc>
            </a:pPr>
            <a:r>
              <a:rPr lang="en-US" sz="1450" b="0" u="none" strike="noStrike">
                <a:solidFill>
                  <a:srgbClr val="1E1E1E"/>
                </a:solidFill>
                <a:effectLst/>
                <a:uFillTx/>
                <a:latin typeface="Calibri"/>
              </a:rPr>
              <a:t>Good lab evidence combines terminal output, Kafka UI state and data-path proof.</a:t>
            </a:r>
            <a:endParaRPr lang="en-IN" sz="1450" b="0" u="none" strike="noStrike">
              <a:solidFill>
                <a:srgbClr val="000000"/>
              </a:solidFill>
              <a:effectLst/>
              <a:uFillTx/>
              <a:latin typeface="Arial"/>
            </a:endParaRPr>
          </a:p>
        </p:txBody>
      </p:sp>
      <p:sp>
        <p:nvSpPr>
          <p:cNvPr id="492" name="TextBox 14"/>
          <p:cNvSpPr/>
          <p:nvPr/>
        </p:nvSpPr>
        <p:spPr>
          <a:xfrm>
            <a:off x="8101440" y="4617720"/>
            <a:ext cx="411120" cy="164160"/>
          </a:xfrm>
          <a:prstGeom prst="rect">
            <a:avLst/>
          </a:prstGeom>
          <a:noFill/>
          <a:ln w="0">
            <a:noFill/>
          </a:ln>
        </p:spPr>
        <p:style>
          <a:lnRef idx="0">
            <a:scrgbClr r="0" g="0" b="0"/>
          </a:lnRef>
          <a:fillRef idx="0">
            <a:scrgbClr r="0" g="0" b="0"/>
          </a:fillRef>
          <a:effectRef idx="0">
            <a:scrgbClr r="0" g="0" b="0"/>
          </a:effectRef>
          <a:fontRef idx="minor"/>
        </p:style>
        <p:txBody>
          <a:bodyPr lIns="54720" tIns="27360" rIns="54720" bIns="27360" anchor="t">
            <a:spAutoFit/>
          </a:bodyPr>
          <a:lstStyle/>
          <a:p>
            <a:pPr algn="r" defTabSz="914400">
              <a:lnSpc>
                <a:spcPct val="100000"/>
              </a:lnSpc>
            </a:pPr>
            <a:r>
              <a:rPr lang="en-US" sz="800" b="0" u="none" strike="noStrike">
                <a:solidFill>
                  <a:srgbClr val="585858"/>
                </a:solidFill>
                <a:effectLst/>
                <a:uFillTx/>
                <a:latin typeface="Calibri"/>
              </a:rPr>
              <a:t>[70]</a:t>
            </a:r>
            <a:endParaRPr lang="en-IN" sz="80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a:fillStyleLst>
        <a:solidFill>
          <a:schemeClr val="phClr"/>
        </a:solidFill>
        <a:solidFill>
          <a:schemeClr val="dk1"/>
        </a:solidFill>
        <a:solidFill>
          <a:schemeClr val="accent1"/>
        </a:soli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67</TotalTime>
  <Words>7391</Words>
  <Application>Microsoft Office PowerPoint</Application>
  <PresentationFormat>Custom</PresentationFormat>
  <Paragraphs>815</Paragraphs>
  <Slides>78</Slides>
  <Notes>46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78</vt:i4>
      </vt:variant>
    </vt:vector>
  </HeadingPairs>
  <TitlesOfParts>
    <vt:vector size="86" baseType="lpstr">
      <vt:lpstr>Arial</vt:lpstr>
      <vt:lpstr>Calibri</vt:lpstr>
      <vt:lpstr>Consolas</vt:lpstr>
      <vt:lpstr>source-serif-pro</vt:lpstr>
      <vt:lpstr>Symbol</vt:lpstr>
      <vt:lpstr>Times New Roman</vt:lpstr>
      <vt:lpstr>Wingdings</vt:lpstr>
      <vt:lpstr>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subject/>
  <dc:creator>Walnut Exporter</dc:creator>
  <dc:description/>
  <cp:lastModifiedBy>Quidzohar Morbiwala</cp:lastModifiedBy>
  <cp:revision>7</cp:revision>
  <dcterms:created xsi:type="dcterms:W3CDTF">2026-05-25T22:06:36Z</dcterms:created>
  <dcterms:modified xsi:type="dcterms:W3CDTF">2026-06-02T19:30:20Z</dcterms:modified>
  <dc:language>en-IN</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45</vt:i4>
  </property>
  <property fmtid="{D5CDD505-2E9C-101B-9397-08002B2CF9AE}" pid="3" name="PresentationFormat">
    <vt:lpwstr>Custom</vt:lpwstr>
  </property>
  <property fmtid="{D5CDD505-2E9C-101B-9397-08002B2CF9AE}" pid="4" name="Slides">
    <vt:i4>45</vt:i4>
  </property>
  <property fmtid="{D5CDD505-2E9C-101B-9397-08002B2CF9AE}" pid="5" name="MSIP_Label_4637e5cc-ed1f-4ad6-a881-35c0f1c6f3d8_Enabled">
    <vt:lpwstr>true</vt:lpwstr>
  </property>
  <property fmtid="{D5CDD505-2E9C-101B-9397-08002B2CF9AE}" pid="6" name="MSIP_Label_4637e5cc-ed1f-4ad6-a881-35c0f1c6f3d8_SetDate">
    <vt:lpwstr>2026-06-02T18:59:46Z</vt:lpwstr>
  </property>
  <property fmtid="{D5CDD505-2E9C-101B-9397-08002B2CF9AE}" pid="7" name="MSIP_Label_4637e5cc-ed1f-4ad6-a881-35c0f1c6f3d8_Method">
    <vt:lpwstr>Standard</vt:lpwstr>
  </property>
  <property fmtid="{D5CDD505-2E9C-101B-9397-08002B2CF9AE}" pid="8" name="MSIP_Label_4637e5cc-ed1f-4ad6-a881-35c0f1c6f3d8_Name">
    <vt:lpwstr>General</vt:lpwstr>
  </property>
  <property fmtid="{D5CDD505-2E9C-101B-9397-08002B2CF9AE}" pid="9" name="MSIP_Label_4637e5cc-ed1f-4ad6-a881-35c0f1c6f3d8_SiteId">
    <vt:lpwstr>e3cf3c98-a978-465f-8254-9d541eeea73c</vt:lpwstr>
  </property>
  <property fmtid="{D5CDD505-2E9C-101B-9397-08002B2CF9AE}" pid="10" name="MSIP_Label_4637e5cc-ed1f-4ad6-a881-35c0f1c6f3d8_ActionId">
    <vt:lpwstr>b9fc5a8e-7f46-45fd-a1fc-b5d61ac96942</vt:lpwstr>
  </property>
  <property fmtid="{D5CDD505-2E9C-101B-9397-08002B2CF9AE}" pid="11" name="MSIP_Label_4637e5cc-ed1f-4ad6-a881-35c0f1c6f3d8_ContentBits">
    <vt:lpwstr>2</vt:lpwstr>
  </property>
  <property fmtid="{D5CDD505-2E9C-101B-9397-08002B2CF9AE}" pid="12" name="MSIP_Label_4637e5cc-ed1f-4ad6-a881-35c0f1c6f3d8_Tag">
    <vt:lpwstr>10, 3, 0, 1</vt:lpwstr>
  </property>
  <property fmtid="{D5CDD505-2E9C-101B-9397-08002B2CF9AE}" pid="13" name="ClassificationContentMarkingFooterLocations">
    <vt:lpwstr>Office:5</vt:lpwstr>
  </property>
  <property fmtid="{D5CDD505-2E9C-101B-9397-08002B2CF9AE}" pid="14" name="ClassificationContentMarkingFooterText">
    <vt:lpwstr>Sensitivity Label: General</vt:lpwstr>
  </property>
</Properties>
</file>