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64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3BE18C-C3BD-4F3D-9F6F-326494498F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B5A6EF-745E-4A98-9CA7-07DEDBAD7F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3CD009-C244-4747-AB4B-6F715BED2D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C7FC67-91BC-453F-90E3-6804AFAC30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3E2011-8C2E-49E0-900D-DDEB81D690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1BC312-0FFF-4DAC-B091-2F18FC5D55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43B03A-70AE-4E84-A44F-8DC016B271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FB1DC7-8226-41CD-A679-F35AE9F400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4AECC0-CB5F-45BF-9A52-71BA782EEC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6A817E-C645-4990-9C4B-98DDE7BF16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A226C0-9B9D-49C0-98A9-8D9C2A899D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Day 5 Data Ingestion Pipeline Design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02920" y="1170360"/>
            <a:ext cx="5668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Theory first, then lab proof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5"/>
          <p:cNvSpPr/>
          <p:nvPr/>
        </p:nvSpPr>
        <p:spPr>
          <a:xfrm>
            <a:off x="502920" y="214884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Concepts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6"/>
          <p:cNvSpPr/>
          <p:nvPr/>
        </p:nvSpPr>
        <p:spPr>
          <a:xfrm>
            <a:off x="2178000" y="214884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Design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Connector 7"/>
          <p:cNvCxnSpPr/>
          <p:nvPr/>
        </p:nvCxnSpPr>
        <p:spPr>
          <a:xfrm>
            <a:off x="1940040" y="240480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68" name="Rounded Rectangle 8"/>
          <p:cNvSpPr/>
          <p:nvPr/>
        </p:nvSpPr>
        <p:spPr>
          <a:xfrm>
            <a:off x="3853440" y="214884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Controls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Connector 9"/>
          <p:cNvCxnSpPr/>
          <p:nvPr/>
        </p:nvCxnSpPr>
        <p:spPr>
          <a:xfrm>
            <a:off x="3615480" y="240480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70" name="Rounded Rectangle 10"/>
          <p:cNvSpPr/>
          <p:nvPr/>
        </p:nvSpPr>
        <p:spPr>
          <a:xfrm>
            <a:off x="5528520" y="214884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Lab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Connector 11"/>
          <p:cNvCxnSpPr/>
          <p:nvPr/>
        </p:nvCxnSpPr>
        <p:spPr>
          <a:xfrm>
            <a:off x="5290560" y="240480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72" name="Rounded Rectangle 12"/>
          <p:cNvSpPr/>
          <p:nvPr/>
        </p:nvSpPr>
        <p:spPr>
          <a:xfrm>
            <a:off x="7203600" y="214884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>
            <a:solidFill>
              <a:srgbClr val="914e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Capstone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3" name="Connector 13"/>
          <p:cNvCxnSpPr/>
          <p:nvPr/>
        </p:nvCxnSpPr>
        <p:spPr>
          <a:xfrm>
            <a:off x="6965640" y="240480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74" name="TextBox 14"/>
          <p:cNvSpPr/>
          <p:nvPr/>
        </p:nvSpPr>
        <p:spPr>
          <a:xfrm>
            <a:off x="594360" y="30632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Students learn the vocabulary and failure modes before running the pipeline.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Kafka, DLQ, late records, schema evolution and medallion layers are introduced as concepts first.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2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The day moves from mental model to operational proof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594360" y="1097280"/>
            <a:ext cx="1096920" cy="392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Block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27"/>
          <p:cNvSpPr/>
          <p:nvPr/>
        </p:nvSpPr>
        <p:spPr>
          <a:xfrm>
            <a:off x="1691640" y="1097280"/>
            <a:ext cx="2742840" cy="392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Focus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28"/>
          <p:cNvSpPr/>
          <p:nvPr/>
        </p:nvSpPr>
        <p:spPr>
          <a:xfrm>
            <a:off x="4434840" y="1097280"/>
            <a:ext cx="3885840" cy="392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Student outcome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29"/>
          <p:cNvSpPr/>
          <p:nvPr/>
        </p:nvSpPr>
        <p:spPr>
          <a:xfrm>
            <a:off x="594360" y="1490400"/>
            <a:ext cx="10969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1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30"/>
          <p:cNvSpPr/>
          <p:nvPr/>
        </p:nvSpPr>
        <p:spPr>
          <a:xfrm>
            <a:off x="1691640" y="1490400"/>
            <a:ext cx="2742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Theory vocabulary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31"/>
          <p:cNvSpPr/>
          <p:nvPr/>
        </p:nvSpPr>
        <p:spPr>
          <a:xfrm>
            <a:off x="4434840" y="1490400"/>
            <a:ext cx="3885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Can define event log, offset, lag, DLQ and late record.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32"/>
          <p:cNvSpPr/>
          <p:nvPr/>
        </p:nvSpPr>
        <p:spPr>
          <a:xfrm>
            <a:off x="594360" y="1883520"/>
            <a:ext cx="10969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2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33"/>
          <p:cNvSpPr/>
          <p:nvPr/>
        </p:nvSpPr>
        <p:spPr>
          <a:xfrm>
            <a:off x="1691640" y="1883520"/>
            <a:ext cx="2742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Failure modes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34"/>
          <p:cNvSpPr/>
          <p:nvPr/>
        </p:nvSpPr>
        <p:spPr>
          <a:xfrm>
            <a:off x="4434840" y="1883520"/>
            <a:ext cx="3885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Can explain what fails and where the control belongs.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35"/>
          <p:cNvSpPr/>
          <p:nvPr/>
        </p:nvSpPr>
        <p:spPr>
          <a:xfrm>
            <a:off x="594360" y="2277000"/>
            <a:ext cx="10969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3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36"/>
          <p:cNvSpPr/>
          <p:nvPr/>
        </p:nvSpPr>
        <p:spPr>
          <a:xfrm>
            <a:off x="1691640" y="2277000"/>
            <a:ext cx="2742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Design patterns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37"/>
          <p:cNvSpPr/>
          <p:nvPr/>
        </p:nvSpPr>
        <p:spPr>
          <a:xfrm>
            <a:off x="4434840" y="2277000"/>
            <a:ext cx="3885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Can choose keys, schemas, replay and medallion paths.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38"/>
          <p:cNvSpPr/>
          <p:nvPr/>
        </p:nvSpPr>
        <p:spPr>
          <a:xfrm>
            <a:off x="594360" y="2670120"/>
            <a:ext cx="10969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4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39"/>
          <p:cNvSpPr/>
          <p:nvPr/>
        </p:nvSpPr>
        <p:spPr>
          <a:xfrm>
            <a:off x="1691640" y="2670120"/>
            <a:ext cx="2742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Lab implementation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40"/>
          <p:cNvSpPr/>
          <p:nvPr/>
        </p:nvSpPr>
        <p:spPr>
          <a:xfrm>
            <a:off x="4434840" y="2670120"/>
            <a:ext cx="3885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Can run the proof and interpret the generated outputs.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41"/>
          <p:cNvSpPr/>
          <p:nvPr/>
        </p:nvSpPr>
        <p:spPr>
          <a:xfrm>
            <a:off x="594360" y="3063240"/>
            <a:ext cx="10969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5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42"/>
          <p:cNvSpPr/>
          <p:nvPr/>
        </p:nvSpPr>
        <p:spPr>
          <a:xfrm>
            <a:off x="1691640" y="3063240"/>
            <a:ext cx="2742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Exercises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43"/>
          <p:cNvSpPr/>
          <p:nvPr/>
        </p:nvSpPr>
        <p:spPr>
          <a:xfrm>
            <a:off x="4434840" y="3063240"/>
            <a:ext cx="3885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Can defend decisions without memorizing commands.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Concept map: each control protects one pipeline promise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4"/>
          <p:cNvSpPr/>
          <p:nvPr/>
        </p:nvSpPr>
        <p:spPr>
          <a:xfrm>
            <a:off x="502920" y="1371600"/>
            <a:ext cx="115776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Durability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5"/>
          <p:cNvSpPr/>
          <p:nvPr/>
        </p:nvSpPr>
        <p:spPr>
          <a:xfrm>
            <a:off x="1899000" y="1371600"/>
            <a:ext cx="115776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Ordering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1" name="Connector 6"/>
          <p:cNvCxnSpPr/>
          <p:nvPr/>
        </p:nvCxnSpPr>
        <p:spPr>
          <a:xfrm>
            <a:off x="1661040" y="162756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102" name="Rounded Rectangle 7"/>
          <p:cNvSpPr/>
          <p:nvPr/>
        </p:nvSpPr>
        <p:spPr>
          <a:xfrm>
            <a:off x="3294720" y="1371600"/>
            <a:ext cx="115776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Replay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Connector 8"/>
          <p:cNvCxnSpPr/>
          <p:nvPr/>
        </p:nvCxnSpPr>
        <p:spPr>
          <a:xfrm>
            <a:off x="3057120" y="162756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104" name="Rounded Rectangle 9"/>
          <p:cNvSpPr/>
          <p:nvPr/>
        </p:nvSpPr>
        <p:spPr>
          <a:xfrm>
            <a:off x="4690800" y="1371600"/>
            <a:ext cx="115776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Contracts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5" name="Connector 10"/>
          <p:cNvCxnSpPr/>
          <p:nvPr/>
        </p:nvCxnSpPr>
        <p:spPr>
          <a:xfrm>
            <a:off x="4452840" y="162756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106" name="Rounded Rectangle 11"/>
          <p:cNvSpPr/>
          <p:nvPr/>
        </p:nvSpPr>
        <p:spPr>
          <a:xfrm>
            <a:off x="6086880" y="1371600"/>
            <a:ext cx="1157760" cy="51156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>
            <a:solidFill>
              <a:srgbClr val="914e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Quality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Connector 12"/>
          <p:cNvCxnSpPr/>
          <p:nvPr/>
        </p:nvCxnSpPr>
        <p:spPr>
          <a:xfrm>
            <a:off x="5848920" y="162756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108" name="Rounded Rectangle 13"/>
          <p:cNvSpPr/>
          <p:nvPr/>
        </p:nvSpPr>
        <p:spPr>
          <a:xfrm>
            <a:off x="7482960" y="1371600"/>
            <a:ext cx="1157760" cy="511560"/>
          </a:xfrm>
          <a:prstGeom prst="roundRect">
            <a:avLst>
              <a:gd name="adj" fmla="val 16667"/>
            </a:avLst>
          </a:prstGeom>
          <a:solidFill>
            <a:srgbClr val="da5252"/>
          </a:solidFill>
          <a:ln>
            <a:solidFill>
              <a:srgbClr val="da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Freshness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9" name="Connector 14"/>
          <p:cNvCxnSpPr/>
          <p:nvPr/>
        </p:nvCxnSpPr>
        <p:spPr>
          <a:xfrm>
            <a:off x="7245000" y="162756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110" name="Rectangle 15"/>
          <p:cNvSpPr/>
          <p:nvPr/>
        </p:nvSpPr>
        <p:spPr>
          <a:xfrm>
            <a:off x="822960" y="2423160"/>
            <a:ext cx="1828440" cy="36540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Promise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16"/>
          <p:cNvSpPr/>
          <p:nvPr/>
        </p:nvSpPr>
        <p:spPr>
          <a:xfrm>
            <a:off x="2651760" y="2423160"/>
            <a:ext cx="5394600" cy="36540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Control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17"/>
          <p:cNvSpPr/>
          <p:nvPr/>
        </p:nvSpPr>
        <p:spPr>
          <a:xfrm>
            <a:off x="822960" y="2788920"/>
            <a:ext cx="182844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Durability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8"/>
          <p:cNvSpPr/>
          <p:nvPr/>
        </p:nvSpPr>
        <p:spPr>
          <a:xfrm>
            <a:off x="2651760" y="2788920"/>
            <a:ext cx="539460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Replicated log, acknowledgements, retention and Bronze raw storage.</a:t>
            </a:r>
            <a:endParaRPr lang="en-IN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19"/>
          <p:cNvSpPr/>
          <p:nvPr/>
        </p:nvSpPr>
        <p:spPr>
          <a:xfrm>
            <a:off x="822960" y="3154680"/>
            <a:ext cx="182844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Ordering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20"/>
          <p:cNvSpPr/>
          <p:nvPr/>
        </p:nvSpPr>
        <p:spPr>
          <a:xfrm>
            <a:off x="2651760" y="3154680"/>
            <a:ext cx="539460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Key choice, partitioning and event-time fields.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21"/>
          <p:cNvSpPr/>
          <p:nvPr/>
        </p:nvSpPr>
        <p:spPr>
          <a:xfrm>
            <a:off x="822960" y="3520440"/>
            <a:ext cx="182844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22"/>
          <p:cNvSpPr/>
          <p:nvPr/>
        </p:nvSpPr>
        <p:spPr>
          <a:xfrm>
            <a:off x="2651760" y="3520440"/>
            <a:ext cx="539460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Offsets, idempotent writes, DLQ reason and replay runbook.</a:t>
            </a:r>
            <a:endParaRPr lang="en-IN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23"/>
          <p:cNvSpPr/>
          <p:nvPr/>
        </p:nvSpPr>
        <p:spPr>
          <a:xfrm>
            <a:off x="822960" y="3886200"/>
            <a:ext cx="182844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Contracts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24"/>
          <p:cNvSpPr/>
          <p:nvPr/>
        </p:nvSpPr>
        <p:spPr>
          <a:xfrm>
            <a:off x="2651760" y="3886200"/>
            <a:ext cx="539460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Registry, compatibility policy and source ownership.</a:t>
            </a:r>
            <a:endParaRPr lang="en-IN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25"/>
          <p:cNvSpPr/>
          <p:nvPr/>
        </p:nvSpPr>
        <p:spPr>
          <a:xfrm>
            <a:off x="822960" y="4251960"/>
            <a:ext cx="182844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Freshness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6"/>
          <p:cNvSpPr/>
          <p:nvPr/>
        </p:nvSpPr>
        <p:spPr>
          <a:xfrm>
            <a:off x="2651760" y="4251960"/>
            <a:ext cx="539460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Lag, watermarks/stream-time, quality gates and alerts.</a:t>
            </a:r>
            <a:endParaRPr lang="en-IN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Medallion layers separate evidence from opinion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4"/>
          <p:cNvSpPr/>
          <p:nvPr/>
        </p:nvSpPr>
        <p:spPr>
          <a:xfrm>
            <a:off x="914400" y="1463040"/>
            <a:ext cx="227952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Bronze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raw evidence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5"/>
          <p:cNvSpPr/>
          <p:nvPr/>
        </p:nvSpPr>
        <p:spPr>
          <a:xfrm>
            <a:off x="3431880" y="1463040"/>
            <a:ext cx="227952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Silver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trusted state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7" name="Connector 6"/>
          <p:cNvCxnSpPr/>
          <p:nvPr/>
        </p:nvCxnSpPr>
        <p:spPr>
          <a:xfrm>
            <a:off x="3194280" y="171900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128" name="Rounded Rectangle 7"/>
          <p:cNvSpPr/>
          <p:nvPr/>
        </p:nvSpPr>
        <p:spPr>
          <a:xfrm>
            <a:off x="5949720" y="1463040"/>
            <a:ext cx="227952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Gold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business view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Connector 8"/>
          <p:cNvCxnSpPr/>
          <p:nvPr/>
        </p:nvCxnSpPr>
        <p:spPr>
          <a:xfrm>
            <a:off x="5711760" y="171900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130" name="Rectangle 9"/>
          <p:cNvSpPr/>
          <p:nvPr/>
        </p:nvSpPr>
        <p:spPr>
          <a:xfrm>
            <a:off x="685800" y="2514600"/>
            <a:ext cx="1508400" cy="411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Layer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10"/>
          <p:cNvSpPr/>
          <p:nvPr/>
        </p:nvSpPr>
        <p:spPr>
          <a:xfrm>
            <a:off x="2194560" y="2514600"/>
            <a:ext cx="2742840" cy="411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Question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1"/>
          <p:cNvSpPr/>
          <p:nvPr/>
        </p:nvSpPr>
        <p:spPr>
          <a:xfrm>
            <a:off x="4937760" y="2514600"/>
            <a:ext cx="3337200" cy="411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Typical rule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2"/>
          <p:cNvSpPr/>
          <p:nvPr/>
        </p:nvSpPr>
        <p:spPr>
          <a:xfrm>
            <a:off x="685800" y="2926080"/>
            <a:ext cx="150840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Bronze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13"/>
          <p:cNvSpPr/>
          <p:nvPr/>
        </p:nvSpPr>
        <p:spPr>
          <a:xfrm>
            <a:off x="2194560" y="2926080"/>
            <a:ext cx="274284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What exactly arrived?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14"/>
          <p:cNvSpPr/>
          <p:nvPr/>
        </p:nvSpPr>
        <p:spPr>
          <a:xfrm>
            <a:off x="4937760" y="2926080"/>
            <a:ext cx="333720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Keep raw payload, metadata, topic, partition and offset.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15"/>
          <p:cNvSpPr/>
          <p:nvPr/>
        </p:nvSpPr>
        <p:spPr>
          <a:xfrm>
            <a:off x="685800" y="3337560"/>
            <a:ext cx="150840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Silver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16"/>
          <p:cNvSpPr/>
          <p:nvPr/>
        </p:nvSpPr>
        <p:spPr>
          <a:xfrm>
            <a:off x="2194560" y="3337560"/>
            <a:ext cx="274284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Which records are usable?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17"/>
          <p:cNvSpPr/>
          <p:nvPr/>
        </p:nvSpPr>
        <p:spPr>
          <a:xfrm>
            <a:off x="4937760" y="3337560"/>
            <a:ext cx="333720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Validate, dedupe, resolve CDC and quarantine bad rows.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18"/>
          <p:cNvSpPr/>
          <p:nvPr/>
        </p:nvSpPr>
        <p:spPr>
          <a:xfrm>
            <a:off x="685800" y="3749040"/>
            <a:ext cx="150840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Gold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19"/>
          <p:cNvSpPr/>
          <p:nvPr/>
        </p:nvSpPr>
        <p:spPr>
          <a:xfrm>
            <a:off x="2194560" y="3749040"/>
            <a:ext cx="274284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Which result is reportable?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20"/>
          <p:cNvSpPr/>
          <p:nvPr/>
        </p:nvSpPr>
        <p:spPr>
          <a:xfrm>
            <a:off x="4937760" y="3749040"/>
            <a:ext cx="333720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Aggregate only accepted Silver facts with lineage.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is a replayable event log, not just a queue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4"/>
          <p:cNvSpPr/>
          <p:nvPr/>
        </p:nvSpPr>
        <p:spPr>
          <a:xfrm>
            <a:off x="685800" y="1188720"/>
            <a:ext cx="191988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Idea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5"/>
          <p:cNvSpPr/>
          <p:nvPr/>
        </p:nvSpPr>
        <p:spPr>
          <a:xfrm>
            <a:off x="2606040" y="1188720"/>
            <a:ext cx="278856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Queue mental model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6"/>
          <p:cNvSpPr/>
          <p:nvPr/>
        </p:nvSpPr>
        <p:spPr>
          <a:xfrm>
            <a:off x="5394960" y="1188720"/>
            <a:ext cx="297144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 event-log mental model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7"/>
          <p:cNvSpPr/>
          <p:nvPr/>
        </p:nvSpPr>
        <p:spPr>
          <a:xfrm>
            <a:off x="685800" y="1627560"/>
            <a:ext cx="19198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Read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8"/>
          <p:cNvSpPr/>
          <p:nvPr/>
        </p:nvSpPr>
        <p:spPr>
          <a:xfrm>
            <a:off x="2606040" y="1627560"/>
            <a:ext cx="278856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Message disappears after consume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9"/>
          <p:cNvSpPr/>
          <p:nvPr/>
        </p:nvSpPr>
        <p:spPr>
          <a:xfrm>
            <a:off x="5394960" y="1627560"/>
            <a:ext cx="297144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Message remains until retention removes it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10"/>
          <p:cNvSpPr/>
          <p:nvPr/>
        </p:nvSpPr>
        <p:spPr>
          <a:xfrm>
            <a:off x="685800" y="2066400"/>
            <a:ext cx="19198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11"/>
          <p:cNvSpPr/>
          <p:nvPr/>
        </p:nvSpPr>
        <p:spPr>
          <a:xfrm>
            <a:off x="2606040" y="2066400"/>
            <a:ext cx="278856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Usually one worker owns work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12"/>
          <p:cNvSpPr/>
          <p:nvPr/>
        </p:nvSpPr>
        <p:spPr>
          <a:xfrm>
            <a:off x="5394960" y="2066400"/>
            <a:ext cx="297144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Many groups can read same topic independently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13"/>
          <p:cNvSpPr/>
          <p:nvPr/>
        </p:nvSpPr>
        <p:spPr>
          <a:xfrm>
            <a:off x="685800" y="2505600"/>
            <a:ext cx="19198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Position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14"/>
          <p:cNvSpPr/>
          <p:nvPr/>
        </p:nvSpPr>
        <p:spPr>
          <a:xfrm>
            <a:off x="2606040" y="2505600"/>
            <a:ext cx="278856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Queue tracks delivery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15"/>
          <p:cNvSpPr/>
          <p:nvPr/>
        </p:nvSpPr>
        <p:spPr>
          <a:xfrm>
            <a:off x="5394960" y="2505600"/>
            <a:ext cx="297144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 group commits offsets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16"/>
          <p:cNvSpPr/>
          <p:nvPr/>
        </p:nvSpPr>
        <p:spPr>
          <a:xfrm>
            <a:off x="685800" y="2944440"/>
            <a:ext cx="19198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Recovery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17"/>
          <p:cNvSpPr/>
          <p:nvPr/>
        </p:nvSpPr>
        <p:spPr>
          <a:xfrm>
            <a:off x="2606040" y="2944440"/>
            <a:ext cx="278856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Harder to replay history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18"/>
          <p:cNvSpPr/>
          <p:nvPr/>
        </p:nvSpPr>
        <p:spPr>
          <a:xfrm>
            <a:off x="5394960" y="2944440"/>
            <a:ext cx="297144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Seek/replay from retained offset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vocabulary: the nouns beginners must own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4"/>
          <p:cNvSpPr/>
          <p:nvPr/>
        </p:nvSpPr>
        <p:spPr>
          <a:xfrm>
            <a:off x="594360" y="1078920"/>
            <a:ext cx="1599840" cy="392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Term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5"/>
          <p:cNvSpPr/>
          <p:nvPr/>
        </p:nvSpPr>
        <p:spPr>
          <a:xfrm>
            <a:off x="2194560" y="1078920"/>
            <a:ext cx="2148480" cy="392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Plain meaning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6"/>
          <p:cNvSpPr/>
          <p:nvPr/>
        </p:nvSpPr>
        <p:spPr>
          <a:xfrm>
            <a:off x="4343400" y="1078920"/>
            <a:ext cx="3931560" cy="392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 it matters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7"/>
          <p:cNvSpPr/>
          <p:nvPr/>
        </p:nvSpPr>
        <p:spPr>
          <a:xfrm>
            <a:off x="594360" y="1472040"/>
            <a:ext cx="1599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Topic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8"/>
          <p:cNvSpPr/>
          <p:nvPr/>
        </p:nvSpPr>
        <p:spPr>
          <a:xfrm>
            <a:off x="2194560" y="1472040"/>
            <a:ext cx="214848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Named stream of records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9"/>
          <p:cNvSpPr/>
          <p:nvPr/>
        </p:nvSpPr>
        <p:spPr>
          <a:xfrm>
            <a:off x="4343400" y="1472040"/>
            <a:ext cx="39315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Defines ownership, retention and consumers.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10"/>
          <p:cNvSpPr/>
          <p:nvPr/>
        </p:nvSpPr>
        <p:spPr>
          <a:xfrm>
            <a:off x="594360" y="1865520"/>
            <a:ext cx="1599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Partition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11"/>
          <p:cNvSpPr/>
          <p:nvPr/>
        </p:nvSpPr>
        <p:spPr>
          <a:xfrm>
            <a:off x="2194560" y="1865520"/>
            <a:ext cx="214848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Ordered shard of a topic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12"/>
          <p:cNvSpPr/>
          <p:nvPr/>
        </p:nvSpPr>
        <p:spPr>
          <a:xfrm>
            <a:off x="4343400" y="1865520"/>
            <a:ext cx="39315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Sets parallelism and per-key ordering boundary.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13"/>
          <p:cNvSpPr/>
          <p:nvPr/>
        </p:nvSpPr>
        <p:spPr>
          <a:xfrm>
            <a:off x="594360" y="2258640"/>
            <a:ext cx="1599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14"/>
          <p:cNvSpPr/>
          <p:nvPr/>
        </p:nvSpPr>
        <p:spPr>
          <a:xfrm>
            <a:off x="2194560" y="2258640"/>
            <a:ext cx="214848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Record position in a partition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15"/>
          <p:cNvSpPr/>
          <p:nvPr/>
        </p:nvSpPr>
        <p:spPr>
          <a:xfrm>
            <a:off x="4343400" y="2258640"/>
            <a:ext cx="39315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Lets a group resume or replay work.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16"/>
          <p:cNvSpPr/>
          <p:nvPr/>
        </p:nvSpPr>
        <p:spPr>
          <a:xfrm>
            <a:off x="594360" y="2651760"/>
            <a:ext cx="1599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Producer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17"/>
          <p:cNvSpPr/>
          <p:nvPr/>
        </p:nvSpPr>
        <p:spPr>
          <a:xfrm>
            <a:off x="2194560" y="2651760"/>
            <a:ext cx="214848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Writes records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18"/>
          <p:cNvSpPr/>
          <p:nvPr/>
        </p:nvSpPr>
        <p:spPr>
          <a:xfrm>
            <a:off x="4343400" y="2651760"/>
            <a:ext cx="39315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Must choose keys, acks and error handling.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19"/>
          <p:cNvSpPr/>
          <p:nvPr/>
        </p:nvSpPr>
        <p:spPr>
          <a:xfrm>
            <a:off x="594360" y="3044880"/>
            <a:ext cx="1599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 group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20"/>
          <p:cNvSpPr/>
          <p:nvPr/>
        </p:nvSpPr>
        <p:spPr>
          <a:xfrm>
            <a:off x="2194560" y="3044880"/>
            <a:ext cx="214848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Reads records together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21"/>
          <p:cNvSpPr/>
          <p:nvPr/>
        </p:nvSpPr>
        <p:spPr>
          <a:xfrm>
            <a:off x="4343400" y="3044880"/>
            <a:ext cx="39315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Scales up to partition count.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22"/>
          <p:cNvSpPr/>
          <p:nvPr/>
        </p:nvSpPr>
        <p:spPr>
          <a:xfrm>
            <a:off x="594360" y="3438000"/>
            <a:ext cx="15998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Broker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23"/>
          <p:cNvSpPr/>
          <p:nvPr/>
        </p:nvSpPr>
        <p:spPr>
          <a:xfrm>
            <a:off x="2194560" y="3438000"/>
            <a:ext cx="214848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server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24"/>
          <p:cNvSpPr/>
          <p:nvPr/>
        </p:nvSpPr>
        <p:spPr>
          <a:xfrm>
            <a:off x="4343400" y="3438000"/>
            <a:ext cx="39315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Stores partitions and serves reads/writes.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Topics and partitions decide order and parallelism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4"/>
          <p:cNvSpPr/>
          <p:nvPr/>
        </p:nvSpPr>
        <p:spPr>
          <a:xfrm>
            <a:off x="1005840" y="1234440"/>
            <a:ext cx="1919880" cy="3837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partition 0: order_id=1001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5"/>
          <p:cNvSpPr/>
          <p:nvPr/>
        </p:nvSpPr>
        <p:spPr>
          <a:xfrm>
            <a:off x="3337560" y="1234440"/>
            <a:ext cx="7495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0a13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create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6"/>
          <p:cNvSpPr/>
          <p:nvPr/>
        </p:nvSpPr>
        <p:spPr>
          <a:xfrm>
            <a:off x="4480560" y="1234440"/>
            <a:ext cx="7495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0a13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update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7"/>
          <p:cNvSpPr/>
          <p:nvPr/>
        </p:nvSpPr>
        <p:spPr>
          <a:xfrm>
            <a:off x="5623560" y="1234440"/>
            <a:ext cx="7495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0a13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delete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8"/>
          <p:cNvSpPr/>
          <p:nvPr/>
        </p:nvSpPr>
        <p:spPr>
          <a:xfrm>
            <a:off x="1005840" y="1965960"/>
            <a:ext cx="1919880" cy="3837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partition 1: order_id=1002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9"/>
          <p:cNvSpPr/>
          <p:nvPr/>
        </p:nvSpPr>
        <p:spPr>
          <a:xfrm>
            <a:off x="3337560" y="1965960"/>
            <a:ext cx="7495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0a13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create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10"/>
          <p:cNvSpPr/>
          <p:nvPr/>
        </p:nvSpPr>
        <p:spPr>
          <a:xfrm>
            <a:off x="4480560" y="1965960"/>
            <a:ext cx="7495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0a13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update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11"/>
          <p:cNvSpPr/>
          <p:nvPr/>
        </p:nvSpPr>
        <p:spPr>
          <a:xfrm>
            <a:off x="5623560" y="1965960"/>
            <a:ext cx="7495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0a13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delete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12"/>
          <p:cNvSpPr/>
          <p:nvPr/>
        </p:nvSpPr>
        <p:spPr>
          <a:xfrm>
            <a:off x="1005840" y="2697480"/>
            <a:ext cx="1919880" cy="3837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partition 2: order_id=1003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13"/>
          <p:cNvSpPr/>
          <p:nvPr/>
        </p:nvSpPr>
        <p:spPr>
          <a:xfrm>
            <a:off x="3337560" y="2697480"/>
            <a:ext cx="7495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0a13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create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14"/>
          <p:cNvSpPr/>
          <p:nvPr/>
        </p:nvSpPr>
        <p:spPr>
          <a:xfrm>
            <a:off x="4480560" y="2697480"/>
            <a:ext cx="7495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0a13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update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15"/>
          <p:cNvSpPr/>
          <p:nvPr/>
        </p:nvSpPr>
        <p:spPr>
          <a:xfrm>
            <a:off x="5623560" y="2697480"/>
            <a:ext cx="7495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0a13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delete</a:t>
            </a:r>
            <a:endParaRPr lang="en-IN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6"/>
          <p:cNvSpPr/>
          <p:nvPr/>
        </p:nvSpPr>
        <p:spPr>
          <a:xfrm>
            <a:off x="822960" y="3657600"/>
            <a:ext cx="7589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preserves order inside one partition. It does not preserve a global order across all partitions.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 good key keeps events that must be merged together in the same partition.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Offsets are bookmarks, not row numbers in a database table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ounded Rectangle 4"/>
          <p:cNvSpPr/>
          <p:nvPr/>
        </p:nvSpPr>
        <p:spPr>
          <a:xfrm>
            <a:off x="50292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offset 148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5"/>
          <p:cNvSpPr/>
          <p:nvPr/>
        </p:nvSpPr>
        <p:spPr>
          <a:xfrm>
            <a:off x="217800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offset 149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05" name="Connector 6"/>
          <p:cNvCxnSpPr/>
          <p:nvPr/>
        </p:nvCxnSpPr>
        <p:spPr>
          <a:xfrm>
            <a:off x="1940040" y="158184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206" name="Rounded Rectangle 7"/>
          <p:cNvSpPr/>
          <p:nvPr/>
        </p:nvSpPr>
        <p:spPr>
          <a:xfrm>
            <a:off x="385344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offset 150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7" name="Connector 8"/>
          <p:cNvCxnSpPr/>
          <p:nvPr/>
        </p:nvCxnSpPr>
        <p:spPr>
          <a:xfrm>
            <a:off x="3615480" y="158184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208" name="Rounded Rectangle 9"/>
          <p:cNvSpPr/>
          <p:nvPr/>
        </p:nvSpPr>
        <p:spPr>
          <a:xfrm>
            <a:off x="552852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offset 151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09" name="Connector 10"/>
          <p:cNvCxnSpPr/>
          <p:nvPr/>
        </p:nvCxnSpPr>
        <p:spPr>
          <a:xfrm>
            <a:off x="5290560" y="158184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210" name="Rounded Rectangle 11"/>
          <p:cNvSpPr/>
          <p:nvPr/>
        </p:nvSpPr>
        <p:spPr>
          <a:xfrm>
            <a:off x="720360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>
            <a:solidFill>
              <a:srgbClr val="914e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offset 152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11" name="Connector 12"/>
          <p:cNvCxnSpPr/>
          <p:nvPr/>
        </p:nvCxnSpPr>
        <p:spPr>
          <a:xfrm>
            <a:off x="6965640" y="158184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212" name="Rectangle 13"/>
          <p:cNvSpPr/>
          <p:nvPr/>
        </p:nvSpPr>
        <p:spPr>
          <a:xfrm>
            <a:off x="731520" y="2560320"/>
            <a:ext cx="20113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Concept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14"/>
          <p:cNvSpPr/>
          <p:nvPr/>
        </p:nvSpPr>
        <p:spPr>
          <a:xfrm>
            <a:off x="2743200" y="2560320"/>
            <a:ext cx="539460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Meaning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15"/>
          <p:cNvSpPr/>
          <p:nvPr/>
        </p:nvSpPr>
        <p:spPr>
          <a:xfrm>
            <a:off x="731520" y="2944440"/>
            <a:ext cx="20113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Log-end offset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16"/>
          <p:cNvSpPr/>
          <p:nvPr/>
        </p:nvSpPr>
        <p:spPr>
          <a:xfrm>
            <a:off x="2743200" y="2944440"/>
            <a:ext cx="53946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Where the partition has advanced to now.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17"/>
          <p:cNvSpPr/>
          <p:nvPr/>
        </p:nvSpPr>
        <p:spPr>
          <a:xfrm>
            <a:off x="731520" y="3328560"/>
            <a:ext cx="20113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Committed offset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18"/>
          <p:cNvSpPr/>
          <p:nvPr/>
        </p:nvSpPr>
        <p:spPr>
          <a:xfrm>
            <a:off x="2743200" y="3328560"/>
            <a:ext cx="53946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Where the consumer group says durable work is complete.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19"/>
          <p:cNvSpPr/>
          <p:nvPr/>
        </p:nvSpPr>
        <p:spPr>
          <a:xfrm>
            <a:off x="731520" y="3712320"/>
            <a:ext cx="20113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Seek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20"/>
          <p:cNvSpPr/>
          <p:nvPr/>
        </p:nvSpPr>
        <p:spPr>
          <a:xfrm>
            <a:off x="2743200" y="3712320"/>
            <a:ext cx="53946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Move the consumer position for replay or recovery.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21"/>
          <p:cNvSpPr/>
          <p:nvPr/>
        </p:nvSpPr>
        <p:spPr>
          <a:xfrm>
            <a:off x="731520" y="4096440"/>
            <a:ext cx="20113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Commit timing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22"/>
          <p:cNvSpPr/>
          <p:nvPr/>
        </p:nvSpPr>
        <p:spPr>
          <a:xfrm>
            <a:off x="2743200" y="4096440"/>
            <a:ext cx="53946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Correctness decision: before or after output is durable.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 groups split partitions across workers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4"/>
          <p:cNvSpPr/>
          <p:nvPr/>
        </p:nvSpPr>
        <p:spPr>
          <a:xfrm>
            <a:off x="502920" y="146304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topic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 partitions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5"/>
          <p:cNvSpPr/>
          <p:nvPr/>
        </p:nvSpPr>
        <p:spPr>
          <a:xfrm>
            <a:off x="2597040" y="146304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group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orders-silver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27" name="Connector 6"/>
          <p:cNvCxnSpPr/>
          <p:nvPr/>
        </p:nvCxnSpPr>
        <p:spPr>
          <a:xfrm>
            <a:off x="2359080" y="171900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228" name="Rounded Rectangle 7"/>
          <p:cNvSpPr/>
          <p:nvPr/>
        </p:nvSpPr>
        <p:spPr>
          <a:xfrm>
            <a:off x="4690800" y="146304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consumer A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9" name="Connector 8"/>
          <p:cNvCxnSpPr/>
          <p:nvPr/>
        </p:nvCxnSpPr>
        <p:spPr>
          <a:xfrm>
            <a:off x="4452840" y="171900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230" name="Rounded Rectangle 9"/>
          <p:cNvSpPr/>
          <p:nvPr/>
        </p:nvSpPr>
        <p:spPr>
          <a:xfrm>
            <a:off x="6784920" y="146304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consumer B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31" name="Connector 10"/>
          <p:cNvCxnSpPr/>
          <p:nvPr/>
        </p:nvCxnSpPr>
        <p:spPr>
          <a:xfrm>
            <a:off x="6546960" y="171900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232" name="Rectangle 11"/>
          <p:cNvSpPr/>
          <p:nvPr/>
        </p:nvSpPr>
        <p:spPr>
          <a:xfrm>
            <a:off x="685800" y="2560320"/>
            <a:ext cx="2011320" cy="392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Rule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12"/>
          <p:cNvSpPr/>
          <p:nvPr/>
        </p:nvSpPr>
        <p:spPr>
          <a:xfrm>
            <a:off x="2697480" y="2560320"/>
            <a:ext cx="5440320" cy="392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Implication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13"/>
          <p:cNvSpPr/>
          <p:nvPr/>
        </p:nvSpPr>
        <p:spPr>
          <a:xfrm>
            <a:off x="685800" y="2953440"/>
            <a:ext cx="20113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One partition goes to one consumer in a group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14"/>
          <p:cNvSpPr/>
          <p:nvPr/>
        </p:nvSpPr>
        <p:spPr>
          <a:xfrm>
            <a:off x="2697480" y="2953440"/>
            <a:ext cx="54403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Adding consumers beyond partition count does not add throughput.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15"/>
          <p:cNvSpPr/>
          <p:nvPr/>
        </p:nvSpPr>
        <p:spPr>
          <a:xfrm>
            <a:off x="685800" y="3346560"/>
            <a:ext cx="20113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 rebalance moves assignments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16"/>
          <p:cNvSpPr/>
          <p:nvPr/>
        </p:nvSpPr>
        <p:spPr>
          <a:xfrm>
            <a:off x="2697480" y="3346560"/>
            <a:ext cx="54403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Consumers must tolerate duplicate processing after failover.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17"/>
          <p:cNvSpPr/>
          <p:nvPr/>
        </p:nvSpPr>
        <p:spPr>
          <a:xfrm>
            <a:off x="685800" y="3740040"/>
            <a:ext cx="20113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Each group has its own offsets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18"/>
          <p:cNvSpPr/>
          <p:nvPr/>
        </p:nvSpPr>
        <p:spPr>
          <a:xfrm>
            <a:off x="2697480" y="3740040"/>
            <a:ext cx="54403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Bronze writer, Silver processor and audit reader can progress independently.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lag is distance from the high watermark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3" name="Connector 4"/>
          <p:cNvCxnSpPr/>
          <p:nvPr/>
        </p:nvCxnSpPr>
        <p:spPr>
          <a:xfrm>
            <a:off x="868680" y="2011680"/>
            <a:ext cx="7407000" cy="360"/>
          </a:xfrm>
          <a:prstGeom prst="straightConnector1">
            <a:avLst/>
          </a:prstGeom>
          <a:ln w="13970">
            <a:solidFill>
              <a:srgbClr val="566374"/>
            </a:solidFill>
            <a:round/>
          </a:ln>
        </p:spPr>
      </p:cxnSp>
      <p:sp>
        <p:nvSpPr>
          <p:cNvPr id="244" name="Rounded Rectangle 5"/>
          <p:cNvSpPr/>
          <p:nvPr/>
        </p:nvSpPr>
        <p:spPr>
          <a:xfrm>
            <a:off x="548640" y="1713240"/>
            <a:ext cx="639720" cy="502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LW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105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Rounded Rectangle 6"/>
          <p:cNvSpPr/>
          <p:nvPr/>
        </p:nvSpPr>
        <p:spPr>
          <a:xfrm>
            <a:off x="4251960" y="1734480"/>
            <a:ext cx="968040" cy="502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consumer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150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7"/>
          <p:cNvSpPr/>
          <p:nvPr/>
        </p:nvSpPr>
        <p:spPr>
          <a:xfrm>
            <a:off x="7955280" y="1698480"/>
            <a:ext cx="639720" cy="502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HW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200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8"/>
          <p:cNvSpPr/>
          <p:nvPr/>
        </p:nvSpPr>
        <p:spPr>
          <a:xfrm>
            <a:off x="1005840" y="28346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 = High Watermark Offset - Consumer Committed Offset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9"/>
          <p:cNvSpPr/>
          <p:nvPr/>
        </p:nvSpPr>
        <p:spPr>
          <a:xfrm>
            <a:off x="914400" y="3566160"/>
            <a:ext cx="2011320" cy="3286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Watermark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10"/>
          <p:cNvSpPr/>
          <p:nvPr/>
        </p:nvSpPr>
        <p:spPr>
          <a:xfrm>
            <a:off x="2926080" y="3566160"/>
            <a:ext cx="5211720" cy="3286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Meaning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11"/>
          <p:cNvSpPr/>
          <p:nvPr/>
        </p:nvSpPr>
        <p:spPr>
          <a:xfrm>
            <a:off x="914400" y="3895200"/>
            <a:ext cx="2011320" cy="3286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High watermark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12"/>
          <p:cNvSpPr/>
          <p:nvPr/>
        </p:nvSpPr>
        <p:spPr>
          <a:xfrm>
            <a:off x="2926080" y="3895200"/>
            <a:ext cx="5211720" cy="3286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Latest fully replicated offset available to consumers.</a:t>
            </a:r>
            <a:endParaRPr lang="en-IN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13"/>
          <p:cNvSpPr/>
          <p:nvPr/>
        </p:nvSpPr>
        <p:spPr>
          <a:xfrm>
            <a:off x="914400" y="4224600"/>
            <a:ext cx="2011320" cy="3286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Low watermark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14"/>
          <p:cNvSpPr/>
          <p:nvPr/>
        </p:nvSpPr>
        <p:spPr>
          <a:xfrm>
            <a:off x="2926080" y="4224600"/>
            <a:ext cx="5211720" cy="3286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Earliest retained offset after retention or compaction.</a:t>
            </a:r>
            <a:endParaRPr lang="en-IN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 tells whether the consumer is behind; LW tells whether data is gone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4"/>
          <p:cNvSpPr/>
          <p:nvPr/>
        </p:nvSpPr>
        <p:spPr>
          <a:xfrm>
            <a:off x="777240" y="1097280"/>
            <a:ext cx="2239920" cy="45684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Case</a:t>
            </a:r>
            <a:endParaRPr lang="en-IN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5"/>
          <p:cNvSpPr/>
          <p:nvPr/>
        </p:nvSpPr>
        <p:spPr>
          <a:xfrm>
            <a:off x="3017520" y="1097280"/>
            <a:ext cx="2057040" cy="45684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Calculation</a:t>
            </a:r>
            <a:endParaRPr lang="en-IN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6"/>
          <p:cNvSpPr/>
          <p:nvPr/>
        </p:nvSpPr>
        <p:spPr>
          <a:xfrm>
            <a:off x="5074920" y="1097280"/>
            <a:ext cx="3200040" cy="45684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Interpretation</a:t>
            </a:r>
            <a:endParaRPr lang="en-IN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7"/>
          <p:cNvSpPr/>
          <p:nvPr/>
        </p:nvSpPr>
        <p:spPr>
          <a:xfrm>
            <a:off x="777240" y="1554480"/>
            <a:ext cx="223992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Safe backlog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8"/>
          <p:cNvSpPr/>
          <p:nvPr/>
        </p:nvSpPr>
        <p:spPr>
          <a:xfrm>
            <a:off x="3017520" y="1554480"/>
            <a:ext cx="20570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HW 200 - offset 150 = 50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9"/>
          <p:cNvSpPr/>
          <p:nvPr/>
        </p:nvSpPr>
        <p:spPr>
          <a:xfrm>
            <a:off x="5074920" y="1554480"/>
            <a:ext cx="32000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 is 50 messages behind but still above LW 105.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ectangle 10"/>
          <p:cNvSpPr/>
          <p:nvPr/>
        </p:nvSpPr>
        <p:spPr>
          <a:xfrm>
            <a:off x="777240" y="2011680"/>
            <a:ext cx="223992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Retention loss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11"/>
          <p:cNvSpPr/>
          <p:nvPr/>
        </p:nvSpPr>
        <p:spPr>
          <a:xfrm>
            <a:off x="3017520" y="2011680"/>
            <a:ext cx="20570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 100 &lt; LW 105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12"/>
          <p:cNvSpPr/>
          <p:nvPr/>
        </p:nvSpPr>
        <p:spPr>
          <a:xfrm>
            <a:off x="5074920" y="2011680"/>
            <a:ext cx="32000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The consumer asks for records that no longer exist.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13"/>
          <p:cNvSpPr/>
          <p:nvPr/>
        </p:nvSpPr>
        <p:spPr>
          <a:xfrm>
            <a:off x="777240" y="2468880"/>
            <a:ext cx="223992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Alert rule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14"/>
          <p:cNvSpPr/>
          <p:nvPr/>
        </p:nvSpPr>
        <p:spPr>
          <a:xfrm>
            <a:off x="3017520" y="2468880"/>
            <a:ext cx="20570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 age near retention window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ectangle 15"/>
          <p:cNvSpPr/>
          <p:nvPr/>
        </p:nvSpPr>
        <p:spPr>
          <a:xfrm>
            <a:off x="5074920" y="2468880"/>
            <a:ext cx="32000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Scale or pause before data loss.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ectangle 16"/>
          <p:cNvSpPr/>
          <p:nvPr/>
        </p:nvSpPr>
        <p:spPr>
          <a:xfrm>
            <a:off x="1234440" y="3246120"/>
            <a:ext cx="6583320" cy="566640"/>
          </a:xfrm>
          <a:prstGeom prst="rect">
            <a:avLst/>
          </a:prstGeom>
          <a:solidFill>
            <a:srgbClr val="ebf0f5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Lag = HW - committed offset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Data loss risk = committed offset &lt; LW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Retention is a recovery budget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4"/>
          <p:cNvSpPr/>
          <p:nvPr/>
        </p:nvSpPr>
        <p:spPr>
          <a:xfrm>
            <a:off x="685800" y="1143000"/>
            <a:ext cx="1919880" cy="411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Question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5"/>
          <p:cNvSpPr/>
          <p:nvPr/>
        </p:nvSpPr>
        <p:spPr>
          <a:xfrm>
            <a:off x="2606040" y="1143000"/>
            <a:ext cx="2559960" cy="411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Example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6"/>
          <p:cNvSpPr/>
          <p:nvPr/>
        </p:nvSpPr>
        <p:spPr>
          <a:xfrm>
            <a:off x="5166360" y="1143000"/>
            <a:ext cx="3062880" cy="411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Design implication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7"/>
          <p:cNvSpPr/>
          <p:nvPr/>
        </p:nvSpPr>
        <p:spPr>
          <a:xfrm>
            <a:off x="685800" y="1554480"/>
            <a:ext cx="19198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Worst outage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ectangle 8"/>
          <p:cNvSpPr/>
          <p:nvPr/>
        </p:nvSpPr>
        <p:spPr>
          <a:xfrm>
            <a:off x="2606040" y="1554480"/>
            <a:ext cx="255996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12 hours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9"/>
          <p:cNvSpPr/>
          <p:nvPr/>
        </p:nvSpPr>
        <p:spPr>
          <a:xfrm>
            <a:off x="5166360" y="1554480"/>
            <a:ext cx="30628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Retention must exceed outage plus catch-up time.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10"/>
          <p:cNvSpPr/>
          <p:nvPr/>
        </p:nvSpPr>
        <p:spPr>
          <a:xfrm>
            <a:off x="685800" y="1965960"/>
            <a:ext cx="19198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 SLA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11"/>
          <p:cNvSpPr/>
          <p:nvPr/>
        </p:nvSpPr>
        <p:spPr>
          <a:xfrm>
            <a:off x="2606040" y="1965960"/>
            <a:ext cx="255996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7 days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12"/>
          <p:cNvSpPr/>
          <p:nvPr/>
        </p:nvSpPr>
        <p:spPr>
          <a:xfrm>
            <a:off x="5166360" y="1965960"/>
            <a:ext cx="30628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Bronze raw storage often outlives Kafka retention.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13"/>
          <p:cNvSpPr/>
          <p:nvPr/>
        </p:nvSpPr>
        <p:spPr>
          <a:xfrm>
            <a:off x="685800" y="2377440"/>
            <a:ext cx="19198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Backlog size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14"/>
          <p:cNvSpPr/>
          <p:nvPr/>
        </p:nvSpPr>
        <p:spPr>
          <a:xfrm>
            <a:off x="2606040" y="2377440"/>
            <a:ext cx="255996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5M events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ectangle 15"/>
          <p:cNvSpPr/>
          <p:nvPr/>
        </p:nvSpPr>
        <p:spPr>
          <a:xfrm>
            <a:off x="5166360" y="2377440"/>
            <a:ext cx="30628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Plan temporary consumers and sink capacity.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16"/>
          <p:cNvSpPr/>
          <p:nvPr/>
        </p:nvSpPr>
        <p:spPr>
          <a:xfrm>
            <a:off x="685800" y="2788920"/>
            <a:ext cx="19198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Payload size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17"/>
          <p:cNvSpPr/>
          <p:nvPr/>
        </p:nvSpPr>
        <p:spPr>
          <a:xfrm>
            <a:off x="2606040" y="2788920"/>
            <a:ext cx="255996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Large CDC envelope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18"/>
          <p:cNvSpPr/>
          <p:nvPr/>
        </p:nvSpPr>
        <p:spPr>
          <a:xfrm>
            <a:off x="5166360" y="2788920"/>
            <a:ext cx="30628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Compression and archive policy matter.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Event time and processing time answer different questions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1" name="Connector 4"/>
          <p:cNvCxnSpPr/>
          <p:nvPr/>
        </p:nvCxnSpPr>
        <p:spPr>
          <a:xfrm>
            <a:off x="868680" y="2011680"/>
            <a:ext cx="7407000" cy="360"/>
          </a:xfrm>
          <a:prstGeom prst="straightConnector1">
            <a:avLst/>
          </a:prstGeom>
          <a:ln w="13970">
            <a:solidFill>
              <a:srgbClr val="566374"/>
            </a:solidFill>
            <a:round/>
          </a:ln>
        </p:spPr>
      </p:cxnSp>
      <p:sp>
        <p:nvSpPr>
          <p:cNvPr id="292" name="Rounded Rectangle 5"/>
          <p:cNvSpPr/>
          <p:nvPr/>
        </p:nvSpPr>
        <p:spPr>
          <a:xfrm>
            <a:off x="548640" y="1698480"/>
            <a:ext cx="711360" cy="502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10:00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event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Rounded Rectangle 6"/>
          <p:cNvSpPr/>
          <p:nvPr/>
        </p:nvSpPr>
        <p:spPr>
          <a:xfrm>
            <a:off x="4251960" y="1698480"/>
            <a:ext cx="639720" cy="502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10:05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network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Rounded Rectangle 7"/>
          <p:cNvSpPr/>
          <p:nvPr/>
        </p:nvSpPr>
        <p:spPr>
          <a:xfrm>
            <a:off x="7955280" y="1698480"/>
            <a:ext cx="639720" cy="502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10:07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processed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ectangle 8"/>
          <p:cNvSpPr/>
          <p:nvPr/>
        </p:nvSpPr>
        <p:spPr>
          <a:xfrm>
            <a:off x="777240" y="2880360"/>
            <a:ext cx="191988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Rectangle 9"/>
          <p:cNvSpPr/>
          <p:nvPr/>
        </p:nvSpPr>
        <p:spPr>
          <a:xfrm>
            <a:off x="2697480" y="2880360"/>
            <a:ext cx="54403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Use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10"/>
          <p:cNvSpPr/>
          <p:nvPr/>
        </p:nvSpPr>
        <p:spPr>
          <a:xfrm>
            <a:off x="777240" y="3264480"/>
            <a:ext cx="19198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Event time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ectangle 11"/>
          <p:cNvSpPr/>
          <p:nvPr/>
        </p:nvSpPr>
        <p:spPr>
          <a:xfrm>
            <a:off x="2697480" y="3264480"/>
            <a:ext cx="54403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When the business event happened: order placed, sensor reading taken.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ectangle 12"/>
          <p:cNvSpPr/>
          <p:nvPr/>
        </p:nvSpPr>
        <p:spPr>
          <a:xfrm>
            <a:off x="777240" y="3648600"/>
            <a:ext cx="19198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Processing time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13"/>
          <p:cNvSpPr/>
          <p:nvPr/>
        </p:nvSpPr>
        <p:spPr>
          <a:xfrm>
            <a:off x="2697480" y="3648600"/>
            <a:ext cx="54403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When the pipeline saw the record.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14"/>
          <p:cNvSpPr/>
          <p:nvPr/>
        </p:nvSpPr>
        <p:spPr>
          <a:xfrm>
            <a:off x="777240" y="4032360"/>
            <a:ext cx="19198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Ingestion time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15"/>
          <p:cNvSpPr/>
          <p:nvPr/>
        </p:nvSpPr>
        <p:spPr>
          <a:xfrm>
            <a:off x="2697480" y="4032360"/>
            <a:ext cx="54403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When Bronze stored the record for audit.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Late-arriving records are valid events that arrive after their expected window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4"/>
          <p:cNvSpPr/>
          <p:nvPr/>
        </p:nvSpPr>
        <p:spPr>
          <a:xfrm>
            <a:off x="685800" y="1097280"/>
            <a:ext cx="1645560" cy="429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Cause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5"/>
          <p:cNvSpPr/>
          <p:nvPr/>
        </p:nvSpPr>
        <p:spPr>
          <a:xfrm>
            <a:off x="2331720" y="1097280"/>
            <a:ext cx="2285640" cy="429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Example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6"/>
          <p:cNvSpPr/>
          <p:nvPr/>
        </p:nvSpPr>
        <p:spPr>
          <a:xfrm>
            <a:off x="4617720" y="1097280"/>
            <a:ext cx="3657240" cy="429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Pipeline concern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7"/>
          <p:cNvSpPr/>
          <p:nvPr/>
        </p:nvSpPr>
        <p:spPr>
          <a:xfrm>
            <a:off x="685800" y="1527120"/>
            <a:ext cx="164556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Network delay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ectangle 8"/>
          <p:cNvSpPr/>
          <p:nvPr/>
        </p:nvSpPr>
        <p:spPr>
          <a:xfrm>
            <a:off x="2331720" y="1527120"/>
            <a:ext cx="22856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Sensor reading at 10:00 arrives at 10:07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9"/>
          <p:cNvSpPr/>
          <p:nvPr/>
        </p:nvSpPr>
        <p:spPr>
          <a:xfrm>
            <a:off x="4617720" y="1527120"/>
            <a:ext cx="36572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Window result may already be published.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10"/>
          <p:cNvSpPr/>
          <p:nvPr/>
        </p:nvSpPr>
        <p:spPr>
          <a:xfrm>
            <a:off x="685800" y="1956960"/>
            <a:ext cx="164556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Batching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11"/>
          <p:cNvSpPr/>
          <p:nvPr/>
        </p:nvSpPr>
        <p:spPr>
          <a:xfrm>
            <a:off x="2331720" y="1956960"/>
            <a:ext cx="22856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Files arrive hourly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12"/>
          <p:cNvSpPr/>
          <p:nvPr/>
        </p:nvSpPr>
        <p:spPr>
          <a:xfrm>
            <a:off x="4617720" y="1956960"/>
            <a:ext cx="36572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Event belongs to earlier business time.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13"/>
          <p:cNvSpPr/>
          <p:nvPr/>
        </p:nvSpPr>
        <p:spPr>
          <a:xfrm>
            <a:off x="685800" y="2386440"/>
            <a:ext cx="164556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Clock skew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ectangle 14"/>
          <p:cNvSpPr/>
          <p:nvPr/>
        </p:nvSpPr>
        <p:spPr>
          <a:xfrm>
            <a:off x="2331720" y="2386440"/>
            <a:ext cx="22856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Device time differs from server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ectangle 15"/>
          <p:cNvSpPr/>
          <p:nvPr/>
        </p:nvSpPr>
        <p:spPr>
          <a:xfrm>
            <a:off x="4617720" y="2386440"/>
            <a:ext cx="36572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Ordering by arrival can be wrong.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Rectangle 16"/>
          <p:cNvSpPr/>
          <p:nvPr/>
        </p:nvSpPr>
        <p:spPr>
          <a:xfrm>
            <a:off x="685800" y="2816280"/>
            <a:ext cx="164556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Recovery replay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ectangle 17"/>
          <p:cNvSpPr/>
          <p:nvPr/>
        </p:nvSpPr>
        <p:spPr>
          <a:xfrm>
            <a:off x="2331720" y="2816280"/>
            <a:ext cx="22856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Old events are reprocessed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ectangle 18"/>
          <p:cNvSpPr/>
          <p:nvPr/>
        </p:nvSpPr>
        <p:spPr>
          <a:xfrm>
            <a:off x="4617720" y="2816280"/>
            <a:ext cx="36572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Need idempotent updates and correction path.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Grace period trades timeliness for completeness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4" name="Connector 4"/>
          <p:cNvCxnSpPr/>
          <p:nvPr/>
        </p:nvCxnSpPr>
        <p:spPr>
          <a:xfrm>
            <a:off x="868680" y="2148840"/>
            <a:ext cx="7407000" cy="360"/>
          </a:xfrm>
          <a:prstGeom prst="straightConnector1">
            <a:avLst/>
          </a:prstGeom>
          <a:ln w="13970">
            <a:solidFill>
              <a:srgbClr val="566374"/>
            </a:solidFill>
            <a:round/>
          </a:ln>
        </p:spPr>
      </p:cxnSp>
      <p:sp>
        <p:nvSpPr>
          <p:cNvPr id="325" name="Rounded Rectangle 5"/>
          <p:cNvSpPr/>
          <p:nvPr/>
        </p:nvSpPr>
        <p:spPr>
          <a:xfrm>
            <a:off x="548640" y="1691640"/>
            <a:ext cx="639720" cy="502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10:00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start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Rounded Rectangle 6"/>
          <p:cNvSpPr/>
          <p:nvPr/>
        </p:nvSpPr>
        <p:spPr>
          <a:xfrm>
            <a:off x="3017520" y="1691640"/>
            <a:ext cx="639720" cy="502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10:05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window end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7"/>
          <p:cNvSpPr/>
          <p:nvPr/>
        </p:nvSpPr>
        <p:spPr>
          <a:xfrm>
            <a:off x="5486400" y="1691640"/>
            <a:ext cx="639720" cy="502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10:07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grace end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ounded Rectangle 8"/>
          <p:cNvSpPr/>
          <p:nvPr/>
        </p:nvSpPr>
        <p:spPr>
          <a:xfrm>
            <a:off x="7955280" y="1691640"/>
            <a:ext cx="639720" cy="502560"/>
          </a:xfrm>
          <a:prstGeom prst="roundRect">
            <a:avLst>
              <a:gd name="adj" fmla="val 16667"/>
            </a:avLst>
          </a:prstGeom>
          <a:solidFill>
            <a:srgbClr val="da5252"/>
          </a:solidFill>
          <a:ln>
            <a:solidFill>
              <a:srgbClr val="da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10:08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too late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9"/>
          <p:cNvSpPr/>
          <p:nvPr/>
        </p:nvSpPr>
        <p:spPr>
          <a:xfrm>
            <a:off x="914400" y="3246120"/>
            <a:ext cx="7314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During grace, a late event can still update the window result.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After grace, route the event to a correction path, DLQ/quarantine or a late-fact workflow.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Longer grace improves completeness but delays final answers and keeps more state.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Watermarks estimate event-time progress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ounded Rectangle 4"/>
          <p:cNvSpPr/>
          <p:nvPr/>
        </p:nvSpPr>
        <p:spPr>
          <a:xfrm>
            <a:off x="50292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Events arrive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Rounded Rectangle 5"/>
          <p:cNvSpPr/>
          <p:nvPr/>
        </p:nvSpPr>
        <p:spPr>
          <a:xfrm>
            <a:off x="217800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Stream-time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advances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35" name="Connector 6"/>
          <p:cNvCxnSpPr/>
          <p:nvPr/>
        </p:nvCxnSpPr>
        <p:spPr>
          <a:xfrm>
            <a:off x="1940040" y="167328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336" name="Rounded Rectangle 7"/>
          <p:cNvSpPr/>
          <p:nvPr/>
        </p:nvSpPr>
        <p:spPr>
          <a:xfrm>
            <a:off x="385344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Window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closes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7" name="Connector 8"/>
          <p:cNvCxnSpPr/>
          <p:nvPr/>
        </p:nvCxnSpPr>
        <p:spPr>
          <a:xfrm>
            <a:off x="361548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338" name="Rounded Rectangle 9"/>
          <p:cNvSpPr/>
          <p:nvPr/>
        </p:nvSpPr>
        <p:spPr>
          <a:xfrm>
            <a:off x="552852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Grace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expires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39" name="Connector 10"/>
          <p:cNvCxnSpPr/>
          <p:nvPr/>
        </p:nvCxnSpPr>
        <p:spPr>
          <a:xfrm>
            <a:off x="529056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340" name="Rounded Rectangle 11"/>
          <p:cNvSpPr/>
          <p:nvPr/>
        </p:nvSpPr>
        <p:spPr>
          <a:xfrm>
            <a:off x="720360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>
            <a:solidFill>
              <a:srgbClr val="914e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Result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final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41" name="Connector 12"/>
          <p:cNvCxnSpPr/>
          <p:nvPr/>
        </p:nvCxnSpPr>
        <p:spPr>
          <a:xfrm>
            <a:off x="6965640" y="167328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342" name="Rectangle 13"/>
          <p:cNvSpPr/>
          <p:nvPr/>
        </p:nvSpPr>
        <p:spPr>
          <a:xfrm>
            <a:off x="685800" y="2606040"/>
            <a:ext cx="20113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Concept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Rectangle 14"/>
          <p:cNvSpPr/>
          <p:nvPr/>
        </p:nvSpPr>
        <p:spPr>
          <a:xfrm>
            <a:off x="2697480" y="2606040"/>
            <a:ext cx="54403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Beginner interpretation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Rectangle 15"/>
          <p:cNvSpPr/>
          <p:nvPr/>
        </p:nvSpPr>
        <p:spPr>
          <a:xfrm>
            <a:off x="685800" y="2990160"/>
            <a:ext cx="20113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Watermark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Rectangle 16"/>
          <p:cNvSpPr/>
          <p:nvPr/>
        </p:nvSpPr>
        <p:spPr>
          <a:xfrm>
            <a:off x="2697480" y="2990160"/>
            <a:ext cx="54403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 system estimate that most events up to this event time have arrived.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17"/>
          <p:cNvSpPr/>
          <p:nvPr/>
        </p:nvSpPr>
        <p:spPr>
          <a:xfrm>
            <a:off x="685800" y="3374280"/>
            <a:ext cx="20113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Streams note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ectangle 18"/>
          <p:cNvSpPr/>
          <p:nvPr/>
        </p:nvSpPr>
        <p:spPr>
          <a:xfrm>
            <a:off x="2697480" y="3374280"/>
            <a:ext cx="54403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Streams uses event time, stream-time and grace; think watermark-like progress, not a separate Kafka broker feature.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ectangle 19"/>
          <p:cNvSpPr/>
          <p:nvPr/>
        </p:nvSpPr>
        <p:spPr>
          <a:xfrm>
            <a:off x="685800" y="3758040"/>
            <a:ext cx="20113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Design question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20"/>
          <p:cNvSpPr/>
          <p:nvPr/>
        </p:nvSpPr>
        <p:spPr>
          <a:xfrm>
            <a:off x="2697480" y="3758040"/>
            <a:ext cx="54403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How late can business tolerate updates to a result?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2"/>
          <p:cNvSpPr/>
          <p:nvPr/>
        </p:nvSpPr>
        <p:spPr>
          <a:xfrm>
            <a:off x="255960" y="50400"/>
            <a:ext cx="5120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DLQ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3"/>
          <p:cNvSpPr/>
          <p:nvPr/>
        </p:nvSpPr>
        <p:spPr>
          <a:xfrm>
            <a:off x="384120" y="530280"/>
            <a:ext cx="8366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What is a Kafka Dead Letter Queue?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4"/>
          <p:cNvSpPr/>
          <p:nvPr/>
        </p:nvSpPr>
        <p:spPr>
          <a:xfrm>
            <a:off x="594360" y="1143000"/>
            <a:ext cx="3931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 DLQ is a dedicated Kafka topic where failed records are routed so the main pipeline can keep processing.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5"/>
          <p:cNvSpPr/>
          <p:nvPr/>
        </p:nvSpPr>
        <p:spPr>
          <a:xfrm>
            <a:off x="621720" y="2148840"/>
            <a:ext cx="3748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Failed record is preserved.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Failure reason is visible.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Operators can inspect and reprocess later.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Good records are not blocked by one bad record.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ounded Rectangle 6"/>
          <p:cNvSpPr/>
          <p:nvPr/>
        </p:nvSpPr>
        <p:spPr>
          <a:xfrm>
            <a:off x="4892040" y="1170360"/>
            <a:ext cx="1142640" cy="502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Source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topic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Rounded Rectangle 7"/>
          <p:cNvSpPr/>
          <p:nvPr/>
        </p:nvSpPr>
        <p:spPr>
          <a:xfrm>
            <a:off x="6355080" y="1170360"/>
            <a:ext cx="1234080" cy="502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Consumer /</a:t>
            </a:r>
            <a:endParaRPr lang="en-IN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Connector</a:t>
            </a:r>
            <a:endParaRPr lang="en-IN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Rounded Rectangle 8"/>
          <p:cNvSpPr/>
          <p:nvPr/>
        </p:nvSpPr>
        <p:spPr>
          <a:xfrm>
            <a:off x="7818120" y="1170360"/>
            <a:ext cx="959760" cy="502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Sink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58" name="Connector 9"/>
          <p:cNvCxnSpPr/>
          <p:nvPr/>
        </p:nvCxnSpPr>
        <p:spPr>
          <a:xfrm>
            <a:off x="6035040" y="1426320"/>
            <a:ext cx="320400" cy="360"/>
          </a:xfrm>
          <a:prstGeom prst="straightConnector1">
            <a:avLst/>
          </a:prstGeom>
          <a:ln w="13335">
            <a:solidFill>
              <a:srgbClr val="0a1328"/>
            </a:solidFill>
            <a:round/>
          </a:ln>
        </p:spPr>
      </p:cxnSp>
      <p:cxnSp>
        <p:nvCxnSpPr>
          <p:cNvPr id="359" name="Connector 10"/>
          <p:cNvCxnSpPr/>
          <p:nvPr/>
        </p:nvCxnSpPr>
        <p:spPr>
          <a:xfrm>
            <a:off x="7589520" y="1426320"/>
            <a:ext cx="228960" cy="360"/>
          </a:xfrm>
          <a:prstGeom prst="straightConnector1">
            <a:avLst/>
          </a:prstGeom>
          <a:ln w="13335">
            <a:solidFill>
              <a:srgbClr val="0a1328"/>
            </a:solidFill>
            <a:round/>
          </a:ln>
        </p:spPr>
      </p:cxnSp>
      <p:sp>
        <p:nvSpPr>
          <p:cNvPr id="360" name="Rounded Rectangle 11"/>
          <p:cNvSpPr/>
          <p:nvPr/>
        </p:nvSpPr>
        <p:spPr>
          <a:xfrm>
            <a:off x="6355080" y="2240280"/>
            <a:ext cx="1234080" cy="502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Error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handler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ounded Rectangle 12"/>
          <p:cNvSpPr/>
          <p:nvPr/>
        </p:nvSpPr>
        <p:spPr>
          <a:xfrm>
            <a:off x="7818120" y="2240280"/>
            <a:ext cx="959760" cy="502560"/>
          </a:xfrm>
          <a:prstGeom prst="roundRect">
            <a:avLst>
              <a:gd name="adj" fmla="val 16667"/>
            </a:avLst>
          </a:prstGeom>
          <a:solidFill>
            <a:srgbClr val="da5252"/>
          </a:solidFill>
          <a:ln>
            <a:solidFill>
              <a:srgbClr val="da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DLQ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topic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62" name="Connector 13"/>
          <p:cNvCxnSpPr/>
          <p:nvPr/>
        </p:nvCxnSpPr>
        <p:spPr>
          <a:xfrm>
            <a:off x="6976800" y="1673280"/>
            <a:ext cx="360" cy="567360"/>
          </a:xfrm>
          <a:prstGeom prst="straightConnector1">
            <a:avLst/>
          </a:prstGeom>
          <a:ln w="13335">
            <a:solidFill>
              <a:srgbClr val="da5252"/>
            </a:solidFill>
            <a:round/>
          </a:ln>
        </p:spPr>
      </p:cxnSp>
      <p:cxnSp>
        <p:nvCxnSpPr>
          <p:cNvPr id="363" name="Connector 14"/>
          <p:cNvCxnSpPr/>
          <p:nvPr/>
        </p:nvCxnSpPr>
        <p:spPr>
          <a:xfrm>
            <a:off x="7589520" y="2496240"/>
            <a:ext cx="228960" cy="360"/>
          </a:xfrm>
          <a:prstGeom prst="straightConnector1">
            <a:avLst/>
          </a:prstGeom>
          <a:ln w="13335">
            <a:solidFill>
              <a:srgbClr val="da5252"/>
            </a:solidFill>
            <a:round/>
          </a:ln>
        </p:spPr>
      </p:cxnSp>
      <p:sp>
        <p:nvSpPr>
          <p:cNvPr id="364" name="TextBox 15"/>
          <p:cNvSpPr/>
          <p:nvPr/>
        </p:nvSpPr>
        <p:spPr>
          <a:xfrm>
            <a:off x="4892040" y="3246120"/>
            <a:ext cx="379440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20" b="0" u="none" strike="noStrike">
                <a:solidFill>
                  <a:srgbClr val="566374"/>
                </a:solidFill>
                <a:effectLst/>
                <a:uFillTx/>
                <a:latin typeface="Aptos"/>
              </a:rPr>
              <a:t>Use this pattern when failures are record-specific: schema mismatch, malformed data, validation failure, or processing exception.</a:t>
            </a:r>
            <a:endParaRPr lang="en-IN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16"/>
          <p:cNvSpPr/>
          <p:nvPr/>
        </p:nvSpPr>
        <p:spPr>
          <a:xfrm>
            <a:off x="502920" y="4700160"/>
            <a:ext cx="8137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66374"/>
                </a:solidFill>
                <a:effectLst/>
                <a:uFillTx/>
                <a:latin typeface="Aptos"/>
              </a:rPr>
              <a:t>Reference pattern: Confluent Kafka DLQ guide and Kafka Connect error reporting docs.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2"/>
          <p:cNvSpPr/>
          <p:nvPr/>
        </p:nvSpPr>
        <p:spPr>
          <a:xfrm>
            <a:off x="255960" y="50400"/>
            <a:ext cx="5120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DLQ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3"/>
          <p:cNvSpPr/>
          <p:nvPr/>
        </p:nvSpPr>
        <p:spPr>
          <a:xfrm>
            <a:off x="384120" y="530280"/>
            <a:ext cx="8366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Why a DLQ is required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4"/>
          <p:cNvSpPr/>
          <p:nvPr/>
        </p:nvSpPr>
        <p:spPr>
          <a:xfrm>
            <a:off x="594360" y="1115640"/>
            <a:ext cx="169128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Problem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Rectangle 5"/>
          <p:cNvSpPr/>
          <p:nvPr/>
        </p:nvSpPr>
        <p:spPr>
          <a:xfrm>
            <a:off x="2286000" y="1115640"/>
            <a:ext cx="306288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Without DLQ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Rectangle 6"/>
          <p:cNvSpPr/>
          <p:nvPr/>
        </p:nvSpPr>
        <p:spPr>
          <a:xfrm>
            <a:off x="5349240" y="1115640"/>
            <a:ext cx="324576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With DLQ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Rectangle 7"/>
          <p:cNvSpPr/>
          <p:nvPr/>
        </p:nvSpPr>
        <p:spPr>
          <a:xfrm>
            <a:off x="594360" y="1554480"/>
            <a:ext cx="16912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Bad schema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Rectangle 8"/>
          <p:cNvSpPr/>
          <p:nvPr/>
        </p:nvSpPr>
        <p:spPr>
          <a:xfrm>
            <a:off x="2286000" y="1554480"/>
            <a:ext cx="30628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Connector/consumer may fail or skip without evidence.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9"/>
          <p:cNvSpPr/>
          <p:nvPr/>
        </p:nvSpPr>
        <p:spPr>
          <a:xfrm>
            <a:off x="5349240" y="1554480"/>
            <a:ext cx="324576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Record goes to DLQ with error context.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ectangle 10"/>
          <p:cNvSpPr/>
          <p:nvPr/>
        </p:nvSpPr>
        <p:spPr>
          <a:xfrm>
            <a:off x="594360" y="1993320"/>
            <a:ext cx="16912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Malformed data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Rectangle 11"/>
          <p:cNvSpPr/>
          <p:nvPr/>
        </p:nvSpPr>
        <p:spPr>
          <a:xfrm>
            <a:off x="2286000" y="1993320"/>
            <a:ext cx="30628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One bad event can block a batch or partition.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Rectangle 12"/>
          <p:cNvSpPr/>
          <p:nvPr/>
        </p:nvSpPr>
        <p:spPr>
          <a:xfrm>
            <a:off x="5349240" y="1993320"/>
            <a:ext cx="324576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Good records continue through the pipeline.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13"/>
          <p:cNvSpPr/>
          <p:nvPr/>
        </p:nvSpPr>
        <p:spPr>
          <a:xfrm>
            <a:off x="594360" y="2432160"/>
            <a:ext cx="16912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Business validation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Rectangle 14"/>
          <p:cNvSpPr/>
          <p:nvPr/>
        </p:nvSpPr>
        <p:spPr>
          <a:xfrm>
            <a:off x="2286000" y="2432160"/>
            <a:ext cx="30628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Rejected rows disappear into logs.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Rectangle 15"/>
          <p:cNvSpPr/>
          <p:nvPr/>
        </p:nvSpPr>
        <p:spPr>
          <a:xfrm>
            <a:off x="5349240" y="2432160"/>
            <a:ext cx="324576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Rejected row is inspectable and owned.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Rectangle 16"/>
          <p:cNvSpPr/>
          <p:nvPr/>
        </p:nvSpPr>
        <p:spPr>
          <a:xfrm>
            <a:off x="594360" y="2871360"/>
            <a:ext cx="16912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Rectangle 17"/>
          <p:cNvSpPr/>
          <p:nvPr/>
        </p:nvSpPr>
        <p:spPr>
          <a:xfrm>
            <a:off x="2286000" y="2871360"/>
            <a:ext cx="30628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Hard to know which records need repair.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Rectangle 18"/>
          <p:cNvSpPr/>
          <p:nvPr/>
        </p:nvSpPr>
        <p:spPr>
          <a:xfrm>
            <a:off x="5349240" y="2871360"/>
            <a:ext cx="324576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topic is the repair/reprocess queue.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19"/>
          <p:cNvSpPr/>
          <p:nvPr/>
        </p:nvSpPr>
        <p:spPr>
          <a:xfrm>
            <a:off x="777240" y="3657600"/>
            <a:ext cx="7589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6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Important beginner rule: a DLQ is not a trash can. It is an operational recovery path.</a:t>
            </a:r>
            <a:endParaRPr lang="en-IN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6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If nobody monitors or reprocesses it, the DLQ only moves the failure somewhere quieter.</a:t>
            </a:r>
            <a:endParaRPr lang="en-IN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20"/>
          <p:cNvSpPr/>
          <p:nvPr/>
        </p:nvSpPr>
        <p:spPr>
          <a:xfrm>
            <a:off x="502920" y="4700160"/>
            <a:ext cx="8137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66374"/>
                </a:solidFill>
                <a:effectLst/>
                <a:uFillTx/>
                <a:latin typeface="Aptos"/>
              </a:rPr>
              <a:t>Confluent notes that DLQ messages need an inspection/reprocessing process, not just a destination topic.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Box 2"/>
          <p:cNvSpPr/>
          <p:nvPr/>
        </p:nvSpPr>
        <p:spPr>
          <a:xfrm>
            <a:off x="255960" y="50400"/>
            <a:ext cx="5120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DLQ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"/>
          <p:cNvSpPr/>
          <p:nvPr/>
        </p:nvSpPr>
        <p:spPr>
          <a:xfrm>
            <a:off x="384120" y="530280"/>
            <a:ext cx="8366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Connect DLQ architecture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4"/>
          <p:cNvSpPr/>
          <p:nvPr/>
        </p:nvSpPr>
        <p:spPr>
          <a:xfrm>
            <a:off x="567000" y="102420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66374"/>
                </a:solidFill>
                <a:effectLst/>
                <a:uFillTx/>
                <a:latin typeface="Aptos"/>
              </a:rPr>
              <a:t>Source-backed architecture: Kafka Connect sink task + error handling + dedicated DLQ topic + replay path.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Rounded Rectangle 5"/>
          <p:cNvSpPr/>
          <p:nvPr/>
        </p:nvSpPr>
        <p:spPr>
          <a:xfrm>
            <a:off x="594360" y="1600200"/>
            <a:ext cx="1142640" cy="502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Source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 topic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Rounded Rectangle 6"/>
          <p:cNvSpPr/>
          <p:nvPr/>
        </p:nvSpPr>
        <p:spPr>
          <a:xfrm>
            <a:off x="2057400" y="1600200"/>
            <a:ext cx="1142640" cy="502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Converter /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SMT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Rounded Rectangle 7"/>
          <p:cNvSpPr/>
          <p:nvPr/>
        </p:nvSpPr>
        <p:spPr>
          <a:xfrm>
            <a:off x="3520440" y="1600200"/>
            <a:ext cx="1234080" cy="502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Sink connector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task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Rounded Rectangle 8"/>
          <p:cNvSpPr/>
          <p:nvPr/>
        </p:nvSpPr>
        <p:spPr>
          <a:xfrm>
            <a:off x="5074920" y="1600200"/>
            <a:ext cx="1005480" cy="502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Target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sink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94" name="Connector 9"/>
          <p:cNvCxnSpPr/>
          <p:nvPr/>
        </p:nvCxnSpPr>
        <p:spPr>
          <a:xfrm>
            <a:off x="1737360" y="1856160"/>
            <a:ext cx="320400" cy="360"/>
          </a:xfrm>
          <a:prstGeom prst="straightConnector1">
            <a:avLst/>
          </a:prstGeom>
          <a:ln w="13335">
            <a:solidFill>
              <a:srgbClr val="0a1328"/>
            </a:solidFill>
            <a:round/>
          </a:ln>
        </p:spPr>
      </p:cxnSp>
      <p:cxnSp>
        <p:nvCxnSpPr>
          <p:cNvPr id="395" name="Connector 10"/>
          <p:cNvCxnSpPr/>
          <p:nvPr/>
        </p:nvCxnSpPr>
        <p:spPr>
          <a:xfrm>
            <a:off x="3200400" y="1856160"/>
            <a:ext cx="320400" cy="360"/>
          </a:xfrm>
          <a:prstGeom prst="straightConnector1">
            <a:avLst/>
          </a:prstGeom>
          <a:ln w="13335">
            <a:solidFill>
              <a:srgbClr val="0a1328"/>
            </a:solidFill>
            <a:round/>
          </a:ln>
        </p:spPr>
      </p:cxnSp>
      <p:cxnSp>
        <p:nvCxnSpPr>
          <p:cNvPr id="396" name="Connector 11"/>
          <p:cNvCxnSpPr/>
          <p:nvPr/>
        </p:nvCxnSpPr>
        <p:spPr>
          <a:xfrm>
            <a:off x="4754880" y="1856160"/>
            <a:ext cx="320400" cy="360"/>
          </a:xfrm>
          <a:prstGeom prst="straightConnector1">
            <a:avLst/>
          </a:prstGeom>
          <a:ln w="13335">
            <a:solidFill>
              <a:srgbClr val="0a1328"/>
            </a:solidFill>
            <a:round/>
          </a:ln>
        </p:spPr>
      </p:cxnSp>
      <p:sp>
        <p:nvSpPr>
          <p:cNvPr id="397" name="Rounded Rectangle 12"/>
          <p:cNvSpPr/>
          <p:nvPr/>
        </p:nvSpPr>
        <p:spPr>
          <a:xfrm>
            <a:off x="3520440" y="2743200"/>
            <a:ext cx="1234080" cy="502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Connect error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reporter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Rounded Rectangle 13"/>
          <p:cNvSpPr/>
          <p:nvPr/>
        </p:nvSpPr>
        <p:spPr>
          <a:xfrm>
            <a:off x="5074920" y="2743200"/>
            <a:ext cx="1188360" cy="502560"/>
          </a:xfrm>
          <a:prstGeom prst="roundRect">
            <a:avLst>
              <a:gd name="adj" fmla="val 16667"/>
            </a:avLst>
          </a:prstGeom>
          <a:solidFill>
            <a:srgbClr val="da5252"/>
          </a:solidFill>
          <a:ln>
            <a:solidFill>
              <a:srgbClr val="da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DLQ topic</a:t>
            </a:r>
            <a:endParaRPr lang="en-IN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my-connector-errors</a:t>
            </a:r>
            <a:endParaRPr lang="en-IN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14"/>
          <p:cNvSpPr/>
          <p:nvPr/>
        </p:nvSpPr>
        <p:spPr>
          <a:xfrm>
            <a:off x="6583680" y="2743200"/>
            <a:ext cx="1051200" cy="502560"/>
          </a:xfrm>
          <a:prstGeom prst="roundRect">
            <a:avLst>
              <a:gd name="adj" fmla="val 16667"/>
            </a:avLst>
          </a:prstGeom>
          <a:solidFill>
            <a:srgbClr val="0a1328"/>
          </a:solidFill>
          <a:ln>
            <a:solidFill>
              <a:srgbClr val="0a13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DLQ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monitor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Rounded Rectangle 15"/>
          <p:cNvSpPr/>
          <p:nvPr/>
        </p:nvSpPr>
        <p:spPr>
          <a:xfrm>
            <a:off x="7909560" y="2743200"/>
            <a:ext cx="914040" cy="502560"/>
          </a:xfrm>
          <a:prstGeom prst="roundRect">
            <a:avLst>
              <a:gd name="adj" fmla="val 16667"/>
            </a:avLst>
          </a:prstGeom>
          <a:solidFill>
            <a:srgbClr val="0a1328"/>
          </a:solidFill>
          <a:ln>
            <a:solidFill>
              <a:srgbClr val="0a13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Replay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job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01" name="Connector 16"/>
          <p:cNvCxnSpPr/>
          <p:nvPr/>
        </p:nvCxnSpPr>
        <p:spPr>
          <a:xfrm>
            <a:off x="4132800" y="2103120"/>
            <a:ext cx="360" cy="640440"/>
          </a:xfrm>
          <a:prstGeom prst="straightConnector1">
            <a:avLst/>
          </a:prstGeom>
          <a:ln w="13335">
            <a:solidFill>
              <a:srgbClr val="da5252"/>
            </a:solidFill>
            <a:round/>
          </a:ln>
        </p:spPr>
      </p:cxnSp>
      <p:cxnSp>
        <p:nvCxnSpPr>
          <p:cNvPr id="402" name="Connector 17"/>
          <p:cNvCxnSpPr/>
          <p:nvPr/>
        </p:nvCxnSpPr>
        <p:spPr>
          <a:xfrm>
            <a:off x="4754880" y="2999160"/>
            <a:ext cx="320400" cy="360"/>
          </a:xfrm>
          <a:prstGeom prst="straightConnector1">
            <a:avLst/>
          </a:prstGeom>
          <a:ln w="13335">
            <a:solidFill>
              <a:srgbClr val="da5252"/>
            </a:solidFill>
            <a:round/>
          </a:ln>
        </p:spPr>
      </p:cxnSp>
      <p:cxnSp>
        <p:nvCxnSpPr>
          <p:cNvPr id="403" name="Connector 18"/>
          <p:cNvCxnSpPr/>
          <p:nvPr/>
        </p:nvCxnSpPr>
        <p:spPr>
          <a:xfrm>
            <a:off x="6263640" y="2999160"/>
            <a:ext cx="320400" cy="360"/>
          </a:xfrm>
          <a:prstGeom prst="straightConnector1">
            <a:avLst/>
          </a:prstGeom>
          <a:ln w="13335">
            <a:solidFill>
              <a:srgbClr val="0a1328"/>
            </a:solidFill>
            <a:round/>
          </a:ln>
        </p:spPr>
      </p:cxnSp>
      <p:cxnSp>
        <p:nvCxnSpPr>
          <p:cNvPr id="404" name="Connector 19"/>
          <p:cNvCxnSpPr/>
          <p:nvPr/>
        </p:nvCxnSpPr>
        <p:spPr>
          <a:xfrm>
            <a:off x="7635240" y="2999160"/>
            <a:ext cx="274680" cy="360"/>
          </a:xfrm>
          <a:prstGeom prst="straightConnector1">
            <a:avLst/>
          </a:prstGeom>
          <a:ln w="13335">
            <a:solidFill>
              <a:srgbClr val="0a1328"/>
            </a:solidFill>
            <a:round/>
          </a:ln>
        </p:spPr>
      </p:cxnSp>
      <p:sp>
        <p:nvSpPr>
          <p:cNvPr id="405" name="TextBox 20"/>
          <p:cNvSpPr/>
          <p:nvPr/>
        </p:nvSpPr>
        <p:spPr>
          <a:xfrm>
            <a:off x="777240" y="379476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The DLQ record can include original key/value plus context headers such as __connect.errors.* when context headers are enabled.</a:t>
            </a:r>
            <a:endParaRPr lang="en-IN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21"/>
          <p:cNvSpPr/>
          <p:nvPr/>
        </p:nvSpPr>
        <p:spPr>
          <a:xfrm>
            <a:off x="502920" y="4700160"/>
            <a:ext cx="8137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66374"/>
                </a:solidFill>
                <a:effectLst/>
                <a:uFillTx/>
                <a:latin typeface="Aptos"/>
              </a:rPr>
              <a:t>Based on Apache Kafka Connect error reporting and Confluent DLQ architecture components.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TextBox 2"/>
          <p:cNvSpPr/>
          <p:nvPr/>
        </p:nvSpPr>
        <p:spPr>
          <a:xfrm>
            <a:off x="255960" y="50400"/>
            <a:ext cx="5120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DLQ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3"/>
          <p:cNvSpPr/>
          <p:nvPr/>
        </p:nvSpPr>
        <p:spPr>
          <a:xfrm>
            <a:off x="384120" y="530280"/>
            <a:ext cx="8366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How to configure a Kafka Connect DLQ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4"/>
          <p:cNvSpPr/>
          <p:nvPr/>
        </p:nvSpPr>
        <p:spPr>
          <a:xfrm>
            <a:off x="594360" y="1078920"/>
            <a:ext cx="4251600" cy="2468520"/>
          </a:xfrm>
          <a:prstGeom prst="rect">
            <a:avLst/>
          </a:prstGeom>
          <a:solidFill>
            <a:srgbClr val="ebf0f5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errors.tolerance=all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errors.retry.timeout=600000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errors.retry.delay.max.ms=30000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errors.log.enable=true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errors.log.include.messages=false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errors.deadletterqueue.topic.name=orders-sink-dlq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errors.deadletterqueue.context.headers.enable=true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 5"/>
          <p:cNvSpPr/>
          <p:nvPr/>
        </p:nvSpPr>
        <p:spPr>
          <a:xfrm>
            <a:off x="5166360" y="1097280"/>
            <a:ext cx="17827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Property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Rectangle 6"/>
          <p:cNvSpPr/>
          <p:nvPr/>
        </p:nvSpPr>
        <p:spPr>
          <a:xfrm>
            <a:off x="6949440" y="1097280"/>
            <a:ext cx="187416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 it matters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7"/>
          <p:cNvSpPr/>
          <p:nvPr/>
        </p:nvSpPr>
        <p:spPr>
          <a:xfrm>
            <a:off x="5166360" y="1481400"/>
            <a:ext cx="17827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errors.tolerance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8"/>
          <p:cNvSpPr/>
          <p:nvPr/>
        </p:nvSpPr>
        <p:spPr>
          <a:xfrm>
            <a:off x="6949440" y="1481400"/>
            <a:ext cx="187416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none fails fast; all skips bad records and reports them.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Rectangle 9"/>
          <p:cNvSpPr/>
          <p:nvPr/>
        </p:nvSpPr>
        <p:spPr>
          <a:xfrm>
            <a:off x="5166360" y="1865520"/>
            <a:ext cx="17827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retry timeout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Rectangle 10"/>
          <p:cNvSpPr/>
          <p:nvPr/>
        </p:nvSpPr>
        <p:spPr>
          <a:xfrm>
            <a:off x="6949440" y="1865520"/>
            <a:ext cx="187416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Retries transient failures before routing to DLQ.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ectangle 11"/>
          <p:cNvSpPr/>
          <p:nvPr/>
        </p:nvSpPr>
        <p:spPr>
          <a:xfrm>
            <a:off x="5166360" y="2249280"/>
            <a:ext cx="17827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topic name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12"/>
          <p:cNvSpPr/>
          <p:nvPr/>
        </p:nvSpPr>
        <p:spPr>
          <a:xfrm>
            <a:off x="6949440" y="2249280"/>
            <a:ext cx="187416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Dedicated Kafka topic for failed records.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13"/>
          <p:cNvSpPr/>
          <p:nvPr/>
        </p:nvSpPr>
        <p:spPr>
          <a:xfrm>
            <a:off x="5166360" y="2633400"/>
            <a:ext cx="17827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context headers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14"/>
          <p:cNvSpPr/>
          <p:nvPr/>
        </p:nvSpPr>
        <p:spPr>
          <a:xfrm>
            <a:off x="6949440" y="2633400"/>
            <a:ext cx="187416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Adds error details with __connect.errors.* headers.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Rectangle 15"/>
          <p:cNvSpPr/>
          <p:nvPr/>
        </p:nvSpPr>
        <p:spPr>
          <a:xfrm>
            <a:off x="5166360" y="3017520"/>
            <a:ext cx="17827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include messages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16"/>
          <p:cNvSpPr/>
          <p:nvPr/>
        </p:nvSpPr>
        <p:spPr>
          <a:xfrm>
            <a:off x="6949440" y="3017520"/>
            <a:ext cx="187416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Keep false if payloads may contain sensitive data.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17"/>
          <p:cNvSpPr/>
          <p:nvPr/>
        </p:nvSpPr>
        <p:spPr>
          <a:xfrm>
            <a:off x="502920" y="4700160"/>
            <a:ext cx="8137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66374"/>
                </a:solidFill>
                <a:effectLst/>
                <a:uFillTx/>
                <a:latin typeface="Aptos"/>
              </a:rPr>
              <a:t>Config keys from Apache Kafka / Confluent Kafka Connect sink connector documentation.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TextBox 2"/>
          <p:cNvSpPr/>
          <p:nvPr/>
        </p:nvSpPr>
        <p:spPr>
          <a:xfrm>
            <a:off x="255960" y="50400"/>
            <a:ext cx="5120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DLQ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3"/>
          <p:cNvSpPr/>
          <p:nvPr/>
        </p:nvSpPr>
        <p:spPr>
          <a:xfrm>
            <a:off x="384120" y="530280"/>
            <a:ext cx="8366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Production DLQ best practices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Rectangle 4"/>
          <p:cNvSpPr/>
          <p:nvPr/>
        </p:nvSpPr>
        <p:spPr>
          <a:xfrm>
            <a:off x="594360" y="1078920"/>
            <a:ext cx="1965600" cy="402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Practice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Rectangle 5"/>
          <p:cNvSpPr/>
          <p:nvPr/>
        </p:nvSpPr>
        <p:spPr>
          <a:xfrm>
            <a:off x="2560320" y="1078920"/>
            <a:ext cx="2971440" cy="402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Production rule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Rectangle 6"/>
          <p:cNvSpPr/>
          <p:nvPr/>
        </p:nvSpPr>
        <p:spPr>
          <a:xfrm>
            <a:off x="5532120" y="1078920"/>
            <a:ext cx="2880000" cy="402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7"/>
          <p:cNvSpPr/>
          <p:nvPr/>
        </p:nvSpPr>
        <p:spPr>
          <a:xfrm>
            <a:off x="594360" y="1481400"/>
            <a:ext cx="196560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Retry limit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Rectangle 8"/>
          <p:cNvSpPr/>
          <p:nvPr/>
        </p:nvSpPr>
        <p:spPr>
          <a:xfrm>
            <a:off x="2560320" y="1481400"/>
            <a:ext cx="297144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Retry transient errors with bounded timeout.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Rectangle 9"/>
          <p:cNvSpPr/>
          <p:nvPr/>
        </p:nvSpPr>
        <p:spPr>
          <a:xfrm>
            <a:off x="5532120" y="1481400"/>
            <a:ext cx="288000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Avoid infinite retry loops and stuck tasks.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Rectangle 10"/>
          <p:cNvSpPr/>
          <p:nvPr/>
        </p:nvSpPr>
        <p:spPr>
          <a:xfrm>
            <a:off x="594360" y="1883520"/>
            <a:ext cx="196560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validation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11"/>
          <p:cNvSpPr/>
          <p:nvPr/>
        </p:nvSpPr>
        <p:spPr>
          <a:xfrm>
            <a:off x="2560320" y="1883520"/>
            <a:ext cx="297144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 incompatible records before sink writes.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Rectangle 12"/>
          <p:cNvSpPr/>
          <p:nvPr/>
        </p:nvSpPr>
        <p:spPr>
          <a:xfrm>
            <a:off x="5532120" y="1883520"/>
            <a:ext cx="288000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Prevents bad contracts from spreading.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Rectangle 13"/>
          <p:cNvSpPr/>
          <p:nvPr/>
        </p:nvSpPr>
        <p:spPr>
          <a:xfrm>
            <a:off x="594360" y="2286000"/>
            <a:ext cx="196560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Context headers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Rectangle 14"/>
          <p:cNvSpPr/>
          <p:nvPr/>
        </p:nvSpPr>
        <p:spPr>
          <a:xfrm>
            <a:off x="2560320" y="2286000"/>
            <a:ext cx="297144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Enable error headers and keep source topic/partition/offset.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Rectangle 15"/>
          <p:cNvSpPr/>
          <p:nvPr/>
        </p:nvSpPr>
        <p:spPr>
          <a:xfrm>
            <a:off x="5532120" y="2286000"/>
            <a:ext cx="288000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Makes failures debuggable.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Rectangle 16"/>
          <p:cNvSpPr/>
          <p:nvPr/>
        </p:nvSpPr>
        <p:spPr>
          <a:xfrm>
            <a:off x="594360" y="2688480"/>
            <a:ext cx="196560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Monitoring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17"/>
          <p:cNvSpPr/>
          <p:nvPr/>
        </p:nvSpPr>
        <p:spPr>
          <a:xfrm>
            <a:off x="2560320" y="2688480"/>
            <a:ext cx="297144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Alert on DLQ count, age and reason-code spikes.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Rectangle 18"/>
          <p:cNvSpPr/>
          <p:nvPr/>
        </p:nvSpPr>
        <p:spPr>
          <a:xfrm>
            <a:off x="5532120" y="2688480"/>
            <a:ext cx="288000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 quiet DLQ can hide data loss.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Rectangle 19"/>
          <p:cNvSpPr/>
          <p:nvPr/>
        </p:nvSpPr>
        <p:spPr>
          <a:xfrm>
            <a:off x="594360" y="3090600"/>
            <a:ext cx="196560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 process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Rectangle 20"/>
          <p:cNvSpPr/>
          <p:nvPr/>
        </p:nvSpPr>
        <p:spPr>
          <a:xfrm>
            <a:off x="2560320" y="3090600"/>
            <a:ext cx="297144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Define owner, fix path and idempotent replay command.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Rectangle 21"/>
          <p:cNvSpPr/>
          <p:nvPr/>
        </p:nvSpPr>
        <p:spPr>
          <a:xfrm>
            <a:off x="5532120" y="3090600"/>
            <a:ext cx="288000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is useful only when records can be handled.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Rectangle 22"/>
          <p:cNvSpPr/>
          <p:nvPr/>
        </p:nvSpPr>
        <p:spPr>
          <a:xfrm>
            <a:off x="594360" y="3493080"/>
            <a:ext cx="196560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Security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Rectangle 23"/>
          <p:cNvSpPr/>
          <p:nvPr/>
        </p:nvSpPr>
        <p:spPr>
          <a:xfrm>
            <a:off x="2560320" y="3493080"/>
            <a:ext cx="297144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Avoid logging payloads with PII unless masked.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Rectangle 24"/>
          <p:cNvSpPr/>
          <p:nvPr/>
        </p:nvSpPr>
        <p:spPr>
          <a:xfrm>
            <a:off x="5532120" y="3493080"/>
            <a:ext cx="2880000" cy="402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topics often contain the most sensitive failures.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25"/>
          <p:cNvSpPr/>
          <p:nvPr/>
        </p:nvSpPr>
        <p:spPr>
          <a:xfrm>
            <a:off x="822960" y="4005000"/>
            <a:ext cx="7406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Beginner takeaway: configure DLQ only after deciding who monitors it and how records return to the pipeline.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26"/>
          <p:cNvSpPr/>
          <p:nvPr/>
        </p:nvSpPr>
        <p:spPr>
          <a:xfrm>
            <a:off x="502920" y="4700160"/>
            <a:ext cx="8137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66374"/>
                </a:solidFill>
                <a:effectLst/>
                <a:uFillTx/>
                <a:latin typeface="Aptos"/>
              </a:rPr>
              <a:t>Best-practice categories mirror Confluent DLQ guidance: retry limits, schema validation, monitoring and handling.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CDC turns database changes into ordered events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Rounded Rectangle 4"/>
          <p:cNvSpPr/>
          <p:nvPr/>
        </p:nvSpPr>
        <p:spPr>
          <a:xfrm>
            <a:off x="502920" y="146304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DB log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Rounded Rectangle 5"/>
          <p:cNvSpPr/>
          <p:nvPr/>
        </p:nvSpPr>
        <p:spPr>
          <a:xfrm>
            <a:off x="2597040" y="146304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CDC connector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55" name="Connector 6"/>
          <p:cNvCxnSpPr/>
          <p:nvPr/>
        </p:nvCxnSpPr>
        <p:spPr>
          <a:xfrm>
            <a:off x="2359080" y="171900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456" name="Rounded Rectangle 7"/>
          <p:cNvSpPr/>
          <p:nvPr/>
        </p:nvSpPr>
        <p:spPr>
          <a:xfrm>
            <a:off x="4690800" y="146304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 topic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7" name="Connector 8"/>
          <p:cNvCxnSpPr/>
          <p:nvPr/>
        </p:nvCxnSpPr>
        <p:spPr>
          <a:xfrm>
            <a:off x="4452840" y="171900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458" name="Rounded Rectangle 9"/>
          <p:cNvSpPr/>
          <p:nvPr/>
        </p:nvSpPr>
        <p:spPr>
          <a:xfrm>
            <a:off x="6784920" y="146304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Bronze event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59" name="Connector 10"/>
          <p:cNvCxnSpPr/>
          <p:nvPr/>
        </p:nvCxnSpPr>
        <p:spPr>
          <a:xfrm>
            <a:off x="6546960" y="171900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460" name="Rectangle 11"/>
          <p:cNvSpPr/>
          <p:nvPr/>
        </p:nvSpPr>
        <p:spPr>
          <a:xfrm>
            <a:off x="822960" y="2651760"/>
            <a:ext cx="173700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CDC field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12"/>
          <p:cNvSpPr/>
          <p:nvPr/>
        </p:nvSpPr>
        <p:spPr>
          <a:xfrm>
            <a:off x="2560320" y="2651760"/>
            <a:ext cx="539460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 it exists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Rectangle 13"/>
          <p:cNvSpPr/>
          <p:nvPr/>
        </p:nvSpPr>
        <p:spPr>
          <a:xfrm>
            <a:off x="822960" y="3035880"/>
            <a:ext cx="17370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op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Rectangle 14"/>
          <p:cNvSpPr/>
          <p:nvPr/>
        </p:nvSpPr>
        <p:spPr>
          <a:xfrm>
            <a:off x="2560320" y="3035880"/>
            <a:ext cx="53946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Create, update, delete or snapshot.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Rectangle 15"/>
          <p:cNvSpPr/>
          <p:nvPr/>
        </p:nvSpPr>
        <p:spPr>
          <a:xfrm>
            <a:off x="822960" y="3420000"/>
            <a:ext cx="17370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before/after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Rectangle 16"/>
          <p:cNvSpPr/>
          <p:nvPr/>
        </p:nvSpPr>
        <p:spPr>
          <a:xfrm>
            <a:off x="2560320" y="3420000"/>
            <a:ext cx="53946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Shows what changed and how to merge state.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Rectangle 17"/>
          <p:cNvSpPr/>
          <p:nvPr/>
        </p:nvSpPr>
        <p:spPr>
          <a:xfrm>
            <a:off x="822960" y="3803760"/>
            <a:ext cx="17370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source_lsn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ectangle 18"/>
          <p:cNvSpPr/>
          <p:nvPr/>
        </p:nvSpPr>
        <p:spPr>
          <a:xfrm>
            <a:off x="2560320" y="3803760"/>
            <a:ext cx="53946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Deterministic source position for replay and ordering.</a:t>
            </a:r>
            <a:endParaRPr lang="en-IN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Rectangle 19"/>
          <p:cNvSpPr/>
          <p:nvPr/>
        </p:nvSpPr>
        <p:spPr>
          <a:xfrm>
            <a:off x="822960" y="4187880"/>
            <a:ext cx="17370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transaction time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Rectangle 20"/>
          <p:cNvSpPr/>
          <p:nvPr/>
        </p:nvSpPr>
        <p:spPr>
          <a:xfrm>
            <a:off x="2560320" y="4187880"/>
            <a:ext cx="53946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Helps audit source behavior.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CDC envelopes keep audit context that flat rows lose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Rectangle 4"/>
          <p:cNvSpPr/>
          <p:nvPr/>
        </p:nvSpPr>
        <p:spPr>
          <a:xfrm>
            <a:off x="685800" y="1143000"/>
            <a:ext cx="169128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Format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Rectangle 5"/>
          <p:cNvSpPr/>
          <p:nvPr/>
        </p:nvSpPr>
        <p:spPr>
          <a:xfrm>
            <a:off x="2377440" y="1143000"/>
            <a:ext cx="278856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Best for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Rectangle 6"/>
          <p:cNvSpPr/>
          <p:nvPr/>
        </p:nvSpPr>
        <p:spPr>
          <a:xfrm>
            <a:off x="5166360" y="1143000"/>
            <a:ext cx="306288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Tradeoff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Rectangle 7"/>
          <p:cNvSpPr/>
          <p:nvPr/>
        </p:nvSpPr>
        <p:spPr>
          <a:xfrm>
            <a:off x="685800" y="1581840"/>
            <a:ext cx="16912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Envelope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Rectangle 8"/>
          <p:cNvSpPr/>
          <p:nvPr/>
        </p:nvSpPr>
        <p:spPr>
          <a:xfrm>
            <a:off x="2377440" y="1581840"/>
            <a:ext cx="278856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Audit, replay, deletes, SCD logic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Rectangle 9"/>
          <p:cNvSpPr/>
          <p:nvPr/>
        </p:nvSpPr>
        <p:spPr>
          <a:xfrm>
            <a:off x="5166360" y="1581840"/>
            <a:ext cx="30628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More fields and more parsing.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Rectangle 10"/>
          <p:cNvSpPr/>
          <p:nvPr/>
        </p:nvSpPr>
        <p:spPr>
          <a:xfrm>
            <a:off x="685800" y="2020680"/>
            <a:ext cx="16912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Flat row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Rectangle 11"/>
          <p:cNvSpPr/>
          <p:nvPr/>
        </p:nvSpPr>
        <p:spPr>
          <a:xfrm>
            <a:off x="2377440" y="2020680"/>
            <a:ext cx="278856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Simple warehouse sink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Rectangle 12"/>
          <p:cNvSpPr/>
          <p:nvPr/>
        </p:nvSpPr>
        <p:spPr>
          <a:xfrm>
            <a:off x="5166360" y="2020680"/>
            <a:ext cx="30628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Can hide operation and source metadata.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13"/>
          <p:cNvSpPr/>
          <p:nvPr/>
        </p:nvSpPr>
        <p:spPr>
          <a:xfrm>
            <a:off x="685800" y="2459880"/>
            <a:ext cx="16912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Hybrid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Rectangle 14"/>
          <p:cNvSpPr/>
          <p:nvPr/>
        </p:nvSpPr>
        <p:spPr>
          <a:xfrm>
            <a:off x="2377440" y="2459880"/>
            <a:ext cx="278856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Flat plus __op and __source fields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Rectangle 15"/>
          <p:cNvSpPr/>
          <p:nvPr/>
        </p:nvSpPr>
        <p:spPr>
          <a:xfrm>
            <a:off x="5166360" y="2459880"/>
            <a:ext cx="30628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Needs consistent transform rules.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ectangle 16"/>
          <p:cNvSpPr/>
          <p:nvPr/>
        </p:nvSpPr>
        <p:spPr>
          <a:xfrm>
            <a:off x="1280160" y="3063240"/>
            <a:ext cx="6217560" cy="658080"/>
          </a:xfrm>
          <a:prstGeom prst="rect">
            <a:avLst/>
          </a:prstGeom>
          <a:solidFill>
            <a:srgbClr val="ebf0f5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{"op":"u","before":{...},"after":{...},"source":{"lsn":104}}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Registry is a contract gate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Rounded Rectangle 4"/>
          <p:cNvSpPr/>
          <p:nvPr/>
        </p:nvSpPr>
        <p:spPr>
          <a:xfrm>
            <a:off x="502920" y="146304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Producer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Rounded Rectangle 5"/>
          <p:cNvSpPr/>
          <p:nvPr/>
        </p:nvSpPr>
        <p:spPr>
          <a:xfrm>
            <a:off x="2178000" y="146304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Schema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Registry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91" name="Connector 6"/>
          <p:cNvCxnSpPr/>
          <p:nvPr/>
        </p:nvCxnSpPr>
        <p:spPr>
          <a:xfrm>
            <a:off x="1940040" y="171900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492" name="Rounded Rectangle 7"/>
          <p:cNvSpPr/>
          <p:nvPr/>
        </p:nvSpPr>
        <p:spPr>
          <a:xfrm>
            <a:off x="3853440" y="146304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3" name="Connector 8"/>
          <p:cNvCxnSpPr/>
          <p:nvPr/>
        </p:nvCxnSpPr>
        <p:spPr>
          <a:xfrm>
            <a:off x="3615480" y="171900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494" name="Rounded Rectangle 9"/>
          <p:cNvSpPr/>
          <p:nvPr/>
        </p:nvSpPr>
        <p:spPr>
          <a:xfrm>
            <a:off x="5528520" y="146304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Consumer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95" name="Connector 10"/>
          <p:cNvCxnSpPr/>
          <p:nvPr/>
        </p:nvCxnSpPr>
        <p:spPr>
          <a:xfrm>
            <a:off x="5290560" y="171900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496" name="Rounded Rectangle 11"/>
          <p:cNvSpPr/>
          <p:nvPr/>
        </p:nvSpPr>
        <p:spPr>
          <a:xfrm>
            <a:off x="7203600" y="146304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>
            <a:solidFill>
              <a:srgbClr val="914e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Reject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breaking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97" name="Connector 12"/>
          <p:cNvCxnSpPr/>
          <p:nvPr/>
        </p:nvCxnSpPr>
        <p:spPr>
          <a:xfrm>
            <a:off x="6965640" y="171900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498" name="TextBox 13"/>
          <p:cNvSpPr/>
          <p:nvPr/>
        </p:nvSpPr>
        <p:spPr>
          <a:xfrm>
            <a:off x="822960" y="2834640"/>
            <a:ext cx="7452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Producers validate or register schemas before events spread.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Compatibility policy defines which old/new producers and consumers can coexist.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Breaking changes should fail fast during deploy, not during dashboard refresh.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0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evolution should read like code review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Rectangle 4"/>
          <p:cNvSpPr/>
          <p:nvPr/>
        </p:nvSpPr>
        <p:spPr>
          <a:xfrm>
            <a:off x="685800" y="1143000"/>
            <a:ext cx="3382920" cy="429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Change</a:t>
            </a:r>
            <a:endParaRPr lang="en-IN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Rectangle 5"/>
          <p:cNvSpPr/>
          <p:nvPr/>
        </p:nvSpPr>
        <p:spPr>
          <a:xfrm>
            <a:off x="4069080" y="1143000"/>
            <a:ext cx="1325520" cy="429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Decision</a:t>
            </a:r>
            <a:endParaRPr lang="en-IN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Rectangle 6"/>
          <p:cNvSpPr/>
          <p:nvPr/>
        </p:nvSpPr>
        <p:spPr>
          <a:xfrm>
            <a:off x="5394960" y="1143000"/>
            <a:ext cx="2742840" cy="429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Reason</a:t>
            </a:r>
            <a:endParaRPr lang="en-IN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Rectangle 7"/>
          <p:cNvSpPr/>
          <p:nvPr/>
        </p:nvSpPr>
        <p:spPr>
          <a:xfrm>
            <a:off x="685800" y="1572840"/>
            <a:ext cx="338292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Add optional customer_tier with default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Rectangle 8"/>
          <p:cNvSpPr/>
          <p:nvPr/>
        </p:nvSpPr>
        <p:spPr>
          <a:xfrm>
            <a:off x="4069080" y="1572840"/>
            <a:ext cx="132552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Accept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Rectangle 9"/>
          <p:cNvSpPr/>
          <p:nvPr/>
        </p:nvSpPr>
        <p:spPr>
          <a:xfrm>
            <a:off x="5394960" y="1572840"/>
            <a:ext cx="27428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Old consumers can ignore it.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Rectangle 10"/>
          <p:cNvSpPr/>
          <p:nvPr/>
        </p:nvSpPr>
        <p:spPr>
          <a:xfrm>
            <a:off x="685800" y="2002680"/>
            <a:ext cx="338292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Rename order_id to id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Rectangle 11"/>
          <p:cNvSpPr/>
          <p:nvPr/>
        </p:nvSpPr>
        <p:spPr>
          <a:xfrm>
            <a:off x="4069080" y="2002680"/>
            <a:ext cx="132552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Rectangle 12"/>
          <p:cNvSpPr/>
          <p:nvPr/>
        </p:nvSpPr>
        <p:spPr>
          <a:xfrm>
            <a:off x="5394960" y="2002680"/>
            <a:ext cx="27428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Field names are part of the contract.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Rectangle 13"/>
          <p:cNvSpPr/>
          <p:nvPr/>
        </p:nvSpPr>
        <p:spPr>
          <a:xfrm>
            <a:off x="685800" y="2432160"/>
            <a:ext cx="338292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Change amount decimal to string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Rectangle 14"/>
          <p:cNvSpPr/>
          <p:nvPr/>
        </p:nvSpPr>
        <p:spPr>
          <a:xfrm>
            <a:off x="4069080" y="2432160"/>
            <a:ext cx="132552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Rectangle 15"/>
          <p:cNvSpPr/>
          <p:nvPr/>
        </p:nvSpPr>
        <p:spPr>
          <a:xfrm>
            <a:off x="5394960" y="2432160"/>
            <a:ext cx="27428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Type semantics break consumers.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Rectangle 16"/>
          <p:cNvSpPr/>
          <p:nvPr/>
        </p:nvSpPr>
        <p:spPr>
          <a:xfrm>
            <a:off x="685800" y="2862000"/>
            <a:ext cx="338292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Remove optional coupon_code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Rectangle 17"/>
          <p:cNvSpPr/>
          <p:nvPr/>
        </p:nvSpPr>
        <p:spPr>
          <a:xfrm>
            <a:off x="4069080" y="2862000"/>
            <a:ext cx="132552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Review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Rectangle 18"/>
          <p:cNvSpPr/>
          <p:nvPr/>
        </p:nvSpPr>
        <p:spPr>
          <a:xfrm>
            <a:off x="5394960" y="2862000"/>
            <a:ext cx="27428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Depends on consumer expectations.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8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3"/>
          <p:cNvSpPr/>
          <p:nvPr/>
        </p:nvSpPr>
        <p:spPr>
          <a:xfrm>
            <a:off x="347400" y="530280"/>
            <a:ext cx="8457840" cy="3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Avro, JSON Schema and Protobuf are contract choices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Rectangle 4"/>
          <p:cNvSpPr/>
          <p:nvPr/>
        </p:nvSpPr>
        <p:spPr>
          <a:xfrm>
            <a:off x="594360" y="1143000"/>
            <a:ext cx="141696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Format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Rectangle 5"/>
          <p:cNvSpPr/>
          <p:nvPr/>
        </p:nvSpPr>
        <p:spPr>
          <a:xfrm>
            <a:off x="2011680" y="1143000"/>
            <a:ext cx="205704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Strength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Rectangle 6"/>
          <p:cNvSpPr/>
          <p:nvPr/>
        </p:nvSpPr>
        <p:spPr>
          <a:xfrm>
            <a:off x="4069080" y="1143000"/>
            <a:ext cx="205704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Tradeoff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Rectangle 7"/>
          <p:cNvSpPr/>
          <p:nvPr/>
        </p:nvSpPr>
        <p:spPr>
          <a:xfrm>
            <a:off x="6126480" y="1143000"/>
            <a:ext cx="214848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Good fit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Rectangle 8"/>
          <p:cNvSpPr/>
          <p:nvPr/>
        </p:nvSpPr>
        <p:spPr>
          <a:xfrm>
            <a:off x="594360" y="1563480"/>
            <a:ext cx="141696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Avro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Rectangle 9"/>
          <p:cNvSpPr/>
          <p:nvPr/>
        </p:nvSpPr>
        <p:spPr>
          <a:xfrm>
            <a:off x="2011680" y="1563480"/>
            <a:ext cx="20570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Compact, schema evolution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Rectangle 10"/>
          <p:cNvSpPr/>
          <p:nvPr/>
        </p:nvSpPr>
        <p:spPr>
          <a:xfrm>
            <a:off x="4069080" y="1563480"/>
            <a:ext cx="20570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Less human-readable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Rectangle 11"/>
          <p:cNvSpPr/>
          <p:nvPr/>
        </p:nvSpPr>
        <p:spPr>
          <a:xfrm>
            <a:off x="6126480" y="1563480"/>
            <a:ext cx="214848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data platforms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Rectangle 12"/>
          <p:cNvSpPr/>
          <p:nvPr/>
        </p:nvSpPr>
        <p:spPr>
          <a:xfrm>
            <a:off x="594360" y="1984320"/>
            <a:ext cx="141696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JSON Schema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Rectangle 13"/>
          <p:cNvSpPr/>
          <p:nvPr/>
        </p:nvSpPr>
        <p:spPr>
          <a:xfrm>
            <a:off x="2011680" y="1984320"/>
            <a:ext cx="20570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Readable, API-friendly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Rectangle 14"/>
          <p:cNvSpPr/>
          <p:nvPr/>
        </p:nvSpPr>
        <p:spPr>
          <a:xfrm>
            <a:off x="4069080" y="1984320"/>
            <a:ext cx="20570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Larger payloads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Rectangle 15"/>
          <p:cNvSpPr/>
          <p:nvPr/>
        </p:nvSpPr>
        <p:spPr>
          <a:xfrm>
            <a:off x="6126480" y="1984320"/>
            <a:ext cx="214848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App/API integration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Rectangle 16"/>
          <p:cNvSpPr/>
          <p:nvPr/>
        </p:nvSpPr>
        <p:spPr>
          <a:xfrm>
            <a:off x="594360" y="2404800"/>
            <a:ext cx="141696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Protobuf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Rectangle 17"/>
          <p:cNvSpPr/>
          <p:nvPr/>
        </p:nvSpPr>
        <p:spPr>
          <a:xfrm>
            <a:off x="2011680" y="2404800"/>
            <a:ext cx="20570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Strong typing, codegen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Rectangle 18"/>
          <p:cNvSpPr/>
          <p:nvPr/>
        </p:nvSpPr>
        <p:spPr>
          <a:xfrm>
            <a:off x="4069080" y="2404800"/>
            <a:ext cx="20570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Requires .proto discipline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Rectangle 19"/>
          <p:cNvSpPr/>
          <p:nvPr/>
        </p:nvSpPr>
        <p:spPr>
          <a:xfrm>
            <a:off x="6126480" y="2404800"/>
            <a:ext cx="214848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Service contracts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Producer settings are durability choices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Rectangle 4"/>
          <p:cNvSpPr/>
          <p:nvPr/>
        </p:nvSpPr>
        <p:spPr>
          <a:xfrm>
            <a:off x="685800" y="1143000"/>
            <a:ext cx="182844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Setting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Rectangle 5"/>
          <p:cNvSpPr/>
          <p:nvPr/>
        </p:nvSpPr>
        <p:spPr>
          <a:xfrm>
            <a:off x="2514600" y="1143000"/>
            <a:ext cx="283428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 it exists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Rectangle 6"/>
          <p:cNvSpPr/>
          <p:nvPr/>
        </p:nvSpPr>
        <p:spPr>
          <a:xfrm>
            <a:off x="5349240" y="1143000"/>
            <a:ext cx="274284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Beginner note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Rectangle 7"/>
          <p:cNvSpPr/>
          <p:nvPr/>
        </p:nvSpPr>
        <p:spPr>
          <a:xfrm>
            <a:off x="685800" y="1563480"/>
            <a:ext cx="18284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acks=all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ectangle 8"/>
          <p:cNvSpPr/>
          <p:nvPr/>
        </p:nvSpPr>
        <p:spPr>
          <a:xfrm>
            <a:off x="2514600" y="1563480"/>
            <a:ext cx="283428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Wait for replicated acknowledgement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Rectangle 9"/>
          <p:cNvSpPr/>
          <p:nvPr/>
        </p:nvSpPr>
        <p:spPr>
          <a:xfrm>
            <a:off x="5349240" y="1563480"/>
            <a:ext cx="27428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Safer than leader-only acknowledgement.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Rectangle 10"/>
          <p:cNvSpPr/>
          <p:nvPr/>
        </p:nvSpPr>
        <p:spPr>
          <a:xfrm>
            <a:off x="685800" y="1984320"/>
            <a:ext cx="18284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enable.idempotence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Rectangle 11"/>
          <p:cNvSpPr/>
          <p:nvPr/>
        </p:nvSpPr>
        <p:spPr>
          <a:xfrm>
            <a:off x="2514600" y="1984320"/>
            <a:ext cx="283428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Avoid duplicates from retries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Rectangle 12"/>
          <p:cNvSpPr/>
          <p:nvPr/>
        </p:nvSpPr>
        <p:spPr>
          <a:xfrm>
            <a:off x="5349240" y="1984320"/>
            <a:ext cx="27428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Use with stable keys and retries.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Rectangle 13"/>
          <p:cNvSpPr/>
          <p:nvPr/>
        </p:nvSpPr>
        <p:spPr>
          <a:xfrm>
            <a:off x="685800" y="2404800"/>
            <a:ext cx="18284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delivery callback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Rectangle 14"/>
          <p:cNvSpPr/>
          <p:nvPr/>
        </p:nvSpPr>
        <p:spPr>
          <a:xfrm>
            <a:off x="2514600" y="2404800"/>
            <a:ext cx="283428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Know if produce failed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Rectangle 15"/>
          <p:cNvSpPr/>
          <p:nvPr/>
        </p:nvSpPr>
        <p:spPr>
          <a:xfrm>
            <a:off x="5349240" y="2404800"/>
            <a:ext cx="27428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Never ignore failed sends.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Rectangle 16"/>
          <p:cNvSpPr/>
          <p:nvPr/>
        </p:nvSpPr>
        <p:spPr>
          <a:xfrm>
            <a:off x="685800" y="2825640"/>
            <a:ext cx="18284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linger/batch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Rectangle 17"/>
          <p:cNvSpPr/>
          <p:nvPr/>
        </p:nvSpPr>
        <p:spPr>
          <a:xfrm>
            <a:off x="2514600" y="2825640"/>
            <a:ext cx="283428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Trade latency for throughput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Rectangle 18"/>
          <p:cNvSpPr/>
          <p:nvPr/>
        </p:nvSpPr>
        <p:spPr>
          <a:xfrm>
            <a:off x="5349240" y="2825640"/>
            <a:ext cx="27428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Useful during backlog catch-up.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Consumers should commit after durable work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Rounded Rectangle 4"/>
          <p:cNvSpPr/>
          <p:nvPr/>
        </p:nvSpPr>
        <p:spPr>
          <a:xfrm>
            <a:off x="50292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Poll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Rounded Rectangle 5"/>
          <p:cNvSpPr/>
          <p:nvPr/>
        </p:nvSpPr>
        <p:spPr>
          <a:xfrm>
            <a:off x="217800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Validate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59" name="Connector 6"/>
          <p:cNvCxnSpPr/>
          <p:nvPr/>
        </p:nvCxnSpPr>
        <p:spPr>
          <a:xfrm>
            <a:off x="1940040" y="158184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560" name="Rounded Rectangle 7"/>
          <p:cNvSpPr/>
          <p:nvPr/>
        </p:nvSpPr>
        <p:spPr>
          <a:xfrm>
            <a:off x="385344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Write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output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1" name="Connector 8"/>
          <p:cNvCxnSpPr/>
          <p:nvPr/>
        </p:nvCxnSpPr>
        <p:spPr>
          <a:xfrm>
            <a:off x="3615480" y="158184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562" name="Rounded Rectangle 9"/>
          <p:cNvSpPr/>
          <p:nvPr/>
        </p:nvSpPr>
        <p:spPr>
          <a:xfrm>
            <a:off x="552852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Commit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offset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63" name="Connector 10"/>
          <p:cNvCxnSpPr/>
          <p:nvPr/>
        </p:nvCxnSpPr>
        <p:spPr>
          <a:xfrm>
            <a:off x="5290560" y="158184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564" name="Rounded Rectangle 11"/>
          <p:cNvSpPr/>
          <p:nvPr/>
        </p:nvSpPr>
        <p:spPr>
          <a:xfrm>
            <a:off x="720360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>
            <a:solidFill>
              <a:srgbClr val="914e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Next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poll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65" name="Connector 12"/>
          <p:cNvCxnSpPr/>
          <p:nvPr/>
        </p:nvCxnSpPr>
        <p:spPr>
          <a:xfrm>
            <a:off x="6965640" y="158184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566" name="Rectangle 13"/>
          <p:cNvSpPr/>
          <p:nvPr/>
        </p:nvSpPr>
        <p:spPr>
          <a:xfrm>
            <a:off x="731520" y="2560320"/>
            <a:ext cx="187416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Pattern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Rectangle 14"/>
          <p:cNvSpPr/>
          <p:nvPr/>
        </p:nvSpPr>
        <p:spPr>
          <a:xfrm>
            <a:off x="2606040" y="2560320"/>
            <a:ext cx="191988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Meaning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Rectangle 15"/>
          <p:cNvSpPr/>
          <p:nvPr/>
        </p:nvSpPr>
        <p:spPr>
          <a:xfrm>
            <a:off x="4526280" y="2560320"/>
            <a:ext cx="356580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Tradeoff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Rectangle 16"/>
          <p:cNvSpPr/>
          <p:nvPr/>
        </p:nvSpPr>
        <p:spPr>
          <a:xfrm>
            <a:off x="731520" y="2944440"/>
            <a:ext cx="187416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Commit before write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Rectangle 17"/>
          <p:cNvSpPr/>
          <p:nvPr/>
        </p:nvSpPr>
        <p:spPr>
          <a:xfrm>
            <a:off x="2606040" y="2944440"/>
            <a:ext cx="19198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Fast but unsafe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Rectangle 18"/>
          <p:cNvSpPr/>
          <p:nvPr/>
        </p:nvSpPr>
        <p:spPr>
          <a:xfrm>
            <a:off x="4526280" y="2944440"/>
            <a:ext cx="35658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Crash can lose an event.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Rectangle 19"/>
          <p:cNvSpPr/>
          <p:nvPr/>
        </p:nvSpPr>
        <p:spPr>
          <a:xfrm>
            <a:off x="731520" y="3328560"/>
            <a:ext cx="187416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Commit after write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Rectangle 20"/>
          <p:cNvSpPr/>
          <p:nvPr/>
        </p:nvSpPr>
        <p:spPr>
          <a:xfrm>
            <a:off x="2606040" y="3328560"/>
            <a:ext cx="19198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Safer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Rectangle 21"/>
          <p:cNvSpPr/>
          <p:nvPr/>
        </p:nvSpPr>
        <p:spPr>
          <a:xfrm>
            <a:off x="4526280" y="3328560"/>
            <a:ext cx="35658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Crash can replay; output must be idempotent.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Rectangle 22"/>
          <p:cNvSpPr/>
          <p:nvPr/>
        </p:nvSpPr>
        <p:spPr>
          <a:xfrm>
            <a:off x="731520" y="3712320"/>
            <a:ext cx="187416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Transaction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Rectangle 23"/>
          <p:cNvSpPr/>
          <p:nvPr/>
        </p:nvSpPr>
        <p:spPr>
          <a:xfrm>
            <a:off x="2606040" y="3712320"/>
            <a:ext cx="19198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Strongest Kafka path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Rectangle 24"/>
          <p:cNvSpPr/>
          <p:nvPr/>
        </p:nvSpPr>
        <p:spPr>
          <a:xfrm>
            <a:off x="4526280" y="3712320"/>
            <a:ext cx="356580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Use for atomic Kafka read/write flows.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9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Delivery semantics are failure tradeoffs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Rectangle 4"/>
          <p:cNvSpPr/>
          <p:nvPr/>
        </p:nvSpPr>
        <p:spPr>
          <a:xfrm>
            <a:off x="640080" y="1143000"/>
            <a:ext cx="1508400" cy="429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Semantic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Rectangle 5"/>
          <p:cNvSpPr/>
          <p:nvPr/>
        </p:nvSpPr>
        <p:spPr>
          <a:xfrm>
            <a:off x="2148840" y="1143000"/>
            <a:ext cx="2742840" cy="429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Meaning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Rectangle 6"/>
          <p:cNvSpPr/>
          <p:nvPr/>
        </p:nvSpPr>
        <p:spPr>
          <a:xfrm>
            <a:off x="4892040" y="1143000"/>
            <a:ext cx="3474360" cy="429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Typical control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Rectangle 7"/>
          <p:cNvSpPr/>
          <p:nvPr/>
        </p:nvSpPr>
        <p:spPr>
          <a:xfrm>
            <a:off x="640080" y="1572840"/>
            <a:ext cx="150840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At-most-once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Rectangle 8"/>
          <p:cNvSpPr/>
          <p:nvPr/>
        </p:nvSpPr>
        <p:spPr>
          <a:xfrm>
            <a:off x="2148840" y="1572840"/>
            <a:ext cx="27428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May lose records, avoids duplicates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Rectangle 9"/>
          <p:cNvSpPr/>
          <p:nvPr/>
        </p:nvSpPr>
        <p:spPr>
          <a:xfrm>
            <a:off x="4892040" y="1572840"/>
            <a:ext cx="347436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Commit before processing.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Rectangle 10"/>
          <p:cNvSpPr/>
          <p:nvPr/>
        </p:nvSpPr>
        <p:spPr>
          <a:xfrm>
            <a:off x="640080" y="2002680"/>
            <a:ext cx="150840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At-least-once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Rectangle 11"/>
          <p:cNvSpPr/>
          <p:nvPr/>
        </p:nvSpPr>
        <p:spPr>
          <a:xfrm>
            <a:off x="2148840" y="2002680"/>
            <a:ext cx="27428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 loss, may duplicate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Rectangle 12"/>
          <p:cNvSpPr/>
          <p:nvPr/>
        </p:nvSpPr>
        <p:spPr>
          <a:xfrm>
            <a:off x="4892040" y="2002680"/>
            <a:ext cx="347436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Commit after idempotent output.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Rectangle 13"/>
          <p:cNvSpPr/>
          <p:nvPr/>
        </p:nvSpPr>
        <p:spPr>
          <a:xfrm>
            <a:off x="640080" y="2432160"/>
            <a:ext cx="150840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Exactly-once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Rectangle 14"/>
          <p:cNvSpPr/>
          <p:nvPr/>
        </p:nvSpPr>
        <p:spPr>
          <a:xfrm>
            <a:off x="2148840" y="2432160"/>
            <a:ext cx="27428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Atomic Kafka read/write path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Rectangle 15"/>
          <p:cNvSpPr/>
          <p:nvPr/>
        </p:nvSpPr>
        <p:spPr>
          <a:xfrm>
            <a:off x="4892040" y="2432160"/>
            <a:ext cx="347436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Transactions and read_committed.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Rectangle 16"/>
          <p:cNvSpPr/>
          <p:nvPr/>
        </p:nvSpPr>
        <p:spPr>
          <a:xfrm>
            <a:off x="640080" y="2862000"/>
            <a:ext cx="150840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External sink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Rectangle 17"/>
          <p:cNvSpPr/>
          <p:nvPr/>
        </p:nvSpPr>
        <p:spPr>
          <a:xfrm>
            <a:off x="2148840" y="2862000"/>
            <a:ext cx="274284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EOS may not cover DB/API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Rectangle 18"/>
          <p:cNvSpPr/>
          <p:nvPr/>
        </p:nvSpPr>
        <p:spPr>
          <a:xfrm>
            <a:off x="4892040" y="2862000"/>
            <a:ext cx="3474360" cy="429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Idempotent writes still required.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7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Backpressure appears as lag before it appears as failure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Rounded Rectangle 4"/>
          <p:cNvSpPr/>
          <p:nvPr/>
        </p:nvSpPr>
        <p:spPr>
          <a:xfrm>
            <a:off x="502920" y="150876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Producer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fast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Rounded Rectangle 5"/>
          <p:cNvSpPr/>
          <p:nvPr/>
        </p:nvSpPr>
        <p:spPr>
          <a:xfrm>
            <a:off x="2597040" y="150876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buffer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01" name="Connector 6"/>
          <p:cNvCxnSpPr/>
          <p:nvPr/>
        </p:nvCxnSpPr>
        <p:spPr>
          <a:xfrm>
            <a:off x="2359080" y="176472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602" name="Rounded Rectangle 7"/>
          <p:cNvSpPr/>
          <p:nvPr/>
        </p:nvSpPr>
        <p:spPr>
          <a:xfrm>
            <a:off x="4690800" y="150876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Consumer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slow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03" name="Connector 8"/>
          <p:cNvCxnSpPr/>
          <p:nvPr/>
        </p:nvCxnSpPr>
        <p:spPr>
          <a:xfrm>
            <a:off x="4452840" y="176472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604" name="Rounded Rectangle 9"/>
          <p:cNvSpPr/>
          <p:nvPr/>
        </p:nvSpPr>
        <p:spPr>
          <a:xfrm>
            <a:off x="6784920" y="150876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Sink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slower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05" name="Connector 10"/>
          <p:cNvCxnSpPr/>
          <p:nvPr/>
        </p:nvCxnSpPr>
        <p:spPr>
          <a:xfrm>
            <a:off x="6546960" y="176472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606" name="TextBox 11"/>
          <p:cNvSpPr/>
          <p:nvPr/>
        </p:nvSpPr>
        <p:spPr>
          <a:xfrm>
            <a:off x="822960" y="2788920"/>
            <a:ext cx="7497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absorbs temporary bursts, but it does not remove downstream capacity limits.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 rising while error count is zero means the system is alive but falling behind.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Retention turns long backpressure into a data-loss risk.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8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Two sources can disagree even when both are valid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Rounded Rectangle 4"/>
          <p:cNvSpPr/>
          <p:nvPr/>
        </p:nvSpPr>
        <p:spPr>
          <a:xfrm>
            <a:off x="914400" y="1417320"/>
            <a:ext cx="221868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Orders CDC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Rounded Rectangle 5"/>
          <p:cNvSpPr/>
          <p:nvPr/>
        </p:nvSpPr>
        <p:spPr>
          <a:xfrm>
            <a:off x="3371040" y="1417320"/>
            <a:ext cx="221868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Logistics CSV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12" name="Connector 6"/>
          <p:cNvCxnSpPr/>
          <p:nvPr/>
        </p:nvCxnSpPr>
        <p:spPr>
          <a:xfrm>
            <a:off x="3133080" y="167328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613" name="Rounded Rectangle 7"/>
          <p:cNvSpPr/>
          <p:nvPr/>
        </p:nvSpPr>
        <p:spPr>
          <a:xfrm>
            <a:off x="5827680" y="1417320"/>
            <a:ext cx="221868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Silver merge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order_id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4" name="Connector 8"/>
          <p:cNvCxnSpPr/>
          <p:nvPr/>
        </p:nvCxnSpPr>
        <p:spPr>
          <a:xfrm>
            <a:off x="5589720" y="167328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615" name="Rectangle 9"/>
          <p:cNvSpPr/>
          <p:nvPr/>
        </p:nvSpPr>
        <p:spPr>
          <a:xfrm>
            <a:off x="914400" y="2606040"/>
            <a:ext cx="191988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Clash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Rectangle 10"/>
          <p:cNvSpPr/>
          <p:nvPr/>
        </p:nvSpPr>
        <p:spPr>
          <a:xfrm>
            <a:off x="2834640" y="2606040"/>
            <a:ext cx="525744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Rule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Rectangle 11"/>
          <p:cNvSpPr/>
          <p:nvPr/>
        </p:nvSpPr>
        <p:spPr>
          <a:xfrm>
            <a:off x="914400" y="2990160"/>
            <a:ext cx="19198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Different status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Rectangle 12"/>
          <p:cNvSpPr/>
          <p:nvPr/>
        </p:nvSpPr>
        <p:spPr>
          <a:xfrm>
            <a:off x="2834640" y="2990160"/>
            <a:ext cx="52574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Orders owns payment state; logistics owns shipment state.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Rectangle 13"/>
          <p:cNvSpPr/>
          <p:nvPr/>
        </p:nvSpPr>
        <p:spPr>
          <a:xfrm>
            <a:off x="914400" y="3374280"/>
            <a:ext cx="19198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CSV before order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Rectangle 14"/>
          <p:cNvSpPr/>
          <p:nvPr/>
        </p:nvSpPr>
        <p:spPr>
          <a:xfrm>
            <a:off x="2834640" y="3374280"/>
            <a:ext cx="52574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Put in pending reference; replay after order arrives.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Rectangle 15"/>
          <p:cNvSpPr/>
          <p:nvPr/>
        </p:nvSpPr>
        <p:spPr>
          <a:xfrm>
            <a:off x="914400" y="3758040"/>
            <a:ext cx="19198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Duplicate CDC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Rectangle 16"/>
          <p:cNvSpPr/>
          <p:nvPr/>
        </p:nvSpPr>
        <p:spPr>
          <a:xfrm>
            <a:off x="2834640" y="3758040"/>
            <a:ext cx="52574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Dedupe by event_id or source_lsn plus key.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Rectangle 17"/>
          <p:cNvSpPr/>
          <p:nvPr/>
        </p:nvSpPr>
        <p:spPr>
          <a:xfrm>
            <a:off x="914400" y="4142160"/>
            <a:ext cx="19198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Time disagreement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Rectangle 18"/>
          <p:cNvSpPr/>
          <p:nvPr/>
        </p:nvSpPr>
        <p:spPr>
          <a:xfrm>
            <a:off x="2834640" y="4142160"/>
            <a:ext cx="52574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Keep event time and ingestion time separately.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6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Pending references prevent false data loss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Rounded Rectangle 4"/>
          <p:cNvSpPr/>
          <p:nvPr/>
        </p:nvSpPr>
        <p:spPr>
          <a:xfrm>
            <a:off x="502920" y="150876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Logistics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row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Rounded Rectangle 5"/>
          <p:cNvSpPr/>
          <p:nvPr/>
        </p:nvSpPr>
        <p:spPr>
          <a:xfrm>
            <a:off x="2597040" y="150876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Validate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order_id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30" name="Connector 6"/>
          <p:cNvCxnSpPr/>
          <p:nvPr/>
        </p:nvCxnSpPr>
        <p:spPr>
          <a:xfrm>
            <a:off x="2359080" y="176472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631" name="Rounded Rectangle 7"/>
          <p:cNvSpPr/>
          <p:nvPr/>
        </p:nvSpPr>
        <p:spPr>
          <a:xfrm>
            <a:off x="4690800" y="150876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Pending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reference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2" name="Connector 8"/>
          <p:cNvCxnSpPr/>
          <p:nvPr/>
        </p:nvCxnSpPr>
        <p:spPr>
          <a:xfrm>
            <a:off x="4452840" y="176472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633" name="Rounded Rectangle 9"/>
          <p:cNvSpPr/>
          <p:nvPr/>
        </p:nvSpPr>
        <p:spPr>
          <a:xfrm>
            <a:off x="6784920" y="150876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Replay after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order arrives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34" name="Connector 10"/>
          <p:cNvCxnSpPr/>
          <p:nvPr/>
        </p:nvCxnSpPr>
        <p:spPr>
          <a:xfrm>
            <a:off x="6546960" y="176472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635" name="TextBox 11"/>
          <p:cNvSpPr/>
          <p:nvPr/>
        </p:nvSpPr>
        <p:spPr>
          <a:xfrm>
            <a:off x="868680" y="297180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 missing dimension or parent row can be a timing issue, not a bad event.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Hold the child row with reason and age, then replay it when the parent appears.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7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Idempotency means replay does not change the answer incorrectly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Rectangle 4"/>
          <p:cNvSpPr/>
          <p:nvPr/>
        </p:nvSpPr>
        <p:spPr>
          <a:xfrm>
            <a:off x="685800" y="1143000"/>
            <a:ext cx="182844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Technique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Rectangle 5"/>
          <p:cNvSpPr/>
          <p:nvPr/>
        </p:nvSpPr>
        <p:spPr>
          <a:xfrm>
            <a:off x="2514600" y="1143000"/>
            <a:ext cx="274284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Use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Rectangle 6"/>
          <p:cNvSpPr/>
          <p:nvPr/>
        </p:nvSpPr>
        <p:spPr>
          <a:xfrm>
            <a:off x="5257800" y="1143000"/>
            <a:ext cx="292572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Example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Rectangle 7"/>
          <p:cNvSpPr/>
          <p:nvPr/>
        </p:nvSpPr>
        <p:spPr>
          <a:xfrm>
            <a:off x="685800" y="1563480"/>
            <a:ext cx="18284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event_id dedupe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Rectangle 8"/>
          <p:cNvSpPr/>
          <p:nvPr/>
        </p:nvSpPr>
        <p:spPr>
          <a:xfrm>
            <a:off x="2514600" y="1563480"/>
            <a:ext cx="27428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 exact duplicate events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Rectangle 9"/>
          <p:cNvSpPr/>
          <p:nvPr/>
        </p:nvSpPr>
        <p:spPr>
          <a:xfrm>
            <a:off x="5257800" y="1563480"/>
            <a:ext cx="29257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Same CDC event retried by producer.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Rectangle 10"/>
          <p:cNvSpPr/>
          <p:nvPr/>
        </p:nvSpPr>
        <p:spPr>
          <a:xfrm>
            <a:off x="685800" y="1984320"/>
            <a:ext cx="18284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merge by key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Rectangle 11"/>
          <p:cNvSpPr/>
          <p:nvPr/>
        </p:nvSpPr>
        <p:spPr>
          <a:xfrm>
            <a:off x="2514600" y="1984320"/>
            <a:ext cx="27428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Keep latest valid state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Rectangle 12"/>
          <p:cNvSpPr/>
          <p:nvPr/>
        </p:nvSpPr>
        <p:spPr>
          <a:xfrm>
            <a:off x="5257800" y="1984320"/>
            <a:ext cx="29257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Upsert current order by order_id.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Rectangle 13"/>
          <p:cNvSpPr/>
          <p:nvPr/>
        </p:nvSpPr>
        <p:spPr>
          <a:xfrm>
            <a:off x="685800" y="2404800"/>
            <a:ext cx="18284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deterministic output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Rectangle 14"/>
          <p:cNvSpPr/>
          <p:nvPr/>
        </p:nvSpPr>
        <p:spPr>
          <a:xfrm>
            <a:off x="2514600" y="2404800"/>
            <a:ext cx="27428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Recompute same result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Rectangle 15"/>
          <p:cNvSpPr/>
          <p:nvPr/>
        </p:nvSpPr>
        <p:spPr>
          <a:xfrm>
            <a:off x="5257800" y="2404800"/>
            <a:ext cx="29257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Gold revenue from accepted Silver facts.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Rectangle 16"/>
          <p:cNvSpPr/>
          <p:nvPr/>
        </p:nvSpPr>
        <p:spPr>
          <a:xfrm>
            <a:off x="685800" y="2825640"/>
            <a:ext cx="18284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 audit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Rectangle 17"/>
          <p:cNvSpPr/>
          <p:nvPr/>
        </p:nvSpPr>
        <p:spPr>
          <a:xfrm>
            <a:off x="2514600" y="2825640"/>
            <a:ext cx="27428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Prove recovery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Rectangle 18"/>
          <p:cNvSpPr/>
          <p:nvPr/>
        </p:nvSpPr>
        <p:spPr>
          <a:xfrm>
            <a:off x="5257800" y="2825640"/>
            <a:ext cx="29257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Before/after counts and totals match.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5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Data quality rules are contracts, not cleanup wishes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Rectangle 4"/>
          <p:cNvSpPr/>
          <p:nvPr/>
        </p:nvSpPr>
        <p:spPr>
          <a:xfrm>
            <a:off x="685800" y="1143000"/>
            <a:ext cx="182844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Rule type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Rectangle 5"/>
          <p:cNvSpPr/>
          <p:nvPr/>
        </p:nvSpPr>
        <p:spPr>
          <a:xfrm>
            <a:off x="2514600" y="1143000"/>
            <a:ext cx="274284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Example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Rectangle 6"/>
          <p:cNvSpPr/>
          <p:nvPr/>
        </p:nvSpPr>
        <p:spPr>
          <a:xfrm>
            <a:off x="5257800" y="1143000"/>
            <a:ext cx="292572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Failure path</a:t>
            </a:r>
            <a:endParaRPr lang="en-IN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Rectangle 7"/>
          <p:cNvSpPr/>
          <p:nvPr/>
        </p:nvSpPr>
        <p:spPr>
          <a:xfrm>
            <a:off x="685800" y="1563480"/>
            <a:ext cx="18284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Shape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Rectangle 8"/>
          <p:cNvSpPr/>
          <p:nvPr/>
        </p:nvSpPr>
        <p:spPr>
          <a:xfrm>
            <a:off x="2514600" y="1563480"/>
            <a:ext cx="27428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Required field exists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Rectangle 9"/>
          <p:cNvSpPr/>
          <p:nvPr/>
        </p:nvSpPr>
        <p:spPr>
          <a:xfrm>
            <a:off x="5257800" y="1563480"/>
            <a:ext cx="29257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parse/schema failure.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Rectangle 10"/>
          <p:cNvSpPr/>
          <p:nvPr/>
        </p:nvSpPr>
        <p:spPr>
          <a:xfrm>
            <a:off x="685800" y="1984320"/>
            <a:ext cx="18284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Referential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Rectangle 11"/>
          <p:cNvSpPr/>
          <p:nvPr/>
        </p:nvSpPr>
        <p:spPr>
          <a:xfrm>
            <a:off x="2514600" y="1984320"/>
            <a:ext cx="27428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shipment.order_id exists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Rectangle 12"/>
          <p:cNvSpPr/>
          <p:nvPr/>
        </p:nvSpPr>
        <p:spPr>
          <a:xfrm>
            <a:off x="5257800" y="1984320"/>
            <a:ext cx="29257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Pending reference or quarantine.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Rectangle 13"/>
          <p:cNvSpPr/>
          <p:nvPr/>
        </p:nvSpPr>
        <p:spPr>
          <a:xfrm>
            <a:off x="685800" y="2404800"/>
            <a:ext cx="18284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Business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Rectangle 14"/>
          <p:cNvSpPr/>
          <p:nvPr/>
        </p:nvSpPr>
        <p:spPr>
          <a:xfrm>
            <a:off x="2514600" y="2404800"/>
            <a:ext cx="27428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amount &gt;= 0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Rectangle 15"/>
          <p:cNvSpPr/>
          <p:nvPr/>
        </p:nvSpPr>
        <p:spPr>
          <a:xfrm>
            <a:off x="5257800" y="2404800"/>
            <a:ext cx="29257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Quarantine with owner.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Rectangle 16"/>
          <p:cNvSpPr/>
          <p:nvPr/>
        </p:nvSpPr>
        <p:spPr>
          <a:xfrm>
            <a:off x="685800" y="2825640"/>
            <a:ext cx="18284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Freshness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Rectangle 17"/>
          <p:cNvSpPr/>
          <p:nvPr/>
        </p:nvSpPr>
        <p:spPr>
          <a:xfrm>
            <a:off x="2514600" y="2825640"/>
            <a:ext cx="274284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source_lsn reaches expected point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Rectangle 18"/>
          <p:cNvSpPr/>
          <p:nvPr/>
        </p:nvSpPr>
        <p:spPr>
          <a:xfrm>
            <a:off x="5257800" y="2825640"/>
            <a:ext cx="29257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Hold Gold publish.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3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Observability connects Kafka health to medallion outputs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Rounded Rectangle 4"/>
          <p:cNvSpPr/>
          <p:nvPr/>
        </p:nvSpPr>
        <p:spPr>
          <a:xfrm>
            <a:off x="50292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lag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Rounded Rectangle 5"/>
          <p:cNvSpPr/>
          <p:nvPr/>
        </p:nvSpPr>
        <p:spPr>
          <a:xfrm>
            <a:off x="217800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Connector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status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77" name="Connector 6"/>
          <p:cNvCxnSpPr/>
          <p:nvPr/>
        </p:nvCxnSpPr>
        <p:spPr>
          <a:xfrm>
            <a:off x="1940040" y="167328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678" name="Rounded Rectangle 7"/>
          <p:cNvSpPr/>
          <p:nvPr/>
        </p:nvSpPr>
        <p:spPr>
          <a:xfrm>
            <a:off x="385344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DLQ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counts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9" name="Connector 8"/>
          <p:cNvCxnSpPr/>
          <p:nvPr/>
        </p:nvCxnSpPr>
        <p:spPr>
          <a:xfrm>
            <a:off x="361548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680" name="Rounded Rectangle 9"/>
          <p:cNvSpPr/>
          <p:nvPr/>
        </p:nvSpPr>
        <p:spPr>
          <a:xfrm>
            <a:off x="552852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Silver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DQ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81" name="Connector 10"/>
          <p:cNvCxnSpPr/>
          <p:nvPr/>
        </p:nvCxnSpPr>
        <p:spPr>
          <a:xfrm>
            <a:off x="529056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682" name="Rounded Rectangle 11"/>
          <p:cNvSpPr/>
          <p:nvPr/>
        </p:nvSpPr>
        <p:spPr>
          <a:xfrm>
            <a:off x="720360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>
            <a:solidFill>
              <a:srgbClr val="914e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Gold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freshness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83" name="Connector 12"/>
          <p:cNvCxnSpPr/>
          <p:nvPr/>
        </p:nvCxnSpPr>
        <p:spPr>
          <a:xfrm>
            <a:off x="6965640" y="167328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684" name="Rectangle 13"/>
          <p:cNvSpPr/>
          <p:nvPr/>
        </p:nvSpPr>
        <p:spPr>
          <a:xfrm>
            <a:off x="914400" y="2743200"/>
            <a:ext cx="2011320" cy="34704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Signal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Rectangle 14"/>
          <p:cNvSpPr/>
          <p:nvPr/>
        </p:nvSpPr>
        <p:spPr>
          <a:xfrm>
            <a:off x="2926080" y="2743200"/>
            <a:ext cx="5120280" cy="34704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Question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Rectangle 15"/>
          <p:cNvSpPr/>
          <p:nvPr/>
        </p:nvSpPr>
        <p:spPr>
          <a:xfrm>
            <a:off x="914400" y="3090600"/>
            <a:ext cx="201132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records-lag-max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Rectangle 16"/>
          <p:cNvSpPr/>
          <p:nvPr/>
        </p:nvSpPr>
        <p:spPr>
          <a:xfrm>
            <a:off x="2926080" y="3090600"/>
            <a:ext cx="512028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Are consumers catching up before retention risk?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Rectangle 17"/>
          <p:cNvSpPr/>
          <p:nvPr/>
        </p:nvSpPr>
        <p:spPr>
          <a:xfrm>
            <a:off x="914400" y="3438000"/>
            <a:ext cx="201132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count by reason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Rectangle 18"/>
          <p:cNvSpPr/>
          <p:nvPr/>
        </p:nvSpPr>
        <p:spPr>
          <a:xfrm>
            <a:off x="2926080" y="3438000"/>
            <a:ext cx="512028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Which source contract is failing?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Rectangle 19"/>
          <p:cNvSpPr/>
          <p:nvPr/>
        </p:nvSpPr>
        <p:spPr>
          <a:xfrm>
            <a:off x="914400" y="3785760"/>
            <a:ext cx="201132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Gold freshness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Rectangle 20"/>
          <p:cNvSpPr/>
          <p:nvPr/>
        </p:nvSpPr>
        <p:spPr>
          <a:xfrm>
            <a:off x="2926080" y="3785760"/>
            <a:ext cx="512028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Can the report publish?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3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Tool choice starts with semantics, not popularity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Rectangle 4"/>
          <p:cNvSpPr/>
          <p:nvPr/>
        </p:nvSpPr>
        <p:spPr>
          <a:xfrm>
            <a:off x="594360" y="1143000"/>
            <a:ext cx="155412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Need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Rectangle 5"/>
          <p:cNvSpPr/>
          <p:nvPr/>
        </p:nvSpPr>
        <p:spPr>
          <a:xfrm>
            <a:off x="2148840" y="1143000"/>
            <a:ext cx="265140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Good fit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Rectangle 6"/>
          <p:cNvSpPr/>
          <p:nvPr/>
        </p:nvSpPr>
        <p:spPr>
          <a:xfrm>
            <a:off x="4800600" y="1143000"/>
            <a:ext cx="3337200" cy="420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Reason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Rectangle 7"/>
          <p:cNvSpPr/>
          <p:nvPr/>
        </p:nvSpPr>
        <p:spPr>
          <a:xfrm>
            <a:off x="594360" y="1563480"/>
            <a:ext cx="15541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SaaS/API sync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Rectangle 8"/>
          <p:cNvSpPr/>
          <p:nvPr/>
        </p:nvSpPr>
        <p:spPr>
          <a:xfrm>
            <a:off x="2148840" y="1563480"/>
            <a:ext cx="265140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Managed ELT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Rectangle 9"/>
          <p:cNvSpPr/>
          <p:nvPr/>
        </p:nvSpPr>
        <p:spPr>
          <a:xfrm>
            <a:off x="4800600" y="1563480"/>
            <a:ext cx="333720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Connector maintenance is the main work.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Rectangle 10"/>
          <p:cNvSpPr/>
          <p:nvPr/>
        </p:nvSpPr>
        <p:spPr>
          <a:xfrm>
            <a:off x="594360" y="1984320"/>
            <a:ext cx="15541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Replayable events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Rectangle 11"/>
          <p:cNvSpPr/>
          <p:nvPr/>
        </p:nvSpPr>
        <p:spPr>
          <a:xfrm>
            <a:off x="2148840" y="1984320"/>
            <a:ext cx="265140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Kafka/Redpanda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Rectangle 12"/>
          <p:cNvSpPr/>
          <p:nvPr/>
        </p:nvSpPr>
        <p:spPr>
          <a:xfrm>
            <a:off x="4800600" y="1984320"/>
            <a:ext cx="333720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Offsets, partitions, retention and many consumers.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Rectangle 13"/>
          <p:cNvSpPr/>
          <p:nvPr/>
        </p:nvSpPr>
        <p:spPr>
          <a:xfrm>
            <a:off x="594360" y="2404800"/>
            <a:ext cx="15541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App workflow queue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Rectangle 14"/>
          <p:cNvSpPr/>
          <p:nvPr/>
        </p:nvSpPr>
        <p:spPr>
          <a:xfrm>
            <a:off x="2148840" y="2404800"/>
            <a:ext cx="265140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Redis Streams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Rectangle 15"/>
          <p:cNvSpPr/>
          <p:nvPr/>
        </p:nvSpPr>
        <p:spPr>
          <a:xfrm>
            <a:off x="4800600" y="2404800"/>
            <a:ext cx="333720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Fast lightweight coordination.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Rectangle 16"/>
          <p:cNvSpPr/>
          <p:nvPr/>
        </p:nvSpPr>
        <p:spPr>
          <a:xfrm>
            <a:off x="594360" y="2825640"/>
            <a:ext cx="155412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Multi-tenant messaging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Rectangle 17"/>
          <p:cNvSpPr/>
          <p:nvPr/>
        </p:nvSpPr>
        <p:spPr>
          <a:xfrm>
            <a:off x="2148840" y="2825640"/>
            <a:ext cx="265140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Pulsar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Rectangle 18"/>
          <p:cNvSpPr/>
          <p:nvPr/>
        </p:nvSpPr>
        <p:spPr>
          <a:xfrm>
            <a:off x="4800600" y="2825640"/>
            <a:ext cx="3337200" cy="420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Different broker/storage model and tenancy features.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1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Fivetran-like tools reduce connector work, not design work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Rectangle 4"/>
          <p:cNvSpPr/>
          <p:nvPr/>
        </p:nvSpPr>
        <p:spPr>
          <a:xfrm>
            <a:off x="548640" y="1097280"/>
            <a:ext cx="1462680" cy="411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Family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Rectangle 5"/>
          <p:cNvSpPr/>
          <p:nvPr/>
        </p:nvSpPr>
        <p:spPr>
          <a:xfrm>
            <a:off x="2011680" y="1097280"/>
            <a:ext cx="2057040" cy="411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Examples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Rectangle 6"/>
          <p:cNvSpPr/>
          <p:nvPr/>
        </p:nvSpPr>
        <p:spPr>
          <a:xfrm>
            <a:off x="4069080" y="1097280"/>
            <a:ext cx="2148480" cy="411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Best fit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Rectangle 7"/>
          <p:cNvSpPr/>
          <p:nvPr/>
        </p:nvSpPr>
        <p:spPr>
          <a:xfrm>
            <a:off x="6217920" y="1097280"/>
            <a:ext cx="1919880" cy="411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Still your job</a:t>
            </a:r>
            <a:endParaRPr lang="en-IN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Rectangle 8"/>
          <p:cNvSpPr/>
          <p:nvPr/>
        </p:nvSpPr>
        <p:spPr>
          <a:xfrm>
            <a:off x="548640" y="1508760"/>
            <a:ext cx="14626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Managed ELT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Rectangle 9"/>
          <p:cNvSpPr/>
          <p:nvPr/>
        </p:nvSpPr>
        <p:spPr>
          <a:xfrm>
            <a:off x="2011680" y="1508760"/>
            <a:ext cx="205704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Fivetran, Matillion, Informatica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Rectangle 10"/>
          <p:cNvSpPr/>
          <p:nvPr/>
        </p:nvSpPr>
        <p:spPr>
          <a:xfrm>
            <a:off x="4069080" y="1508760"/>
            <a:ext cx="21484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SaaS/API/database sync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Rectangle 11"/>
          <p:cNvSpPr/>
          <p:nvPr/>
        </p:nvSpPr>
        <p:spPr>
          <a:xfrm>
            <a:off x="6217920" y="1508760"/>
            <a:ext cx="19198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Freshness, quality, cost.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Rectangle 12"/>
          <p:cNvSpPr/>
          <p:nvPr/>
        </p:nvSpPr>
        <p:spPr>
          <a:xfrm>
            <a:off x="548640" y="1920240"/>
            <a:ext cx="14626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Open-source ELT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Rectangle 13"/>
          <p:cNvSpPr/>
          <p:nvPr/>
        </p:nvSpPr>
        <p:spPr>
          <a:xfrm>
            <a:off x="2011680" y="1920240"/>
            <a:ext cx="205704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Airbyte, Meltano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Rectangle 14"/>
          <p:cNvSpPr/>
          <p:nvPr/>
        </p:nvSpPr>
        <p:spPr>
          <a:xfrm>
            <a:off x="4069080" y="1920240"/>
            <a:ext cx="21484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Self-hosted connectors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Rectangle 15"/>
          <p:cNvSpPr/>
          <p:nvPr/>
        </p:nvSpPr>
        <p:spPr>
          <a:xfrm>
            <a:off x="6217920" y="1920240"/>
            <a:ext cx="19198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Upgrades and operations.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Rectangle 16"/>
          <p:cNvSpPr/>
          <p:nvPr/>
        </p:nvSpPr>
        <p:spPr>
          <a:xfrm>
            <a:off x="548640" y="2331720"/>
            <a:ext cx="14626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CDC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Rectangle 17"/>
          <p:cNvSpPr/>
          <p:nvPr/>
        </p:nvSpPr>
        <p:spPr>
          <a:xfrm>
            <a:off x="2011680" y="2331720"/>
            <a:ext cx="205704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Debezium, Estuary Flow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Rectangle 18"/>
          <p:cNvSpPr/>
          <p:nvPr/>
        </p:nvSpPr>
        <p:spPr>
          <a:xfrm>
            <a:off x="4069080" y="2331720"/>
            <a:ext cx="21484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Database changes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Rectangle 19"/>
          <p:cNvSpPr/>
          <p:nvPr/>
        </p:nvSpPr>
        <p:spPr>
          <a:xfrm>
            <a:off x="6217920" y="2331720"/>
            <a:ext cx="19198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Deletes and schema evolution.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Rectangle 20"/>
          <p:cNvSpPr/>
          <p:nvPr/>
        </p:nvSpPr>
        <p:spPr>
          <a:xfrm>
            <a:off x="548640" y="2743200"/>
            <a:ext cx="14626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Streaming log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Rectangle 21"/>
          <p:cNvSpPr/>
          <p:nvPr/>
        </p:nvSpPr>
        <p:spPr>
          <a:xfrm>
            <a:off x="2011680" y="2743200"/>
            <a:ext cx="205704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Kafka, Redpanda, Pulsar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Rectangle 22"/>
          <p:cNvSpPr/>
          <p:nvPr/>
        </p:nvSpPr>
        <p:spPr>
          <a:xfrm>
            <a:off x="4069080" y="2743200"/>
            <a:ext cx="21484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Event history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Rectangle 23"/>
          <p:cNvSpPr/>
          <p:nvPr/>
        </p:nvSpPr>
        <p:spPr>
          <a:xfrm>
            <a:off x="6217920" y="2743200"/>
            <a:ext cx="19198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Lag, retention, DLQ.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4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alternatives are evaluated by workload fit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Rectangle 4"/>
          <p:cNvSpPr/>
          <p:nvPr/>
        </p:nvSpPr>
        <p:spPr>
          <a:xfrm>
            <a:off x="685800" y="1143000"/>
            <a:ext cx="1554120" cy="47520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Tool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Rectangle 5"/>
          <p:cNvSpPr/>
          <p:nvPr/>
        </p:nvSpPr>
        <p:spPr>
          <a:xfrm>
            <a:off x="2240280" y="1143000"/>
            <a:ext cx="2834280" cy="47520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Strong fit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Rectangle 6"/>
          <p:cNvSpPr/>
          <p:nvPr/>
        </p:nvSpPr>
        <p:spPr>
          <a:xfrm>
            <a:off x="5074920" y="1143000"/>
            <a:ext cx="3062880" cy="47520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Course caution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Rectangle 7"/>
          <p:cNvSpPr/>
          <p:nvPr/>
        </p:nvSpPr>
        <p:spPr>
          <a:xfrm>
            <a:off x="685800" y="1618560"/>
            <a:ext cx="155412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Redpanda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Rectangle 8"/>
          <p:cNvSpPr/>
          <p:nvPr/>
        </p:nvSpPr>
        <p:spPr>
          <a:xfrm>
            <a:off x="2240280" y="1618560"/>
            <a:ext cx="283428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API compatibility with different operations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Rectangle 9"/>
          <p:cNvSpPr/>
          <p:nvPr/>
        </p:nvSpPr>
        <p:spPr>
          <a:xfrm>
            <a:off x="5074920" y="1618560"/>
            <a:ext cx="306288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Pilot exact clients, Connect and monitoring path.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Rectangle 10"/>
          <p:cNvSpPr/>
          <p:nvPr/>
        </p:nvSpPr>
        <p:spPr>
          <a:xfrm>
            <a:off x="685800" y="2094120"/>
            <a:ext cx="155412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Redis Streams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Rectangle 11"/>
          <p:cNvSpPr/>
          <p:nvPr/>
        </p:nvSpPr>
        <p:spPr>
          <a:xfrm>
            <a:off x="2240280" y="2094120"/>
            <a:ext cx="283428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Fast app queues and lightweight streams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Rectangle 12"/>
          <p:cNvSpPr/>
          <p:nvPr/>
        </p:nvSpPr>
        <p:spPr>
          <a:xfrm>
            <a:off x="5074920" y="2094120"/>
            <a:ext cx="306288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Not the same replay/connector lakehouse ecosystem.</a:t>
            </a:r>
            <a:endParaRPr lang="en-IN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Rectangle 13"/>
          <p:cNvSpPr/>
          <p:nvPr/>
        </p:nvSpPr>
        <p:spPr>
          <a:xfrm>
            <a:off x="685800" y="2569320"/>
            <a:ext cx="155412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Apache Pulsar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Rectangle 14"/>
          <p:cNvSpPr/>
          <p:nvPr/>
        </p:nvSpPr>
        <p:spPr>
          <a:xfrm>
            <a:off x="2240280" y="2569320"/>
            <a:ext cx="283428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Multi-tenancy and tiered storage patterns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Rectangle 15"/>
          <p:cNvSpPr/>
          <p:nvPr/>
        </p:nvSpPr>
        <p:spPr>
          <a:xfrm>
            <a:off x="5074920" y="2569320"/>
            <a:ext cx="306288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Different concepts and operational model.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9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Python clients need the same production habits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Rectangle 4"/>
          <p:cNvSpPr/>
          <p:nvPr/>
        </p:nvSpPr>
        <p:spPr>
          <a:xfrm>
            <a:off x="685800" y="1143000"/>
            <a:ext cx="3657240" cy="1874160"/>
          </a:xfrm>
          <a:prstGeom prst="rect">
            <a:avLst/>
          </a:prstGeom>
          <a:solidFill>
            <a:srgbClr val="ebf0f5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producer.produce(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topic,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key=str(order_id),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value=payload,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callback=delivery_report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producer.flush()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Box 5"/>
          <p:cNvSpPr/>
          <p:nvPr/>
        </p:nvSpPr>
        <p:spPr>
          <a:xfrm>
            <a:off x="4709160" y="1234440"/>
            <a:ext cx="3565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Set keys intentionally.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Handle delivery callbacks.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Do not commit before durable output.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Batch deliberately, not accidentally.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4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Lab source inventory now maps back to theory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Rectangle 4"/>
          <p:cNvSpPr/>
          <p:nvPr/>
        </p:nvSpPr>
        <p:spPr>
          <a:xfrm>
            <a:off x="594360" y="1143000"/>
            <a:ext cx="1462680" cy="411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Source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Rectangle 5"/>
          <p:cNvSpPr/>
          <p:nvPr/>
        </p:nvSpPr>
        <p:spPr>
          <a:xfrm>
            <a:off x="2057400" y="1143000"/>
            <a:ext cx="1416960" cy="411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Pattern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Rectangle 6"/>
          <p:cNvSpPr/>
          <p:nvPr/>
        </p:nvSpPr>
        <p:spPr>
          <a:xfrm>
            <a:off x="3474720" y="1143000"/>
            <a:ext cx="1279800" cy="411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Key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Rectangle 7"/>
          <p:cNvSpPr/>
          <p:nvPr/>
        </p:nvSpPr>
        <p:spPr>
          <a:xfrm>
            <a:off x="4754880" y="1143000"/>
            <a:ext cx="3657240" cy="41112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Theory concept exercised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Rectangle 8"/>
          <p:cNvSpPr/>
          <p:nvPr/>
        </p:nvSpPr>
        <p:spPr>
          <a:xfrm>
            <a:off x="594360" y="1554480"/>
            <a:ext cx="14626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Orders DB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Rectangle 9"/>
          <p:cNvSpPr/>
          <p:nvPr/>
        </p:nvSpPr>
        <p:spPr>
          <a:xfrm>
            <a:off x="2057400" y="1554480"/>
            <a:ext cx="141696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CDC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Rectangle 10"/>
          <p:cNvSpPr/>
          <p:nvPr/>
        </p:nvSpPr>
        <p:spPr>
          <a:xfrm>
            <a:off x="3474720" y="1554480"/>
            <a:ext cx="127980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order_id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Rectangle 11"/>
          <p:cNvSpPr/>
          <p:nvPr/>
        </p:nvSpPr>
        <p:spPr>
          <a:xfrm>
            <a:off x="4754880" y="1554480"/>
            <a:ext cx="365724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Envelope, ordering, idempotent merge.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Rectangle 12"/>
          <p:cNvSpPr/>
          <p:nvPr/>
        </p:nvSpPr>
        <p:spPr>
          <a:xfrm>
            <a:off x="594360" y="1965960"/>
            <a:ext cx="14626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Logistics CSV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Rectangle 13"/>
          <p:cNvSpPr/>
          <p:nvPr/>
        </p:nvSpPr>
        <p:spPr>
          <a:xfrm>
            <a:off x="2057400" y="1965960"/>
            <a:ext cx="141696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Batch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Rectangle 14"/>
          <p:cNvSpPr/>
          <p:nvPr/>
        </p:nvSpPr>
        <p:spPr>
          <a:xfrm>
            <a:off x="3474720" y="1965960"/>
            <a:ext cx="127980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order_id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Rectangle 15"/>
          <p:cNvSpPr/>
          <p:nvPr/>
        </p:nvSpPr>
        <p:spPr>
          <a:xfrm>
            <a:off x="4754880" y="1965960"/>
            <a:ext cx="365724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Pending references and quarantine.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Rectangle 16"/>
          <p:cNvSpPr/>
          <p:nvPr/>
        </p:nvSpPr>
        <p:spPr>
          <a:xfrm>
            <a:off x="594360" y="2377440"/>
            <a:ext cx="14626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Clickstream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Rectangle 17"/>
          <p:cNvSpPr/>
          <p:nvPr/>
        </p:nvSpPr>
        <p:spPr>
          <a:xfrm>
            <a:off x="2057400" y="2377440"/>
            <a:ext cx="141696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Events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Rectangle 18"/>
          <p:cNvSpPr/>
          <p:nvPr/>
        </p:nvSpPr>
        <p:spPr>
          <a:xfrm>
            <a:off x="3474720" y="2377440"/>
            <a:ext cx="127980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user_id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Rectangle 19"/>
          <p:cNvSpPr/>
          <p:nvPr/>
        </p:nvSpPr>
        <p:spPr>
          <a:xfrm>
            <a:off x="4754880" y="2377440"/>
            <a:ext cx="365724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Late records and event-time windows.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Rectangle 20"/>
          <p:cNvSpPr/>
          <p:nvPr/>
        </p:nvSpPr>
        <p:spPr>
          <a:xfrm>
            <a:off x="594360" y="2788920"/>
            <a:ext cx="146268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proposals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Rectangle 21"/>
          <p:cNvSpPr/>
          <p:nvPr/>
        </p:nvSpPr>
        <p:spPr>
          <a:xfrm>
            <a:off x="2057400" y="2788920"/>
            <a:ext cx="141696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Config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Rectangle 22"/>
          <p:cNvSpPr/>
          <p:nvPr/>
        </p:nvSpPr>
        <p:spPr>
          <a:xfrm>
            <a:off x="3474720" y="2788920"/>
            <a:ext cx="127980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subject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Rectangle 23"/>
          <p:cNvSpPr/>
          <p:nvPr/>
        </p:nvSpPr>
        <p:spPr>
          <a:xfrm>
            <a:off x="4754880" y="2788920"/>
            <a:ext cx="3657240" cy="41112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Compatibility and contract review.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7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Reference architecture: theory controls placed in the pipeline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Rounded Rectangle 4"/>
          <p:cNvSpPr/>
          <p:nvPr/>
        </p:nvSpPr>
        <p:spPr>
          <a:xfrm>
            <a:off x="502920" y="1417320"/>
            <a:ext cx="115776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Sources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Rounded Rectangle 5"/>
          <p:cNvSpPr/>
          <p:nvPr/>
        </p:nvSpPr>
        <p:spPr>
          <a:xfrm>
            <a:off x="1899000" y="1417320"/>
            <a:ext cx="115776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81" name="Connector 6"/>
          <p:cNvCxnSpPr/>
          <p:nvPr/>
        </p:nvCxnSpPr>
        <p:spPr>
          <a:xfrm>
            <a:off x="166104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782" name="Rounded Rectangle 7"/>
          <p:cNvSpPr/>
          <p:nvPr/>
        </p:nvSpPr>
        <p:spPr>
          <a:xfrm>
            <a:off x="3294720" y="1417320"/>
            <a:ext cx="115776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Bronze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3" name="Connector 8"/>
          <p:cNvCxnSpPr/>
          <p:nvPr/>
        </p:nvCxnSpPr>
        <p:spPr>
          <a:xfrm>
            <a:off x="305712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784" name="Rounded Rectangle 9"/>
          <p:cNvSpPr/>
          <p:nvPr/>
        </p:nvSpPr>
        <p:spPr>
          <a:xfrm>
            <a:off x="4690800" y="1417320"/>
            <a:ext cx="115776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Silver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85" name="Connector 10"/>
          <p:cNvCxnSpPr/>
          <p:nvPr/>
        </p:nvCxnSpPr>
        <p:spPr>
          <a:xfrm>
            <a:off x="4452840" y="167328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786" name="Rounded Rectangle 11"/>
          <p:cNvSpPr/>
          <p:nvPr/>
        </p:nvSpPr>
        <p:spPr>
          <a:xfrm>
            <a:off x="6086880" y="1417320"/>
            <a:ext cx="1157760" cy="51156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>
            <a:solidFill>
              <a:srgbClr val="914e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Gold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87" name="Connector 12"/>
          <p:cNvCxnSpPr/>
          <p:nvPr/>
        </p:nvCxnSpPr>
        <p:spPr>
          <a:xfrm>
            <a:off x="584892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788" name="Rounded Rectangle 13"/>
          <p:cNvSpPr/>
          <p:nvPr/>
        </p:nvSpPr>
        <p:spPr>
          <a:xfrm>
            <a:off x="7482960" y="1417320"/>
            <a:ext cx="1157760" cy="511560"/>
          </a:xfrm>
          <a:prstGeom prst="roundRect">
            <a:avLst>
              <a:gd name="adj" fmla="val 16667"/>
            </a:avLst>
          </a:prstGeom>
          <a:solidFill>
            <a:srgbClr val="da5252"/>
          </a:solidFill>
          <a:ln>
            <a:solidFill>
              <a:srgbClr val="da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BI/API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89" name="Connector 14"/>
          <p:cNvCxnSpPr/>
          <p:nvPr/>
        </p:nvCxnSpPr>
        <p:spPr>
          <a:xfrm>
            <a:off x="724500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790" name="Rounded Rectangle 15"/>
          <p:cNvSpPr/>
          <p:nvPr/>
        </p:nvSpPr>
        <p:spPr>
          <a:xfrm>
            <a:off x="3520440" y="2331720"/>
            <a:ext cx="1142640" cy="502560"/>
          </a:xfrm>
          <a:prstGeom prst="roundRect">
            <a:avLst>
              <a:gd name="adj" fmla="val 16667"/>
            </a:avLst>
          </a:prstGeom>
          <a:solidFill>
            <a:srgbClr val="da5252"/>
          </a:solidFill>
          <a:ln>
            <a:solidFill>
              <a:srgbClr val="da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DLQ /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quarantine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91" name="Connector 16"/>
          <p:cNvCxnSpPr/>
          <p:nvPr/>
        </p:nvCxnSpPr>
        <p:spPr>
          <a:xfrm>
            <a:off x="2651760" y="1691640"/>
            <a:ext cx="1143360" cy="640440"/>
          </a:xfrm>
          <a:prstGeom prst="straightConnector1">
            <a:avLst/>
          </a:prstGeom>
          <a:ln w="13970">
            <a:solidFill>
              <a:srgbClr val="da5252"/>
            </a:solidFill>
            <a:round/>
          </a:ln>
        </p:spPr>
      </p:cxnSp>
      <p:sp>
        <p:nvSpPr>
          <p:cNvPr id="792" name="TextBox 17"/>
          <p:cNvSpPr/>
          <p:nvPr/>
        </p:nvSpPr>
        <p:spPr>
          <a:xfrm>
            <a:off x="822960" y="3246120"/>
            <a:ext cx="7406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Bronze stores evidence. Silver applies trust rules. Gold publishes only reconciled outputs.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DLQ/quarantine, schema gates, lag alerts and replay runbooks are controls, not side notes.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4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Runtime stack: optional full stack plus fast proof runner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Rectangle 4"/>
          <p:cNvSpPr/>
          <p:nvPr/>
        </p:nvSpPr>
        <p:spPr>
          <a:xfrm>
            <a:off x="685800" y="1143000"/>
            <a:ext cx="1554120" cy="392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Runtime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Rectangle 5"/>
          <p:cNvSpPr/>
          <p:nvPr/>
        </p:nvSpPr>
        <p:spPr>
          <a:xfrm>
            <a:off x="2240280" y="1143000"/>
            <a:ext cx="2194200" cy="392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Component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Rectangle 6"/>
          <p:cNvSpPr/>
          <p:nvPr/>
        </p:nvSpPr>
        <p:spPr>
          <a:xfrm>
            <a:off x="4434840" y="1143000"/>
            <a:ext cx="3702960" cy="392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Day 5 role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Rectangle 7"/>
          <p:cNvSpPr/>
          <p:nvPr/>
        </p:nvSpPr>
        <p:spPr>
          <a:xfrm>
            <a:off x="685800" y="1536120"/>
            <a:ext cx="15541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Docker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Rectangle 8"/>
          <p:cNvSpPr/>
          <p:nvPr/>
        </p:nvSpPr>
        <p:spPr>
          <a:xfrm>
            <a:off x="2240280" y="1536120"/>
            <a:ext cx="219420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broker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Rectangle 9"/>
          <p:cNvSpPr/>
          <p:nvPr/>
        </p:nvSpPr>
        <p:spPr>
          <a:xfrm>
            <a:off x="4434840" y="1536120"/>
            <a:ext cx="37029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Topics, partitions, offsets and retained event history.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Rectangle 10"/>
          <p:cNvSpPr/>
          <p:nvPr/>
        </p:nvSpPr>
        <p:spPr>
          <a:xfrm>
            <a:off x="685800" y="1929240"/>
            <a:ext cx="15541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Docker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Rectangle 11"/>
          <p:cNvSpPr/>
          <p:nvPr/>
        </p:nvSpPr>
        <p:spPr>
          <a:xfrm>
            <a:off x="2240280" y="1929240"/>
            <a:ext cx="219420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Connect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Rectangle 12"/>
          <p:cNvSpPr/>
          <p:nvPr/>
        </p:nvSpPr>
        <p:spPr>
          <a:xfrm>
            <a:off x="4434840" y="1929240"/>
            <a:ext cx="37029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Connector lifecycle and source task status.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Rectangle 13"/>
          <p:cNvSpPr/>
          <p:nvPr/>
        </p:nvSpPr>
        <p:spPr>
          <a:xfrm>
            <a:off x="685800" y="2322720"/>
            <a:ext cx="15541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Docker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Rectangle 14"/>
          <p:cNvSpPr/>
          <p:nvPr/>
        </p:nvSpPr>
        <p:spPr>
          <a:xfrm>
            <a:off x="2240280" y="2322720"/>
            <a:ext cx="219420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Registry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Rectangle 15"/>
          <p:cNvSpPr/>
          <p:nvPr/>
        </p:nvSpPr>
        <p:spPr>
          <a:xfrm>
            <a:off x="4434840" y="2322720"/>
            <a:ext cx="37029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versions and compatibility gates.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Rectangle 16"/>
          <p:cNvSpPr/>
          <p:nvPr/>
        </p:nvSpPr>
        <p:spPr>
          <a:xfrm>
            <a:off x="685800" y="2715840"/>
            <a:ext cx="155412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Python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Rectangle 17"/>
          <p:cNvSpPr/>
          <p:nvPr/>
        </p:nvSpPr>
        <p:spPr>
          <a:xfrm>
            <a:off x="2240280" y="2715840"/>
            <a:ext cx="219420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Proof runner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Rectangle 18"/>
          <p:cNvSpPr/>
          <p:nvPr/>
        </p:nvSpPr>
        <p:spPr>
          <a:xfrm>
            <a:off x="4434840" y="2715840"/>
            <a:ext cx="37029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Validates medallion logic without full stack startup.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2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Kafka Connect lifecycle: register, run, inspect, restart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Rounded Rectangle 4"/>
          <p:cNvSpPr/>
          <p:nvPr/>
        </p:nvSpPr>
        <p:spPr>
          <a:xfrm>
            <a:off x="50292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POST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config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Rounded Rectangle 5"/>
          <p:cNvSpPr/>
          <p:nvPr/>
        </p:nvSpPr>
        <p:spPr>
          <a:xfrm>
            <a:off x="217800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Connector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16" name="Connector 6"/>
          <p:cNvCxnSpPr/>
          <p:nvPr/>
        </p:nvCxnSpPr>
        <p:spPr>
          <a:xfrm>
            <a:off x="1940040" y="158184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817" name="Rounded Rectangle 7"/>
          <p:cNvSpPr/>
          <p:nvPr/>
        </p:nvSpPr>
        <p:spPr>
          <a:xfrm>
            <a:off x="385344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Task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8" name="Connector 8"/>
          <p:cNvCxnSpPr/>
          <p:nvPr/>
        </p:nvCxnSpPr>
        <p:spPr>
          <a:xfrm>
            <a:off x="3615480" y="158184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819" name="Rounded Rectangle 9"/>
          <p:cNvSpPr/>
          <p:nvPr/>
        </p:nvSpPr>
        <p:spPr>
          <a:xfrm>
            <a:off x="552852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Source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records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20" name="Connector 10"/>
          <p:cNvCxnSpPr/>
          <p:nvPr/>
        </p:nvCxnSpPr>
        <p:spPr>
          <a:xfrm>
            <a:off x="5290560" y="158184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821" name="Rounded Rectangle 11"/>
          <p:cNvSpPr/>
          <p:nvPr/>
        </p:nvSpPr>
        <p:spPr>
          <a:xfrm>
            <a:off x="7203600" y="132588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>
            <a:solidFill>
              <a:srgbClr val="914e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topic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22" name="Connector 12"/>
          <p:cNvCxnSpPr/>
          <p:nvPr/>
        </p:nvCxnSpPr>
        <p:spPr>
          <a:xfrm>
            <a:off x="6965640" y="158184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823" name="Rectangle 13"/>
          <p:cNvSpPr/>
          <p:nvPr/>
        </p:nvSpPr>
        <p:spPr>
          <a:xfrm>
            <a:off x="1005840" y="2423160"/>
            <a:ext cx="6949080" cy="868320"/>
          </a:xfrm>
          <a:prstGeom prst="rect">
            <a:avLst/>
          </a:prstGeom>
          <a:solidFill>
            <a:srgbClr val="ebf0f5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curl -X POST http://localhost:8083/connectors   -H "Content-Type: application/json"   --data @connectors/orders-cdc.json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5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Connector status tells whether ingestion is alive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Rectangle 4"/>
          <p:cNvSpPr/>
          <p:nvPr/>
        </p:nvSpPr>
        <p:spPr>
          <a:xfrm>
            <a:off x="685800" y="1143000"/>
            <a:ext cx="3565800" cy="1279800"/>
          </a:xfrm>
          <a:prstGeom prst="rect">
            <a:avLst/>
          </a:prstGeom>
          <a:solidFill>
            <a:srgbClr val="ebf0f5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4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{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4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"name": "orders-cdc",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4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"connector": {"state": "RUNNING"},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4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"tasks": [{"id": 0, "state": "RUNNING"}]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4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}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Rectangle 5"/>
          <p:cNvSpPr/>
          <p:nvPr/>
        </p:nvSpPr>
        <p:spPr>
          <a:xfrm>
            <a:off x="4617720" y="1143000"/>
            <a:ext cx="123408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State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9" name="Rectangle 6"/>
          <p:cNvSpPr/>
          <p:nvPr/>
        </p:nvSpPr>
        <p:spPr>
          <a:xfrm>
            <a:off x="5852160" y="1143000"/>
            <a:ext cx="251424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Action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Rectangle 7"/>
          <p:cNvSpPr/>
          <p:nvPr/>
        </p:nvSpPr>
        <p:spPr>
          <a:xfrm>
            <a:off x="4617720" y="1527120"/>
            <a:ext cx="12340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RUNNING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Rectangle 8"/>
          <p:cNvSpPr/>
          <p:nvPr/>
        </p:nvSpPr>
        <p:spPr>
          <a:xfrm>
            <a:off x="5852160" y="1527120"/>
            <a:ext cx="25142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Check lag and output topics.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Rectangle 9"/>
          <p:cNvSpPr/>
          <p:nvPr/>
        </p:nvSpPr>
        <p:spPr>
          <a:xfrm>
            <a:off x="4617720" y="1911240"/>
            <a:ext cx="12340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FAILED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Rectangle 10"/>
          <p:cNvSpPr/>
          <p:nvPr/>
        </p:nvSpPr>
        <p:spPr>
          <a:xfrm>
            <a:off x="5852160" y="1911240"/>
            <a:ext cx="25142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Read trace and connector logs.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Rectangle 11"/>
          <p:cNvSpPr/>
          <p:nvPr/>
        </p:nvSpPr>
        <p:spPr>
          <a:xfrm>
            <a:off x="4617720" y="2295000"/>
            <a:ext cx="12340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PAUSED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Rectangle 12"/>
          <p:cNvSpPr/>
          <p:nvPr/>
        </p:nvSpPr>
        <p:spPr>
          <a:xfrm>
            <a:off x="5852160" y="2295000"/>
            <a:ext cx="25142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Resume only after reason is known.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Rectangle 13"/>
          <p:cNvSpPr/>
          <p:nvPr/>
        </p:nvSpPr>
        <p:spPr>
          <a:xfrm>
            <a:off x="4617720" y="2679120"/>
            <a:ext cx="12340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RESTARTING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Rectangle 14"/>
          <p:cNvSpPr/>
          <p:nvPr/>
        </p:nvSpPr>
        <p:spPr>
          <a:xfrm>
            <a:off x="5852160" y="2679120"/>
            <a:ext cx="25142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Watch repeated failures.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9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Topic map: every topic has an owner and recovery purpose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Rectangle 4"/>
          <p:cNvSpPr/>
          <p:nvPr/>
        </p:nvSpPr>
        <p:spPr>
          <a:xfrm>
            <a:off x="594360" y="1143000"/>
            <a:ext cx="2285640" cy="392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Topic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Rectangle 5"/>
          <p:cNvSpPr/>
          <p:nvPr/>
        </p:nvSpPr>
        <p:spPr>
          <a:xfrm>
            <a:off x="2880360" y="1143000"/>
            <a:ext cx="1234080" cy="392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Key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Rectangle 6"/>
          <p:cNvSpPr/>
          <p:nvPr/>
        </p:nvSpPr>
        <p:spPr>
          <a:xfrm>
            <a:off x="4114800" y="1143000"/>
            <a:ext cx="4160160" cy="392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Reason</a:t>
            </a:r>
            <a:endParaRPr lang="en-IN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Rectangle 7"/>
          <p:cNvSpPr/>
          <p:nvPr/>
        </p:nvSpPr>
        <p:spPr>
          <a:xfrm>
            <a:off x="594360" y="1536120"/>
            <a:ext cx="22856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northstar.orders.cdc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Rectangle 8"/>
          <p:cNvSpPr/>
          <p:nvPr/>
        </p:nvSpPr>
        <p:spPr>
          <a:xfrm>
            <a:off x="2880360" y="1536120"/>
            <a:ext cx="123408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order_id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Rectangle 9"/>
          <p:cNvSpPr/>
          <p:nvPr/>
        </p:nvSpPr>
        <p:spPr>
          <a:xfrm>
            <a:off x="4114800" y="1536120"/>
            <a:ext cx="41601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Preserve state changes per order.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Rectangle 10"/>
          <p:cNvSpPr/>
          <p:nvPr/>
        </p:nvSpPr>
        <p:spPr>
          <a:xfrm>
            <a:off x="594360" y="1929240"/>
            <a:ext cx="22856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northstar.inventory.cdc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Rectangle 11"/>
          <p:cNvSpPr/>
          <p:nvPr/>
        </p:nvSpPr>
        <p:spPr>
          <a:xfrm>
            <a:off x="2880360" y="1929240"/>
            <a:ext cx="123408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sku_id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Rectangle 12"/>
          <p:cNvSpPr/>
          <p:nvPr/>
        </p:nvSpPr>
        <p:spPr>
          <a:xfrm>
            <a:off x="4114800" y="1929240"/>
            <a:ext cx="41601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Keep stock updates ordered by SKU.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Rectangle 13"/>
          <p:cNvSpPr/>
          <p:nvPr/>
        </p:nvSpPr>
        <p:spPr>
          <a:xfrm>
            <a:off x="594360" y="2322720"/>
            <a:ext cx="22856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northstar.clickstream.events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Rectangle 14"/>
          <p:cNvSpPr/>
          <p:nvPr/>
        </p:nvSpPr>
        <p:spPr>
          <a:xfrm>
            <a:off x="2880360" y="2322720"/>
            <a:ext cx="123408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user_id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Rectangle 15"/>
          <p:cNvSpPr/>
          <p:nvPr/>
        </p:nvSpPr>
        <p:spPr>
          <a:xfrm>
            <a:off x="4114800" y="2322720"/>
            <a:ext cx="41601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Group session behavior by user.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Rectangle 16"/>
          <p:cNvSpPr/>
          <p:nvPr/>
        </p:nvSpPr>
        <p:spPr>
          <a:xfrm>
            <a:off x="594360" y="2715840"/>
            <a:ext cx="22856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northstar.logistics.batch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Rectangle 17"/>
          <p:cNvSpPr/>
          <p:nvPr/>
        </p:nvSpPr>
        <p:spPr>
          <a:xfrm>
            <a:off x="2880360" y="2715840"/>
            <a:ext cx="123408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order_id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Rectangle 18"/>
          <p:cNvSpPr/>
          <p:nvPr/>
        </p:nvSpPr>
        <p:spPr>
          <a:xfrm>
            <a:off x="4114800" y="2715840"/>
            <a:ext cx="41601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Join shipment rows to order state.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Rectangle 19"/>
          <p:cNvSpPr/>
          <p:nvPr/>
        </p:nvSpPr>
        <p:spPr>
          <a:xfrm>
            <a:off x="594360" y="3108960"/>
            <a:ext cx="228564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northstar.ingestion.dlq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Rectangle 20"/>
          <p:cNvSpPr/>
          <p:nvPr/>
        </p:nvSpPr>
        <p:spPr>
          <a:xfrm>
            <a:off x="2880360" y="3108960"/>
            <a:ext cx="123408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source+error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Rectangle 21"/>
          <p:cNvSpPr/>
          <p:nvPr/>
        </p:nvSpPr>
        <p:spPr>
          <a:xfrm>
            <a:off x="4114800" y="3108960"/>
            <a:ext cx="4160160" cy="392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Debug bad records without blocking valid flow.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0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Lab path: CDC to Bronze keeps envelope evidence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Rounded Rectangle 4"/>
          <p:cNvSpPr/>
          <p:nvPr/>
        </p:nvSpPr>
        <p:spPr>
          <a:xfrm>
            <a:off x="502920" y="141732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DB log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Rounded Rectangle 5"/>
          <p:cNvSpPr/>
          <p:nvPr/>
        </p:nvSpPr>
        <p:spPr>
          <a:xfrm>
            <a:off x="2597040" y="141732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Debezium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64" name="Connector 6"/>
          <p:cNvCxnSpPr/>
          <p:nvPr/>
        </p:nvCxnSpPr>
        <p:spPr>
          <a:xfrm>
            <a:off x="235908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865" name="Rounded Rectangle 7"/>
          <p:cNvSpPr/>
          <p:nvPr/>
        </p:nvSpPr>
        <p:spPr>
          <a:xfrm>
            <a:off x="4690800" y="141732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CDC topic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6" name="Connector 8"/>
          <p:cNvCxnSpPr/>
          <p:nvPr/>
        </p:nvCxnSpPr>
        <p:spPr>
          <a:xfrm>
            <a:off x="4452840" y="167328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867" name="Rounded Rectangle 9"/>
          <p:cNvSpPr/>
          <p:nvPr/>
        </p:nvSpPr>
        <p:spPr>
          <a:xfrm>
            <a:off x="6784920" y="141732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Bronze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raw event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68" name="Connector 10"/>
          <p:cNvCxnSpPr/>
          <p:nvPr/>
        </p:nvCxnSpPr>
        <p:spPr>
          <a:xfrm>
            <a:off x="654696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869" name="Rectangle 11"/>
          <p:cNvSpPr/>
          <p:nvPr/>
        </p:nvSpPr>
        <p:spPr>
          <a:xfrm>
            <a:off x="914400" y="2743200"/>
            <a:ext cx="1828440" cy="34704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Envelope part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Rectangle 12"/>
          <p:cNvSpPr/>
          <p:nvPr/>
        </p:nvSpPr>
        <p:spPr>
          <a:xfrm>
            <a:off x="2743200" y="2743200"/>
            <a:ext cx="5303160" cy="34704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 keep it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1" name="Rectangle 13"/>
          <p:cNvSpPr/>
          <p:nvPr/>
        </p:nvSpPr>
        <p:spPr>
          <a:xfrm>
            <a:off x="914400" y="3090600"/>
            <a:ext cx="182844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before/after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Rectangle 14"/>
          <p:cNvSpPr/>
          <p:nvPr/>
        </p:nvSpPr>
        <p:spPr>
          <a:xfrm>
            <a:off x="2743200" y="3090600"/>
            <a:ext cx="530316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Audit, SCD and delete interpretation.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Rectangle 15"/>
          <p:cNvSpPr/>
          <p:nvPr/>
        </p:nvSpPr>
        <p:spPr>
          <a:xfrm>
            <a:off x="914400" y="3438000"/>
            <a:ext cx="182844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source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Rectangle 16"/>
          <p:cNvSpPr/>
          <p:nvPr/>
        </p:nvSpPr>
        <p:spPr>
          <a:xfrm>
            <a:off x="2743200" y="3438000"/>
            <a:ext cx="530316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DB/table/LSN metadata for replay.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Rectangle 17"/>
          <p:cNvSpPr/>
          <p:nvPr/>
        </p:nvSpPr>
        <p:spPr>
          <a:xfrm>
            <a:off x="914400" y="3785760"/>
            <a:ext cx="182844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op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Rectangle 18"/>
          <p:cNvSpPr/>
          <p:nvPr/>
        </p:nvSpPr>
        <p:spPr>
          <a:xfrm>
            <a:off x="2743200" y="3785760"/>
            <a:ext cx="530316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Snapshot, create, update and delete semantics.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8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Bronze layout supports replay and cost control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Rectangle 4"/>
          <p:cNvSpPr/>
          <p:nvPr/>
        </p:nvSpPr>
        <p:spPr>
          <a:xfrm>
            <a:off x="685800" y="1143000"/>
            <a:ext cx="242280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Path idea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Rectangle 5"/>
          <p:cNvSpPr/>
          <p:nvPr/>
        </p:nvSpPr>
        <p:spPr>
          <a:xfrm>
            <a:off x="3108960" y="1143000"/>
            <a:ext cx="246852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2" name="Rectangle 6"/>
          <p:cNvSpPr/>
          <p:nvPr/>
        </p:nvSpPr>
        <p:spPr>
          <a:xfrm>
            <a:off x="5577840" y="1143000"/>
            <a:ext cx="265140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Example</a:t>
            </a:r>
            <a:endParaRPr lang="en-IN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3" name="Rectangle 7"/>
          <p:cNvSpPr/>
          <p:nvPr/>
        </p:nvSpPr>
        <p:spPr>
          <a:xfrm>
            <a:off x="685800" y="1581840"/>
            <a:ext cx="24228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source=orders/date=...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Rectangle 8"/>
          <p:cNvSpPr/>
          <p:nvPr/>
        </p:nvSpPr>
        <p:spPr>
          <a:xfrm>
            <a:off x="3108960" y="1581840"/>
            <a:ext cx="246852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 by source/day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Rectangle 9"/>
          <p:cNvSpPr/>
          <p:nvPr/>
        </p:nvSpPr>
        <p:spPr>
          <a:xfrm>
            <a:off x="5577840" y="1581840"/>
            <a:ext cx="26514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orders/2026-06-01/*.jsonl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Rectangle 10"/>
          <p:cNvSpPr/>
          <p:nvPr/>
        </p:nvSpPr>
        <p:spPr>
          <a:xfrm>
            <a:off x="685800" y="2020680"/>
            <a:ext cx="24228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topic/partition/offset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Rectangle 11"/>
          <p:cNvSpPr/>
          <p:nvPr/>
        </p:nvSpPr>
        <p:spPr>
          <a:xfrm>
            <a:off x="3108960" y="2020680"/>
            <a:ext cx="246852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Trace to Kafka position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Rectangle 12"/>
          <p:cNvSpPr/>
          <p:nvPr/>
        </p:nvSpPr>
        <p:spPr>
          <a:xfrm>
            <a:off x="5577840" y="2020680"/>
            <a:ext cx="26514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orders/partition=1/offset=150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Rectangle 13"/>
          <p:cNvSpPr/>
          <p:nvPr/>
        </p:nvSpPr>
        <p:spPr>
          <a:xfrm>
            <a:off x="685800" y="2459880"/>
            <a:ext cx="24228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raw plus metadata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Rectangle 14"/>
          <p:cNvSpPr/>
          <p:nvPr/>
        </p:nvSpPr>
        <p:spPr>
          <a:xfrm>
            <a:off x="3108960" y="2459880"/>
            <a:ext cx="246852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Audit and debugging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Rectangle 15"/>
          <p:cNvSpPr/>
          <p:nvPr/>
        </p:nvSpPr>
        <p:spPr>
          <a:xfrm>
            <a:off x="5577840" y="2459880"/>
            <a:ext cx="26514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payload plus load fields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Rectangle 16"/>
          <p:cNvSpPr/>
          <p:nvPr/>
        </p:nvSpPr>
        <p:spPr>
          <a:xfrm>
            <a:off x="685800" y="2898720"/>
            <a:ext cx="24228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retention policy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Rectangle 17"/>
          <p:cNvSpPr/>
          <p:nvPr/>
        </p:nvSpPr>
        <p:spPr>
          <a:xfrm>
            <a:off x="3108960" y="2898720"/>
            <a:ext cx="246852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Avoid unmanaged growth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Rectangle 18"/>
          <p:cNvSpPr/>
          <p:nvPr/>
        </p:nvSpPr>
        <p:spPr>
          <a:xfrm>
            <a:off x="5577840" y="2898720"/>
            <a:ext cx="26514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7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Archive after SLA window</a:t>
            </a:r>
            <a:endParaRPr lang="en-IN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6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Silver applies the theory as deterministic rules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Rounded Rectangle 4"/>
          <p:cNvSpPr/>
          <p:nvPr/>
        </p:nvSpPr>
        <p:spPr>
          <a:xfrm>
            <a:off x="502920" y="137160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Parse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Rounded Rectangle 5"/>
          <p:cNvSpPr/>
          <p:nvPr/>
        </p:nvSpPr>
        <p:spPr>
          <a:xfrm>
            <a:off x="2178000" y="137160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Validate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00" name="Connector 6"/>
          <p:cNvCxnSpPr/>
          <p:nvPr/>
        </p:nvCxnSpPr>
        <p:spPr>
          <a:xfrm>
            <a:off x="1940040" y="162756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901" name="Rounded Rectangle 7"/>
          <p:cNvSpPr/>
          <p:nvPr/>
        </p:nvSpPr>
        <p:spPr>
          <a:xfrm>
            <a:off x="3853440" y="137160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Dedupe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2" name="Connector 8"/>
          <p:cNvCxnSpPr/>
          <p:nvPr/>
        </p:nvCxnSpPr>
        <p:spPr>
          <a:xfrm>
            <a:off x="3615480" y="162756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903" name="Rounded Rectangle 9"/>
          <p:cNvSpPr/>
          <p:nvPr/>
        </p:nvSpPr>
        <p:spPr>
          <a:xfrm>
            <a:off x="5528520" y="137160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Merge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04" name="Connector 10"/>
          <p:cNvCxnSpPr/>
          <p:nvPr/>
        </p:nvCxnSpPr>
        <p:spPr>
          <a:xfrm>
            <a:off x="5290560" y="162756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905" name="Rounded Rectangle 11"/>
          <p:cNvSpPr/>
          <p:nvPr/>
        </p:nvSpPr>
        <p:spPr>
          <a:xfrm>
            <a:off x="7203600" y="137160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>
            <a:solidFill>
              <a:srgbClr val="914e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Quarantine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06" name="Connector 12"/>
          <p:cNvCxnSpPr/>
          <p:nvPr/>
        </p:nvCxnSpPr>
        <p:spPr>
          <a:xfrm>
            <a:off x="6965640" y="162756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907" name="Rectangle 13"/>
          <p:cNvSpPr/>
          <p:nvPr/>
        </p:nvSpPr>
        <p:spPr>
          <a:xfrm>
            <a:off x="868680" y="2423160"/>
            <a:ext cx="7314840" cy="868320"/>
          </a:xfrm>
          <a:prstGeom prst="rect">
            <a:avLst/>
          </a:prstGeom>
          <a:solidFill>
            <a:srgbClr val="ebf0f5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if missing_required_field: write_dlq(record, reason)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elif duplicate_event: ignore_safely(record)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elif op == "d": remove current_state[order_id]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else: upsert current_state[order_id] = after_image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9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Gold is reportable only when it reconciles backward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Rounded Rectangle 4"/>
          <p:cNvSpPr/>
          <p:nvPr/>
        </p:nvSpPr>
        <p:spPr>
          <a:xfrm>
            <a:off x="502920" y="146304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Bronze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7 CDC events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2" name="Rounded Rectangle 5"/>
          <p:cNvSpPr/>
          <p:nvPr/>
        </p:nvSpPr>
        <p:spPr>
          <a:xfrm>
            <a:off x="2597040" y="146304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Silver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 current orders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13" name="Connector 6"/>
          <p:cNvCxnSpPr/>
          <p:nvPr/>
        </p:nvCxnSpPr>
        <p:spPr>
          <a:xfrm>
            <a:off x="2359080" y="171900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914" name="Rounded Rectangle 7"/>
          <p:cNvSpPr/>
          <p:nvPr/>
        </p:nvSpPr>
        <p:spPr>
          <a:xfrm>
            <a:off x="4690800" y="146304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Gold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195.50 revenue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5" name="Connector 8"/>
          <p:cNvCxnSpPr/>
          <p:nvPr/>
        </p:nvCxnSpPr>
        <p:spPr>
          <a:xfrm>
            <a:off x="4452840" y="171900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916" name="Rounded Rectangle 9"/>
          <p:cNvSpPr/>
          <p:nvPr/>
        </p:nvSpPr>
        <p:spPr>
          <a:xfrm>
            <a:off x="6784920" y="146304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Report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Daily KPI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17" name="Connector 10"/>
          <p:cNvCxnSpPr/>
          <p:nvPr/>
        </p:nvCxnSpPr>
        <p:spPr>
          <a:xfrm>
            <a:off x="6546960" y="171900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918" name="TextBox 11"/>
          <p:cNvSpPr/>
          <p:nvPr/>
        </p:nvSpPr>
        <p:spPr>
          <a:xfrm>
            <a:off x="868680" y="2834640"/>
            <a:ext cx="7360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Gold should not hide duplicates, deletes or rejected records.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 KPI is trusted only when it traces back to accepted Silver records and raw Bronze evidence.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0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Lab merge: orders and logistics collide on order_id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Rounded Rectangle 4"/>
          <p:cNvSpPr/>
          <p:nvPr/>
        </p:nvSpPr>
        <p:spPr>
          <a:xfrm>
            <a:off x="50292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Orders CDC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Rounded Rectangle 5"/>
          <p:cNvSpPr/>
          <p:nvPr/>
        </p:nvSpPr>
        <p:spPr>
          <a:xfrm>
            <a:off x="217800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Logistics CSV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24" name="Connector 6"/>
          <p:cNvCxnSpPr/>
          <p:nvPr/>
        </p:nvCxnSpPr>
        <p:spPr>
          <a:xfrm>
            <a:off x="1940040" y="167328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925" name="Rounded Rectangle 7"/>
          <p:cNvSpPr/>
          <p:nvPr/>
        </p:nvSpPr>
        <p:spPr>
          <a:xfrm>
            <a:off x="385344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Pending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reference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6" name="Connector 8"/>
          <p:cNvCxnSpPr/>
          <p:nvPr/>
        </p:nvCxnSpPr>
        <p:spPr>
          <a:xfrm>
            <a:off x="361548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927" name="Rounded Rectangle 9"/>
          <p:cNvSpPr/>
          <p:nvPr/>
        </p:nvSpPr>
        <p:spPr>
          <a:xfrm>
            <a:off x="552852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Silver merge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28" name="Connector 10"/>
          <p:cNvCxnSpPr/>
          <p:nvPr/>
        </p:nvCxnSpPr>
        <p:spPr>
          <a:xfrm>
            <a:off x="529056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929" name="Rounded Rectangle 11"/>
          <p:cNvSpPr/>
          <p:nvPr/>
        </p:nvSpPr>
        <p:spPr>
          <a:xfrm>
            <a:off x="720360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>
            <a:solidFill>
              <a:srgbClr val="914e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Gold KPI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30" name="Connector 12"/>
          <p:cNvCxnSpPr/>
          <p:nvPr/>
        </p:nvCxnSpPr>
        <p:spPr>
          <a:xfrm>
            <a:off x="6965640" y="167328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931" name="Rectangle 13"/>
          <p:cNvSpPr/>
          <p:nvPr/>
        </p:nvSpPr>
        <p:spPr>
          <a:xfrm>
            <a:off x="822960" y="2651760"/>
            <a:ext cx="1919880" cy="36540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Situation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Rectangle 14"/>
          <p:cNvSpPr/>
          <p:nvPr/>
        </p:nvSpPr>
        <p:spPr>
          <a:xfrm>
            <a:off x="2743200" y="2651760"/>
            <a:ext cx="5211720" cy="36540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Expected lab behavior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3" name="Rectangle 15"/>
          <p:cNvSpPr/>
          <p:nvPr/>
        </p:nvSpPr>
        <p:spPr>
          <a:xfrm>
            <a:off x="822960" y="3017520"/>
            <a:ext cx="191988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Logistics for existing order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Rectangle 16"/>
          <p:cNvSpPr/>
          <p:nvPr/>
        </p:nvSpPr>
        <p:spPr>
          <a:xfrm>
            <a:off x="2743200" y="3017520"/>
            <a:ext cx="521172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Join shipment to current order.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Rectangle 17"/>
          <p:cNvSpPr/>
          <p:nvPr/>
        </p:nvSpPr>
        <p:spPr>
          <a:xfrm>
            <a:off x="822960" y="3383280"/>
            <a:ext cx="191988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Logistics before order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Rectangle 18"/>
          <p:cNvSpPr/>
          <p:nvPr/>
        </p:nvSpPr>
        <p:spPr>
          <a:xfrm>
            <a:off x="2743200" y="3383280"/>
            <a:ext cx="521172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Quarantine/pending reference, then replay.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Rectangle 19"/>
          <p:cNvSpPr/>
          <p:nvPr/>
        </p:nvSpPr>
        <p:spPr>
          <a:xfrm>
            <a:off x="822960" y="3749040"/>
            <a:ext cx="191988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Duplicate CDC event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Rectangle 20"/>
          <p:cNvSpPr/>
          <p:nvPr/>
        </p:nvSpPr>
        <p:spPr>
          <a:xfrm>
            <a:off x="2743200" y="3749040"/>
            <a:ext cx="521172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Dedupe without changing Gold twice.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0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Lab design for late records: do not order by arrival blindly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2" name="Connector 4"/>
          <p:cNvCxnSpPr/>
          <p:nvPr/>
        </p:nvCxnSpPr>
        <p:spPr>
          <a:xfrm>
            <a:off x="868680" y="2057400"/>
            <a:ext cx="7407000" cy="360"/>
          </a:xfrm>
          <a:prstGeom prst="straightConnector1">
            <a:avLst/>
          </a:prstGeom>
          <a:ln w="13970">
            <a:solidFill>
              <a:srgbClr val="566374"/>
            </a:solidFill>
            <a:round/>
          </a:ln>
        </p:spPr>
      </p:cxnSp>
      <p:sp>
        <p:nvSpPr>
          <p:cNvPr id="943" name="Rounded Rectangle 5"/>
          <p:cNvSpPr/>
          <p:nvPr/>
        </p:nvSpPr>
        <p:spPr>
          <a:xfrm>
            <a:off x="548640" y="1600200"/>
            <a:ext cx="639720" cy="502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event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4" name="Rounded Rectangle 6"/>
          <p:cNvSpPr/>
          <p:nvPr/>
        </p:nvSpPr>
        <p:spPr>
          <a:xfrm>
            <a:off x="2400120" y="1600200"/>
            <a:ext cx="639720" cy="502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delay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5" name="Rounded Rectangle 7"/>
          <p:cNvSpPr/>
          <p:nvPr/>
        </p:nvSpPr>
        <p:spPr>
          <a:xfrm>
            <a:off x="4251960" y="1600200"/>
            <a:ext cx="639720" cy="502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ingest</a:t>
            </a:r>
            <a:endParaRPr lang="en-IN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Rounded Rectangle 8"/>
          <p:cNvSpPr/>
          <p:nvPr/>
        </p:nvSpPr>
        <p:spPr>
          <a:xfrm>
            <a:off x="6103800" y="1600200"/>
            <a:ext cx="639720" cy="502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window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Rounded Rectangle 9"/>
          <p:cNvSpPr/>
          <p:nvPr/>
        </p:nvSpPr>
        <p:spPr>
          <a:xfrm>
            <a:off x="7955280" y="1600200"/>
            <a:ext cx="639720" cy="50256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>
            <a:solidFill>
              <a:srgbClr val="914e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correction</a:t>
            </a:r>
            <a:endParaRPr lang="en-IN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Box 10"/>
          <p:cNvSpPr/>
          <p:nvPr/>
        </p:nvSpPr>
        <p:spPr>
          <a:xfrm>
            <a:off x="914400" y="2971800"/>
            <a:ext cx="7314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Use event_time for business windows and ingestion_time for audit.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Keep late rows visible in quality metrics.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Decide whether too-late records update a correction table, DLQ, or quarantine path.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0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 commands are easier after the HW/LW theory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Rectangle 4"/>
          <p:cNvSpPr/>
          <p:nvPr/>
        </p:nvSpPr>
        <p:spPr>
          <a:xfrm>
            <a:off x="685800" y="1143000"/>
            <a:ext cx="7680600" cy="959760"/>
          </a:xfrm>
          <a:prstGeom prst="rect">
            <a:avLst/>
          </a:prstGeom>
          <a:solidFill>
            <a:srgbClr val="ebf0f5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kafka-consumer-groups.sh --bootstrap-server localhost:9092   --describe --group silver-orders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# Read CURRENT-OFFSET, LOG-END-OFFSET and LAG together.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Rectangle 5"/>
          <p:cNvSpPr/>
          <p:nvPr/>
        </p:nvSpPr>
        <p:spPr>
          <a:xfrm>
            <a:off x="914400" y="2880360"/>
            <a:ext cx="2102760" cy="3286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Column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4" name="Rectangle 6"/>
          <p:cNvSpPr/>
          <p:nvPr/>
        </p:nvSpPr>
        <p:spPr>
          <a:xfrm>
            <a:off x="3017520" y="2880360"/>
            <a:ext cx="5211720" cy="3286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Question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5" name="Rectangle 7"/>
          <p:cNvSpPr/>
          <p:nvPr/>
        </p:nvSpPr>
        <p:spPr>
          <a:xfrm>
            <a:off x="914400" y="3209400"/>
            <a:ext cx="2102760" cy="3286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CURRENT-OFFSET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Rectangle 8"/>
          <p:cNvSpPr/>
          <p:nvPr/>
        </p:nvSpPr>
        <p:spPr>
          <a:xfrm>
            <a:off x="3017520" y="3209400"/>
            <a:ext cx="5211720" cy="3286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What has this group committed?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Rectangle 9"/>
          <p:cNvSpPr/>
          <p:nvPr/>
        </p:nvSpPr>
        <p:spPr>
          <a:xfrm>
            <a:off x="914400" y="3538800"/>
            <a:ext cx="2102760" cy="3286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LOG-END-OFFSET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Rectangle 10"/>
          <p:cNvSpPr/>
          <p:nvPr/>
        </p:nvSpPr>
        <p:spPr>
          <a:xfrm>
            <a:off x="3017520" y="3538800"/>
            <a:ext cx="5211720" cy="3286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How far has the partition advanced?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Rectangle 11"/>
          <p:cNvSpPr/>
          <p:nvPr/>
        </p:nvSpPr>
        <p:spPr>
          <a:xfrm>
            <a:off x="914400" y="3867840"/>
            <a:ext cx="2102760" cy="3286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Rectangle 12"/>
          <p:cNvSpPr/>
          <p:nvPr/>
        </p:nvSpPr>
        <p:spPr>
          <a:xfrm>
            <a:off x="3017520" y="3867840"/>
            <a:ext cx="5211720" cy="3286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1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Can we catch up before retention removes old records?</a:t>
            </a:r>
            <a:endParaRPr lang="en-IN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2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Producer lab settings support the durability theory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Rectangle 4"/>
          <p:cNvSpPr/>
          <p:nvPr/>
        </p:nvSpPr>
        <p:spPr>
          <a:xfrm>
            <a:off x="731520" y="1143000"/>
            <a:ext cx="3657240" cy="1508400"/>
          </a:xfrm>
          <a:prstGeom prst="rect">
            <a:avLst/>
          </a:prstGeom>
          <a:solidFill>
            <a:srgbClr val="ebf0f5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producer_config = {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"acks": "all",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"enable.idempotence": True,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"retries": 5,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}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Rectangle 5"/>
          <p:cNvSpPr/>
          <p:nvPr/>
        </p:nvSpPr>
        <p:spPr>
          <a:xfrm>
            <a:off x="4754880" y="1143000"/>
            <a:ext cx="146268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Risk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6" name="Rectangle 6"/>
          <p:cNvSpPr/>
          <p:nvPr/>
        </p:nvSpPr>
        <p:spPr>
          <a:xfrm>
            <a:off x="6217920" y="1143000"/>
            <a:ext cx="24685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Control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Rectangle 7"/>
          <p:cNvSpPr/>
          <p:nvPr/>
        </p:nvSpPr>
        <p:spPr>
          <a:xfrm>
            <a:off x="4754880" y="1527120"/>
            <a:ext cx="14626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Lost write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Rectangle 8"/>
          <p:cNvSpPr/>
          <p:nvPr/>
        </p:nvSpPr>
        <p:spPr>
          <a:xfrm>
            <a:off x="6217920" y="1527120"/>
            <a:ext cx="24685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acks=all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Rectangle 9"/>
          <p:cNvSpPr/>
          <p:nvPr/>
        </p:nvSpPr>
        <p:spPr>
          <a:xfrm>
            <a:off x="4754880" y="1911240"/>
            <a:ext cx="14626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Duplicate retry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Rectangle 10"/>
          <p:cNvSpPr/>
          <p:nvPr/>
        </p:nvSpPr>
        <p:spPr>
          <a:xfrm>
            <a:off x="6217920" y="1911240"/>
            <a:ext cx="24685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idempotence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Rectangle 11"/>
          <p:cNvSpPr/>
          <p:nvPr/>
        </p:nvSpPr>
        <p:spPr>
          <a:xfrm>
            <a:off x="4754880" y="2295000"/>
            <a:ext cx="14626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Silent failure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Rectangle 12"/>
          <p:cNvSpPr/>
          <p:nvPr/>
        </p:nvSpPr>
        <p:spPr>
          <a:xfrm>
            <a:off x="6217920" y="2295000"/>
            <a:ext cx="24685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delivery callback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Rectangle 13"/>
          <p:cNvSpPr/>
          <p:nvPr/>
        </p:nvSpPr>
        <p:spPr>
          <a:xfrm>
            <a:off x="4754880" y="2679120"/>
            <a:ext cx="14626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Hot key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Rectangle 14"/>
          <p:cNvSpPr/>
          <p:nvPr/>
        </p:nvSpPr>
        <p:spPr>
          <a:xfrm>
            <a:off x="6217920" y="2679120"/>
            <a:ext cx="24685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review partition key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6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 lab commits only after durable output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Rectangle 4"/>
          <p:cNvSpPr/>
          <p:nvPr/>
        </p:nvSpPr>
        <p:spPr>
          <a:xfrm>
            <a:off x="685800" y="1097280"/>
            <a:ext cx="3657240" cy="1828440"/>
          </a:xfrm>
          <a:prstGeom prst="rect">
            <a:avLst/>
          </a:prstGeom>
          <a:solidFill>
            <a:srgbClr val="ebf0f5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for msg in consumer: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  result = transform(msg)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  write_silver(result)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    consumer.commit(msg)</a:t>
            </a:r>
            <a:endParaRPr lang="en-IN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Rectangle 5"/>
          <p:cNvSpPr/>
          <p:nvPr/>
        </p:nvSpPr>
        <p:spPr>
          <a:xfrm>
            <a:off x="4617720" y="1143000"/>
            <a:ext cx="132552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Risk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0" name="Rectangle 6"/>
          <p:cNvSpPr/>
          <p:nvPr/>
        </p:nvSpPr>
        <p:spPr>
          <a:xfrm>
            <a:off x="5943600" y="1143000"/>
            <a:ext cx="2514240" cy="38376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Control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Rectangle 7"/>
          <p:cNvSpPr/>
          <p:nvPr/>
        </p:nvSpPr>
        <p:spPr>
          <a:xfrm>
            <a:off x="4617720" y="1527120"/>
            <a:ext cx="13255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Replay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Rectangle 8"/>
          <p:cNvSpPr/>
          <p:nvPr/>
        </p:nvSpPr>
        <p:spPr>
          <a:xfrm>
            <a:off x="5943600" y="1527120"/>
            <a:ext cx="25142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Idempotent write by event_id.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Rectangle 9"/>
          <p:cNvSpPr/>
          <p:nvPr/>
        </p:nvSpPr>
        <p:spPr>
          <a:xfrm>
            <a:off x="4617720" y="1911240"/>
            <a:ext cx="13255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Poison row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Rectangle 10"/>
          <p:cNvSpPr/>
          <p:nvPr/>
        </p:nvSpPr>
        <p:spPr>
          <a:xfrm>
            <a:off x="5943600" y="1911240"/>
            <a:ext cx="25142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with reason.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Rectangle 11"/>
          <p:cNvSpPr/>
          <p:nvPr/>
        </p:nvSpPr>
        <p:spPr>
          <a:xfrm>
            <a:off x="4617720" y="2295000"/>
            <a:ext cx="13255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Slow sink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Rectangle 12"/>
          <p:cNvSpPr/>
          <p:nvPr/>
        </p:nvSpPr>
        <p:spPr>
          <a:xfrm>
            <a:off x="5943600" y="2295000"/>
            <a:ext cx="25142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Batch or async writes.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Rectangle 13"/>
          <p:cNvSpPr/>
          <p:nvPr/>
        </p:nvSpPr>
        <p:spPr>
          <a:xfrm>
            <a:off x="4617720" y="2679120"/>
            <a:ext cx="132552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Bad schema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Rectangle 14"/>
          <p:cNvSpPr/>
          <p:nvPr/>
        </p:nvSpPr>
        <p:spPr>
          <a:xfrm>
            <a:off x="5943600" y="2679120"/>
            <a:ext cx="25142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 before commit.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0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 lab: bad records stay observable and replayable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Rounded Rectangle 4"/>
          <p:cNvSpPr/>
          <p:nvPr/>
        </p:nvSpPr>
        <p:spPr>
          <a:xfrm>
            <a:off x="50292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Input files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3" name="Rounded Rectangle 5"/>
          <p:cNvSpPr/>
          <p:nvPr/>
        </p:nvSpPr>
        <p:spPr>
          <a:xfrm>
            <a:off x="217800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Validate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94" name="Connector 6"/>
          <p:cNvCxnSpPr/>
          <p:nvPr/>
        </p:nvCxnSpPr>
        <p:spPr>
          <a:xfrm>
            <a:off x="1940040" y="167328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995" name="Rounded Rectangle 7"/>
          <p:cNvSpPr/>
          <p:nvPr/>
        </p:nvSpPr>
        <p:spPr>
          <a:xfrm>
            <a:off x="385344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DLQ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bad rows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6" name="Connector 8"/>
          <p:cNvCxnSpPr/>
          <p:nvPr/>
        </p:nvCxnSpPr>
        <p:spPr>
          <a:xfrm>
            <a:off x="361548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997" name="Rounded Rectangle 9"/>
          <p:cNvSpPr/>
          <p:nvPr/>
        </p:nvSpPr>
        <p:spPr>
          <a:xfrm>
            <a:off x="552852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Fix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98" name="Connector 10"/>
          <p:cNvCxnSpPr/>
          <p:nvPr/>
        </p:nvCxnSpPr>
        <p:spPr>
          <a:xfrm>
            <a:off x="529056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999" name="Rounded Rectangle 11"/>
          <p:cNvSpPr/>
          <p:nvPr/>
        </p:nvSpPr>
        <p:spPr>
          <a:xfrm>
            <a:off x="7203600" y="1417320"/>
            <a:ext cx="1437120" cy="511560"/>
          </a:xfrm>
          <a:prstGeom prst="roundRect">
            <a:avLst>
              <a:gd name="adj" fmla="val 16667"/>
            </a:avLst>
          </a:prstGeom>
          <a:solidFill>
            <a:srgbClr val="914ec4"/>
          </a:solidFill>
          <a:ln>
            <a:solidFill>
              <a:srgbClr val="914e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Replay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00" name="Connector 12"/>
          <p:cNvCxnSpPr/>
          <p:nvPr/>
        </p:nvCxnSpPr>
        <p:spPr>
          <a:xfrm>
            <a:off x="6965640" y="167328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1001" name="Rectangle 13"/>
          <p:cNvSpPr/>
          <p:nvPr/>
        </p:nvSpPr>
        <p:spPr>
          <a:xfrm>
            <a:off x="822960" y="2651760"/>
            <a:ext cx="1919880" cy="36540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DLQ record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2" name="Rectangle 14"/>
          <p:cNvSpPr/>
          <p:nvPr/>
        </p:nvSpPr>
        <p:spPr>
          <a:xfrm>
            <a:off x="2743200" y="2651760"/>
            <a:ext cx="5211720" cy="36540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Reason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3" name="Rectangle 15"/>
          <p:cNvSpPr/>
          <p:nvPr/>
        </p:nvSpPr>
        <p:spPr>
          <a:xfrm>
            <a:off x="822960" y="3017520"/>
            <a:ext cx="191988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shipment missing shipment_id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Rectangle 16"/>
          <p:cNvSpPr/>
          <p:nvPr/>
        </p:nvSpPr>
        <p:spPr>
          <a:xfrm>
            <a:off x="2743200" y="3017520"/>
            <a:ext cx="521172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Parser/required-field failure.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Rectangle 17"/>
          <p:cNvSpPr/>
          <p:nvPr/>
        </p:nvSpPr>
        <p:spPr>
          <a:xfrm>
            <a:off x="822960" y="3383280"/>
            <a:ext cx="191988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shipment references order_id=9999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Rectangle 18"/>
          <p:cNvSpPr/>
          <p:nvPr/>
        </p:nvSpPr>
        <p:spPr>
          <a:xfrm>
            <a:off x="2743200" y="3383280"/>
            <a:ext cx="521172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Pending reference or quarantine.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Rectangle 19"/>
          <p:cNvSpPr/>
          <p:nvPr/>
        </p:nvSpPr>
        <p:spPr>
          <a:xfrm>
            <a:off x="822960" y="3749040"/>
            <a:ext cx="191988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rename order_id to id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Rectangle 20"/>
          <p:cNvSpPr/>
          <p:nvPr/>
        </p:nvSpPr>
        <p:spPr>
          <a:xfrm>
            <a:off x="2743200" y="3749040"/>
            <a:ext cx="5211720" cy="36540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Contract failure.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0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lab: students review compatibility before running data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Rectangle 4"/>
          <p:cNvSpPr/>
          <p:nvPr/>
        </p:nvSpPr>
        <p:spPr>
          <a:xfrm>
            <a:off x="685800" y="1143000"/>
            <a:ext cx="3474360" cy="45684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Change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Rectangle 5"/>
          <p:cNvSpPr/>
          <p:nvPr/>
        </p:nvSpPr>
        <p:spPr>
          <a:xfrm>
            <a:off x="4160520" y="1143000"/>
            <a:ext cx="1234080" cy="45684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Expected decision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Rectangle 6"/>
          <p:cNvSpPr/>
          <p:nvPr/>
        </p:nvSpPr>
        <p:spPr>
          <a:xfrm>
            <a:off x="5394960" y="1143000"/>
            <a:ext cx="2742840" cy="45684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Reason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5" name="Rectangle 7"/>
          <p:cNvSpPr/>
          <p:nvPr/>
        </p:nvSpPr>
        <p:spPr>
          <a:xfrm>
            <a:off x="685800" y="1600200"/>
            <a:ext cx="347436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Add optional customer_tier with default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Rectangle 8"/>
          <p:cNvSpPr/>
          <p:nvPr/>
        </p:nvSpPr>
        <p:spPr>
          <a:xfrm>
            <a:off x="4160520" y="1600200"/>
            <a:ext cx="123408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ACCEPT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Rectangle 9"/>
          <p:cNvSpPr/>
          <p:nvPr/>
        </p:nvSpPr>
        <p:spPr>
          <a:xfrm>
            <a:off x="5394960" y="1600200"/>
            <a:ext cx="27428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Backward-compatible.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Rectangle 10"/>
          <p:cNvSpPr/>
          <p:nvPr/>
        </p:nvSpPr>
        <p:spPr>
          <a:xfrm>
            <a:off x="685800" y="2057400"/>
            <a:ext cx="347436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Rename order_id to id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Rectangle 11"/>
          <p:cNvSpPr/>
          <p:nvPr/>
        </p:nvSpPr>
        <p:spPr>
          <a:xfrm>
            <a:off x="4160520" y="2057400"/>
            <a:ext cx="123408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Rectangle 12"/>
          <p:cNvSpPr/>
          <p:nvPr/>
        </p:nvSpPr>
        <p:spPr>
          <a:xfrm>
            <a:off x="5394960" y="2057400"/>
            <a:ext cx="27428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Breaks consumers.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Rectangle 13"/>
          <p:cNvSpPr/>
          <p:nvPr/>
        </p:nvSpPr>
        <p:spPr>
          <a:xfrm>
            <a:off x="685800" y="2514600"/>
            <a:ext cx="347436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Remove optional coupon_code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Rectangle 14"/>
          <p:cNvSpPr/>
          <p:nvPr/>
        </p:nvSpPr>
        <p:spPr>
          <a:xfrm>
            <a:off x="4160520" y="2514600"/>
            <a:ext cx="123408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ACCEPT/REVIEW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Rectangle 15"/>
          <p:cNvSpPr/>
          <p:nvPr/>
        </p:nvSpPr>
        <p:spPr>
          <a:xfrm>
            <a:off x="5394960" y="2514600"/>
            <a:ext cx="27428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Depends on active readers.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5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Deployment checklist before a new source goes live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Rectangle 4"/>
          <p:cNvSpPr/>
          <p:nvPr/>
        </p:nvSpPr>
        <p:spPr>
          <a:xfrm>
            <a:off x="594360" y="1051560"/>
            <a:ext cx="2057040" cy="34704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Area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8" name="Rectangle 5"/>
          <p:cNvSpPr/>
          <p:nvPr/>
        </p:nvSpPr>
        <p:spPr>
          <a:xfrm>
            <a:off x="2651760" y="1051560"/>
            <a:ext cx="5623200" cy="34704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Check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9" name="Rectangle 6"/>
          <p:cNvSpPr/>
          <p:nvPr/>
        </p:nvSpPr>
        <p:spPr>
          <a:xfrm>
            <a:off x="594360" y="1398960"/>
            <a:ext cx="205704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Contract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Rectangle 7"/>
          <p:cNvSpPr/>
          <p:nvPr/>
        </p:nvSpPr>
        <p:spPr>
          <a:xfrm>
            <a:off x="2651760" y="1398960"/>
            <a:ext cx="562320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Schema registered; compatibility policy selected.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Rectangle 8"/>
          <p:cNvSpPr/>
          <p:nvPr/>
        </p:nvSpPr>
        <p:spPr>
          <a:xfrm>
            <a:off x="594360" y="1746360"/>
            <a:ext cx="205704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Topics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Rectangle 9"/>
          <p:cNvSpPr/>
          <p:nvPr/>
        </p:nvSpPr>
        <p:spPr>
          <a:xfrm>
            <a:off x="2651760" y="1746360"/>
            <a:ext cx="562320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Retention, partitions, cleanup policy and ownership documented.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Rectangle 10"/>
          <p:cNvSpPr/>
          <p:nvPr/>
        </p:nvSpPr>
        <p:spPr>
          <a:xfrm>
            <a:off x="594360" y="2094120"/>
            <a:ext cx="205704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Consumer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Rectangle 11"/>
          <p:cNvSpPr/>
          <p:nvPr/>
        </p:nvSpPr>
        <p:spPr>
          <a:xfrm>
            <a:off x="2651760" y="2094120"/>
            <a:ext cx="562320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 commit strategy and idempotent output tested.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Rectangle 12"/>
          <p:cNvSpPr/>
          <p:nvPr/>
        </p:nvSpPr>
        <p:spPr>
          <a:xfrm>
            <a:off x="594360" y="2441520"/>
            <a:ext cx="205704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DLQ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Rectangle 13"/>
          <p:cNvSpPr/>
          <p:nvPr/>
        </p:nvSpPr>
        <p:spPr>
          <a:xfrm>
            <a:off x="2651760" y="2441520"/>
            <a:ext cx="562320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Error payload, owner, alert and replay runbook exist.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Rectangle 14"/>
          <p:cNvSpPr/>
          <p:nvPr/>
        </p:nvSpPr>
        <p:spPr>
          <a:xfrm>
            <a:off x="594360" y="2788920"/>
            <a:ext cx="205704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Medallion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Rectangle 15"/>
          <p:cNvSpPr/>
          <p:nvPr/>
        </p:nvSpPr>
        <p:spPr>
          <a:xfrm>
            <a:off x="2651760" y="2788920"/>
            <a:ext cx="562320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Bronze/Silver/Gold lineage and quality thresholds defined.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Rectangle 16"/>
          <p:cNvSpPr/>
          <p:nvPr/>
        </p:nvSpPr>
        <p:spPr>
          <a:xfrm>
            <a:off x="594360" y="3136320"/>
            <a:ext cx="205704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Operations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Rectangle 17"/>
          <p:cNvSpPr/>
          <p:nvPr/>
        </p:nvSpPr>
        <p:spPr>
          <a:xfrm>
            <a:off x="2651760" y="3136320"/>
            <a:ext cx="5623200" cy="34704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69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Lag, DLQ, connector status and freshness alerts configured.</a:t>
            </a:r>
            <a:endParaRPr lang="en-IN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2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Lab architecture: fast proof plus optional full stack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Rounded Rectangle 4"/>
          <p:cNvSpPr/>
          <p:nvPr/>
        </p:nvSpPr>
        <p:spPr>
          <a:xfrm>
            <a:off x="502920" y="141732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00a99d"/>
          </a:solidFill>
          <a:ln>
            <a:solidFill>
              <a:srgbClr val="00a99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Input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files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Rounded Rectangle 5"/>
          <p:cNvSpPr/>
          <p:nvPr/>
        </p:nvSpPr>
        <p:spPr>
          <a:xfrm>
            <a:off x="2597040" y="141732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2d79d3"/>
          </a:solidFill>
          <a:ln>
            <a:solidFill>
              <a:srgbClr val="2d79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Python proof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runner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46" name="Connector 6"/>
          <p:cNvCxnSpPr/>
          <p:nvPr/>
        </p:nvCxnSpPr>
        <p:spPr>
          <a:xfrm>
            <a:off x="235908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1047" name="Rounded Rectangle 7"/>
          <p:cNvSpPr/>
          <p:nvPr/>
        </p:nvSpPr>
        <p:spPr>
          <a:xfrm>
            <a:off x="4690800" y="141732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Bronze /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Silver / Gold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8" name="Connector 8"/>
          <p:cNvCxnSpPr/>
          <p:nvPr/>
        </p:nvCxnSpPr>
        <p:spPr>
          <a:xfrm>
            <a:off x="4452840" y="1673280"/>
            <a:ext cx="23832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1049" name="Rounded Rectangle 9"/>
          <p:cNvSpPr/>
          <p:nvPr/>
        </p:nvSpPr>
        <p:spPr>
          <a:xfrm>
            <a:off x="6784920" y="1417320"/>
            <a:ext cx="1855800" cy="511560"/>
          </a:xfrm>
          <a:prstGeom prst="roundRect">
            <a:avLst>
              <a:gd name="adj" fmla="val 16667"/>
            </a:avLst>
          </a:prstGeom>
          <a:solidFill>
            <a:srgbClr val="2b915c"/>
          </a:solidFill>
          <a:ln>
            <a:solidFill>
              <a:srgbClr val="2b9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QA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log</a:t>
            </a:r>
            <a:endParaRPr lang="en-IN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50" name="Connector 10"/>
          <p:cNvCxnSpPr/>
          <p:nvPr/>
        </p:nvCxnSpPr>
        <p:spPr>
          <a:xfrm>
            <a:off x="6546960" y="1673280"/>
            <a:ext cx="237960" cy="360"/>
          </a:xfrm>
          <a:prstGeom prst="straightConnector1">
            <a:avLst/>
          </a:prstGeom>
          <a:ln w="13970">
            <a:solidFill>
              <a:srgbClr val="0a1328"/>
            </a:solidFill>
            <a:round/>
          </a:ln>
        </p:spPr>
      </p:cxnSp>
      <p:sp>
        <p:nvSpPr>
          <p:cNvPr id="1051" name="Rounded Rectangle 11"/>
          <p:cNvSpPr/>
          <p:nvPr/>
        </p:nvSpPr>
        <p:spPr>
          <a:xfrm>
            <a:off x="2057400" y="2743200"/>
            <a:ext cx="1096920" cy="456840"/>
          </a:xfrm>
          <a:prstGeom prst="roundRect">
            <a:avLst>
              <a:gd name="adj" fmla="val 16667"/>
            </a:avLst>
          </a:prstGeom>
          <a:solidFill>
            <a:srgbClr val="f2a434"/>
          </a:solidFill>
          <a:ln>
            <a:solidFill>
              <a:srgbClr val="f2a4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Docker</a:t>
            </a:r>
            <a:endParaRPr lang="en-IN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Kafka</a:t>
            </a:r>
            <a:endParaRPr lang="en-IN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Rounded Rectangle 12"/>
          <p:cNvSpPr/>
          <p:nvPr/>
        </p:nvSpPr>
        <p:spPr>
          <a:xfrm>
            <a:off x="3749040" y="2743200"/>
            <a:ext cx="1096920" cy="456840"/>
          </a:xfrm>
          <a:prstGeom prst="roundRect">
            <a:avLst>
              <a:gd name="adj" fmla="val 16667"/>
            </a:avLst>
          </a:prstGeom>
          <a:solidFill>
            <a:srgbClr val="da5252"/>
          </a:solidFill>
          <a:ln>
            <a:solidFill>
              <a:srgbClr val="da5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Schema</a:t>
            </a:r>
            <a:endParaRPr lang="en-IN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Registry</a:t>
            </a:r>
            <a:endParaRPr lang="en-IN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3" name="TextBox 13"/>
          <p:cNvSpPr/>
          <p:nvPr/>
        </p:nvSpPr>
        <p:spPr>
          <a:xfrm>
            <a:off x="822960" y="3657600"/>
            <a:ext cx="7406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Automated proof validates medallion logic; optional stack validates integration.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5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Proof commands should be boring and repeatable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Rectangle 4"/>
          <p:cNvSpPr/>
          <p:nvPr/>
        </p:nvSpPr>
        <p:spPr>
          <a:xfrm>
            <a:off x="685800" y="1143000"/>
            <a:ext cx="7497720" cy="1508400"/>
          </a:xfrm>
          <a:prstGeom prst="rect">
            <a:avLst/>
          </a:prstGeom>
          <a:solidFill>
            <a:srgbClr val="ebf0f5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73080" rIns="73080" tIns="5472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cd Day_05/Lab_Files_Client_Ready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python run_day5_lab_tests.py --qa-dir ../../outputs/day5_client_ready_qa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0f1726"/>
                </a:solidFill>
                <a:effectLst/>
                <a:uFillTx/>
                <a:latin typeface="Consolas"/>
              </a:rPr>
              <a:t># Expected: PASS Bronze, Silver, DLQ, Gold revenue and schema decisions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9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TextBox 3"/>
          <p:cNvSpPr/>
          <p:nvPr/>
        </p:nvSpPr>
        <p:spPr>
          <a:xfrm>
            <a:off x="347400" y="530280"/>
            <a:ext cx="84578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Quiz: Schema registry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TextBox 4"/>
          <p:cNvSpPr/>
          <p:nvPr/>
        </p:nvSpPr>
        <p:spPr>
          <a:xfrm>
            <a:off x="777240" y="1143000"/>
            <a:ext cx="7589160" cy="24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What does Schema Registry help prevent?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a) Broker shutdown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b) Consumer failure due to unexpected message structure changes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c) Topic creation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d) Kafka installation errors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Rectangle 45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3" name="TextBox 22"/>
          <p:cNvSpPr/>
          <p:nvPr/>
        </p:nvSpPr>
        <p:spPr>
          <a:xfrm>
            <a:off x="255960" y="50400"/>
            <a:ext cx="530316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TextBox 23"/>
          <p:cNvSpPr/>
          <p:nvPr/>
        </p:nvSpPr>
        <p:spPr>
          <a:xfrm>
            <a:off x="347400" y="530280"/>
            <a:ext cx="84578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Quiz: Schema registry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Box 24"/>
          <p:cNvSpPr/>
          <p:nvPr/>
        </p:nvSpPr>
        <p:spPr>
          <a:xfrm>
            <a:off x="777240" y="1143000"/>
            <a:ext cx="7589160" cy="11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Answer: b) Consumer failure due to unexpected message structure changes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46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7" name="TextBox 27"/>
          <p:cNvSpPr/>
          <p:nvPr/>
        </p:nvSpPr>
        <p:spPr>
          <a:xfrm>
            <a:off x="255960" y="50400"/>
            <a:ext cx="530316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TextBox 28"/>
          <p:cNvSpPr/>
          <p:nvPr/>
        </p:nvSpPr>
        <p:spPr>
          <a:xfrm>
            <a:off x="347400" y="530280"/>
            <a:ext cx="84578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Quiz: Schema registry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TextBox 29"/>
          <p:cNvSpPr/>
          <p:nvPr/>
        </p:nvSpPr>
        <p:spPr>
          <a:xfrm>
            <a:off x="777240" y="1143000"/>
            <a:ext cx="7589160" cy="23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Which compatibility mode allows adding optional fields?</a:t>
            </a:r>
            <a:endParaRPr lang="en-IN" sz="1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a) Backward compatibility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b) Forward compatibility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c) No compatibility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d) Full incompatibility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Rectangle 48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1" name="TextBox 33"/>
          <p:cNvSpPr/>
          <p:nvPr/>
        </p:nvSpPr>
        <p:spPr>
          <a:xfrm>
            <a:off x="255960" y="50400"/>
            <a:ext cx="530316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TextBox 34"/>
          <p:cNvSpPr/>
          <p:nvPr/>
        </p:nvSpPr>
        <p:spPr>
          <a:xfrm>
            <a:off x="347400" y="530280"/>
            <a:ext cx="84578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Quiz: Schema registry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TextBox 35"/>
          <p:cNvSpPr/>
          <p:nvPr/>
        </p:nvSpPr>
        <p:spPr>
          <a:xfrm>
            <a:off x="777240" y="1143000"/>
            <a:ext cx="7589160" cy="6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Answer: a) Backward compatibility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Rectangle 47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5" name="TextBox 30"/>
          <p:cNvSpPr/>
          <p:nvPr/>
        </p:nvSpPr>
        <p:spPr>
          <a:xfrm>
            <a:off x="255960" y="50400"/>
            <a:ext cx="530316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TextBox 31"/>
          <p:cNvSpPr/>
          <p:nvPr/>
        </p:nvSpPr>
        <p:spPr>
          <a:xfrm>
            <a:off x="347400" y="530280"/>
            <a:ext cx="84578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Quiz: Schema registry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TextBox 32"/>
          <p:cNvSpPr/>
          <p:nvPr/>
        </p:nvSpPr>
        <p:spPr>
          <a:xfrm>
            <a:off x="777240" y="1179000"/>
            <a:ext cx="7589160" cy="23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What happens if a producer sends data with an incompatible schema?</a:t>
            </a:r>
            <a:endParaRPr lang="en-IN" sz="1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a) Kafka automatically deletes the topic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b) Schema Registry may reject the schema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c) Consumer group is deleted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d) Broker becomes leader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Rectangle 49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9" name="TextBox 36"/>
          <p:cNvSpPr/>
          <p:nvPr/>
        </p:nvSpPr>
        <p:spPr>
          <a:xfrm>
            <a:off x="255960" y="50400"/>
            <a:ext cx="530316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TextBox 37"/>
          <p:cNvSpPr/>
          <p:nvPr/>
        </p:nvSpPr>
        <p:spPr>
          <a:xfrm>
            <a:off x="347400" y="530280"/>
            <a:ext cx="84578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Quiz: Schema registry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TextBox 38"/>
          <p:cNvSpPr/>
          <p:nvPr/>
        </p:nvSpPr>
        <p:spPr>
          <a:xfrm>
            <a:off x="777240" y="1179000"/>
            <a:ext cx="758916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Answer: b) Schema Registry may reject the schema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Rectangle 50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3" name="TextBox 39"/>
          <p:cNvSpPr/>
          <p:nvPr/>
        </p:nvSpPr>
        <p:spPr>
          <a:xfrm>
            <a:off x="255960" y="50400"/>
            <a:ext cx="530316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TextBox 40"/>
          <p:cNvSpPr/>
          <p:nvPr/>
        </p:nvSpPr>
        <p:spPr>
          <a:xfrm>
            <a:off x="347400" y="530280"/>
            <a:ext cx="84578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Quiz: Schema registry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TextBox 41"/>
          <p:cNvSpPr/>
          <p:nvPr/>
        </p:nvSpPr>
        <p:spPr>
          <a:xfrm>
            <a:off x="777240" y="1179000"/>
            <a:ext cx="7589160" cy="23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What happens if a producer sends data with an incompatible schema?</a:t>
            </a:r>
            <a:endParaRPr lang="en-IN" sz="1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a) Kafka automatically deletes the topic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b) Schema Registry may reject the schema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c) Consumer group is deleted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d) Broker becomes leader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Rectangle 44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7" name="TextBox 7"/>
          <p:cNvSpPr/>
          <p:nvPr/>
        </p:nvSpPr>
        <p:spPr>
          <a:xfrm>
            <a:off x="255960" y="50400"/>
            <a:ext cx="530316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TextBox 12"/>
          <p:cNvSpPr/>
          <p:nvPr/>
        </p:nvSpPr>
        <p:spPr>
          <a:xfrm>
            <a:off x="347400" y="530280"/>
            <a:ext cx="84578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Mini exercise: lag and retention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TextBox 18"/>
          <p:cNvSpPr/>
          <p:nvPr/>
        </p:nvSpPr>
        <p:spPr>
          <a:xfrm>
            <a:off x="777240" y="1143000"/>
            <a:ext cx="7589160" cy="8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Given LW=105, HW=200 and committed offset=150: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1. Calculate lag.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2. Is the consumer safe or unrecoverable?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3. What changes if committed offset=100?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1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Answer: lag and retention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TextBox 4"/>
          <p:cNvSpPr/>
          <p:nvPr/>
        </p:nvSpPr>
        <p:spPr>
          <a:xfrm>
            <a:off x="777240" y="1143000"/>
            <a:ext cx="75891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Lag = 200 - 150 = 50.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 150 is safe because it is above LW 105.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Offset 100 is below LW 105, so records 100-104 are gone.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This is data loss risk, not only high lag.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5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Mini exercise: schema review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Rectangle 4"/>
          <p:cNvSpPr/>
          <p:nvPr/>
        </p:nvSpPr>
        <p:spPr>
          <a:xfrm>
            <a:off x="685800" y="1143000"/>
            <a:ext cx="402300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Change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8" name="Rectangle 5"/>
          <p:cNvSpPr/>
          <p:nvPr/>
        </p:nvSpPr>
        <p:spPr>
          <a:xfrm>
            <a:off x="4709160" y="1143000"/>
            <a:ext cx="182844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Accept?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9" name="Rectangle 6"/>
          <p:cNvSpPr/>
          <p:nvPr/>
        </p:nvSpPr>
        <p:spPr>
          <a:xfrm>
            <a:off x="6537960" y="1143000"/>
            <a:ext cx="182844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Why?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0" name="Rectangle 7"/>
          <p:cNvSpPr/>
          <p:nvPr/>
        </p:nvSpPr>
        <p:spPr>
          <a:xfrm>
            <a:off x="685800" y="1581840"/>
            <a:ext cx="40230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Add optional customer_tier with default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Rectangle 8"/>
          <p:cNvSpPr/>
          <p:nvPr/>
        </p:nvSpPr>
        <p:spPr>
          <a:xfrm>
            <a:off x="4709160" y="1581840"/>
            <a:ext cx="182844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Rectangle 9"/>
          <p:cNvSpPr/>
          <p:nvPr/>
        </p:nvSpPr>
        <p:spPr>
          <a:xfrm>
            <a:off x="6537960" y="1581840"/>
            <a:ext cx="182844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Rectangle 10"/>
          <p:cNvSpPr/>
          <p:nvPr/>
        </p:nvSpPr>
        <p:spPr>
          <a:xfrm>
            <a:off x="685800" y="2020680"/>
            <a:ext cx="40230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Rename order_id to id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Rectangle 11"/>
          <p:cNvSpPr/>
          <p:nvPr/>
        </p:nvSpPr>
        <p:spPr>
          <a:xfrm>
            <a:off x="4709160" y="2020680"/>
            <a:ext cx="182844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Rectangle 12"/>
          <p:cNvSpPr/>
          <p:nvPr/>
        </p:nvSpPr>
        <p:spPr>
          <a:xfrm>
            <a:off x="6537960" y="2020680"/>
            <a:ext cx="182844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Rectangle 13"/>
          <p:cNvSpPr/>
          <p:nvPr/>
        </p:nvSpPr>
        <p:spPr>
          <a:xfrm>
            <a:off x="685800" y="2459880"/>
            <a:ext cx="40230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Change amount decimal to string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Rectangle 14"/>
          <p:cNvSpPr/>
          <p:nvPr/>
        </p:nvSpPr>
        <p:spPr>
          <a:xfrm>
            <a:off x="4709160" y="2459880"/>
            <a:ext cx="182844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Rectangle 15"/>
          <p:cNvSpPr/>
          <p:nvPr/>
        </p:nvSpPr>
        <p:spPr>
          <a:xfrm>
            <a:off x="6537960" y="2459880"/>
            <a:ext cx="182844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Rectangle 16"/>
          <p:cNvSpPr/>
          <p:nvPr/>
        </p:nvSpPr>
        <p:spPr>
          <a:xfrm>
            <a:off x="685800" y="2898720"/>
            <a:ext cx="40230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Remove optional coupon_code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Rectangle 17"/>
          <p:cNvSpPr/>
          <p:nvPr/>
        </p:nvSpPr>
        <p:spPr>
          <a:xfrm>
            <a:off x="4709160" y="2898720"/>
            <a:ext cx="182844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Rectangle 18"/>
          <p:cNvSpPr/>
          <p:nvPr/>
        </p:nvSpPr>
        <p:spPr>
          <a:xfrm>
            <a:off x="6537960" y="2898720"/>
            <a:ext cx="182844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3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Answer: schema review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Rectangle 4"/>
          <p:cNvSpPr/>
          <p:nvPr/>
        </p:nvSpPr>
        <p:spPr>
          <a:xfrm>
            <a:off x="685800" y="1143000"/>
            <a:ext cx="402300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Change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6" name="Rectangle 5"/>
          <p:cNvSpPr/>
          <p:nvPr/>
        </p:nvSpPr>
        <p:spPr>
          <a:xfrm>
            <a:off x="4709160" y="1143000"/>
            <a:ext cx="127980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Decision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7" name="Rectangle 6"/>
          <p:cNvSpPr/>
          <p:nvPr/>
        </p:nvSpPr>
        <p:spPr>
          <a:xfrm>
            <a:off x="5989320" y="1143000"/>
            <a:ext cx="2377080" cy="438480"/>
          </a:xfrm>
          <a:prstGeom prst="rect">
            <a:avLst/>
          </a:prstGeom>
          <a:solidFill>
            <a:srgbClr val="0a1328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Reason</a:t>
            </a:r>
            <a:endParaRPr lang="en-IN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8" name="Rectangle 7"/>
          <p:cNvSpPr/>
          <p:nvPr/>
        </p:nvSpPr>
        <p:spPr>
          <a:xfrm>
            <a:off x="685800" y="1581840"/>
            <a:ext cx="40230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Add optional customer_tier with default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Rectangle 8"/>
          <p:cNvSpPr/>
          <p:nvPr/>
        </p:nvSpPr>
        <p:spPr>
          <a:xfrm>
            <a:off x="4709160" y="1581840"/>
            <a:ext cx="12798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Accept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Rectangle 9"/>
          <p:cNvSpPr/>
          <p:nvPr/>
        </p:nvSpPr>
        <p:spPr>
          <a:xfrm>
            <a:off x="5989320" y="1581840"/>
            <a:ext cx="23770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Backward-compatible.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Rectangle 10"/>
          <p:cNvSpPr/>
          <p:nvPr/>
        </p:nvSpPr>
        <p:spPr>
          <a:xfrm>
            <a:off x="685800" y="2020680"/>
            <a:ext cx="40230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Rename order_id to id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Rectangle 11"/>
          <p:cNvSpPr/>
          <p:nvPr/>
        </p:nvSpPr>
        <p:spPr>
          <a:xfrm>
            <a:off x="4709160" y="2020680"/>
            <a:ext cx="12798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Rectangle 12"/>
          <p:cNvSpPr/>
          <p:nvPr/>
        </p:nvSpPr>
        <p:spPr>
          <a:xfrm>
            <a:off x="5989320" y="2020680"/>
            <a:ext cx="23770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Field names are contract.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Rectangle 13"/>
          <p:cNvSpPr/>
          <p:nvPr/>
        </p:nvSpPr>
        <p:spPr>
          <a:xfrm>
            <a:off x="685800" y="2459880"/>
            <a:ext cx="40230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Change amount decimal to string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Rectangle 14"/>
          <p:cNvSpPr/>
          <p:nvPr/>
        </p:nvSpPr>
        <p:spPr>
          <a:xfrm>
            <a:off x="4709160" y="2459880"/>
            <a:ext cx="12798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Reject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Rectangle 15"/>
          <p:cNvSpPr/>
          <p:nvPr/>
        </p:nvSpPr>
        <p:spPr>
          <a:xfrm>
            <a:off x="5989320" y="2459880"/>
            <a:ext cx="23770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Type semantics break.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Rectangle 16"/>
          <p:cNvSpPr/>
          <p:nvPr/>
        </p:nvSpPr>
        <p:spPr>
          <a:xfrm>
            <a:off x="685800" y="2898720"/>
            <a:ext cx="40230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Remove optional coupon_code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Rectangle 17"/>
          <p:cNvSpPr/>
          <p:nvPr/>
        </p:nvSpPr>
        <p:spPr>
          <a:xfrm>
            <a:off x="4709160" y="2898720"/>
            <a:ext cx="127980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Review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Rectangle 18"/>
          <p:cNvSpPr/>
          <p:nvPr/>
        </p:nvSpPr>
        <p:spPr>
          <a:xfrm>
            <a:off x="5989320" y="2898720"/>
            <a:ext cx="2377080" cy="438480"/>
          </a:xfrm>
          <a:prstGeom prst="rect">
            <a:avLst/>
          </a:prstGeom>
          <a:solidFill>
            <a:srgbClr val="ffffff"/>
          </a:solidFill>
          <a:ln>
            <a:solidFill>
              <a:srgbClr val="d5de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Depends on readers.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Rectangle 1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0a13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1" name="TextBox 2"/>
          <p:cNvSpPr/>
          <p:nvPr/>
        </p:nvSpPr>
        <p:spPr>
          <a:xfrm>
            <a:off x="255960" y="5040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1" u="none" strike="noStrike">
                <a:solidFill>
                  <a:srgbClr val="f2a434"/>
                </a:solidFill>
                <a:effectLst/>
                <a:uFillTx/>
                <a:latin typeface="Aptos"/>
              </a:rPr>
              <a:t>Day 5 / Data Ingestion Pipeline Design</a:t>
            </a:r>
            <a:endParaRPr lang="en-IN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TextBox 3"/>
          <p:cNvSpPr/>
          <p:nvPr/>
        </p:nvSpPr>
        <p:spPr>
          <a:xfrm>
            <a:off x="347400" y="53028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Knowledge check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TextBox 4"/>
          <p:cNvSpPr/>
          <p:nvPr/>
        </p:nvSpPr>
        <p:spPr>
          <a:xfrm>
            <a:off x="777240" y="1051560"/>
            <a:ext cx="7680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1. What does a DLQ preserve that a log message usually does not?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2. Why can a low watermark make lag unrecoverable?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3. Why should a late-arriving record be judged by event time?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4. Why is Kafka not replaced by Redis Streams in this course design?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0f1726"/>
                </a:solidFill>
                <a:effectLst/>
                <a:uFillTx/>
                <a:latin typeface="Aptos"/>
              </a:rPr>
              <a:t>5. Why should Bronze keep raw CDC envelopes?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LibreOffice/25.8.6.2$Windows_X86_64 LibreOffice_project/b4b39682cd9868fa725bc664aff94278d315bd04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2026-06-05T08:37:50Z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