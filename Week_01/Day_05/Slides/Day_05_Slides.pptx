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c6bae760be491c" /><Relationship Type="http://schemas.openxmlformats.org/officeDocument/2006/relationships/extended-properties" Target="/docProps/app.xml" Id="Rfe5892e5ba08479c" /><Relationship Type="http://schemas.openxmlformats.org/officeDocument/2006/relationships/officeDocument" Target="/ppt/presentation.xml" Id="R836df3608f3e42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6ae3095570496e"/>
  </p:sldMasterIdLst>
  <p:notesMasterIdLst>
    <p:notesMasterId xmlns:r="http://schemas.openxmlformats.org/officeDocument/2006/relationships" r:id="R4cb393041dee4fef"/>
  </p:notesMasterIdLst>
  <p:sldIdLst>
    <p:sldId xmlns:r="http://schemas.openxmlformats.org/officeDocument/2006/relationships" id="256" r:id="R67a4ecb8d52248e2"/>
    <p:sldId xmlns:r="http://schemas.openxmlformats.org/officeDocument/2006/relationships" id="257" r:id="Rc3978bc6575f4eb3"/>
    <p:sldId xmlns:r="http://schemas.openxmlformats.org/officeDocument/2006/relationships" id="258" r:id="Re854f3abe9594597"/>
    <p:sldId xmlns:r="http://schemas.openxmlformats.org/officeDocument/2006/relationships" id="259" r:id="R9aeca484961f45e0"/>
    <p:sldId xmlns:r="http://schemas.openxmlformats.org/officeDocument/2006/relationships" id="260" r:id="Rc12e1b5f45544fb2"/>
    <p:sldId xmlns:r="http://schemas.openxmlformats.org/officeDocument/2006/relationships" id="261" r:id="Re3a21291261d4c05"/>
    <p:sldId xmlns:r="http://schemas.openxmlformats.org/officeDocument/2006/relationships" id="262" r:id="R982d4cbcd39f44fd"/>
    <p:sldId xmlns:r="http://schemas.openxmlformats.org/officeDocument/2006/relationships" id="263" r:id="R82d945bccb464875"/>
    <p:sldId xmlns:r="http://schemas.openxmlformats.org/officeDocument/2006/relationships" id="264" r:id="R5706b177caf4479b"/>
    <p:sldId xmlns:r="http://schemas.openxmlformats.org/officeDocument/2006/relationships" id="265" r:id="R91fd433d897345b6"/>
    <p:sldId xmlns:r="http://schemas.openxmlformats.org/officeDocument/2006/relationships" id="266" r:id="R57615dbad8844377"/>
    <p:sldId xmlns:r="http://schemas.openxmlformats.org/officeDocument/2006/relationships" id="267" r:id="R318aa72ab12f4f51"/>
    <p:sldId xmlns:r="http://schemas.openxmlformats.org/officeDocument/2006/relationships" id="268" r:id="Re43557066f0c4b89"/>
    <p:sldId xmlns:r="http://schemas.openxmlformats.org/officeDocument/2006/relationships" id="269" r:id="R80879fd10f844afa"/>
    <p:sldId xmlns:r="http://schemas.openxmlformats.org/officeDocument/2006/relationships" id="270" r:id="Ra656689dc5cb4bdd"/>
    <p:sldId xmlns:r="http://schemas.openxmlformats.org/officeDocument/2006/relationships" id="271" r:id="Rd575639341244d9b"/>
    <p:sldId xmlns:r="http://schemas.openxmlformats.org/officeDocument/2006/relationships" id="272" r:id="R9624806cc1b94bf4"/>
    <p:sldId xmlns:r="http://schemas.openxmlformats.org/officeDocument/2006/relationships" id="273" r:id="R81c12317986142cc"/>
    <p:sldId xmlns:r="http://schemas.openxmlformats.org/officeDocument/2006/relationships" id="274" r:id="Rb7149a71379641b9"/>
    <p:sldId xmlns:r="http://schemas.openxmlformats.org/officeDocument/2006/relationships" id="275" r:id="Rb2cea4f20d7a46c2"/>
    <p:sldId xmlns:r="http://schemas.openxmlformats.org/officeDocument/2006/relationships" id="276" r:id="Rc9fae3f1d88f410d"/>
    <p:sldId xmlns:r="http://schemas.openxmlformats.org/officeDocument/2006/relationships" id="277" r:id="Rca4ba5ae39204200"/>
    <p:sldId xmlns:r="http://schemas.openxmlformats.org/officeDocument/2006/relationships" id="278" r:id="R73dbf38ae82f4a61"/>
    <p:sldId xmlns:r="http://schemas.openxmlformats.org/officeDocument/2006/relationships" id="279" r:id="R8f4afa5b6dce4a0f"/>
    <p:sldId xmlns:r="http://schemas.openxmlformats.org/officeDocument/2006/relationships" id="280" r:id="Rf91ecc69883049e9"/>
    <p:sldId xmlns:r="http://schemas.openxmlformats.org/officeDocument/2006/relationships" id="281" r:id="R84433c556c64432b"/>
    <p:sldId xmlns:r="http://schemas.openxmlformats.org/officeDocument/2006/relationships" id="282" r:id="Rb9bb5b16664f4a1d"/>
    <p:sldId xmlns:r="http://schemas.openxmlformats.org/officeDocument/2006/relationships" id="283" r:id="R76351ae55d874c33"/>
    <p:sldId xmlns:r="http://schemas.openxmlformats.org/officeDocument/2006/relationships" id="284" r:id="Rad29bbeab4b44db8"/>
    <p:sldId xmlns:r="http://schemas.openxmlformats.org/officeDocument/2006/relationships" id="285" r:id="R129d1eec51484e7a"/>
    <p:sldId xmlns:r="http://schemas.openxmlformats.org/officeDocument/2006/relationships" id="286" r:id="Rc0ec6543327d434a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6ae3095570496e" /><Relationship Type="http://schemas.openxmlformats.org/officeDocument/2006/relationships/theme" Target="/ppt/theme/theme1.xml" Id="R35099c129c894086" /><Relationship Type="http://schemas.openxmlformats.org/officeDocument/2006/relationships/notesMaster" Target="/ppt/notesMasters/notesMaster1.xml" Id="R4cb393041dee4fef" /><Relationship Type="http://schemas.openxmlformats.org/officeDocument/2006/relationships/presProps" Target="/ppt/presProps.xml" Id="Rb3e7240b9df94cef" /><Relationship Type="http://schemas.openxmlformats.org/officeDocument/2006/relationships/viewProps" Target="/ppt/viewProps.xml" Id="R9a711dba6ed54938" /><Relationship Type="http://schemas.openxmlformats.org/officeDocument/2006/relationships/tableStyles" Target="/ppt/tableStyles.xml" Id="R8651b54cd07641d0" /><Relationship Type="http://schemas.openxmlformats.org/officeDocument/2006/relationships/slide" Target="/ppt/slides/slide1.xml" Id="R67a4ecb8d52248e2" /><Relationship Type="http://schemas.openxmlformats.org/officeDocument/2006/relationships/slide" Target="/ppt/slides/slide2.xml" Id="Rc3978bc6575f4eb3" /><Relationship Type="http://schemas.openxmlformats.org/officeDocument/2006/relationships/slide" Target="/ppt/slides/slide3.xml" Id="Re854f3abe9594597" /><Relationship Type="http://schemas.openxmlformats.org/officeDocument/2006/relationships/slide" Target="/ppt/slides/slide4.xml" Id="R9aeca484961f45e0" /><Relationship Type="http://schemas.openxmlformats.org/officeDocument/2006/relationships/slide" Target="/ppt/slides/slide5.xml" Id="Rc12e1b5f45544fb2" /><Relationship Type="http://schemas.openxmlformats.org/officeDocument/2006/relationships/slide" Target="/ppt/slides/slide6.xml" Id="Re3a21291261d4c05" /><Relationship Type="http://schemas.openxmlformats.org/officeDocument/2006/relationships/slide" Target="/ppt/slides/slide7.xml" Id="R982d4cbcd39f44fd" /><Relationship Type="http://schemas.openxmlformats.org/officeDocument/2006/relationships/slide" Target="/ppt/slides/slide8.xml" Id="R82d945bccb464875" /><Relationship Type="http://schemas.openxmlformats.org/officeDocument/2006/relationships/slide" Target="/ppt/slides/slide9.xml" Id="R5706b177caf4479b" /><Relationship Type="http://schemas.openxmlformats.org/officeDocument/2006/relationships/slide" Target="/ppt/slides/slide10.xml" Id="R91fd433d897345b6" /><Relationship Type="http://schemas.openxmlformats.org/officeDocument/2006/relationships/slide" Target="/ppt/slides/slide11.xml" Id="R57615dbad8844377" /><Relationship Type="http://schemas.openxmlformats.org/officeDocument/2006/relationships/slide" Target="/ppt/slides/slide12.xml" Id="R318aa72ab12f4f51" /><Relationship Type="http://schemas.openxmlformats.org/officeDocument/2006/relationships/slide" Target="/ppt/slides/slide13.xml" Id="Re43557066f0c4b89" /><Relationship Type="http://schemas.openxmlformats.org/officeDocument/2006/relationships/slide" Target="/ppt/slides/slide14.xml" Id="R80879fd10f844afa" /><Relationship Type="http://schemas.openxmlformats.org/officeDocument/2006/relationships/slide" Target="/ppt/slides/slide15.xml" Id="Ra656689dc5cb4bdd" /><Relationship Type="http://schemas.openxmlformats.org/officeDocument/2006/relationships/slide" Target="/ppt/slides/slide16.xml" Id="Rd575639341244d9b" /><Relationship Type="http://schemas.openxmlformats.org/officeDocument/2006/relationships/slide" Target="/ppt/slides/slide17.xml" Id="R9624806cc1b94bf4" /><Relationship Type="http://schemas.openxmlformats.org/officeDocument/2006/relationships/slide" Target="/ppt/slides/slide18.xml" Id="R81c12317986142cc" /><Relationship Type="http://schemas.openxmlformats.org/officeDocument/2006/relationships/slide" Target="/ppt/slides/slide19.xml" Id="Rb7149a71379641b9" /><Relationship Type="http://schemas.openxmlformats.org/officeDocument/2006/relationships/slide" Target="/ppt/slides/slide20.xml" Id="Rb2cea4f20d7a46c2" /><Relationship Type="http://schemas.openxmlformats.org/officeDocument/2006/relationships/slide" Target="/ppt/slides/slide21.xml" Id="Rc9fae3f1d88f410d" /><Relationship Type="http://schemas.openxmlformats.org/officeDocument/2006/relationships/slide" Target="/ppt/slides/slide22.xml" Id="Rca4ba5ae39204200" /><Relationship Type="http://schemas.openxmlformats.org/officeDocument/2006/relationships/slide" Target="/ppt/slides/slide23.xml" Id="R73dbf38ae82f4a61" /><Relationship Type="http://schemas.openxmlformats.org/officeDocument/2006/relationships/slide" Target="/ppt/slides/slide24.xml" Id="R8f4afa5b6dce4a0f" /><Relationship Type="http://schemas.openxmlformats.org/officeDocument/2006/relationships/slide" Target="/ppt/slides/slide25.xml" Id="Rf91ecc69883049e9" /><Relationship Type="http://schemas.openxmlformats.org/officeDocument/2006/relationships/slide" Target="/ppt/slides/slide26.xml" Id="R84433c556c64432b" /><Relationship Type="http://schemas.openxmlformats.org/officeDocument/2006/relationships/slide" Target="/ppt/slides/slide27.xml" Id="Rb9bb5b16664f4a1d" /><Relationship Type="http://schemas.openxmlformats.org/officeDocument/2006/relationships/slide" Target="/ppt/slides/slide28.xml" Id="R76351ae55d874c33" /><Relationship Type="http://schemas.openxmlformats.org/officeDocument/2006/relationships/slide" Target="/ppt/slides/slide29.xml" Id="Rad29bbeab4b44db8" /><Relationship Type="http://schemas.openxmlformats.org/officeDocument/2006/relationships/slide" Target="/ppt/slides/slide30.xml" Id="R129d1eec51484e7a" /><Relationship Type="http://schemas.openxmlformats.org/officeDocument/2006/relationships/slide" Target="/ppt/slides/slide31.xml" Id="Rc0ec6543327d43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0a2316fe77d4a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7282f6f8c64ec6" /><Relationship Type="http://schemas.openxmlformats.org/officeDocument/2006/relationships/notesMaster" Target="/ppt/notesMasters/notesMaster1.xml" Id="R61831016e6804f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8b519d90e2431a" /><Relationship Type="http://schemas.openxmlformats.org/officeDocument/2006/relationships/notesMaster" Target="/ppt/notesMasters/notesMaster1.xml" Id="Rb9240fe1954543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49cbddb6554c68" /><Relationship Type="http://schemas.openxmlformats.org/officeDocument/2006/relationships/notesMaster" Target="/ppt/notesMasters/notesMaster1.xml" Id="R3b20a6de2d2747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3c3773b53246ca" /><Relationship Type="http://schemas.openxmlformats.org/officeDocument/2006/relationships/notesMaster" Target="/ppt/notesMasters/notesMaster1.xml" Id="R15a98a6831e545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cc4bf7cd874ed4" /><Relationship Type="http://schemas.openxmlformats.org/officeDocument/2006/relationships/notesMaster" Target="/ppt/notesMasters/notesMaster1.xml" Id="Rdead7a9cd36a48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36247dbe3747f1" /><Relationship Type="http://schemas.openxmlformats.org/officeDocument/2006/relationships/notesMaster" Target="/ppt/notesMasters/notesMaster1.xml" Id="R97396531a5e94d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6703e196c24144" /><Relationship Type="http://schemas.openxmlformats.org/officeDocument/2006/relationships/notesMaster" Target="/ppt/notesMasters/notesMaster1.xml" Id="R8fbc4f51a69540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182ead93a44daa" /><Relationship Type="http://schemas.openxmlformats.org/officeDocument/2006/relationships/notesMaster" Target="/ppt/notesMasters/notesMaster1.xml" Id="R8c561ff9fe1f4e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db7df5040943e0" /><Relationship Type="http://schemas.openxmlformats.org/officeDocument/2006/relationships/notesMaster" Target="/ppt/notesMasters/notesMaster1.xml" Id="R9bd34b4316fd4c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c8a0278ad14e2a" /><Relationship Type="http://schemas.openxmlformats.org/officeDocument/2006/relationships/notesMaster" Target="/ppt/notesMasters/notesMaster1.xml" Id="R9e204bd61d884b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b7946c8d924818" /><Relationship Type="http://schemas.openxmlformats.org/officeDocument/2006/relationships/notesMaster" Target="/ppt/notesMasters/notesMaster1.xml" Id="R552a2da6347e47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98578c1fc44cbb" /><Relationship Type="http://schemas.openxmlformats.org/officeDocument/2006/relationships/notesMaster" Target="/ppt/notesMasters/notesMaster1.xml" Id="R05fe134f2b954c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f5c2b2e4474b64" /><Relationship Type="http://schemas.openxmlformats.org/officeDocument/2006/relationships/notesMaster" Target="/ppt/notesMasters/notesMaster1.xml" Id="Ra607c8241b0447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cd70f8688e4d76" /><Relationship Type="http://schemas.openxmlformats.org/officeDocument/2006/relationships/notesMaster" Target="/ppt/notesMasters/notesMaster1.xml" Id="R815c5ac0e19540a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b83df73d944dfa" /><Relationship Type="http://schemas.openxmlformats.org/officeDocument/2006/relationships/notesMaster" Target="/ppt/notesMasters/notesMaster1.xml" Id="Rc0d9c45bc5f8424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3d13dc94d94fc5" /><Relationship Type="http://schemas.openxmlformats.org/officeDocument/2006/relationships/notesMaster" Target="/ppt/notesMasters/notesMaster1.xml" Id="Reda06c5a32d746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736937933d24bb5" /><Relationship Type="http://schemas.openxmlformats.org/officeDocument/2006/relationships/notesMaster" Target="/ppt/notesMasters/notesMaster1.xml" Id="R9279c54541f94e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dbb9f0d1d8e46a9" /><Relationship Type="http://schemas.openxmlformats.org/officeDocument/2006/relationships/notesMaster" Target="/ppt/notesMasters/notesMaster1.xml" Id="R501beb7b98f84c1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b27ddaa9b54cdd" /><Relationship Type="http://schemas.openxmlformats.org/officeDocument/2006/relationships/notesMaster" Target="/ppt/notesMasters/notesMaster1.xml" Id="R507d7feb9e78462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e58083c5389426c" /><Relationship Type="http://schemas.openxmlformats.org/officeDocument/2006/relationships/notesMaster" Target="/ppt/notesMasters/notesMaster1.xml" Id="R4b004d294cc44a9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cd261a5a3834781" /><Relationship Type="http://schemas.openxmlformats.org/officeDocument/2006/relationships/notesMaster" Target="/ppt/notesMasters/notesMaster1.xml" Id="Rd870b80963fb4aa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eb1286051464bff" /><Relationship Type="http://schemas.openxmlformats.org/officeDocument/2006/relationships/notesMaster" Target="/ppt/notesMasters/notesMaster1.xml" Id="R4dbf4f2ea1014ba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36deae09d7d4148" /><Relationship Type="http://schemas.openxmlformats.org/officeDocument/2006/relationships/notesMaster" Target="/ppt/notesMasters/notesMaster1.xml" Id="R3f2ac5371b544ee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154ec4a957d4151" /><Relationship Type="http://schemas.openxmlformats.org/officeDocument/2006/relationships/notesMaster" Target="/ppt/notesMasters/notesMaster1.xml" Id="Rf07810e66d7f411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47a074b9c14424f" /><Relationship Type="http://schemas.openxmlformats.org/officeDocument/2006/relationships/notesMaster" Target="/ppt/notesMasters/notesMaster1.xml" Id="R5e5268ebcc2745a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abe290e8c7940b9" /><Relationship Type="http://schemas.openxmlformats.org/officeDocument/2006/relationships/notesMaster" Target="/ppt/notesMasters/notesMaster1.xml" Id="R3ecd850b970f488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6b135c60d3747a1" /><Relationship Type="http://schemas.openxmlformats.org/officeDocument/2006/relationships/notesMaster" Target="/ppt/notesMasters/notesMaster1.xml" Id="R527b7cedbd084b2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edec2c089694f3f" /><Relationship Type="http://schemas.openxmlformats.org/officeDocument/2006/relationships/notesMaster" Target="/ppt/notesMasters/notesMaster1.xml" Id="Rd65f7dba52364dd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22a8cf1876f46d1" /><Relationship Type="http://schemas.openxmlformats.org/officeDocument/2006/relationships/notesMaster" Target="/ppt/notesMasters/notesMaster1.xml" Id="R0903dca2b1c548d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54baa8116294122" /><Relationship Type="http://schemas.openxmlformats.org/officeDocument/2006/relationships/notesMaster" Target="/ppt/notesMasters/notesMaster1.xml" Id="Re7208e83b223424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ab3f33b371447a3" /><Relationship Type="http://schemas.openxmlformats.org/officeDocument/2006/relationships/notesMaster" Target="/ppt/notesMasters/notesMaster1.xml" Id="R8cb30adb212149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97643759474824" /></Relationships>
</file>

<file path=ppt/slideLayouts/slideLayout2.xml><?xml version="1.0" encoding="utf-8"?>
<p:sldLayout xmlns:p="http://schemas.openxmlformats.org/presentationml/2006/main" type="blank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678c22e77304328" /><Relationship Type="http://schemas.openxmlformats.org/officeDocument/2006/relationships/slideLayout" Target="/ppt/slideLayouts/slideLayout2.xml" Id="Rec270d5e0665419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B0B7DC9-2363-436F-AB3B-D3AA98E425DE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05200"/>
            <a:ext cx="8229240" cy="85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23B343-7CCC-4600-8514-C48E6CC88A66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203480"/>
            <a:ext cx="8229240" cy="29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270d5e066541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45675946dc434d" /><Relationship Type="http://schemas.openxmlformats.org/officeDocument/2006/relationships/image" Target="/ppt/media/image.png" Id="R5f9d649770f24117" /><Relationship Type="http://schemas.openxmlformats.org/officeDocument/2006/relationships/hyperlink" Target="file:///C:/Users/Gamer/Downloads/Training/Week1/Day 5/&#12304;264677521234698&#8224;L16-L31&#12305;" TargetMode="External" Id="R1c72c1c5c4304fa3" /><Relationship Type="http://schemas.openxmlformats.org/officeDocument/2006/relationships/hyperlink" Target="file:///C:/Users/Gamer/Downloads/Training/Week1/Day 5/&#12304;73443659327933&#8224;L127-L148&#12305;" TargetMode="External" Id="R3c87ec38030b44b8" /><Relationship Type="http://schemas.openxmlformats.org/officeDocument/2006/relationships/notesSlide" Target="/ppt/notesSlides/notesSlide1.xml" Id="Rbba3b91b04bd4e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eae25e1e414f0d" /><Relationship Type="http://schemas.openxmlformats.org/officeDocument/2006/relationships/image" Target="/ppt/media/image2.png" Id="R49315d29e3b34eee" /><Relationship Type="http://schemas.openxmlformats.org/officeDocument/2006/relationships/image" Target="/ppt/media/image3.png" Id="Rb09dfb01c46c42c6" /><Relationship Type="http://schemas.openxmlformats.org/officeDocument/2006/relationships/image" Target="/ppt/media/image4.png" Id="Re79c96a8c4ca47c3" /><Relationship Type="http://schemas.openxmlformats.org/officeDocument/2006/relationships/image" Target="/ppt/media/image5.png" Id="R560d2961612b4d1a" /><Relationship Type="http://schemas.openxmlformats.org/officeDocument/2006/relationships/image" Target="/ppt/media/image6.png" Id="R32743e0c6cd445f4" /><Relationship Type="http://schemas.openxmlformats.org/officeDocument/2006/relationships/image" Target="/ppt/media/image7.png" Id="Rfc524661c9ef4251" /><Relationship Type="http://schemas.openxmlformats.org/officeDocument/2006/relationships/hyperlink" Target="file:///C:/Users/Gamer/Downloads/Training/Week1/Day 5/&#12304;114490099092113&#8224;L95-L122&#12305;" TargetMode="External" Id="Rd2afa121377b45df" /><Relationship Type="http://schemas.openxmlformats.org/officeDocument/2006/relationships/notesSlide" Target="/ppt/notesSlides/notesSlide2.xml" Id="Raed719548c5d45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2585468d204227" /><Relationship Type="http://schemas.openxmlformats.org/officeDocument/2006/relationships/hyperlink" Target="file:///C:/Users/Gamer/Downloads/Training/Week1/Day 5/&#12304;549557786880950&#8224;L592-L610&#12305;" TargetMode="External" Id="R54a729a220764a4c" /><Relationship Type="http://schemas.openxmlformats.org/officeDocument/2006/relationships/notesSlide" Target="/ppt/notesSlides/notesSlide3.xml" Id="R4cc67e809f614f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a80c73d30348d0" /><Relationship Type="http://schemas.openxmlformats.org/officeDocument/2006/relationships/image" Target="/ppt/media/image8.png" Id="Rf2c8222fba76492b" /><Relationship Type="http://schemas.openxmlformats.org/officeDocument/2006/relationships/image" Target="/ppt/media/image9.png" Id="R04360e05ba054d0e" /><Relationship Type="http://schemas.openxmlformats.org/officeDocument/2006/relationships/image" Target="/ppt/media/image3.png" Id="R0bea80f421914488" /><Relationship Type="http://schemas.openxmlformats.org/officeDocument/2006/relationships/hyperlink" Target="file:///C:/Users/Gamer/Downloads/Training/Week1/Day 5/&#12304;764676770703156&#8224;L185-L196&#12305;" TargetMode="External" Id="Rb3668632f5bc404d" /><Relationship Type="http://schemas.openxmlformats.org/officeDocument/2006/relationships/hyperlink" Target="file:///C:/Users/Gamer/Downloads/Training/Week1/Day 5/&#12304;73443659327933&#8224;L127-L148&#12305;" TargetMode="External" Id="Rc2204034eec94300" /><Relationship Type="http://schemas.openxmlformats.org/officeDocument/2006/relationships/notesSlide" Target="/ppt/notesSlides/notesSlide4.xml" Id="R864fd6a4c15e45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dbfed069d440fd" /><Relationship Type="http://schemas.openxmlformats.org/officeDocument/2006/relationships/image" Target="/ppt/media/image10.png" Id="R8a63062c541a4bb6" /><Relationship Type="http://schemas.openxmlformats.org/officeDocument/2006/relationships/image" Target="/ppt/media/image11.png" Id="R5ea2f0e6b42544f0" /><Relationship Type="http://schemas.openxmlformats.org/officeDocument/2006/relationships/image" Target="/ppt/media/image12.png" Id="Ref77cfd695b64d03" /><Relationship Type="http://schemas.openxmlformats.org/officeDocument/2006/relationships/image" Target="/ppt/media/image13.png" Id="R279aa250d8b0456e" /><Relationship Type="http://schemas.openxmlformats.org/officeDocument/2006/relationships/image" Target="/ppt/media/image14.png" Id="R3824dcd986984a2e" /><Relationship Type="http://schemas.openxmlformats.org/officeDocument/2006/relationships/hyperlink" Target="file:///C:/Users/Gamer/Downloads/Training/Week1/Day 5/&#12304;114490099092113&#8224;L95-L122&#12305;" TargetMode="External" Id="R2be6f38e2f164c73" /><Relationship Type="http://schemas.openxmlformats.org/officeDocument/2006/relationships/notesSlide" Target="/ppt/notesSlides/notesSlide5.xml" Id="Rf92287b98fea4d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09ab1bdbe247f5" /><Relationship Type="http://schemas.openxmlformats.org/officeDocument/2006/relationships/image" Target="/ppt/media/image10.png" Id="R0ad0ca2a10fa47b7" /><Relationship Type="http://schemas.openxmlformats.org/officeDocument/2006/relationships/image" Target="/ppt/media/image11.png" Id="R157ddc17c8484d74" /><Relationship Type="http://schemas.openxmlformats.org/officeDocument/2006/relationships/hyperlink" Target="file:///C:/Users/Gamer/Downloads/Training/Week1/Day 5/&#12304;114490099092113&#8224;L95-L122&#12305;" TargetMode="External" Id="R78a7b8e0fc90451b" /><Relationship Type="http://schemas.openxmlformats.org/officeDocument/2006/relationships/notesSlide" Target="/ppt/notesSlides/notesSlide6.xml" Id="Re65e2fb82dab4b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9868c321de4d9a" /><Relationship Type="http://schemas.openxmlformats.org/officeDocument/2006/relationships/image" Target="/ppt/media/image12.png" Id="Ra253534bec4a49de" /><Relationship Type="http://schemas.openxmlformats.org/officeDocument/2006/relationships/image" Target="/ppt/media/image13.png" Id="Rd5e85c0e14b641c4" /><Relationship Type="http://schemas.openxmlformats.org/officeDocument/2006/relationships/image" Target="/ppt/media/image14.png" Id="Ra68b495671b44bb7" /><Relationship Type="http://schemas.openxmlformats.org/officeDocument/2006/relationships/hyperlink" Target="file:///C:/Users/Gamer/Downloads/Training/Week1/Day 5/&#12304;114490099092113&#8224;L95-L122&#12305;" TargetMode="External" Id="R524a36e9b03a4597" /><Relationship Type="http://schemas.openxmlformats.org/officeDocument/2006/relationships/notesSlide" Target="/ppt/notesSlides/notesSlide7.xml" Id="Rec22ca552ebc47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3b40abf64544d6" /><Relationship Type="http://schemas.openxmlformats.org/officeDocument/2006/relationships/image" Target="/ppt/media/image9.png" Id="Rbd8f38ee7e054d6e" /><Relationship Type="http://schemas.openxmlformats.org/officeDocument/2006/relationships/image" Target="/ppt/media/image8.png" Id="R58f365178e0f48cc" /><Relationship Type="http://schemas.openxmlformats.org/officeDocument/2006/relationships/image" Target="/ppt/media/image15.png" Id="R99ab5987a1fe4452" /><Relationship Type="http://schemas.openxmlformats.org/officeDocument/2006/relationships/hyperlink" Target="file:///C:/Users/Gamer/Downloads/Training/Week1/Day 5/&#12304;549557786880950&#8224;L592-L610&#12305;" TargetMode="External" Id="R068db2f5b8e24535" /><Relationship Type="http://schemas.openxmlformats.org/officeDocument/2006/relationships/notesSlide" Target="/ppt/notesSlides/notesSlide8.xml" Id="Rbc84854b3a0d4c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c38b4ac51a4c44" /><Relationship Type="http://schemas.openxmlformats.org/officeDocument/2006/relationships/image" Target="/ppt/media/image9.png" Id="R5bcdf45a00cb41fc" /><Relationship Type="http://schemas.openxmlformats.org/officeDocument/2006/relationships/hyperlink" Target="file:///C:/Users/Gamer/Downloads/Training/Week1/Day 5/&#12304;764676770703156&#8224;L185-L196&#12305;" TargetMode="External" Id="R234b097402c24e3b" /><Relationship Type="http://schemas.openxmlformats.org/officeDocument/2006/relationships/hyperlink" Target="file:///C:/Users/Gamer/Downloads/Training/Week1/Day 5/&#12304;764676770703156&#8224;L297-L321&#12305;" TargetMode="External" Id="Re3eaafbd6a6e48e8" /><Relationship Type="http://schemas.openxmlformats.org/officeDocument/2006/relationships/notesSlide" Target="/ppt/notesSlides/notesSlide9.xml" Id="R5ab9fab618f340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bc076d8f1b4443" /><Relationship Type="http://schemas.openxmlformats.org/officeDocument/2006/relationships/image" Target="/ppt/media/image9.png" Id="Re914521c70b14317" /><Relationship Type="http://schemas.openxmlformats.org/officeDocument/2006/relationships/hyperlink" Target="file:///C:/Users/Gamer/Downloads/Training/Week1/Day 5/&#12304;16003946386759&#8224;L168-L180&#12305;" TargetMode="External" Id="R1eb2560d14e6481f" /><Relationship Type="http://schemas.openxmlformats.org/officeDocument/2006/relationships/notesSlide" Target="/ppt/notesSlides/notesSlide10.xml" Id="R3af0327a68f04e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cc1a225aa1417a" /><Relationship Type="http://schemas.openxmlformats.org/officeDocument/2006/relationships/image" Target="/ppt/media/image8.png" Id="Rb2564120888644f6" /><Relationship Type="http://schemas.openxmlformats.org/officeDocument/2006/relationships/notesSlide" Target="/ppt/notesSlides/notesSlide11.xml" Id="R3804b99f345149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ff45f2f39046bd" /><Relationship Type="http://schemas.openxmlformats.org/officeDocument/2006/relationships/image" Target="/ppt/media/image15.png" Id="Rce991d53b5034f38" /><Relationship Type="http://schemas.openxmlformats.org/officeDocument/2006/relationships/notesSlide" Target="/ppt/notesSlides/notesSlide12.xml" Id="Rb8097be9688f48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25f93c182545e6" /><Relationship Type="http://schemas.openxmlformats.org/officeDocument/2006/relationships/hyperlink" Target="file:///C:/Users/Gamer/Downloads/Training/Week1/Day 5/&#12304;645518690862239&#8224;L139-L173&#12305;" TargetMode="External" Id="Ra9a65679ffce42c9" /><Relationship Type="http://schemas.openxmlformats.org/officeDocument/2006/relationships/hyperlink" Target="file:///C:/Users/Gamer/Downloads/Training/Week1/Day 5/&#12304;645518690862239&#8224;L284-L296&#12305;" TargetMode="External" Id="R8446a25da29a4a22" /><Relationship Type="http://schemas.openxmlformats.org/officeDocument/2006/relationships/notesSlide" Target="/ppt/notesSlides/notesSlide13.xml" Id="R7cd9b3dae4c441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47a885406b4c6f" /><Relationship Type="http://schemas.openxmlformats.org/officeDocument/2006/relationships/hyperlink" Target="file:///C:/Users/Gamer/Downloads/Training/Week1/Day 5/&#12304;645518690862239&#8224;L139-L173&#12305;" TargetMode="External" Id="Ra15ebc63889049d3" /><Relationship Type="http://schemas.openxmlformats.org/officeDocument/2006/relationships/hyperlink" Target="file:///C:/Users/Gamer/Downloads/Training/Week1/Day 5/&#12304;645518690862239&#8224;L284-L296&#12305;" TargetMode="External" Id="R829398ee94c04635" /><Relationship Type="http://schemas.openxmlformats.org/officeDocument/2006/relationships/notesSlide" Target="/ppt/notesSlides/notesSlide14.xml" Id="Rbc8372d79c114c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460515e150475b" /><Relationship Type="http://schemas.openxmlformats.org/officeDocument/2006/relationships/hyperlink" Target="file:///C:/Users/Gamer/Downloads/Training/Week1/Day 5/&#12304;645518690862239&#8224;L284-L296&#12305;" TargetMode="External" Id="R6a8c6c7c901e4715" /><Relationship Type="http://schemas.openxmlformats.org/officeDocument/2006/relationships/notesSlide" Target="/ppt/notesSlides/notesSlide15.xml" Id="Rb1f16041fc154c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b19034c3cc475b" /><Relationship Type="http://schemas.openxmlformats.org/officeDocument/2006/relationships/notesSlide" Target="/ppt/notesSlides/notesSlide16.xml" Id="R768dfea19c68462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b62f84137342b1" /><Relationship Type="http://schemas.openxmlformats.org/officeDocument/2006/relationships/image" Target="/ppt/media/image5.png" Id="R0b957393b5074e49" /><Relationship Type="http://schemas.openxmlformats.org/officeDocument/2006/relationships/hyperlink" Target="file:///C:/Users/Gamer/Downloads/Training/Week1/Day 5/&#12304;549557786880950&#8224;L689-L710&#12305;" TargetMode="External" Id="R7e3235a309f0416a" /><Relationship Type="http://schemas.openxmlformats.org/officeDocument/2006/relationships/notesSlide" Target="/ppt/notesSlides/notesSlide17.xml" Id="Rb624e2a57bf24dd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9eaf6eb0584b5d" /><Relationship Type="http://schemas.openxmlformats.org/officeDocument/2006/relationships/notesSlide" Target="/ppt/notesSlides/notesSlide18.xml" Id="Rdc91eadd41294d5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91724c1e61413e" /><Relationship Type="http://schemas.openxmlformats.org/officeDocument/2006/relationships/notesSlide" Target="/ppt/notesSlides/notesSlide19.xml" Id="Rda9778bd18f54e0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d17444728749f5" /><Relationship Type="http://schemas.openxmlformats.org/officeDocument/2006/relationships/notesSlide" Target="/ppt/notesSlides/notesSlide20.xml" Id="R8c1903a6833b4b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3b11eb4d5b470d" /><Relationship Type="http://schemas.openxmlformats.org/officeDocument/2006/relationships/notesSlide" Target="/ppt/notesSlides/notesSlide21.xml" Id="R8c6e9a9ce99940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14b5406267451d" /><Relationship Type="http://schemas.openxmlformats.org/officeDocument/2006/relationships/notesSlide" Target="/ppt/notesSlides/notesSlide22.xml" Id="R7a643944c84a4dc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50edf753d742d0" /><Relationship Type="http://schemas.openxmlformats.org/officeDocument/2006/relationships/notesSlide" Target="/ppt/notesSlides/notesSlide23.xml" Id="Re98c78b887a44c8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7b2cbb378349df" /><Relationship Type="http://schemas.openxmlformats.org/officeDocument/2006/relationships/notesSlide" Target="/ppt/notesSlides/notesSlide24.xml" Id="Ra14d5f57b3c1421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4c5a0c90b04601" /><Relationship Type="http://schemas.openxmlformats.org/officeDocument/2006/relationships/notesSlide" Target="/ppt/notesSlides/notesSlide25.xml" Id="R8ec702b3466d451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c72926abfb40f3" /><Relationship Type="http://schemas.openxmlformats.org/officeDocument/2006/relationships/notesSlide" Target="/ppt/notesSlides/notesSlide26.xml" Id="Ra8d8e88c2ad74e9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aa7caed1074e99" /><Relationship Type="http://schemas.openxmlformats.org/officeDocument/2006/relationships/notesSlide" Target="/ppt/notesSlides/notesSlide27.xml" Id="R8a40838767f1474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d24debf9f84ca3" /><Relationship Type="http://schemas.openxmlformats.org/officeDocument/2006/relationships/notesSlide" Target="/ppt/notesSlides/notesSlide28.xml" Id="R8370d7fbb9e3421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ef4cb5c235427b" /><Relationship Type="http://schemas.openxmlformats.org/officeDocument/2006/relationships/notesSlide" Target="/ppt/notesSlides/notesSlide29.xml" Id="R5a421ca43d3e4df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7a486aa1754193" /><Relationship Type="http://schemas.openxmlformats.org/officeDocument/2006/relationships/notesSlide" Target="/ppt/notesSlides/notesSlide30.xml" Id="Rffeae5148c5e4af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a37281a1744b23" /><Relationship Type="http://schemas.openxmlformats.org/officeDocument/2006/relationships/hyperlink" Target="file:///C:/Users/Gamer/Downloads/Training/Week1/Day 5/&#12304;549557786880950&#8224;L592-L610&#12305;" TargetMode="External" Id="Rd229b383be304c22" /><Relationship Type="http://schemas.openxmlformats.org/officeDocument/2006/relationships/hyperlink" Target="file:///C:/Users/Gamer/Downloads/Training/Week1/Day 5/&#12304;114490099092113&#8224;L125-L134&#12305;" TargetMode="External" Id="Rd37ca7803a7042ec" /><Relationship Type="http://schemas.openxmlformats.org/officeDocument/2006/relationships/notesSlide" Target="/ppt/notesSlides/notesSlide31.xml" Id="Rf17d9c388f4d4d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A4BD2F0D-AC23-45FA-BAF3-EE57108D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3280" cy="639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72A"/>
          </a:solidFill>
          <a:ln xmlns:a="http://schemas.openxmlformats.org/drawingml/2006/main" w="12700">
            <a:solidFill>
              <a:srgbClr val="0E172A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" name="Text 1">
            <a:extLst xmlns:a="http://schemas.openxmlformats.org/drawingml/2006/main">
              <a:ext uri="{FF2B5EF4-FFF2-40B4-BE49-F238E27FC236}">
                <a16:creationId xmlns:a16="http://schemas.microsoft.com/office/drawing/2014/main" id="{4043A38E-CAE5-4E6D-BBF0-97A437C4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"/>
            <a:ext cx="85946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FFB703"/>
                </a:solidFill>
                <a:latin typeface="Calibri"/>
                <a:ea typeface="Calibri"/>
                <a:cs typeface="Calibri"/>
              </a:rPr>
              <a:t>Day 5</a:t>
            </a:r>
            <a:r>
              <a:rPr sz="2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Data Ingestion Pipeline Design</a:t>
            </a:r>
          </a:p>
        </p:txBody>
      </p:sp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d649770f24117"/>
          <a:stretch xmlns:a="http://schemas.openxmlformats.org/drawingml/2006/main"/>
        </p:blipFill>
        <p:spPr>
          <a:xfrm xmlns:a="http://schemas.openxmlformats.org/drawingml/2006/main">
            <a:off x="5029200" y="731520"/>
            <a:ext cx="4022640" cy="3656880"/>
          </a:xfrm>
          <a:prstGeom xmlns:a="http://schemas.openxmlformats.org/drawingml/2006/main" prst="rect">
            <a:avLst/>
          </a:prstGeom>
        </p:spPr>
      </p:pic>
      <p:sp>
        <p:nvSpPr>
          <p:cNvPr id="13" name="Text 2">
            <a:extLst xmlns:a="http://schemas.openxmlformats.org/drawingml/2006/main">
              <a:ext uri="{FF2B5EF4-FFF2-40B4-BE49-F238E27FC236}">
                <a16:creationId xmlns:a16="http://schemas.microsoft.com/office/drawing/2014/main" id="{9F4EB9D0-CF2F-4EC8-8B06-3AE6B890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4388400" cy="228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Designing Robust Data Ingestion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From Chaos to Clean</a:t>
            </a:r>
          </a:p>
        </p:txBody>
      </p:sp>
      <p:sp>
        <p:nvSpPr>
          <p:cNvPr id="14" name="Text 3">
            <a:extLst xmlns:a="http://schemas.openxmlformats.org/drawingml/2006/main">
              <a:ext uri="{FF2B5EF4-FFF2-40B4-BE49-F238E27FC236}">
                <a16:creationId xmlns:a16="http://schemas.microsoft.com/office/drawing/2014/main" id="{7834BA6C-3E77-40B4-A718-A9F6DB8A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c72c1c5c4304fa3"/>
              </a:rPr>
              <a:t>[1]</a:t>
            </a: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c87ec38030b44b8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8029898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 0">
            <a:extLst xmlns:a="http://schemas.openxmlformats.org/drawingml/2006/main">
              <a:ext uri="{FF2B5EF4-FFF2-40B4-BE49-F238E27FC236}">
                <a16:creationId xmlns:a16="http://schemas.microsoft.com/office/drawing/2014/main" id="{337E2822-E2AB-41F7-8C2E-9E840AEE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Learning Objectives</a:t>
            </a:r>
          </a:p>
        </p:txBody>
      </p:sp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15d29e3b34eee"/>
          <a:stretch xmlns:a="http://schemas.openxmlformats.org/drawingml/2006/main"/>
        </p:blipFill>
        <p:spPr>
          <a:xfrm xmlns:a="http://schemas.openxmlformats.org/drawingml/2006/main">
            <a:off x="457200" y="9144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17" name="Text 1">
            <a:extLst xmlns:a="http://schemas.openxmlformats.org/drawingml/2006/main">
              <a:ext uri="{FF2B5EF4-FFF2-40B4-BE49-F238E27FC236}">
                <a16:creationId xmlns:a16="http://schemas.microsoft.com/office/drawing/2014/main" id="{786060D8-94F3-4BE0-A575-D6A123BD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9144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Understand ingestion pipeline design principles (idempotency, ordering, deduplication, replay)</a:t>
            </a:r>
          </a:p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dfb01c46c42c6"/>
          <a:stretch xmlns:a="http://schemas.openxmlformats.org/drawingml/2006/main"/>
        </p:blipFill>
        <p:spPr>
          <a:xfrm xmlns:a="http://schemas.openxmlformats.org/drawingml/2006/main">
            <a:off x="457200" y="13716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19" name="Text 2">
            <a:extLst xmlns:a="http://schemas.openxmlformats.org/drawingml/2006/main">
              <a:ext uri="{FF2B5EF4-FFF2-40B4-BE49-F238E27FC236}">
                <a16:creationId xmlns:a16="http://schemas.microsoft.com/office/drawing/2014/main" id="{2FBEF304-F00A-420B-A9F4-029AC863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Design multi-source ingestion architectures combining CDC, streaming, batch</a:t>
            </a:r>
          </a:p>
        </p:txBody>
      </p:sp>
      <p:pic>
        <p:nvPicPr>
          <p:cNvPr id="2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c96a8c4ca47c3"/>
          <a:stretch xmlns:a="http://schemas.openxmlformats.org/drawingml/2006/main"/>
        </p:blipFill>
        <p:spPr>
          <a:xfrm xmlns:a="http://schemas.openxmlformats.org/drawingml/2006/main">
            <a:off x="457200" y="18288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21" name="Text 3">
            <a:extLst xmlns:a="http://schemas.openxmlformats.org/drawingml/2006/main">
              <a:ext uri="{FF2B5EF4-FFF2-40B4-BE49-F238E27FC236}">
                <a16:creationId xmlns:a16="http://schemas.microsoft.com/office/drawing/2014/main" id="{6095917A-113A-47E3-B9F8-0A1A6C42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Manage schemas &amp; evolve contracts with Avro/JSON/Protobuf and Schema Registry</a:t>
            </a:r>
          </a:p>
        </p:txBody>
      </p:sp>
      <p:pic>
        <p:nvPicPr>
          <p:cNvPr id="2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d2961612b4d1a"/>
          <a:stretch xmlns:a="http://schemas.openxmlformats.org/drawingml/2006/main"/>
        </p:blipFill>
        <p:spPr>
          <a:xfrm xmlns:a="http://schemas.openxmlformats.org/drawingml/2006/main">
            <a:off x="457200" y="22860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23" name="Text 4">
            <a:extLst xmlns:a="http://schemas.openxmlformats.org/drawingml/2006/main">
              <a:ext uri="{FF2B5EF4-FFF2-40B4-BE49-F238E27FC236}">
                <a16:creationId xmlns:a16="http://schemas.microsoft.com/office/drawing/2014/main" id="{D537A2B5-B3C6-4282-9ABC-BDBEF2CD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Handle bad data using validation and Dead Letter Queues (DLQ)</a:t>
            </a:r>
          </a:p>
        </p:txBody>
      </p:sp>
      <p:pic>
        <p:nvPicPr>
          <p:cNvPr id="2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43e0c6cd445f4"/>
          <a:stretch xmlns:a="http://schemas.openxmlformats.org/drawingml/2006/main"/>
        </p:blipFill>
        <p:spPr>
          <a:xfrm xmlns:a="http://schemas.openxmlformats.org/drawingml/2006/main">
            <a:off x="457200" y="27432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25" name="Text 5">
            <a:extLst xmlns:a="http://schemas.openxmlformats.org/drawingml/2006/main">
              <a:ext uri="{FF2B5EF4-FFF2-40B4-BE49-F238E27FC236}">
                <a16:creationId xmlns:a16="http://schemas.microsoft.com/office/drawing/2014/main" id="{46463335-97F9-4FA4-A826-C177000B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432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Address delivery guarantees &amp; late events using watermarks and grace periods</a:t>
            </a:r>
          </a:p>
        </p:txBody>
      </p:sp>
      <p:pic>
        <p:nvPicPr>
          <p:cNvPr id="2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24661c9ef4251"/>
          <a:stretch xmlns:a="http://schemas.openxmlformats.org/drawingml/2006/main"/>
        </p:blipFill>
        <p:spPr>
          <a:xfrm xmlns:a="http://schemas.openxmlformats.org/drawingml/2006/main">
            <a:off x="457200" y="32004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27" name="Text 6">
            <a:extLst xmlns:a="http://schemas.openxmlformats.org/drawingml/2006/main">
              <a:ext uri="{FF2B5EF4-FFF2-40B4-BE49-F238E27FC236}">
                <a16:creationId xmlns:a16="http://schemas.microsoft.com/office/drawing/2014/main" id="{9F9E062B-A236-4B1A-851A-3737375C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Build and test an end-to-end ingestion pipeline in the hands-on lab</a:t>
            </a:r>
          </a:p>
        </p:txBody>
      </p:sp>
      <p:sp>
        <p:nvSpPr>
          <p:cNvPr id="28" name="Text 7">
            <a:extLst xmlns:a="http://schemas.openxmlformats.org/drawingml/2006/main">
              <a:ext uri="{FF2B5EF4-FFF2-40B4-BE49-F238E27FC236}">
                <a16:creationId xmlns:a16="http://schemas.microsoft.com/office/drawing/2014/main" id="{84F11E0C-F00A-413D-8C50-4666DD16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2afa121377b45df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7104782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 0">
            <a:extLst xmlns:a="http://schemas.openxmlformats.org/drawingml/2006/main">
              <a:ext uri="{FF2B5EF4-FFF2-40B4-BE49-F238E27FC236}">
                <a16:creationId xmlns:a16="http://schemas.microsoft.com/office/drawing/2014/main" id="{96F19C48-51F7-4A40-9824-4F731914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30" name="Shape 1">
            <a:extLst xmlns:a="http://schemas.openxmlformats.org/drawingml/2006/main">
              <a:ext uri="{FF2B5EF4-FFF2-40B4-BE49-F238E27FC236}">
                <a16:creationId xmlns:a16="http://schemas.microsoft.com/office/drawing/2014/main" id="{5D60832C-77A8-4085-8CEF-B3E70D6D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3B129BA8-A468-42FE-AB05-8CEFC684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Recap &amp; Why Ingestion Matters</a:t>
            </a:r>
          </a:p>
        </p:txBody>
      </p:sp>
      <p:sp>
        <p:nvSpPr>
          <p:cNvPr id="32" name="Shape 3">
            <a:extLst xmlns:a="http://schemas.openxmlformats.org/drawingml/2006/main">
              <a:ext uri="{FF2B5EF4-FFF2-40B4-BE49-F238E27FC236}">
                <a16:creationId xmlns:a16="http://schemas.microsoft.com/office/drawing/2014/main" id="{C33B44B2-5218-429D-986F-312DD53E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32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33" name="Shape 4">
            <a:extLst xmlns:a="http://schemas.openxmlformats.org/drawingml/2006/main">
              <a:ext uri="{FF2B5EF4-FFF2-40B4-BE49-F238E27FC236}">
                <a16:creationId xmlns:a16="http://schemas.microsoft.com/office/drawing/2014/main" id="{238EC79B-2798-4172-B67E-2F867F31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34" name="Text 5">
            <a:extLst xmlns:a="http://schemas.openxmlformats.org/drawingml/2006/main">
              <a:ext uri="{FF2B5EF4-FFF2-40B4-BE49-F238E27FC236}">
                <a16:creationId xmlns:a16="http://schemas.microsoft.com/office/drawing/2014/main" id="{D3FEB618-D9E2-4EB8-A3A9-D895F5FD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Design Principles</a:t>
            </a:r>
          </a:p>
        </p:txBody>
      </p:sp>
      <p:sp>
        <p:nvSpPr>
          <p:cNvPr id="35" name="Shape 6">
            <a:extLst xmlns:a="http://schemas.openxmlformats.org/drawingml/2006/main">
              <a:ext uri="{FF2B5EF4-FFF2-40B4-BE49-F238E27FC236}">
                <a16:creationId xmlns:a16="http://schemas.microsoft.com/office/drawing/2014/main" id="{56C3F038-ED55-4FAE-A551-62E3F467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788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36" name="Shape 7">
            <a:extLst xmlns:a="http://schemas.openxmlformats.org/drawingml/2006/main">
              <a:ext uri="{FF2B5EF4-FFF2-40B4-BE49-F238E27FC236}">
                <a16:creationId xmlns:a16="http://schemas.microsoft.com/office/drawing/2014/main" id="{D5D5AD1B-2B18-4B1C-B897-8A51C1EE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37" name="Text 8">
            <a:extLst xmlns:a="http://schemas.openxmlformats.org/drawingml/2006/main">
              <a:ext uri="{FF2B5EF4-FFF2-40B4-BE49-F238E27FC236}">
                <a16:creationId xmlns:a16="http://schemas.microsoft.com/office/drawing/2014/main" id="{4E1A6DAB-2930-404B-8E2B-808BD5CC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Multi‑Source Architecture</a:t>
            </a:r>
          </a:p>
        </p:txBody>
      </p:sp>
      <p:sp>
        <p:nvSpPr>
          <p:cNvPr id="38" name="Shape 9">
            <a:extLst xmlns:a="http://schemas.openxmlformats.org/drawingml/2006/main">
              <a:ext uri="{FF2B5EF4-FFF2-40B4-BE49-F238E27FC236}">
                <a16:creationId xmlns:a16="http://schemas.microsoft.com/office/drawing/2014/main" id="{D8EF8D3B-8176-44A5-BCA8-A2D1E93B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39" name="Shape 10">
            <a:extLst xmlns:a="http://schemas.openxmlformats.org/drawingml/2006/main">
              <a:ext uri="{FF2B5EF4-FFF2-40B4-BE49-F238E27FC236}">
                <a16:creationId xmlns:a16="http://schemas.microsoft.com/office/drawing/2014/main" id="{3A4C552C-7B97-429F-8E88-61F30691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 w="12700">
            <a:solidFill>
              <a:srgbClr val="FFB70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0" name="Text 11">
            <a:extLst xmlns:a="http://schemas.openxmlformats.org/drawingml/2006/main">
              <a:ext uri="{FF2B5EF4-FFF2-40B4-BE49-F238E27FC236}">
                <a16:creationId xmlns:a16="http://schemas.microsoft.com/office/drawing/2014/main" id="{F8AD7FAB-7EA9-4CFD-9440-41DE11E5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Schema Management &amp; Evolution</a:t>
            </a:r>
          </a:p>
        </p:txBody>
      </p:sp>
      <p:sp>
        <p:nvSpPr>
          <p:cNvPr id="41" name="Shape 12">
            <a:extLst xmlns:a="http://schemas.openxmlformats.org/drawingml/2006/main">
              <a:ext uri="{FF2B5EF4-FFF2-40B4-BE49-F238E27FC236}">
                <a16:creationId xmlns:a16="http://schemas.microsoft.com/office/drawing/2014/main" id="{BC562AB6-A106-4750-9E32-6161BB53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00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2" name="Shape 13">
            <a:extLst xmlns:a="http://schemas.openxmlformats.org/drawingml/2006/main">
              <a:ext uri="{FF2B5EF4-FFF2-40B4-BE49-F238E27FC236}">
                <a16:creationId xmlns:a16="http://schemas.microsoft.com/office/drawing/2014/main" id="{F6ECC688-1FC2-4D7E-B49E-5C750327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 w="12700">
            <a:solidFill>
              <a:srgbClr val="F2848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3" name="Text 14">
            <a:extLst xmlns:a="http://schemas.openxmlformats.org/drawingml/2006/main">
              <a:ext uri="{FF2B5EF4-FFF2-40B4-BE49-F238E27FC236}">
                <a16:creationId xmlns:a16="http://schemas.microsoft.com/office/drawing/2014/main" id="{E4002078-C1EB-4E81-AC7D-2D533EB3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Bad Data &amp; DLQ</a:t>
            </a:r>
          </a:p>
        </p:txBody>
      </p:sp>
      <p:sp>
        <p:nvSpPr>
          <p:cNvPr id="44" name="Shape 15">
            <a:extLst xmlns:a="http://schemas.openxmlformats.org/drawingml/2006/main">
              <a:ext uri="{FF2B5EF4-FFF2-40B4-BE49-F238E27FC236}">
                <a16:creationId xmlns:a16="http://schemas.microsoft.com/office/drawing/2014/main" id="{C81F6386-4DB1-4D31-B32E-6D7E4A74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56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5" name="Shape 16">
            <a:extLst xmlns:a="http://schemas.openxmlformats.org/drawingml/2006/main">
              <a:ext uri="{FF2B5EF4-FFF2-40B4-BE49-F238E27FC236}">
                <a16:creationId xmlns:a16="http://schemas.microsoft.com/office/drawing/2014/main" id="{76AB0303-9FDF-4780-B5B2-F543F665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12700">
            <a:solidFill>
              <a:srgbClr val="2E8B5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6" name="Text 17">
            <a:extLst xmlns:a="http://schemas.openxmlformats.org/drawingml/2006/main">
              <a:ext uri="{FF2B5EF4-FFF2-40B4-BE49-F238E27FC236}">
                <a16:creationId xmlns:a16="http://schemas.microsoft.com/office/drawing/2014/main" id="{DBE6D13D-1FA5-428B-AB50-C7A930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Delivery Guarantees &amp; Ordering</a:t>
            </a:r>
          </a:p>
        </p:txBody>
      </p:sp>
      <p:sp>
        <p:nvSpPr>
          <p:cNvPr id="47" name="Shape 18">
            <a:extLst xmlns:a="http://schemas.openxmlformats.org/drawingml/2006/main">
              <a:ext uri="{FF2B5EF4-FFF2-40B4-BE49-F238E27FC236}">
                <a16:creationId xmlns:a16="http://schemas.microsoft.com/office/drawing/2014/main" id="{8A9D0C6B-2668-44BD-A2B1-726CB3FC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12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8" name="Shape 19">
            <a:extLst xmlns:a="http://schemas.openxmlformats.org/drawingml/2006/main">
              <a:ext uri="{FF2B5EF4-FFF2-40B4-BE49-F238E27FC236}">
                <a16:creationId xmlns:a16="http://schemas.microsoft.com/office/drawing/2014/main" id="{16211955-0782-47EA-A9E2-770D2B7F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 w="12700">
            <a:solidFill>
              <a:srgbClr val="0077B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49" name="Text 20">
            <a:extLst xmlns:a="http://schemas.openxmlformats.org/drawingml/2006/main">
              <a:ext uri="{FF2B5EF4-FFF2-40B4-BE49-F238E27FC236}">
                <a16:creationId xmlns:a16="http://schemas.microsoft.com/office/drawing/2014/main" id="{D1E5A1DD-5AD0-4CCA-870F-EA6725A3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Late &amp; Out‑of‑Order Events</a:t>
            </a:r>
          </a:p>
        </p:txBody>
      </p:sp>
      <p:sp>
        <p:nvSpPr>
          <p:cNvPr id="50" name="Shape 21">
            <a:extLst xmlns:a="http://schemas.openxmlformats.org/drawingml/2006/main">
              <a:ext uri="{FF2B5EF4-FFF2-40B4-BE49-F238E27FC236}">
                <a16:creationId xmlns:a16="http://schemas.microsoft.com/office/drawing/2014/main" id="{8212CDB6-37EE-473C-B846-5FD0E131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680" y="1307520"/>
            <a:ext cx="7236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CCCC"/>
          </a:solidFill>
          <a:ln xmlns:a="http://schemas.openxmlformats.org/drawingml/2006/main" w="12700">
            <a:solidFill>
              <a:srgbClr val="CCCCC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8280" rIns="90000" bIns="-828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51" name="Shape 22">
            <a:extLst xmlns:a="http://schemas.openxmlformats.org/drawingml/2006/main">
              <a:ext uri="{FF2B5EF4-FFF2-40B4-BE49-F238E27FC236}">
                <a16:creationId xmlns:a16="http://schemas.microsoft.com/office/drawing/2014/main" id="{BB4775D7-8C23-4A3C-9662-79E0C520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097280"/>
            <a:ext cx="9594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52" name="Text 23">
            <a:extLst xmlns:a="http://schemas.openxmlformats.org/drawingml/2006/main">
              <a:ext uri="{FF2B5EF4-FFF2-40B4-BE49-F238E27FC236}">
                <a16:creationId xmlns:a16="http://schemas.microsoft.com/office/drawing/2014/main" id="{78FB4497-719E-49FB-9038-AF2D9A92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188720"/>
            <a:ext cx="8679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9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Lab &amp; Quiz</a:t>
            </a:r>
          </a:p>
        </p:txBody>
      </p:sp>
      <p:sp>
        <p:nvSpPr>
          <p:cNvPr id="53" name="Text 24">
            <a:extLst xmlns:a="http://schemas.openxmlformats.org/drawingml/2006/main">
              <a:ext uri="{FF2B5EF4-FFF2-40B4-BE49-F238E27FC236}">
                <a16:creationId xmlns:a16="http://schemas.microsoft.com/office/drawing/2014/main" id="{0DA26198-E433-4734-83DE-2E518C3E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4a729a220764a4c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9210657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 0">
            <a:extLst xmlns:a="http://schemas.openxmlformats.org/drawingml/2006/main">
              <a:ext uri="{FF2B5EF4-FFF2-40B4-BE49-F238E27FC236}">
                <a16:creationId xmlns:a16="http://schemas.microsoft.com/office/drawing/2014/main" id="{E0472DF8-E348-4FE1-BFDF-9BA8EDC8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From CDC to Ingestion Pipelines</a:t>
            </a:r>
          </a:p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8222fba76492b"/>
          <a:stretch xmlns:a="http://schemas.openxmlformats.org/drawingml/2006/main"/>
        </p:blipFill>
        <p:spPr>
          <a:xfrm xmlns:a="http://schemas.openxmlformats.org/drawingml/2006/main">
            <a:off x="457200" y="9144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56" name="Text 1">
            <a:extLst xmlns:a="http://schemas.openxmlformats.org/drawingml/2006/main">
              <a:ext uri="{FF2B5EF4-FFF2-40B4-BE49-F238E27FC236}">
                <a16:creationId xmlns:a16="http://schemas.microsoft.com/office/drawing/2014/main" id="{6B55D59B-AA35-4CA8-828F-506B41CC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914400"/>
            <a:ext cx="5942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Debezium captures database INSERT/UPDATE/DELETE events and streams them to Kafka topics in the same order they occurred.</a:t>
            </a:r>
          </a:p>
        </p:txBody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60e05ba054d0e"/>
          <a:stretch xmlns:a="http://schemas.openxmlformats.org/drawingml/2006/main"/>
        </p:blipFill>
        <p:spPr>
          <a:xfrm xmlns:a="http://schemas.openxmlformats.org/drawingml/2006/main">
            <a:off x="457200" y="132588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58" name="Text 2">
            <a:extLst xmlns:a="http://schemas.openxmlformats.org/drawingml/2006/main">
              <a:ext uri="{FF2B5EF4-FFF2-40B4-BE49-F238E27FC236}">
                <a16:creationId xmlns:a16="http://schemas.microsoft.com/office/drawing/2014/main" id="{7531EA53-8486-4517-AE13-015740A3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25880"/>
            <a:ext cx="5942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Day 4 lab taught you to register a connector, capture change events and consume them from Kafka.</a:t>
            </a:r>
          </a:p>
        </p:txBody>
      </p:sp>
      <p:pic>
        <p:nvPicPr>
          <p:cNvPr id="5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a80f421914488"/>
          <a:stretch xmlns:a="http://schemas.openxmlformats.org/drawingml/2006/main"/>
        </p:blipFill>
        <p:spPr>
          <a:xfrm xmlns:a="http://schemas.openxmlformats.org/drawingml/2006/main">
            <a:off x="457200" y="173736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60" name="Text 3">
            <a:extLst xmlns:a="http://schemas.openxmlformats.org/drawingml/2006/main">
              <a:ext uri="{FF2B5EF4-FFF2-40B4-BE49-F238E27FC236}">
                <a16:creationId xmlns:a16="http://schemas.microsoft.com/office/drawing/2014/main" id="{90BB1912-EAE6-464A-AD8D-CB3D69DD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5942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Day 5 goes beyond CDC: combining multiple sources, managing schemas and handling bad data to build production‑grade ingestion.</a:t>
            </a:r>
          </a:p>
        </p:txBody>
      </p:sp>
      <p:sp>
        <p:nvSpPr>
          <p:cNvPr id="61" name="Shape 4">
            <a:extLst xmlns:a="http://schemas.openxmlformats.org/drawingml/2006/main">
              <a:ext uri="{FF2B5EF4-FFF2-40B4-BE49-F238E27FC236}">
                <a16:creationId xmlns:a16="http://schemas.microsoft.com/office/drawing/2014/main" id="{E075A789-6C2E-48D4-ADE5-97CC7512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880" y="3434400"/>
            <a:ext cx="1096560" cy="41076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62" name="Text 5">
            <a:extLst xmlns:a="http://schemas.openxmlformats.org/drawingml/2006/main">
              <a:ext uri="{FF2B5EF4-FFF2-40B4-BE49-F238E27FC236}">
                <a16:creationId xmlns:a16="http://schemas.microsoft.com/office/drawing/2014/main" id="{DF293DCD-EE45-4DAD-A432-2AD8BBA4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880" y="3434400"/>
            <a:ext cx="109656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DB</a:t>
            </a:r>
          </a:p>
        </p:txBody>
      </p:sp>
      <p:sp>
        <p:nvSpPr>
          <p:cNvPr id="63" name="Shape 6">
            <a:extLst xmlns:a="http://schemas.openxmlformats.org/drawingml/2006/main">
              <a:ext uri="{FF2B5EF4-FFF2-40B4-BE49-F238E27FC236}">
                <a16:creationId xmlns:a16="http://schemas.microsoft.com/office/drawing/2014/main" id="{4E892A91-EE06-453A-BF7B-DB3D465C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8160" y="3594600"/>
            <a:ext cx="27360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64" name="Shape 7">
            <a:extLst xmlns:a="http://schemas.openxmlformats.org/drawingml/2006/main">
              <a:ext uri="{FF2B5EF4-FFF2-40B4-BE49-F238E27FC236}">
                <a16:creationId xmlns:a16="http://schemas.microsoft.com/office/drawing/2014/main" id="{1F202D3A-2187-476B-BD67-926A74C6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2480" y="3434400"/>
            <a:ext cx="1096560" cy="41076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65" name="Text 8">
            <a:extLst xmlns:a="http://schemas.openxmlformats.org/drawingml/2006/main">
              <a:ext uri="{FF2B5EF4-FFF2-40B4-BE49-F238E27FC236}">
                <a16:creationId xmlns:a16="http://schemas.microsoft.com/office/drawing/2014/main" id="{A16C85DA-2790-48CB-B4EF-177BF8EF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2480" y="3434400"/>
            <a:ext cx="109656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Debezium</a:t>
            </a:r>
          </a:p>
        </p:txBody>
      </p:sp>
      <p:sp>
        <p:nvSpPr>
          <p:cNvPr id="66" name="Shape 9">
            <a:extLst xmlns:a="http://schemas.openxmlformats.org/drawingml/2006/main">
              <a:ext uri="{FF2B5EF4-FFF2-40B4-BE49-F238E27FC236}">
                <a16:creationId xmlns:a16="http://schemas.microsoft.com/office/drawing/2014/main" id="{13CEBFC9-EF38-4543-A337-74CED405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0" y="3594600"/>
            <a:ext cx="27360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67" name="Shape 10">
            <a:extLst xmlns:a="http://schemas.openxmlformats.org/drawingml/2006/main">
              <a:ext uri="{FF2B5EF4-FFF2-40B4-BE49-F238E27FC236}">
                <a16:creationId xmlns:a16="http://schemas.microsoft.com/office/drawing/2014/main" id="{D9969389-7FEE-4068-8680-D13E88F1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080" y="3434400"/>
            <a:ext cx="1096560" cy="41076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68" name="Text 11">
            <a:extLst xmlns:a="http://schemas.openxmlformats.org/drawingml/2006/main">
              <a:ext uri="{FF2B5EF4-FFF2-40B4-BE49-F238E27FC236}">
                <a16:creationId xmlns:a16="http://schemas.microsoft.com/office/drawing/2014/main" id="{200D1A75-4C5E-497D-B18B-742A1EF8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080" y="3434400"/>
            <a:ext cx="109656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</a:t>
            </a:r>
          </a:p>
        </p:txBody>
      </p:sp>
      <p:sp>
        <p:nvSpPr>
          <p:cNvPr id="69" name="Shape 12">
            <a:extLst xmlns:a="http://schemas.openxmlformats.org/drawingml/2006/main">
              <a:ext uri="{FF2B5EF4-FFF2-40B4-BE49-F238E27FC236}">
                <a16:creationId xmlns:a16="http://schemas.microsoft.com/office/drawing/2014/main" id="{A45C3079-7A8A-4719-81B3-4F1FD2F5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1360" y="3594600"/>
            <a:ext cx="27360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70" name="Shape 13">
            <a:extLst xmlns:a="http://schemas.openxmlformats.org/drawingml/2006/main">
              <a:ext uri="{FF2B5EF4-FFF2-40B4-BE49-F238E27FC236}">
                <a16:creationId xmlns:a16="http://schemas.microsoft.com/office/drawing/2014/main" id="{1C2070BD-3272-4E01-9FBD-28A77214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680" y="3434400"/>
            <a:ext cx="1096560" cy="41076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 w="12700">
            <a:solidFill>
              <a:srgbClr val="F2848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71" name="Text 14">
            <a:extLst xmlns:a="http://schemas.openxmlformats.org/drawingml/2006/main">
              <a:ext uri="{FF2B5EF4-FFF2-40B4-BE49-F238E27FC236}">
                <a16:creationId xmlns:a16="http://schemas.microsoft.com/office/drawing/2014/main" id="{CB8BB23C-FD72-4E28-AC43-92203BA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680" y="3434400"/>
            <a:ext cx="109656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Consumer</a:t>
            </a:r>
          </a:p>
        </p:txBody>
      </p:sp>
      <p:sp>
        <p:nvSpPr>
          <p:cNvPr id="72" name="Text 15">
            <a:extLst xmlns:a="http://schemas.openxmlformats.org/drawingml/2006/main">
              <a:ext uri="{FF2B5EF4-FFF2-40B4-BE49-F238E27FC236}">
                <a16:creationId xmlns:a16="http://schemas.microsoft.com/office/drawing/2014/main" id="{A9E4B7AF-C362-409B-890F-F1FE8C87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3668632f5bc404d"/>
              </a:rPr>
              <a:t>[1]</a:t>
            </a: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2204034eec94300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410024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Text 0">
            <a:extLst xmlns:a="http://schemas.openxmlformats.org/drawingml/2006/main">
              <a:ext uri="{FF2B5EF4-FFF2-40B4-BE49-F238E27FC236}">
                <a16:creationId xmlns:a16="http://schemas.microsoft.com/office/drawing/2014/main" id="{9BB0D201-4484-4861-9685-6C1DC7B7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Design Principles for Ingestion</a:t>
            </a:r>
          </a:p>
        </p:txBody>
      </p:sp>
      <p:pic>
        <p:nvPicPr>
          <p:cNvPr id="7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3062c541a4bb6"/>
          <a:stretch xmlns:a="http://schemas.openxmlformats.org/drawingml/2006/main"/>
        </p:blipFill>
        <p:spPr>
          <a:xfrm xmlns:a="http://schemas.openxmlformats.org/drawingml/2006/main">
            <a:off x="457200" y="91440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75" name="Text 1">
            <a:extLst xmlns:a="http://schemas.openxmlformats.org/drawingml/2006/main">
              <a:ext uri="{FF2B5EF4-FFF2-40B4-BE49-F238E27FC236}">
                <a16:creationId xmlns:a16="http://schemas.microsoft.com/office/drawing/2014/main" id="{02AACFDF-AA53-4378-8DAD-C65E5228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91440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Idempotency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Repeated processing of the same event yields the same result.</a:t>
            </a:r>
          </a:p>
        </p:txBody>
      </p:sp>
      <p:pic>
        <p:nvPicPr>
          <p:cNvPr id="7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a2f0e6b42544f0"/>
          <a:stretch xmlns:a="http://schemas.openxmlformats.org/drawingml/2006/main"/>
        </p:blipFill>
        <p:spPr>
          <a:xfrm xmlns:a="http://schemas.openxmlformats.org/drawingml/2006/main">
            <a:off x="457200" y="146304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77" name="Text 2">
            <a:extLst xmlns:a="http://schemas.openxmlformats.org/drawingml/2006/main">
              <a:ext uri="{FF2B5EF4-FFF2-40B4-BE49-F238E27FC236}">
                <a16:creationId xmlns:a16="http://schemas.microsoft.com/office/drawing/2014/main" id="{D7D51D9A-2476-4114-9F1E-510546E8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Ordering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Events must be consumed in the order they were generated for a given key.</a:t>
            </a:r>
          </a:p>
        </p:txBody>
      </p:sp>
      <p:pic>
        <p:nvPicPr>
          <p:cNvPr id="7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7cfd695b64d03"/>
          <a:stretch xmlns:a="http://schemas.openxmlformats.org/drawingml/2006/main"/>
        </p:blipFill>
        <p:spPr>
          <a:xfrm xmlns:a="http://schemas.openxmlformats.org/drawingml/2006/main">
            <a:off x="457200" y="201168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79" name="Text 3">
            <a:extLst xmlns:a="http://schemas.openxmlformats.org/drawingml/2006/main">
              <a:ext uri="{FF2B5EF4-FFF2-40B4-BE49-F238E27FC236}">
                <a16:creationId xmlns:a16="http://schemas.microsoft.com/office/drawing/2014/main" id="{CFA406EC-E437-47A1-AE6D-70264791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1168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Deduplication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Duplicate events are detected and ignored.</a:t>
            </a:r>
          </a:p>
        </p:txBody>
      </p:sp>
      <p:pic>
        <p:nvPicPr>
          <p:cNvPr id="8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aa250d8b0456e"/>
          <a:stretch xmlns:a="http://schemas.openxmlformats.org/drawingml/2006/main"/>
        </p:blipFill>
        <p:spPr>
          <a:xfrm xmlns:a="http://schemas.openxmlformats.org/drawingml/2006/main">
            <a:off x="457200" y="256032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81" name="Text 4">
            <a:extLst xmlns:a="http://schemas.openxmlformats.org/drawingml/2006/main">
              <a:ext uri="{FF2B5EF4-FFF2-40B4-BE49-F238E27FC236}">
                <a16:creationId xmlns:a16="http://schemas.microsoft.com/office/drawing/2014/main" id="{3B81A884-DE9F-45C0-86E0-942D5D44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032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Replayability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The pipeline supports replaying events to recover from errors.</a:t>
            </a:r>
          </a:p>
        </p:txBody>
      </p:sp>
      <p:pic>
        <p:nvPicPr>
          <p:cNvPr id="8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24dcd986984a2e"/>
          <a:stretch xmlns:a="http://schemas.openxmlformats.org/drawingml/2006/main"/>
        </p:blipFill>
        <p:spPr>
          <a:xfrm xmlns:a="http://schemas.openxmlformats.org/drawingml/2006/main">
            <a:off x="457200" y="3108960"/>
            <a:ext cx="319320" cy="319320"/>
          </a:xfrm>
          <a:prstGeom xmlns:a="http://schemas.openxmlformats.org/drawingml/2006/main" prst="rect">
            <a:avLst/>
          </a:prstGeom>
        </p:spPr>
      </p:pic>
      <p:sp>
        <p:nvSpPr>
          <p:cNvPr id="83" name="Text 5">
            <a:extLst xmlns:a="http://schemas.openxmlformats.org/drawingml/2006/main">
              <a:ext uri="{FF2B5EF4-FFF2-40B4-BE49-F238E27FC236}">
                <a16:creationId xmlns:a16="http://schemas.microsoft.com/office/drawing/2014/main" id="{174525BF-2063-431F-8DDB-6C87E693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08960"/>
            <a:ext cx="77716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Auditability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Every event is traceable with metadata for compliance.</a:t>
            </a:r>
          </a:p>
        </p:txBody>
      </p:sp>
      <p:sp>
        <p:nvSpPr>
          <p:cNvPr id="84" name="Text 6">
            <a:extLst xmlns:a="http://schemas.openxmlformats.org/drawingml/2006/main">
              <a:ext uri="{FF2B5EF4-FFF2-40B4-BE49-F238E27FC236}">
                <a16:creationId xmlns:a16="http://schemas.microsoft.com/office/drawing/2014/main" id="{55FCD73A-79F3-4FD9-B42A-0D26CF78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be6f38e2f164c7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7543617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Text 0">
            <a:extLst xmlns:a="http://schemas.openxmlformats.org/drawingml/2006/main">
              <a:ext uri="{FF2B5EF4-FFF2-40B4-BE49-F238E27FC236}">
                <a16:creationId xmlns:a16="http://schemas.microsoft.com/office/drawing/2014/main" id="{B63BB319-4736-4FBA-B0E5-0AC523ED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Idempotency &amp; Ordering</a:t>
            </a:r>
          </a:p>
        </p:txBody>
      </p:sp>
      <p:pic>
        <p:nvPicPr>
          <p:cNvPr id="8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d0ca2a10fa47b7"/>
          <a:stretch xmlns:a="http://schemas.openxmlformats.org/drawingml/2006/main"/>
        </p:blipFill>
        <p:spPr>
          <a:xfrm xmlns:a="http://schemas.openxmlformats.org/drawingml/2006/main">
            <a:off x="457200" y="914400"/>
            <a:ext cx="365040" cy="365040"/>
          </a:xfrm>
          <a:prstGeom xmlns:a="http://schemas.openxmlformats.org/drawingml/2006/main" prst="rect">
            <a:avLst/>
          </a:prstGeom>
        </p:spPr>
      </p:pic>
      <p:sp>
        <p:nvSpPr>
          <p:cNvPr id="87" name="Text 1">
            <a:extLst xmlns:a="http://schemas.openxmlformats.org/drawingml/2006/main">
              <a:ext uri="{FF2B5EF4-FFF2-40B4-BE49-F238E27FC236}">
                <a16:creationId xmlns:a16="http://schemas.microsoft.com/office/drawing/2014/main" id="{7CF0AC70-6B1E-456D-8351-882E0BCE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914400"/>
            <a:ext cx="36568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Idempotency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Operations should be safe to repeat. Use upserts, dedupe tables or idempotent writes to avoid double-charging customers.</a:t>
            </a:r>
          </a:p>
        </p:txBody>
      </p:sp>
      <p:pic>
        <p:nvPicPr>
          <p:cNvPr id="8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ddc17c8484d74"/>
          <a:stretch xmlns:a="http://schemas.openxmlformats.org/drawingml/2006/main"/>
        </p:blipFill>
        <p:spPr>
          <a:xfrm xmlns:a="http://schemas.openxmlformats.org/drawingml/2006/main">
            <a:off x="4572000" y="914400"/>
            <a:ext cx="365040" cy="365040"/>
          </a:xfrm>
          <a:prstGeom xmlns:a="http://schemas.openxmlformats.org/drawingml/2006/main" prst="rect">
            <a:avLst/>
          </a:prstGeom>
        </p:spPr>
      </p:pic>
      <p:sp>
        <p:nvSpPr>
          <p:cNvPr id="89" name="Text 2">
            <a:extLst xmlns:a="http://schemas.openxmlformats.org/drawingml/2006/main">
              <a:ext uri="{FF2B5EF4-FFF2-40B4-BE49-F238E27FC236}">
                <a16:creationId xmlns:a16="http://schemas.microsoft.com/office/drawing/2014/main" id="{5F30CA4F-A36B-4427-B29F-999BED82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914400"/>
            <a:ext cx="374832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Ordering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Partitioning keys ensure events with the same key are written to the same partition, preserving order. Without ordering, stateful computations like inventory updates break.</a:t>
            </a:r>
          </a:p>
        </p:txBody>
      </p:sp>
      <p:sp>
        <p:nvSpPr>
          <p:cNvPr id="90" name="Text 3">
            <a:extLst xmlns:a="http://schemas.openxmlformats.org/drawingml/2006/main">
              <a:ext uri="{FF2B5EF4-FFF2-40B4-BE49-F238E27FC236}">
                <a16:creationId xmlns:a16="http://schemas.microsoft.com/office/drawing/2014/main" id="{306E8640-5854-4231-A109-9513BFA6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8a7b8e0fc90451b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53913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Text 0">
            <a:extLst xmlns:a="http://schemas.openxmlformats.org/drawingml/2006/main">
              <a:ext uri="{FF2B5EF4-FFF2-40B4-BE49-F238E27FC236}">
                <a16:creationId xmlns:a16="http://schemas.microsoft.com/office/drawing/2014/main" id="{16F204EA-AAC4-4E9D-AB76-EAA6A2B6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Deduplication, Replayability &amp; Auditability</a:t>
            </a:r>
          </a:p>
        </p:txBody>
      </p:sp>
      <p:pic>
        <p:nvPicPr>
          <p:cNvPr id="9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53534bec4a49de"/>
          <a:stretch xmlns:a="http://schemas.openxmlformats.org/drawingml/2006/main"/>
        </p:blipFill>
        <p:spPr>
          <a:xfrm xmlns:a="http://schemas.openxmlformats.org/drawingml/2006/main">
            <a:off x="457200" y="914400"/>
            <a:ext cx="365040" cy="365040"/>
          </a:xfrm>
          <a:prstGeom xmlns:a="http://schemas.openxmlformats.org/drawingml/2006/main" prst="rect">
            <a:avLst/>
          </a:prstGeom>
        </p:spPr>
      </p:pic>
      <p:sp>
        <p:nvSpPr>
          <p:cNvPr id="93" name="Text 1">
            <a:extLst xmlns:a="http://schemas.openxmlformats.org/drawingml/2006/main">
              <a:ext uri="{FF2B5EF4-FFF2-40B4-BE49-F238E27FC236}">
                <a16:creationId xmlns:a16="http://schemas.microsoft.com/office/drawing/2014/main" id="{096FF866-A1DD-4DCE-B4BC-743E3C88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914400"/>
            <a:ext cx="3199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Deduplication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Use unique keys or idempotent writes so that duplicate events do not corrupt state. Hash-based dedup or windowed dedup can be applied.</a:t>
            </a:r>
          </a:p>
        </p:txBody>
      </p:sp>
      <p:pic>
        <p:nvPicPr>
          <p:cNvPr id="9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e85c0e14b641c4"/>
          <a:stretch xmlns:a="http://schemas.openxmlformats.org/drawingml/2006/main"/>
        </p:blipFill>
        <p:spPr>
          <a:xfrm xmlns:a="http://schemas.openxmlformats.org/drawingml/2006/main">
            <a:off x="4206240" y="914400"/>
            <a:ext cx="365040" cy="365040"/>
          </a:xfrm>
          <a:prstGeom xmlns:a="http://schemas.openxmlformats.org/drawingml/2006/main" prst="rect">
            <a:avLst/>
          </a:prstGeom>
        </p:spPr>
      </p:pic>
      <p:sp>
        <p:nvSpPr>
          <p:cNvPr id="95" name="Text 2">
            <a:extLst xmlns:a="http://schemas.openxmlformats.org/drawingml/2006/main">
              <a:ext uri="{FF2B5EF4-FFF2-40B4-BE49-F238E27FC236}">
                <a16:creationId xmlns:a16="http://schemas.microsoft.com/office/drawing/2014/main" id="{86926409-690D-4866-8095-348E1AC3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914400"/>
            <a:ext cx="36568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Replayability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Keep raw events in an immutable log (e.g., Kafka) and support reprocessing by resetting offsets or copying to a new topic.</a:t>
            </a:r>
          </a:p>
        </p:txBody>
      </p:sp>
      <p:pic>
        <p:nvPicPr>
          <p:cNvPr id="9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b495671b44bb7"/>
          <a:stretch xmlns:a="http://schemas.openxmlformats.org/drawingml/2006/main"/>
        </p:blipFill>
        <p:spPr>
          <a:xfrm xmlns:a="http://schemas.openxmlformats.org/drawingml/2006/main">
            <a:off x="457200" y="1920240"/>
            <a:ext cx="365040" cy="365040"/>
          </a:xfrm>
          <a:prstGeom xmlns:a="http://schemas.openxmlformats.org/drawingml/2006/main" prst="rect">
            <a:avLst/>
          </a:prstGeom>
        </p:spPr>
      </p:pic>
      <p:sp>
        <p:nvSpPr>
          <p:cNvPr id="97" name="Text 3">
            <a:extLst xmlns:a="http://schemas.openxmlformats.org/drawingml/2006/main">
              <a:ext uri="{FF2B5EF4-FFF2-40B4-BE49-F238E27FC236}">
                <a16:creationId xmlns:a16="http://schemas.microsoft.com/office/drawing/2014/main" id="{16A5CA92-0FED-42A6-8C47-D4335151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20240"/>
            <a:ext cx="740592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Auditability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Include metadata: timestamp, source, user/session ID and transaction ID in each event; store logs for compliance.</a:t>
            </a:r>
          </a:p>
        </p:txBody>
      </p:sp>
      <p:sp>
        <p:nvSpPr>
          <p:cNvPr id="98" name="Text 4">
            <a:extLst xmlns:a="http://schemas.openxmlformats.org/drawingml/2006/main">
              <a:ext uri="{FF2B5EF4-FFF2-40B4-BE49-F238E27FC236}">
                <a16:creationId xmlns:a16="http://schemas.microsoft.com/office/drawing/2014/main" id="{763C59FB-1F08-4781-BAE5-56040012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24a36e9b03a4597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7918255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Text 0">
            <a:extLst xmlns:a="http://schemas.openxmlformats.org/drawingml/2006/main">
              <a:ext uri="{FF2B5EF4-FFF2-40B4-BE49-F238E27FC236}">
                <a16:creationId xmlns:a16="http://schemas.microsoft.com/office/drawing/2014/main" id="{5793A72F-102C-4AFE-AE22-1E4ECFBF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Multi‑Source Ingestion Architecture</a:t>
            </a:r>
          </a:p>
        </p:txBody>
      </p:sp>
      <p:sp>
        <p:nvSpPr>
          <p:cNvPr id="100" name="Text 1">
            <a:extLst xmlns:a="http://schemas.openxmlformats.org/drawingml/2006/main">
              <a:ext uri="{FF2B5EF4-FFF2-40B4-BE49-F238E27FC236}">
                <a16:creationId xmlns:a16="http://schemas.microsoft.com/office/drawing/2014/main" id="{321D6FCD-D6C6-43FC-9377-38FB99BC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Combine Change Data Capture, streaming events and batch files into a unified Kafka ingestion layer.</a:t>
            </a:r>
          </a:p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70089C2F-DCC2-413B-9B5C-F91AA486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71600"/>
            <a:ext cx="127944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f38ee7e054d6e"/>
          <a:stretch xmlns:a="http://schemas.openxmlformats.org/drawingml/2006/main"/>
        </p:blipFill>
        <p:spPr>
          <a:xfrm xmlns:a="http://schemas.openxmlformats.org/drawingml/2006/main">
            <a:off x="960120" y="1435680"/>
            <a:ext cx="274320" cy="364320"/>
          </a:xfrm>
          <a:prstGeom xmlns:a="http://schemas.openxmlformats.org/drawingml/2006/main" prst="rect">
            <a:avLst/>
          </a:prstGeom>
        </p:spPr>
      </p:pic>
      <p:sp>
        <p:nvSpPr>
          <p:cNvPr id="103" name="Text 3">
            <a:extLst xmlns:a="http://schemas.openxmlformats.org/drawingml/2006/main">
              <a:ext uri="{FF2B5EF4-FFF2-40B4-BE49-F238E27FC236}">
                <a16:creationId xmlns:a16="http://schemas.microsoft.com/office/drawing/2014/main" id="{AD6429C6-AAFB-41EC-8299-E3DC07B6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417320"/>
            <a:ext cx="913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Orders DB</a:t>
            </a:r>
          </a:p>
        </p:txBody>
      </p:sp>
      <p:sp>
        <p:nvSpPr>
          <p:cNvPr id="104" name="Shape 4">
            <a:extLst xmlns:a="http://schemas.openxmlformats.org/drawingml/2006/main">
              <a:ext uri="{FF2B5EF4-FFF2-40B4-BE49-F238E27FC236}">
                <a16:creationId xmlns:a16="http://schemas.microsoft.com/office/drawing/2014/main" id="{768B7497-3D45-4BB0-BCA4-435D0DDD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371600"/>
            <a:ext cx="127944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pic>
        <p:nvPicPr>
          <p:cNvPr id="10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f38ee7e054d6e"/>
          <a:stretch xmlns:a="http://schemas.openxmlformats.org/drawingml/2006/main"/>
        </p:blipFill>
        <p:spPr>
          <a:xfrm xmlns:a="http://schemas.openxmlformats.org/drawingml/2006/main">
            <a:off x="3154680" y="1435680"/>
            <a:ext cx="264960" cy="363960"/>
          </a:xfrm>
          <a:prstGeom xmlns:a="http://schemas.openxmlformats.org/drawingml/2006/main" prst="rect">
            <a:avLst/>
          </a:prstGeom>
        </p:spPr>
      </p:pic>
      <p:sp>
        <p:nvSpPr>
          <p:cNvPr id="106" name="Text 5">
            <a:extLst xmlns:a="http://schemas.openxmlformats.org/drawingml/2006/main">
              <a:ext uri="{FF2B5EF4-FFF2-40B4-BE49-F238E27FC236}">
                <a16:creationId xmlns:a16="http://schemas.microsoft.com/office/drawing/2014/main" id="{AE2071A1-55A4-457D-90CB-2C20DABC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17320"/>
            <a:ext cx="913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Inventory DB</a:t>
            </a:r>
          </a:p>
        </p:txBody>
      </p:sp>
      <p:sp>
        <p:nvSpPr>
          <p:cNvPr id="107" name="Shape 6">
            <a:extLst xmlns:a="http://schemas.openxmlformats.org/drawingml/2006/main">
              <a:ext uri="{FF2B5EF4-FFF2-40B4-BE49-F238E27FC236}">
                <a16:creationId xmlns:a16="http://schemas.microsoft.com/office/drawing/2014/main" id="{C821859A-47D6-4BFA-9FA8-E368E66F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371600"/>
            <a:ext cx="127944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pic>
        <p:nvPicPr>
          <p:cNvPr id="10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365178e0f48cc"/>
          <a:stretch xmlns:a="http://schemas.openxmlformats.org/drawingml/2006/main"/>
        </p:blipFill>
        <p:spPr>
          <a:xfrm xmlns:a="http://schemas.openxmlformats.org/drawingml/2006/main">
            <a:off x="5349240" y="1435680"/>
            <a:ext cx="227880" cy="227880"/>
          </a:xfrm>
          <a:prstGeom xmlns:a="http://schemas.openxmlformats.org/drawingml/2006/main" prst="rect">
            <a:avLst/>
          </a:prstGeom>
        </p:spPr>
      </p:pic>
      <p:sp>
        <p:nvSpPr>
          <p:cNvPr id="109" name="Text 7">
            <a:extLst xmlns:a="http://schemas.openxmlformats.org/drawingml/2006/main">
              <a:ext uri="{FF2B5EF4-FFF2-40B4-BE49-F238E27FC236}">
                <a16:creationId xmlns:a16="http://schemas.microsoft.com/office/drawing/2014/main" id="{7749201E-EAA8-41B1-86D6-5BD4B50B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417320"/>
            <a:ext cx="913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Clickstream</a:t>
            </a:r>
          </a:p>
        </p:txBody>
      </p:sp>
      <p:sp>
        <p:nvSpPr>
          <p:cNvPr id="110" name="Shape 8">
            <a:extLst xmlns:a="http://schemas.openxmlformats.org/drawingml/2006/main">
              <a:ext uri="{FF2B5EF4-FFF2-40B4-BE49-F238E27FC236}">
                <a16:creationId xmlns:a16="http://schemas.microsoft.com/office/drawing/2014/main" id="{BEC59CD7-523D-40CD-8231-B85AC0AB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71600"/>
            <a:ext cx="127944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 w="12700">
            <a:solidFill>
              <a:srgbClr val="FFB70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pic>
        <p:nvPicPr>
          <p:cNvPr id="11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b5987a1fe4452"/>
          <a:stretch xmlns:a="http://schemas.openxmlformats.org/drawingml/2006/main"/>
        </p:blipFill>
        <p:spPr>
          <a:xfrm xmlns:a="http://schemas.openxmlformats.org/drawingml/2006/main">
            <a:off x="7543800" y="1435680"/>
            <a:ext cx="227880" cy="227880"/>
          </a:xfrm>
          <a:prstGeom xmlns:a="http://schemas.openxmlformats.org/drawingml/2006/main" prst="rect">
            <a:avLst/>
          </a:prstGeom>
        </p:spPr>
      </p:pic>
      <p:sp>
        <p:nvSpPr>
          <p:cNvPr id="112" name="Text 9">
            <a:extLst xmlns:a="http://schemas.openxmlformats.org/drawingml/2006/main">
              <a:ext uri="{FF2B5EF4-FFF2-40B4-BE49-F238E27FC236}">
                <a16:creationId xmlns:a16="http://schemas.microsoft.com/office/drawing/2014/main" id="{690B0EBA-F240-4858-9514-E917F4EB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417320"/>
            <a:ext cx="913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Logistics CSV</a:t>
            </a:r>
          </a:p>
        </p:txBody>
      </p:sp>
      <p:sp>
        <p:nvSpPr>
          <p:cNvPr id="113" name="Shape 10">
            <a:extLst xmlns:a="http://schemas.openxmlformats.org/drawingml/2006/main">
              <a:ext uri="{FF2B5EF4-FFF2-40B4-BE49-F238E27FC236}">
                <a16:creationId xmlns:a16="http://schemas.microsoft.com/office/drawing/2014/main" id="{B2D8AC7B-81EA-4E9E-9EF6-BE79B00A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8288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4" name="Shape 11">
            <a:extLst xmlns:a="http://schemas.openxmlformats.org/drawingml/2006/main">
              <a:ext uri="{FF2B5EF4-FFF2-40B4-BE49-F238E27FC236}">
                <a16:creationId xmlns:a16="http://schemas.microsoft.com/office/drawing/2014/main" id="{C0723D53-A8D9-49FC-B4D2-D3B7C2BA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8288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5" name="Shape 12">
            <a:extLst xmlns:a="http://schemas.openxmlformats.org/drawingml/2006/main">
              <a:ext uri="{FF2B5EF4-FFF2-40B4-BE49-F238E27FC236}">
                <a16:creationId xmlns:a16="http://schemas.microsoft.com/office/drawing/2014/main" id="{8CAD63DB-F137-4A6C-996C-FF75E8D3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8288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6" name="Shape 13">
            <a:extLst xmlns:a="http://schemas.openxmlformats.org/drawingml/2006/main">
              <a:ext uri="{FF2B5EF4-FFF2-40B4-BE49-F238E27FC236}">
                <a16:creationId xmlns:a16="http://schemas.microsoft.com/office/drawing/2014/main" id="{132F10CC-BFA8-4E64-B4DA-8877969A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8288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7" name="Shape 14">
            <a:extLst xmlns:a="http://schemas.openxmlformats.org/drawingml/2006/main">
              <a:ext uri="{FF2B5EF4-FFF2-40B4-BE49-F238E27FC236}">
                <a16:creationId xmlns:a16="http://schemas.microsoft.com/office/drawing/2014/main" id="{D76B153E-90D1-4EC7-B3C8-01B043B9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54856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172A"/>
          </a:solidFill>
          <a:ln xmlns:a="http://schemas.openxmlformats.org/drawingml/2006/main" w="12700">
            <a:solidFill>
              <a:srgbClr val="0E172A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8" name="Text 15">
            <a:extLst xmlns:a="http://schemas.openxmlformats.org/drawingml/2006/main">
              <a:ext uri="{FF2B5EF4-FFF2-40B4-BE49-F238E27FC236}">
                <a16:creationId xmlns:a16="http://schemas.microsoft.com/office/drawing/2014/main" id="{B3E6BF36-BD0D-4ED5-81E5-0511AABA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86000"/>
            <a:ext cx="54856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 Topics</a:t>
            </a:r>
          </a:p>
        </p:txBody>
      </p:sp>
      <p:sp>
        <p:nvSpPr>
          <p:cNvPr id="119" name="Shape 16">
            <a:extLst xmlns:a="http://schemas.openxmlformats.org/drawingml/2006/main">
              <a:ext uri="{FF2B5EF4-FFF2-40B4-BE49-F238E27FC236}">
                <a16:creationId xmlns:a16="http://schemas.microsoft.com/office/drawing/2014/main" id="{8BC129D1-DA52-4AA5-90F1-746978FA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800" y="274032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20" name="Shape 17">
            <a:extLst xmlns:a="http://schemas.openxmlformats.org/drawingml/2006/main">
              <a:ext uri="{FF2B5EF4-FFF2-40B4-BE49-F238E27FC236}">
                <a16:creationId xmlns:a16="http://schemas.microsoft.com/office/drawing/2014/main" id="{4C835D82-249F-4B54-87E2-5B6F64B0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400" y="3014640"/>
            <a:ext cx="2742480" cy="547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12700">
            <a:solidFill>
              <a:srgbClr val="2E8B5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21" name="Text 18">
            <a:extLst xmlns:a="http://schemas.openxmlformats.org/drawingml/2006/main">
              <a:ext uri="{FF2B5EF4-FFF2-40B4-BE49-F238E27FC236}">
                <a16:creationId xmlns:a16="http://schemas.microsoft.com/office/drawing/2014/main" id="{EE23BF7C-E807-46DD-BEFB-EEAAF1A2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400" y="30146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Processing &amp; Validation</a:t>
            </a:r>
          </a:p>
        </p:txBody>
      </p:sp>
      <p:sp>
        <p:nvSpPr>
          <p:cNvPr id="122" name="Text 19">
            <a:extLst xmlns:a="http://schemas.openxmlformats.org/drawingml/2006/main">
              <a:ext uri="{FF2B5EF4-FFF2-40B4-BE49-F238E27FC236}">
                <a16:creationId xmlns:a16="http://schemas.microsoft.com/office/drawing/2014/main" id="{EB7875C0-66A7-4923-9D82-00B02AF3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8db2f5b8e24535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645513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Text 0">
            <a:extLst xmlns:a="http://schemas.openxmlformats.org/drawingml/2006/main">
              <a:ext uri="{FF2B5EF4-FFF2-40B4-BE49-F238E27FC236}">
                <a16:creationId xmlns:a16="http://schemas.microsoft.com/office/drawing/2014/main" id="{7A1187F4-AEA1-4D0B-A443-B9EA1712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CDC Source: Orders Database</a:t>
            </a:r>
          </a:p>
        </p:txBody>
      </p:sp>
      <p:pic>
        <p:nvPicPr>
          <p:cNvPr id="1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df45a00cb41fc"/>
          <a:stretch xmlns:a="http://schemas.openxmlformats.org/drawingml/2006/main"/>
        </p:blipFill>
        <p:spPr>
          <a:xfrm xmlns:a="http://schemas.openxmlformats.org/drawingml/2006/main">
            <a:off x="457200" y="822960"/>
            <a:ext cx="456480" cy="456480"/>
          </a:xfrm>
          <a:prstGeom xmlns:a="http://schemas.openxmlformats.org/drawingml/2006/main" prst="rect">
            <a:avLst/>
          </a:prstGeom>
        </p:spPr>
      </p:pic>
      <p:sp>
        <p:nvSpPr>
          <p:cNvPr id="125" name="Text 1">
            <a:extLst xmlns:a="http://schemas.openxmlformats.org/drawingml/2006/main">
              <a:ext uri="{FF2B5EF4-FFF2-40B4-BE49-F238E27FC236}">
                <a16:creationId xmlns:a16="http://schemas.microsoft.com/office/drawing/2014/main" id="{E120DECC-3F99-4252-91F3-EA6F1B41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822960"/>
            <a:ext cx="768024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Why capture orders?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Orders are the lifeblood of the business. We need to replicate inserts, updates and deletes from the source database into Kafka topics to drive downstream services.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Connector Configuration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Debezium Postgres/MySQL connector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Table include list: public.orders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Snapshot mode: initial</a:t>
            </a:r>
          </a:p>
        </p:txBody>
      </p:sp>
      <p:sp>
        <p:nvSpPr>
          <p:cNvPr id="126" name="Text 2">
            <a:extLst xmlns:a="http://schemas.openxmlformats.org/drawingml/2006/main">
              <a:ext uri="{FF2B5EF4-FFF2-40B4-BE49-F238E27FC236}">
                <a16:creationId xmlns:a16="http://schemas.microsoft.com/office/drawing/2014/main" id="{1EB2FFDA-495D-4CD4-A744-CCC5B97C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34b097402c24e3b"/>
              </a:rPr>
              <a:t>[1]</a:t>
            </a: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3eaafbd6a6e48e8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432002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Text 0">
            <a:extLst xmlns:a="http://schemas.openxmlformats.org/drawingml/2006/main">
              <a:ext uri="{FF2B5EF4-FFF2-40B4-BE49-F238E27FC236}">
                <a16:creationId xmlns:a16="http://schemas.microsoft.com/office/drawing/2014/main" id="{E7F90569-694E-405B-A409-85141228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CDC Source: Inventory Database</a:t>
            </a:r>
          </a:p>
        </p:txBody>
      </p:sp>
      <p:pic>
        <p:nvPicPr>
          <p:cNvPr id="1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4521c70b14317"/>
          <a:stretch xmlns:a="http://schemas.openxmlformats.org/drawingml/2006/main"/>
        </p:blipFill>
        <p:spPr>
          <a:xfrm xmlns:a="http://schemas.openxmlformats.org/drawingml/2006/main">
            <a:off x="457200" y="822960"/>
            <a:ext cx="456480" cy="456480"/>
          </a:xfrm>
          <a:prstGeom xmlns:a="http://schemas.openxmlformats.org/drawingml/2006/main" prst="rect">
            <a:avLst/>
          </a:prstGeom>
        </p:spPr>
      </p:pic>
      <p:sp>
        <p:nvSpPr>
          <p:cNvPr id="129" name="Text 1">
            <a:extLst xmlns:a="http://schemas.openxmlformats.org/drawingml/2006/main">
              <a:ext uri="{FF2B5EF4-FFF2-40B4-BE49-F238E27FC236}">
                <a16:creationId xmlns:a16="http://schemas.microsoft.com/office/drawing/2014/main" id="{11804A4A-9F5A-4469-ACFD-7D77F5D6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822960"/>
            <a:ext cx="768024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Why capture inventory?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Inventory changes directly affect availability and pricing. Synchronize stock updates to avoid overselling and ensure timely replenishment.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Connector Configuration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Use Debezium MySQL or Postgres connector with include list public.inventory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Set snapshot.mode=initial or initial_only</a:t>
            </a:r>
          </a:p>
        </p:txBody>
      </p:sp>
      <p:sp>
        <p:nvSpPr>
          <p:cNvPr id="130" name="Text 2">
            <a:extLst xmlns:a="http://schemas.openxmlformats.org/drawingml/2006/main">
              <a:ext uri="{FF2B5EF4-FFF2-40B4-BE49-F238E27FC236}">
                <a16:creationId xmlns:a16="http://schemas.microsoft.com/office/drawing/2014/main" id="{06EE684E-FB39-4FC5-B6D2-50B8B80C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eb2560d14e6481f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3942758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Text 0">
            <a:extLst xmlns:a="http://schemas.openxmlformats.org/drawingml/2006/main">
              <a:ext uri="{FF2B5EF4-FFF2-40B4-BE49-F238E27FC236}">
                <a16:creationId xmlns:a16="http://schemas.microsoft.com/office/drawing/2014/main" id="{E4E9364C-E31C-40A2-AD8A-F6E94C11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Streaming Source: Clickstream Events</a:t>
            </a:r>
          </a:p>
        </p:txBody>
      </p:sp>
      <p:pic>
        <p:nvPicPr>
          <p:cNvPr id="1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64120888644f6"/>
          <a:stretch xmlns:a="http://schemas.openxmlformats.org/drawingml/2006/main"/>
        </p:blipFill>
        <p:spPr>
          <a:xfrm xmlns:a="http://schemas.openxmlformats.org/drawingml/2006/main">
            <a:off x="457200" y="822960"/>
            <a:ext cx="456480" cy="456480"/>
          </a:xfrm>
          <a:prstGeom xmlns:a="http://schemas.openxmlformats.org/drawingml/2006/main" prst="rect">
            <a:avLst/>
          </a:prstGeom>
        </p:spPr>
      </p:pic>
      <p:sp>
        <p:nvSpPr>
          <p:cNvPr id="133" name="Text 1">
            <a:extLst xmlns:a="http://schemas.openxmlformats.org/drawingml/2006/main">
              <a:ext uri="{FF2B5EF4-FFF2-40B4-BE49-F238E27FC236}">
                <a16:creationId xmlns:a16="http://schemas.microsoft.com/office/drawing/2014/main" id="{9A782C92-436E-4E69-BCFC-BE928478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822960"/>
            <a:ext cx="768024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Simulated user actions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User clicks, page views and other events are generated in real time. A Python producer writes JSON events to a Kafka topic, keyed by user ID.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Producer Characteristics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Use event time as the timestamp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Partition by user ID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Include session and event type fields</a:t>
            </a:r>
          </a:p>
        </p:txBody>
      </p:sp>
      <p:sp>
        <p:nvSpPr>
          <p:cNvPr id="134" name="Text 2">
            <a:extLst xmlns:a="http://schemas.openxmlformats.org/drawingml/2006/main">
              <a:ext uri="{FF2B5EF4-FFF2-40B4-BE49-F238E27FC236}">
                <a16:creationId xmlns:a16="http://schemas.microsoft.com/office/drawing/2014/main" id="{C7CBA710-A826-4705-A5B6-93035F11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885074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Text 0">
            <a:extLst xmlns:a="http://schemas.openxmlformats.org/drawingml/2006/main">
              <a:ext uri="{FF2B5EF4-FFF2-40B4-BE49-F238E27FC236}">
                <a16:creationId xmlns:a16="http://schemas.microsoft.com/office/drawing/2014/main" id="{5C2EAD0A-D3DC-49CD-8F8E-841DEC11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Batch Source: Logistics CSV</a:t>
            </a:r>
          </a:p>
        </p:txBody>
      </p:sp>
      <p:pic>
        <p:nvPicPr>
          <p:cNvPr id="1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91d53b5034f38"/>
          <a:stretch xmlns:a="http://schemas.openxmlformats.org/drawingml/2006/main"/>
        </p:blipFill>
        <p:spPr>
          <a:xfrm xmlns:a="http://schemas.openxmlformats.org/drawingml/2006/main">
            <a:off x="457200" y="822960"/>
            <a:ext cx="456480" cy="456480"/>
          </a:xfrm>
          <a:prstGeom xmlns:a="http://schemas.openxmlformats.org/drawingml/2006/main" prst="rect">
            <a:avLst/>
          </a:prstGeom>
        </p:spPr>
      </p:pic>
      <p:sp>
        <p:nvSpPr>
          <p:cNvPr id="137" name="Text 1">
            <a:extLst xmlns:a="http://schemas.openxmlformats.org/drawingml/2006/main">
              <a:ext uri="{FF2B5EF4-FFF2-40B4-BE49-F238E27FC236}">
                <a16:creationId xmlns:a16="http://schemas.microsoft.com/office/drawing/2014/main" id="{8EF47494-F791-48CE-87F6-9D10A3A8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822960"/>
            <a:ext cx="768024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Daily batch deliveries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Logistics providers send CSV files with shipments and tracking numbers. We need to ingest these files and convert them into structured Kafka events.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Ingestion Options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Kafka Connect FileSource connector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Custom Python producer reading CSV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Validate and enrich records before publishing</a:t>
            </a:r>
          </a:p>
        </p:txBody>
      </p:sp>
      <p:sp>
        <p:nvSpPr>
          <p:cNvPr id="138" name="Text 2">
            <a:extLst xmlns:a="http://schemas.openxmlformats.org/drawingml/2006/main">
              <a:ext uri="{FF2B5EF4-FFF2-40B4-BE49-F238E27FC236}">
                <a16:creationId xmlns:a16="http://schemas.microsoft.com/office/drawing/2014/main" id="{B87749AF-D63B-4203-BB08-84B8F7B6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1245439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Text 0">
            <a:extLst xmlns:a="http://schemas.openxmlformats.org/drawingml/2006/main">
              <a:ext uri="{FF2B5EF4-FFF2-40B4-BE49-F238E27FC236}">
                <a16:creationId xmlns:a16="http://schemas.microsoft.com/office/drawing/2014/main" id="{265F6055-ED4B-45F9-B357-AFFD57E0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Event Schema Management</a:t>
            </a:r>
          </a:p>
        </p:txBody>
      </p:sp>
      <p:sp>
        <p:nvSpPr>
          <p:cNvPr id="140" name="Text 1">
            <a:extLst xmlns:a="http://schemas.openxmlformats.org/drawingml/2006/main">
              <a:ext uri="{FF2B5EF4-FFF2-40B4-BE49-F238E27FC236}">
                <a16:creationId xmlns:a16="http://schemas.microsoft.com/office/drawing/2014/main" id="{D90C8D32-DA5E-42E5-8B77-DCAFBBF0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Schemas define the structure of your messages. Treat schemas as contracts between producers and consumers.</a:t>
            </a:r>
          </a:p>
        </p:txBody>
      </p:sp>
      <p:sp>
        <p:nvSpPr>
          <p:cNvPr id="141" name="Shape 2">
            <a:extLst xmlns:a="http://schemas.openxmlformats.org/drawingml/2006/main">
              <a:ext uri="{FF2B5EF4-FFF2-40B4-BE49-F238E27FC236}">
                <a16:creationId xmlns:a16="http://schemas.microsoft.com/office/drawing/2014/main" id="{D93224E7-E03F-41E8-A4A3-D49D98A6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2559600" cy="63936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42" name="Text 3">
            <a:extLst xmlns:a="http://schemas.openxmlformats.org/drawingml/2006/main">
              <a:ext uri="{FF2B5EF4-FFF2-40B4-BE49-F238E27FC236}">
                <a16:creationId xmlns:a16="http://schemas.microsoft.com/office/drawing/2014/main" id="{0103D0F3-9AC6-4F95-B575-CA8C05F1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25596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Avro</a:t>
            </a:r>
          </a:p>
        </p:txBody>
      </p:sp>
      <p:sp>
        <p:nvSpPr>
          <p:cNvPr id="143" name="Text 4">
            <a:extLst xmlns:a="http://schemas.openxmlformats.org/drawingml/2006/main">
              <a:ext uri="{FF2B5EF4-FFF2-40B4-BE49-F238E27FC236}">
                <a16:creationId xmlns:a16="http://schemas.microsoft.com/office/drawing/2014/main" id="{41F12C10-105E-4680-8176-6EBB2AC2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1640"/>
            <a:ext cx="25596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5F5F5"/>
                </a:solidFill>
                <a:latin typeface="Calibri"/>
                <a:ea typeface="Calibri"/>
                <a:cs typeface="Calibri"/>
              </a:rPr>
              <a:t>Binary format, dynamic typing, schema stored separately; supports schema evolution.</a:t>
            </a:r>
          </a:p>
        </p:txBody>
      </p:sp>
      <p:sp>
        <p:nvSpPr>
          <p:cNvPr id="144" name="Shape 5">
            <a:extLst xmlns:a="http://schemas.openxmlformats.org/drawingml/2006/main">
              <a:ext uri="{FF2B5EF4-FFF2-40B4-BE49-F238E27FC236}">
                <a16:creationId xmlns:a16="http://schemas.microsoft.com/office/drawing/2014/main" id="{CC1E3A6B-4B18-4665-82B6-7C220BE1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2559600" cy="63936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45" name="Text 6">
            <a:extLst xmlns:a="http://schemas.openxmlformats.org/drawingml/2006/main">
              <a:ext uri="{FF2B5EF4-FFF2-40B4-BE49-F238E27FC236}">
                <a16:creationId xmlns:a16="http://schemas.microsoft.com/office/drawing/2014/main" id="{C40D2825-579C-4A42-9433-DB250709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25596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 Schema</a:t>
            </a:r>
          </a:p>
        </p:txBody>
      </p:sp>
      <p:sp>
        <p:nvSpPr>
          <p:cNvPr id="146" name="Text 7">
            <a:extLst xmlns:a="http://schemas.openxmlformats.org/drawingml/2006/main">
              <a:ext uri="{FF2B5EF4-FFF2-40B4-BE49-F238E27FC236}">
                <a16:creationId xmlns:a16="http://schemas.microsoft.com/office/drawing/2014/main" id="{AF5DCE2B-5C6F-4725-A188-2B2FFA0B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25596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5F5F5"/>
                </a:solidFill>
                <a:latin typeface="Calibri"/>
                <a:ea typeface="Calibri"/>
                <a:cs typeface="Calibri"/>
              </a:rPr>
              <a:t>Human-readable, good for APIs; requires careful versioning.</a:t>
            </a:r>
          </a:p>
        </p:txBody>
      </p:sp>
      <p:sp>
        <p:nvSpPr>
          <p:cNvPr id="147" name="Shape 8">
            <a:extLst xmlns:a="http://schemas.openxmlformats.org/drawingml/2006/main">
              <a:ext uri="{FF2B5EF4-FFF2-40B4-BE49-F238E27FC236}">
                <a16:creationId xmlns:a16="http://schemas.microsoft.com/office/drawing/2014/main" id="{657B239E-848A-48A1-B494-F94A3A71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2559600" cy="63936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48" name="Text 9">
            <a:extLst xmlns:a="http://schemas.openxmlformats.org/drawingml/2006/main">
              <a:ext uri="{FF2B5EF4-FFF2-40B4-BE49-F238E27FC236}">
                <a16:creationId xmlns:a16="http://schemas.microsoft.com/office/drawing/2014/main" id="{BE457DEA-D0FB-4C4F-8C59-5C3A0ABC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25596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Protobuf</a:t>
            </a:r>
          </a:p>
        </p:txBody>
      </p:sp>
      <p:sp>
        <p:nvSpPr>
          <p:cNvPr id="149" name="Text 10">
            <a:extLst xmlns:a="http://schemas.openxmlformats.org/drawingml/2006/main">
              <a:ext uri="{FF2B5EF4-FFF2-40B4-BE49-F238E27FC236}">
                <a16:creationId xmlns:a16="http://schemas.microsoft.com/office/drawing/2014/main" id="{010FBAEC-E750-41C6-9B67-B8A0FAA2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54680"/>
            <a:ext cx="25596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5F5F5"/>
                </a:solidFill>
                <a:latin typeface="Calibri"/>
                <a:ea typeface="Calibri"/>
                <a:cs typeface="Calibri"/>
              </a:rPr>
              <a:t>Compact encoding, code generation for strong typing.</a:t>
            </a:r>
          </a:p>
        </p:txBody>
      </p:sp>
      <p:sp>
        <p:nvSpPr>
          <p:cNvPr id="150" name="Text 11">
            <a:extLst xmlns:a="http://schemas.openxmlformats.org/drawingml/2006/main">
              <a:ext uri="{FF2B5EF4-FFF2-40B4-BE49-F238E27FC236}">
                <a16:creationId xmlns:a16="http://schemas.microsoft.com/office/drawing/2014/main" id="{169D3E55-4055-4302-8724-111C9E33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9a65679ffce42c9"/>
              </a:rPr>
              <a:t>[1]</a:t>
            </a: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446a25da29a4a22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953362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ext 0">
            <a:extLst xmlns:a="http://schemas.openxmlformats.org/drawingml/2006/main">
              <a:ext uri="{FF2B5EF4-FFF2-40B4-BE49-F238E27FC236}">
                <a16:creationId xmlns:a16="http://schemas.microsoft.com/office/drawing/2014/main" id="{C67C6B81-101C-4936-A123-3BD792C6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Schema Registry Architecture</a:t>
            </a:r>
          </a:p>
        </p:txBody>
      </p:sp>
      <p:sp>
        <p:nvSpPr>
          <p:cNvPr id="152" name="Shape 1">
            <a:extLst xmlns:a="http://schemas.openxmlformats.org/drawingml/2006/main">
              <a:ext uri="{FF2B5EF4-FFF2-40B4-BE49-F238E27FC236}">
                <a16:creationId xmlns:a16="http://schemas.microsoft.com/office/drawing/2014/main" id="{134299F5-47E8-4C91-9D6D-55B592A0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"/>
            <a:ext cx="1462320" cy="547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53" name="Text 2">
            <a:extLst xmlns:a="http://schemas.openxmlformats.org/drawingml/2006/main">
              <a:ext uri="{FF2B5EF4-FFF2-40B4-BE49-F238E27FC236}">
                <a16:creationId xmlns:a16="http://schemas.microsoft.com/office/drawing/2014/main" id="{7AF3791A-8CF7-4174-98F5-D43A4B9E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"/>
            <a:ext cx="146232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Producer</a:t>
            </a:r>
          </a:p>
        </p:txBody>
      </p:sp>
      <p:sp>
        <p:nvSpPr>
          <p:cNvPr id="154" name="Shape 3">
            <a:extLst xmlns:a="http://schemas.openxmlformats.org/drawingml/2006/main">
              <a:ext uri="{FF2B5EF4-FFF2-40B4-BE49-F238E27FC236}">
                <a16:creationId xmlns:a16="http://schemas.microsoft.com/office/drawing/2014/main" id="{95CEFF1B-73B8-4286-BA0F-65D9C2AE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1325880"/>
            <a:ext cx="36504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55" name="Shape 4">
            <a:extLst xmlns:a="http://schemas.openxmlformats.org/drawingml/2006/main">
              <a:ext uri="{FF2B5EF4-FFF2-40B4-BE49-F238E27FC236}">
                <a16:creationId xmlns:a16="http://schemas.microsoft.com/office/drawing/2014/main" id="{013B206D-2EC0-4473-B46F-9524AA09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097280"/>
            <a:ext cx="1462320" cy="547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56" name="Text 5">
            <a:extLst xmlns:a="http://schemas.openxmlformats.org/drawingml/2006/main">
              <a:ext uri="{FF2B5EF4-FFF2-40B4-BE49-F238E27FC236}">
                <a16:creationId xmlns:a16="http://schemas.microsoft.com/office/drawing/2014/main" id="{26F41D2A-4ABE-4F5E-B0A1-C117D0D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097280"/>
            <a:ext cx="146232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Schema Registry</a:t>
            </a:r>
          </a:p>
        </p:txBody>
      </p:sp>
      <p:sp>
        <p:nvSpPr>
          <p:cNvPr id="157" name="Shape 6">
            <a:extLst xmlns:a="http://schemas.openxmlformats.org/drawingml/2006/main">
              <a:ext uri="{FF2B5EF4-FFF2-40B4-BE49-F238E27FC236}">
                <a16:creationId xmlns:a16="http://schemas.microsoft.com/office/drawing/2014/main" id="{6C78F423-A185-4201-B6C5-4FAA2196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1325880"/>
            <a:ext cx="36504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58" name="Shape 7">
            <a:extLst xmlns:a="http://schemas.openxmlformats.org/drawingml/2006/main">
              <a:ext uri="{FF2B5EF4-FFF2-40B4-BE49-F238E27FC236}">
                <a16:creationId xmlns:a16="http://schemas.microsoft.com/office/drawing/2014/main" id="{82CF4F58-694D-4D6E-B3BB-3F3CB768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097280"/>
            <a:ext cx="1462320" cy="547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59" name="Text 8">
            <a:extLst xmlns:a="http://schemas.openxmlformats.org/drawingml/2006/main">
              <a:ext uri="{FF2B5EF4-FFF2-40B4-BE49-F238E27FC236}">
                <a16:creationId xmlns:a16="http://schemas.microsoft.com/office/drawing/2014/main" id="{1620D8E9-2F84-43B9-B8FD-F2E7D67A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097280"/>
            <a:ext cx="146232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</a:t>
            </a:r>
          </a:p>
        </p:txBody>
      </p:sp>
      <p:sp>
        <p:nvSpPr>
          <p:cNvPr id="160" name="Shape 9">
            <a:extLst xmlns:a="http://schemas.openxmlformats.org/drawingml/2006/main">
              <a:ext uri="{FF2B5EF4-FFF2-40B4-BE49-F238E27FC236}">
                <a16:creationId xmlns:a16="http://schemas.microsoft.com/office/drawing/2014/main" id="{0539E73C-33A1-438D-ADA7-41536687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325880"/>
            <a:ext cx="36504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61" name="Shape 10">
            <a:extLst xmlns:a="http://schemas.openxmlformats.org/drawingml/2006/main">
              <a:ext uri="{FF2B5EF4-FFF2-40B4-BE49-F238E27FC236}">
                <a16:creationId xmlns:a16="http://schemas.microsoft.com/office/drawing/2014/main" id="{E0B744BB-CE3D-4733-9983-A0B2FB56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97280"/>
            <a:ext cx="1462320" cy="5479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 w="12700">
            <a:solidFill>
              <a:srgbClr val="F2848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62" name="Text 11">
            <a:extLst xmlns:a="http://schemas.openxmlformats.org/drawingml/2006/main">
              <a:ext uri="{FF2B5EF4-FFF2-40B4-BE49-F238E27FC236}">
                <a16:creationId xmlns:a16="http://schemas.microsoft.com/office/drawing/2014/main" id="{6E833BFD-564E-4BE9-80AC-34B2B0CB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97280"/>
            <a:ext cx="146232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Consumer</a:t>
            </a:r>
          </a:p>
        </p:txBody>
      </p:sp>
      <p:sp>
        <p:nvSpPr>
          <p:cNvPr id="163" name="Text 12">
            <a:extLst xmlns:a="http://schemas.openxmlformats.org/drawingml/2006/main">
              <a:ext uri="{FF2B5EF4-FFF2-40B4-BE49-F238E27FC236}">
                <a16:creationId xmlns:a16="http://schemas.microsoft.com/office/drawing/2014/main" id="{E1D04ECA-C44F-4B03-869C-153F0C11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1680"/>
            <a:ext cx="822888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Producer registers a schema and sends a compact schema ID with serialized data. Consumers obtain the registered schema to deserialize safely. Compatibility checks reject breaking changes before new events reach dependent applications.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Recommended visual reading: Stephane Maarek, "Introduction to Schemas in Apache Kafka with the Confluent Schema Registry," Medium.</a:t>
            </a:r>
          </a:p>
        </p:txBody>
      </p:sp>
      <p:sp>
        <p:nvSpPr>
          <p:cNvPr id="164" name="Text 13">
            <a:extLst xmlns:a="http://schemas.openxmlformats.org/drawingml/2006/main">
              <a:ext uri="{FF2B5EF4-FFF2-40B4-BE49-F238E27FC236}">
                <a16:creationId xmlns:a16="http://schemas.microsoft.com/office/drawing/2014/main" id="{B5DF78DC-8610-433B-8191-DEE0623D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15ebc63889049d3"/>
              </a:rPr>
              <a:t>[1]</a:t>
            </a: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9398ee94c04635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199870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Text 0">
            <a:extLst xmlns:a="http://schemas.openxmlformats.org/drawingml/2006/main">
              <a:ext uri="{FF2B5EF4-FFF2-40B4-BE49-F238E27FC236}">
                <a16:creationId xmlns:a16="http://schemas.microsoft.com/office/drawing/2014/main" id="{E851246A-1D6B-46AF-B6B7-58D59EF5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Schema Evolution &amp; Compatibility</a:t>
            </a:r>
          </a:p>
        </p:txBody>
      </p:sp>
      <p:sp>
        <p:nvSpPr>
          <p:cNvPr id="166" name="Text 1">
            <a:extLst xmlns:a="http://schemas.openxmlformats.org/drawingml/2006/main">
              <a:ext uri="{FF2B5EF4-FFF2-40B4-BE49-F238E27FC236}">
                <a16:creationId xmlns:a16="http://schemas.microsoft.com/office/drawing/2014/main" id="{F10F9D6D-152E-4B36-B567-0010B60B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Define compatibility levels to prevent incompatible schema changes.</a:t>
            </a:r>
          </a:p>
        </p:txBody>
      </p:sp>
      <p:graphicFrame>
        <p:nvGraphicFramePr>
          <p:cNvPr id="167" name="Table 0"/>
          <p:cNvGraphicFramePr/>
          <p:nvPr/>
        </p:nvGraphicFramePr>
        <p:xfrm>
          <a:off xmlns:a="http://schemas.openxmlformats.org/drawingml/2006/main" x="457200" y="1371600"/>
          <a:ext xmlns:a="http://schemas.openxmlformats.org/drawingml/2006/main" cx="8229240" cy="1098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74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E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Backward Compatible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12B8A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Forward Compatible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Full Compatible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A84AC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Add optional field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sz="1200" b="0" u="none">
                          <a:solidFill>
                            <a:srgbClr val="12B8A6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sz="1200" b="0" u="none">
                          <a:solidFill>
                            <a:srgbClr val="00B4D8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sz="1200" b="0" u="none">
                          <a:solidFill>
                            <a:srgbClr val="A84ACB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Remove optional field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sz="1200" b="0" u="none">
                          <a:solidFill>
                            <a:srgbClr val="12B8A6"/>
                          </a:solidFill>
                          <a:latin typeface="Calibri"/>
                          <a:ea typeface="Calibri"/>
                          <a:cs typeface="Calibri"/>
                        </a:rPr>
                        <a:t>✓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Change field type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 2">
            <a:extLst xmlns:a="http://schemas.openxmlformats.org/drawingml/2006/main">
              <a:ext uri="{FF2B5EF4-FFF2-40B4-BE49-F238E27FC236}">
                <a16:creationId xmlns:a16="http://schemas.microsoft.com/office/drawing/2014/main" id="{C0468BD4-5451-43CC-82A2-616A053E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82288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✓ indicates safe change under the given compatibility mode.</a:t>
            </a:r>
          </a:p>
        </p:txBody>
      </p:sp>
      <p:sp>
        <p:nvSpPr>
          <p:cNvPr id="169" name="Text 3">
            <a:extLst xmlns:a="http://schemas.openxmlformats.org/drawingml/2006/main">
              <a:ext uri="{FF2B5EF4-FFF2-40B4-BE49-F238E27FC236}">
                <a16:creationId xmlns:a16="http://schemas.microsoft.com/office/drawing/2014/main" id="{FD0864B2-6838-45D0-AD3A-11351EA1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a8c6c7c901e4715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745487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Text 0">
            <a:extLst xmlns:a="http://schemas.openxmlformats.org/drawingml/2006/main">
              <a:ext uri="{FF2B5EF4-FFF2-40B4-BE49-F238E27FC236}">
                <a16:creationId xmlns:a16="http://schemas.microsoft.com/office/drawing/2014/main" id="{5785A855-7707-41AD-B8C6-D5713EDF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Mini Exercise: Schema Change Classification</a:t>
            </a:r>
          </a:p>
        </p:txBody>
      </p:sp>
      <p:sp>
        <p:nvSpPr>
          <p:cNvPr id="171" name="Text 1">
            <a:extLst xmlns:a="http://schemas.openxmlformats.org/drawingml/2006/main">
              <a:ext uri="{FF2B5EF4-FFF2-40B4-BE49-F238E27FC236}">
                <a16:creationId xmlns:a16="http://schemas.microsoft.com/office/drawing/2014/main" id="{DD50E058-55CB-4521-9F4C-E1C7A451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For each proposed change, decide whether it is backward compatible, forward compatible, both, or neither.</a:t>
            </a:r>
          </a:p>
        </p:txBody>
      </p:sp>
      <p:sp>
        <p:nvSpPr>
          <p:cNvPr id="172" name="Text 2">
            <a:extLst xmlns:a="http://schemas.openxmlformats.org/drawingml/2006/main">
              <a:ext uri="{FF2B5EF4-FFF2-40B4-BE49-F238E27FC236}">
                <a16:creationId xmlns:a16="http://schemas.microsoft.com/office/drawing/2014/main" id="{1C8E347F-D596-46B3-A62B-CF565447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13744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1. Adding a new optional field "customer_tier" to orders</a:t>
            </a:r>
          </a:p>
        </p:txBody>
      </p:sp>
      <p:sp>
        <p:nvSpPr>
          <p:cNvPr id="173" name="Text 3">
            <a:extLst xmlns:a="http://schemas.openxmlformats.org/drawingml/2006/main">
              <a:ext uri="{FF2B5EF4-FFF2-40B4-BE49-F238E27FC236}">
                <a16:creationId xmlns:a16="http://schemas.microsoft.com/office/drawing/2014/main" id="{2436662B-33C5-4692-8572-E2F099FD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813744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2. Removing an optional field "middle_name" from inventory</a:t>
            </a:r>
          </a:p>
        </p:txBody>
      </p:sp>
      <p:sp>
        <p:nvSpPr>
          <p:cNvPr id="174" name="Text 4">
            <a:extLst xmlns:a="http://schemas.openxmlformats.org/drawingml/2006/main">
              <a:ext uri="{FF2B5EF4-FFF2-40B4-BE49-F238E27FC236}">
                <a16:creationId xmlns:a16="http://schemas.microsoft.com/office/drawing/2014/main" id="{CE04FBA8-EDB6-4D0F-BE6A-52EE43D1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813744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3. Changing field type of "balance" from FLOAT to STRING</a:t>
            </a:r>
          </a:p>
        </p:txBody>
      </p:sp>
      <p:sp>
        <p:nvSpPr>
          <p:cNvPr id="175" name="Text 5">
            <a:extLst xmlns:a="http://schemas.openxmlformats.org/drawingml/2006/main">
              <a:ext uri="{FF2B5EF4-FFF2-40B4-BE49-F238E27FC236}">
                <a16:creationId xmlns:a16="http://schemas.microsoft.com/office/drawing/2014/main" id="{B191EA7D-79D6-4519-868B-547E31C4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813744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4. Renaming field "order_id" to "id"</a:t>
            </a:r>
          </a:p>
        </p:txBody>
      </p:sp>
      <p:sp>
        <p:nvSpPr>
          <p:cNvPr id="176" name="Text 6">
            <a:extLst xmlns:a="http://schemas.openxmlformats.org/drawingml/2006/main">
              <a:ext uri="{FF2B5EF4-FFF2-40B4-BE49-F238E27FC236}">
                <a16:creationId xmlns:a16="http://schemas.microsoft.com/office/drawing/2014/main" id="{3B39B905-9F52-4D48-8CAA-93D640E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51760"/>
            <a:ext cx="82288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Assume optional fields have valid defaults where the chosen format requires them. Classify each change, then state whether BACKWARD, FORWARD or FULL compatibility should be enforced for this topic.</a:t>
            </a:r>
          </a:p>
        </p:txBody>
      </p:sp>
      <p:sp>
        <p:nvSpPr>
          <p:cNvPr id="177" name="Text 7">
            <a:extLst xmlns:a="http://schemas.openxmlformats.org/drawingml/2006/main">
              <a:ext uri="{FF2B5EF4-FFF2-40B4-BE49-F238E27FC236}">
                <a16:creationId xmlns:a16="http://schemas.microsoft.com/office/drawing/2014/main" id="{9F2E8D17-2AF8-4C09-9FEC-D7754311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3142475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Text 0">
            <a:extLst xmlns:a="http://schemas.openxmlformats.org/drawingml/2006/main">
              <a:ext uri="{FF2B5EF4-FFF2-40B4-BE49-F238E27FC236}">
                <a16:creationId xmlns:a16="http://schemas.microsoft.com/office/drawing/2014/main" id="{90D2E269-F720-4D48-B26C-C8F177C1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Bad Data &amp; Dead Letter Queues</a:t>
            </a:r>
          </a:p>
        </p:txBody>
      </p:sp>
      <p:sp>
        <p:nvSpPr>
          <p:cNvPr id="179" name="Text 1">
            <a:extLst xmlns:a="http://schemas.openxmlformats.org/drawingml/2006/main">
              <a:ext uri="{FF2B5EF4-FFF2-40B4-BE49-F238E27FC236}">
                <a16:creationId xmlns:a16="http://schemas.microsoft.com/office/drawing/2014/main" id="{F7AFF3C5-6100-4A70-AA2F-402313B0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In production, not all events are well-formed. Validation errors, malformed records and missing required fields must be handled gracefully.</a:t>
            </a:r>
          </a:p>
        </p:txBody>
      </p:sp>
      <p:pic>
        <p:nvPicPr>
          <p:cNvPr id="18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57393b5074e49"/>
          <a:stretch xmlns:a="http://schemas.openxmlformats.org/drawingml/2006/main"/>
        </p:blipFill>
        <p:spPr>
          <a:xfrm xmlns:a="http://schemas.openxmlformats.org/drawingml/2006/main">
            <a:off x="457200" y="1463040"/>
            <a:ext cx="365040" cy="365040"/>
          </a:xfrm>
          <a:prstGeom xmlns:a="http://schemas.openxmlformats.org/drawingml/2006/main" prst="rect">
            <a:avLst/>
          </a:prstGeom>
        </p:spPr>
      </p:pic>
      <p:sp>
        <p:nvSpPr>
          <p:cNvPr id="181" name="Text 2">
            <a:extLst xmlns:a="http://schemas.openxmlformats.org/drawingml/2006/main">
              <a:ext uri="{FF2B5EF4-FFF2-40B4-BE49-F238E27FC236}">
                <a16:creationId xmlns:a16="http://schemas.microsoft.com/office/drawing/2014/main" id="{A67A7B6D-6DB2-4D2D-9AD0-C01C1C7F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63040"/>
            <a:ext cx="7771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Poison Messages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Records that cannot be parsed or violate schema. They block connectors or processing pipelines if not handled.</a:t>
            </a:r>
          </a:p>
        </p:txBody>
      </p:sp>
      <p:sp>
        <p:nvSpPr>
          <p:cNvPr id="182" name="Shape 3">
            <a:extLst xmlns:a="http://schemas.openxmlformats.org/drawingml/2006/main">
              <a:ext uri="{FF2B5EF4-FFF2-40B4-BE49-F238E27FC236}">
                <a16:creationId xmlns:a16="http://schemas.microsoft.com/office/drawing/2014/main" id="{47C48829-A45C-4795-9152-A5956EC1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4560"/>
            <a:ext cx="201096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83" name="Text 4">
            <a:extLst xmlns:a="http://schemas.openxmlformats.org/drawingml/2006/main">
              <a:ext uri="{FF2B5EF4-FFF2-40B4-BE49-F238E27FC236}">
                <a16:creationId xmlns:a16="http://schemas.microsoft.com/office/drawing/2014/main" id="{D381E4BB-8621-47DE-8996-380719A5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4560"/>
            <a:ext cx="20109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Ingest Topic</a:t>
            </a:r>
          </a:p>
        </p:txBody>
      </p:sp>
      <p:sp>
        <p:nvSpPr>
          <p:cNvPr id="184" name="Shape 5">
            <a:extLst xmlns:a="http://schemas.openxmlformats.org/drawingml/2006/main">
              <a:ext uri="{FF2B5EF4-FFF2-40B4-BE49-F238E27FC236}">
                <a16:creationId xmlns:a16="http://schemas.microsoft.com/office/drawing/2014/main" id="{F3A5BFA8-BB55-4871-9448-D447E234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377440"/>
            <a:ext cx="36504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85" name="Shape 6">
            <a:extLst xmlns:a="http://schemas.openxmlformats.org/drawingml/2006/main">
              <a:ext uri="{FF2B5EF4-FFF2-40B4-BE49-F238E27FC236}">
                <a16:creationId xmlns:a16="http://schemas.microsoft.com/office/drawing/2014/main" id="{40185473-BA63-418B-9088-B22E867F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194560"/>
            <a:ext cx="201096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86" name="Text 7">
            <a:extLst xmlns:a="http://schemas.openxmlformats.org/drawingml/2006/main">
              <a:ext uri="{FF2B5EF4-FFF2-40B4-BE49-F238E27FC236}">
                <a16:creationId xmlns:a16="http://schemas.microsoft.com/office/drawing/2014/main" id="{31E86E19-1A4B-40A3-B69D-54ED89CA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194560"/>
            <a:ext cx="20109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Validator</a:t>
            </a:r>
          </a:p>
        </p:txBody>
      </p:sp>
      <p:sp>
        <p:nvSpPr>
          <p:cNvPr id="187" name="Shape 8">
            <a:extLst xmlns:a="http://schemas.openxmlformats.org/drawingml/2006/main">
              <a:ext uri="{FF2B5EF4-FFF2-40B4-BE49-F238E27FC236}">
                <a16:creationId xmlns:a16="http://schemas.microsoft.com/office/drawing/2014/main" id="{BB38408E-EFF2-43B1-811A-8E98A161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65176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88" name="Shape 9">
            <a:extLst xmlns:a="http://schemas.openxmlformats.org/drawingml/2006/main">
              <a:ext uri="{FF2B5EF4-FFF2-40B4-BE49-F238E27FC236}">
                <a16:creationId xmlns:a16="http://schemas.microsoft.com/office/drawing/2014/main" id="{88FFE814-5E53-45DB-8E53-99BF6E69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926080"/>
            <a:ext cx="201096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12700">
            <a:solidFill>
              <a:srgbClr val="2E8B5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89" name="Text 10">
            <a:extLst xmlns:a="http://schemas.openxmlformats.org/drawingml/2006/main">
              <a:ext uri="{FF2B5EF4-FFF2-40B4-BE49-F238E27FC236}">
                <a16:creationId xmlns:a16="http://schemas.microsoft.com/office/drawing/2014/main" id="{47760626-5FD2-4695-B446-A99B9E48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926080"/>
            <a:ext cx="20109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 Topic</a:t>
            </a:r>
          </a:p>
        </p:txBody>
      </p:sp>
      <p:sp>
        <p:nvSpPr>
          <p:cNvPr id="190" name="Shape 11">
            <a:extLst xmlns:a="http://schemas.openxmlformats.org/drawingml/2006/main">
              <a:ext uri="{FF2B5EF4-FFF2-40B4-BE49-F238E27FC236}">
                <a16:creationId xmlns:a16="http://schemas.microsoft.com/office/drawing/2014/main" id="{0ED122B8-022B-47ED-B686-123D6B74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377440"/>
            <a:ext cx="365040" cy="907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20" rIns="90000" bIns="72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91" name="Shape 12">
            <a:extLst xmlns:a="http://schemas.openxmlformats.org/drawingml/2006/main">
              <a:ext uri="{FF2B5EF4-FFF2-40B4-BE49-F238E27FC236}">
                <a16:creationId xmlns:a16="http://schemas.microsoft.com/office/drawing/2014/main" id="{66395387-EFF4-4A7A-A092-06C3700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194560"/>
            <a:ext cx="201096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 w="12700">
            <a:solidFill>
              <a:srgbClr val="F2848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92" name="Text 13">
            <a:extLst xmlns:a="http://schemas.openxmlformats.org/drawingml/2006/main">
              <a:ext uri="{FF2B5EF4-FFF2-40B4-BE49-F238E27FC236}">
                <a16:creationId xmlns:a16="http://schemas.microsoft.com/office/drawing/2014/main" id="{ECB0B0AC-E765-469E-9700-99487C2F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194560"/>
            <a:ext cx="20109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DLQ Topic</a:t>
            </a:r>
          </a:p>
        </p:txBody>
      </p:sp>
      <p:sp>
        <p:nvSpPr>
          <p:cNvPr id="193" name="Text 14">
            <a:extLst xmlns:a="http://schemas.openxmlformats.org/drawingml/2006/main">
              <a:ext uri="{FF2B5EF4-FFF2-40B4-BE49-F238E27FC236}">
                <a16:creationId xmlns:a16="http://schemas.microsoft.com/office/drawing/2014/main" id="{FC246790-4687-4272-9937-06D1226F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Processor sends invalid messages to a Dead Letter Queue (DLQ) while valid messages proceed downstream.</a:t>
            </a:r>
          </a:p>
        </p:txBody>
      </p:sp>
      <p:sp>
        <p:nvSpPr>
          <p:cNvPr id="194" name="Text 15">
            <a:extLst xmlns:a="http://schemas.openxmlformats.org/drawingml/2006/main">
              <a:ext uri="{FF2B5EF4-FFF2-40B4-BE49-F238E27FC236}">
                <a16:creationId xmlns:a16="http://schemas.microsoft.com/office/drawing/2014/main" id="{91A8E588-52C7-404D-83C9-254D1825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235a309f0416a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8785620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Text 0">
            <a:extLst xmlns:a="http://schemas.openxmlformats.org/drawingml/2006/main">
              <a:ext uri="{FF2B5EF4-FFF2-40B4-BE49-F238E27FC236}">
                <a16:creationId xmlns:a16="http://schemas.microsoft.com/office/drawing/2014/main" id="{412810DB-9C52-4732-AD87-A16E4776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DLQ Configuration (Kafka Connect)</a:t>
            </a:r>
          </a:p>
        </p:txBody>
      </p:sp>
      <p:sp>
        <p:nvSpPr>
          <p:cNvPr id="196" name="Text 1">
            <a:extLst xmlns:a="http://schemas.openxmlformats.org/drawingml/2006/main">
              <a:ext uri="{FF2B5EF4-FFF2-40B4-BE49-F238E27FC236}">
                <a16:creationId xmlns:a16="http://schemas.microsoft.com/office/drawing/2014/main" id="{D6A4E63B-80D1-401D-B516-C5E99DD7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Kafka Connect can route connector processing failures to a DLQ. In this lab, the supplied CSV producer routes invalid CSV rows directly; connector-level DLQ configuration is an extension exercise.</a:t>
            </a:r>
          </a:p>
        </p:txBody>
      </p:sp>
      <p:sp>
        <p:nvSpPr>
          <p:cNvPr id="197" name="Text 2">
            <a:extLst xmlns:a="http://schemas.openxmlformats.org/drawingml/2006/main">
              <a:ext uri="{FF2B5EF4-FFF2-40B4-BE49-F238E27FC236}">
                <a16:creationId xmlns:a16="http://schemas.microsoft.com/office/drawing/2014/main" id="{111A49B7-72C9-4AF3-9E25-AE0BED90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88720"/>
            <a:ext cx="7771680" cy="2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DDDDDD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onsolas"/>
                <a:ea typeface="Consolas"/>
                <a:cs typeface="Consolas"/>
              </a:rPr>
              <a:t>"errors.tolerance": "all",</a:t>
            </a:r>
          </a:p>
        </p:txBody>
      </p:sp>
      <p:sp>
        <p:nvSpPr>
          <p:cNvPr id="198" name="Text 3">
            <a:extLst xmlns:a="http://schemas.openxmlformats.org/drawingml/2006/main">
              <a:ext uri="{FF2B5EF4-FFF2-40B4-BE49-F238E27FC236}">
                <a16:creationId xmlns:a16="http://schemas.microsoft.com/office/drawing/2014/main" id="{F5525440-E2A5-4BB0-BD5F-E0664D15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81400"/>
            <a:ext cx="7771680" cy="2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DDDDDD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onsolas"/>
                <a:ea typeface="Consolas"/>
                <a:cs typeface="Consolas"/>
              </a:rPr>
              <a:t>"errors.deadletterqueue.topic.name": "northstar.ingestion.dlq",</a:t>
            </a:r>
          </a:p>
        </p:txBody>
      </p:sp>
      <p:sp>
        <p:nvSpPr>
          <p:cNvPr id="199" name="Text 4">
            <a:extLst xmlns:a="http://schemas.openxmlformats.org/drawingml/2006/main">
              <a:ext uri="{FF2B5EF4-FFF2-40B4-BE49-F238E27FC236}">
                <a16:creationId xmlns:a16="http://schemas.microsoft.com/office/drawing/2014/main" id="{5579015E-A148-4151-A0AF-C6ECD79E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74080"/>
            <a:ext cx="7771680" cy="2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DDDDDD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onsolas"/>
                <a:ea typeface="Consolas"/>
                <a:cs typeface="Consolas"/>
              </a:rPr>
              <a:t>"errors.deadletterqueue.context.headers.enable": "true",</a:t>
            </a:r>
          </a:p>
        </p:txBody>
      </p:sp>
      <p:sp>
        <p:nvSpPr>
          <p:cNvPr id="200" name="Text 5">
            <a:extLst xmlns:a="http://schemas.openxmlformats.org/drawingml/2006/main">
              <a:ext uri="{FF2B5EF4-FFF2-40B4-BE49-F238E27FC236}">
                <a16:creationId xmlns:a16="http://schemas.microsoft.com/office/drawing/2014/main" id="{B22B8B42-CDB6-4042-AB9D-D14C8FD4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66400"/>
            <a:ext cx="7771680" cy="2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DDDDDD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onsolas"/>
                <a:ea typeface="Consolas"/>
                <a:cs typeface="Consolas"/>
              </a:rPr>
              <a:t>"errors.log.enable": "true",</a:t>
            </a:r>
          </a:p>
        </p:txBody>
      </p:sp>
      <p:sp>
        <p:nvSpPr>
          <p:cNvPr id="201" name="Text 6">
            <a:extLst xmlns:a="http://schemas.openxmlformats.org/drawingml/2006/main">
              <a:ext uri="{FF2B5EF4-FFF2-40B4-BE49-F238E27FC236}">
                <a16:creationId xmlns:a16="http://schemas.microsoft.com/office/drawing/2014/main" id="{0B42AFFA-94E9-451B-872B-32586BA6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59080"/>
            <a:ext cx="7771680" cy="2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DDDDDD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onsolas"/>
                <a:ea typeface="Consolas"/>
                <a:cs typeface="Consolas"/>
              </a:rPr>
              <a:t>"errors.log.include.messages": "true"</a:t>
            </a:r>
          </a:p>
        </p:txBody>
      </p:sp>
      <p:sp>
        <p:nvSpPr>
          <p:cNvPr id="202" name="Text 7">
            <a:extLst xmlns:a="http://schemas.openxmlformats.org/drawingml/2006/main">
              <a:ext uri="{FF2B5EF4-FFF2-40B4-BE49-F238E27FC236}">
                <a16:creationId xmlns:a16="http://schemas.microsoft.com/office/drawing/2014/main" id="{4A1C47FA-9544-4A7F-976D-C6A02C1B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15870279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Text 0">
            <a:extLst xmlns:a="http://schemas.openxmlformats.org/drawingml/2006/main">
              <a:ext uri="{FF2B5EF4-FFF2-40B4-BE49-F238E27FC236}">
                <a16:creationId xmlns:a16="http://schemas.microsoft.com/office/drawing/2014/main" id="{3A5E62F1-BF52-4565-9124-6377DD51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Monitoring &amp; Reprocessing the DLQ</a:t>
            </a:r>
          </a:p>
        </p:txBody>
      </p:sp>
      <p:sp>
        <p:nvSpPr>
          <p:cNvPr id="204" name="Text 1">
            <a:extLst xmlns:a="http://schemas.openxmlformats.org/drawingml/2006/main">
              <a:ext uri="{FF2B5EF4-FFF2-40B4-BE49-F238E27FC236}">
                <a16:creationId xmlns:a16="http://schemas.microsoft.com/office/drawing/2014/main" id="{49E1A517-D180-42E0-845B-8C573D1B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274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Monitor DLQ volume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Use metrics to track number of bad messages and alert when thresholds are exceeded.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Inspect DLQ messages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Use Kafka UI or kcat to view message contents, context headers and reason for failure.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Reprocess failed records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Fix the underlying issue, move the messages back to the ingestion topic or directly to downstream topics, and delete them from the DLQ to avoid duplication.</a:t>
            </a:r>
          </a:p>
        </p:txBody>
      </p:sp>
      <p:sp>
        <p:nvSpPr>
          <p:cNvPr id="205" name="Text 2">
            <a:extLst xmlns:a="http://schemas.openxmlformats.org/drawingml/2006/main">
              <a:ext uri="{FF2B5EF4-FFF2-40B4-BE49-F238E27FC236}">
                <a16:creationId xmlns:a16="http://schemas.microsoft.com/office/drawing/2014/main" id="{51D9CFDE-39C6-4FB8-AA1D-DDA0E3C5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284184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6" name="Text 0">
            <a:extLst xmlns:a="http://schemas.openxmlformats.org/drawingml/2006/main">
              <a:ext uri="{FF2B5EF4-FFF2-40B4-BE49-F238E27FC236}">
                <a16:creationId xmlns:a16="http://schemas.microsoft.com/office/drawing/2014/main" id="{4A57D513-C964-471F-8240-6FFD819A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Mini Exercise: DLQ Design</a:t>
            </a:r>
          </a:p>
        </p:txBody>
      </p:sp>
      <p:sp>
        <p:nvSpPr>
          <p:cNvPr id="207" name="Text 1">
            <a:extLst xmlns:a="http://schemas.openxmlformats.org/drawingml/2006/main">
              <a:ext uri="{FF2B5EF4-FFF2-40B4-BE49-F238E27FC236}">
                <a16:creationId xmlns:a16="http://schemas.microsoft.com/office/drawing/2014/main" id="{F09F18BC-EED4-492F-9EB6-58055E86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On a whiteboard (or paper), design the DLQ pattern for Northstar Retail:</a:t>
            </a:r>
          </a:p>
        </p:txBody>
      </p:sp>
      <p:sp>
        <p:nvSpPr>
          <p:cNvPr id="208" name="Text 2">
            <a:extLst xmlns:a="http://schemas.openxmlformats.org/drawingml/2006/main">
              <a:ext uri="{FF2B5EF4-FFF2-40B4-BE49-F238E27FC236}">
                <a16:creationId xmlns:a16="http://schemas.microsoft.com/office/drawing/2014/main" id="{D575FB65-9A37-4523-BBCD-0522C3FE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813744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Where do you validate messages?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How do you route valid vs. invalid messages?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How do you monitor and replay messages from the DLQ?</a:t>
            </a:r>
          </a:p>
        </p:txBody>
      </p:sp>
      <p:sp>
        <p:nvSpPr>
          <p:cNvPr id="209" name="Text 3">
            <a:extLst xmlns:a="http://schemas.openxmlformats.org/drawingml/2006/main">
              <a:ext uri="{FF2B5EF4-FFF2-40B4-BE49-F238E27FC236}">
                <a16:creationId xmlns:a16="http://schemas.microsoft.com/office/drawing/2014/main" id="{D214B3EB-88F6-4D4F-AC4F-AC19537F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041929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" name="Text 0">
            <a:extLst xmlns:a="http://schemas.openxmlformats.org/drawingml/2006/main">
              <a:ext uri="{FF2B5EF4-FFF2-40B4-BE49-F238E27FC236}">
                <a16:creationId xmlns:a16="http://schemas.microsoft.com/office/drawing/2014/main" id="{E981FA4E-BE07-40F7-8F65-6D3C904C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Delivery Guarantees &amp; Ordering</a:t>
            </a:r>
          </a:p>
        </p:txBody>
      </p:sp>
      <p:sp>
        <p:nvSpPr>
          <p:cNvPr id="211" name="Text 1">
            <a:extLst xmlns:a="http://schemas.openxmlformats.org/drawingml/2006/main">
              <a:ext uri="{FF2B5EF4-FFF2-40B4-BE49-F238E27FC236}">
                <a16:creationId xmlns:a16="http://schemas.microsoft.com/office/drawing/2014/main" id="{F2178EFC-EDBD-49DD-A391-D9632CBF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Data pipelines must choose appropriate delivery semantics and handle event ordering constraints.</a:t>
            </a:r>
          </a:p>
        </p:txBody>
      </p:sp>
      <p:graphicFrame>
        <p:nvGraphicFramePr>
          <p:cNvPr id="212" name="Table 0"/>
          <p:cNvGraphicFramePr/>
          <p:nvPr/>
        </p:nvGraphicFramePr>
        <p:xfrm>
          <a:off xmlns:a="http://schemas.openxmlformats.org/drawingml/2006/main" x="457200" y="1371600"/>
          <a:ext xmlns:a="http://schemas.openxmlformats.org/drawingml/2006/main" cx="8229240" cy="10699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Guarantee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E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Description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E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Trade‑offs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E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At‑Most‑Once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Events may be lost but never delivered twice.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Lowest latency; best for metrics.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At‑Least‑Once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Events are retried until acknowledged. Duplicates are possible.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Requires idempotent processing &amp; deduplication.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Exactly‑Once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Events are delivered exactly once using transactions.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9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Higher latency &amp; complexity; not available for all sinks.</a:t>
                      </a:r>
                    </a:p>
                  </a:txBody>
                  <a:tcPr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13" name="Text 2">
            <a:extLst xmlns:a="http://schemas.openxmlformats.org/drawingml/2006/main">
              <a:ext uri="{FF2B5EF4-FFF2-40B4-BE49-F238E27FC236}">
                <a16:creationId xmlns:a16="http://schemas.microsoft.com/office/drawing/2014/main" id="{C22BF473-6BE7-4F7F-A23B-99507D7F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6415010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4" name="Text 0">
            <a:extLst xmlns:a="http://schemas.openxmlformats.org/drawingml/2006/main">
              <a:ext uri="{FF2B5EF4-FFF2-40B4-BE49-F238E27FC236}">
                <a16:creationId xmlns:a16="http://schemas.microsoft.com/office/drawing/2014/main" id="{738E57FD-7C6A-4A06-B571-B26E7284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Exactly‑Once Semantics</a:t>
            </a:r>
          </a:p>
        </p:txBody>
      </p:sp>
      <p:sp>
        <p:nvSpPr>
          <p:cNvPr id="215" name="Text 1">
            <a:extLst xmlns:a="http://schemas.openxmlformats.org/drawingml/2006/main">
              <a:ext uri="{FF2B5EF4-FFF2-40B4-BE49-F238E27FC236}">
                <a16:creationId xmlns:a16="http://schemas.microsoft.com/office/drawing/2014/main" id="{79F11590-F166-4C0C-A3FD-AD6A5CCB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274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Idempotent Producers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Enable idempotent.write and set acks=all to ensure the broker deduplicates retries.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Transactions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Kafka producers begin a transaction, send events to multiple topics, then commit or abort. Consumers with read_committed isolation see only committed messages.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Stateful Processing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Exactly‑once is also required when merging streams (e.g., Kafka Streams) to prevent duplicates.</a:t>
            </a:r>
          </a:p>
        </p:txBody>
      </p:sp>
      <p:sp>
        <p:nvSpPr>
          <p:cNvPr id="216" name="Text 2">
            <a:extLst xmlns:a="http://schemas.openxmlformats.org/drawingml/2006/main">
              <a:ext uri="{FF2B5EF4-FFF2-40B4-BE49-F238E27FC236}">
                <a16:creationId xmlns:a16="http://schemas.microsoft.com/office/drawing/2014/main" id="{9F25F0C7-66B3-4335-9119-37EC4283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1580658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7" name="Text 0">
            <a:extLst xmlns:a="http://schemas.openxmlformats.org/drawingml/2006/main">
              <a:ext uri="{FF2B5EF4-FFF2-40B4-BE49-F238E27FC236}">
                <a16:creationId xmlns:a16="http://schemas.microsoft.com/office/drawing/2014/main" id="{DD8851E3-7769-43B6-AA2A-BBF6C61F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Late &amp; Out‑of‑Order Events</a:t>
            </a:r>
          </a:p>
        </p:txBody>
      </p:sp>
      <p:sp>
        <p:nvSpPr>
          <p:cNvPr id="218" name="Text 1">
            <a:extLst xmlns:a="http://schemas.openxmlformats.org/drawingml/2006/main">
              <a:ext uri="{FF2B5EF4-FFF2-40B4-BE49-F238E27FC236}">
                <a16:creationId xmlns:a16="http://schemas.microsoft.com/office/drawing/2014/main" id="{9F5D9D8C-82DF-454D-A27A-CDFD93EE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Real-world pipelines must handle events arriving late or out of order due to network delays, retries or upstream processing.</a:t>
            </a:r>
          </a:p>
        </p:txBody>
      </p:sp>
      <p:sp>
        <p:nvSpPr>
          <p:cNvPr id="219" name="Shape 2">
            <a:extLst xmlns:a="http://schemas.openxmlformats.org/drawingml/2006/main">
              <a:ext uri="{FF2B5EF4-FFF2-40B4-BE49-F238E27FC236}">
                <a16:creationId xmlns:a16="http://schemas.microsoft.com/office/drawing/2014/main" id="{D9DB1F0A-100E-4F1B-874F-22408BA8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7771680" cy="1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BBB"/>
          </a:solidFill>
          <a:ln xmlns:a="http://schemas.openxmlformats.org/drawingml/2006/main" w="12700">
            <a:solidFill>
              <a:srgbClr val="BBBBB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6640" rIns="90000" bIns="-2664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20" name="Shape 3">
            <a:extLst xmlns:a="http://schemas.openxmlformats.org/drawingml/2006/main">
              <a:ext uri="{FF2B5EF4-FFF2-40B4-BE49-F238E27FC236}">
                <a16:creationId xmlns:a16="http://schemas.microsoft.com/office/drawing/2014/main" id="{5B71CB50-1886-438F-9442-DA92EEEA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5544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21" name="Text 4">
            <a:extLst xmlns:a="http://schemas.openxmlformats.org/drawingml/2006/main">
              <a:ext uri="{FF2B5EF4-FFF2-40B4-BE49-F238E27FC236}">
                <a16:creationId xmlns:a16="http://schemas.microsoft.com/office/drawing/2014/main" id="{F20FCBCC-BC8D-4870-A753-8F585E60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783080"/>
            <a:ext cx="4564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On-time</a:t>
            </a:r>
          </a:p>
        </p:txBody>
      </p:sp>
      <p:sp>
        <p:nvSpPr>
          <p:cNvPr id="222" name="Shape 5">
            <a:extLst xmlns:a="http://schemas.openxmlformats.org/drawingml/2006/main">
              <a:ext uri="{FF2B5EF4-FFF2-40B4-BE49-F238E27FC236}">
                <a16:creationId xmlns:a16="http://schemas.microsoft.com/office/drawing/2014/main" id="{BB77242C-E895-4649-A45E-754D6E0A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5544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23" name="Shape 6">
            <a:extLst xmlns:a="http://schemas.openxmlformats.org/drawingml/2006/main">
              <a:ext uri="{FF2B5EF4-FFF2-40B4-BE49-F238E27FC236}">
                <a16:creationId xmlns:a16="http://schemas.microsoft.com/office/drawing/2014/main" id="{23E10E4B-B0B9-4715-B45B-17E97A29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5544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24" name="Shape 7">
            <a:extLst xmlns:a="http://schemas.openxmlformats.org/drawingml/2006/main">
              <a:ext uri="{FF2B5EF4-FFF2-40B4-BE49-F238E27FC236}">
                <a16:creationId xmlns:a16="http://schemas.microsoft.com/office/drawing/2014/main" id="{8289536B-4D34-486E-85FB-2C0A1038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8288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8482"/>
          </a:solidFill>
          <a:ln xmlns:a="http://schemas.openxmlformats.org/drawingml/2006/main" w="12700">
            <a:solidFill>
              <a:srgbClr val="F2848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25" name="Text 8">
            <a:extLst xmlns:a="http://schemas.openxmlformats.org/drawingml/2006/main">
              <a:ext uri="{FF2B5EF4-FFF2-40B4-BE49-F238E27FC236}">
                <a16:creationId xmlns:a16="http://schemas.microsoft.com/office/drawing/2014/main" id="{F12921E8-C0B3-44B8-9DCC-7860DA50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057400"/>
            <a:ext cx="4564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Late</a:t>
            </a:r>
          </a:p>
        </p:txBody>
      </p:sp>
      <p:sp>
        <p:nvSpPr>
          <p:cNvPr id="226" name="Shape 9">
            <a:extLst xmlns:a="http://schemas.openxmlformats.org/drawingml/2006/main">
              <a:ext uri="{FF2B5EF4-FFF2-40B4-BE49-F238E27FC236}">
                <a16:creationId xmlns:a16="http://schemas.microsoft.com/office/drawing/2014/main" id="{B05519B8-D434-4CFA-B7CF-062A4C33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91640"/>
            <a:ext cx="273600" cy="273600"/>
          </a:xfrm>
          <a:prstGeom xmlns:a="http://schemas.openxmlformats.org/drawingml/2006/main" prst="triangle">
            <a:avLst>
              <a:gd name="adj" fmla="val 50000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27" name="Text 10">
            <a:extLst xmlns:a="http://schemas.openxmlformats.org/drawingml/2006/main">
              <a:ext uri="{FF2B5EF4-FFF2-40B4-BE49-F238E27FC236}">
                <a16:creationId xmlns:a16="http://schemas.microsoft.com/office/drawing/2014/main" id="{700DD183-FE10-42EE-A12A-2A9BDC20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57400"/>
            <a:ext cx="63936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Watermark</a:t>
            </a:r>
          </a:p>
        </p:txBody>
      </p:sp>
      <p:sp>
        <p:nvSpPr>
          <p:cNvPr id="228" name="Text 11">
            <a:extLst xmlns:a="http://schemas.openxmlformats.org/drawingml/2006/main">
              <a:ext uri="{FF2B5EF4-FFF2-40B4-BE49-F238E27FC236}">
                <a16:creationId xmlns:a16="http://schemas.microsoft.com/office/drawing/2014/main" id="{18A97642-1309-45B9-B572-7347DAAA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Grace period allows late events to be included before final output is emitted.</a:t>
            </a:r>
          </a:p>
        </p:txBody>
      </p:sp>
      <p:sp>
        <p:nvSpPr>
          <p:cNvPr id="229" name="Text 12">
            <a:extLst xmlns:a="http://schemas.openxmlformats.org/drawingml/2006/main">
              <a:ext uri="{FF2B5EF4-FFF2-40B4-BE49-F238E27FC236}">
                <a16:creationId xmlns:a16="http://schemas.microsoft.com/office/drawing/2014/main" id="{9FE27DFF-306B-44C3-9BC3-DDCFFAFB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53968600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0" name="Text 0">
            <a:extLst xmlns:a="http://schemas.openxmlformats.org/drawingml/2006/main">
              <a:ext uri="{FF2B5EF4-FFF2-40B4-BE49-F238E27FC236}">
                <a16:creationId xmlns:a16="http://schemas.microsoft.com/office/drawing/2014/main" id="{0CCA9E55-1336-44F5-B9FA-5A999446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Mini Exercise: Handling Late Events</a:t>
            </a:r>
          </a:p>
        </p:txBody>
      </p:sp>
      <p:sp>
        <p:nvSpPr>
          <p:cNvPr id="231" name="Text 1">
            <a:extLst xmlns:a="http://schemas.openxmlformats.org/drawingml/2006/main">
              <a:ext uri="{FF2B5EF4-FFF2-40B4-BE49-F238E27FC236}">
                <a16:creationId xmlns:a16="http://schemas.microsoft.com/office/drawing/2014/main" id="{4616B1CE-9C05-4DDD-AB97-63E4D858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7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Consider a stream of order events keyed by order_id. A payment event arrives 5 minutes after the shipment event due to network latency. How would you design your processing to handle this?</a:t>
            </a:r>
          </a:p>
        </p:txBody>
      </p:sp>
      <p:sp>
        <p:nvSpPr>
          <p:cNvPr id="232" name="Text 2">
            <a:extLst xmlns:a="http://schemas.openxmlformats.org/drawingml/2006/main">
              <a:ext uri="{FF2B5EF4-FFF2-40B4-BE49-F238E27FC236}">
                <a16:creationId xmlns:a16="http://schemas.microsoft.com/office/drawing/2014/main" id="{0B24E7C6-BE0B-44EF-89A8-61594F75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8046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Choose event time over processing time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Define a window and grace period large enough to capture late events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Use watermarks to trigger computation when windows close</a:t>
            </a:r>
          </a:p>
        </p:txBody>
      </p:sp>
      <p:sp>
        <p:nvSpPr>
          <p:cNvPr id="233" name="Text 3">
            <a:extLst xmlns:a="http://schemas.openxmlformats.org/drawingml/2006/main">
              <a:ext uri="{FF2B5EF4-FFF2-40B4-BE49-F238E27FC236}">
                <a16:creationId xmlns:a16="http://schemas.microsoft.com/office/drawing/2014/main" id="{1710C34E-4197-4337-B78E-3F789AAE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66767243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4" name="Text 0">
            <a:extLst xmlns:a="http://schemas.openxmlformats.org/drawingml/2006/main">
              <a:ext uri="{FF2B5EF4-FFF2-40B4-BE49-F238E27FC236}">
                <a16:creationId xmlns:a16="http://schemas.microsoft.com/office/drawing/2014/main" id="{57EA42C7-E1F3-4D1E-BE47-2457A5CD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Lab: Build a Production Ingestion Pipeline</a:t>
            </a:r>
          </a:p>
        </p:txBody>
      </p:sp>
      <p:sp>
        <p:nvSpPr>
          <p:cNvPr id="235" name="Text 1">
            <a:extLst xmlns:a="http://schemas.openxmlformats.org/drawingml/2006/main">
              <a:ext uri="{FF2B5EF4-FFF2-40B4-BE49-F238E27FC236}">
                <a16:creationId xmlns:a16="http://schemas.microsoft.com/office/drawing/2014/main" id="{D39B1EDA-EC07-4E95-A90B-4E245F76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22960"/>
            <a:ext cx="82288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You will register CDC connectors, publish clickstream and CSV events, observe schemas, and prove that the supplied CSV producer routes invalid rows to the DLQ. Extension: design where schema validation belongs for CDC and clickstream topics.</a:t>
            </a:r>
          </a:p>
        </p:txBody>
      </p:sp>
      <p:sp>
        <p:nvSpPr>
          <p:cNvPr id="236" name="Shape 2">
            <a:extLst xmlns:a="http://schemas.openxmlformats.org/drawingml/2006/main">
              <a:ext uri="{FF2B5EF4-FFF2-40B4-BE49-F238E27FC236}">
                <a16:creationId xmlns:a16="http://schemas.microsoft.com/office/drawing/2014/main" id="{3B6918ED-5EE9-4631-BB4B-5DD06D21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13708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B8A6"/>
          </a:solidFill>
          <a:ln xmlns:a="http://schemas.openxmlformats.org/drawingml/2006/main" w="12700">
            <a:solidFill>
              <a:srgbClr val="12B8A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37" name="Text 3">
            <a:extLst xmlns:a="http://schemas.openxmlformats.org/drawingml/2006/main">
              <a:ext uri="{FF2B5EF4-FFF2-40B4-BE49-F238E27FC236}">
                <a16:creationId xmlns:a16="http://schemas.microsoft.com/office/drawing/2014/main" id="{4C6B88DA-65B6-418E-8BC1-E9DACCF2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1370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Orders DB</a:t>
            </a:r>
          </a:p>
        </p:txBody>
      </p:sp>
      <p:sp>
        <p:nvSpPr>
          <p:cNvPr id="238" name="Shape 4">
            <a:extLst xmlns:a="http://schemas.openxmlformats.org/drawingml/2006/main">
              <a:ext uri="{FF2B5EF4-FFF2-40B4-BE49-F238E27FC236}">
                <a16:creationId xmlns:a16="http://schemas.microsoft.com/office/drawing/2014/main" id="{5ED4DE51-7681-44AC-BE91-98E2D472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1828800"/>
            <a:ext cx="13708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 w="12700">
            <a:solidFill>
              <a:srgbClr val="00B4D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39" name="Text 5">
            <a:extLst xmlns:a="http://schemas.openxmlformats.org/drawingml/2006/main">
              <a:ext uri="{FF2B5EF4-FFF2-40B4-BE49-F238E27FC236}">
                <a16:creationId xmlns:a16="http://schemas.microsoft.com/office/drawing/2014/main" id="{759252B8-8D9C-43B7-AA43-91158295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1828800"/>
            <a:ext cx="1370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Inventory DB</a:t>
            </a:r>
          </a:p>
        </p:txBody>
      </p:sp>
      <p:sp>
        <p:nvSpPr>
          <p:cNvPr id="240" name="Shape 6">
            <a:extLst xmlns:a="http://schemas.openxmlformats.org/drawingml/2006/main">
              <a:ext uri="{FF2B5EF4-FFF2-40B4-BE49-F238E27FC236}">
                <a16:creationId xmlns:a16="http://schemas.microsoft.com/office/drawing/2014/main" id="{C41320CC-58EF-4574-8130-665BDCBC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28800"/>
            <a:ext cx="13708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 w="12700">
            <a:solidFill>
              <a:srgbClr val="A84AC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1" name="Text 7">
            <a:extLst xmlns:a="http://schemas.openxmlformats.org/drawingml/2006/main">
              <a:ext uri="{FF2B5EF4-FFF2-40B4-BE49-F238E27FC236}">
                <a16:creationId xmlns:a16="http://schemas.microsoft.com/office/drawing/2014/main" id="{A1DAC088-9407-458B-9E73-90D9F8CD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28800"/>
            <a:ext cx="1370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Clickstream</a:t>
            </a:r>
          </a:p>
        </p:txBody>
      </p:sp>
      <p:sp>
        <p:nvSpPr>
          <p:cNvPr id="242" name="Shape 8">
            <a:extLst xmlns:a="http://schemas.openxmlformats.org/drawingml/2006/main">
              <a:ext uri="{FF2B5EF4-FFF2-40B4-BE49-F238E27FC236}">
                <a16:creationId xmlns:a16="http://schemas.microsoft.com/office/drawing/2014/main" id="{3A6982A6-4601-422B-AE19-C0890547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828800"/>
            <a:ext cx="13708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 w="12700">
            <a:solidFill>
              <a:srgbClr val="FFB70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3" name="Text 9">
            <a:extLst xmlns:a="http://schemas.openxmlformats.org/drawingml/2006/main">
              <a:ext uri="{FF2B5EF4-FFF2-40B4-BE49-F238E27FC236}">
                <a16:creationId xmlns:a16="http://schemas.microsoft.com/office/drawing/2014/main" id="{9226F135-1C26-48DE-8EA1-73C3165F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828800"/>
            <a:ext cx="1370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Logistics CSV</a:t>
            </a:r>
          </a:p>
        </p:txBody>
      </p:sp>
      <p:sp>
        <p:nvSpPr>
          <p:cNvPr id="244" name="Shape 10">
            <a:extLst xmlns:a="http://schemas.openxmlformats.org/drawingml/2006/main">
              <a:ext uri="{FF2B5EF4-FFF2-40B4-BE49-F238E27FC236}">
                <a16:creationId xmlns:a16="http://schemas.microsoft.com/office/drawing/2014/main" id="{B5614D22-EFA4-478C-92DE-F2D1576D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860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5" name="Shape 11">
            <a:extLst xmlns:a="http://schemas.openxmlformats.org/drawingml/2006/main">
              <a:ext uri="{FF2B5EF4-FFF2-40B4-BE49-F238E27FC236}">
                <a16:creationId xmlns:a16="http://schemas.microsoft.com/office/drawing/2014/main" id="{8B20AE8A-C4E8-4B96-AFBE-90CF11E5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2860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6" name="Shape 12">
            <a:extLst xmlns:a="http://schemas.openxmlformats.org/drawingml/2006/main">
              <a:ext uri="{FF2B5EF4-FFF2-40B4-BE49-F238E27FC236}">
                <a16:creationId xmlns:a16="http://schemas.microsoft.com/office/drawing/2014/main" id="{B35E96BF-1BAD-44B6-8D48-A7130455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2860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7" name="Shape 13">
            <a:extLst xmlns:a="http://schemas.openxmlformats.org/drawingml/2006/main">
              <a:ext uri="{FF2B5EF4-FFF2-40B4-BE49-F238E27FC236}">
                <a16:creationId xmlns:a16="http://schemas.microsoft.com/office/drawing/2014/main" id="{170271E8-6974-4B97-B040-005AC917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28600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8" name="Shape 14">
            <a:extLst xmlns:a="http://schemas.openxmlformats.org/drawingml/2006/main">
              <a:ext uri="{FF2B5EF4-FFF2-40B4-BE49-F238E27FC236}">
                <a16:creationId xmlns:a16="http://schemas.microsoft.com/office/drawing/2014/main" id="{EF5AB760-8E86-4BD1-BACD-B4B4CFAE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00" y="2560320"/>
            <a:ext cx="623160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172A"/>
          </a:solidFill>
          <a:ln xmlns:a="http://schemas.openxmlformats.org/drawingml/2006/main" w="12700">
            <a:solidFill>
              <a:srgbClr val="0E172A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49" name="Text 15">
            <a:extLst xmlns:a="http://schemas.openxmlformats.org/drawingml/2006/main">
              <a:ext uri="{FF2B5EF4-FFF2-40B4-BE49-F238E27FC236}">
                <a16:creationId xmlns:a16="http://schemas.microsoft.com/office/drawing/2014/main" id="{85FE2866-7652-42AB-B38B-C2A7C092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560320"/>
            <a:ext cx="51199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Kafka Topics &amp; Validation</a:t>
            </a:r>
          </a:p>
        </p:txBody>
      </p:sp>
      <p:sp>
        <p:nvSpPr>
          <p:cNvPr id="250" name="Shape 16">
            <a:extLst xmlns:a="http://schemas.openxmlformats.org/drawingml/2006/main">
              <a:ext uri="{FF2B5EF4-FFF2-40B4-BE49-F238E27FC236}">
                <a16:creationId xmlns:a16="http://schemas.microsoft.com/office/drawing/2014/main" id="{81C86F8E-F956-4F8B-82EB-E141BA81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0000" y="301716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51" name="Shape 17">
            <a:extLst xmlns:a="http://schemas.openxmlformats.org/drawingml/2006/main">
              <a:ext uri="{FF2B5EF4-FFF2-40B4-BE49-F238E27FC236}">
                <a16:creationId xmlns:a16="http://schemas.microsoft.com/office/drawing/2014/main" id="{D7D1B979-9055-4AA5-ADEC-F3055230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291840"/>
            <a:ext cx="18280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12700">
            <a:solidFill>
              <a:srgbClr val="2E8B5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52" name="Text 18">
            <a:extLst xmlns:a="http://schemas.openxmlformats.org/drawingml/2006/main">
              <a:ext uri="{FF2B5EF4-FFF2-40B4-BE49-F238E27FC236}">
                <a16:creationId xmlns:a16="http://schemas.microsoft.com/office/drawing/2014/main" id="{29A73D95-E18D-4411-BE9C-BA764B1C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291840"/>
            <a:ext cx="18280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 Stream</a:t>
            </a:r>
          </a:p>
        </p:txBody>
      </p:sp>
      <p:sp>
        <p:nvSpPr>
          <p:cNvPr id="253" name="Shape 19">
            <a:extLst xmlns:a="http://schemas.openxmlformats.org/drawingml/2006/main">
              <a:ext uri="{FF2B5EF4-FFF2-40B4-BE49-F238E27FC236}">
                <a16:creationId xmlns:a16="http://schemas.microsoft.com/office/drawing/2014/main" id="{23573BAE-D0B2-4FFD-BFC4-619E3328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91840"/>
            <a:ext cx="1828080" cy="45648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 w="12700">
            <a:solidFill>
              <a:srgbClr val="F2848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54" name="Text 20">
            <a:extLst xmlns:a="http://schemas.openxmlformats.org/drawingml/2006/main">
              <a:ext uri="{FF2B5EF4-FFF2-40B4-BE49-F238E27FC236}">
                <a16:creationId xmlns:a16="http://schemas.microsoft.com/office/drawing/2014/main" id="{B914A249-BBCB-47B4-8A31-6927FAD1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91840"/>
            <a:ext cx="18280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200" b="0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DLQ Stream</a:t>
            </a:r>
          </a:p>
        </p:txBody>
      </p:sp>
      <p:sp>
        <p:nvSpPr>
          <p:cNvPr id="255" name="Text 21">
            <a:extLst xmlns:a="http://schemas.openxmlformats.org/drawingml/2006/main">
              <a:ext uri="{FF2B5EF4-FFF2-40B4-BE49-F238E27FC236}">
                <a16:creationId xmlns:a16="http://schemas.microsoft.com/office/drawing/2014/main" id="{5BB3E28B-9A10-4A22-A470-AF23C41B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82288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You will configure connectors, produce records, validate them and inspect DLQ messages in Kafka UI.</a:t>
            </a:r>
          </a:p>
        </p:txBody>
      </p:sp>
      <p:sp>
        <p:nvSpPr>
          <p:cNvPr id="256" name="Text 22">
            <a:extLst xmlns:a="http://schemas.openxmlformats.org/drawingml/2006/main">
              <a:ext uri="{FF2B5EF4-FFF2-40B4-BE49-F238E27FC236}">
                <a16:creationId xmlns:a16="http://schemas.microsoft.com/office/drawing/2014/main" id="{4BF426EB-A68F-41A9-9ED6-626ECCC0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257" name="Shape 20">
            <a:extLst xmlns:a="http://schemas.openxmlformats.org/drawingml/2006/main">
              <a:ext uri="{FF2B5EF4-FFF2-40B4-BE49-F238E27FC236}">
                <a16:creationId xmlns:a16="http://schemas.microsoft.com/office/drawing/2014/main" id="{FF7B711B-0099-4042-8A9E-5F9633CE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920" y="3017880"/>
            <a:ext cx="90720" cy="273600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999999"/>
          </a:solidFill>
          <a:ln xmlns:a="http://schemas.openxmlformats.org/drawingml/2006/main" w="12700">
            <a:solidFill>
              <a:srgbClr val="99999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60492781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8" name="Text 0">
            <a:extLst xmlns:a="http://schemas.openxmlformats.org/drawingml/2006/main">
              <a:ext uri="{FF2B5EF4-FFF2-40B4-BE49-F238E27FC236}">
                <a16:creationId xmlns:a16="http://schemas.microsoft.com/office/drawing/2014/main" id="{5E979F8D-9D3E-4AC4-8099-BF87BD3C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Lab Steps</a:t>
            </a:r>
          </a:p>
        </p:txBody>
      </p:sp>
      <p:sp>
        <p:nvSpPr>
          <p:cNvPr id="259" name="Text 1">
            <a:extLst xmlns:a="http://schemas.openxmlformats.org/drawingml/2006/main">
              <a:ext uri="{FF2B5EF4-FFF2-40B4-BE49-F238E27FC236}">
                <a16:creationId xmlns:a16="http://schemas.microsoft.com/office/drawing/2014/main" id="{B9DC68D3-B549-4F59-ADBF-BC31FDB7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22960"/>
            <a:ext cx="81374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1. Start the Docker Compose stack: kafka, connect, schema registry, postgres (orders), mysql (inventory), kafka-ui.</a:t>
            </a:r>
          </a:p>
        </p:txBody>
      </p:sp>
      <p:sp>
        <p:nvSpPr>
          <p:cNvPr id="260" name="Text 2">
            <a:extLst xmlns:a="http://schemas.openxmlformats.org/drawingml/2006/main">
              <a:ext uri="{FF2B5EF4-FFF2-40B4-BE49-F238E27FC236}">
                <a16:creationId xmlns:a16="http://schemas.microsoft.com/office/drawing/2014/main" id="{450B7066-3960-4221-A000-375020A8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188720"/>
            <a:ext cx="81374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2. Register Debezium connectors for orders and inventory using provided JSON config files.</a:t>
            </a:r>
          </a:p>
        </p:txBody>
      </p:sp>
      <p:sp>
        <p:nvSpPr>
          <p:cNvPr id="261" name="Text 3">
            <a:extLst xmlns:a="http://schemas.openxmlformats.org/drawingml/2006/main">
              <a:ext uri="{FF2B5EF4-FFF2-40B4-BE49-F238E27FC236}">
                <a16:creationId xmlns:a16="http://schemas.microsoft.com/office/drawing/2014/main" id="{6AE5F7E6-0CB3-428F-B6EB-EB307DA7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81374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3. Run the clickstream Python producer to generate web events.</a:t>
            </a:r>
          </a:p>
        </p:txBody>
      </p:sp>
      <p:sp>
        <p:nvSpPr>
          <p:cNvPr id="262" name="Text 4">
            <a:extLst xmlns:a="http://schemas.openxmlformats.org/drawingml/2006/main">
              <a:ext uri="{FF2B5EF4-FFF2-40B4-BE49-F238E27FC236}">
                <a16:creationId xmlns:a16="http://schemas.microsoft.com/office/drawing/2014/main" id="{1F316F53-914D-442F-9E3D-83F58542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81374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4. Run the CSV producer to ingest logistics files containing both valid and invalid rows.</a:t>
            </a:r>
          </a:p>
        </p:txBody>
      </p:sp>
      <p:sp>
        <p:nvSpPr>
          <p:cNvPr id="263" name="Text 5">
            <a:extLst xmlns:a="http://schemas.openxmlformats.org/drawingml/2006/main">
              <a:ext uri="{FF2B5EF4-FFF2-40B4-BE49-F238E27FC236}">
                <a16:creationId xmlns:a16="http://schemas.microsoft.com/office/drawing/2014/main" id="{9FAA98F7-D674-4D83-82FF-BBBD5D1B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81374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5. Review how invalid CSV rows are routed to the DLQ; save one DLQ message as evidence.</a:t>
            </a:r>
          </a:p>
        </p:txBody>
      </p:sp>
      <p:sp>
        <p:nvSpPr>
          <p:cNvPr id="264" name="Text 6">
            <a:extLst xmlns:a="http://schemas.openxmlformats.org/drawingml/2006/main">
              <a:ext uri="{FF2B5EF4-FFF2-40B4-BE49-F238E27FC236}">
                <a16:creationId xmlns:a16="http://schemas.microsoft.com/office/drawing/2014/main" id="{14A78901-FEB6-4D8D-BC08-6D065BC7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51760"/>
            <a:ext cx="81374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6. Inspect the valid topics and DLQ in Kafka UI and answer the mini exercise questions.</a:t>
            </a:r>
          </a:p>
        </p:txBody>
      </p:sp>
      <p:sp>
        <p:nvSpPr>
          <p:cNvPr id="265" name="Text 7">
            <a:extLst xmlns:a="http://schemas.openxmlformats.org/drawingml/2006/main">
              <a:ext uri="{FF2B5EF4-FFF2-40B4-BE49-F238E27FC236}">
                <a16:creationId xmlns:a16="http://schemas.microsoft.com/office/drawing/2014/main" id="{86B34BDC-1D8B-48EA-A42C-B7309233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66105503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6" name="Text 0">
            <a:extLst xmlns:a="http://schemas.openxmlformats.org/drawingml/2006/main">
              <a:ext uri="{FF2B5EF4-FFF2-40B4-BE49-F238E27FC236}">
                <a16:creationId xmlns:a16="http://schemas.microsoft.com/office/drawing/2014/main" id="{BA1CB8DA-17F5-4BE2-BC3E-FF448C02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Mini Exercise: Ingestion Risks</a:t>
            </a:r>
          </a:p>
        </p:txBody>
      </p:sp>
      <p:sp>
        <p:nvSpPr>
          <p:cNvPr id="267" name="Text 1">
            <a:extLst xmlns:a="http://schemas.openxmlformats.org/drawingml/2006/main">
              <a:ext uri="{FF2B5EF4-FFF2-40B4-BE49-F238E27FC236}">
                <a16:creationId xmlns:a16="http://schemas.microsoft.com/office/drawing/2014/main" id="{14BF7D43-DE7D-4C95-A140-BC2BBAF4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Identify and discuss potential risks in your ingestion design. Consider at least three of the following factors:</a:t>
            </a:r>
          </a:p>
        </p:txBody>
      </p:sp>
      <p:sp>
        <p:nvSpPr>
          <p:cNvPr id="268" name="Text 2">
            <a:extLst xmlns:a="http://schemas.openxmlformats.org/drawingml/2006/main">
              <a:ext uri="{FF2B5EF4-FFF2-40B4-BE49-F238E27FC236}">
                <a16:creationId xmlns:a16="http://schemas.microsoft.com/office/drawing/2014/main" id="{B40BE926-60F6-4EF8-9B22-45264E55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13744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Duplicate events due to retries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Missing schema definitions or incompatible schema changes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Order of events and late arrivals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System failures causing lost messages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• Data validation &amp; DLQ growth</a:t>
            </a:r>
          </a:p>
        </p:txBody>
      </p:sp>
      <p:sp>
        <p:nvSpPr>
          <p:cNvPr id="269" name="Text 3">
            <a:extLst xmlns:a="http://schemas.openxmlformats.org/drawingml/2006/main">
              <a:ext uri="{FF2B5EF4-FFF2-40B4-BE49-F238E27FC236}">
                <a16:creationId xmlns:a16="http://schemas.microsoft.com/office/drawing/2014/main" id="{89369160-96BC-41DB-B5F7-765FF4EE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82271285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0" name="Text 0">
            <a:extLst xmlns:a="http://schemas.openxmlformats.org/drawingml/2006/main">
              <a:ext uri="{FF2B5EF4-FFF2-40B4-BE49-F238E27FC236}">
                <a16:creationId xmlns:a16="http://schemas.microsoft.com/office/drawing/2014/main" id="{6F50149C-E719-447A-83BF-7697F1E4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Knowledge Check</a:t>
            </a:r>
          </a:p>
        </p:txBody>
      </p:sp>
      <p:sp>
        <p:nvSpPr>
          <p:cNvPr id="271" name="Text 1">
            <a:extLst xmlns:a="http://schemas.openxmlformats.org/drawingml/2006/main">
              <a:ext uri="{FF2B5EF4-FFF2-40B4-BE49-F238E27FC236}">
                <a16:creationId xmlns:a16="http://schemas.microsoft.com/office/drawing/2014/main" id="{17D8875E-7173-4212-A112-EEE1BAA7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2296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1. What ingestion principle prevents a customer from being charged twice if the same event is processed again?</a:t>
            </a:r>
          </a:p>
        </p:txBody>
      </p:sp>
      <p:sp>
        <p:nvSpPr>
          <p:cNvPr id="272" name="Text 2">
            <a:extLst xmlns:a="http://schemas.openxmlformats.org/drawingml/2006/main">
              <a:ext uri="{FF2B5EF4-FFF2-40B4-BE49-F238E27FC236}">
                <a16:creationId xmlns:a16="http://schemas.microsoft.com/office/drawing/2014/main" id="{E9D7F69D-C01F-4304-BDA5-6BE60F37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5156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A) Ordering</a:t>
            </a:r>
          </a:p>
        </p:txBody>
      </p:sp>
      <p:sp>
        <p:nvSpPr>
          <p:cNvPr id="273" name="Text 3">
            <a:extLst xmlns:a="http://schemas.openxmlformats.org/drawingml/2006/main">
              <a:ext uri="{FF2B5EF4-FFF2-40B4-BE49-F238E27FC236}">
                <a16:creationId xmlns:a16="http://schemas.microsoft.com/office/drawing/2014/main" id="{1F1BCCCB-B4BE-4046-BD0A-CBB3E8EB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160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B) Idempotency</a:t>
            </a:r>
          </a:p>
        </p:txBody>
      </p:sp>
      <p:sp>
        <p:nvSpPr>
          <p:cNvPr id="274" name="Text 4">
            <a:extLst xmlns:a="http://schemas.openxmlformats.org/drawingml/2006/main">
              <a:ext uri="{FF2B5EF4-FFF2-40B4-BE49-F238E27FC236}">
                <a16:creationId xmlns:a16="http://schemas.microsoft.com/office/drawing/2014/main" id="{FC9C7889-1012-41F2-80AA-E79EFA3B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806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C) Replayability</a:t>
            </a:r>
          </a:p>
        </p:txBody>
      </p:sp>
      <p:sp>
        <p:nvSpPr>
          <p:cNvPr id="275" name="Text 5">
            <a:extLst xmlns:a="http://schemas.openxmlformats.org/drawingml/2006/main">
              <a:ext uri="{FF2B5EF4-FFF2-40B4-BE49-F238E27FC236}">
                <a16:creationId xmlns:a16="http://schemas.microsoft.com/office/drawing/2014/main" id="{D391EDDB-38C6-44F9-96DC-CF94FC51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45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D) Deduplication</a:t>
            </a:r>
          </a:p>
        </p:txBody>
      </p:sp>
      <p:sp>
        <p:nvSpPr>
          <p:cNvPr id="276" name="Text 6">
            <a:extLst xmlns:a="http://schemas.openxmlformats.org/drawingml/2006/main">
              <a:ext uri="{FF2B5EF4-FFF2-40B4-BE49-F238E27FC236}">
                <a16:creationId xmlns:a16="http://schemas.microsoft.com/office/drawing/2014/main" id="{96BE6996-0068-44AD-9ED9-1322DE61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80" y="165384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2. Which schema change is backward compatible under BACKWARD compatibility mode?</a:t>
            </a:r>
          </a:p>
        </p:txBody>
      </p:sp>
      <p:sp>
        <p:nvSpPr>
          <p:cNvPr id="277" name="Text 7">
            <a:extLst xmlns:a="http://schemas.openxmlformats.org/drawingml/2006/main">
              <a:ext uri="{FF2B5EF4-FFF2-40B4-BE49-F238E27FC236}">
                <a16:creationId xmlns:a16="http://schemas.microsoft.com/office/drawing/2014/main" id="{30D69ECD-4E38-45AB-9791-3388FBA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1196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A) Changing field type from INTEGER to STRING</a:t>
            </a:r>
          </a:p>
        </p:txBody>
      </p:sp>
      <p:sp>
        <p:nvSpPr>
          <p:cNvPr id="278" name="Text 8">
            <a:extLst xmlns:a="http://schemas.openxmlformats.org/drawingml/2006/main">
              <a:ext uri="{FF2B5EF4-FFF2-40B4-BE49-F238E27FC236}">
                <a16:creationId xmlns:a16="http://schemas.microsoft.com/office/drawing/2014/main" id="{5EA45F67-0A3F-4029-92F0-60105504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94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B) Adding a new required field</a:t>
            </a:r>
          </a:p>
        </p:txBody>
      </p:sp>
      <p:sp>
        <p:nvSpPr>
          <p:cNvPr id="279" name="Text 9">
            <a:extLst xmlns:a="http://schemas.openxmlformats.org/drawingml/2006/main">
              <a:ext uri="{FF2B5EF4-FFF2-40B4-BE49-F238E27FC236}">
                <a16:creationId xmlns:a16="http://schemas.microsoft.com/office/drawing/2014/main" id="{0B08FC78-38EF-40D3-9D35-209B1CB8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770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C) Removing an optional field</a:t>
            </a:r>
          </a:p>
        </p:txBody>
      </p:sp>
      <p:sp>
        <p:nvSpPr>
          <p:cNvPr id="280" name="Text 10">
            <a:extLst xmlns:a="http://schemas.openxmlformats.org/drawingml/2006/main">
              <a:ext uri="{FF2B5EF4-FFF2-40B4-BE49-F238E27FC236}">
                <a16:creationId xmlns:a16="http://schemas.microsoft.com/office/drawing/2014/main" id="{B9398A50-7FA0-42A5-81C5-CB5FBAA5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5952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D) Renaming a field</a:t>
            </a:r>
          </a:p>
        </p:txBody>
      </p:sp>
      <p:sp>
        <p:nvSpPr>
          <p:cNvPr id="281" name="Text 11">
            <a:extLst xmlns:a="http://schemas.openxmlformats.org/drawingml/2006/main">
              <a:ext uri="{FF2B5EF4-FFF2-40B4-BE49-F238E27FC236}">
                <a16:creationId xmlns:a16="http://schemas.microsoft.com/office/drawing/2014/main" id="{ECA34D0E-15D7-41BA-A7EB-0227007F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260604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3. What does a Dead Letter Queue (DLQ) do?</a:t>
            </a:r>
          </a:p>
        </p:txBody>
      </p:sp>
      <p:sp>
        <p:nvSpPr>
          <p:cNvPr id="282" name="Text 12">
            <a:extLst xmlns:a="http://schemas.openxmlformats.org/drawingml/2006/main">
              <a:ext uri="{FF2B5EF4-FFF2-40B4-BE49-F238E27FC236}">
                <a16:creationId xmlns:a16="http://schemas.microsoft.com/office/drawing/2014/main" id="{97FB0F30-AE6D-4479-92A4-F6C19E7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877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A) Sends messages to all consumers</a:t>
            </a:r>
          </a:p>
        </p:txBody>
      </p:sp>
      <p:sp>
        <p:nvSpPr>
          <p:cNvPr id="283" name="Text 13">
            <a:extLst xmlns:a="http://schemas.openxmlformats.org/drawingml/2006/main">
              <a:ext uri="{FF2B5EF4-FFF2-40B4-BE49-F238E27FC236}">
                <a16:creationId xmlns:a16="http://schemas.microsoft.com/office/drawing/2014/main" id="{D34A01DE-23DB-4EDF-A267-E873F3FF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0600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B) Stores valid messages only</a:t>
            </a:r>
          </a:p>
        </p:txBody>
      </p:sp>
      <p:sp>
        <p:nvSpPr>
          <p:cNvPr id="284" name="Text 14">
            <a:extLst xmlns:a="http://schemas.openxmlformats.org/drawingml/2006/main">
              <a:ext uri="{FF2B5EF4-FFF2-40B4-BE49-F238E27FC236}">
                <a16:creationId xmlns:a16="http://schemas.microsoft.com/office/drawing/2014/main" id="{122BFE53-1DB6-4151-A100-71CAB1F7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80" y="324252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C) Stores invalid or poison messages for later inspection</a:t>
            </a:r>
          </a:p>
        </p:txBody>
      </p:sp>
      <p:sp>
        <p:nvSpPr>
          <p:cNvPr id="285" name="Text 15">
            <a:extLst xmlns:a="http://schemas.openxmlformats.org/drawingml/2006/main">
              <a:ext uri="{FF2B5EF4-FFF2-40B4-BE49-F238E27FC236}">
                <a16:creationId xmlns:a16="http://schemas.microsoft.com/office/drawing/2014/main" id="{73C0BB52-4DFA-40BA-AB00-DA708B8B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4200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D) Encrypts messages at rest</a:t>
            </a:r>
          </a:p>
        </p:txBody>
      </p:sp>
      <p:sp>
        <p:nvSpPr>
          <p:cNvPr id="286" name="Text 16">
            <a:extLst xmlns:a="http://schemas.openxmlformats.org/drawingml/2006/main">
              <a:ext uri="{FF2B5EF4-FFF2-40B4-BE49-F238E27FC236}">
                <a16:creationId xmlns:a16="http://schemas.microsoft.com/office/drawing/2014/main" id="{287B8577-7A4B-44E0-9ED5-69E735B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47791003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7" name="Text 0">
            <a:extLst xmlns:a="http://schemas.openxmlformats.org/drawingml/2006/main">
              <a:ext uri="{FF2B5EF4-FFF2-40B4-BE49-F238E27FC236}">
                <a16:creationId xmlns:a16="http://schemas.microsoft.com/office/drawing/2014/main" id="{2788AD08-A85F-4BCC-9D5B-223FD71A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Knowledge Check (cont.)</a:t>
            </a:r>
          </a:p>
        </p:txBody>
      </p:sp>
      <p:sp>
        <p:nvSpPr>
          <p:cNvPr id="288" name="Text 1">
            <a:extLst xmlns:a="http://schemas.openxmlformats.org/drawingml/2006/main">
              <a:ext uri="{FF2B5EF4-FFF2-40B4-BE49-F238E27FC236}">
                <a16:creationId xmlns:a16="http://schemas.microsoft.com/office/drawing/2014/main" id="{6D34CCB1-670E-477F-A337-72D1E55C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2296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4. Which delivery guarantee retries sending events until they are acknowledged, potentially creating duplicates?</a:t>
            </a:r>
          </a:p>
        </p:txBody>
      </p:sp>
      <p:sp>
        <p:nvSpPr>
          <p:cNvPr id="289" name="Text 2">
            <a:extLst xmlns:a="http://schemas.openxmlformats.org/drawingml/2006/main">
              <a:ext uri="{FF2B5EF4-FFF2-40B4-BE49-F238E27FC236}">
                <a16:creationId xmlns:a16="http://schemas.microsoft.com/office/drawing/2014/main" id="{0D78CD91-4CD1-4ADF-B087-FF7F16A2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5156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A) At‑Most‑Once</a:t>
            </a:r>
          </a:p>
        </p:txBody>
      </p:sp>
      <p:sp>
        <p:nvSpPr>
          <p:cNvPr id="290" name="Text 3">
            <a:extLst xmlns:a="http://schemas.openxmlformats.org/drawingml/2006/main">
              <a:ext uri="{FF2B5EF4-FFF2-40B4-BE49-F238E27FC236}">
                <a16:creationId xmlns:a16="http://schemas.microsoft.com/office/drawing/2014/main" id="{E3D8804E-D04A-4250-9D11-4CD58A34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160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B) At‑Least‑Once</a:t>
            </a:r>
          </a:p>
        </p:txBody>
      </p:sp>
      <p:sp>
        <p:nvSpPr>
          <p:cNvPr id="291" name="Text 4">
            <a:extLst xmlns:a="http://schemas.openxmlformats.org/drawingml/2006/main">
              <a:ext uri="{FF2B5EF4-FFF2-40B4-BE49-F238E27FC236}">
                <a16:creationId xmlns:a16="http://schemas.microsoft.com/office/drawing/2014/main" id="{80BFE698-D834-4FEB-9B90-EA5BDACF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806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C) Exactly‑Once</a:t>
            </a:r>
          </a:p>
        </p:txBody>
      </p:sp>
      <p:sp>
        <p:nvSpPr>
          <p:cNvPr id="292" name="Text 5">
            <a:extLst xmlns:a="http://schemas.openxmlformats.org/drawingml/2006/main">
              <a:ext uri="{FF2B5EF4-FFF2-40B4-BE49-F238E27FC236}">
                <a16:creationId xmlns:a16="http://schemas.microsoft.com/office/drawing/2014/main" id="{E8A7D1BE-1CE1-4F77-A923-04D5C001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45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D) None of the above</a:t>
            </a:r>
          </a:p>
        </p:txBody>
      </p:sp>
      <p:sp>
        <p:nvSpPr>
          <p:cNvPr id="293" name="Text 6">
            <a:extLst xmlns:a="http://schemas.openxmlformats.org/drawingml/2006/main">
              <a:ext uri="{FF2B5EF4-FFF2-40B4-BE49-F238E27FC236}">
                <a16:creationId xmlns:a16="http://schemas.microsoft.com/office/drawing/2014/main" id="{D85427C8-9D37-406D-81CE-9301065B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456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5. What is the purpose of a grace period in windowed processing?</a:t>
            </a:r>
          </a:p>
        </p:txBody>
      </p:sp>
      <p:sp>
        <p:nvSpPr>
          <p:cNvPr id="294" name="Text 7">
            <a:extLst xmlns:a="http://schemas.openxmlformats.org/drawingml/2006/main">
              <a:ext uri="{FF2B5EF4-FFF2-40B4-BE49-F238E27FC236}">
                <a16:creationId xmlns:a16="http://schemas.microsoft.com/office/drawing/2014/main" id="{652B115B-E298-46C6-A20A-31D891A0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96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A) To speed up processing</a:t>
            </a:r>
          </a:p>
        </p:txBody>
      </p:sp>
      <p:sp>
        <p:nvSpPr>
          <p:cNvPr id="295" name="Text 8">
            <a:extLst xmlns:a="http://schemas.openxmlformats.org/drawingml/2006/main">
              <a:ext uri="{FF2B5EF4-FFF2-40B4-BE49-F238E27FC236}">
                <a16:creationId xmlns:a16="http://schemas.microsoft.com/office/drawing/2014/main" id="{02007F01-8E7C-463C-AB7D-E347071F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11212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B) To allow late events to be included before final output</a:t>
            </a:r>
          </a:p>
        </p:txBody>
      </p:sp>
      <p:sp>
        <p:nvSpPr>
          <p:cNvPr id="296" name="Text 9">
            <a:extLst xmlns:a="http://schemas.openxmlformats.org/drawingml/2006/main">
              <a:ext uri="{FF2B5EF4-FFF2-40B4-BE49-F238E27FC236}">
                <a16:creationId xmlns:a16="http://schemas.microsoft.com/office/drawing/2014/main" id="{1A899AA1-0EE7-418F-AED7-5A18ACC0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9464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C) To enforce at-most-once delivery</a:t>
            </a:r>
          </a:p>
        </p:txBody>
      </p:sp>
      <p:sp>
        <p:nvSpPr>
          <p:cNvPr id="297" name="Text 10">
            <a:extLst xmlns:a="http://schemas.openxmlformats.org/drawingml/2006/main">
              <a:ext uri="{FF2B5EF4-FFF2-40B4-BE49-F238E27FC236}">
                <a16:creationId xmlns:a16="http://schemas.microsoft.com/office/drawing/2014/main" id="{728A9468-1261-460C-BE55-E60DC86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45952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D) To specify the schema registry URL</a:t>
            </a:r>
          </a:p>
        </p:txBody>
      </p:sp>
      <p:sp>
        <p:nvSpPr>
          <p:cNvPr id="298" name="Text 11">
            <a:extLst xmlns:a="http://schemas.openxmlformats.org/drawingml/2006/main">
              <a:ext uri="{FF2B5EF4-FFF2-40B4-BE49-F238E27FC236}">
                <a16:creationId xmlns:a16="http://schemas.microsoft.com/office/drawing/2014/main" id="{32A3A6C9-3991-42FC-AF68-0ABB0D93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680" y="260604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6. In a multi-source ingestion pipeline, why might you use a dedicated topic for invalid messages?</a:t>
            </a:r>
          </a:p>
        </p:txBody>
      </p:sp>
      <p:sp>
        <p:nvSpPr>
          <p:cNvPr id="299" name="Text 12">
            <a:extLst xmlns:a="http://schemas.openxmlformats.org/drawingml/2006/main">
              <a:ext uri="{FF2B5EF4-FFF2-40B4-BE49-F238E27FC236}">
                <a16:creationId xmlns:a16="http://schemas.microsoft.com/office/drawing/2014/main" id="{9D2116A2-0782-4C2D-8AD7-0C652E3F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877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A) To scale the pipeline horizontally</a:t>
            </a:r>
          </a:p>
        </p:txBody>
      </p:sp>
      <p:sp>
        <p:nvSpPr>
          <p:cNvPr id="300" name="Text 13">
            <a:extLst xmlns:a="http://schemas.openxmlformats.org/drawingml/2006/main">
              <a:ext uri="{FF2B5EF4-FFF2-40B4-BE49-F238E27FC236}">
                <a16:creationId xmlns:a16="http://schemas.microsoft.com/office/drawing/2014/main" id="{80B59498-B98F-4015-A924-575DE473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06000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B) To perform near-real-time analytics</a:t>
            </a:r>
          </a:p>
        </p:txBody>
      </p:sp>
      <p:sp>
        <p:nvSpPr>
          <p:cNvPr id="301" name="Text 14">
            <a:extLst xmlns:a="http://schemas.openxmlformats.org/drawingml/2006/main">
              <a:ext uri="{FF2B5EF4-FFF2-40B4-BE49-F238E27FC236}">
                <a16:creationId xmlns:a16="http://schemas.microsoft.com/office/drawing/2014/main" id="{0F6CA97F-D778-47DE-A4D5-4195C88E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237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C) To isolate errors for monitoring and reprocessing</a:t>
            </a:r>
          </a:p>
        </p:txBody>
      </p:sp>
      <p:sp>
        <p:nvSpPr>
          <p:cNvPr id="302" name="Text 15">
            <a:extLst xmlns:a="http://schemas.openxmlformats.org/drawingml/2006/main">
              <a:ext uri="{FF2B5EF4-FFF2-40B4-BE49-F238E27FC236}">
                <a16:creationId xmlns:a16="http://schemas.microsoft.com/office/drawing/2014/main" id="{0BCF9649-6E73-453D-B6C2-AA24392D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417480"/>
            <a:ext cx="7954560" cy="18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D) To reduce storage costs</a:t>
            </a:r>
          </a:p>
        </p:txBody>
      </p:sp>
      <p:sp>
        <p:nvSpPr>
          <p:cNvPr id="303" name="Text 16">
            <a:extLst xmlns:a="http://schemas.openxmlformats.org/drawingml/2006/main">
              <a:ext uri="{FF2B5EF4-FFF2-40B4-BE49-F238E27FC236}">
                <a16:creationId xmlns:a16="http://schemas.microsoft.com/office/drawing/2014/main" id="{BC3A97C1-613A-444E-A8EA-C278FBB6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21210695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Text 0">
            <a:extLst xmlns:a="http://schemas.openxmlformats.org/drawingml/2006/main">
              <a:ext uri="{FF2B5EF4-FFF2-40B4-BE49-F238E27FC236}">
                <a16:creationId xmlns:a16="http://schemas.microsoft.com/office/drawing/2014/main" id="{DC2AAC19-5631-403F-B3DE-9C2D1F54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Knowledge Check Answers</a:t>
            </a:r>
          </a:p>
        </p:txBody>
      </p:sp>
      <p:sp>
        <p:nvSpPr>
          <p:cNvPr id="305" name="Text 1">
            <a:extLst xmlns:a="http://schemas.openxmlformats.org/drawingml/2006/main">
              <a:ext uri="{FF2B5EF4-FFF2-40B4-BE49-F238E27FC236}">
                <a16:creationId xmlns:a16="http://schemas.microsoft.com/office/drawing/2014/main" id="{E2413961-A273-4926-8A85-EA26072D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22960"/>
            <a:ext cx="822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1. Idempotency — ensures a repeated event doesn’t cause duplicate side effects.</a:t>
            </a:r>
          </a:p>
        </p:txBody>
      </p:sp>
      <p:sp>
        <p:nvSpPr>
          <p:cNvPr id="306" name="Text 2">
            <a:extLst xmlns:a="http://schemas.openxmlformats.org/drawingml/2006/main">
              <a:ext uri="{FF2B5EF4-FFF2-40B4-BE49-F238E27FC236}">
                <a16:creationId xmlns:a16="http://schemas.microsoft.com/office/drawing/2014/main" id="{06264A99-22ED-4578-BCD8-09B57B63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78920"/>
            <a:ext cx="822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2. Under BACKWARD, a new consumer schema may remove a field that was optional or had a default in the previous schema; adding a defaulted optional field is also a common compatible evolution. Verify against your selected format and policy.</a:t>
            </a:r>
          </a:p>
        </p:txBody>
      </p:sp>
      <p:sp>
        <p:nvSpPr>
          <p:cNvPr id="307" name="Text 3">
            <a:extLst xmlns:a="http://schemas.openxmlformats.org/drawingml/2006/main">
              <a:ext uri="{FF2B5EF4-FFF2-40B4-BE49-F238E27FC236}">
                <a16:creationId xmlns:a16="http://schemas.microsoft.com/office/drawing/2014/main" id="{97744DC9-9039-42BE-A4B3-EC8777F6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4880"/>
            <a:ext cx="822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3. A DLQ stores invalid or poison messages for inspection and replay.</a:t>
            </a:r>
          </a:p>
        </p:txBody>
      </p:sp>
      <p:sp>
        <p:nvSpPr>
          <p:cNvPr id="308" name="Text 4">
            <a:extLst xmlns:a="http://schemas.openxmlformats.org/drawingml/2006/main">
              <a:ext uri="{FF2B5EF4-FFF2-40B4-BE49-F238E27FC236}">
                <a16:creationId xmlns:a16="http://schemas.microsoft.com/office/drawing/2014/main" id="{75856E83-A278-4B25-82D9-88AE85C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91200"/>
            <a:ext cx="822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4. At‑Least‑Once — duplicates may occur but events aren’t lost.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9E5965CC-12BF-4E0D-ABA9-75C54DA8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47160"/>
            <a:ext cx="822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5. It allows late events to be included before the window is closed.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8711AD05-7D8B-4BDD-B9BB-0F101B7B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822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6. To isolate errors for monitoring and reprocessing.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22475E57-BD09-4DD5-923C-565AD9F1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95129939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2" name="Text 0">
            <a:extLst xmlns:a="http://schemas.openxmlformats.org/drawingml/2006/main">
              <a:ext uri="{FF2B5EF4-FFF2-40B4-BE49-F238E27FC236}">
                <a16:creationId xmlns:a16="http://schemas.microsoft.com/office/drawing/2014/main" id="{F12E0A4F-CDA8-4DA6-A34B-545A09A5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"/>
            <a:ext cx="82288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Recap &amp; Next Steps</a:t>
            </a:r>
          </a:p>
        </p:txBody>
      </p:sp>
      <p:sp>
        <p:nvSpPr>
          <p:cNvPr id="313" name="Text 1">
            <a:extLst xmlns:a="http://schemas.openxmlformats.org/drawingml/2006/main">
              <a:ext uri="{FF2B5EF4-FFF2-40B4-BE49-F238E27FC236}">
                <a16:creationId xmlns:a16="http://schemas.microsoft.com/office/drawing/2014/main" id="{6BEBDD8D-E801-4526-8468-F5DDDCA5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8228880" cy="274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Today you learned how to design resilient ingestion pipelines using CDC, streaming and batch sources.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0E172A"/>
                </a:solidFill>
                <a:latin typeface="Calibri"/>
                <a:ea typeface="Calibri"/>
                <a:cs typeface="Calibri"/>
              </a:rPr>
              <a:t>Key takeaways: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Apply idempotency, ordering, deduplication and replayability to your pipelines.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Combine multi-source data with a unified Kafka ingestion layer.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Use Schema Registry and compatibility rules to evolve contracts safely.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Route bad data to DLQs and monitor/replay failures.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• Choose appropriate delivery guarantees and handle late events with watermarks.</a:t>
            </a:r>
          </a:p>
        </p:txBody>
      </p:sp>
      <p:sp>
        <p:nvSpPr>
          <p:cNvPr id="314" name="Text 2">
            <a:extLst xmlns:a="http://schemas.openxmlformats.org/drawingml/2006/main">
              <a:ext uri="{FF2B5EF4-FFF2-40B4-BE49-F238E27FC236}">
                <a16:creationId xmlns:a16="http://schemas.microsoft.com/office/drawing/2014/main" id="{8AEA50BE-5D93-422A-A9B4-6DDF752F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8228880" cy="7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Next up: Day 6 – Data Transformation with Apache Hop. We’ll build pipelines to clean, deduplicate and enrich data, and load it into the Silver layer.</a:t>
            </a:r>
          </a:p>
        </p:txBody>
      </p:sp>
      <p:sp>
        <p:nvSpPr>
          <p:cNvPr id="315" name="Text 3">
            <a:extLst xmlns:a="http://schemas.openxmlformats.org/drawingml/2006/main">
              <a:ext uri="{FF2B5EF4-FFF2-40B4-BE49-F238E27FC236}">
                <a16:creationId xmlns:a16="http://schemas.microsoft.com/office/drawing/2014/main" id="{792275B7-B9EA-4A2F-8F7E-7B2E850A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86280"/>
            <a:ext cx="82288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229b383be304c22"/>
              </a:rPr>
              <a:t>[1]</a:t>
            </a:r>
            <a:r>
              <a:rPr sz="700" b="0" u="sng">
                <a:solidFill>
                  <a:srgbClr val="0563C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37ca7803a7042ec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641222193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2026-05-26T08:46:22.5440000Z</dcterms:created>
  <dcterms:modified xsi:type="dcterms:W3CDTF">2026-05-26T08:46:22.5440000Z</dcterms:modified>
</coreProperties>
</file>